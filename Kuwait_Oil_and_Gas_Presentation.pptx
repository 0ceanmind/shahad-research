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5.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charts/chart6.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7.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7f78cdb-6470-7269-37e2-42970611ff0b}">
          <p14:sldIdLst>
            <p14:sldId id="256"/>
            <p14:sldId id="257"/>
            <p14:sldId id="258"/>
          </p14:sldIdLst>
        </p14:section>
        <p14:section name="01 History &amp; Types" id="{1fa1a160-fac7-78de-0d1f-e93b64a24a05}">
          <p14:sldIdLst>
            <p14:sldId id="259"/>
            <p14:sldId id="260"/>
            <p14:sldId id="261"/>
            <p14:sldId id="262"/>
            <p14:sldId id="263"/>
          </p14:sldIdLst>
        </p14:section>
        <p14:section name="02 Resources &amp; Growth" id="{d9fa59d8-1bdf-43ea-9aca-58b0147f29b1}">
          <p14:sldIdLst>
            <p14:sldId id="264"/>
            <p14:sldId id="265"/>
            <p14:sldId id="266"/>
            <p14:sldId id="267"/>
            <p14:sldId id="268"/>
            <p14:sldId id="269"/>
          </p14:sldIdLst>
        </p14:section>
        <p14:section name="03 Reservoir Locations" id="{c3f27503-dfe6-e3ad-12d9-267f11ac545c}">
          <p14:sldIdLst>
            <p14:sldId id="270"/>
            <p14:sldId id="271"/>
            <p14:sldId id="272"/>
            <p14:sldId id="273"/>
            <p14:sldId id="274"/>
            <p14:sldId id="275"/>
            <p14:sldId id="276"/>
            <p14:sldId id="277"/>
            <p14:sldId id="278"/>
          </p14:sldIdLst>
        </p14:section>
        <p14:section name="04 Exports &amp; Costs" id="{120c9ea4-e401-8315-5a93-9dc92997e9f3}">
          <p14:sldIdLst>
            <p14:sldId id="279"/>
            <p14:sldId id="280"/>
            <p14:sldId id="281"/>
            <p14:sldId id="282"/>
            <p14:sldId id="283"/>
            <p14:sldId id="284"/>
            <p14:sldId id="285"/>
          </p14:sldIdLst>
        </p14:section>
        <p14:section name="05 Conclusion &amp; Sources" id="{7a437227-6992-ad70-0f3b-fc6ca61d485a}">
          <p14:sldIdLst>
            <p14:sldId id="286"/>
            <p14:sldId id="287"/>
            <p14:sldId id="28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3"/>
          <c:y val="0.03"/>
          <c:w val="0.94"/>
          <c:h val="0.94"/>
        </c:manualLayout>
      </c:layout>
      <c:doughnutChart>
        <c:varyColors val="1"/>
        <c:ser>
          <c:idx val="0"/>
          <c:order val="0"/>
          <c:tx>
            <c:strRef>
              <c:f>Sheet1!$B$1</c:f>
              <c:strCache>
                <c:ptCount val="1"/>
                <c:pt idx="0">
                  <c:v>Gas production by type, 2021</c:v>
                </c:pt>
              </c:strCache>
            </c:strRef>
          </c:tx>
          <c:spPr>
            <a:solidFill>
              <a:schemeClr val="accent1"/>
            </a:solidFill>
            <a:ln w="9525" cap="flat">
              <a:solidFill>
                <a:srgbClr val="F9F9F9"/>
              </a:solidFill>
              <a:prstDash val="solid"/>
              <a:round/>
            </a:ln>
            <a:effectLst/>
          </c:spPr>
          <c:dPt>
            <c:idx val="0"/>
            <c:bubble3D val="0"/>
            <c:spPr>
              <a:solidFill>
                <a:srgbClr val="FF9F0A"/>
              </a:solidFill>
              <a:ln w="9525" cap="flat">
                <a:solidFill>
                  <a:srgbClr val="0B0B0F"/>
                </a:solidFill>
                <a:prstDash val="solid"/>
                <a:round/>
              </a:ln>
              <a:effectLst/>
            </c:spPr>
          </c:dPt>
          <c:dPt>
            <c:idx val="1"/>
            <c:bubble3D val="0"/>
            <c:spPr>
              <a:solidFill>
                <a:srgbClr val="64D2FF"/>
              </a:solidFill>
              <a:ln w="9525" cap="flat">
                <a:solidFill>
                  <a:srgbClr val="0B0B0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Associated</c:v>
                </c:pt>
                <c:pt idx="1">
                  <c:v>Non-associated</c:v>
                </c:pt>
              </c:strCache>
            </c:strRef>
          </c:cat>
          <c:val>
            <c:numRef>
              <c:f>Sheet1!$B$2:$B$3</c:f>
              <c:numCache>
                <c:ptCount val="2"/>
                <c:pt idx="0">
                  <c:v>70</c:v>
                </c:pt>
                <c:pt idx="1">
                  <c:v>30</c:v>
                </c:pt>
              </c:numCache>
            </c:numRef>
          </c:val>
        </c:ser>
        <c:firstSliceAng val="0"/>
        <c:holeSize val="72"/>
      </c:doughnutChart>
      <c:spPr>
        <a:solidFill>
          <a:srgbClr val="0B0B0F">
            <a:alpha val="0"/>
          </a:srgbClr>
        </a:solidFill>
        <a:ln>
          <a:noFill/>
        </a:ln>
        <a:effectLst/>
      </c:spPr>
    </c:plotArea>
    <c:plotVisOnly val="1"/>
    <c:dispBlanksAs val="span"/>
  </c:chart>
  <c:spPr>
    <a:solidFill>
      <a:srgbClr val="0B0B0F">
        <a:alpha val="0"/>
      </a:srgbClr>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3"/>
          <c:y val="0.03"/>
          <c:w val="0.94"/>
          <c:h val="0.94"/>
        </c:manualLayout>
      </c:layout>
      <c:doughnutChart>
        <c:varyColors val="1"/>
        <c:ser>
          <c:idx val="0"/>
          <c:order val="0"/>
          <c:tx>
            <c:strRef>
              <c:f>Sheet1!$B$1</c:f>
              <c:strCache>
                <c:ptCount val="1"/>
                <c:pt idx="0">
                  <c:v>Share of world proven crude reserves</c:v>
                </c:pt>
              </c:strCache>
            </c:strRef>
          </c:tx>
          <c:spPr>
            <a:solidFill>
              <a:schemeClr val="accent1"/>
            </a:solidFill>
            <a:ln w="9525" cap="flat">
              <a:solidFill>
                <a:srgbClr val="F9F9F9"/>
              </a:solidFill>
              <a:prstDash val="solid"/>
              <a:round/>
            </a:ln>
            <a:effectLst/>
          </c:spPr>
          <c:dPt>
            <c:idx val="0"/>
            <c:bubble3D val="0"/>
            <c:spPr>
              <a:solidFill>
                <a:srgbClr val="FF9F0A"/>
              </a:solidFill>
              <a:ln w="9525" cap="flat">
                <a:solidFill>
                  <a:srgbClr val="0B0B0F"/>
                </a:solidFill>
                <a:prstDash val="solid"/>
                <a:round/>
              </a:ln>
              <a:effectLst/>
            </c:spPr>
          </c:dPt>
          <c:dPt>
            <c:idx val="1"/>
            <c:bubble3D val="0"/>
            <c:spPr>
              <a:solidFill>
                <a:srgbClr val="2C2C2E"/>
              </a:solidFill>
              <a:ln w="9525" cap="flat">
                <a:solidFill>
                  <a:srgbClr val="0B0B0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Kuwait</c:v>
                </c:pt>
                <c:pt idx="1">
                  <c:v>Rest of world</c:v>
                </c:pt>
              </c:strCache>
            </c:strRef>
          </c:cat>
          <c:val>
            <c:numRef>
              <c:f>Sheet1!$B$2:$B$3</c:f>
              <c:numCache>
                <c:ptCount val="2"/>
                <c:pt idx="0">
                  <c:v>6.5</c:v>
                </c:pt>
                <c:pt idx="1">
                  <c:v>93.5</c:v>
                </c:pt>
              </c:numCache>
            </c:numRef>
          </c:val>
        </c:ser>
        <c:firstSliceAng val="0"/>
        <c:holeSize val="74"/>
      </c:doughnutChart>
      <c:spPr>
        <a:solidFill>
          <a:srgbClr val="0B0B0F">
            <a:alpha val="0"/>
          </a:srgbClr>
        </a:solidFill>
        <a:ln>
          <a:noFill/>
        </a:ln>
        <a:effectLst/>
      </c:spPr>
    </c:plotArea>
    <c:plotVisOnly val="1"/>
    <c:dispBlanksAs val="span"/>
  </c:chart>
  <c:spPr>
    <a:solidFill>
      <a:srgbClr val="0B0B0F">
        <a:alpha val="0"/>
      </a:srgbClr>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75"/>
          <c:y val="0.06"/>
          <c:w val="0.9"/>
          <c:h val="0.8"/>
        </c:manualLayout>
      </c:layout>
      <c:scatterChart>
        <c:scatterStyle val="lineMarker"/>
        <c:varyColors val="0"/>
        <c:ser>
          <c:idx val="0"/>
          <c:order val="0"/>
          <c:tx>
            <c:strRef>
              <c:f>Sheet1!$B$1</c:f>
              <c:strCache>
                <c:ptCount val="1"/>
                <c:pt idx="0">
                  <c:v>Oil production (million b/d)</c:v>
                </c:pt>
              </c:strCache>
            </c:strRef>
          </c:tx>
          <c:spPr>
            <a:solidFill>
              <a:srgbClr val="FF9F0A"/>
            </a:solidFill>
            <a:ln w="50800" cap="flat">
              <a:solidFill>
                <a:srgbClr val="FF9F0A"/>
              </a:solidFill>
              <a:prstDash val="solid"/>
              <a:round/>
            </a:ln>
            <a:effectLst/>
          </c:spPr>
          <c:marker>
            <c:symbol val="none"/>
            <c:size val="6"/>
            <c:spPr>
              <a:solidFill>
                <a:srgbClr val="FF9F0A"/>
              </a:solidFill>
              <a:ln w="9525" cap="flat">
                <a:solidFill>
                  <a:srgbClr val="FF9F0A"/>
                </a:solidFill>
                <a:prstDash val="solid"/>
                <a:round/>
              </a:ln>
              <a:effectLst/>
            </c:spPr>
          </c:marker>
          <c:xVal>
            <c:numRef>
              <c:f>Sheet1!$A$2:$A$64</c:f>
              <c:numCache>
                <c:formatCode>General</c:formatCode>
                <c:ptCount val="63"/>
                <c:pt idx="0">
                  <c:v>1946</c:v>
                </c:pt>
                <c:pt idx="1">
                  <c:v>1950</c:v>
                </c:pt>
                <c:pt idx="2">
                  <c:v>1955</c:v>
                </c:pt>
                <c:pt idx="3">
                  <c:v>1965</c:v>
                </c:pt>
                <c:pt idx="4">
                  <c:v>1966</c:v>
                </c:pt>
                <c:pt idx="5">
                  <c:v>1967</c:v>
                </c:pt>
                <c:pt idx="6">
                  <c:v>1968</c:v>
                </c:pt>
                <c:pt idx="7">
                  <c:v>1969</c:v>
                </c:pt>
                <c:pt idx="8">
                  <c:v>1970</c:v>
                </c:pt>
                <c:pt idx="9">
                  <c:v>1971</c:v>
                </c:pt>
                <c:pt idx="10">
                  <c:v>1972</c:v>
                </c:pt>
                <c:pt idx="11">
                  <c:v>1973</c:v>
                </c:pt>
                <c:pt idx="12">
                  <c:v>1974</c:v>
                </c:pt>
                <c:pt idx="13">
                  <c:v>1975</c:v>
                </c:pt>
                <c:pt idx="14">
                  <c:v>1976</c:v>
                </c:pt>
                <c:pt idx="15">
                  <c:v>1977</c:v>
                </c:pt>
                <c:pt idx="16">
                  <c:v>1978</c:v>
                </c:pt>
                <c:pt idx="17">
                  <c:v>1979</c:v>
                </c:pt>
                <c:pt idx="18">
                  <c:v>1980</c:v>
                </c:pt>
                <c:pt idx="19">
                  <c:v>1981</c:v>
                </c:pt>
                <c:pt idx="20">
                  <c:v>1982</c:v>
                </c:pt>
                <c:pt idx="21">
                  <c:v>1983</c:v>
                </c:pt>
                <c:pt idx="22">
                  <c:v>1984</c:v>
                </c:pt>
                <c:pt idx="23">
                  <c:v>1985</c:v>
                </c:pt>
                <c:pt idx="24">
                  <c:v>1986</c:v>
                </c:pt>
                <c:pt idx="25">
                  <c:v>1987</c:v>
                </c:pt>
                <c:pt idx="26">
                  <c:v>1988</c:v>
                </c:pt>
                <c:pt idx="27">
                  <c:v>1989</c:v>
                </c:pt>
                <c:pt idx="28">
                  <c:v>1990</c:v>
                </c:pt>
                <c:pt idx="29">
                  <c:v>1991</c:v>
                </c:pt>
                <c:pt idx="30">
                  <c:v>1992</c:v>
                </c:pt>
                <c:pt idx="31">
                  <c:v>1993</c:v>
                </c:pt>
                <c:pt idx="32">
                  <c:v>1994</c:v>
                </c:pt>
                <c:pt idx="33">
                  <c:v>1995</c:v>
                </c:pt>
                <c:pt idx="34">
                  <c:v>1996</c:v>
                </c:pt>
                <c:pt idx="35">
                  <c:v>1997</c:v>
                </c:pt>
                <c:pt idx="36">
                  <c:v>1998</c:v>
                </c:pt>
                <c:pt idx="37">
                  <c:v>1999</c:v>
                </c:pt>
                <c:pt idx="38">
                  <c:v>2000</c:v>
                </c:pt>
                <c:pt idx="39">
                  <c:v>2001</c:v>
                </c:pt>
                <c:pt idx="40">
                  <c:v>2002</c:v>
                </c:pt>
                <c:pt idx="41">
                  <c:v>2003</c:v>
                </c:pt>
                <c:pt idx="42">
                  <c:v>2004</c:v>
                </c:pt>
                <c:pt idx="43">
                  <c:v>2005</c:v>
                </c:pt>
                <c:pt idx="44">
                  <c:v>2006</c:v>
                </c:pt>
                <c:pt idx="45">
                  <c:v>2007</c:v>
                </c:pt>
                <c:pt idx="46">
                  <c:v>2008</c:v>
                </c:pt>
                <c:pt idx="47">
                  <c:v>2009</c:v>
                </c:pt>
                <c:pt idx="48">
                  <c:v>2010</c:v>
                </c:pt>
                <c:pt idx="49">
                  <c:v>2011</c:v>
                </c:pt>
                <c:pt idx="50">
                  <c:v>2012</c:v>
                </c:pt>
                <c:pt idx="51">
                  <c:v>2013</c:v>
                </c:pt>
                <c:pt idx="52">
                  <c:v>2014</c:v>
                </c:pt>
                <c:pt idx="53">
                  <c:v>2015</c:v>
                </c:pt>
                <c:pt idx="54">
                  <c:v>2016</c:v>
                </c:pt>
                <c:pt idx="55">
                  <c:v>2017</c:v>
                </c:pt>
                <c:pt idx="56">
                  <c:v>2018</c:v>
                </c:pt>
                <c:pt idx="57">
                  <c:v>2019</c:v>
                </c:pt>
                <c:pt idx="58">
                  <c:v>2020</c:v>
                </c:pt>
                <c:pt idx="59">
                  <c:v>2021</c:v>
                </c:pt>
                <c:pt idx="60">
                  <c:v>2022</c:v>
                </c:pt>
                <c:pt idx="61">
                  <c:v>2023</c:v>
                </c:pt>
                <c:pt idx="62">
                  <c:v>2024</c:v>
                </c:pt>
              </c:numCache>
            </c:numRef>
          </c:xVal>
          <c:yVal>
            <c:numRef>
              <c:f>Sheet1!$B$2:$B$64</c:f>
              <c:numCache>
                <c:formatCode>General</c:formatCode>
                <c:ptCount val="63"/>
                <c:pt idx="0">
                  <c:v>0.016</c:v>
                </c:pt>
                <c:pt idx="1">
                  <c:v>0.344</c:v>
                </c:pt>
                <c:pt idx="2">
                  <c:v>1.096</c:v>
                </c:pt>
                <c:pt idx="3">
                  <c:v>2.375</c:v>
                </c:pt>
                <c:pt idx="4">
                  <c:v>2.505</c:v>
                </c:pt>
                <c:pt idx="5">
                  <c:v>2.522</c:v>
                </c:pt>
                <c:pt idx="6">
                  <c:v>2.656</c:v>
                </c:pt>
                <c:pt idx="7">
                  <c:v>2.811</c:v>
                </c:pt>
                <c:pt idx="8">
                  <c:v>3.029</c:v>
                </c:pt>
                <c:pt idx="9">
                  <c:v>3.243</c:v>
                </c:pt>
                <c:pt idx="10">
                  <c:v>3.339</c:v>
                </c:pt>
                <c:pt idx="11">
                  <c:v>3.074</c:v>
                </c:pt>
                <c:pt idx="12">
                  <c:v>2.599</c:v>
                </c:pt>
                <c:pt idx="13">
                  <c:v>2.132</c:v>
                </c:pt>
                <c:pt idx="14">
                  <c:v>2.207</c:v>
                </c:pt>
                <c:pt idx="15">
                  <c:v>2.028</c:v>
                </c:pt>
                <c:pt idx="16">
                  <c:v>2.193</c:v>
                </c:pt>
                <c:pt idx="17">
                  <c:v>2.618</c:v>
                </c:pt>
                <c:pt idx="18">
                  <c:v>1.757</c:v>
                </c:pt>
                <c:pt idx="19">
                  <c:v>1.187</c:v>
                </c:pt>
                <c:pt idx="20">
                  <c:v>0.865</c:v>
                </c:pt>
                <c:pt idx="21">
                  <c:v>1.115</c:v>
                </c:pt>
                <c:pt idx="22">
                  <c:v>1.232</c:v>
                </c:pt>
                <c:pt idx="23">
                  <c:v>1.127</c:v>
                </c:pt>
                <c:pt idx="24">
                  <c:v>1.21</c:v>
                </c:pt>
                <c:pt idx="25">
                  <c:v>1.065</c:v>
                </c:pt>
                <c:pt idx="26">
                  <c:v>1.291</c:v>
                </c:pt>
                <c:pt idx="27">
                  <c:v>1.405</c:v>
                </c:pt>
                <c:pt idx="28">
                  <c:v>0.964</c:v>
                </c:pt>
                <c:pt idx="29">
                  <c:v>0.185</c:v>
                </c:pt>
                <c:pt idx="30">
                  <c:v>1.077</c:v>
                </c:pt>
                <c:pt idx="31">
                  <c:v>1.939</c:v>
                </c:pt>
                <c:pt idx="32">
                  <c:v>2.087</c:v>
                </c:pt>
                <c:pt idx="33">
                  <c:v>2.13</c:v>
                </c:pt>
                <c:pt idx="34">
                  <c:v>2.137</c:v>
                </c:pt>
                <c:pt idx="35">
                  <c:v>2.139</c:v>
                </c:pt>
                <c:pt idx="36">
                  <c:v>2.241</c:v>
                </c:pt>
                <c:pt idx="37">
                  <c:v>2.092</c:v>
                </c:pt>
                <c:pt idx="38">
                  <c:v>2.244</c:v>
                </c:pt>
                <c:pt idx="39">
                  <c:v>2.176</c:v>
                </c:pt>
                <c:pt idx="40">
                  <c:v>2.019</c:v>
                </c:pt>
                <c:pt idx="41">
                  <c:v>2.364</c:v>
                </c:pt>
                <c:pt idx="42">
                  <c:v>2.522</c:v>
                </c:pt>
                <c:pt idx="43">
                  <c:v>2.669</c:v>
                </c:pt>
                <c:pt idx="44">
                  <c:v>2.746</c:v>
                </c:pt>
                <c:pt idx="45">
                  <c:v>2.677</c:v>
                </c:pt>
                <c:pt idx="46">
                  <c:v>2.813</c:v>
                </c:pt>
                <c:pt idx="47">
                  <c:v>2.507</c:v>
                </c:pt>
                <c:pt idx="48">
                  <c:v>2.564</c:v>
                </c:pt>
                <c:pt idx="49">
                  <c:v>2.924</c:v>
                </c:pt>
                <c:pt idx="50">
                  <c:v>3.191</c:v>
                </c:pt>
                <c:pt idx="51">
                  <c:v>3.135</c:v>
                </c:pt>
                <c:pt idx="52">
                  <c:v>3.106</c:v>
                </c:pt>
                <c:pt idx="53">
                  <c:v>3.069</c:v>
                </c:pt>
                <c:pt idx="54">
                  <c:v>3.15</c:v>
                </c:pt>
                <c:pt idx="55">
                  <c:v>3.009</c:v>
                </c:pt>
                <c:pt idx="56">
                  <c:v>3.05</c:v>
                </c:pt>
                <c:pt idx="57">
                  <c:v>2.976</c:v>
                </c:pt>
                <c:pt idx="58">
                  <c:v>2.721</c:v>
                </c:pt>
                <c:pt idx="59">
                  <c:v>2.707</c:v>
                </c:pt>
                <c:pt idx="60">
                  <c:v>3.023</c:v>
                </c:pt>
                <c:pt idx="61">
                  <c:v>2.91</c:v>
                </c:pt>
                <c:pt idx="62">
                  <c:v>2.728</c:v>
                </c:pt>
              </c:numCache>
            </c:numRef>
          </c:yVal>
          <c:smooth val="0"/>
        </c:ser>
        <c:dLbls>
          <c:numFmt formatCode="General" sourceLinked="0"/>
          <c:txPr>
            <a:bodyPr/>
            <a:lstStyle/>
            <a:p>
              <a:pPr>
                <a:defRPr b="1" i="0" strike="noStrike" sz="1600" u="none">
                  <a:solidFill>
                    <a:srgbClr val="F5F5F7"/>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max val="2025"/>
          <c:min val="1940"/>
        </c:scaling>
        <c:delete val="0"/>
        <c:axPos val="b"/>
        <c:numFmt formatCode="0;-0;&quot;&quot;" sourceLinked="1"/>
        <c:majorTickMark val="none"/>
        <c:minorTickMark val="none"/>
        <c:tickLblPos val="nextTo"/>
        <c:spPr>
          <a:ln w="12700" cap="flat">
            <a:noFill/>
            <a:prstDash val="solid"/>
            <a:round/>
          </a:ln>
        </c:spPr>
        <c:txPr>
          <a:bodyPr/>
          <a:lstStyle/>
          <a:p>
            <a:pPr>
              <a:defRPr sz="1600" b="0" i="0" u="none" strike="noStrike">
                <a:solidFill>
                  <a:srgbClr val="A1A1A6"/>
                </a:solidFill>
                <a:latin typeface="+mn-lt"/>
              </a:defRPr>
            </a:pPr>
            <a:endParaRPr lang="en-US"/>
          </a:p>
        </c:txPr>
        <c:crossAx val="2094734552"/>
        <c:crosses val="autoZero"/>
        <c:auto val="1"/>
        <c:lblAlgn val="ctr"/>
        <c:noMultiLvlLbl val="1"/>
        <c:majorUnit val="10"/>
      </c:valAx>
      <c:valAx>
        <c:axId val="2094734552"/>
        <c:scaling>
          <c:orientation val="minMax"/>
          <c:max val="3.5"/>
          <c:min val="0"/>
        </c:scaling>
        <c:delete val="0"/>
        <c:axPos val="l"/>
        <c:majorGridlines>
          <c:spPr>
            <a:ln w="9525" cap="flat">
              <a:solidFill>
                <a:srgbClr val="2C2C2E"/>
              </a:solidFill>
              <a:prstDash val="solid"/>
              <a:round/>
            </a:ln>
          </c:spPr>
        </c:majorGridlines>
        <c:numFmt formatCode="0;-0;&quot;&quot;" sourceLinked="0"/>
        <c:majorTickMark val="none"/>
        <c:minorTickMark val="none"/>
        <c:tickLblPos val="nextTo"/>
        <c:spPr>
          <a:ln w="12700" cap="flat">
            <a:noFill/>
            <a:prstDash val="solid"/>
            <a:round/>
          </a:ln>
        </c:spPr>
        <c:txPr>
          <a:bodyPr/>
          <a:lstStyle/>
          <a:p>
            <a:pPr>
              <a:defRPr sz="1600" b="0" i="0" u="none" strike="noStrike">
                <a:solidFill>
                  <a:srgbClr val="A1A1A6"/>
                </a:solidFill>
                <a:latin typeface="+mn-lt"/>
              </a:defRPr>
            </a:pPr>
            <a:endParaRPr lang="en-US"/>
          </a:p>
        </c:txPr>
        <c:crossAx val="2094734554"/>
        <c:crosses val="autoZero"/>
        <c:crossBetween val="midCat"/>
        <c:majorUnit val="1"/>
      </c:valAx>
      <c:spPr>
        <a:solidFill>
          <a:srgbClr val="0B0B0F">
            <a:alpha val="0"/>
          </a:srgbClr>
        </a:solidFill>
        <a:ln>
          <a:noFill/>
        </a:ln>
        <a:effectLst/>
      </c:spPr>
    </c:plotArea>
    <c:plotVisOnly val="1"/>
    <c:dispBlanksAs val="span"/>
    <c:showDLblsOverMax val="1"/>
  </c:chart>
  <c:spPr>
    <a:solidFill>
      <a:srgbClr val="0B0B0F">
        <a:alpha val="0"/>
      </a:srgbClr>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8"/>
          <c:y val="0.05"/>
          <c:w val="0.9"/>
          <c:h val="0.8"/>
        </c:manualLayout>
      </c:layout>
      <c:areaChart>
        <c:grouping val="stacked"/>
        <c:varyColors val="0"/>
        <c:ser>
          <c:idx val="0"/>
          <c:order val="0"/>
          <c:tx>
            <c:strRef>
              <c:f>Sheet1!$B$1</c:f>
              <c:strCache>
                <c:ptCount val="1"/>
                <c:pt idx="0">
                  <c:v>Domestic production</c:v>
                </c:pt>
              </c:strCache>
            </c:strRef>
          </c:tx>
          <c:spPr>
            <a:solidFill>
              <a:srgbClr val="64D2FF">
                <a:alpha val="100000"/>
              </a:srgbClr>
            </a:solidFill>
            <a:effectLst/>
          </c:spPr>
          <c:invertIfNegative val="0"/>
          <c:dLbls>
            <c:numFmt formatCode="#,##0" sourceLinked="0"/>
            <c:txPr>
              <a:bodyPr/>
              <a:lstStyle/>
              <a:p>
                <a:pPr>
                  <a:defRPr b="1" i="0" strike="noStrike" sz="1600" u="none">
                    <a:solidFill>
                      <a:srgbClr val="F5F5F7"/>
                    </a:solidFill>
                    <a:latin typeface="+mn-lt"/>
                  </a:defRPr>
                </a:pPr>
              </a:p>
            </c:txPr>
            <c:showLegendKey val="0"/>
            <c:showVal val="0"/>
            <c:showCatName val="0"/>
            <c:showSerName val="0"/>
            <c:showPercent val="0"/>
            <c:showBubbleSize val="0"/>
            <c:showLeaderLines val="0"/>
          </c:dLbls>
          <c:cat>
            <c:multiLvlStrRef>
              <c:f>Sheet1!$A$2:$A$26</c:f>
              <c:multiLvlStrCache>
                <c:ptCount val="25"/>
                <c:lvl>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pt idx="22">
                    <c:v>2022</c:v>
                  </c:pt>
                  <c:pt idx="23">
                    <c:v>2023</c:v>
                  </c:pt>
                  <c:pt idx="24">
                    <c:v>2024</c:v>
                  </c:pt>
                </c:lvl>
              </c:multiLvlStrCache>
            </c:multiLvlStrRef>
          </c:cat>
          <c:val>
            <c:numRef>
              <c:f>Sheet1!$B$2:$B$26</c:f>
              <c:numCache>
                <c:formatCode>General</c:formatCode>
                <c:ptCount val="25"/>
                <c:pt idx="0">
                  <c:v>9.1</c:v>
                </c:pt>
                <c:pt idx="1">
                  <c:v>9</c:v>
                </c:pt>
                <c:pt idx="2">
                  <c:v>8.3</c:v>
                </c:pt>
                <c:pt idx="3">
                  <c:v>9.5</c:v>
                </c:pt>
                <c:pt idx="4">
                  <c:v>10.4</c:v>
                </c:pt>
                <c:pt idx="5">
                  <c:v>11.7</c:v>
                </c:pt>
                <c:pt idx="6">
                  <c:v>11.8</c:v>
                </c:pt>
                <c:pt idx="7">
                  <c:v>10.7</c:v>
                </c:pt>
                <c:pt idx="8">
                  <c:v>12.1</c:v>
                </c:pt>
                <c:pt idx="9">
                  <c:v>10.9</c:v>
                </c:pt>
                <c:pt idx="10">
                  <c:v>11.1</c:v>
                </c:pt>
                <c:pt idx="11">
                  <c:v>12.9</c:v>
                </c:pt>
                <c:pt idx="12">
                  <c:v>14.7</c:v>
                </c:pt>
                <c:pt idx="13">
                  <c:v>15.5</c:v>
                </c:pt>
                <c:pt idx="14">
                  <c:v>14.3</c:v>
                </c:pt>
                <c:pt idx="15">
                  <c:v>16.1</c:v>
                </c:pt>
                <c:pt idx="16">
                  <c:v>16.4</c:v>
                </c:pt>
                <c:pt idx="17">
                  <c:v>16.2</c:v>
                </c:pt>
                <c:pt idx="18">
                  <c:v>16.9</c:v>
                </c:pt>
                <c:pt idx="19">
                  <c:v>13.3</c:v>
                </c:pt>
                <c:pt idx="20">
                  <c:v>12.2</c:v>
                </c:pt>
                <c:pt idx="21">
                  <c:v>12.1</c:v>
                </c:pt>
                <c:pt idx="22">
                  <c:v>13.2</c:v>
                </c:pt>
                <c:pt idx="23">
                  <c:v>14.8</c:v>
                </c:pt>
                <c:pt idx="24">
                  <c:v>14.9</c:v>
                </c:pt>
              </c:numCache>
            </c:numRef>
          </c:val>
        </c:ser>
        <c:ser>
          <c:idx val="1"/>
          <c:order val="1"/>
          <c:tx>
            <c:strRef>
              <c:f>Sheet1!$C$1</c:f>
              <c:strCache>
                <c:ptCount val="1"/>
                <c:pt idx="0">
                  <c:v>LNG imports</c:v>
                </c:pt>
              </c:strCache>
            </c:strRef>
          </c:tx>
          <c:spPr>
            <a:solidFill>
              <a:srgbClr val="5A5A5F">
                <a:alpha val="100000"/>
              </a:srgbClr>
            </a:solidFill>
            <a:effectLst/>
          </c:spPr>
          <c:invertIfNegative val="0"/>
          <c:dLbls>
            <c:numFmt formatCode="#,##0" sourceLinked="0"/>
            <c:txPr>
              <a:bodyPr/>
              <a:lstStyle/>
              <a:p>
                <a:pPr>
                  <a:defRPr b="1" i="0" strike="noStrike" sz="1600" u="none">
                    <a:solidFill>
                      <a:srgbClr val="F5F5F7"/>
                    </a:solidFill>
                    <a:latin typeface="+mn-lt"/>
                  </a:defRPr>
                </a:pPr>
              </a:p>
            </c:txPr>
            <c:showLegendKey val="0"/>
            <c:showVal val="0"/>
            <c:showCatName val="0"/>
            <c:showSerName val="0"/>
            <c:showPercent val="0"/>
            <c:showBubbleSize val="0"/>
            <c:showLeaderLines val="0"/>
          </c:dLbls>
          <c:cat>
            <c:multiLvlStrRef>
              <c:f>Sheet1!$A$2:$A$26</c:f>
              <c:multiLvlStrCache>
                <c:ptCount val="25"/>
                <c:lvl>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pt idx="22">
                    <c:v>2022</c:v>
                  </c:pt>
                  <c:pt idx="23">
                    <c:v>2023</c:v>
                  </c:pt>
                  <c:pt idx="24">
                    <c:v>2024</c:v>
                  </c:pt>
                </c:lvl>
              </c:multiLvlStrCache>
            </c:multiLvlStrRef>
          </c:cat>
          <c:val>
            <c:numRef>
              <c:f>Sheet1!$C$2:$C$26</c:f>
              <c:numCache>
                <c:formatCode>General</c:formatCode>
                <c:ptCount val="25"/>
                <c:pt idx="0">
                  <c:v>0</c:v>
                </c:pt>
                <c:pt idx="1">
                  <c:v>0</c:v>
                </c:pt>
                <c:pt idx="2">
                  <c:v>0</c:v>
                </c:pt>
                <c:pt idx="3">
                  <c:v>0</c:v>
                </c:pt>
                <c:pt idx="4">
                  <c:v>0</c:v>
                </c:pt>
                <c:pt idx="5">
                  <c:v>0</c:v>
                </c:pt>
                <c:pt idx="6">
                  <c:v>0</c:v>
                </c:pt>
                <c:pt idx="7">
                  <c:v>0</c:v>
                </c:pt>
                <c:pt idx="8">
                  <c:v>0</c:v>
                </c:pt>
                <c:pt idx="9">
                  <c:v>0.9</c:v>
                </c:pt>
                <c:pt idx="10">
                  <c:v>2.9</c:v>
                </c:pt>
                <c:pt idx="11">
                  <c:v>3</c:v>
                </c:pt>
                <c:pt idx="12">
                  <c:v>2.8</c:v>
                </c:pt>
                <c:pt idx="13">
                  <c:v>2.3</c:v>
                </c:pt>
                <c:pt idx="14">
                  <c:v>3.6</c:v>
                </c:pt>
                <c:pt idx="15">
                  <c:v>4.2</c:v>
                </c:pt>
                <c:pt idx="16">
                  <c:v>4.7</c:v>
                </c:pt>
                <c:pt idx="17">
                  <c:v>4.8</c:v>
                </c:pt>
                <c:pt idx="18">
                  <c:v>4.3</c:v>
                </c:pt>
                <c:pt idx="19">
                  <c:v>5.1</c:v>
                </c:pt>
                <c:pt idx="20">
                  <c:v>5.7</c:v>
                </c:pt>
                <c:pt idx="21">
                  <c:v>7.7</c:v>
                </c:pt>
                <c:pt idx="22">
                  <c:v>8.5</c:v>
                </c:pt>
                <c:pt idx="23">
                  <c:v>8.9</c:v>
                </c:pt>
                <c:pt idx="24">
                  <c:v>9.7</c:v>
                </c:pt>
              </c:numCache>
            </c:numRef>
          </c:val>
        </c:ser>
        <c:dLbls>
          <c:numFmt formatCode="#,##0" sourceLinked="0"/>
          <c:txPr>
            <a:bodyPr/>
            <a:lstStyle/>
            <a:p>
              <a:pPr>
                <a:defRPr b="1" i="0" strike="noStrike" sz="1600" u="none">
                  <a:solidFill>
                    <a:srgbClr val="F5F5F7"/>
                  </a:solidFill>
                  <a:latin typeface="+mn-lt"/>
                </a:defRPr>
              </a:pPr>
            </a:p>
          </c:txPr>
          <c:showLegendKey val="0"/>
          <c:showVal val="0"/>
          <c:showCatName val="0"/>
          <c:showSerName val="0"/>
          <c:showPercent val="0"/>
          <c:showBubbleSize val="0"/>
          <c:showLeaderLines val="0"/>
        </c:dLbls>
        <c:axId val="2094734554"/>
        <c:axId val="2094734552"/>
        <c:axId val="2094734556"/>
      </c:area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600" b="0" i="0" u="none" strike="noStrike">
                <a:solidFill>
                  <a:srgbClr val="A1A1A6"/>
                </a:solidFill>
                <a:latin typeface="+mn-lt"/>
              </a:defRPr>
            </a:pPr>
            <a:endParaRPr lang="en-US"/>
          </a:p>
        </c:txPr>
        <c:crossAx val="2094734552"/>
        <c:crosses val="autoZero"/>
        <c:auto val="1"/>
        <c:lblAlgn val="ctr"/>
        <c:noMultiLvlLbl val="1"/>
        <c:tickLblSkip val="4"/>
      </c:catAx>
      <c:valAx>
        <c:axId val="2094734552"/>
        <c:scaling>
          <c:orientation val="minMax"/>
          <c:max val="25"/>
          <c:min val="0"/>
        </c:scaling>
        <c:delete val="0"/>
        <c:axPos val="l"/>
        <c:majorGridlines>
          <c:spPr>
            <a:ln w="9525" cap="flat">
              <a:solidFill>
                <a:srgbClr val="2C2C2E"/>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600" b="0" i="0" u="none" strike="noStrike">
                <a:solidFill>
                  <a:srgbClr val="A1A1A6"/>
                </a:solidFill>
                <a:latin typeface="+mn-lt"/>
              </a:defRPr>
            </a:pPr>
            <a:endParaRPr lang="en-US"/>
          </a:p>
        </c:txPr>
        <c:crossAx val="2094734554"/>
        <c:crosses val="autoZero"/>
        <c:crossBetween val="between"/>
        <c:majorUnit val="5"/>
      </c:valAx>
      <c:spPr>
        <a:solidFill>
          <a:srgbClr val="0B0B0F">
            <a:alpha val="0"/>
          </a:srgbClr>
        </a:solidFill>
        <a:ln>
          <a:noFill/>
        </a:ln>
        <a:effectLst/>
      </c:spPr>
    </c:plotArea>
    <c:plotVisOnly val="1"/>
    <c:dispBlanksAs val="span"/>
  </c:chart>
  <c:spPr>
    <a:solidFill>
      <a:srgbClr val="0B0B0F">
        <a:alpha val="0"/>
      </a:srgbClr>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1"/>
          <c:y val="0.04"/>
          <c:w val="0.86"/>
          <c:h val="0.82"/>
        </c:manualLayout>
      </c:layout>
      <c:lineChart>
        <c:varyColors val="0"/>
        <c:ser>
          <c:idx val="0"/>
          <c:order val="0"/>
          <c:tx>
            <c:strRef>
              <c:f>Sheet1!$B$1</c:f>
              <c:strCache>
                <c:ptCount val="1"/>
                <c:pt idx="0">
                  <c:v>Crude oil</c:v>
                </c:pt>
              </c:strCache>
            </c:strRef>
          </c:tx>
          <c:spPr>
            <a:solidFill>
              <a:srgbClr val="FF9F0A"/>
            </a:solidFill>
            <a:ln w="50800" cap="flat">
              <a:solidFill>
                <a:srgbClr val="FF9F0A"/>
              </a:solidFill>
              <a:prstDash val="solid"/>
              <a:round/>
            </a:ln>
            <a:effectLst/>
          </c:spPr>
          <c:invertIfNegative val="0"/>
          <c:dLbls>
            <c:numFmt formatCode="#,##0" sourceLinked="0"/>
            <c:txPr>
              <a:bodyPr/>
              <a:lstStyle/>
              <a:p>
                <a:pPr>
                  <a:defRPr b="1" i="0" strike="noStrike" sz="1600" u="none">
                    <a:solidFill>
                      <a:srgbClr val="F5F5F7"/>
                    </a:solidFill>
                    <a:latin typeface="+mn-lt"/>
                  </a:defRPr>
                </a:pPr>
              </a:p>
            </c:txPr>
            <c:showLegendKey val="0"/>
            <c:showVal val="0"/>
            <c:showCatName val="0"/>
            <c:showSerName val="0"/>
            <c:showPercent val="0"/>
            <c:showBubbleSize val="0"/>
            <c:showLeaderLines val="0"/>
          </c:dLbls>
          <c:marker>
            <c:symbol val="circle"/>
            <c:size val="10"/>
            <c:spPr>
              <a:solidFill>
                <a:srgbClr val="FF9F0A"/>
              </a:solidFill>
              <a:ln w="9525" cap="flat">
                <a:solidFill>
                  <a:srgbClr val="FF9F0A"/>
                </a:solidFill>
                <a:prstDash val="solid"/>
                <a:round/>
              </a:ln>
              <a:effectLst/>
            </c:spPr>
          </c:marker>
          <c:cat>
            <c:multiLvlStrRef>
              <c:f>Sheet1!$A$2:$A$10</c:f>
              <c:multiLvlStrCache>
                <c:ptCount val="9"/>
                <c:lvl>
                  <c:pt idx="0">
                    <c:v>2017</c:v>
                  </c:pt>
                  <c:pt idx="1">
                    <c:v>2018</c:v>
                  </c:pt>
                  <c:pt idx="2">
                    <c:v>2019</c:v>
                  </c:pt>
                  <c:pt idx="3">
                    <c:v>2020</c:v>
                  </c:pt>
                  <c:pt idx="4">
                    <c:v>2021</c:v>
                  </c:pt>
                  <c:pt idx="5">
                    <c:v>2022</c:v>
                  </c:pt>
                  <c:pt idx="6">
                    <c:v>2023</c:v>
                  </c:pt>
                  <c:pt idx="7">
                    <c:v>2024</c:v>
                  </c:pt>
                  <c:pt idx="8">
                    <c:v>2025</c:v>
                  </c:pt>
                </c:lvl>
              </c:multiLvlStrCache>
            </c:multiLvlStrRef>
          </c:cat>
          <c:val>
            <c:numRef>
              <c:f>Sheet1!$B$2:$B$10</c:f>
              <c:numCache>
                <c:formatCode>General</c:formatCode>
                <c:ptCount val="9"/>
                <c:pt idx="0">
                  <c:v>2009</c:v>
                </c:pt>
                <c:pt idx="1">
                  <c:v>2053</c:v>
                </c:pt>
                <c:pt idx="2">
                  <c:v>1998</c:v>
                </c:pt>
                <c:pt idx="3">
                  <c:v>1816</c:v>
                </c:pt>
                <c:pt idx="4">
                  <c:v>1744</c:v>
                </c:pt>
                <c:pt idx="5">
                  <c:v>1879</c:v>
                </c:pt>
                <c:pt idx="6">
                  <c:v>1568</c:v>
                </c:pt>
                <c:pt idx="7">
                  <c:v>1176</c:v>
                </c:pt>
                <c:pt idx="8">
                  <c:v>1330</c:v>
                </c:pt>
              </c:numCache>
            </c:numRef>
          </c:val>
          <c:smooth val="0"/>
        </c:ser>
        <c:ser>
          <c:idx val="1"/>
          <c:order val="1"/>
          <c:tx>
            <c:strRef>
              <c:f>Sheet1!$C$1</c:f>
              <c:strCache>
                <c:ptCount val="1"/>
                <c:pt idx="0">
                  <c:v>Refined products (incl. LPG)</c:v>
                </c:pt>
              </c:strCache>
            </c:strRef>
          </c:tx>
          <c:spPr>
            <a:solidFill>
              <a:srgbClr val="F5F5F7"/>
            </a:solidFill>
            <a:ln w="50800" cap="flat">
              <a:solidFill>
                <a:srgbClr val="F5F5F7"/>
              </a:solidFill>
              <a:prstDash val="solid"/>
              <a:round/>
            </a:ln>
            <a:effectLst/>
          </c:spPr>
          <c:invertIfNegative val="0"/>
          <c:dLbls>
            <c:numFmt formatCode="#,##0" sourceLinked="0"/>
            <c:txPr>
              <a:bodyPr/>
              <a:lstStyle/>
              <a:p>
                <a:pPr>
                  <a:defRPr b="1" i="0" strike="noStrike" sz="1600" u="none">
                    <a:solidFill>
                      <a:srgbClr val="F5F5F7"/>
                    </a:solidFill>
                    <a:latin typeface="+mn-lt"/>
                  </a:defRPr>
                </a:pPr>
              </a:p>
            </c:txPr>
            <c:showLegendKey val="0"/>
            <c:showVal val="0"/>
            <c:showCatName val="0"/>
            <c:showSerName val="0"/>
            <c:showPercent val="0"/>
            <c:showBubbleSize val="0"/>
            <c:showLeaderLines val="0"/>
          </c:dLbls>
          <c:marker>
            <c:symbol val="circle"/>
            <c:size val="10"/>
            <c:spPr>
              <a:solidFill>
                <a:srgbClr val="F5F5F7"/>
              </a:solidFill>
              <a:ln w="9525" cap="flat">
                <a:solidFill>
                  <a:srgbClr val="F5F5F7"/>
                </a:solidFill>
                <a:prstDash val="solid"/>
                <a:round/>
              </a:ln>
              <a:effectLst/>
            </c:spPr>
          </c:marker>
          <c:cat>
            <c:multiLvlStrRef>
              <c:f>Sheet1!$A$2:$A$10</c:f>
              <c:multiLvlStrCache>
                <c:ptCount val="9"/>
                <c:lvl>
                  <c:pt idx="0">
                    <c:v>2017</c:v>
                  </c:pt>
                  <c:pt idx="1">
                    <c:v>2018</c:v>
                  </c:pt>
                  <c:pt idx="2">
                    <c:v>2019</c:v>
                  </c:pt>
                  <c:pt idx="3">
                    <c:v>2020</c:v>
                  </c:pt>
                  <c:pt idx="4">
                    <c:v>2021</c:v>
                  </c:pt>
                  <c:pt idx="5">
                    <c:v>2022</c:v>
                  </c:pt>
                  <c:pt idx="6">
                    <c:v>2023</c:v>
                  </c:pt>
                  <c:pt idx="7">
                    <c:v>2024</c:v>
                  </c:pt>
                  <c:pt idx="8">
                    <c:v>2025</c:v>
                  </c:pt>
                </c:lvl>
              </c:multiLvlStrCache>
            </c:multiLvlStrRef>
          </c:cat>
          <c:val>
            <c:numRef>
              <c:f>Sheet1!$C$2:$C$10</c:f>
              <c:numCache>
                <c:formatCode>General</c:formatCode>
                <c:ptCount val="9"/>
                <c:pt idx="0">
                  <c:v>636</c:v>
                </c:pt>
                <c:pt idx="1">
                  <c:v>626</c:v>
                </c:pt>
                <c:pt idx="2">
                  <c:v>585</c:v>
                </c:pt>
                <c:pt idx="3">
                  <c:v>527</c:v>
                </c:pt>
                <c:pt idx="4">
                  <c:v>604</c:v>
                </c:pt>
                <c:pt idx="5">
                  <c:v>711</c:v>
                </c:pt>
                <c:pt idx="6">
                  <c:v>964</c:v>
                </c:pt>
                <c:pt idx="7">
                  <c:v>1196</c:v>
                </c:pt>
                <c:pt idx="8">
                  <c:v>1071</c:v>
                </c:pt>
              </c:numCache>
            </c:numRef>
          </c:val>
          <c:smooth val="0"/>
        </c:ser>
        <c:dLbls>
          <c:numFmt formatCode="#,##0" sourceLinked="0"/>
          <c:txPr>
            <a:bodyPr/>
            <a:lstStyle/>
            <a:p>
              <a:pPr>
                <a:defRPr b="1" i="0" strike="noStrike" sz="1600" u="none">
                  <a:solidFill>
                    <a:srgbClr val="F5F5F7"/>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600" b="0" i="0" u="none" strike="noStrike">
                <a:solidFill>
                  <a:srgbClr val="A1A1A6"/>
                </a:solidFill>
                <a:latin typeface="+mn-lt"/>
              </a:defRPr>
            </a:pPr>
            <a:endParaRPr lang="en-US"/>
          </a:p>
        </c:txPr>
        <c:crossAx val="2094734552"/>
        <c:crosses val="autoZero"/>
        <c:auto val="1"/>
        <c:lblAlgn val="ctr"/>
        <c:noMultiLvlLbl val="1"/>
      </c:catAx>
      <c:valAx>
        <c:axId val="2094734552"/>
        <c:scaling>
          <c:orientation val="minMax"/>
          <c:max val="2500"/>
          <c:min val="0"/>
        </c:scaling>
        <c:delete val="0"/>
        <c:axPos val="l"/>
        <c:majorGridlines>
          <c:spPr>
            <a:ln w="9525" cap="flat">
              <a:solidFill>
                <a:srgbClr val="2C2C2E"/>
              </a:solidFill>
              <a:prstDash val="solid"/>
              <a:round/>
            </a:ln>
          </c:spPr>
        </c:majorGridlines>
        <c:numFmt formatCode="#,##0" sourceLinked="0"/>
        <c:majorTickMark val="out"/>
        <c:minorTickMark val="none"/>
        <c:tickLblPos val="nextTo"/>
        <c:spPr>
          <a:ln w="12700" cap="flat">
            <a:noFill/>
            <a:prstDash val="solid"/>
            <a:round/>
          </a:ln>
        </c:spPr>
        <c:txPr>
          <a:bodyPr/>
          <a:lstStyle/>
          <a:p>
            <a:pPr>
              <a:defRPr sz="1600" b="0" i="0" u="none" strike="noStrike">
                <a:solidFill>
                  <a:srgbClr val="A1A1A6"/>
                </a:solidFill>
                <a:latin typeface="+mn-lt"/>
              </a:defRPr>
            </a:pPr>
            <a:endParaRPr lang="en-US"/>
          </a:p>
        </c:txPr>
        <c:crossAx val="2094734554"/>
        <c:crosses val="autoZero"/>
        <c:crossBetween val="between"/>
        <c:majorUnit val="500"/>
      </c:valAx>
      <c:spPr>
        <a:solidFill>
          <a:srgbClr val="0B0B0F">
            <a:alpha val="0"/>
          </a:srgbClr>
        </a:solidFill>
        <a:ln>
          <a:noFill/>
        </a:ln>
        <a:effectLst/>
      </c:spPr>
    </c:plotArea>
    <c:plotVisOnly val="1"/>
    <c:dispBlanksAs val="span"/>
  </c:chart>
  <c:spPr>
    <a:solidFill>
      <a:srgbClr val="0B0B0F">
        <a:alpha val="0"/>
      </a:srgbClr>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9"/>
          <c:y val="0.06"/>
          <c:w val="0.88"/>
          <c:h val="0.8"/>
        </c:manualLayout>
      </c:layout>
      <c:lineChart>
        <c:varyColors val="0"/>
        <c:ser>
          <c:idx val="0"/>
          <c:order val="0"/>
          <c:tx>
            <c:strRef>
              <c:f>Sheet1!$B$1</c:f>
              <c:strCache>
                <c:ptCount val="1"/>
                <c:pt idx="0">
                  <c:v>Brent, annual average (US$/bbl)</c:v>
                </c:pt>
              </c:strCache>
            </c:strRef>
          </c:tx>
          <c:spPr>
            <a:solidFill>
              <a:srgbClr val="FF9F0A"/>
            </a:solidFill>
            <a:ln w="50800" cap="flat">
              <a:solidFill>
                <a:srgbClr val="FF9F0A"/>
              </a:solidFill>
              <a:prstDash val="solid"/>
              <a:round/>
            </a:ln>
            <a:effectLst/>
          </c:spPr>
          <c:invertIfNegative val="0"/>
          <c:dLbls>
            <c:numFmt formatCode="#,##0" sourceLinked="0"/>
            <c:txPr>
              <a:bodyPr/>
              <a:lstStyle/>
              <a:p>
                <a:pPr>
                  <a:defRPr b="1" i="0" strike="noStrike" sz="1600" u="none">
                    <a:solidFill>
                      <a:srgbClr val="F5F5F7"/>
                    </a:solidFill>
                    <a:latin typeface="+mn-lt"/>
                  </a:defRPr>
                </a:pPr>
              </a:p>
            </c:txPr>
            <c:showLegendKey val="0"/>
            <c:showVal val="0"/>
            <c:showCatName val="0"/>
            <c:showSerName val="0"/>
            <c:showPercent val="0"/>
            <c:showBubbleSize val="0"/>
            <c:showLeaderLines val="0"/>
          </c:dLbls>
          <c:marker>
            <c:symbol val="none"/>
            <c:size val="6"/>
            <c:spPr>
              <a:solidFill>
                <a:srgbClr val="FF9F0A"/>
              </a:solidFill>
              <a:ln w="9525" cap="flat">
                <a:solidFill>
                  <a:srgbClr val="FF9F0A"/>
                </a:solidFill>
                <a:prstDash val="solid"/>
                <a:round/>
              </a:ln>
              <a:effectLst/>
            </c:spPr>
          </c:marker>
          <c:cat>
            <c:multiLvlStrRef>
              <c:f>Sheet1!$A$2:$A$27</c:f>
              <c:multiLvlStrCache>
                <c:ptCount val="26"/>
                <c:lvl>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pt idx="22">
                    <c:v>2022</c:v>
                  </c:pt>
                  <c:pt idx="23">
                    <c:v>2023</c:v>
                  </c:pt>
                  <c:pt idx="24">
                    <c:v>2024</c:v>
                  </c:pt>
                  <c:pt idx="25">
                    <c:v>2025</c:v>
                  </c:pt>
                </c:lvl>
              </c:multiLvlStrCache>
            </c:multiLvlStrRef>
          </c:cat>
          <c:val>
            <c:numRef>
              <c:f>Sheet1!$B$2:$B$27</c:f>
              <c:numCache>
                <c:formatCode>General</c:formatCode>
                <c:ptCount val="26"/>
                <c:pt idx="0">
                  <c:v>28.76</c:v>
                </c:pt>
                <c:pt idx="1">
                  <c:v>24.51</c:v>
                </c:pt>
                <c:pt idx="2">
                  <c:v>25.14</c:v>
                </c:pt>
                <c:pt idx="3">
                  <c:v>29</c:v>
                </c:pt>
                <c:pt idx="4">
                  <c:v>38.78</c:v>
                </c:pt>
                <c:pt idx="5">
                  <c:v>54.9</c:v>
                </c:pt>
                <c:pt idx="6">
                  <c:v>65.25</c:v>
                </c:pt>
                <c:pt idx="7">
                  <c:v>72.61</c:v>
                </c:pt>
                <c:pt idx="8">
                  <c:v>96.94</c:v>
                </c:pt>
                <c:pt idx="9">
                  <c:v>61.74</c:v>
                </c:pt>
                <c:pt idx="10">
                  <c:v>79.61</c:v>
                </c:pt>
                <c:pt idx="11">
                  <c:v>111.26</c:v>
                </c:pt>
                <c:pt idx="12">
                  <c:v>111.57</c:v>
                </c:pt>
                <c:pt idx="13">
                  <c:v>108.56</c:v>
                </c:pt>
                <c:pt idx="14">
                  <c:v>99.02</c:v>
                </c:pt>
                <c:pt idx="15">
                  <c:v>52.32</c:v>
                </c:pt>
                <c:pt idx="16">
                  <c:v>43.64</c:v>
                </c:pt>
                <c:pt idx="17">
                  <c:v>54.12</c:v>
                </c:pt>
                <c:pt idx="18">
                  <c:v>71.34</c:v>
                </c:pt>
                <c:pt idx="19">
                  <c:v>64.3</c:v>
                </c:pt>
                <c:pt idx="20">
                  <c:v>41.96</c:v>
                </c:pt>
                <c:pt idx="21">
                  <c:v>70.86</c:v>
                </c:pt>
                <c:pt idx="22">
                  <c:v>100.93</c:v>
                </c:pt>
                <c:pt idx="23">
                  <c:v>82.49</c:v>
                </c:pt>
                <c:pt idx="24">
                  <c:v>80.52</c:v>
                </c:pt>
                <c:pt idx="25">
                  <c:v>69.14</c:v>
                </c:pt>
              </c:numCache>
            </c:numRef>
          </c:val>
          <c:smooth val="0"/>
        </c:ser>
        <c:dLbls>
          <c:numFmt formatCode="#,##0" sourceLinked="0"/>
          <c:txPr>
            <a:bodyPr/>
            <a:lstStyle/>
            <a:p>
              <a:pPr>
                <a:defRPr b="1" i="0" strike="noStrike" sz="1600" u="none">
                  <a:solidFill>
                    <a:srgbClr val="F5F5F7"/>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noFill/>
            <a:prstDash val="solid"/>
            <a:round/>
          </a:ln>
        </c:spPr>
        <c:txPr>
          <a:bodyPr/>
          <a:lstStyle/>
          <a:p>
            <a:pPr>
              <a:defRPr sz="1600" b="0" i="0" u="none" strike="noStrike">
                <a:solidFill>
                  <a:srgbClr val="A1A1A6"/>
                </a:solidFill>
                <a:latin typeface="+mn-lt"/>
              </a:defRPr>
            </a:pPr>
            <a:endParaRPr lang="en-US"/>
          </a:p>
        </c:txPr>
        <c:crossAx val="2094734552"/>
        <c:crosses val="autoZero"/>
        <c:auto val="1"/>
        <c:lblAlgn val="ctr"/>
        <c:noMultiLvlLbl val="1"/>
      </c:catAx>
      <c:valAx>
        <c:axId val="2094734552"/>
        <c:scaling>
          <c:orientation val="minMax"/>
          <c:max val="150"/>
          <c:min val="0"/>
        </c:scaling>
        <c:delete val="0"/>
        <c:axPos val="l"/>
        <c:majorGridlines>
          <c:spPr>
            <a:ln w="9525" cap="flat">
              <a:solidFill>
                <a:srgbClr val="2C2C2E"/>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600" b="0" i="0" u="none" strike="noStrike">
                <a:solidFill>
                  <a:srgbClr val="A1A1A6"/>
                </a:solidFill>
                <a:latin typeface="+mn-lt"/>
              </a:defRPr>
            </a:pPr>
            <a:endParaRPr lang="en-US"/>
          </a:p>
        </c:txPr>
        <c:crossAx val="2094734554"/>
        <c:crosses val="autoZero"/>
        <c:crossBetween val="between"/>
        <c:majorUnit val="50"/>
      </c:valAx>
      <c:spPr>
        <a:solidFill>
          <a:srgbClr val="0B0B0F">
            <a:alpha val="0"/>
          </a:srgbClr>
        </a:solidFill>
        <a:ln>
          <a:noFill/>
        </a:ln>
        <a:effectLst/>
      </c:spPr>
    </c:plotArea>
    <c:plotVisOnly val="1"/>
    <c:dispBlanksAs val="span"/>
  </c:chart>
  <c:spPr>
    <a:solidFill>
      <a:srgbClr val="0B0B0F">
        <a:alpha val="0"/>
      </a:srgbClr>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3"/>
          <c:y val="0.03"/>
          <c:w val="0.94"/>
          <c:h val="0.94"/>
        </c:manualLayout>
      </c:layout>
      <c:doughnutChart>
        <c:varyColors val="1"/>
        <c:ser>
          <c:idx val="0"/>
          <c:order val="0"/>
          <c:tx>
            <c:strRef>
              <c:f>Sheet1!$B$1</c:f>
              <c:strCache>
                <c:ptCount val="1"/>
                <c:pt idx="0">
                  <c:v>LNG imports by supplier, 2024 (%)</c:v>
                </c:pt>
              </c:strCache>
            </c:strRef>
          </c:tx>
          <c:spPr>
            <a:solidFill>
              <a:schemeClr val="accent1"/>
            </a:solidFill>
            <a:ln w="9525" cap="flat">
              <a:solidFill>
                <a:srgbClr val="F9F9F9"/>
              </a:solidFill>
              <a:prstDash val="solid"/>
              <a:round/>
            </a:ln>
            <a:effectLst/>
          </c:spPr>
          <c:dPt>
            <c:idx val="0"/>
            <c:bubble3D val="0"/>
            <c:spPr>
              <a:solidFill>
                <a:srgbClr val="64D2FF"/>
              </a:solidFill>
              <a:ln w="19050" cap="flat">
                <a:solidFill>
                  <a:srgbClr val="0B0B0F"/>
                </a:solidFill>
                <a:prstDash val="solid"/>
                <a:round/>
              </a:ln>
              <a:effectLst/>
            </c:spPr>
          </c:dPt>
          <c:dPt>
            <c:idx val="1"/>
            <c:bubble3D val="0"/>
            <c:spPr>
              <a:solidFill>
                <a:srgbClr val="3A8FB7"/>
              </a:solidFill>
              <a:ln w="19050" cap="flat">
                <a:solidFill>
                  <a:srgbClr val="0B0B0F"/>
                </a:solidFill>
                <a:prstDash val="solid"/>
                <a:round/>
              </a:ln>
              <a:effectLst/>
            </c:spPr>
          </c:dPt>
          <c:dPt>
            <c:idx val="2"/>
            <c:bubble3D val="0"/>
            <c:spPr>
              <a:solidFill>
                <a:srgbClr val="2B6A88"/>
              </a:solidFill>
              <a:ln w="19050" cap="flat">
                <a:solidFill>
                  <a:srgbClr val="0B0B0F"/>
                </a:solidFill>
                <a:prstDash val="solid"/>
                <a:round/>
              </a:ln>
              <a:effectLst/>
            </c:spPr>
          </c:dPt>
          <c:dPt>
            <c:idx val="3"/>
            <c:bubble3D val="0"/>
            <c:spPr>
              <a:solidFill>
                <a:srgbClr val="5A7C99"/>
              </a:solidFill>
              <a:ln w="19050" cap="flat">
                <a:solidFill>
                  <a:srgbClr val="0B0B0F"/>
                </a:solidFill>
                <a:prstDash val="solid"/>
                <a:round/>
              </a:ln>
              <a:effectLst/>
            </c:spPr>
          </c:dPt>
          <c:dPt>
            <c:idx val="4"/>
            <c:bubble3D val="0"/>
            <c:spPr>
              <a:solidFill>
                <a:srgbClr val="FFD60A"/>
              </a:solidFill>
              <a:ln w="19050" cap="flat">
                <a:solidFill>
                  <a:srgbClr val="0B0B0F"/>
                </a:solidFill>
                <a:prstDash val="solid"/>
                <a:round/>
              </a:ln>
              <a:effectLst/>
            </c:spPr>
          </c:dPt>
          <c:dPt>
            <c:idx val="5"/>
            <c:bubble3D val="0"/>
            <c:spPr>
              <a:solidFill>
                <a:srgbClr val="8E8E93"/>
              </a:solidFill>
              <a:ln w="19050" cap="flat">
                <a:solidFill>
                  <a:srgbClr val="0B0B0F"/>
                </a:solidFill>
                <a:prstDash val="solid"/>
                <a:round/>
              </a:ln>
              <a:effectLst/>
            </c:spPr>
          </c:dPt>
          <c:dPt>
            <c:idx val="6"/>
            <c:bubble3D val="0"/>
            <c:spPr>
              <a:solidFill>
                <a:srgbClr val="5A5A5F"/>
              </a:solidFill>
              <a:ln w="19050" cap="flat">
                <a:solidFill>
                  <a:srgbClr val="0B0B0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4"/>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5"/>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6"/>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Sheet1!$A$2:$A$8</c:f>
              <c:strCache>
                <c:ptCount val="7"/>
                <c:pt idx="0">
                  <c:v>Qatar</c:v>
                </c:pt>
                <c:pt idx="1">
                  <c:v>Nigeria</c:v>
                </c:pt>
                <c:pt idx="2">
                  <c:v>United States</c:v>
                </c:pt>
                <c:pt idx="3">
                  <c:v>Angola</c:v>
                </c:pt>
                <c:pt idx="4">
                  <c:v>Oman</c:v>
                </c:pt>
                <c:pt idx="5">
                  <c:v>Russia</c:v>
                </c:pt>
                <c:pt idx="6">
                  <c:v>Others</c:v>
                </c:pt>
              </c:strCache>
            </c:strRef>
          </c:cat>
          <c:val>
            <c:numRef>
              <c:f>Sheet1!$B$2:$B$8</c:f>
              <c:numCache>
                <c:ptCount val="7"/>
                <c:pt idx="0">
                  <c:v>61.4</c:v>
                </c:pt>
                <c:pt idx="1">
                  <c:v>16.6</c:v>
                </c:pt>
                <c:pt idx="2">
                  <c:v>9.5</c:v>
                </c:pt>
                <c:pt idx="3">
                  <c:v>3.7</c:v>
                </c:pt>
                <c:pt idx="4">
                  <c:v>3</c:v>
                </c:pt>
                <c:pt idx="5">
                  <c:v>3</c:v>
                </c:pt>
                <c:pt idx="6">
                  <c:v>2.9</c:v>
                </c:pt>
              </c:numCache>
            </c:numRef>
          </c:val>
        </c:ser>
        <c:firstSliceAng val="0"/>
        <c:holeSize val="70"/>
      </c:doughnutChart>
      <c:spPr>
        <a:solidFill>
          <a:srgbClr val="0B0B0F">
            <a:alpha val="0"/>
          </a:srgbClr>
        </a:solidFill>
        <a:ln>
          <a:noFill/>
        </a:ln>
        <a:effectLst/>
      </c:spPr>
    </c:plotArea>
    <c:plotVisOnly val="1"/>
    <c:dispBlanksAs val="span"/>
  </c:chart>
  <c:spPr>
    <a:solidFill>
      <a:srgbClr val="0B0B0F">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presentation summarises my EGCH2230 research on the State of Kuwait: the history and types of its oil and gas, its resources and industrial growth, where its reservoirs are, and where its exports go and what they cost. Key sources are listed on slide 27; the full APA reference list is in the written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navigation hub. Each tile is a link to its chapter; the small grid button on every slide links back here, so questions can be answered by jumping straight to the relevant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Kuwait is a small country, but it holds 101.5 billion barrels of proven crude reserves (OPEC), about 6.5% of the world total. In 2024 it produced about 2.4 million barrels per day of crude while OPEC+ cuts were in force (JODI). Refining capacity reached about 1.4 million b/d once the Al-Zour refinery was fully on line in 2023–2024. Fuels are more than 90% of merchandise exports (World Bank) and petroleum provides most government revenue (Britannica).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one: how Kuwait’s oil industry began and developed, and which types of crude oil and natural gas it produces.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1934: Sheikh Ahmad Al-Jaber signed the concession with the Kuwait Oil Company, a 50/50 venture of Anglo-Persian (later BP) and Gulf Oil. 1938: Burgan No. 1 struck oil at about 1,120 m in the Wara sandstone (23 Feb 1938 per GeoExpro and KPC; some sources say 22 Feb). 1946: first crude export on 30 June. 1960: Kuwait co-founded OPEC in Baghdad and created KNPC. 1974–75: the state took 60%, then 100%, of KOC. 1980: Kuwait Petroleum Corporation formed as the holding company. 1990–91: the Iraqi invasion and the well fires. 2018: Jurassic production facilities started and Kuwait Super Light crude was first exported. 2024: Al-Zour refinery reached its full 615,000 b/d capacity.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Between August 1990 and February 1991 about 80% of KOC’s producing wells and facilities were destroyed (KOC). More than 700 wells were set on fire; the U.S. Department of Defense counted over 750 of 943 wells ignited or damaged. At the peak an estimated 4–6 million barrels per day of oil and 70–100 million cubic metres per day of gas were burning, and more than one billion barrels were lost. The last fire, Burgan 118, was capped on 6 November 1991. Kuwait’s own team, the Kuwait Wild Well Killers, capped 41 wells in 54 days. Spilled oil formed more than 100 oil lakes covering about 19 square kilometres (U.S. DoD).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Kuwait Export Crude (KEC) is the main export blend: medium and sour, about 30.5 degrees API and 2.5% sulfur, mostly from the Cretaceous reservoirs of Greater Burgan. Since July 2018 Kuwait also exports Kuwait Super Light Crude from the deep Jurassic reservoirs of North Kuwait: about 48 degrees API and only about 0.4% sulfur. Kuwait Export Heavy is about 16 degrees API with almost 5% sulfur. Khafji crude from the offshore Partitioned Zone shared with Saudi Arabia is about 28.5 degrees API and 2.85% sulfur. For refiners, sour crudes need hydrotreating capacity, which is why Kuwait’s new refineries have large desulfurisation units.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70% of Kuwait’s gas production in 2021 was associated gas, released when crude oil is produced, so gas supply follows oil output and OPEC+ quotas. The second type is non-associated gas from deep Jurassic reservoirs in North Kuwait: high-pressure, sour gas produced with light oil and condensate through the Jurassic Production Facilities since 2018. Because demand, mainly for power and desalination, exceeds supply, Kuwait has imported LNG since 2009. In 2024 about 40% of the gas it consumed was imported (Energy Institute data). Proven gas reserves are about 63 trillion cubic feet.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two: how much oil and gas Kuwait has, how its production has changed over eighty years, and how its industry grew from a single concession into a full value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OPEC’s 2025 and 2026 bulletins both list Kuwait’s proven crude reserves at 101.5 billion barrels, about 6.5% of the world’s 1,567–1,572 billion barrels, which ranks Kuwait seventh in the world (EIA). The figure includes Kuwait’s half of the Partitioned Zone shared with Saudi Arabia. Reserves jumped from about 68 billion barrels in 1980 to 97 billion in 1990 and have stayed at 101.5 billion since about 2010. At about one billion barrels produced per year, that is roughly a century of output; bp’s 2021 review gave a reserves-to-production ratio of 103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 rose from about 16 thousand b/d in 1946 to an all-time peak of 3.34 million b/d in 1972 (Energy Institute, total oil including NGLs). After nationalisation, conservation policy and the 1980s price collapse it fell to around one million b/d. The 1990–91 invasion and fires cut it to only 185 thousand b/d in 1991. It recovered within four years and reached an estimated post-war high of about 3.2 million b/d in 2012 (derived from Energy Institute energy data). Since 2017 OPEC+ agreements have set Kuwait’s production; in 2024 crude alone averaged about 2.4 million b/d (JODI), or about 2.7 million b/d including NGLs.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Until 2008 Kuwait consumed exactly the gas it produced. Demand for power generation and desalination grew faster than associated-gas supply, so since 2009 the gap has been filled with imported LNG. In 2024 Kuwait produced about 15 billion cubic metres and consumed about 25 billion, so roughly 40% was imported. Gas now generates about 62% of Kuwait’s electricity, up from 33% in 2000, replacing much of the crude oil and fuel oil burned in power stations (Our World in Data, based on Energy Institute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1980 the Kuwait Petroleum Corporation has owned the whole chain. KOC explores and produces onshore and offshore Kuwait; KGOC manages Kuwait’s share of the Partitioned Zone with Saudi Arabia; KUFPEC invests in upstream projects abroad. KOTC ships crude, products and LPG. KNPC runs the Mina Al-Ahmadi and Mina Abdullah refineries and KIPIC runs the new Al-Zour refinery. PIC, founded in 1963 as the region’s first petrochemical company, holds stakes in the EQUATE group with Dow. Kuwait Petroleum International sells fuel under the Q8 brand and holds refining stakes abroad, including the Duqm refinery in Oman.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According to the EIA, Kuwait’s refining capacity rose from about 600,000 b/d in January 2021 to about 1.4 million b/d in July 2023. Two things drove this: the new Al-Zour refinery (615,000 b/d, three crude units, run by KIPIC) and KNPC’s Clean Fuels Project, which upgraded and integrated Mina Al-Ahmadi (346,000 b/d) and Mina Abdullah (454,000 b/d). Al-Zour first ran at full capacity on 4 February 2024. As a result Kuwait exports far more refined products than before; in 2024 product exports briefly overtook crude.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three: the location of Kuwait’s oil and gas fields, grouped into four producing areas, and the reservoir rocks they produce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Kuwait’s fields fall into four areas. South and East Kuwait is dominated by Greater Burgan (Burgan, Magwa and Ahmadi), the world’s second-largest oil field after Ghawar, covering roughly 800 square kilometres; in 2013 it still produced about half of Kuwait’s oil (EIA, 2013). North Kuwait has Raudhatain and Sabriya, the deep Jurassic gas and light-oil fields served by the Jurassic Production Facilities, and Ratqa, where heavy oil is produced from the shallow Lower Fars sands with steam. West Kuwait has Minagish and Umm Gudair, which produce from the Minagish Oolite. The Partitioned Zone is shared 50:50 with Saudi Arabia: Wafra onshore and Khafji and Hout offshore, plus the Dorra gas field, which Iran also claims. Since 2024 KOC has announced offshore discoveries at Al-Nokhatha (about 3.2 billion barrels of oil equivalent) and Al-Jlaiaa. Click an area on the right to zoom in. Field positions were taken from the KOC fields map and the Horn giant-field database and are approximate.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Zoomed view of South &amp; East Kuwait. Use the area buttons under the map to switch to another area, or Back to map on the right to return.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Zoomed view of North Kuwait. Use the area buttons under the map to switch to another area, or Back to map on the right to return.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Zoomed view of West Kuwait. Use the area buttons under the map to switch to another area, or Back to map on the right to return.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Zoomed view of Partitioned Zone &amp; offshore. Use the area buttons under the map to switch to another area, or Back to map on the right to return.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hub: choose another area to zoom into, or press Continue to move on to the overview of the four producing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1990 Greater Burgan supplied about two-thirds of KOC’s output (Office of the Special Assistant for Gulf War Illnesses, 2000), and in 2013 it still produced about half of Kuwait’s oil (EIA, 2013). North Kuwait holds Raudhatain and Sabriya and the deep Jurassic gas and light-oil play; West Kuwait holds Minagish and Umm Gudair. The Partitioned Zone, shared 50:50 with Saudi Arabia, contains Wafra onshore and Khafji and Hout offshore. Offshore discoveries since 2024 include Al-Nokhatha, about 3.2 billion barrels of oil equivalent (KUNA, 2024), and Al-Jlaiaa (Offshore Engineer, 2025). Click a card to zoom into an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Kuwait’s oil comes from a stack of reservoirs; the column builds in the order the rocks were deposited, oldest first. Deepest are the Jurassic Marrat, Najmah and Sargelu carbonates, which produce Kuwait Super Light crude and sour, high-pressure non-associated gas in the north. Most production and the Kuwait Export Crude blend come from Cretaceous rocks: the Burgan Formation sandstones are the most important reservoir in the country, together with Wara, Mauddud, Mishrif, Zubair, Ratawi and the Minagish Oolite, which is the main reservoir of the Minagish and Umm Gudair fields in the west. Near the surface, the Miocene Lower Fars sands of North Kuwait hold heavy oil. The diagram is simplified and not to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four: where Kuwait’s oil exports go, what they earn, what they cost to produce, and how much the gas it imports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Kuwait’s crude goes almost entirely east. In 2024, 93% of its crude exports by volume went to the Asia-Pacific region (Energy Institute): China 27%, Japan 14%, India 10% and the rest of Asia-Pacific, mainly South Korea and Taiwan, 43%. By value (OEC), China took 33%, South Korea 23%, Japan 17%, Taiwan 11% and India 11%, so the top five buyers, all Asian, account for about 95%. For comparison, OPEC as a whole sent about 72% of its crude to Asia (OPEC, 2025b). Notice that every route starts in the Gulf and passes through the Strait of Hormuz.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 refining capacity changed what Kuwait sells. According to JODI data, crude exports fell from about 2.0 million b/d in 2017–2019 to 1.18 million b/d in 2024, while exports of refined products, mainly diesel, jet fuel, naphtha and very-low-sulfur fuel oil from Al-Zour, rose to a record 1.20 million b/d. 2024 was the first year in which Kuwait exported more products than crude (MEES). In 2025 the mix swung back towards crude, partly because of an outage at Al-Zour in October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Kuwait sells its crude at prices linked to Middle East benchmarks, so its income follows the world oil price. Brent averaged $97 in 2008, with a daily peak of $144, stayed above $100 in 2011–2013, fell to a $44 average in 2016 (low: $26 in January) and $42 in 2020 during COVID-19, then jumped to $101 in 2022 after Russia invaded Ukraine (EIA). Kuwait Export Crude averaged $84.26 in 2023 and $80.65 in 2024 (OPEC), close to the OPEC Reference Basket ($82.95 and $79.89) because it is a medium-sour grade. In 2026, the Hormuz disruption pushed Brent to $138 on 7 April.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Kuwait’s oil is among the cheapest in the world to produce. Rystad Energy data published by the Wall Street Journal in 2016 put Kuwait’s total cost, capital plus operating spending, at about $8.50 per barrel, the lowest of the countries compared; the UK North Sea was about $44. In 2024 Kuwait Export Crude sold for $80.65 on average (OPEC), leaving a gross margin of roughly $72 per barrel. The real constraint is fiscal: because oil pays for most of the state budget, Kuwait needs high prices to balance its budget even though production itself is cheap. Note that the cost figure is a 2016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associated gas cannot keep up with demand for power and water desalination, Kuwait imported 9.7 billion cubic metres of LNG in 2024, about 7.2 million tonnes or 40% of its gas use (Energy Institute). Qatar supplied 61.4%, Nigeria 16.6% and the United States 9.5%; Oman supplied 3.0%. Gas is bought at international prices: the Asian spot benchmark JKM averaged $33.98 per MMBtu in 2022 and $11.91 in 2024. At 2024 spot prices the import bill would be roughly $4 billion; Kuwait’s actual contract prices are not published, so this is only an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2026 tested Kuwait’s export model. During the U.S.–Iran conflict, tanker traffic through the Strait of Hormuz stopped and on 7 March 2026 KPC declared force majeure and cut output (Reuters). Official JODI data show crude exports collapsing from 1.21 million b/d in February to only 41,000 b/d in April and 24,000 b/d in May, before recovering to about 1.1 million b/d by July. Brent rose from $71 in February to a monthly average of $117 in April, peaking at $138 on 7 April (EIA). Kuwait has no pipeline that bypasses the Gulf, so every export cargo must pass through Hormuz. These 2026 figures are preliminary.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Kuwait has one of the world’s largest and cheapest oil resource bases, but fuels make up more than 90% of its exports and oil provides most of its state revenue. Its gas is mostly associated with oil, so it now imports about 40% of its gas as LNG. The Al-Zour refinery and the Clean Fuels Project have turned Kuwait into a large exporter of refined products. Its customers are overwhelmingly Asian, and the 2026 Hormuz disruption showed how exposed a Gulf-only export route is. Looking ahead, KPC’s strategy targets 4 million b/d of crude production capacity by 2035 (JPT), development of the new offshore discoveries, and more non-associated Jurassic gas.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main sources. The written report contains the complete APA reference list and in-text citations.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am happy to take questions; the contents slide links to every chapter, and the map slide links to a zoomed view of each producing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ntent-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jpe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Content-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732520" cy="329184"/>
          </a:xfrm>
          <a:prstGeom prst="rect">
            <a:avLst/>
          </a:prstGeom>
          <a:noFill/>
          <a:ln/>
        </p:spPr>
        <p:txBody>
          <a:bodyPr wrap="square" rtlCol="0"/>
          <a:lstStyle>
            <a:lvl1pPr algn="l" indent="0" marL="0">
              <a:buNone/>
              <a:defRPr lang="en-US" sz="1500" b="1" spc="300" kern="0" dirty="0">
                <a:solidFill>
                  <a:schemeClr val="accent1"/>
                </a:solidFill>
              </a:defRPr>
            </a:lvl1pPr>
          </a:lstStyle>
          <a:p>
            <a:pPr algn="l" indent="0" marL="0">
              <a:buNone/>
            </a:pPr>
            <a:endParaRPr lang="en-US" sz="1500" dirty="0"/>
          </a:p>
        </p:txBody>
      </p:sp>
      <p:sp>
        <p:nvSpPr>
          <p:cNvPr id="3" name="Text 0"/>
          <p:cNvSpPr/>
          <p:nvPr>
            <p:ph idx="101" type="title" hasCustomPrompt="1"/>
          </p:nvPr>
        </p:nvSpPr>
        <p:spPr>
          <a:xfrm>
            <a:off x="548640" y="731520"/>
            <a:ext cx="8732520" cy="786384"/>
          </a:xfrm>
          <a:prstGeom prst="rect">
            <a:avLst/>
          </a:prstGeom>
          <a:noFill/>
          <a:ln/>
        </p:spPr>
        <p:txBody>
          <a:bodyPr wrap="square" rtlCol="0"/>
          <a:lstStyle>
            <a:lvl1pPr algn="l" indent="0" marL="0">
              <a:buNone/>
              <a:defRPr lang="en-US" sz="3800" b="1" dirty="0">
                <a:solidFill>
                  <a:schemeClr val="tx1"/>
                </a:solidFill>
              </a:defRPr>
            </a:lvl1pPr>
          </a:lstStyle>
          <a:p>
            <a:pPr algn="l" indent="0" marL="0">
              <a:buNone/>
            </a:pPr>
            <a:endParaRPr lang="en-US" sz="3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5" Type="http://schemas.openxmlformats.org/officeDocument/2006/relationships/slide" Target="slide4.xml"/><Relationship Id="rId8" Type="http://schemas.openxmlformats.org/officeDocument/2006/relationships/slide" Target="slide9.xml"/><Relationship Id="rId11" Type="http://schemas.openxmlformats.org/officeDocument/2006/relationships/slide" Target="slide15.xml"/><Relationship Id="rId14" Type="http://schemas.openxmlformats.org/officeDocument/2006/relationships/slide" Target="slide24.xml"/><Relationship Id="rId17" Type="http://schemas.openxmlformats.org/officeDocument/2006/relationships/slide" Target="slide31.xml"/><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2-3.png"/><Relationship Id="rId4" Type="http://schemas.openxmlformats.org/officeDocument/2006/relationships/image" Target="../media/image-16-4.png"/><Relationship Id="rId6" Type="http://schemas.openxmlformats.org/officeDocument/2006/relationships/image" Target="../media/image-2-5.png"/><Relationship Id="rId7" Type="http://schemas.openxmlformats.org/officeDocument/2006/relationships/image" Target="../media/image-16-4.png"/><Relationship Id="rId9" Type="http://schemas.openxmlformats.org/officeDocument/2006/relationships/image" Target="../media/image-2-7.png"/><Relationship Id="rId10" Type="http://schemas.openxmlformats.org/officeDocument/2006/relationships/image" Target="../media/image-16-4.png"/><Relationship Id="rId12" Type="http://schemas.openxmlformats.org/officeDocument/2006/relationships/image" Target="../media/image-13-5.png"/><Relationship Id="rId13" Type="http://schemas.openxmlformats.org/officeDocument/2006/relationships/image" Target="../media/image-16-4.png"/><Relationship Id="rId15" Type="http://schemas.openxmlformats.org/officeDocument/2006/relationships/image" Target="../media/image-2-11.png"/><Relationship Id="rId16" Type="http://schemas.openxmlformats.org/officeDocument/2006/relationships/image" Target="../media/image-16-4.png"/><Relationship Id="rId18" Type="http://schemas.openxmlformats.org/officeDocument/2006/relationships/image" Target="../media/image-1-4.png"/><Relationship Id="rId19" Type="http://schemas.openxmlformats.org/officeDocument/2006/relationships/slideLayout" Target="../slideLayouts/slideLayout4.xml"/><Relationship Id="rId2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8" Type="http://schemas.openxmlformats.org/officeDocument/2006/relationships/slide" Target="slide2.xml"/><Relationship Id="rId1" Type="http://schemas.openxmlformats.org/officeDocument/2006/relationships/image" Target="../media/image-1-1.png"/><Relationship Id="rId2" Type="http://schemas.openxmlformats.org/officeDocument/2006/relationships/image" Target="../media/image-10-2.png"/><Relationship Id="rId3" Type="http://schemas.openxmlformats.org/officeDocument/2006/relationships/image" Target="../media/image-3-3.png"/><Relationship Id="rId4" Type="http://schemas.openxmlformats.org/officeDocument/2006/relationships/image" Target="../media/image-13-3.png"/><Relationship Id="rId5" Type="http://schemas.openxmlformats.org/officeDocument/2006/relationships/image" Target="../media/image-13-7.png"/><Relationship Id="rId6" Type="http://schemas.openxmlformats.org/officeDocument/2006/relationships/image" Target="../media/image-3-6.png"/><Relationship Id="rId7" Type="http://schemas.openxmlformats.org/officeDocument/2006/relationships/image" Target="../media/image-10-3.png"/><Relationship Id="rId9" Type="http://schemas.openxmlformats.org/officeDocument/2006/relationships/image" Target="../media/image-1-4.png"/><Relationship Id="rId10" Type="http://schemas.openxmlformats.org/officeDocument/2006/relationships/slideLayout" Target="../slideLayouts/slideLayout4.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5" Type="http://schemas.openxmlformats.org/officeDocument/2006/relationships/slide" Target="slide2.xml"/><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0-3.png"/><Relationship Id="rId6" Type="http://schemas.openxmlformats.org/officeDocument/2006/relationships/image" Target="../media/image-1-4.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1-1.png"/><Relationship Id="rId2" Type="http://schemas.openxmlformats.org/officeDocument/2006/relationships/image" Target="../media/image-10-2.png"/><Relationship Id="rId3" Type="http://schemas.openxmlformats.org/officeDocument/2006/relationships/image" Target="../media/image-10-3.png"/><Relationship Id="rId5" Type="http://schemas.openxmlformats.org/officeDocument/2006/relationships/image" Target="../media/image-1-4.png"/><Relationship Id="rId6" Type="http://schemas.openxmlformats.org/officeDocument/2006/relationships/slideLayout" Target="../slideLayouts/slideLayout4.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27-2.png"/><Relationship Id="rId2" Type="http://schemas.openxmlformats.org/officeDocument/2006/relationships/image" Target="../media/image-1-1.png"/><Relationship Id="rId3" Type="http://schemas.openxmlformats.org/officeDocument/2006/relationships/image" Target="../media/image-10-3.png"/><Relationship Id="rId5" Type="http://schemas.openxmlformats.org/officeDocument/2006/relationships/image" Target="../media/image-1-4.png"/><Relationship Id="rId6" Type="http://schemas.openxmlformats.org/officeDocument/2006/relationships/slideLayout" Target="../slideLayouts/slideLayout4.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5" Type="http://schemas.openxmlformats.org/officeDocument/2006/relationships/slide" Target="slide2.xml"/><Relationship Id="rId1" Type="http://schemas.openxmlformats.org/officeDocument/2006/relationships/image" Target="../media/image-1-1.png"/><Relationship Id="rId2" Type="http://schemas.openxmlformats.org/officeDocument/2006/relationships/image" Target="../media/image-10-2.png"/><Relationship Id="rId3" Type="http://schemas.openxmlformats.org/officeDocument/2006/relationships/image" Target="../media/image-7-3.png"/><Relationship Id="rId4" Type="http://schemas.openxmlformats.org/officeDocument/2006/relationships/image" Target="../media/image-10-3.png"/><Relationship Id="rId6" Type="http://schemas.openxmlformats.org/officeDocument/2006/relationships/image" Target="../media/image-1-4.png"/><Relationship Id="rId7" Type="http://schemas.openxmlformats.org/officeDocument/2006/relationships/slideLayout" Target="../slideLayouts/slideLayout4.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8" Type="http://schemas.openxmlformats.org/officeDocument/2006/relationships/slide" Target="slide2.xml"/><Relationship Id="rId3" Type="http://schemas.openxmlformats.org/officeDocument/2006/relationships/chart" Target="/ppt/charts/chart1.xml"/><Relationship Id="rId1" Type="http://schemas.openxmlformats.org/officeDocument/2006/relationships/image" Target="../media/image-1-2.png"/><Relationship Id="rId2" Type="http://schemas.openxmlformats.org/officeDocument/2006/relationships/image" Target="../media/image-1-1.png"/><Relationship Id="rId4" Type="http://schemas.openxmlformats.org/officeDocument/2006/relationships/image" Target="../media/image-13-3.png"/><Relationship Id="rId5" Type="http://schemas.openxmlformats.org/officeDocument/2006/relationships/image" Target="../media/image-31-4.png"/><Relationship Id="rId6" Type="http://schemas.openxmlformats.org/officeDocument/2006/relationships/image" Target="../media/image-8-5.png"/><Relationship Id="rId7" Type="http://schemas.openxmlformats.org/officeDocument/2006/relationships/image" Target="../media/image-10-3.png"/><Relationship Id="rId9" Type="http://schemas.openxmlformats.org/officeDocument/2006/relationships/image" Target="../media/image-1-4.png"/><Relationship Id="rId10" Type="http://schemas.openxmlformats.org/officeDocument/2006/relationships/slideLayout" Target="../slideLayouts/slideLayout4.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5" Type="http://schemas.openxmlformats.org/officeDocument/2006/relationships/slide" Target="slide2.xml"/><Relationship Id="rId1" Type="http://schemas.openxmlformats.org/officeDocument/2006/relationships/image" Target="../media/image-1-1.png"/><Relationship Id="rId2" Type="http://schemas.openxmlformats.org/officeDocument/2006/relationships/image" Target="../media/image-10-2.png"/><Relationship Id="rId3" Type="http://schemas.openxmlformats.org/officeDocument/2006/relationships/image" Target="../media/image-1-3.png"/><Relationship Id="rId4" Type="http://schemas.openxmlformats.org/officeDocument/2006/relationships/image" Target="../media/image-10-3.png"/><Relationship Id="rId6" Type="http://schemas.openxmlformats.org/officeDocument/2006/relationships/image" Target="../media/image-1-4.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5" Type="http://schemas.openxmlformats.org/officeDocument/2006/relationships/slide" Target="slide2.xml"/><Relationship Id="rId3" Type="http://schemas.openxmlformats.org/officeDocument/2006/relationships/chart" Target="/ppt/charts/chart2.xml"/><Relationship Id="rId1" Type="http://schemas.openxmlformats.org/officeDocument/2006/relationships/image" Target="../media/image-1-1.png"/><Relationship Id="rId2" Type="http://schemas.openxmlformats.org/officeDocument/2006/relationships/image" Target="../media/image-10-2.png"/><Relationship Id="rId4" Type="http://schemas.openxmlformats.org/officeDocument/2006/relationships/image" Target="../media/image-10-3.png"/><Relationship Id="rId6" Type="http://schemas.openxmlformats.org/officeDocument/2006/relationships/image" Target="../media/image-1-4.png"/><Relationship Id="rId7" Type="http://schemas.openxmlformats.org/officeDocument/2006/relationships/slideLayout" Target="../slideLayouts/slideLayout4.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5" Type="http://schemas.openxmlformats.org/officeDocument/2006/relationships/slide" Target="slide2.xml"/><Relationship Id="rId3" Type="http://schemas.openxmlformats.org/officeDocument/2006/relationships/chart" Target="/ppt/charts/chart3.xml"/><Relationship Id="rId1" Type="http://schemas.openxmlformats.org/officeDocument/2006/relationships/image" Target="../media/image-1-1.png"/><Relationship Id="rId2" Type="http://schemas.openxmlformats.org/officeDocument/2006/relationships/image" Target="../media/image-1-2.png"/><Relationship Id="rId4" Type="http://schemas.openxmlformats.org/officeDocument/2006/relationships/image" Target="../media/image-10-3.png"/><Relationship Id="rId6" Type="http://schemas.openxmlformats.org/officeDocument/2006/relationships/image" Target="../media/image-1-4.png"/><Relationship Id="rId7" Type="http://schemas.openxmlformats.org/officeDocument/2006/relationships/slideLayout" Target="../slideLayouts/slideLayout4.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5" Type="http://schemas.openxmlformats.org/officeDocument/2006/relationships/slide" Target="slide2.xml"/><Relationship Id="rId3" Type="http://schemas.openxmlformats.org/officeDocument/2006/relationships/chart" Target="/ppt/charts/chart4.xml"/><Relationship Id="rId1" Type="http://schemas.openxmlformats.org/officeDocument/2006/relationships/image" Target="../media/image-1-2.png"/><Relationship Id="rId2" Type="http://schemas.openxmlformats.org/officeDocument/2006/relationships/image" Target="../media/image-1-2.png"/><Relationship Id="rId4" Type="http://schemas.openxmlformats.org/officeDocument/2006/relationships/image" Target="../media/image-10-3.png"/><Relationship Id="rId6" Type="http://schemas.openxmlformats.org/officeDocument/2006/relationships/image" Target="../media/image-1-4.png"/><Relationship Id="rId7" Type="http://schemas.openxmlformats.org/officeDocument/2006/relationships/slideLayout" Target="../slideLayouts/slideLayout4.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3" Type="http://schemas.openxmlformats.org/officeDocument/2006/relationships/slide" Target="slide2.xml"/><Relationship Id="rId1" Type="http://schemas.openxmlformats.org/officeDocument/2006/relationships/image" Target="../media/image-1-1.png"/><Relationship Id="rId2" Type="http://schemas.openxmlformats.org/officeDocument/2006/relationships/image" Target="../media/image-10-2.png"/><Relationship Id="rId3" Type="http://schemas.openxmlformats.org/officeDocument/2006/relationships/image" Target="../media/image-13-3.png"/><Relationship Id="rId4" Type="http://schemas.openxmlformats.org/officeDocument/2006/relationships/image" Target="../media/image-13-10.png"/><Relationship Id="rId5" Type="http://schemas.openxmlformats.org/officeDocument/2006/relationships/image" Target="../media/image-13-5.png"/><Relationship Id="rId6" Type="http://schemas.openxmlformats.org/officeDocument/2006/relationships/image" Target="../media/image-13-10.png"/><Relationship Id="rId7" Type="http://schemas.openxmlformats.org/officeDocument/2006/relationships/image" Target="../media/image-13-7.png"/><Relationship Id="rId8" Type="http://schemas.openxmlformats.org/officeDocument/2006/relationships/image" Target="../media/image-13-10.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image" Target="../media/image-10-3.png"/><Relationship Id="rId14" Type="http://schemas.openxmlformats.org/officeDocument/2006/relationships/image" Target="../media/image-1-4.png"/><Relationship Id="rId15" Type="http://schemas.openxmlformats.org/officeDocument/2006/relationships/slideLayout" Target="../slideLayouts/slideLayout4.xml"/><Relationship Id="rId1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10-2.png"/><Relationship Id="rId2" Type="http://schemas.openxmlformats.org/officeDocument/2006/relationships/image" Target="../media/image-1-1.png"/><Relationship Id="rId3" Type="http://schemas.openxmlformats.org/officeDocument/2006/relationships/image" Target="../media/image-10-3.png"/><Relationship Id="rId5" Type="http://schemas.openxmlformats.org/officeDocument/2006/relationships/image" Target="../media/image-1-4.png"/><Relationship Id="rId6" Type="http://schemas.openxmlformats.org/officeDocument/2006/relationships/slideLayout" Target="../slideLayouts/slideLayout4.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5" Type="http://schemas.openxmlformats.org/officeDocument/2006/relationships/slide" Target="slide2.xml"/><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0-3.png"/><Relationship Id="rId6" Type="http://schemas.openxmlformats.org/officeDocument/2006/relationships/image" Target="../media/image-1-4.png"/><Relationship Id="rId7" Type="http://schemas.openxmlformats.org/officeDocument/2006/relationships/slideLayout" Target="../slideLayouts/slideLayout3.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4" Type="http://schemas.openxmlformats.org/officeDocument/2006/relationships/slide" Target="slide17.xml"/><Relationship Id="rId5" Type="http://schemas.openxmlformats.org/officeDocument/2006/relationships/slide" Target="slide18.xml"/><Relationship Id="rId6" Type="http://schemas.openxmlformats.org/officeDocument/2006/relationships/slide" Target="slide19.xml"/><Relationship Id="rId7" Type="http://schemas.openxmlformats.org/officeDocument/2006/relationships/slide" Target="slide20.xml"/><Relationship Id="rId8" Type="http://schemas.openxmlformats.org/officeDocument/2006/relationships/slide" Target="slide20.xml"/><Relationship Id="rId10" Type="http://schemas.openxmlformats.org/officeDocument/2006/relationships/slide" Target="slide17.xml"/><Relationship Id="rId12" Type="http://schemas.openxmlformats.org/officeDocument/2006/relationships/slide" Target="slide18.xml"/><Relationship Id="rId14" Type="http://schemas.openxmlformats.org/officeDocument/2006/relationships/slide" Target="slide19.xml"/><Relationship Id="rId16" Type="http://schemas.openxmlformats.org/officeDocument/2006/relationships/slide" Target="slide20.xml"/><Relationship Id="rId18" Type="http://schemas.openxmlformats.org/officeDocument/2006/relationships/slide" Target="slide2.xml"/><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6-3.png"/><Relationship Id="rId9" Type="http://schemas.openxmlformats.org/officeDocument/2006/relationships/image" Target="../media/image-16-4.png"/><Relationship Id="rId11" Type="http://schemas.openxmlformats.org/officeDocument/2006/relationships/image" Target="../media/image-16-4.png"/><Relationship Id="rId13" Type="http://schemas.openxmlformats.org/officeDocument/2006/relationships/image" Target="../media/image-16-4.png"/><Relationship Id="rId15" Type="http://schemas.openxmlformats.org/officeDocument/2006/relationships/image" Target="../media/image-16-4.png"/><Relationship Id="rId17" Type="http://schemas.openxmlformats.org/officeDocument/2006/relationships/image" Target="../media/image-10-3.png"/><Relationship Id="rId19" Type="http://schemas.openxmlformats.org/officeDocument/2006/relationships/image" Target="../media/image-1-4.png"/><Relationship Id="rId20" Type="http://schemas.openxmlformats.org/officeDocument/2006/relationships/slideLayout" Target="../slideLayouts/slideLayout4.xml"/><Relationship Id="rId21"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4" Type="http://schemas.openxmlformats.org/officeDocument/2006/relationships/slide" Target="slide18.xml"/><Relationship Id="rId5" Type="http://schemas.openxmlformats.org/officeDocument/2006/relationships/slide" Target="slide19.xml"/><Relationship Id="rId6" Type="http://schemas.openxmlformats.org/officeDocument/2006/relationships/slide" Target="slide20.xml"/><Relationship Id="rId8" Type="http://schemas.openxmlformats.org/officeDocument/2006/relationships/slide" Target="slide21.xml"/><Relationship Id="rId10" Type="http://schemas.openxmlformats.org/officeDocument/2006/relationships/slide" Target="slide2.xml"/><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6-3.png"/><Relationship Id="rId7" Type="http://schemas.openxmlformats.org/officeDocument/2006/relationships/image" Target="../media/image-17-4.png"/><Relationship Id="rId9" Type="http://schemas.openxmlformats.org/officeDocument/2006/relationships/image" Target="../media/image-10-3.png"/><Relationship Id="rId11" Type="http://schemas.openxmlformats.org/officeDocument/2006/relationships/image" Target="../media/image-1-4.png"/><Relationship Id="rId12" Type="http://schemas.openxmlformats.org/officeDocument/2006/relationships/slideLayout" Target="../slideLayouts/slideLayout4.xml"/><Relationship Id="rId1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4" Type="http://schemas.openxmlformats.org/officeDocument/2006/relationships/slide" Target="slide17.xml"/><Relationship Id="rId5" Type="http://schemas.openxmlformats.org/officeDocument/2006/relationships/slide" Target="slide19.xml"/><Relationship Id="rId6" Type="http://schemas.openxmlformats.org/officeDocument/2006/relationships/slide" Target="slide20.xml"/><Relationship Id="rId8" Type="http://schemas.openxmlformats.org/officeDocument/2006/relationships/slide" Target="slide21.xml"/><Relationship Id="rId10" Type="http://schemas.openxmlformats.org/officeDocument/2006/relationships/slide" Target="slide2.xml"/><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6-3.png"/><Relationship Id="rId7" Type="http://schemas.openxmlformats.org/officeDocument/2006/relationships/image" Target="../media/image-17-4.png"/><Relationship Id="rId9" Type="http://schemas.openxmlformats.org/officeDocument/2006/relationships/image" Target="../media/image-10-3.png"/><Relationship Id="rId11" Type="http://schemas.openxmlformats.org/officeDocument/2006/relationships/image" Target="../media/image-1-4.png"/><Relationship Id="rId12" Type="http://schemas.openxmlformats.org/officeDocument/2006/relationships/slideLayout" Target="../slideLayouts/slideLayout4.xml"/><Relationship Id="rId1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4" Type="http://schemas.openxmlformats.org/officeDocument/2006/relationships/slide" Target="slide17.xml"/><Relationship Id="rId5" Type="http://schemas.openxmlformats.org/officeDocument/2006/relationships/slide" Target="slide18.xml"/><Relationship Id="rId6" Type="http://schemas.openxmlformats.org/officeDocument/2006/relationships/slide" Target="slide20.xml"/><Relationship Id="rId8" Type="http://schemas.openxmlformats.org/officeDocument/2006/relationships/slide" Target="slide21.xml"/><Relationship Id="rId10" Type="http://schemas.openxmlformats.org/officeDocument/2006/relationships/slide" Target="slide2.xml"/><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6-3.png"/><Relationship Id="rId7" Type="http://schemas.openxmlformats.org/officeDocument/2006/relationships/image" Target="../media/image-17-4.png"/><Relationship Id="rId9" Type="http://schemas.openxmlformats.org/officeDocument/2006/relationships/image" Target="../media/image-10-3.png"/><Relationship Id="rId11" Type="http://schemas.openxmlformats.org/officeDocument/2006/relationships/image" Target="../media/image-1-4.png"/><Relationship Id="rId12" Type="http://schemas.openxmlformats.org/officeDocument/2006/relationships/slideLayout" Target="../slideLayouts/slideLayout4.xml"/><Relationship Id="rId1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4" Type="http://schemas.openxmlformats.org/officeDocument/2006/relationships/slide" Target="slide17.xml"/><Relationship Id="rId5" Type="http://schemas.openxmlformats.org/officeDocument/2006/relationships/slide" Target="slide18.xml"/><Relationship Id="rId6" Type="http://schemas.openxmlformats.org/officeDocument/2006/relationships/slide" Target="slide19.xml"/><Relationship Id="rId8" Type="http://schemas.openxmlformats.org/officeDocument/2006/relationships/slide" Target="slide21.xml"/><Relationship Id="rId10" Type="http://schemas.openxmlformats.org/officeDocument/2006/relationships/slide" Target="slide2.xml"/><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6-3.png"/><Relationship Id="rId7" Type="http://schemas.openxmlformats.org/officeDocument/2006/relationships/image" Target="../media/image-17-4.png"/><Relationship Id="rId9" Type="http://schemas.openxmlformats.org/officeDocument/2006/relationships/image" Target="../media/image-10-3.png"/><Relationship Id="rId11" Type="http://schemas.openxmlformats.org/officeDocument/2006/relationships/image" Target="../media/image-1-4.png"/><Relationship Id="rId12" Type="http://schemas.openxmlformats.org/officeDocument/2006/relationships/slideLayout" Target="../slideLayouts/slideLayout4.xml"/><Relationship Id="rId1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4" Type="http://schemas.openxmlformats.org/officeDocument/2006/relationships/slide" Target="slide17.xml"/><Relationship Id="rId5" Type="http://schemas.openxmlformats.org/officeDocument/2006/relationships/slide" Target="slide18.xml"/><Relationship Id="rId6" Type="http://schemas.openxmlformats.org/officeDocument/2006/relationships/slide" Target="slide19.xml"/><Relationship Id="rId7" Type="http://schemas.openxmlformats.org/officeDocument/2006/relationships/slide" Target="slide20.xml"/><Relationship Id="rId8" Type="http://schemas.openxmlformats.org/officeDocument/2006/relationships/slide" Target="slide20.xml"/><Relationship Id="rId10" Type="http://schemas.openxmlformats.org/officeDocument/2006/relationships/slide" Target="slide17.xml"/><Relationship Id="rId12" Type="http://schemas.openxmlformats.org/officeDocument/2006/relationships/slide" Target="slide18.xml"/><Relationship Id="rId14" Type="http://schemas.openxmlformats.org/officeDocument/2006/relationships/slide" Target="slide19.xml"/><Relationship Id="rId16" Type="http://schemas.openxmlformats.org/officeDocument/2006/relationships/slide" Target="slide20.xml"/><Relationship Id="rId18" Type="http://schemas.openxmlformats.org/officeDocument/2006/relationships/slide" Target="slide22.xml"/><Relationship Id="rId20" Type="http://schemas.openxmlformats.org/officeDocument/2006/relationships/slide" Target="slide2.xml"/><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6-3.png"/><Relationship Id="rId9" Type="http://schemas.openxmlformats.org/officeDocument/2006/relationships/image" Target="../media/image-16-4.png"/><Relationship Id="rId11" Type="http://schemas.openxmlformats.org/officeDocument/2006/relationships/image" Target="../media/image-16-4.png"/><Relationship Id="rId13" Type="http://schemas.openxmlformats.org/officeDocument/2006/relationships/image" Target="../media/image-16-4.png"/><Relationship Id="rId15" Type="http://schemas.openxmlformats.org/officeDocument/2006/relationships/image" Target="../media/image-16-4.png"/><Relationship Id="rId17" Type="http://schemas.openxmlformats.org/officeDocument/2006/relationships/image" Target="../media/image-21-8.png"/><Relationship Id="rId19" Type="http://schemas.openxmlformats.org/officeDocument/2006/relationships/image" Target="../media/image-10-3.png"/><Relationship Id="rId21" Type="http://schemas.openxmlformats.org/officeDocument/2006/relationships/image" Target="../media/image-1-4.png"/><Relationship Id="rId22" Type="http://schemas.openxmlformats.org/officeDocument/2006/relationships/slideLayout" Target="../slideLayouts/slideLayout4.xml"/><Relationship Id="rId2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5" Type="http://schemas.openxmlformats.org/officeDocument/2006/relationships/slide" Target="slide17.xml"/><Relationship Id="rId7" Type="http://schemas.openxmlformats.org/officeDocument/2006/relationships/slide" Target="slide18.xml"/><Relationship Id="rId9" Type="http://schemas.openxmlformats.org/officeDocument/2006/relationships/slide" Target="slide19.xml"/><Relationship Id="rId11" Type="http://schemas.openxmlformats.org/officeDocument/2006/relationships/slide" Target="slide20.xml"/><Relationship Id="rId13" Type="http://schemas.openxmlformats.org/officeDocument/2006/relationships/slide" Target="slide2.xml"/><Relationship Id="rId1" Type="http://schemas.openxmlformats.org/officeDocument/2006/relationships/image" Target="../media/image-1-1.png"/><Relationship Id="rId2" Type="http://schemas.openxmlformats.org/officeDocument/2006/relationships/image" Target="../media/image-10-2.png"/><Relationship Id="rId3" Type="http://schemas.openxmlformats.org/officeDocument/2006/relationships/image" Target="../media/image-16-3.png"/><Relationship Id="rId4" Type="http://schemas.openxmlformats.org/officeDocument/2006/relationships/image" Target="../media/image-16-4.png"/><Relationship Id="rId6" Type="http://schemas.openxmlformats.org/officeDocument/2006/relationships/image" Target="../media/image-16-4.png"/><Relationship Id="rId8" Type="http://schemas.openxmlformats.org/officeDocument/2006/relationships/image" Target="../media/image-16-4.png"/><Relationship Id="rId10" Type="http://schemas.openxmlformats.org/officeDocument/2006/relationships/image" Target="../media/image-16-4.png"/><Relationship Id="rId12" Type="http://schemas.openxmlformats.org/officeDocument/2006/relationships/image" Target="../media/image-10-3.png"/><Relationship Id="rId14" Type="http://schemas.openxmlformats.org/officeDocument/2006/relationships/image" Target="../media/image-1-4.png"/><Relationship Id="rId15" Type="http://schemas.openxmlformats.org/officeDocument/2006/relationships/slideLayout" Target="../slideLayouts/slideLayout4.xml"/><Relationship Id="rId1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5" Type="http://schemas.openxmlformats.org/officeDocument/2006/relationships/slide" Target="slide2.xml"/><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23-3.png"/><Relationship Id="rId4" Type="http://schemas.openxmlformats.org/officeDocument/2006/relationships/image" Target="../media/image-10-3.png"/><Relationship Id="rId6" Type="http://schemas.openxmlformats.org/officeDocument/2006/relationships/image" Target="../media/image-1-4.png"/><Relationship Id="rId7" Type="http://schemas.openxmlformats.org/officeDocument/2006/relationships/slideLayout" Target="../slideLayouts/slideLayout4.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5" Type="http://schemas.openxmlformats.org/officeDocument/2006/relationships/slide" Target="slide2.xml"/><Relationship Id="rId1" Type="http://schemas.openxmlformats.org/officeDocument/2006/relationships/image" Target="../media/image-1-1.png"/><Relationship Id="rId2" Type="http://schemas.openxmlformats.org/officeDocument/2006/relationships/image" Target="../media/image-10-2.png"/><Relationship Id="rId3" Type="http://schemas.openxmlformats.org/officeDocument/2006/relationships/image" Target="../media/image-1-3.png"/><Relationship Id="rId4" Type="http://schemas.openxmlformats.org/officeDocument/2006/relationships/image" Target="../media/image-10-3.png"/><Relationship Id="rId6" Type="http://schemas.openxmlformats.org/officeDocument/2006/relationships/image" Target="../media/image-1-4.png"/><Relationship Id="rId7" Type="http://schemas.openxmlformats.org/officeDocument/2006/relationships/slideLayout" Target="../slideLayouts/slideLayout3.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5" Type="http://schemas.openxmlformats.org/officeDocument/2006/relationships/slide" Target="slide2.xml"/><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25-3.png"/><Relationship Id="rId4" Type="http://schemas.openxmlformats.org/officeDocument/2006/relationships/image" Target="../media/image-10-3.png"/><Relationship Id="rId6" Type="http://schemas.openxmlformats.org/officeDocument/2006/relationships/image" Target="../media/image-1-4.png"/><Relationship Id="rId7" Type="http://schemas.openxmlformats.org/officeDocument/2006/relationships/slideLayout" Target="../slideLayouts/slideLayout4.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5" Type="http://schemas.openxmlformats.org/officeDocument/2006/relationships/slide" Target="slide2.xml"/><Relationship Id="rId3" Type="http://schemas.openxmlformats.org/officeDocument/2006/relationships/chart" Target="/ppt/charts/chart5.xml"/><Relationship Id="rId1" Type="http://schemas.openxmlformats.org/officeDocument/2006/relationships/image" Target="../media/image-1-1.png"/><Relationship Id="rId2" Type="http://schemas.openxmlformats.org/officeDocument/2006/relationships/image" Target="../media/image-10-2.png"/><Relationship Id="rId4" Type="http://schemas.openxmlformats.org/officeDocument/2006/relationships/image" Target="../media/image-10-3.png"/><Relationship Id="rId6" Type="http://schemas.openxmlformats.org/officeDocument/2006/relationships/image" Target="../media/image-1-4.png"/><Relationship Id="rId7" Type="http://schemas.openxmlformats.org/officeDocument/2006/relationships/slideLayout" Target="../slideLayouts/slideLayout4.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5" Type="http://schemas.openxmlformats.org/officeDocument/2006/relationships/slide" Target="slide2.xml"/><Relationship Id="rId3" Type="http://schemas.openxmlformats.org/officeDocument/2006/relationships/chart" Target="/ppt/charts/chart6.xml"/><Relationship Id="rId1" Type="http://schemas.openxmlformats.org/officeDocument/2006/relationships/image" Target="../media/image-1-1.png"/><Relationship Id="rId2" Type="http://schemas.openxmlformats.org/officeDocument/2006/relationships/image" Target="../media/image-27-2.png"/><Relationship Id="rId4" Type="http://schemas.openxmlformats.org/officeDocument/2006/relationships/image" Target="../media/image-10-3.png"/><Relationship Id="rId6" Type="http://schemas.openxmlformats.org/officeDocument/2006/relationships/image" Target="../media/image-1-4.png"/><Relationship Id="rId7" Type="http://schemas.openxmlformats.org/officeDocument/2006/relationships/slideLayout" Target="../slideLayouts/slideLayout4.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10-2.png"/><Relationship Id="rId2" Type="http://schemas.openxmlformats.org/officeDocument/2006/relationships/image" Target="../media/image-1-1.png"/><Relationship Id="rId3" Type="http://schemas.openxmlformats.org/officeDocument/2006/relationships/image" Target="../media/image-10-3.png"/><Relationship Id="rId5" Type="http://schemas.openxmlformats.org/officeDocument/2006/relationships/image" Target="../media/image-1-4.png"/><Relationship Id="rId6" Type="http://schemas.openxmlformats.org/officeDocument/2006/relationships/slideLayout" Target="../slideLayouts/slideLayout4.xml"/><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5" Type="http://schemas.openxmlformats.org/officeDocument/2006/relationships/slide" Target="slide2.xml"/><Relationship Id="rId3" Type="http://schemas.openxmlformats.org/officeDocument/2006/relationships/chart" Target="/ppt/charts/chart7.xml"/><Relationship Id="rId1" Type="http://schemas.openxmlformats.org/officeDocument/2006/relationships/image" Target="../media/image-1-2.png"/><Relationship Id="rId2" Type="http://schemas.openxmlformats.org/officeDocument/2006/relationships/image" Target="../media/image-1-2.png"/><Relationship Id="rId4" Type="http://schemas.openxmlformats.org/officeDocument/2006/relationships/image" Target="../media/image-10-3.png"/><Relationship Id="rId6" Type="http://schemas.openxmlformats.org/officeDocument/2006/relationships/image" Target="../media/image-1-4.png"/><Relationship Id="rId7" Type="http://schemas.openxmlformats.org/officeDocument/2006/relationships/slideLayout" Target="../slideLayouts/slideLayout4.xml"/><Relationship Id="rId8"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27-2.png"/><Relationship Id="rId2" Type="http://schemas.openxmlformats.org/officeDocument/2006/relationships/image" Target="../media/image-1-1.png"/><Relationship Id="rId3" Type="http://schemas.openxmlformats.org/officeDocument/2006/relationships/image" Target="../media/image-10-3.png"/><Relationship Id="rId5" Type="http://schemas.openxmlformats.org/officeDocument/2006/relationships/image" Target="../media/image-1-4.png"/><Relationship Id="rId6" Type="http://schemas.openxmlformats.org/officeDocument/2006/relationships/slideLayout" Target="../slideLayouts/slideLayout4.xml"/><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8" Type="http://schemas.openxmlformats.org/officeDocument/2006/relationships/slide" Target="slide2.xml"/><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3-3.png"/><Relationship Id="rId4" Type="http://schemas.openxmlformats.org/officeDocument/2006/relationships/image" Target="../media/image-31-4.png"/><Relationship Id="rId5" Type="http://schemas.openxmlformats.org/officeDocument/2006/relationships/image" Target="../media/image-13-7.png"/><Relationship Id="rId6" Type="http://schemas.openxmlformats.org/officeDocument/2006/relationships/image" Target="../media/image-31-6.png"/><Relationship Id="rId7" Type="http://schemas.openxmlformats.org/officeDocument/2006/relationships/image" Target="../media/image-10-3.png"/><Relationship Id="rId9" Type="http://schemas.openxmlformats.org/officeDocument/2006/relationships/image" Target="../media/image-1-4.png"/><Relationship Id="rId10" Type="http://schemas.openxmlformats.org/officeDocument/2006/relationships/slideLayout" Target="../slideLayouts/slideLayout4.xml"/><Relationship Id="rId11"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1-1.png"/><Relationship Id="rId2" Type="http://schemas.openxmlformats.org/officeDocument/2006/relationships/image" Target="../media/image-10-2.png"/><Relationship Id="rId3" Type="http://schemas.openxmlformats.org/officeDocument/2006/relationships/image" Target="../media/image-10-3.png"/><Relationship Id="rId5" Type="http://schemas.openxmlformats.org/officeDocument/2006/relationships/image" Target="../media/image-1-4.png"/><Relationship Id="rId6" Type="http://schemas.openxmlformats.org/officeDocument/2006/relationships/slideLayout" Target="../slideLayouts/slideLayout4.xml"/><Relationship Id="rId7"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5" Type="http://schemas.openxmlformats.org/officeDocument/2006/relationships/slide" Target="slide2.xml"/><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7-4.png"/><Relationship Id="rId6" Type="http://schemas.openxmlformats.org/officeDocument/2006/relationships/image" Target="../media/image-1-4.png"/><Relationship Id="rId7" Type="http://schemas.openxmlformats.org/officeDocument/2006/relationships/slideLayout" Target="../slideLayouts/slideLayout2.xml"/><Relationship Id="rId8" Type="http://schemas.openxmlformats.org/officeDocument/2006/relationships/notesSlide" Target="../notesSlides/notesSlide33.xml"/></Relationships>
</file>

<file path=ppt/slides/slide1.xml><?xml version="1.0" encoding="utf-8"?>
<p:sld xmlns:p14="http://schemas.microsoft.com/office/powerpoint/2010/main"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orbA" descr="Decorative background light">    </p:cNvPr>
          <p:cNvPicPr>
            <a:picLocks noChangeAspect="1"/>
          </p:cNvPicPr>
          <p:nvPr/>
        </p:nvPicPr>
        <p:blipFill>
          <a:blip r:embed="rId1"/>
          <a:stretch>
            <a:fillRect/>
          </a:stretch>
        </p:blipFill>
        <p:spPr>
          <a:xfrm>
            <a:off x="4892040" y="-685800"/>
            <a:ext cx="8686800" cy="8686800"/>
          </a:xfrm>
          <a:prstGeom prst="rect">
            <a:avLst/>
          </a:prstGeom>
        </p:spPr>
      </p:pic>
      <p:pic>
        <p:nvPicPr>
          <p:cNvPr id="3" name="!!orbB" descr="Decorative background light">    </p:cNvPr>
          <p:cNvPicPr>
            <a:picLocks noChangeAspect="1"/>
          </p:cNvPicPr>
          <p:nvPr/>
        </p:nvPicPr>
        <p:blipFill>
          <a:blip r:embed="rId2"/>
          <a:stretch>
            <a:fillRect/>
          </a:stretch>
        </p:blipFill>
        <p:spPr>
          <a:xfrm>
            <a:off x="-2468880" y="-2743200"/>
            <a:ext cx="6400800" cy="6400800"/>
          </a:xfrm>
          <a:prstGeom prst="rect">
            <a:avLst/>
          </a:prstGeom>
        </p:spPr>
      </p:pic>
      <p:pic>
        <p:nvPicPr>
          <p:cNvPr id="4" name="!!drop" descr="Oil drop illustration">    </p:cNvPr>
          <p:cNvPicPr>
            <a:picLocks noChangeAspect="1"/>
          </p:cNvPicPr>
          <p:nvPr/>
        </p:nvPicPr>
        <p:blipFill>
          <a:blip r:embed="rId3"/>
          <a:stretch>
            <a:fillRect/>
          </a:stretch>
        </p:blipFill>
        <p:spPr>
          <a:xfrm>
            <a:off x="7269480" y="1325880"/>
            <a:ext cx="3977640" cy="5020056"/>
          </a:xfrm>
          <a:prstGeom prst="rect">
            <a:avLst/>
          </a:prstGeom>
        </p:spPr>
      </p:pic>
      <p:sp>
        <p:nvSpPr>
          <p:cNvPr id="5" name="ti_kick"/>
          <p:cNvSpPr txBox="1"/>
          <p:nvPr/>
        </p:nvSpPr>
        <p:spPr>
          <a:xfrm>
            <a:off x="548640" y="1463040"/>
            <a:ext cx="6949440" cy="365760"/>
          </a:xfrm>
          <a:prstGeom prst="rect">
            <a:avLst/>
          </a:prstGeom>
          <a:noFill/>
          <a:ln/>
        </p:spPr>
        <p:txBody>
          <a:bodyPr wrap="square" lIns="0" tIns="0" rIns="0" bIns="0" rtlCol="0" anchor="t"/>
          <a:lstStyle/>
          <a:p>
            <a:pPr indent="0" marL="0">
              <a:buNone/>
            </a:pPr>
            <a:r>
              <a:rPr lang="en-US" sz="1300" b="1" spc="150" kern="0" dirty="0">
                <a:solidFill>
                  <a:schemeClr val="accent1"/>
                </a:solidFill>
                <a:latin typeface="Arial" pitchFamily="34" charset="0"/>
                <a:ea typeface="Arial" pitchFamily="34" charset="-122"/>
                <a:cs typeface="Arial" pitchFamily="34" charset="-120"/>
              </a:rPr>
              <a:t>EGCH2230  ·  PETROLEUM AND PETROCHEMICAL PROCESSING</a:t>
            </a:r>
            <a:endParaRPr lang="en-US" sz="1300" dirty="0"/>
          </a:p>
        </p:txBody>
      </p:sp>
      <p:sp>
        <p:nvSpPr>
          <p:cNvPr id="6" name="!!title"/>
          <p:cNvSpPr txBox="1"/>
          <p:nvPr/>
        </p:nvSpPr>
        <p:spPr>
          <a:xfrm>
            <a:off x="548640" y="1874520"/>
            <a:ext cx="6583680" cy="1325880"/>
          </a:xfrm>
          <a:prstGeom prst="rect">
            <a:avLst/>
          </a:prstGeom>
          <a:noFill/>
          <a:ln/>
        </p:spPr>
        <p:txBody>
          <a:bodyPr wrap="square" lIns="0" tIns="0" rIns="0" bIns="0" rtlCol="0" anchor="t"/>
          <a:lstStyle/>
          <a:p>
            <a:pPr indent="0" marL="0">
              <a:buNone/>
            </a:pPr>
            <a:r>
              <a:rPr lang="en-US" sz="9600" b="1" dirty="0">
                <a:solidFill>
                  <a:schemeClr val="tx1"/>
                </a:solidFill>
                <a:latin typeface="Arial" pitchFamily="34" charset="0"/>
                <a:ea typeface="Arial" pitchFamily="34" charset="-122"/>
                <a:cs typeface="Arial" pitchFamily="34" charset="-120"/>
              </a:rPr>
              <a:t>Kuwait</a:t>
            </a:r>
            <a:endParaRPr lang="en-US" sz="9600" dirty="0"/>
          </a:p>
        </p:txBody>
      </p:sp>
      <p:sp>
        <p:nvSpPr>
          <p:cNvPr id="7" name="ti_sub"/>
          <p:cNvSpPr txBox="1"/>
          <p:nvPr/>
        </p:nvSpPr>
        <p:spPr>
          <a:xfrm>
            <a:off x="548640" y="3182112"/>
            <a:ext cx="6583680" cy="685800"/>
          </a:xfrm>
          <a:prstGeom prst="rect">
            <a:avLst/>
          </a:prstGeom>
          <a:noFill/>
          <a:ln/>
        </p:spPr>
        <p:txBody>
          <a:bodyPr wrap="square" lIns="0" tIns="0" rIns="0" bIns="0" rtlCol="0" anchor="t"/>
          <a:lstStyle/>
          <a:p>
            <a:pPr indent="0" marL="0">
              <a:buNone/>
            </a:pPr>
            <a:r>
              <a:rPr lang="en-US" sz="4000" dirty="0">
                <a:solidFill>
                  <a:schemeClr val="tx1"/>
                </a:solidFill>
                <a:latin typeface="Arial" pitchFamily="34" charset="0"/>
                <a:ea typeface="Arial" pitchFamily="34" charset="-122"/>
                <a:cs typeface="Arial" pitchFamily="34" charset="-120"/>
              </a:rPr>
              <a:t>A Century of Oil &amp; Gas</a:t>
            </a:r>
            <a:endParaRPr lang="en-US" sz="4000" dirty="0"/>
          </a:p>
        </p:txBody>
      </p:sp>
      <p:sp>
        <p:nvSpPr>
          <p:cNvPr id="8" name="ti_tag"/>
          <p:cNvSpPr txBox="1"/>
          <p:nvPr/>
        </p:nvSpPr>
        <p:spPr>
          <a:xfrm>
            <a:off x="548640" y="3931920"/>
            <a:ext cx="6583680" cy="411480"/>
          </a:xfrm>
          <a:prstGeom prst="rect">
            <a:avLst/>
          </a:prstGeom>
          <a:noFill/>
          <a:ln/>
        </p:spPr>
        <p:txBody>
          <a:bodyPr wrap="square" lIns="0" tIns="0" rIns="0" bIns="0" rtlCol="0" anchor="t"/>
          <a:lstStyle/>
          <a:p>
            <a:pPr indent="0" marL="0">
              <a:buNone/>
            </a:pPr>
            <a:r>
              <a:rPr lang="en-US" sz="2000" dirty="0">
                <a:solidFill>
                  <a:schemeClr val="tx2"/>
                </a:solidFill>
                <a:latin typeface="Arial" pitchFamily="34" charset="0"/>
                <a:ea typeface="Arial" pitchFamily="34" charset="-122"/>
                <a:cs typeface="Arial" pitchFamily="34" charset="-120"/>
              </a:rPr>
              <a:t>History  ·  Resources  ·  Reservoirs  ·  Markets</a:t>
            </a:r>
            <a:endParaRPr lang="en-US" sz="2000" dirty="0"/>
          </a:p>
        </p:txBody>
      </p:sp>
      <p:sp>
        <p:nvSpPr>
          <p:cNvPr id="9" name="ti_name"/>
          <p:cNvSpPr txBox="1"/>
          <p:nvPr/>
        </p:nvSpPr>
        <p:spPr>
          <a:xfrm>
            <a:off x="548640" y="4983480"/>
            <a:ext cx="6766560" cy="822960"/>
          </a:xfrm>
          <a:prstGeom prst="rect">
            <a:avLst/>
          </a:prstGeom>
          <a:noFill/>
          <a:ln/>
        </p:spPr>
        <p:txBody>
          <a:bodyPr wrap="square" lIns="0" tIns="0" rIns="0" bIns="0" rtlCol="0" anchor="t"/>
          <a:lstStyle/>
          <a:p>
            <a:pPr indent="0" marL="0">
              <a:spcAft>
                <a:spcPts val="400"/>
              </a:spcAft>
              <a:buNone/>
            </a:pPr>
            <a:r>
              <a:rPr lang="en-US" sz="2400" b="1" dirty="0">
                <a:solidFill>
                  <a:schemeClr val="tx1"/>
                </a:solidFill>
                <a:latin typeface="Arial" pitchFamily="34" charset="0"/>
                <a:ea typeface="Arial" pitchFamily="34" charset="-122"/>
                <a:cs typeface="Arial" pitchFamily="34" charset="-120"/>
              </a:rPr>
              <a:t>Shahad Issa Obaid Alghriabi</a:t>
            </a:r>
            <a:endParaRPr lang="en-US" sz="2400" dirty="0"/>
          </a:p>
          <a:p>
            <a:pPr indent="0" marL="0">
              <a:spcAft>
                <a:spcPts val="400"/>
              </a:spcAft>
              <a:buNone/>
            </a:pPr>
            <a:r>
              <a:rPr lang="en-US" sz="1600" dirty="0">
                <a:solidFill>
                  <a:schemeClr val="tx2"/>
                </a:solidFill>
                <a:latin typeface="Arial" pitchFamily="34" charset="0"/>
                <a:ea typeface="Arial" pitchFamily="34" charset="-122"/>
                <a:cs typeface="Arial" pitchFamily="34" charset="-120"/>
              </a:rPr>
              <a:t>University of Technology and Applied Sciences · Salalah</a:t>
            </a:r>
            <a:endParaRPr lang="en-US" sz="2400" dirty="0"/>
          </a:p>
        </p:txBody>
      </p:sp>
      <p:pic>
        <p:nvPicPr>
          <p:cNvPr id="11" name="!!badge" descr="University of Technology and Applied Sciences, Salalah">    </p:cNvPr>
          <p:cNvPicPr>
            <a:picLocks noChangeAspect="1"/>
          </p:cNvPicPr>
          <p:nvPr/>
        </p:nvPicPr>
        <p:blipFill>
          <a:blip r:embed="rId4"/>
          <a:stretch>
            <a:fillRect/>
          </a:stretch>
        </p:blipFill>
        <p:spPr>
          <a:xfrm>
            <a:off x="8899855" y="411480"/>
            <a:ext cx="2743200" cy="1130060"/>
          </a:xfrm>
          <a:prstGeom prst="rect">
            <a:avLst/>
          </a:prstGeom>
        </p:spPr>
      </p:pic>
    </p:spTree>
  </p:cSld>
  <p:clrMapOvr>
    <a:masterClrMapping/>
  </p:clrMapOvr>
  <p:transition spd="slow" p14:dur="10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0" presetClass="path" presetSubtype="0" fill="hold" grpId="0" nodeType="afterEffect" repeatCount="indefinite" autoRev="1">
                                  <p:stCondLst>
                                    <p:cond delay="0"/>
                                  </p:stCondLst>
                                  <p:childTnLst>
                                    <p:animMotion origin="layout" path="M 0 0 L 0.0350 -0.0300 E" pathEditMode="relative" ptsTypes="">
                                      <p:cBhvr>
                                        <p:cTn id="5" dur="13000" fill="hold" accel="50000" decel="50000"/>
                                        <p:tgtEl>
                                          <p:spTgt spid="2"/>
                                        </p:tgtEl>
                                        <p:attrNameLst>
                                          <p:attrName>ppt_x</p:attrName>
                                          <p:attrName>ppt_y</p:attrName>
                                        </p:attrNameLst>
                                      </p:cBhvr>
                                      <p:rCtr x="0" y="0"/>
                                    </p:animMotion>
                                  </p:childTnLst>
                                </p:cTn>
                              </p:par>
                              <p:par>
                                <p:cTn id="8" presetID="0" presetClass="path" presetSubtype="0" fill="hold" grpId="0" nodeType="withEffect" repeatCount="indefinite" autoRev="1">
                                  <p:stCondLst>
                                    <p:cond delay="0"/>
                                  </p:stCondLst>
                                  <p:childTnLst>
                                    <p:animMotion origin="layout" path="M 0 0 L -0.0300 0.0250 E" pathEditMode="relative" ptsTypes="">
                                      <p:cBhvr>
                                        <p:cTn id="7" dur="15000" fill="hold" accel="50000" decel="50000"/>
                                        <p:tgtEl>
                                          <p:spTgt spid="3"/>
                                        </p:tgtEl>
                                        <p:attrNameLst>
                                          <p:attrName>ppt_x</p:attrName>
                                          <p:attrName>ppt_y</p:attrName>
                                        </p:attrNameLst>
                                      </p:cBhvr>
                                      <p:rCtr x="0" y="0"/>
                                    </p:animMotion>
                                  </p:childTnLst>
                                </p:cTn>
                              </p:par>
                              <p:par>
                                <p:cTn id="13" presetID="53" presetClass="entr" presetSubtype="16"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p:cTn id="10" dur="1800" fill="hold" decel="100000"/>
                                        <p:tgtEl>
                                          <p:spTgt spid="4"/>
                                        </p:tgtEl>
                                        <p:attrNameLst>
                                          <p:attrName>ppt_w</p:attrName>
                                        </p:attrNameLst>
                                      </p:cBhvr>
                                      <p:tavLst>
                                        <p:tav tm="0">
                                          <p:val>
                                            <p:strVal val="#ppt_w*0.860"/>
                                          </p:val>
                                        </p:tav>
                                        <p:tav tm="100000">
                                          <p:val>
                                            <p:strVal val="#ppt_w"/>
                                          </p:val>
                                        </p:tav>
                                      </p:tavLst>
                                    </p:anim>
                                    <p:anim calcmode="lin" valueType="num">
                                      <p:cBhvr>
                                        <p:cTn id="11" dur="1800" fill="hold" decel="100000"/>
                                        <p:tgtEl>
                                          <p:spTgt spid="4"/>
                                        </p:tgtEl>
                                        <p:attrNameLst>
                                          <p:attrName>ppt_h</p:attrName>
                                        </p:attrNameLst>
                                      </p:cBhvr>
                                      <p:tavLst>
                                        <p:tav tm="0">
                                          <p:val>
                                            <p:strVal val="#ppt_h*0.860"/>
                                          </p:val>
                                        </p:tav>
                                        <p:tav tm="100000">
                                          <p:val>
                                            <p:strVal val="#ppt_h"/>
                                          </p:val>
                                        </p:tav>
                                      </p:tavLst>
                                    </p:anim>
                                    <p:animEffect transition="in" filter="fade">
                                      <p:cBhvr>
                                        <p:cTn id="12" dur="1260" decel="100000"/>
                                        <p:tgtEl>
                                          <p:spTgt spid="4"/>
                                        </p:tgtEl>
                                      </p:cBhvr>
                                    </p:animEffect>
                                  </p:childTnLst>
                                </p:cTn>
                              </p:par>
                              <p:par>
                                <p:cTn id="16" presetID="10" presetClass="entr" presetSubtype="0" fill="hold" grpId="0" nodeType="withEffect">
                                  <p:stCondLst>
                                    <p:cond delay="45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900" decel="100000"/>
                                        <p:tgtEl>
                                          <p:spTgt spid="5"/>
                                        </p:tgtEl>
                                      </p:cBhvr>
                                    </p:animEffect>
                                  </p:childTnLst>
                                </p:cTn>
                              </p:par>
                              <p:par>
                                <p:cTn id="21" presetID="42" presetClass="entr" presetSubtype="0" fill="hold" grpId="0" nodeType="withEffect">
                                  <p:stCondLst>
                                    <p:cond delay="60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880" decel="100000"/>
                                        <p:tgtEl>
                                          <p:spTgt spid="6"/>
                                        </p:tgtEl>
                                      </p:cBhvr>
                                    </p:animEffect>
                                    <p:anim calcmode="lin" valueType="num">
                                      <p:cBhvr>
                                        <p:cTn id="19" dur="1100" fill="hold" decel="100000"/>
                                        <p:tgtEl>
                                          <p:spTgt spid="6"/>
                                        </p:tgtEl>
                                        <p:attrNameLst>
                                          <p:attrName>ppt_x</p:attrName>
                                        </p:attrNameLst>
                                      </p:cBhvr>
                                      <p:tavLst>
                                        <p:tav tm="0">
                                          <p:val>
                                            <p:strVal val="#ppt_x"/>
                                          </p:val>
                                        </p:tav>
                                        <p:tav tm="100000">
                                          <p:val>
                                            <p:strVal val="#ppt_x"/>
                                          </p:val>
                                        </p:tav>
                                      </p:tavLst>
                                    </p:anim>
                                    <p:anim calcmode="lin" valueType="num">
                                      <p:cBhvr>
                                        <p:cTn id="20" dur="1100" fill="hold" decel="100000"/>
                                        <p:tgtEl>
                                          <p:spTgt spid="6"/>
                                        </p:tgtEl>
                                        <p:attrNameLst>
                                          <p:attrName>ppt_y</p:attrName>
                                        </p:attrNameLst>
                                      </p:cBhvr>
                                      <p:tavLst>
                                        <p:tav tm="0">
                                          <p:val>
                                            <p:strVal val="#ppt_y+0.0300"/>
                                          </p:val>
                                        </p:tav>
                                        <p:tav tm="100000">
                                          <p:val>
                                            <p:strVal val="#ppt_y"/>
                                          </p:val>
                                        </p:tav>
                                      </p:tavLst>
                                    </p:anim>
                                  </p:childTnLst>
                                </p:cTn>
                              </p:par>
                              <p:par>
                                <p:cTn id="26" presetID="42" presetClass="entr" presetSubtype="0" fill="hold" grpId="0" nodeType="withEffect">
                                  <p:stCondLst>
                                    <p:cond delay="85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800" decel="100000"/>
                                        <p:tgtEl>
                                          <p:spTgt spid="7"/>
                                        </p:tgtEl>
                                      </p:cBhvr>
                                    </p:animEffect>
                                    <p:anim calcmode="lin" valueType="num">
                                      <p:cBhvr>
                                        <p:cTn id="24" dur="1000" fill="hold" decel="100000"/>
                                        <p:tgtEl>
                                          <p:spTgt spid="7"/>
                                        </p:tgtEl>
                                        <p:attrNameLst>
                                          <p:attrName>ppt_x</p:attrName>
                                        </p:attrNameLst>
                                      </p:cBhvr>
                                      <p:tavLst>
                                        <p:tav tm="0">
                                          <p:val>
                                            <p:strVal val="#ppt_x"/>
                                          </p:val>
                                        </p:tav>
                                        <p:tav tm="100000">
                                          <p:val>
                                            <p:strVal val="#ppt_x"/>
                                          </p:val>
                                        </p:tav>
                                      </p:tavLst>
                                    </p:anim>
                                    <p:anim calcmode="lin" valueType="num">
                                      <p:cBhvr>
                                        <p:cTn id="25" dur="1000" fill="hold" decel="100000"/>
                                        <p:tgtEl>
                                          <p:spTgt spid="7"/>
                                        </p:tgtEl>
                                        <p:attrNameLst>
                                          <p:attrName>ppt_y</p:attrName>
                                        </p:attrNameLst>
                                      </p:cBhvr>
                                      <p:tavLst>
                                        <p:tav tm="0">
                                          <p:val>
                                            <p:strVal val="#ppt_y+0.0250"/>
                                          </p:val>
                                        </p:tav>
                                        <p:tav tm="100000">
                                          <p:val>
                                            <p:strVal val="#ppt_y"/>
                                          </p:val>
                                        </p:tav>
                                      </p:tavLst>
                                    </p:anim>
                                  </p:childTnLst>
                                </p:cTn>
                              </p:par>
                              <p:par>
                                <p:cTn id="29" presetID="10" presetClass="entr" presetSubtype="0" fill="hold" grpId="0" nodeType="withEffect">
                                  <p:stCondLst>
                                    <p:cond delay="115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900" decel="100000"/>
                                        <p:tgtEl>
                                          <p:spTgt spid="8"/>
                                        </p:tgtEl>
                                      </p:cBhvr>
                                    </p:animEffect>
                                  </p:childTnLst>
                                </p:cTn>
                              </p:par>
                              <p:par>
                                <p:cTn id="34" presetID="42" presetClass="entr" presetSubtype="0" fill="hold" grpId="0" nodeType="withEffect">
                                  <p:stCondLst>
                                    <p:cond delay="140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720" decel="100000"/>
                                        <p:tgtEl>
                                          <p:spTgt spid="9"/>
                                        </p:tgtEl>
                                      </p:cBhvr>
                                    </p:animEffect>
                                    <p:anim calcmode="lin" valueType="num">
                                      <p:cBhvr>
                                        <p:cTn id="32" dur="900" fill="hold" decel="100000"/>
                                        <p:tgtEl>
                                          <p:spTgt spid="9"/>
                                        </p:tgtEl>
                                        <p:attrNameLst>
                                          <p:attrName>ppt_x</p:attrName>
                                        </p:attrNameLst>
                                      </p:cBhvr>
                                      <p:tavLst>
                                        <p:tav tm="0">
                                          <p:val>
                                            <p:strVal val="#ppt_x"/>
                                          </p:val>
                                        </p:tav>
                                        <p:tav tm="100000">
                                          <p:val>
                                            <p:strVal val="#ppt_x"/>
                                          </p:val>
                                        </p:tav>
                                      </p:tavLst>
                                    </p:anim>
                                    <p:anim calcmode="lin" valueType="num">
                                      <p:cBhvr>
                                        <p:cTn id="33" dur="900" fill="hold" decel="100000"/>
                                        <p:tgtEl>
                                          <p:spTgt spid="9"/>
                                        </p:tgtEl>
                                        <p:attrNameLst>
                                          <p:attrName>ppt_y</p:attrName>
                                        </p:attrNameLst>
                                      </p:cBhvr>
                                      <p:tavLst>
                                        <p:tav tm="0">
                                          <p:val>
                                            <p:strVal val="#ppt_y+0.0250"/>
                                          </p:val>
                                        </p:tav>
                                        <p:tav tm="100000">
                                          <p:val>
                                            <p:strVal val="#ppt_y"/>
                                          </p:val>
                                        </p:tav>
                                      </p:tavLst>
                                    </p:anim>
                                  </p:childTnLst>
                                </p:cTn>
                              </p:par>
                              <p:par>
                                <p:cTn id="36" presetID="0" presetClass="path" presetSubtype="0" fill="hold" grpId="1" nodeType="withEffect" repeatCount="indefinite" autoRev="1">
                                  <p:stCondLst>
                                    <p:cond delay="1800"/>
                                  </p:stCondLst>
                                  <p:childTnLst>
                                    <p:animMotion origin="layout" path="M 0 0 L 0.0000 -0.0140 E" pathEditMode="relative" ptsTypes="">
                                      <p:cBhvr>
                                        <p:cTn id="35" dur="3800" fill="hold" accel="50000" decel="50000"/>
                                        <p:tgtEl>
                                          <p:spTgt spid="4"/>
                                        </p:tgtEl>
                                        <p:attrNameLst>
                                          <p:attrName>ppt_x</p:attrName>
                                          <p:attrName>ppt_y</p:attrName>
                                        </p:attrNameLst>
                                      </p:cBhvr>
                                      <p:rCtr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2.xml><?xml version="1.0" encoding="utf-8"?>
<p:sld xmlns:p14="http://schemas.microsoft.com/office/powerpoint/2010/main"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orbA" descr="Decorative background light">    </p:cNvPr>
          <p:cNvPicPr>
            <a:picLocks noChangeAspect="1"/>
          </p:cNvPicPr>
          <p:nvPr/>
        </p:nvPicPr>
        <p:blipFill>
          <a:blip r:embed="rId1"/>
          <a:stretch>
            <a:fillRect/>
          </a:stretch>
        </p:blipFill>
        <p:spPr>
          <a:xfrm>
            <a:off x="6949440" y="2651760"/>
            <a:ext cx="7315200" cy="7315200"/>
          </a:xfrm>
          <a:prstGeom prst="rect">
            <a:avLst/>
          </a:prstGeom>
        </p:spPr>
      </p:pic>
      <p:pic>
        <p:nvPicPr>
          <p:cNvPr id="3" name="!!orbB" descr="Decorative background light">    </p:cNvPr>
          <p:cNvPicPr>
            <a:picLocks noChangeAspect="1"/>
          </p:cNvPicPr>
          <p:nvPr/>
        </p:nvPicPr>
        <p:blipFill>
          <a:blip r:embed="rId2"/>
          <a:stretch>
            <a:fillRect/>
          </a:stretch>
        </p:blipFill>
        <p:spPr>
          <a:xfrm>
            <a:off x="-1463040" y="-2560320"/>
            <a:ext cx="5486400" cy="5486400"/>
          </a:xfrm>
          <a:prstGeom prst="rect">
            <a:avLst/>
          </a:prstGeom>
        </p:spPr>
      </p:pic>
      <p:sp>
        <p:nvSpPr>
          <p:cNvPr id="4" name="!!kicker"/>
          <p:cNvSpPr/>
          <p:nvPr>
            <p:ph idx="100" type="body" hasCustomPrompt="1"/>
          </p:nvPr>
        </p:nvSpPr>
        <p:spPr>
          <a:xfrm>
            <a:off x="548640" y="384048"/>
            <a:ext cx="8732520" cy="329184"/>
          </a:xfrm>
          <a:prstGeom prst="rect">
            <a:avLst/>
          </a:prstGeom>
          <a:noFill/>
          <a:ln/>
        </p:spPr>
        <p:txBody>
          <a:bodyPr wrap="square" lIns="0" tIns="0" rIns="0" bIns="0" rtlCol="0" anchor="t"/>
          <a:lstStyle/>
          <a:p>
            <a:pPr algn="l" indent="0" marL="0">
              <a:buNone/>
            </a:pPr>
            <a:r>
              <a:rPr lang="en-US" sz="1500" b="1" spc="300" kern="0" dirty="0">
                <a:solidFill>
                  <a:schemeClr val="accent1"/>
                </a:solidFill>
              </a:rPr>
              <a:t>CONTENTS</a:t>
            </a:r>
            <a:endParaRPr lang="en-US" sz="1500" dirty="0"/>
          </a:p>
        </p:txBody>
      </p:sp>
      <p:sp>
        <p:nvSpPr>
          <p:cNvPr id="5" name="!!title"/>
          <p:cNvSpPr/>
          <p:nvPr>
            <p:ph idx="101" type="title" hasCustomPrompt="1"/>
          </p:nvPr>
        </p:nvSpPr>
        <p:spPr>
          <a:xfrm>
            <a:off x="548640" y="731520"/>
            <a:ext cx="8732520" cy="786384"/>
          </a:xfrm>
          <a:prstGeom prst="rect">
            <a:avLst/>
          </a:prstGeom>
          <a:noFill/>
          <a:ln/>
        </p:spPr>
        <p:txBody>
          <a:bodyPr wrap="square" lIns="0" tIns="0" rIns="0" bIns="0" rtlCol="0" anchor="t"/>
          <a:lstStyle/>
          <a:p>
            <a:pPr algn="l" indent="0" marL="0">
              <a:buNone/>
            </a:pPr>
            <a:r>
              <a:rPr lang="en-US" sz="3800" b="1" dirty="0">
                <a:solidFill>
                  <a:schemeClr val="tx1"/>
                </a:solidFill>
              </a:rPr>
              <a:t>The story in five chapters</a:t>
            </a:r>
            <a:endParaRPr lang="en-US" sz="3800" dirty="0"/>
          </a:p>
        </p:txBody>
      </p:sp>
      <p:sp>
        <p:nvSpPr>
          <p:cNvPr id="6" name="contents_s_1"/>
          <p:cNvSpPr/>
          <p:nvPr/>
        </p:nvSpPr>
        <p:spPr>
          <a:xfrm>
            <a:off x="548640" y="1874520"/>
            <a:ext cx="2036003" cy="3520440"/>
          </a:xfrm>
          <a:prstGeom prst="roundRect">
            <a:avLst>
              <a:gd name="adj" fmla="val 6288"/>
            </a:avLst>
          </a:prstGeom>
          <a:solidFill>
            <a:srgbClr val="1C1C1E"/>
          </a:solidFill>
          <a:ln w="9525">
            <a:solidFill>
              <a:srgbClr val="FFFFFF">
                <a:alpha val="10000"/>
              </a:srgbClr>
            </a:solidFill>
            <a:prstDash val="solid"/>
          </a:ln>
        </p:spPr>
      </p:sp>
      <p:sp>
        <p:nvSpPr>
          <p:cNvPr id="7" name="contents_s_2"/>
          <p:cNvSpPr/>
          <p:nvPr/>
        </p:nvSpPr>
        <p:spPr>
          <a:xfrm>
            <a:off x="822960" y="2194560"/>
            <a:ext cx="713232" cy="713232"/>
          </a:xfrm>
          <a:prstGeom prst="ellipse">
            <a:avLst/>
          </a:prstGeom>
          <a:solidFill>
            <a:srgbClr val="2C2C2E"/>
          </a:solidFill>
          <a:ln/>
        </p:spPr>
      </p:sp>
      <p:pic>
        <p:nvPicPr>
          <p:cNvPr id="8" name="contents_i_3" descr="Decorative graphic">    </p:cNvPr>
          <p:cNvPicPr>
            <a:picLocks noChangeAspect="1"/>
          </p:cNvPicPr>
          <p:nvPr/>
        </p:nvPicPr>
        <p:blipFill>
          <a:blip r:embed="rId3"/>
          <a:stretch>
            <a:fillRect/>
          </a:stretch>
        </p:blipFill>
        <p:spPr>
          <a:xfrm>
            <a:off x="987552" y="2359152"/>
            <a:ext cx="384048" cy="384048"/>
          </a:xfrm>
          <a:prstGeom prst="rect">
            <a:avLst/>
          </a:prstGeom>
        </p:spPr>
      </p:pic>
      <p:sp>
        <p:nvSpPr>
          <p:cNvPr id="9" name="contents_t_4"/>
          <p:cNvSpPr txBox="1"/>
          <p:nvPr/>
        </p:nvSpPr>
        <p:spPr>
          <a:xfrm>
            <a:off x="822960" y="3154680"/>
            <a:ext cx="1578803" cy="548640"/>
          </a:xfrm>
          <a:prstGeom prst="rect">
            <a:avLst/>
          </a:prstGeom>
          <a:noFill/>
          <a:ln/>
        </p:spPr>
        <p:txBody>
          <a:bodyPr wrap="square" lIns="0" tIns="0" rIns="0" bIns="0" rtlCol="0" anchor="t"/>
          <a:lstStyle/>
          <a:p>
            <a:pPr indent="0" marL="0">
              <a:buNone/>
            </a:pPr>
            <a:r>
              <a:rPr lang="en-US" sz="3400" b="1" dirty="0">
                <a:solidFill>
                  <a:schemeClr val="accent1"/>
                </a:solidFill>
                <a:latin typeface="Arial" pitchFamily="34" charset="0"/>
                <a:ea typeface="Arial" pitchFamily="34" charset="-122"/>
                <a:cs typeface="Arial" pitchFamily="34" charset="-120"/>
              </a:rPr>
              <a:t>01</a:t>
            </a:r>
            <a:endParaRPr lang="en-US" sz="3400" dirty="0"/>
          </a:p>
        </p:txBody>
      </p:sp>
      <p:sp>
        <p:nvSpPr>
          <p:cNvPr id="10" name="contents_t_5"/>
          <p:cNvSpPr txBox="1"/>
          <p:nvPr/>
        </p:nvSpPr>
        <p:spPr>
          <a:xfrm>
            <a:off x="822960" y="3749040"/>
            <a:ext cx="1624523" cy="822960"/>
          </a:xfrm>
          <a:prstGeom prst="rect">
            <a:avLst/>
          </a:prstGeom>
          <a:noFill/>
          <a:ln/>
        </p:spPr>
        <p:txBody>
          <a:bodyPr wrap="square" lIns="0" tIns="0" rIns="0" bIns="0" rtlCol="0" anchor="t"/>
          <a:lstStyle/>
          <a:p>
            <a:pPr indent="0" marL="0">
              <a:buNone/>
            </a:pPr>
            <a:r>
              <a:rPr lang="en-US" sz="2100" b="1" dirty="0">
                <a:solidFill>
                  <a:schemeClr val="tx1"/>
                </a:solidFill>
                <a:latin typeface="Arial" pitchFamily="34" charset="0"/>
                <a:ea typeface="Arial" pitchFamily="34" charset="-122"/>
                <a:cs typeface="Arial" pitchFamily="34" charset="-120"/>
              </a:rPr>
              <a:t>History</a:t>
            </a:r>
            <a:endParaRPr lang="en-US" sz="2100" dirty="0"/>
          </a:p>
          <a:p>
            <a:pPr indent="0" marL="0">
              <a:buNone/>
            </a:pPr>
            <a:r>
              <a:rPr lang="en-US" sz="2100" b="1" dirty="0">
                <a:solidFill>
                  <a:schemeClr val="tx1"/>
                </a:solidFill>
                <a:latin typeface="Arial" pitchFamily="34" charset="0"/>
                <a:ea typeface="Arial" pitchFamily="34" charset="-122"/>
                <a:cs typeface="Arial" pitchFamily="34" charset="-120"/>
              </a:rPr>
              <a:t>&amp; Types</a:t>
            </a:r>
            <a:endParaRPr lang="en-US" sz="2100" dirty="0"/>
          </a:p>
        </p:txBody>
      </p:sp>
      <p:sp>
        <p:nvSpPr>
          <p:cNvPr id="11" name="contents_t_6"/>
          <p:cNvSpPr txBox="1"/>
          <p:nvPr/>
        </p:nvSpPr>
        <p:spPr>
          <a:xfrm>
            <a:off x="822960" y="4572000"/>
            <a:ext cx="1624523" cy="320040"/>
          </a:xfrm>
          <a:prstGeom prst="rect">
            <a:avLst/>
          </a:prstGeom>
          <a:noFill/>
          <a:ln/>
        </p:spPr>
        <p:txBody>
          <a:bodyPr wrap="square" lIns="0" tIns="0" rIns="0" bIns="0" rtlCol="0" anchor="t"/>
          <a:lstStyle/>
          <a:p>
            <a:pPr indent="0" marL="0">
              <a:buNone/>
            </a:pPr>
            <a:r>
              <a:rPr lang="en-US" sz="1500" dirty="0">
                <a:solidFill>
                  <a:schemeClr val="tx2"/>
                </a:solidFill>
                <a:latin typeface="Arial" pitchFamily="34" charset="0"/>
                <a:ea typeface="Arial" pitchFamily="34" charset="-122"/>
                <a:cs typeface="Arial" pitchFamily="34" charset="-120"/>
              </a:rPr>
              <a:t>1934 to today</a:t>
            </a:r>
            <a:endParaRPr lang="en-US" sz="1500" dirty="0"/>
          </a:p>
        </p:txBody>
      </p:sp>
      <p:pic>
        <p:nvPicPr>
          <p:cNvPr id="12" name="contents_i_7" descr="Decorative graphic">    </p:cNvPr>
          <p:cNvPicPr>
            <a:picLocks noChangeAspect="1"/>
          </p:cNvPicPr>
          <p:nvPr/>
        </p:nvPicPr>
        <p:blipFill>
          <a:blip r:embed="rId4"/>
          <a:stretch>
            <a:fillRect/>
          </a:stretch>
        </p:blipFill>
        <p:spPr>
          <a:xfrm>
            <a:off x="2017715" y="4846320"/>
            <a:ext cx="274320" cy="274320"/>
          </a:xfrm>
          <a:prstGeom prst="rect">
            <a:avLst/>
          </a:prstGeom>
        </p:spPr>
      </p:pic>
      <p:sp>
        <p:nvSpPr>
          <p:cNvPr id="13" name="contents_s_8">
            <a:hlinkClick r:id="rId5" tooltip="Go to History &amp; Types" action="ppaction://hlinksldjump" highlightClick="1"/>
          </p:cNvPr>
          <p:cNvSpPr/>
          <p:nvPr/>
        </p:nvSpPr>
        <p:spPr>
          <a:xfrm>
            <a:off x="548640" y="1874520"/>
            <a:ext cx="2036003" cy="3520440"/>
          </a:xfrm>
          <a:prstGeom prst="roundRect">
            <a:avLst>
              <a:gd name="adj" fmla="val 6288"/>
            </a:avLst>
          </a:prstGeom>
          <a:solidFill>
            <a:srgbClr val="000000">
              <a:alpha val="0"/>
            </a:srgbClr>
          </a:solidFill>
          <a:ln/>
        </p:spPr>
      </p:sp>
      <p:sp>
        <p:nvSpPr>
          <p:cNvPr id="14" name="contents_s_9"/>
          <p:cNvSpPr/>
          <p:nvPr/>
        </p:nvSpPr>
        <p:spPr>
          <a:xfrm>
            <a:off x="2813243" y="1874520"/>
            <a:ext cx="2036003" cy="3520440"/>
          </a:xfrm>
          <a:prstGeom prst="roundRect">
            <a:avLst>
              <a:gd name="adj" fmla="val 6288"/>
            </a:avLst>
          </a:prstGeom>
          <a:solidFill>
            <a:srgbClr val="1C1C1E"/>
          </a:solidFill>
          <a:ln w="9525">
            <a:solidFill>
              <a:srgbClr val="FFFFFF">
                <a:alpha val="10000"/>
              </a:srgbClr>
            </a:solidFill>
            <a:prstDash val="solid"/>
          </a:ln>
        </p:spPr>
      </p:sp>
      <p:sp>
        <p:nvSpPr>
          <p:cNvPr id="15" name="contents_s_10"/>
          <p:cNvSpPr/>
          <p:nvPr/>
        </p:nvSpPr>
        <p:spPr>
          <a:xfrm>
            <a:off x="3087563" y="2194560"/>
            <a:ext cx="713232" cy="713232"/>
          </a:xfrm>
          <a:prstGeom prst="ellipse">
            <a:avLst/>
          </a:prstGeom>
          <a:solidFill>
            <a:srgbClr val="2C2C2E"/>
          </a:solidFill>
          <a:ln/>
        </p:spPr>
      </p:sp>
      <p:pic>
        <p:nvPicPr>
          <p:cNvPr id="16" name="contents_i_11" descr="Decorative graphic">    </p:cNvPr>
          <p:cNvPicPr>
            <a:picLocks noChangeAspect="1"/>
          </p:cNvPicPr>
          <p:nvPr/>
        </p:nvPicPr>
        <p:blipFill>
          <a:blip r:embed="rId6"/>
          <a:stretch>
            <a:fillRect/>
          </a:stretch>
        </p:blipFill>
        <p:spPr>
          <a:xfrm>
            <a:off x="3252155" y="2359152"/>
            <a:ext cx="384048" cy="384048"/>
          </a:xfrm>
          <a:prstGeom prst="rect">
            <a:avLst/>
          </a:prstGeom>
        </p:spPr>
      </p:pic>
      <p:sp>
        <p:nvSpPr>
          <p:cNvPr id="17" name="contents_t_12"/>
          <p:cNvSpPr txBox="1"/>
          <p:nvPr/>
        </p:nvSpPr>
        <p:spPr>
          <a:xfrm>
            <a:off x="3087563" y="3154680"/>
            <a:ext cx="1578803" cy="548640"/>
          </a:xfrm>
          <a:prstGeom prst="rect">
            <a:avLst/>
          </a:prstGeom>
          <a:noFill/>
          <a:ln/>
        </p:spPr>
        <p:txBody>
          <a:bodyPr wrap="square" lIns="0" tIns="0" rIns="0" bIns="0" rtlCol="0" anchor="t"/>
          <a:lstStyle/>
          <a:p>
            <a:pPr indent="0" marL="0">
              <a:buNone/>
            </a:pPr>
            <a:r>
              <a:rPr lang="en-US" sz="3400" b="1" dirty="0">
                <a:solidFill>
                  <a:schemeClr val="accent1"/>
                </a:solidFill>
                <a:latin typeface="Arial" pitchFamily="34" charset="0"/>
                <a:ea typeface="Arial" pitchFamily="34" charset="-122"/>
                <a:cs typeface="Arial" pitchFamily="34" charset="-120"/>
              </a:rPr>
              <a:t>02</a:t>
            </a:r>
            <a:endParaRPr lang="en-US" sz="3400" dirty="0"/>
          </a:p>
        </p:txBody>
      </p:sp>
      <p:sp>
        <p:nvSpPr>
          <p:cNvPr id="18" name="contents_t_13"/>
          <p:cNvSpPr txBox="1"/>
          <p:nvPr/>
        </p:nvSpPr>
        <p:spPr>
          <a:xfrm>
            <a:off x="3087563" y="3749040"/>
            <a:ext cx="1624523" cy="822960"/>
          </a:xfrm>
          <a:prstGeom prst="rect">
            <a:avLst/>
          </a:prstGeom>
          <a:noFill/>
          <a:ln/>
        </p:spPr>
        <p:txBody>
          <a:bodyPr wrap="square" lIns="0" tIns="0" rIns="0" bIns="0" rtlCol="0" anchor="t"/>
          <a:lstStyle/>
          <a:p>
            <a:pPr indent="0" marL="0">
              <a:buNone/>
            </a:pPr>
            <a:r>
              <a:rPr lang="en-US" sz="2100" b="1" dirty="0">
                <a:solidFill>
                  <a:schemeClr val="tx1"/>
                </a:solidFill>
                <a:latin typeface="Arial" pitchFamily="34" charset="0"/>
                <a:ea typeface="Arial" pitchFamily="34" charset="-122"/>
                <a:cs typeface="Arial" pitchFamily="34" charset="-120"/>
              </a:rPr>
              <a:t>Resources</a:t>
            </a:r>
            <a:endParaRPr lang="en-US" sz="2100" dirty="0"/>
          </a:p>
          <a:p>
            <a:pPr indent="0" marL="0">
              <a:buNone/>
            </a:pPr>
            <a:r>
              <a:rPr lang="en-US" sz="2100" b="1" dirty="0">
                <a:solidFill>
                  <a:schemeClr val="tx1"/>
                </a:solidFill>
                <a:latin typeface="Arial" pitchFamily="34" charset="0"/>
                <a:ea typeface="Arial" pitchFamily="34" charset="-122"/>
                <a:cs typeface="Arial" pitchFamily="34" charset="-120"/>
              </a:rPr>
              <a:t>&amp; Growth</a:t>
            </a:r>
            <a:endParaRPr lang="en-US" sz="2100" dirty="0"/>
          </a:p>
        </p:txBody>
      </p:sp>
      <p:sp>
        <p:nvSpPr>
          <p:cNvPr id="19" name="contents_t_14"/>
          <p:cNvSpPr txBox="1"/>
          <p:nvPr/>
        </p:nvSpPr>
        <p:spPr>
          <a:xfrm>
            <a:off x="3087563" y="4572000"/>
            <a:ext cx="1624523" cy="320040"/>
          </a:xfrm>
          <a:prstGeom prst="rect">
            <a:avLst/>
          </a:prstGeom>
          <a:noFill/>
          <a:ln/>
        </p:spPr>
        <p:txBody>
          <a:bodyPr wrap="square" lIns="0" tIns="0" rIns="0" bIns="0" rtlCol="0" anchor="t"/>
          <a:lstStyle/>
          <a:p>
            <a:pPr indent="0" marL="0">
              <a:buNone/>
            </a:pPr>
            <a:r>
              <a:rPr lang="en-US" sz="1500" dirty="0">
                <a:solidFill>
                  <a:schemeClr val="tx2"/>
                </a:solidFill>
                <a:latin typeface="Arial" pitchFamily="34" charset="0"/>
                <a:ea typeface="Arial" pitchFamily="34" charset="-122"/>
                <a:cs typeface="Arial" pitchFamily="34" charset="-120"/>
              </a:rPr>
              <a:t>Reserves &amp; output</a:t>
            </a:r>
            <a:endParaRPr lang="en-US" sz="1500" dirty="0"/>
          </a:p>
        </p:txBody>
      </p:sp>
      <p:pic>
        <p:nvPicPr>
          <p:cNvPr id="20" name="contents_i_15" descr="Decorative graphic">    </p:cNvPr>
          <p:cNvPicPr>
            <a:picLocks noChangeAspect="1"/>
          </p:cNvPicPr>
          <p:nvPr/>
        </p:nvPicPr>
        <p:blipFill>
          <a:blip r:embed="rId7"/>
          <a:stretch>
            <a:fillRect/>
          </a:stretch>
        </p:blipFill>
        <p:spPr>
          <a:xfrm>
            <a:off x="4282318" y="4846320"/>
            <a:ext cx="274320" cy="274320"/>
          </a:xfrm>
          <a:prstGeom prst="rect">
            <a:avLst/>
          </a:prstGeom>
        </p:spPr>
      </p:pic>
      <p:sp>
        <p:nvSpPr>
          <p:cNvPr id="21" name="contents_s_16">
            <a:hlinkClick r:id="rId8" tooltip="Go to Resources &amp; Growth" action="ppaction://hlinksldjump" highlightClick="1"/>
          </p:cNvPr>
          <p:cNvSpPr/>
          <p:nvPr/>
        </p:nvSpPr>
        <p:spPr>
          <a:xfrm>
            <a:off x="2813243" y="1874520"/>
            <a:ext cx="2036003" cy="3520440"/>
          </a:xfrm>
          <a:prstGeom prst="roundRect">
            <a:avLst>
              <a:gd name="adj" fmla="val 6288"/>
            </a:avLst>
          </a:prstGeom>
          <a:solidFill>
            <a:srgbClr val="000000">
              <a:alpha val="0"/>
            </a:srgbClr>
          </a:solidFill>
          <a:ln/>
        </p:spPr>
      </p:sp>
      <p:sp>
        <p:nvSpPr>
          <p:cNvPr id="22" name="contents_s_17"/>
          <p:cNvSpPr/>
          <p:nvPr/>
        </p:nvSpPr>
        <p:spPr>
          <a:xfrm>
            <a:off x="5077846" y="1874520"/>
            <a:ext cx="2036003" cy="3520440"/>
          </a:xfrm>
          <a:prstGeom prst="roundRect">
            <a:avLst>
              <a:gd name="adj" fmla="val 6288"/>
            </a:avLst>
          </a:prstGeom>
          <a:solidFill>
            <a:srgbClr val="1C1C1E"/>
          </a:solidFill>
          <a:ln w="9525">
            <a:solidFill>
              <a:srgbClr val="FFFFFF">
                <a:alpha val="10000"/>
              </a:srgbClr>
            </a:solidFill>
            <a:prstDash val="solid"/>
          </a:ln>
        </p:spPr>
      </p:sp>
      <p:sp>
        <p:nvSpPr>
          <p:cNvPr id="23" name="contents_s_18"/>
          <p:cNvSpPr/>
          <p:nvPr/>
        </p:nvSpPr>
        <p:spPr>
          <a:xfrm>
            <a:off x="5352166" y="2194560"/>
            <a:ext cx="713232" cy="713232"/>
          </a:xfrm>
          <a:prstGeom prst="ellipse">
            <a:avLst/>
          </a:prstGeom>
          <a:solidFill>
            <a:srgbClr val="2C2C2E"/>
          </a:solidFill>
          <a:ln/>
        </p:spPr>
      </p:sp>
      <p:pic>
        <p:nvPicPr>
          <p:cNvPr id="24" name="contents_i_19" descr="Decorative graphic">    </p:cNvPr>
          <p:cNvPicPr>
            <a:picLocks noChangeAspect="1"/>
          </p:cNvPicPr>
          <p:nvPr/>
        </p:nvPicPr>
        <p:blipFill>
          <a:blip r:embed="rId9"/>
          <a:stretch>
            <a:fillRect/>
          </a:stretch>
        </p:blipFill>
        <p:spPr>
          <a:xfrm>
            <a:off x="5516758" y="2359152"/>
            <a:ext cx="384048" cy="384048"/>
          </a:xfrm>
          <a:prstGeom prst="rect">
            <a:avLst/>
          </a:prstGeom>
        </p:spPr>
      </p:pic>
      <p:sp>
        <p:nvSpPr>
          <p:cNvPr id="25" name="contents_t_20"/>
          <p:cNvSpPr txBox="1"/>
          <p:nvPr/>
        </p:nvSpPr>
        <p:spPr>
          <a:xfrm>
            <a:off x="5352166" y="3154680"/>
            <a:ext cx="1578803" cy="548640"/>
          </a:xfrm>
          <a:prstGeom prst="rect">
            <a:avLst/>
          </a:prstGeom>
          <a:noFill/>
          <a:ln/>
        </p:spPr>
        <p:txBody>
          <a:bodyPr wrap="square" lIns="0" tIns="0" rIns="0" bIns="0" rtlCol="0" anchor="t"/>
          <a:lstStyle/>
          <a:p>
            <a:pPr indent="0" marL="0">
              <a:buNone/>
            </a:pPr>
            <a:r>
              <a:rPr lang="en-US" sz="3400" b="1" dirty="0">
                <a:solidFill>
                  <a:schemeClr val="accent1"/>
                </a:solidFill>
                <a:latin typeface="Arial" pitchFamily="34" charset="0"/>
                <a:ea typeface="Arial" pitchFamily="34" charset="-122"/>
                <a:cs typeface="Arial" pitchFamily="34" charset="-120"/>
              </a:rPr>
              <a:t>03</a:t>
            </a:r>
            <a:endParaRPr lang="en-US" sz="3400" dirty="0"/>
          </a:p>
        </p:txBody>
      </p:sp>
      <p:sp>
        <p:nvSpPr>
          <p:cNvPr id="26" name="contents_t_21"/>
          <p:cNvSpPr txBox="1"/>
          <p:nvPr/>
        </p:nvSpPr>
        <p:spPr>
          <a:xfrm>
            <a:off x="5352166" y="3749040"/>
            <a:ext cx="1624523" cy="822960"/>
          </a:xfrm>
          <a:prstGeom prst="rect">
            <a:avLst/>
          </a:prstGeom>
          <a:noFill/>
          <a:ln/>
        </p:spPr>
        <p:txBody>
          <a:bodyPr wrap="square" lIns="0" tIns="0" rIns="0" bIns="0" rtlCol="0" anchor="t"/>
          <a:lstStyle/>
          <a:p>
            <a:pPr indent="0" marL="0">
              <a:buNone/>
            </a:pPr>
            <a:r>
              <a:rPr lang="en-US" sz="2100" b="1" dirty="0">
                <a:solidFill>
                  <a:schemeClr val="tx1"/>
                </a:solidFill>
                <a:latin typeface="Arial" pitchFamily="34" charset="0"/>
                <a:ea typeface="Arial" pitchFamily="34" charset="-122"/>
                <a:cs typeface="Arial" pitchFamily="34" charset="-120"/>
              </a:rPr>
              <a:t>Reservoir</a:t>
            </a:r>
            <a:endParaRPr lang="en-US" sz="2100" dirty="0"/>
          </a:p>
          <a:p>
            <a:pPr indent="0" marL="0">
              <a:buNone/>
            </a:pPr>
            <a:r>
              <a:rPr lang="en-US" sz="2100" b="1" dirty="0">
                <a:solidFill>
                  <a:schemeClr val="tx1"/>
                </a:solidFill>
                <a:latin typeface="Arial" pitchFamily="34" charset="0"/>
                <a:ea typeface="Arial" pitchFamily="34" charset="-122"/>
                <a:cs typeface="Arial" pitchFamily="34" charset="-120"/>
              </a:rPr>
              <a:t>Locations</a:t>
            </a:r>
            <a:endParaRPr lang="en-US" sz="2100" dirty="0"/>
          </a:p>
        </p:txBody>
      </p:sp>
      <p:sp>
        <p:nvSpPr>
          <p:cNvPr id="27" name="contents_t_22"/>
          <p:cNvSpPr txBox="1"/>
          <p:nvPr/>
        </p:nvSpPr>
        <p:spPr>
          <a:xfrm>
            <a:off x="5352166" y="4572000"/>
            <a:ext cx="1624523" cy="320040"/>
          </a:xfrm>
          <a:prstGeom prst="rect">
            <a:avLst/>
          </a:prstGeom>
          <a:noFill/>
          <a:ln/>
        </p:spPr>
        <p:txBody>
          <a:bodyPr wrap="square" lIns="0" tIns="0" rIns="0" bIns="0" rtlCol="0" anchor="t"/>
          <a:lstStyle/>
          <a:p>
            <a:pPr indent="0" marL="0">
              <a:buNone/>
            </a:pPr>
            <a:r>
              <a:rPr lang="en-US" sz="1500" dirty="0">
                <a:solidFill>
                  <a:schemeClr val="tx2"/>
                </a:solidFill>
                <a:latin typeface="Arial" pitchFamily="34" charset="0"/>
                <a:ea typeface="Arial" pitchFamily="34" charset="-122"/>
                <a:cs typeface="Arial" pitchFamily="34" charset="-120"/>
              </a:rPr>
              <a:t>Fields &amp; rocks</a:t>
            </a:r>
            <a:endParaRPr lang="en-US" sz="1500" dirty="0"/>
          </a:p>
        </p:txBody>
      </p:sp>
      <p:pic>
        <p:nvPicPr>
          <p:cNvPr id="28" name="contents_i_23" descr="Decorative graphic">    </p:cNvPr>
          <p:cNvPicPr>
            <a:picLocks noChangeAspect="1"/>
          </p:cNvPicPr>
          <p:nvPr/>
        </p:nvPicPr>
        <p:blipFill>
          <a:blip r:embed="rId10"/>
          <a:stretch>
            <a:fillRect/>
          </a:stretch>
        </p:blipFill>
        <p:spPr>
          <a:xfrm>
            <a:off x="6546921" y="4846320"/>
            <a:ext cx="274320" cy="274320"/>
          </a:xfrm>
          <a:prstGeom prst="rect">
            <a:avLst/>
          </a:prstGeom>
        </p:spPr>
      </p:pic>
      <p:sp>
        <p:nvSpPr>
          <p:cNvPr id="29" name="contents_s_24">
            <a:hlinkClick r:id="rId11" tooltip="Go to Reservoir Locations" action="ppaction://hlinksldjump" highlightClick="1"/>
          </p:cNvPr>
          <p:cNvSpPr/>
          <p:nvPr/>
        </p:nvSpPr>
        <p:spPr>
          <a:xfrm>
            <a:off x="5077846" y="1874520"/>
            <a:ext cx="2036003" cy="3520440"/>
          </a:xfrm>
          <a:prstGeom prst="roundRect">
            <a:avLst>
              <a:gd name="adj" fmla="val 6288"/>
            </a:avLst>
          </a:prstGeom>
          <a:solidFill>
            <a:srgbClr val="000000">
              <a:alpha val="0"/>
            </a:srgbClr>
          </a:solidFill>
          <a:ln/>
        </p:spPr>
      </p:sp>
      <p:sp>
        <p:nvSpPr>
          <p:cNvPr id="30" name="contents_s_25"/>
          <p:cNvSpPr/>
          <p:nvPr/>
        </p:nvSpPr>
        <p:spPr>
          <a:xfrm>
            <a:off x="7342449" y="1874520"/>
            <a:ext cx="2036003" cy="3520440"/>
          </a:xfrm>
          <a:prstGeom prst="roundRect">
            <a:avLst>
              <a:gd name="adj" fmla="val 6288"/>
            </a:avLst>
          </a:prstGeom>
          <a:solidFill>
            <a:srgbClr val="1C1C1E"/>
          </a:solidFill>
          <a:ln w="9525">
            <a:solidFill>
              <a:srgbClr val="FFFFFF">
                <a:alpha val="10000"/>
              </a:srgbClr>
            </a:solidFill>
            <a:prstDash val="solid"/>
          </a:ln>
        </p:spPr>
      </p:sp>
      <p:sp>
        <p:nvSpPr>
          <p:cNvPr id="31" name="contents_s_26"/>
          <p:cNvSpPr/>
          <p:nvPr/>
        </p:nvSpPr>
        <p:spPr>
          <a:xfrm>
            <a:off x="7616769" y="2194560"/>
            <a:ext cx="713232" cy="713232"/>
          </a:xfrm>
          <a:prstGeom prst="ellipse">
            <a:avLst/>
          </a:prstGeom>
          <a:solidFill>
            <a:srgbClr val="2C2C2E"/>
          </a:solidFill>
          <a:ln/>
        </p:spPr>
      </p:sp>
      <p:pic>
        <p:nvPicPr>
          <p:cNvPr id="32" name="contents_i_27" descr="Decorative graphic">    </p:cNvPr>
          <p:cNvPicPr>
            <a:picLocks noChangeAspect="1"/>
          </p:cNvPicPr>
          <p:nvPr/>
        </p:nvPicPr>
        <p:blipFill>
          <a:blip r:embed="rId12"/>
          <a:stretch>
            <a:fillRect/>
          </a:stretch>
        </p:blipFill>
        <p:spPr>
          <a:xfrm>
            <a:off x="7781361" y="2359152"/>
            <a:ext cx="384048" cy="384048"/>
          </a:xfrm>
          <a:prstGeom prst="rect">
            <a:avLst/>
          </a:prstGeom>
        </p:spPr>
      </p:pic>
      <p:sp>
        <p:nvSpPr>
          <p:cNvPr id="33" name="contents_t_28"/>
          <p:cNvSpPr txBox="1"/>
          <p:nvPr/>
        </p:nvSpPr>
        <p:spPr>
          <a:xfrm>
            <a:off x="7616769" y="3154680"/>
            <a:ext cx="1578803" cy="548640"/>
          </a:xfrm>
          <a:prstGeom prst="rect">
            <a:avLst/>
          </a:prstGeom>
          <a:noFill/>
          <a:ln/>
        </p:spPr>
        <p:txBody>
          <a:bodyPr wrap="square" lIns="0" tIns="0" rIns="0" bIns="0" rtlCol="0" anchor="t"/>
          <a:lstStyle/>
          <a:p>
            <a:pPr indent="0" marL="0">
              <a:buNone/>
            </a:pPr>
            <a:r>
              <a:rPr lang="en-US" sz="3400" b="1" dirty="0">
                <a:solidFill>
                  <a:schemeClr val="accent1"/>
                </a:solidFill>
                <a:latin typeface="Arial" pitchFamily="34" charset="0"/>
                <a:ea typeface="Arial" pitchFamily="34" charset="-122"/>
                <a:cs typeface="Arial" pitchFamily="34" charset="-120"/>
              </a:rPr>
              <a:t>04</a:t>
            </a:r>
            <a:endParaRPr lang="en-US" sz="3400" dirty="0"/>
          </a:p>
        </p:txBody>
      </p:sp>
      <p:sp>
        <p:nvSpPr>
          <p:cNvPr id="34" name="contents_t_29"/>
          <p:cNvSpPr txBox="1"/>
          <p:nvPr/>
        </p:nvSpPr>
        <p:spPr>
          <a:xfrm>
            <a:off x="7616769" y="3749040"/>
            <a:ext cx="1624523" cy="822960"/>
          </a:xfrm>
          <a:prstGeom prst="rect">
            <a:avLst/>
          </a:prstGeom>
          <a:noFill/>
          <a:ln/>
        </p:spPr>
        <p:txBody>
          <a:bodyPr wrap="square" lIns="0" tIns="0" rIns="0" bIns="0" rtlCol="0" anchor="t"/>
          <a:lstStyle/>
          <a:p>
            <a:pPr indent="0" marL="0">
              <a:buNone/>
            </a:pPr>
            <a:r>
              <a:rPr lang="en-US" sz="2100" b="1" dirty="0">
                <a:solidFill>
                  <a:schemeClr val="tx1"/>
                </a:solidFill>
                <a:latin typeface="Arial" pitchFamily="34" charset="0"/>
                <a:ea typeface="Arial" pitchFamily="34" charset="-122"/>
                <a:cs typeface="Arial" pitchFamily="34" charset="-120"/>
              </a:rPr>
              <a:t>Exports</a:t>
            </a:r>
            <a:endParaRPr lang="en-US" sz="2100" dirty="0"/>
          </a:p>
          <a:p>
            <a:pPr indent="0" marL="0">
              <a:buNone/>
            </a:pPr>
            <a:r>
              <a:rPr lang="en-US" sz="2100" b="1" dirty="0">
                <a:solidFill>
                  <a:schemeClr val="tx1"/>
                </a:solidFill>
                <a:latin typeface="Arial" pitchFamily="34" charset="0"/>
                <a:ea typeface="Arial" pitchFamily="34" charset="-122"/>
                <a:cs typeface="Arial" pitchFamily="34" charset="-120"/>
              </a:rPr>
              <a:t>&amp; Costs</a:t>
            </a:r>
            <a:endParaRPr lang="en-US" sz="2100" dirty="0"/>
          </a:p>
        </p:txBody>
      </p:sp>
      <p:sp>
        <p:nvSpPr>
          <p:cNvPr id="35" name="contents_t_30"/>
          <p:cNvSpPr txBox="1"/>
          <p:nvPr/>
        </p:nvSpPr>
        <p:spPr>
          <a:xfrm>
            <a:off x="7616769" y="4572000"/>
            <a:ext cx="1624523" cy="320040"/>
          </a:xfrm>
          <a:prstGeom prst="rect">
            <a:avLst/>
          </a:prstGeom>
          <a:noFill/>
          <a:ln/>
        </p:spPr>
        <p:txBody>
          <a:bodyPr wrap="square" lIns="0" tIns="0" rIns="0" bIns="0" rtlCol="0" anchor="t"/>
          <a:lstStyle/>
          <a:p>
            <a:pPr indent="0" marL="0">
              <a:buNone/>
            </a:pPr>
            <a:r>
              <a:rPr lang="en-US" sz="1500" dirty="0">
                <a:solidFill>
                  <a:schemeClr val="tx2"/>
                </a:solidFill>
                <a:latin typeface="Arial" pitchFamily="34" charset="0"/>
                <a:ea typeface="Arial" pitchFamily="34" charset="-122"/>
                <a:cs typeface="Arial" pitchFamily="34" charset="-120"/>
              </a:rPr>
              <a:t>Markets &amp; prices</a:t>
            </a:r>
            <a:endParaRPr lang="en-US" sz="1500" dirty="0"/>
          </a:p>
        </p:txBody>
      </p:sp>
      <p:pic>
        <p:nvPicPr>
          <p:cNvPr id="36" name="contents_i_31" descr="Decorative graphic">    </p:cNvPr>
          <p:cNvPicPr>
            <a:picLocks noChangeAspect="1"/>
          </p:cNvPicPr>
          <p:nvPr/>
        </p:nvPicPr>
        <p:blipFill>
          <a:blip r:embed="rId13"/>
          <a:stretch>
            <a:fillRect/>
          </a:stretch>
        </p:blipFill>
        <p:spPr>
          <a:xfrm>
            <a:off x="8811524" y="4846320"/>
            <a:ext cx="274320" cy="274320"/>
          </a:xfrm>
          <a:prstGeom prst="rect">
            <a:avLst/>
          </a:prstGeom>
        </p:spPr>
      </p:pic>
      <p:sp>
        <p:nvSpPr>
          <p:cNvPr id="37" name="contents_s_32">
            <a:hlinkClick r:id="rId14" tooltip="Go to Exports &amp; Costs" action="ppaction://hlinksldjump" highlightClick="1"/>
          </p:cNvPr>
          <p:cNvSpPr/>
          <p:nvPr/>
        </p:nvSpPr>
        <p:spPr>
          <a:xfrm>
            <a:off x="7342449" y="1874520"/>
            <a:ext cx="2036003" cy="3520440"/>
          </a:xfrm>
          <a:prstGeom prst="roundRect">
            <a:avLst>
              <a:gd name="adj" fmla="val 6288"/>
            </a:avLst>
          </a:prstGeom>
          <a:solidFill>
            <a:srgbClr val="000000">
              <a:alpha val="0"/>
            </a:srgbClr>
          </a:solidFill>
          <a:ln/>
        </p:spPr>
      </p:sp>
      <p:sp>
        <p:nvSpPr>
          <p:cNvPr id="38" name="contents_s_33"/>
          <p:cNvSpPr/>
          <p:nvPr/>
        </p:nvSpPr>
        <p:spPr>
          <a:xfrm>
            <a:off x="9607052" y="1874520"/>
            <a:ext cx="2036003" cy="3520440"/>
          </a:xfrm>
          <a:prstGeom prst="roundRect">
            <a:avLst>
              <a:gd name="adj" fmla="val 6288"/>
            </a:avLst>
          </a:prstGeom>
          <a:solidFill>
            <a:srgbClr val="1C1C1E"/>
          </a:solidFill>
          <a:ln w="9525">
            <a:solidFill>
              <a:srgbClr val="FFFFFF">
                <a:alpha val="10000"/>
              </a:srgbClr>
            </a:solidFill>
            <a:prstDash val="solid"/>
          </a:ln>
        </p:spPr>
      </p:sp>
      <p:sp>
        <p:nvSpPr>
          <p:cNvPr id="39" name="contents_s_34"/>
          <p:cNvSpPr/>
          <p:nvPr/>
        </p:nvSpPr>
        <p:spPr>
          <a:xfrm>
            <a:off x="9881372" y="2194560"/>
            <a:ext cx="713232" cy="713232"/>
          </a:xfrm>
          <a:prstGeom prst="ellipse">
            <a:avLst/>
          </a:prstGeom>
          <a:solidFill>
            <a:srgbClr val="2C2C2E"/>
          </a:solidFill>
          <a:ln/>
        </p:spPr>
      </p:sp>
      <p:pic>
        <p:nvPicPr>
          <p:cNvPr id="40" name="contents_i_35" descr="Decorative graphic">    </p:cNvPr>
          <p:cNvPicPr>
            <a:picLocks noChangeAspect="1"/>
          </p:cNvPicPr>
          <p:nvPr/>
        </p:nvPicPr>
        <p:blipFill>
          <a:blip r:embed="rId15"/>
          <a:stretch>
            <a:fillRect/>
          </a:stretch>
        </p:blipFill>
        <p:spPr>
          <a:xfrm>
            <a:off x="10045964" y="2359152"/>
            <a:ext cx="384048" cy="384048"/>
          </a:xfrm>
          <a:prstGeom prst="rect">
            <a:avLst/>
          </a:prstGeom>
        </p:spPr>
      </p:pic>
      <p:sp>
        <p:nvSpPr>
          <p:cNvPr id="41" name="contents_t_36"/>
          <p:cNvSpPr txBox="1"/>
          <p:nvPr/>
        </p:nvSpPr>
        <p:spPr>
          <a:xfrm>
            <a:off x="9881372" y="3154680"/>
            <a:ext cx="1578803" cy="548640"/>
          </a:xfrm>
          <a:prstGeom prst="rect">
            <a:avLst/>
          </a:prstGeom>
          <a:noFill/>
          <a:ln/>
        </p:spPr>
        <p:txBody>
          <a:bodyPr wrap="square" lIns="0" tIns="0" rIns="0" bIns="0" rtlCol="0" anchor="t"/>
          <a:lstStyle/>
          <a:p>
            <a:pPr indent="0" marL="0">
              <a:buNone/>
            </a:pPr>
            <a:r>
              <a:rPr lang="en-US" sz="3400" b="1" dirty="0">
                <a:solidFill>
                  <a:schemeClr val="accent1"/>
                </a:solidFill>
                <a:latin typeface="Arial" pitchFamily="34" charset="0"/>
                <a:ea typeface="Arial" pitchFamily="34" charset="-122"/>
                <a:cs typeface="Arial" pitchFamily="34" charset="-120"/>
              </a:rPr>
              <a:t>05</a:t>
            </a:r>
            <a:endParaRPr lang="en-US" sz="3400" dirty="0"/>
          </a:p>
        </p:txBody>
      </p:sp>
      <p:sp>
        <p:nvSpPr>
          <p:cNvPr id="42" name="contents_t_37"/>
          <p:cNvSpPr txBox="1"/>
          <p:nvPr/>
        </p:nvSpPr>
        <p:spPr>
          <a:xfrm>
            <a:off x="9881372" y="3749040"/>
            <a:ext cx="1624523" cy="822960"/>
          </a:xfrm>
          <a:prstGeom prst="rect">
            <a:avLst/>
          </a:prstGeom>
          <a:noFill/>
          <a:ln/>
        </p:spPr>
        <p:txBody>
          <a:bodyPr wrap="square" lIns="0" tIns="0" rIns="0" bIns="0" rtlCol="0" anchor="t"/>
          <a:lstStyle/>
          <a:p>
            <a:pPr indent="0" marL="0">
              <a:buNone/>
            </a:pPr>
            <a:r>
              <a:rPr lang="en-US" sz="2100" b="1" dirty="0">
                <a:solidFill>
                  <a:schemeClr val="tx1"/>
                </a:solidFill>
                <a:latin typeface="Arial" pitchFamily="34" charset="0"/>
                <a:ea typeface="Arial" pitchFamily="34" charset="-122"/>
                <a:cs typeface="Arial" pitchFamily="34" charset="-120"/>
              </a:rPr>
              <a:t>Conclusion</a:t>
            </a:r>
            <a:endParaRPr lang="en-US" sz="2100" dirty="0"/>
          </a:p>
          <a:p>
            <a:pPr indent="0" marL="0">
              <a:buNone/>
            </a:pPr>
            <a:r>
              <a:rPr lang="en-US" sz="2100" b="1" dirty="0">
                <a:solidFill>
                  <a:schemeClr val="tx1"/>
                </a:solidFill>
                <a:latin typeface="Arial" pitchFamily="34" charset="0"/>
                <a:ea typeface="Arial" pitchFamily="34" charset="-122"/>
                <a:cs typeface="Arial" pitchFamily="34" charset="-120"/>
              </a:rPr>
              <a:t>&amp; Sources</a:t>
            </a:r>
            <a:endParaRPr lang="en-US" sz="2100" dirty="0"/>
          </a:p>
        </p:txBody>
      </p:sp>
      <p:sp>
        <p:nvSpPr>
          <p:cNvPr id="43" name="contents_t_38"/>
          <p:cNvSpPr txBox="1"/>
          <p:nvPr/>
        </p:nvSpPr>
        <p:spPr>
          <a:xfrm>
            <a:off x="9881372" y="4572000"/>
            <a:ext cx="1624523" cy="320040"/>
          </a:xfrm>
          <a:prstGeom prst="rect">
            <a:avLst/>
          </a:prstGeom>
          <a:noFill/>
          <a:ln/>
        </p:spPr>
        <p:txBody>
          <a:bodyPr wrap="square" lIns="0" tIns="0" rIns="0" bIns="0" rtlCol="0" anchor="t"/>
          <a:lstStyle/>
          <a:p>
            <a:pPr indent="0" marL="0">
              <a:buNone/>
            </a:pPr>
            <a:r>
              <a:rPr lang="en-US" sz="1500" dirty="0">
                <a:solidFill>
                  <a:schemeClr val="tx2"/>
                </a:solidFill>
                <a:latin typeface="Arial" pitchFamily="34" charset="0"/>
                <a:ea typeface="Arial" pitchFamily="34" charset="-122"/>
                <a:cs typeface="Arial" pitchFamily="34" charset="-120"/>
              </a:rPr>
              <a:t>Key takeaways</a:t>
            </a:r>
            <a:endParaRPr lang="en-US" sz="1500" dirty="0"/>
          </a:p>
        </p:txBody>
      </p:sp>
      <p:pic>
        <p:nvPicPr>
          <p:cNvPr id="44" name="contents_i_39" descr="Decorative graphic">    </p:cNvPr>
          <p:cNvPicPr>
            <a:picLocks noChangeAspect="1"/>
          </p:cNvPicPr>
          <p:nvPr/>
        </p:nvPicPr>
        <p:blipFill>
          <a:blip r:embed="rId16"/>
          <a:stretch>
            <a:fillRect/>
          </a:stretch>
        </p:blipFill>
        <p:spPr>
          <a:xfrm>
            <a:off x="11076127" y="4846320"/>
            <a:ext cx="274320" cy="274320"/>
          </a:xfrm>
          <a:prstGeom prst="rect">
            <a:avLst/>
          </a:prstGeom>
        </p:spPr>
      </p:pic>
      <p:sp>
        <p:nvSpPr>
          <p:cNvPr id="45" name="contents_s_40">
            <a:hlinkClick r:id="rId17" tooltip="Go to Conclusion &amp; Sources" action="ppaction://hlinksldjump" highlightClick="1"/>
          </p:cNvPr>
          <p:cNvSpPr/>
          <p:nvPr/>
        </p:nvSpPr>
        <p:spPr>
          <a:xfrm>
            <a:off x="9607052" y="1874520"/>
            <a:ext cx="2036003" cy="3520440"/>
          </a:xfrm>
          <a:prstGeom prst="roundRect">
            <a:avLst>
              <a:gd name="adj" fmla="val 6288"/>
            </a:avLst>
          </a:prstGeom>
          <a:solidFill>
            <a:srgbClr val="000000">
              <a:alpha val="0"/>
            </a:srgbClr>
          </a:solidFill>
          <a:ln/>
        </p:spPr>
      </p:sp>
      <p:sp>
        <p:nvSpPr>
          <p:cNvPr id="46" name="contents_t_41"/>
          <p:cNvSpPr txBox="1"/>
          <p:nvPr/>
        </p:nvSpPr>
        <p:spPr>
          <a:xfrm>
            <a:off x="548640" y="5623560"/>
            <a:ext cx="9144000" cy="320040"/>
          </a:xfrm>
          <a:prstGeom prst="rect">
            <a:avLst/>
          </a:prstGeom>
          <a:noFill/>
          <a:ln/>
        </p:spPr>
        <p:txBody>
          <a:bodyPr wrap="square" lIns="0" tIns="0" rIns="0" bIns="0" rtlCol="0" anchor="t"/>
          <a:lstStyle/>
          <a:p>
            <a:pPr indent="0" marL="0">
              <a:buNone/>
            </a:pPr>
            <a:r>
              <a:rPr lang="en-US" sz="1500" dirty="0">
                <a:solidFill>
                  <a:schemeClr val="tx2"/>
                </a:solidFill>
                <a:latin typeface="Arial" pitchFamily="34" charset="0"/>
                <a:ea typeface="Arial" pitchFamily="34" charset="-122"/>
                <a:cs typeface="Arial" pitchFamily="34" charset="-120"/>
              </a:rPr>
              <a:t>Click a chapter to jump to it. The grid button at the bottom of each slide returns here.</a:t>
            </a:r>
            <a:endParaRPr lang="en-US" sz="1500" dirty="0"/>
          </a:p>
        </p:txBody>
      </p:sp>
      <p:sp>
        <p:nvSpPr>
          <p:cNvPr id="48" name="!!footer"/>
          <p:cNvSpPr txBox="1"/>
          <p:nvPr/>
        </p:nvSpPr>
        <p:spPr>
          <a:xfrm>
            <a:off x="548640" y="6327648"/>
            <a:ext cx="5486400" cy="292608"/>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Kuwait Oil &amp; Gas  ·  EGCH2230</a:t>
            </a:r>
            <a:endParaRPr lang="en-US" sz="1200" dirty="0"/>
          </a:p>
        </p:txBody>
      </p:sp>
      <p:sp>
        <p:nvSpPr>
          <p:cNvPr id="49" name="!!num"/>
          <p:cNvSpPr txBox="1"/>
          <p:nvPr/>
        </p:nvSpPr>
        <p:spPr>
          <a:xfrm>
            <a:off x="11094415" y="6327648"/>
            <a:ext cx="548640" cy="292608"/>
          </a:xfrm>
          <a:prstGeom prst="rect">
            <a:avLst/>
          </a:prstGeom>
          <a:noFill/>
          <a:ln/>
        </p:spPr>
        <p:txBody>
          <a:bodyPr wrap="square" lIns="0" tIns="0" rIns="0" bIns="0" rtlCol="0" anchor="ctr"/>
          <a:lstStyle/>
          <a:p>
            <a:pPr algn="r" indent="0" marL="0">
              <a:buNone/>
            </a:pPr>
            <a:r>
              <a:rPr lang="en-US" sz="1200" dirty="0">
                <a:solidFill>
                  <a:schemeClr val="tx2"/>
                </a:solidFill>
                <a:latin typeface="Arial" pitchFamily="34" charset="0"/>
                <a:ea typeface="Arial" pitchFamily="34" charset="-122"/>
                <a:cs typeface="Arial" pitchFamily="34" charset="-120"/>
              </a:rPr>
              <a:t>2</a:t>
            </a:r>
            <a:endParaRPr lang="en-US" sz="1200" dirty="0"/>
          </a:p>
        </p:txBody>
      </p:sp>
      <p:pic>
        <p:nvPicPr>
          <p:cNvPr id="50" name="!!badge" descr="University of Technology and Applied Sciences, Salalah">    </p:cNvPr>
          <p:cNvPicPr>
            <a:picLocks noChangeAspect="1"/>
          </p:cNvPicPr>
          <p:nvPr/>
        </p:nvPicPr>
        <p:blipFill>
          <a:blip r:embed="rId18"/>
          <a:stretch>
            <a:fillRect/>
          </a:stretch>
        </p:blipFill>
        <p:spPr>
          <a:xfrm>
            <a:off x="9677095" y="274320"/>
            <a:ext cx="1965960" cy="80987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0" presetClass="path" presetSubtype="0" fill="hold" grpId="0" nodeType="afterEffect" repeatCount="indefinite" autoRev="1">
                                  <p:stCondLst>
                                    <p:cond delay="0"/>
                                  </p:stCondLst>
                                  <p:childTnLst>
                                    <p:animMotion origin="layout" path="M 0 0 L 0.0350 -0.0300 E" pathEditMode="relative" ptsTypes="">
                                      <p:cBhvr>
                                        <p:cTn id="5" dur="13000" fill="hold" accel="50000" decel="50000"/>
                                        <p:tgtEl>
                                          <p:spTgt spid="2"/>
                                        </p:tgtEl>
                                        <p:attrNameLst>
                                          <p:attrName>ppt_x</p:attrName>
                                          <p:attrName>ppt_y</p:attrName>
                                        </p:attrNameLst>
                                      </p:cBhvr>
                                      <p:rCtr x="0" y="0"/>
                                    </p:animMotion>
                                  </p:childTnLst>
                                </p:cTn>
                              </p:par>
                              <p:par>
                                <p:cTn id="8" presetID="0" presetClass="path" presetSubtype="0" fill="hold" grpId="0" nodeType="withEffect" repeatCount="indefinite" autoRev="1">
                                  <p:stCondLst>
                                    <p:cond delay="0"/>
                                  </p:stCondLst>
                                  <p:childTnLst>
                                    <p:animMotion origin="layout" path="M 0 0 L -0.0300 0.0250 E" pathEditMode="relative" ptsTypes="">
                                      <p:cBhvr>
                                        <p:cTn id="7" dur="15000" fill="hold" accel="50000" decel="50000"/>
                                        <p:tgtEl>
                                          <p:spTgt spid="3"/>
                                        </p:tgtEl>
                                        <p:attrNameLst>
                                          <p:attrName>ppt_x</p:attrName>
                                          <p:attrName>ppt_y</p:attrName>
                                        </p:attrNameLst>
                                      </p:cBhvr>
                                      <p:rCtr x="0" y="0"/>
                                    </p:animMotion>
                                  </p:childTnLst>
                                </p:cTn>
                              </p:par>
                              <p:par>
                                <p:cTn id="13" presetID="53" presetClass="entr" presetSubtype="16" fill="hold" grpId="0" nodeType="withEffect">
                                  <p:stCondLst>
                                    <p:cond delay="300"/>
                                  </p:stCondLst>
                                  <p:childTnLst>
                                    <p:set>
                                      <p:cBhvr>
                                        <p:cTn id="9" dur="1" fill="hold">
                                          <p:stCondLst>
                                            <p:cond delay="0"/>
                                          </p:stCondLst>
                                        </p:cTn>
                                        <p:tgtEl>
                                          <p:spTgt spid="6"/>
                                        </p:tgtEl>
                                        <p:attrNameLst>
                                          <p:attrName>style.visibility</p:attrName>
                                        </p:attrNameLst>
                                      </p:cBhvr>
                                      <p:to>
                                        <p:strVal val="visible"/>
                                      </p:to>
                                    </p:set>
                                    <p:anim calcmode="lin" valueType="num">
                                      <p:cBhvr>
                                        <p:cTn id="10" dur="900" fill="hold" decel="100000"/>
                                        <p:tgtEl>
                                          <p:spTgt spid="6"/>
                                        </p:tgtEl>
                                        <p:attrNameLst>
                                          <p:attrName>ppt_w</p:attrName>
                                        </p:attrNameLst>
                                      </p:cBhvr>
                                      <p:tavLst>
                                        <p:tav tm="0">
                                          <p:val>
                                            <p:strVal val="#ppt_w*0.950"/>
                                          </p:val>
                                        </p:tav>
                                        <p:tav tm="100000">
                                          <p:val>
                                            <p:strVal val="#ppt_w"/>
                                          </p:val>
                                        </p:tav>
                                      </p:tavLst>
                                    </p:anim>
                                    <p:anim calcmode="lin" valueType="num">
                                      <p:cBhvr>
                                        <p:cTn id="11" dur="900" fill="hold" decel="100000"/>
                                        <p:tgtEl>
                                          <p:spTgt spid="6"/>
                                        </p:tgtEl>
                                        <p:attrNameLst>
                                          <p:attrName>ppt_h</p:attrName>
                                        </p:attrNameLst>
                                      </p:cBhvr>
                                      <p:tavLst>
                                        <p:tav tm="0">
                                          <p:val>
                                            <p:strVal val="#ppt_h*0.950"/>
                                          </p:val>
                                        </p:tav>
                                        <p:tav tm="100000">
                                          <p:val>
                                            <p:strVal val="#ppt_h"/>
                                          </p:val>
                                        </p:tav>
                                      </p:tavLst>
                                    </p:anim>
                                    <p:animEffect transition="in" filter="fade">
                                      <p:cBhvr>
                                        <p:cTn id="12" dur="630" decel="100000"/>
                                        <p:tgtEl>
                                          <p:spTgt spid="6"/>
                                        </p:tgtEl>
                                      </p:cBhvr>
                                    </p:animEffect>
                                  </p:childTnLst>
                                </p:cTn>
                              </p:par>
                              <p:par>
                                <p:cTn id="18" presetID="53" presetClass="entr" presetSubtype="16" fill="hold" grpId="0" nodeType="withEffect">
                                  <p:stCondLst>
                                    <p:cond delay="360"/>
                                  </p:stCondLst>
                                  <p:childTnLst>
                                    <p:set>
                                      <p:cBhvr>
                                        <p:cTn id="14" dur="1" fill="hold">
                                          <p:stCondLst>
                                            <p:cond delay="0"/>
                                          </p:stCondLst>
                                        </p:cTn>
                                        <p:tgtEl>
                                          <p:spTgt spid="7"/>
                                        </p:tgtEl>
                                        <p:attrNameLst>
                                          <p:attrName>style.visibility</p:attrName>
                                        </p:attrNameLst>
                                      </p:cBhvr>
                                      <p:to>
                                        <p:strVal val="visible"/>
                                      </p:to>
                                    </p:set>
                                    <p:anim calcmode="lin" valueType="num">
                                      <p:cBhvr>
                                        <p:cTn id="15" dur="900" fill="hold" decel="100000"/>
                                        <p:tgtEl>
                                          <p:spTgt spid="7"/>
                                        </p:tgtEl>
                                        <p:attrNameLst>
                                          <p:attrName>ppt_w</p:attrName>
                                        </p:attrNameLst>
                                      </p:cBhvr>
                                      <p:tavLst>
                                        <p:tav tm="0">
                                          <p:val>
                                            <p:strVal val="#ppt_w*0.800"/>
                                          </p:val>
                                        </p:tav>
                                        <p:tav tm="100000">
                                          <p:val>
                                            <p:strVal val="#ppt_w"/>
                                          </p:val>
                                        </p:tav>
                                      </p:tavLst>
                                    </p:anim>
                                    <p:anim calcmode="lin" valueType="num">
                                      <p:cBhvr>
                                        <p:cTn id="16" dur="900" fill="hold" decel="100000"/>
                                        <p:tgtEl>
                                          <p:spTgt spid="7"/>
                                        </p:tgtEl>
                                        <p:attrNameLst>
                                          <p:attrName>ppt_h</p:attrName>
                                        </p:attrNameLst>
                                      </p:cBhvr>
                                      <p:tavLst>
                                        <p:tav tm="0">
                                          <p:val>
                                            <p:strVal val="#ppt_h*0.800"/>
                                          </p:val>
                                        </p:tav>
                                        <p:tav tm="100000">
                                          <p:val>
                                            <p:strVal val="#ppt_h"/>
                                          </p:val>
                                        </p:tav>
                                      </p:tavLst>
                                    </p:anim>
                                    <p:animEffect transition="in" filter="fade">
                                      <p:cBhvr>
                                        <p:cTn id="17" dur="630" decel="100000"/>
                                        <p:tgtEl>
                                          <p:spTgt spid="7"/>
                                        </p:tgtEl>
                                      </p:cBhvr>
                                    </p:animEffect>
                                  </p:childTnLst>
                                </p:cTn>
                              </p:par>
                              <p:par>
                                <p:cTn id="23" presetID="53" presetClass="entr" presetSubtype="16" fill="hold" grpId="0" nodeType="withEffect">
                                  <p:stCondLst>
                                    <p:cond delay="360"/>
                                  </p:stCondLst>
                                  <p:childTnLst>
                                    <p:set>
                                      <p:cBhvr>
                                        <p:cTn id="19" dur="1" fill="hold">
                                          <p:stCondLst>
                                            <p:cond delay="0"/>
                                          </p:stCondLst>
                                        </p:cTn>
                                        <p:tgtEl>
                                          <p:spTgt spid="8"/>
                                        </p:tgtEl>
                                        <p:attrNameLst>
                                          <p:attrName>style.visibility</p:attrName>
                                        </p:attrNameLst>
                                      </p:cBhvr>
                                      <p:to>
                                        <p:strVal val="visible"/>
                                      </p:to>
                                    </p:set>
                                    <p:anim calcmode="lin" valueType="num">
                                      <p:cBhvr>
                                        <p:cTn id="20" dur="900" fill="hold" decel="100000"/>
                                        <p:tgtEl>
                                          <p:spTgt spid="8"/>
                                        </p:tgtEl>
                                        <p:attrNameLst>
                                          <p:attrName>ppt_w</p:attrName>
                                        </p:attrNameLst>
                                      </p:cBhvr>
                                      <p:tavLst>
                                        <p:tav tm="0">
                                          <p:val>
                                            <p:strVal val="#ppt_w*0.800"/>
                                          </p:val>
                                        </p:tav>
                                        <p:tav tm="100000">
                                          <p:val>
                                            <p:strVal val="#ppt_w"/>
                                          </p:val>
                                        </p:tav>
                                      </p:tavLst>
                                    </p:anim>
                                    <p:anim calcmode="lin" valueType="num">
                                      <p:cBhvr>
                                        <p:cTn id="21" dur="900" fill="hold" decel="100000"/>
                                        <p:tgtEl>
                                          <p:spTgt spid="8"/>
                                        </p:tgtEl>
                                        <p:attrNameLst>
                                          <p:attrName>ppt_h</p:attrName>
                                        </p:attrNameLst>
                                      </p:cBhvr>
                                      <p:tavLst>
                                        <p:tav tm="0">
                                          <p:val>
                                            <p:strVal val="#ppt_h*0.800"/>
                                          </p:val>
                                        </p:tav>
                                        <p:tav tm="100000">
                                          <p:val>
                                            <p:strVal val="#ppt_h"/>
                                          </p:val>
                                        </p:tav>
                                      </p:tavLst>
                                    </p:anim>
                                    <p:animEffect transition="in" filter="fade">
                                      <p:cBhvr>
                                        <p:cTn id="22" dur="630" decel="100000"/>
                                        <p:tgtEl>
                                          <p:spTgt spid="8"/>
                                        </p:tgtEl>
                                      </p:cBhvr>
                                    </p:animEffect>
                                  </p:childTnLst>
                                </p:cTn>
                              </p:par>
                              <p:par>
                                <p:cTn id="28" presetID="42" presetClass="entr" presetSubtype="0" fill="hold" grpId="0" nodeType="withEffect">
                                  <p:stCondLst>
                                    <p:cond delay="42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640" decel="100000"/>
                                        <p:tgtEl>
                                          <p:spTgt spid="9"/>
                                        </p:tgtEl>
                                      </p:cBhvr>
                                    </p:animEffect>
                                    <p:anim calcmode="lin" valueType="num">
                                      <p:cBhvr>
                                        <p:cTn id="26" dur="800" fill="hold" decel="100000"/>
                                        <p:tgtEl>
                                          <p:spTgt spid="9"/>
                                        </p:tgtEl>
                                        <p:attrNameLst>
                                          <p:attrName>ppt_x</p:attrName>
                                        </p:attrNameLst>
                                      </p:cBhvr>
                                      <p:tavLst>
                                        <p:tav tm="0">
                                          <p:val>
                                            <p:strVal val="#ppt_x"/>
                                          </p:val>
                                        </p:tav>
                                        <p:tav tm="100000">
                                          <p:val>
                                            <p:strVal val="#ppt_x"/>
                                          </p:val>
                                        </p:tav>
                                      </p:tavLst>
                                    </p:anim>
                                    <p:anim calcmode="lin" valueType="num">
                                      <p:cBhvr>
                                        <p:cTn id="27" dur="800" fill="hold" decel="100000"/>
                                        <p:tgtEl>
                                          <p:spTgt spid="9"/>
                                        </p:tgtEl>
                                        <p:attrNameLst>
                                          <p:attrName>ppt_y</p:attrName>
                                        </p:attrNameLst>
                                      </p:cBhvr>
                                      <p:tavLst>
                                        <p:tav tm="0">
                                          <p:val>
                                            <p:strVal val="#ppt_y+0.0250"/>
                                          </p:val>
                                        </p:tav>
                                        <p:tav tm="100000">
                                          <p:val>
                                            <p:strVal val="#ppt_y"/>
                                          </p:val>
                                        </p:tav>
                                      </p:tavLst>
                                    </p:anim>
                                  </p:childTnLst>
                                </p:cTn>
                              </p:par>
                              <p:par>
                                <p:cTn id="33" presetID="53" presetClass="entr" presetSubtype="16" fill="hold" grpId="0" nodeType="withEffect">
                                  <p:stCondLst>
                                    <p:cond delay="420"/>
                                  </p:stCondLst>
                                  <p:childTnLst>
                                    <p:set>
                                      <p:cBhvr>
                                        <p:cTn id="29" dur="1" fill="hold">
                                          <p:stCondLst>
                                            <p:cond delay="0"/>
                                          </p:stCondLst>
                                        </p:cTn>
                                        <p:tgtEl>
                                          <p:spTgt spid="14"/>
                                        </p:tgtEl>
                                        <p:attrNameLst>
                                          <p:attrName>style.visibility</p:attrName>
                                        </p:attrNameLst>
                                      </p:cBhvr>
                                      <p:to>
                                        <p:strVal val="visible"/>
                                      </p:to>
                                    </p:set>
                                    <p:anim calcmode="lin" valueType="num">
                                      <p:cBhvr>
                                        <p:cTn id="30" dur="900" fill="hold" decel="100000"/>
                                        <p:tgtEl>
                                          <p:spTgt spid="14"/>
                                        </p:tgtEl>
                                        <p:attrNameLst>
                                          <p:attrName>ppt_w</p:attrName>
                                        </p:attrNameLst>
                                      </p:cBhvr>
                                      <p:tavLst>
                                        <p:tav tm="0">
                                          <p:val>
                                            <p:strVal val="#ppt_w*0.950"/>
                                          </p:val>
                                        </p:tav>
                                        <p:tav tm="100000">
                                          <p:val>
                                            <p:strVal val="#ppt_w"/>
                                          </p:val>
                                        </p:tav>
                                      </p:tavLst>
                                    </p:anim>
                                    <p:anim calcmode="lin" valueType="num">
                                      <p:cBhvr>
                                        <p:cTn id="31" dur="900" fill="hold" decel="100000"/>
                                        <p:tgtEl>
                                          <p:spTgt spid="14"/>
                                        </p:tgtEl>
                                        <p:attrNameLst>
                                          <p:attrName>ppt_h</p:attrName>
                                        </p:attrNameLst>
                                      </p:cBhvr>
                                      <p:tavLst>
                                        <p:tav tm="0">
                                          <p:val>
                                            <p:strVal val="#ppt_h*0.950"/>
                                          </p:val>
                                        </p:tav>
                                        <p:tav tm="100000">
                                          <p:val>
                                            <p:strVal val="#ppt_h"/>
                                          </p:val>
                                        </p:tav>
                                      </p:tavLst>
                                    </p:anim>
                                    <p:animEffect transition="in" filter="fade">
                                      <p:cBhvr>
                                        <p:cTn id="32" dur="630" decel="100000"/>
                                        <p:tgtEl>
                                          <p:spTgt spid="14"/>
                                        </p:tgtEl>
                                      </p:cBhvr>
                                    </p:animEffect>
                                  </p:childTnLst>
                                </p:cTn>
                              </p:par>
                              <p:par>
                                <p:cTn id="38" presetID="42" presetClass="entr" presetSubtype="0" fill="hold" grpId="0" nodeType="withEffect">
                                  <p:stCondLst>
                                    <p:cond delay="48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640" decel="100000"/>
                                        <p:tgtEl>
                                          <p:spTgt spid="10"/>
                                        </p:tgtEl>
                                      </p:cBhvr>
                                    </p:animEffect>
                                    <p:anim calcmode="lin" valueType="num">
                                      <p:cBhvr>
                                        <p:cTn id="36" dur="800" fill="hold" decel="100000"/>
                                        <p:tgtEl>
                                          <p:spTgt spid="10"/>
                                        </p:tgtEl>
                                        <p:attrNameLst>
                                          <p:attrName>ppt_x</p:attrName>
                                        </p:attrNameLst>
                                      </p:cBhvr>
                                      <p:tavLst>
                                        <p:tav tm="0">
                                          <p:val>
                                            <p:strVal val="#ppt_x"/>
                                          </p:val>
                                        </p:tav>
                                        <p:tav tm="100000">
                                          <p:val>
                                            <p:strVal val="#ppt_x"/>
                                          </p:val>
                                        </p:tav>
                                      </p:tavLst>
                                    </p:anim>
                                    <p:anim calcmode="lin" valueType="num">
                                      <p:cBhvr>
                                        <p:cTn id="37" dur="800" fill="hold" decel="100000"/>
                                        <p:tgtEl>
                                          <p:spTgt spid="10"/>
                                        </p:tgtEl>
                                        <p:attrNameLst>
                                          <p:attrName>ppt_y</p:attrName>
                                        </p:attrNameLst>
                                      </p:cBhvr>
                                      <p:tavLst>
                                        <p:tav tm="0">
                                          <p:val>
                                            <p:strVal val="#ppt_y+0.0250"/>
                                          </p:val>
                                        </p:tav>
                                        <p:tav tm="100000">
                                          <p:val>
                                            <p:strVal val="#ppt_y"/>
                                          </p:val>
                                        </p:tav>
                                      </p:tavLst>
                                    </p:anim>
                                  </p:childTnLst>
                                </p:cTn>
                              </p:par>
                              <p:par>
                                <p:cTn id="43" presetID="53" presetClass="entr" presetSubtype="16" fill="hold" grpId="0" nodeType="withEffect">
                                  <p:stCondLst>
                                    <p:cond delay="480"/>
                                  </p:stCondLst>
                                  <p:childTnLst>
                                    <p:set>
                                      <p:cBhvr>
                                        <p:cTn id="39" dur="1" fill="hold">
                                          <p:stCondLst>
                                            <p:cond delay="0"/>
                                          </p:stCondLst>
                                        </p:cTn>
                                        <p:tgtEl>
                                          <p:spTgt spid="15"/>
                                        </p:tgtEl>
                                        <p:attrNameLst>
                                          <p:attrName>style.visibility</p:attrName>
                                        </p:attrNameLst>
                                      </p:cBhvr>
                                      <p:to>
                                        <p:strVal val="visible"/>
                                      </p:to>
                                    </p:set>
                                    <p:anim calcmode="lin" valueType="num">
                                      <p:cBhvr>
                                        <p:cTn id="40" dur="900" fill="hold" decel="100000"/>
                                        <p:tgtEl>
                                          <p:spTgt spid="15"/>
                                        </p:tgtEl>
                                        <p:attrNameLst>
                                          <p:attrName>ppt_w</p:attrName>
                                        </p:attrNameLst>
                                      </p:cBhvr>
                                      <p:tavLst>
                                        <p:tav tm="0">
                                          <p:val>
                                            <p:strVal val="#ppt_w*0.800"/>
                                          </p:val>
                                        </p:tav>
                                        <p:tav tm="100000">
                                          <p:val>
                                            <p:strVal val="#ppt_w"/>
                                          </p:val>
                                        </p:tav>
                                      </p:tavLst>
                                    </p:anim>
                                    <p:anim calcmode="lin" valueType="num">
                                      <p:cBhvr>
                                        <p:cTn id="41" dur="900" fill="hold" decel="100000"/>
                                        <p:tgtEl>
                                          <p:spTgt spid="15"/>
                                        </p:tgtEl>
                                        <p:attrNameLst>
                                          <p:attrName>ppt_h</p:attrName>
                                        </p:attrNameLst>
                                      </p:cBhvr>
                                      <p:tavLst>
                                        <p:tav tm="0">
                                          <p:val>
                                            <p:strVal val="#ppt_h*0.800"/>
                                          </p:val>
                                        </p:tav>
                                        <p:tav tm="100000">
                                          <p:val>
                                            <p:strVal val="#ppt_h"/>
                                          </p:val>
                                        </p:tav>
                                      </p:tavLst>
                                    </p:anim>
                                    <p:animEffect transition="in" filter="fade">
                                      <p:cBhvr>
                                        <p:cTn id="42" dur="630" decel="100000"/>
                                        <p:tgtEl>
                                          <p:spTgt spid="15"/>
                                        </p:tgtEl>
                                      </p:cBhvr>
                                    </p:animEffect>
                                  </p:childTnLst>
                                </p:cTn>
                              </p:par>
                              <p:par>
                                <p:cTn id="48" presetID="53" presetClass="entr" presetSubtype="16" fill="hold" grpId="0" nodeType="withEffect">
                                  <p:stCondLst>
                                    <p:cond delay="480"/>
                                  </p:stCondLst>
                                  <p:childTnLst>
                                    <p:set>
                                      <p:cBhvr>
                                        <p:cTn id="44" dur="1" fill="hold">
                                          <p:stCondLst>
                                            <p:cond delay="0"/>
                                          </p:stCondLst>
                                        </p:cTn>
                                        <p:tgtEl>
                                          <p:spTgt spid="16"/>
                                        </p:tgtEl>
                                        <p:attrNameLst>
                                          <p:attrName>style.visibility</p:attrName>
                                        </p:attrNameLst>
                                      </p:cBhvr>
                                      <p:to>
                                        <p:strVal val="visible"/>
                                      </p:to>
                                    </p:set>
                                    <p:anim calcmode="lin" valueType="num">
                                      <p:cBhvr>
                                        <p:cTn id="45" dur="900" fill="hold" decel="100000"/>
                                        <p:tgtEl>
                                          <p:spTgt spid="16"/>
                                        </p:tgtEl>
                                        <p:attrNameLst>
                                          <p:attrName>ppt_w</p:attrName>
                                        </p:attrNameLst>
                                      </p:cBhvr>
                                      <p:tavLst>
                                        <p:tav tm="0">
                                          <p:val>
                                            <p:strVal val="#ppt_w*0.800"/>
                                          </p:val>
                                        </p:tav>
                                        <p:tav tm="100000">
                                          <p:val>
                                            <p:strVal val="#ppt_w"/>
                                          </p:val>
                                        </p:tav>
                                      </p:tavLst>
                                    </p:anim>
                                    <p:anim calcmode="lin" valueType="num">
                                      <p:cBhvr>
                                        <p:cTn id="46" dur="900" fill="hold" decel="100000"/>
                                        <p:tgtEl>
                                          <p:spTgt spid="16"/>
                                        </p:tgtEl>
                                        <p:attrNameLst>
                                          <p:attrName>ppt_h</p:attrName>
                                        </p:attrNameLst>
                                      </p:cBhvr>
                                      <p:tavLst>
                                        <p:tav tm="0">
                                          <p:val>
                                            <p:strVal val="#ppt_h*0.800"/>
                                          </p:val>
                                        </p:tav>
                                        <p:tav tm="100000">
                                          <p:val>
                                            <p:strVal val="#ppt_h"/>
                                          </p:val>
                                        </p:tav>
                                      </p:tavLst>
                                    </p:anim>
                                    <p:animEffect transition="in" filter="fade">
                                      <p:cBhvr>
                                        <p:cTn id="47" dur="630" decel="100000"/>
                                        <p:tgtEl>
                                          <p:spTgt spid="16"/>
                                        </p:tgtEl>
                                      </p:cBhvr>
                                    </p:animEffect>
                                  </p:childTnLst>
                                </p:cTn>
                              </p:par>
                              <p:par>
                                <p:cTn id="53" presetID="42" presetClass="entr" presetSubtype="0" fill="hold" grpId="0" nodeType="withEffect">
                                  <p:stCondLst>
                                    <p:cond delay="54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640" decel="100000"/>
                                        <p:tgtEl>
                                          <p:spTgt spid="17"/>
                                        </p:tgtEl>
                                      </p:cBhvr>
                                    </p:animEffect>
                                    <p:anim calcmode="lin" valueType="num">
                                      <p:cBhvr>
                                        <p:cTn id="51" dur="800" fill="hold" decel="100000"/>
                                        <p:tgtEl>
                                          <p:spTgt spid="17"/>
                                        </p:tgtEl>
                                        <p:attrNameLst>
                                          <p:attrName>ppt_x</p:attrName>
                                        </p:attrNameLst>
                                      </p:cBhvr>
                                      <p:tavLst>
                                        <p:tav tm="0">
                                          <p:val>
                                            <p:strVal val="#ppt_x"/>
                                          </p:val>
                                        </p:tav>
                                        <p:tav tm="100000">
                                          <p:val>
                                            <p:strVal val="#ppt_x"/>
                                          </p:val>
                                        </p:tav>
                                      </p:tavLst>
                                    </p:anim>
                                    <p:anim calcmode="lin" valueType="num">
                                      <p:cBhvr>
                                        <p:cTn id="52" dur="800" fill="hold" decel="100000"/>
                                        <p:tgtEl>
                                          <p:spTgt spid="17"/>
                                        </p:tgtEl>
                                        <p:attrNameLst>
                                          <p:attrName>ppt_y</p:attrName>
                                        </p:attrNameLst>
                                      </p:cBhvr>
                                      <p:tavLst>
                                        <p:tav tm="0">
                                          <p:val>
                                            <p:strVal val="#ppt_y+0.0250"/>
                                          </p:val>
                                        </p:tav>
                                        <p:tav tm="100000">
                                          <p:val>
                                            <p:strVal val="#ppt_y"/>
                                          </p:val>
                                        </p:tav>
                                      </p:tavLst>
                                    </p:anim>
                                  </p:childTnLst>
                                </p:cTn>
                              </p:par>
                              <p:par>
                                <p:cTn id="58" presetID="53" presetClass="entr" presetSubtype="16" fill="hold" grpId="0" nodeType="withEffect">
                                  <p:stCondLst>
                                    <p:cond delay="540"/>
                                  </p:stCondLst>
                                  <p:childTnLst>
                                    <p:set>
                                      <p:cBhvr>
                                        <p:cTn id="54" dur="1" fill="hold">
                                          <p:stCondLst>
                                            <p:cond delay="0"/>
                                          </p:stCondLst>
                                        </p:cTn>
                                        <p:tgtEl>
                                          <p:spTgt spid="22"/>
                                        </p:tgtEl>
                                        <p:attrNameLst>
                                          <p:attrName>style.visibility</p:attrName>
                                        </p:attrNameLst>
                                      </p:cBhvr>
                                      <p:to>
                                        <p:strVal val="visible"/>
                                      </p:to>
                                    </p:set>
                                    <p:anim calcmode="lin" valueType="num">
                                      <p:cBhvr>
                                        <p:cTn id="55" dur="900" fill="hold" decel="100000"/>
                                        <p:tgtEl>
                                          <p:spTgt spid="22"/>
                                        </p:tgtEl>
                                        <p:attrNameLst>
                                          <p:attrName>ppt_w</p:attrName>
                                        </p:attrNameLst>
                                      </p:cBhvr>
                                      <p:tavLst>
                                        <p:tav tm="0">
                                          <p:val>
                                            <p:strVal val="#ppt_w*0.950"/>
                                          </p:val>
                                        </p:tav>
                                        <p:tav tm="100000">
                                          <p:val>
                                            <p:strVal val="#ppt_w"/>
                                          </p:val>
                                        </p:tav>
                                      </p:tavLst>
                                    </p:anim>
                                    <p:anim calcmode="lin" valueType="num">
                                      <p:cBhvr>
                                        <p:cTn id="56" dur="900" fill="hold" decel="100000"/>
                                        <p:tgtEl>
                                          <p:spTgt spid="22"/>
                                        </p:tgtEl>
                                        <p:attrNameLst>
                                          <p:attrName>ppt_h</p:attrName>
                                        </p:attrNameLst>
                                      </p:cBhvr>
                                      <p:tavLst>
                                        <p:tav tm="0">
                                          <p:val>
                                            <p:strVal val="#ppt_h*0.950"/>
                                          </p:val>
                                        </p:tav>
                                        <p:tav tm="100000">
                                          <p:val>
                                            <p:strVal val="#ppt_h"/>
                                          </p:val>
                                        </p:tav>
                                      </p:tavLst>
                                    </p:anim>
                                    <p:animEffect transition="in" filter="fade">
                                      <p:cBhvr>
                                        <p:cTn id="57" dur="630" decel="100000"/>
                                        <p:tgtEl>
                                          <p:spTgt spid="22"/>
                                        </p:tgtEl>
                                      </p:cBhvr>
                                    </p:animEffect>
                                  </p:childTnLst>
                                </p:cTn>
                              </p:par>
                              <p:par>
                                <p:cTn id="61" presetID="10" presetClass="entr" presetSubtype="0" fill="hold" grpId="0" nodeType="withEffect">
                                  <p:stCondLst>
                                    <p:cond delay="560"/>
                                  </p:stCondLst>
                                  <p:childTnLst>
                                    <p:set>
                                      <p:cBhvr>
                                        <p:cTn id="59" dur="1" fill="hold">
                                          <p:stCondLst>
                                            <p:cond delay="0"/>
                                          </p:stCondLst>
                                        </p:cTn>
                                        <p:tgtEl>
                                          <p:spTgt spid="11"/>
                                        </p:tgtEl>
                                        <p:attrNameLst>
                                          <p:attrName>style.visibility</p:attrName>
                                        </p:attrNameLst>
                                      </p:cBhvr>
                                      <p:to>
                                        <p:strVal val="visible"/>
                                      </p:to>
                                    </p:set>
                                    <p:animEffect transition="in" filter="fade">
                                      <p:cBhvr>
                                        <p:cTn id="60" dur="800" decel="100000"/>
                                        <p:tgtEl>
                                          <p:spTgt spid="11"/>
                                        </p:tgtEl>
                                      </p:cBhvr>
                                    </p:animEffect>
                                  </p:childTnLst>
                                </p:cTn>
                              </p:par>
                              <p:par>
                                <p:cTn id="65" presetID="2" presetClass="entr" presetSubtype="0" fill="hold" grpId="0" nodeType="withEffect">
                                  <p:stCondLst>
                                    <p:cond delay="600"/>
                                  </p:stCondLst>
                                  <p:childTnLst>
                                    <p:set>
                                      <p:cBhvr>
                                        <p:cTn id="62" dur="1" fill="hold">
                                          <p:stCondLst>
                                            <p:cond delay="0"/>
                                          </p:stCondLst>
                                        </p:cTn>
                                        <p:tgtEl>
                                          <p:spTgt spid="12"/>
                                        </p:tgtEl>
                                        <p:attrNameLst>
                                          <p:attrName>style.visibility</p:attrName>
                                        </p:attrNameLst>
                                      </p:cBhvr>
                                      <p:to>
                                        <p:strVal val="visible"/>
                                      </p:to>
                                    </p:set>
                                    <p:animEffect transition="in" filter="fade">
                                      <p:cBhvr>
                                        <p:cTn id="63" dur="400" decel="100000"/>
                                        <p:tgtEl>
                                          <p:spTgt spid="12"/>
                                        </p:tgtEl>
                                      </p:cBhvr>
                                    </p:animEffect>
                                    <p:animMotion origin="layout" path="M -0.0120 0.0000 L 0 0 E" pathEditMode="relative" ptsTypes="">
                                      <p:cBhvr>
                                        <p:cTn id="64" dur="800" fill="hold" decel="100000"/>
                                        <p:tgtEl>
                                          <p:spTgt spid="12"/>
                                        </p:tgtEl>
                                        <p:attrNameLst>
                                          <p:attrName>ppt_x</p:attrName>
                                          <p:attrName>ppt_y</p:attrName>
                                        </p:attrNameLst>
                                      </p:cBhvr>
                                      <p:rCtr x="0" y="0"/>
                                    </p:animMotion>
                                  </p:childTnLst>
                                </p:cTn>
                              </p:par>
                              <p:par>
                                <p:cTn id="70" presetID="42" presetClass="entr" presetSubtype="0" fill="hold" grpId="0" nodeType="withEffect">
                                  <p:stCondLst>
                                    <p:cond delay="600"/>
                                  </p:stCondLst>
                                  <p:childTnLst>
                                    <p:set>
                                      <p:cBhvr>
                                        <p:cTn id="66" dur="1" fill="hold">
                                          <p:stCondLst>
                                            <p:cond delay="0"/>
                                          </p:stCondLst>
                                        </p:cTn>
                                        <p:tgtEl>
                                          <p:spTgt spid="18"/>
                                        </p:tgtEl>
                                        <p:attrNameLst>
                                          <p:attrName>style.visibility</p:attrName>
                                        </p:attrNameLst>
                                      </p:cBhvr>
                                      <p:to>
                                        <p:strVal val="visible"/>
                                      </p:to>
                                    </p:set>
                                    <p:animEffect transition="in" filter="fade">
                                      <p:cBhvr>
                                        <p:cTn id="67" dur="640" decel="100000"/>
                                        <p:tgtEl>
                                          <p:spTgt spid="18"/>
                                        </p:tgtEl>
                                      </p:cBhvr>
                                    </p:animEffect>
                                    <p:anim calcmode="lin" valueType="num">
                                      <p:cBhvr>
                                        <p:cTn id="68" dur="800" fill="hold" decel="100000"/>
                                        <p:tgtEl>
                                          <p:spTgt spid="18"/>
                                        </p:tgtEl>
                                        <p:attrNameLst>
                                          <p:attrName>ppt_x</p:attrName>
                                        </p:attrNameLst>
                                      </p:cBhvr>
                                      <p:tavLst>
                                        <p:tav tm="0">
                                          <p:val>
                                            <p:strVal val="#ppt_x"/>
                                          </p:val>
                                        </p:tav>
                                        <p:tav tm="100000">
                                          <p:val>
                                            <p:strVal val="#ppt_x"/>
                                          </p:val>
                                        </p:tav>
                                      </p:tavLst>
                                    </p:anim>
                                    <p:anim calcmode="lin" valueType="num">
                                      <p:cBhvr>
                                        <p:cTn id="69" dur="800" fill="hold" decel="100000"/>
                                        <p:tgtEl>
                                          <p:spTgt spid="18"/>
                                        </p:tgtEl>
                                        <p:attrNameLst>
                                          <p:attrName>ppt_y</p:attrName>
                                        </p:attrNameLst>
                                      </p:cBhvr>
                                      <p:tavLst>
                                        <p:tav tm="0">
                                          <p:val>
                                            <p:strVal val="#ppt_y+0.0250"/>
                                          </p:val>
                                        </p:tav>
                                        <p:tav tm="100000">
                                          <p:val>
                                            <p:strVal val="#ppt_y"/>
                                          </p:val>
                                        </p:tav>
                                      </p:tavLst>
                                    </p:anim>
                                  </p:childTnLst>
                                </p:cTn>
                              </p:par>
                              <p:par>
                                <p:cTn id="75" presetID="53" presetClass="entr" presetSubtype="16" fill="hold" grpId="0" nodeType="withEffect">
                                  <p:stCondLst>
                                    <p:cond delay="600"/>
                                  </p:stCondLst>
                                  <p:childTnLst>
                                    <p:set>
                                      <p:cBhvr>
                                        <p:cTn id="71" dur="1" fill="hold">
                                          <p:stCondLst>
                                            <p:cond delay="0"/>
                                          </p:stCondLst>
                                        </p:cTn>
                                        <p:tgtEl>
                                          <p:spTgt spid="23"/>
                                        </p:tgtEl>
                                        <p:attrNameLst>
                                          <p:attrName>style.visibility</p:attrName>
                                        </p:attrNameLst>
                                      </p:cBhvr>
                                      <p:to>
                                        <p:strVal val="visible"/>
                                      </p:to>
                                    </p:set>
                                    <p:anim calcmode="lin" valueType="num">
                                      <p:cBhvr>
                                        <p:cTn id="72" dur="900" fill="hold" decel="100000"/>
                                        <p:tgtEl>
                                          <p:spTgt spid="23"/>
                                        </p:tgtEl>
                                        <p:attrNameLst>
                                          <p:attrName>ppt_w</p:attrName>
                                        </p:attrNameLst>
                                      </p:cBhvr>
                                      <p:tavLst>
                                        <p:tav tm="0">
                                          <p:val>
                                            <p:strVal val="#ppt_w*0.800"/>
                                          </p:val>
                                        </p:tav>
                                        <p:tav tm="100000">
                                          <p:val>
                                            <p:strVal val="#ppt_w"/>
                                          </p:val>
                                        </p:tav>
                                      </p:tavLst>
                                    </p:anim>
                                    <p:anim calcmode="lin" valueType="num">
                                      <p:cBhvr>
                                        <p:cTn id="73" dur="900" fill="hold" decel="100000"/>
                                        <p:tgtEl>
                                          <p:spTgt spid="23"/>
                                        </p:tgtEl>
                                        <p:attrNameLst>
                                          <p:attrName>ppt_h</p:attrName>
                                        </p:attrNameLst>
                                      </p:cBhvr>
                                      <p:tavLst>
                                        <p:tav tm="0">
                                          <p:val>
                                            <p:strVal val="#ppt_h*0.800"/>
                                          </p:val>
                                        </p:tav>
                                        <p:tav tm="100000">
                                          <p:val>
                                            <p:strVal val="#ppt_h"/>
                                          </p:val>
                                        </p:tav>
                                      </p:tavLst>
                                    </p:anim>
                                    <p:animEffect transition="in" filter="fade">
                                      <p:cBhvr>
                                        <p:cTn id="74" dur="630" decel="100000"/>
                                        <p:tgtEl>
                                          <p:spTgt spid="23"/>
                                        </p:tgtEl>
                                      </p:cBhvr>
                                    </p:animEffect>
                                  </p:childTnLst>
                                </p:cTn>
                              </p:par>
                              <p:par>
                                <p:cTn id="80" presetID="53" presetClass="entr" presetSubtype="16" fill="hold" grpId="0" nodeType="withEffect">
                                  <p:stCondLst>
                                    <p:cond delay="600"/>
                                  </p:stCondLst>
                                  <p:childTnLst>
                                    <p:set>
                                      <p:cBhvr>
                                        <p:cTn id="76" dur="1" fill="hold">
                                          <p:stCondLst>
                                            <p:cond delay="0"/>
                                          </p:stCondLst>
                                        </p:cTn>
                                        <p:tgtEl>
                                          <p:spTgt spid="24"/>
                                        </p:tgtEl>
                                        <p:attrNameLst>
                                          <p:attrName>style.visibility</p:attrName>
                                        </p:attrNameLst>
                                      </p:cBhvr>
                                      <p:to>
                                        <p:strVal val="visible"/>
                                      </p:to>
                                    </p:set>
                                    <p:anim calcmode="lin" valueType="num">
                                      <p:cBhvr>
                                        <p:cTn id="77" dur="900" fill="hold" decel="100000"/>
                                        <p:tgtEl>
                                          <p:spTgt spid="24"/>
                                        </p:tgtEl>
                                        <p:attrNameLst>
                                          <p:attrName>ppt_w</p:attrName>
                                        </p:attrNameLst>
                                      </p:cBhvr>
                                      <p:tavLst>
                                        <p:tav tm="0">
                                          <p:val>
                                            <p:strVal val="#ppt_w*0.800"/>
                                          </p:val>
                                        </p:tav>
                                        <p:tav tm="100000">
                                          <p:val>
                                            <p:strVal val="#ppt_w"/>
                                          </p:val>
                                        </p:tav>
                                      </p:tavLst>
                                    </p:anim>
                                    <p:anim calcmode="lin" valueType="num">
                                      <p:cBhvr>
                                        <p:cTn id="78" dur="900" fill="hold" decel="100000"/>
                                        <p:tgtEl>
                                          <p:spTgt spid="24"/>
                                        </p:tgtEl>
                                        <p:attrNameLst>
                                          <p:attrName>ppt_h</p:attrName>
                                        </p:attrNameLst>
                                      </p:cBhvr>
                                      <p:tavLst>
                                        <p:tav tm="0">
                                          <p:val>
                                            <p:strVal val="#ppt_h*0.800"/>
                                          </p:val>
                                        </p:tav>
                                        <p:tav tm="100000">
                                          <p:val>
                                            <p:strVal val="#ppt_h"/>
                                          </p:val>
                                        </p:tav>
                                      </p:tavLst>
                                    </p:anim>
                                    <p:animEffect transition="in" filter="fade">
                                      <p:cBhvr>
                                        <p:cTn id="79" dur="630" decel="100000"/>
                                        <p:tgtEl>
                                          <p:spTgt spid="24"/>
                                        </p:tgtEl>
                                      </p:cBhvr>
                                    </p:animEffect>
                                  </p:childTnLst>
                                </p:cTn>
                              </p:par>
                              <p:par>
                                <p:cTn id="85" presetID="42" presetClass="entr" presetSubtype="0" fill="hold" grpId="0" nodeType="withEffect">
                                  <p:stCondLst>
                                    <p:cond delay="660"/>
                                  </p:stCondLst>
                                  <p:childTnLst>
                                    <p:set>
                                      <p:cBhvr>
                                        <p:cTn id="81" dur="1" fill="hold">
                                          <p:stCondLst>
                                            <p:cond delay="0"/>
                                          </p:stCondLst>
                                        </p:cTn>
                                        <p:tgtEl>
                                          <p:spTgt spid="25"/>
                                        </p:tgtEl>
                                        <p:attrNameLst>
                                          <p:attrName>style.visibility</p:attrName>
                                        </p:attrNameLst>
                                      </p:cBhvr>
                                      <p:to>
                                        <p:strVal val="visible"/>
                                      </p:to>
                                    </p:set>
                                    <p:animEffect transition="in" filter="fade">
                                      <p:cBhvr>
                                        <p:cTn id="82" dur="640" decel="100000"/>
                                        <p:tgtEl>
                                          <p:spTgt spid="25"/>
                                        </p:tgtEl>
                                      </p:cBhvr>
                                    </p:animEffect>
                                    <p:anim calcmode="lin" valueType="num">
                                      <p:cBhvr>
                                        <p:cTn id="83" dur="800" fill="hold" decel="100000"/>
                                        <p:tgtEl>
                                          <p:spTgt spid="25"/>
                                        </p:tgtEl>
                                        <p:attrNameLst>
                                          <p:attrName>ppt_x</p:attrName>
                                        </p:attrNameLst>
                                      </p:cBhvr>
                                      <p:tavLst>
                                        <p:tav tm="0">
                                          <p:val>
                                            <p:strVal val="#ppt_x"/>
                                          </p:val>
                                        </p:tav>
                                        <p:tav tm="100000">
                                          <p:val>
                                            <p:strVal val="#ppt_x"/>
                                          </p:val>
                                        </p:tav>
                                      </p:tavLst>
                                    </p:anim>
                                    <p:anim calcmode="lin" valueType="num">
                                      <p:cBhvr>
                                        <p:cTn id="84" dur="800" fill="hold" decel="100000"/>
                                        <p:tgtEl>
                                          <p:spTgt spid="25"/>
                                        </p:tgtEl>
                                        <p:attrNameLst>
                                          <p:attrName>ppt_y</p:attrName>
                                        </p:attrNameLst>
                                      </p:cBhvr>
                                      <p:tavLst>
                                        <p:tav tm="0">
                                          <p:val>
                                            <p:strVal val="#ppt_y+0.0250"/>
                                          </p:val>
                                        </p:tav>
                                        <p:tav tm="100000">
                                          <p:val>
                                            <p:strVal val="#ppt_y"/>
                                          </p:val>
                                        </p:tav>
                                      </p:tavLst>
                                    </p:anim>
                                  </p:childTnLst>
                                </p:cTn>
                              </p:par>
                              <p:par>
                                <p:cTn id="90" presetID="53" presetClass="entr" presetSubtype="16" fill="hold" grpId="0" nodeType="withEffect">
                                  <p:stCondLst>
                                    <p:cond delay="660"/>
                                  </p:stCondLst>
                                  <p:childTnLst>
                                    <p:set>
                                      <p:cBhvr>
                                        <p:cTn id="86" dur="1" fill="hold">
                                          <p:stCondLst>
                                            <p:cond delay="0"/>
                                          </p:stCondLst>
                                        </p:cTn>
                                        <p:tgtEl>
                                          <p:spTgt spid="30"/>
                                        </p:tgtEl>
                                        <p:attrNameLst>
                                          <p:attrName>style.visibility</p:attrName>
                                        </p:attrNameLst>
                                      </p:cBhvr>
                                      <p:to>
                                        <p:strVal val="visible"/>
                                      </p:to>
                                    </p:set>
                                    <p:anim calcmode="lin" valueType="num">
                                      <p:cBhvr>
                                        <p:cTn id="87" dur="900" fill="hold" decel="100000"/>
                                        <p:tgtEl>
                                          <p:spTgt spid="30"/>
                                        </p:tgtEl>
                                        <p:attrNameLst>
                                          <p:attrName>ppt_w</p:attrName>
                                        </p:attrNameLst>
                                      </p:cBhvr>
                                      <p:tavLst>
                                        <p:tav tm="0">
                                          <p:val>
                                            <p:strVal val="#ppt_w*0.950"/>
                                          </p:val>
                                        </p:tav>
                                        <p:tav tm="100000">
                                          <p:val>
                                            <p:strVal val="#ppt_w"/>
                                          </p:val>
                                        </p:tav>
                                      </p:tavLst>
                                    </p:anim>
                                    <p:anim calcmode="lin" valueType="num">
                                      <p:cBhvr>
                                        <p:cTn id="88" dur="900" fill="hold" decel="100000"/>
                                        <p:tgtEl>
                                          <p:spTgt spid="30"/>
                                        </p:tgtEl>
                                        <p:attrNameLst>
                                          <p:attrName>ppt_h</p:attrName>
                                        </p:attrNameLst>
                                      </p:cBhvr>
                                      <p:tavLst>
                                        <p:tav tm="0">
                                          <p:val>
                                            <p:strVal val="#ppt_h*0.950"/>
                                          </p:val>
                                        </p:tav>
                                        <p:tav tm="100000">
                                          <p:val>
                                            <p:strVal val="#ppt_h"/>
                                          </p:val>
                                        </p:tav>
                                      </p:tavLst>
                                    </p:anim>
                                    <p:animEffect transition="in" filter="fade">
                                      <p:cBhvr>
                                        <p:cTn id="89" dur="630" decel="100000"/>
                                        <p:tgtEl>
                                          <p:spTgt spid="30"/>
                                        </p:tgtEl>
                                      </p:cBhvr>
                                    </p:animEffect>
                                  </p:childTnLst>
                                </p:cTn>
                              </p:par>
                              <p:par>
                                <p:cTn id="93" presetID="10" presetClass="entr" presetSubtype="0" fill="hold" grpId="0" nodeType="withEffect">
                                  <p:stCondLst>
                                    <p:cond delay="680"/>
                                  </p:stCondLst>
                                  <p:childTnLst>
                                    <p:set>
                                      <p:cBhvr>
                                        <p:cTn id="91" dur="1" fill="hold">
                                          <p:stCondLst>
                                            <p:cond delay="0"/>
                                          </p:stCondLst>
                                        </p:cTn>
                                        <p:tgtEl>
                                          <p:spTgt spid="19"/>
                                        </p:tgtEl>
                                        <p:attrNameLst>
                                          <p:attrName>style.visibility</p:attrName>
                                        </p:attrNameLst>
                                      </p:cBhvr>
                                      <p:to>
                                        <p:strVal val="visible"/>
                                      </p:to>
                                    </p:set>
                                    <p:animEffect transition="in" filter="fade">
                                      <p:cBhvr>
                                        <p:cTn id="92" dur="800" decel="100000"/>
                                        <p:tgtEl>
                                          <p:spTgt spid="19"/>
                                        </p:tgtEl>
                                      </p:cBhvr>
                                    </p:animEffect>
                                  </p:childTnLst>
                                </p:cTn>
                              </p:par>
                              <p:par>
                                <p:cTn id="97" presetID="2" presetClass="entr" presetSubtype="0" fill="hold" grpId="0" nodeType="withEffect">
                                  <p:stCondLst>
                                    <p:cond delay="720"/>
                                  </p:stCondLst>
                                  <p:childTnLst>
                                    <p:set>
                                      <p:cBhvr>
                                        <p:cTn id="94" dur="1" fill="hold">
                                          <p:stCondLst>
                                            <p:cond delay="0"/>
                                          </p:stCondLst>
                                        </p:cTn>
                                        <p:tgtEl>
                                          <p:spTgt spid="20"/>
                                        </p:tgtEl>
                                        <p:attrNameLst>
                                          <p:attrName>style.visibility</p:attrName>
                                        </p:attrNameLst>
                                      </p:cBhvr>
                                      <p:to>
                                        <p:strVal val="visible"/>
                                      </p:to>
                                    </p:set>
                                    <p:animEffect transition="in" filter="fade">
                                      <p:cBhvr>
                                        <p:cTn id="95" dur="400" decel="100000"/>
                                        <p:tgtEl>
                                          <p:spTgt spid="20"/>
                                        </p:tgtEl>
                                      </p:cBhvr>
                                    </p:animEffect>
                                    <p:animMotion origin="layout" path="M -0.0120 0.0000 L 0 0 E" pathEditMode="relative" ptsTypes="">
                                      <p:cBhvr>
                                        <p:cTn id="96" dur="800" fill="hold" decel="100000"/>
                                        <p:tgtEl>
                                          <p:spTgt spid="20"/>
                                        </p:tgtEl>
                                        <p:attrNameLst>
                                          <p:attrName>ppt_x</p:attrName>
                                          <p:attrName>ppt_y</p:attrName>
                                        </p:attrNameLst>
                                      </p:cBhvr>
                                      <p:rCtr x="0" y="0"/>
                                    </p:animMotion>
                                  </p:childTnLst>
                                </p:cTn>
                              </p:par>
                              <p:par>
                                <p:cTn id="102" presetID="42" presetClass="entr" presetSubtype="0" fill="hold" grpId="0" nodeType="withEffect">
                                  <p:stCondLst>
                                    <p:cond delay="720"/>
                                  </p:stCondLst>
                                  <p:childTnLst>
                                    <p:set>
                                      <p:cBhvr>
                                        <p:cTn id="98" dur="1" fill="hold">
                                          <p:stCondLst>
                                            <p:cond delay="0"/>
                                          </p:stCondLst>
                                        </p:cTn>
                                        <p:tgtEl>
                                          <p:spTgt spid="26"/>
                                        </p:tgtEl>
                                        <p:attrNameLst>
                                          <p:attrName>style.visibility</p:attrName>
                                        </p:attrNameLst>
                                      </p:cBhvr>
                                      <p:to>
                                        <p:strVal val="visible"/>
                                      </p:to>
                                    </p:set>
                                    <p:animEffect transition="in" filter="fade">
                                      <p:cBhvr>
                                        <p:cTn id="99" dur="640" decel="100000"/>
                                        <p:tgtEl>
                                          <p:spTgt spid="26"/>
                                        </p:tgtEl>
                                      </p:cBhvr>
                                    </p:animEffect>
                                    <p:anim calcmode="lin" valueType="num">
                                      <p:cBhvr>
                                        <p:cTn id="100" dur="800" fill="hold" decel="100000"/>
                                        <p:tgtEl>
                                          <p:spTgt spid="26"/>
                                        </p:tgtEl>
                                        <p:attrNameLst>
                                          <p:attrName>ppt_x</p:attrName>
                                        </p:attrNameLst>
                                      </p:cBhvr>
                                      <p:tavLst>
                                        <p:tav tm="0">
                                          <p:val>
                                            <p:strVal val="#ppt_x"/>
                                          </p:val>
                                        </p:tav>
                                        <p:tav tm="100000">
                                          <p:val>
                                            <p:strVal val="#ppt_x"/>
                                          </p:val>
                                        </p:tav>
                                      </p:tavLst>
                                    </p:anim>
                                    <p:anim calcmode="lin" valueType="num">
                                      <p:cBhvr>
                                        <p:cTn id="101" dur="800" fill="hold" decel="100000"/>
                                        <p:tgtEl>
                                          <p:spTgt spid="26"/>
                                        </p:tgtEl>
                                        <p:attrNameLst>
                                          <p:attrName>ppt_y</p:attrName>
                                        </p:attrNameLst>
                                      </p:cBhvr>
                                      <p:tavLst>
                                        <p:tav tm="0">
                                          <p:val>
                                            <p:strVal val="#ppt_y+0.0250"/>
                                          </p:val>
                                        </p:tav>
                                        <p:tav tm="100000">
                                          <p:val>
                                            <p:strVal val="#ppt_y"/>
                                          </p:val>
                                        </p:tav>
                                      </p:tavLst>
                                    </p:anim>
                                  </p:childTnLst>
                                </p:cTn>
                              </p:par>
                              <p:par>
                                <p:cTn id="107" presetID="53" presetClass="entr" presetSubtype="16" fill="hold" grpId="0" nodeType="withEffect">
                                  <p:stCondLst>
                                    <p:cond delay="720"/>
                                  </p:stCondLst>
                                  <p:childTnLst>
                                    <p:set>
                                      <p:cBhvr>
                                        <p:cTn id="103" dur="1" fill="hold">
                                          <p:stCondLst>
                                            <p:cond delay="0"/>
                                          </p:stCondLst>
                                        </p:cTn>
                                        <p:tgtEl>
                                          <p:spTgt spid="31"/>
                                        </p:tgtEl>
                                        <p:attrNameLst>
                                          <p:attrName>style.visibility</p:attrName>
                                        </p:attrNameLst>
                                      </p:cBhvr>
                                      <p:to>
                                        <p:strVal val="visible"/>
                                      </p:to>
                                    </p:set>
                                    <p:anim calcmode="lin" valueType="num">
                                      <p:cBhvr>
                                        <p:cTn id="104" dur="900" fill="hold" decel="100000"/>
                                        <p:tgtEl>
                                          <p:spTgt spid="31"/>
                                        </p:tgtEl>
                                        <p:attrNameLst>
                                          <p:attrName>ppt_w</p:attrName>
                                        </p:attrNameLst>
                                      </p:cBhvr>
                                      <p:tavLst>
                                        <p:tav tm="0">
                                          <p:val>
                                            <p:strVal val="#ppt_w*0.800"/>
                                          </p:val>
                                        </p:tav>
                                        <p:tav tm="100000">
                                          <p:val>
                                            <p:strVal val="#ppt_w"/>
                                          </p:val>
                                        </p:tav>
                                      </p:tavLst>
                                    </p:anim>
                                    <p:anim calcmode="lin" valueType="num">
                                      <p:cBhvr>
                                        <p:cTn id="105" dur="900" fill="hold" decel="100000"/>
                                        <p:tgtEl>
                                          <p:spTgt spid="31"/>
                                        </p:tgtEl>
                                        <p:attrNameLst>
                                          <p:attrName>ppt_h</p:attrName>
                                        </p:attrNameLst>
                                      </p:cBhvr>
                                      <p:tavLst>
                                        <p:tav tm="0">
                                          <p:val>
                                            <p:strVal val="#ppt_h*0.800"/>
                                          </p:val>
                                        </p:tav>
                                        <p:tav tm="100000">
                                          <p:val>
                                            <p:strVal val="#ppt_h"/>
                                          </p:val>
                                        </p:tav>
                                      </p:tavLst>
                                    </p:anim>
                                    <p:animEffect transition="in" filter="fade">
                                      <p:cBhvr>
                                        <p:cTn id="106" dur="630" decel="100000"/>
                                        <p:tgtEl>
                                          <p:spTgt spid="31"/>
                                        </p:tgtEl>
                                      </p:cBhvr>
                                    </p:animEffect>
                                  </p:childTnLst>
                                </p:cTn>
                              </p:par>
                              <p:par>
                                <p:cTn id="112" presetID="53" presetClass="entr" presetSubtype="16" fill="hold" grpId="0" nodeType="withEffect">
                                  <p:stCondLst>
                                    <p:cond delay="720"/>
                                  </p:stCondLst>
                                  <p:childTnLst>
                                    <p:set>
                                      <p:cBhvr>
                                        <p:cTn id="108" dur="1" fill="hold">
                                          <p:stCondLst>
                                            <p:cond delay="0"/>
                                          </p:stCondLst>
                                        </p:cTn>
                                        <p:tgtEl>
                                          <p:spTgt spid="32"/>
                                        </p:tgtEl>
                                        <p:attrNameLst>
                                          <p:attrName>style.visibility</p:attrName>
                                        </p:attrNameLst>
                                      </p:cBhvr>
                                      <p:to>
                                        <p:strVal val="visible"/>
                                      </p:to>
                                    </p:set>
                                    <p:anim calcmode="lin" valueType="num">
                                      <p:cBhvr>
                                        <p:cTn id="109" dur="900" fill="hold" decel="100000"/>
                                        <p:tgtEl>
                                          <p:spTgt spid="32"/>
                                        </p:tgtEl>
                                        <p:attrNameLst>
                                          <p:attrName>ppt_w</p:attrName>
                                        </p:attrNameLst>
                                      </p:cBhvr>
                                      <p:tavLst>
                                        <p:tav tm="0">
                                          <p:val>
                                            <p:strVal val="#ppt_w*0.800"/>
                                          </p:val>
                                        </p:tav>
                                        <p:tav tm="100000">
                                          <p:val>
                                            <p:strVal val="#ppt_w"/>
                                          </p:val>
                                        </p:tav>
                                      </p:tavLst>
                                    </p:anim>
                                    <p:anim calcmode="lin" valueType="num">
                                      <p:cBhvr>
                                        <p:cTn id="110" dur="900" fill="hold" decel="100000"/>
                                        <p:tgtEl>
                                          <p:spTgt spid="32"/>
                                        </p:tgtEl>
                                        <p:attrNameLst>
                                          <p:attrName>ppt_h</p:attrName>
                                        </p:attrNameLst>
                                      </p:cBhvr>
                                      <p:tavLst>
                                        <p:tav tm="0">
                                          <p:val>
                                            <p:strVal val="#ppt_h*0.800"/>
                                          </p:val>
                                        </p:tav>
                                        <p:tav tm="100000">
                                          <p:val>
                                            <p:strVal val="#ppt_h"/>
                                          </p:val>
                                        </p:tav>
                                      </p:tavLst>
                                    </p:anim>
                                    <p:animEffect transition="in" filter="fade">
                                      <p:cBhvr>
                                        <p:cTn id="111" dur="630" decel="100000"/>
                                        <p:tgtEl>
                                          <p:spTgt spid="32"/>
                                        </p:tgtEl>
                                      </p:cBhvr>
                                    </p:animEffect>
                                  </p:childTnLst>
                                </p:cTn>
                              </p:par>
                              <p:par>
                                <p:cTn id="117" presetID="42" presetClass="entr" presetSubtype="0" fill="hold" grpId="0" nodeType="withEffect">
                                  <p:stCondLst>
                                    <p:cond delay="780"/>
                                  </p:stCondLst>
                                  <p:childTnLst>
                                    <p:set>
                                      <p:cBhvr>
                                        <p:cTn id="113" dur="1" fill="hold">
                                          <p:stCondLst>
                                            <p:cond delay="0"/>
                                          </p:stCondLst>
                                        </p:cTn>
                                        <p:tgtEl>
                                          <p:spTgt spid="33"/>
                                        </p:tgtEl>
                                        <p:attrNameLst>
                                          <p:attrName>style.visibility</p:attrName>
                                        </p:attrNameLst>
                                      </p:cBhvr>
                                      <p:to>
                                        <p:strVal val="visible"/>
                                      </p:to>
                                    </p:set>
                                    <p:animEffect transition="in" filter="fade">
                                      <p:cBhvr>
                                        <p:cTn id="114" dur="640" decel="100000"/>
                                        <p:tgtEl>
                                          <p:spTgt spid="33"/>
                                        </p:tgtEl>
                                      </p:cBhvr>
                                    </p:animEffect>
                                    <p:anim calcmode="lin" valueType="num">
                                      <p:cBhvr>
                                        <p:cTn id="115" dur="800" fill="hold" decel="100000"/>
                                        <p:tgtEl>
                                          <p:spTgt spid="33"/>
                                        </p:tgtEl>
                                        <p:attrNameLst>
                                          <p:attrName>ppt_x</p:attrName>
                                        </p:attrNameLst>
                                      </p:cBhvr>
                                      <p:tavLst>
                                        <p:tav tm="0">
                                          <p:val>
                                            <p:strVal val="#ppt_x"/>
                                          </p:val>
                                        </p:tav>
                                        <p:tav tm="100000">
                                          <p:val>
                                            <p:strVal val="#ppt_x"/>
                                          </p:val>
                                        </p:tav>
                                      </p:tavLst>
                                    </p:anim>
                                    <p:anim calcmode="lin" valueType="num">
                                      <p:cBhvr>
                                        <p:cTn id="116" dur="800" fill="hold" decel="100000"/>
                                        <p:tgtEl>
                                          <p:spTgt spid="33"/>
                                        </p:tgtEl>
                                        <p:attrNameLst>
                                          <p:attrName>ppt_y</p:attrName>
                                        </p:attrNameLst>
                                      </p:cBhvr>
                                      <p:tavLst>
                                        <p:tav tm="0">
                                          <p:val>
                                            <p:strVal val="#ppt_y+0.0250"/>
                                          </p:val>
                                        </p:tav>
                                        <p:tav tm="100000">
                                          <p:val>
                                            <p:strVal val="#ppt_y"/>
                                          </p:val>
                                        </p:tav>
                                      </p:tavLst>
                                    </p:anim>
                                  </p:childTnLst>
                                </p:cTn>
                              </p:par>
                              <p:par>
                                <p:cTn id="122" presetID="53" presetClass="entr" presetSubtype="16" fill="hold" grpId="0" nodeType="withEffect">
                                  <p:stCondLst>
                                    <p:cond delay="780"/>
                                  </p:stCondLst>
                                  <p:childTnLst>
                                    <p:set>
                                      <p:cBhvr>
                                        <p:cTn id="118" dur="1" fill="hold">
                                          <p:stCondLst>
                                            <p:cond delay="0"/>
                                          </p:stCondLst>
                                        </p:cTn>
                                        <p:tgtEl>
                                          <p:spTgt spid="38"/>
                                        </p:tgtEl>
                                        <p:attrNameLst>
                                          <p:attrName>style.visibility</p:attrName>
                                        </p:attrNameLst>
                                      </p:cBhvr>
                                      <p:to>
                                        <p:strVal val="visible"/>
                                      </p:to>
                                    </p:set>
                                    <p:anim calcmode="lin" valueType="num">
                                      <p:cBhvr>
                                        <p:cTn id="119" dur="900" fill="hold" decel="100000"/>
                                        <p:tgtEl>
                                          <p:spTgt spid="38"/>
                                        </p:tgtEl>
                                        <p:attrNameLst>
                                          <p:attrName>ppt_w</p:attrName>
                                        </p:attrNameLst>
                                      </p:cBhvr>
                                      <p:tavLst>
                                        <p:tav tm="0">
                                          <p:val>
                                            <p:strVal val="#ppt_w*0.950"/>
                                          </p:val>
                                        </p:tav>
                                        <p:tav tm="100000">
                                          <p:val>
                                            <p:strVal val="#ppt_w"/>
                                          </p:val>
                                        </p:tav>
                                      </p:tavLst>
                                    </p:anim>
                                    <p:anim calcmode="lin" valueType="num">
                                      <p:cBhvr>
                                        <p:cTn id="120" dur="900" fill="hold" decel="100000"/>
                                        <p:tgtEl>
                                          <p:spTgt spid="38"/>
                                        </p:tgtEl>
                                        <p:attrNameLst>
                                          <p:attrName>ppt_h</p:attrName>
                                        </p:attrNameLst>
                                      </p:cBhvr>
                                      <p:tavLst>
                                        <p:tav tm="0">
                                          <p:val>
                                            <p:strVal val="#ppt_h*0.950"/>
                                          </p:val>
                                        </p:tav>
                                        <p:tav tm="100000">
                                          <p:val>
                                            <p:strVal val="#ppt_h"/>
                                          </p:val>
                                        </p:tav>
                                      </p:tavLst>
                                    </p:anim>
                                    <p:animEffect transition="in" filter="fade">
                                      <p:cBhvr>
                                        <p:cTn id="121" dur="630" decel="100000"/>
                                        <p:tgtEl>
                                          <p:spTgt spid="38"/>
                                        </p:tgtEl>
                                      </p:cBhvr>
                                    </p:animEffect>
                                  </p:childTnLst>
                                </p:cTn>
                              </p:par>
                              <p:par>
                                <p:cTn id="125" presetID="10" presetClass="entr" presetSubtype="0" fill="hold" grpId="0" nodeType="withEffect">
                                  <p:stCondLst>
                                    <p:cond delay="800"/>
                                  </p:stCondLst>
                                  <p:childTnLst>
                                    <p:set>
                                      <p:cBhvr>
                                        <p:cTn id="123" dur="1" fill="hold">
                                          <p:stCondLst>
                                            <p:cond delay="0"/>
                                          </p:stCondLst>
                                        </p:cTn>
                                        <p:tgtEl>
                                          <p:spTgt spid="27"/>
                                        </p:tgtEl>
                                        <p:attrNameLst>
                                          <p:attrName>style.visibility</p:attrName>
                                        </p:attrNameLst>
                                      </p:cBhvr>
                                      <p:to>
                                        <p:strVal val="visible"/>
                                      </p:to>
                                    </p:set>
                                    <p:animEffect transition="in" filter="fade">
                                      <p:cBhvr>
                                        <p:cTn id="124" dur="800" decel="100000"/>
                                        <p:tgtEl>
                                          <p:spTgt spid="27"/>
                                        </p:tgtEl>
                                      </p:cBhvr>
                                    </p:animEffect>
                                  </p:childTnLst>
                                </p:cTn>
                              </p:par>
                              <p:par>
                                <p:cTn id="129" presetID="2" presetClass="entr" presetSubtype="0" fill="hold" grpId="0" nodeType="withEffect">
                                  <p:stCondLst>
                                    <p:cond delay="840"/>
                                  </p:stCondLst>
                                  <p:childTnLst>
                                    <p:set>
                                      <p:cBhvr>
                                        <p:cTn id="126" dur="1" fill="hold">
                                          <p:stCondLst>
                                            <p:cond delay="0"/>
                                          </p:stCondLst>
                                        </p:cTn>
                                        <p:tgtEl>
                                          <p:spTgt spid="28"/>
                                        </p:tgtEl>
                                        <p:attrNameLst>
                                          <p:attrName>style.visibility</p:attrName>
                                        </p:attrNameLst>
                                      </p:cBhvr>
                                      <p:to>
                                        <p:strVal val="visible"/>
                                      </p:to>
                                    </p:set>
                                    <p:animEffect transition="in" filter="fade">
                                      <p:cBhvr>
                                        <p:cTn id="127" dur="400" decel="100000"/>
                                        <p:tgtEl>
                                          <p:spTgt spid="28"/>
                                        </p:tgtEl>
                                      </p:cBhvr>
                                    </p:animEffect>
                                    <p:animMotion origin="layout" path="M -0.0120 0.0000 L 0 0 E" pathEditMode="relative" ptsTypes="">
                                      <p:cBhvr>
                                        <p:cTn id="128" dur="800" fill="hold" decel="100000"/>
                                        <p:tgtEl>
                                          <p:spTgt spid="28"/>
                                        </p:tgtEl>
                                        <p:attrNameLst>
                                          <p:attrName>ppt_x</p:attrName>
                                          <p:attrName>ppt_y</p:attrName>
                                        </p:attrNameLst>
                                      </p:cBhvr>
                                      <p:rCtr x="0" y="0"/>
                                    </p:animMotion>
                                  </p:childTnLst>
                                </p:cTn>
                              </p:par>
                              <p:par>
                                <p:cTn id="134" presetID="42" presetClass="entr" presetSubtype="0" fill="hold" grpId="0" nodeType="withEffect">
                                  <p:stCondLst>
                                    <p:cond delay="840"/>
                                  </p:stCondLst>
                                  <p:childTnLst>
                                    <p:set>
                                      <p:cBhvr>
                                        <p:cTn id="130" dur="1" fill="hold">
                                          <p:stCondLst>
                                            <p:cond delay="0"/>
                                          </p:stCondLst>
                                        </p:cTn>
                                        <p:tgtEl>
                                          <p:spTgt spid="34"/>
                                        </p:tgtEl>
                                        <p:attrNameLst>
                                          <p:attrName>style.visibility</p:attrName>
                                        </p:attrNameLst>
                                      </p:cBhvr>
                                      <p:to>
                                        <p:strVal val="visible"/>
                                      </p:to>
                                    </p:set>
                                    <p:animEffect transition="in" filter="fade">
                                      <p:cBhvr>
                                        <p:cTn id="131" dur="640" decel="100000"/>
                                        <p:tgtEl>
                                          <p:spTgt spid="34"/>
                                        </p:tgtEl>
                                      </p:cBhvr>
                                    </p:animEffect>
                                    <p:anim calcmode="lin" valueType="num">
                                      <p:cBhvr>
                                        <p:cTn id="132" dur="800" fill="hold" decel="100000"/>
                                        <p:tgtEl>
                                          <p:spTgt spid="34"/>
                                        </p:tgtEl>
                                        <p:attrNameLst>
                                          <p:attrName>ppt_x</p:attrName>
                                        </p:attrNameLst>
                                      </p:cBhvr>
                                      <p:tavLst>
                                        <p:tav tm="0">
                                          <p:val>
                                            <p:strVal val="#ppt_x"/>
                                          </p:val>
                                        </p:tav>
                                        <p:tav tm="100000">
                                          <p:val>
                                            <p:strVal val="#ppt_x"/>
                                          </p:val>
                                        </p:tav>
                                      </p:tavLst>
                                    </p:anim>
                                    <p:anim calcmode="lin" valueType="num">
                                      <p:cBhvr>
                                        <p:cTn id="133" dur="800" fill="hold" decel="100000"/>
                                        <p:tgtEl>
                                          <p:spTgt spid="34"/>
                                        </p:tgtEl>
                                        <p:attrNameLst>
                                          <p:attrName>ppt_y</p:attrName>
                                        </p:attrNameLst>
                                      </p:cBhvr>
                                      <p:tavLst>
                                        <p:tav tm="0">
                                          <p:val>
                                            <p:strVal val="#ppt_y+0.0250"/>
                                          </p:val>
                                        </p:tav>
                                        <p:tav tm="100000">
                                          <p:val>
                                            <p:strVal val="#ppt_y"/>
                                          </p:val>
                                        </p:tav>
                                      </p:tavLst>
                                    </p:anim>
                                  </p:childTnLst>
                                </p:cTn>
                              </p:par>
                              <p:par>
                                <p:cTn id="139" presetID="53" presetClass="entr" presetSubtype="16" fill="hold" grpId="0" nodeType="withEffect">
                                  <p:stCondLst>
                                    <p:cond delay="840"/>
                                  </p:stCondLst>
                                  <p:childTnLst>
                                    <p:set>
                                      <p:cBhvr>
                                        <p:cTn id="135" dur="1" fill="hold">
                                          <p:stCondLst>
                                            <p:cond delay="0"/>
                                          </p:stCondLst>
                                        </p:cTn>
                                        <p:tgtEl>
                                          <p:spTgt spid="39"/>
                                        </p:tgtEl>
                                        <p:attrNameLst>
                                          <p:attrName>style.visibility</p:attrName>
                                        </p:attrNameLst>
                                      </p:cBhvr>
                                      <p:to>
                                        <p:strVal val="visible"/>
                                      </p:to>
                                    </p:set>
                                    <p:anim calcmode="lin" valueType="num">
                                      <p:cBhvr>
                                        <p:cTn id="136" dur="900" fill="hold" decel="100000"/>
                                        <p:tgtEl>
                                          <p:spTgt spid="39"/>
                                        </p:tgtEl>
                                        <p:attrNameLst>
                                          <p:attrName>ppt_w</p:attrName>
                                        </p:attrNameLst>
                                      </p:cBhvr>
                                      <p:tavLst>
                                        <p:tav tm="0">
                                          <p:val>
                                            <p:strVal val="#ppt_w*0.800"/>
                                          </p:val>
                                        </p:tav>
                                        <p:tav tm="100000">
                                          <p:val>
                                            <p:strVal val="#ppt_w"/>
                                          </p:val>
                                        </p:tav>
                                      </p:tavLst>
                                    </p:anim>
                                    <p:anim calcmode="lin" valueType="num">
                                      <p:cBhvr>
                                        <p:cTn id="137" dur="900" fill="hold" decel="100000"/>
                                        <p:tgtEl>
                                          <p:spTgt spid="39"/>
                                        </p:tgtEl>
                                        <p:attrNameLst>
                                          <p:attrName>ppt_h</p:attrName>
                                        </p:attrNameLst>
                                      </p:cBhvr>
                                      <p:tavLst>
                                        <p:tav tm="0">
                                          <p:val>
                                            <p:strVal val="#ppt_h*0.800"/>
                                          </p:val>
                                        </p:tav>
                                        <p:tav tm="100000">
                                          <p:val>
                                            <p:strVal val="#ppt_h"/>
                                          </p:val>
                                        </p:tav>
                                      </p:tavLst>
                                    </p:anim>
                                    <p:animEffect transition="in" filter="fade">
                                      <p:cBhvr>
                                        <p:cTn id="138" dur="630" decel="100000"/>
                                        <p:tgtEl>
                                          <p:spTgt spid="39"/>
                                        </p:tgtEl>
                                      </p:cBhvr>
                                    </p:animEffect>
                                  </p:childTnLst>
                                </p:cTn>
                              </p:par>
                              <p:par>
                                <p:cTn id="144" presetID="53" presetClass="entr" presetSubtype="16" fill="hold" grpId="0" nodeType="withEffect">
                                  <p:stCondLst>
                                    <p:cond delay="840"/>
                                  </p:stCondLst>
                                  <p:childTnLst>
                                    <p:set>
                                      <p:cBhvr>
                                        <p:cTn id="140" dur="1" fill="hold">
                                          <p:stCondLst>
                                            <p:cond delay="0"/>
                                          </p:stCondLst>
                                        </p:cTn>
                                        <p:tgtEl>
                                          <p:spTgt spid="40"/>
                                        </p:tgtEl>
                                        <p:attrNameLst>
                                          <p:attrName>style.visibility</p:attrName>
                                        </p:attrNameLst>
                                      </p:cBhvr>
                                      <p:to>
                                        <p:strVal val="visible"/>
                                      </p:to>
                                    </p:set>
                                    <p:anim calcmode="lin" valueType="num">
                                      <p:cBhvr>
                                        <p:cTn id="141" dur="900" fill="hold" decel="100000"/>
                                        <p:tgtEl>
                                          <p:spTgt spid="40"/>
                                        </p:tgtEl>
                                        <p:attrNameLst>
                                          <p:attrName>ppt_w</p:attrName>
                                        </p:attrNameLst>
                                      </p:cBhvr>
                                      <p:tavLst>
                                        <p:tav tm="0">
                                          <p:val>
                                            <p:strVal val="#ppt_w*0.800"/>
                                          </p:val>
                                        </p:tav>
                                        <p:tav tm="100000">
                                          <p:val>
                                            <p:strVal val="#ppt_w"/>
                                          </p:val>
                                        </p:tav>
                                      </p:tavLst>
                                    </p:anim>
                                    <p:anim calcmode="lin" valueType="num">
                                      <p:cBhvr>
                                        <p:cTn id="142" dur="900" fill="hold" decel="100000"/>
                                        <p:tgtEl>
                                          <p:spTgt spid="40"/>
                                        </p:tgtEl>
                                        <p:attrNameLst>
                                          <p:attrName>ppt_h</p:attrName>
                                        </p:attrNameLst>
                                      </p:cBhvr>
                                      <p:tavLst>
                                        <p:tav tm="0">
                                          <p:val>
                                            <p:strVal val="#ppt_h*0.800"/>
                                          </p:val>
                                        </p:tav>
                                        <p:tav tm="100000">
                                          <p:val>
                                            <p:strVal val="#ppt_h"/>
                                          </p:val>
                                        </p:tav>
                                      </p:tavLst>
                                    </p:anim>
                                    <p:animEffect transition="in" filter="fade">
                                      <p:cBhvr>
                                        <p:cTn id="143" dur="630" decel="100000"/>
                                        <p:tgtEl>
                                          <p:spTgt spid="40"/>
                                        </p:tgtEl>
                                      </p:cBhvr>
                                    </p:animEffect>
                                  </p:childTnLst>
                                </p:cTn>
                              </p:par>
                              <p:par>
                                <p:cTn id="149" presetID="42" presetClass="entr" presetSubtype="0" fill="hold" grpId="0" nodeType="withEffect">
                                  <p:stCondLst>
                                    <p:cond delay="900"/>
                                  </p:stCondLst>
                                  <p:childTnLst>
                                    <p:set>
                                      <p:cBhvr>
                                        <p:cTn id="145" dur="1" fill="hold">
                                          <p:stCondLst>
                                            <p:cond delay="0"/>
                                          </p:stCondLst>
                                        </p:cTn>
                                        <p:tgtEl>
                                          <p:spTgt spid="41"/>
                                        </p:tgtEl>
                                        <p:attrNameLst>
                                          <p:attrName>style.visibility</p:attrName>
                                        </p:attrNameLst>
                                      </p:cBhvr>
                                      <p:to>
                                        <p:strVal val="visible"/>
                                      </p:to>
                                    </p:set>
                                    <p:animEffect transition="in" filter="fade">
                                      <p:cBhvr>
                                        <p:cTn id="146" dur="640" decel="100000"/>
                                        <p:tgtEl>
                                          <p:spTgt spid="41"/>
                                        </p:tgtEl>
                                      </p:cBhvr>
                                    </p:animEffect>
                                    <p:anim calcmode="lin" valueType="num">
                                      <p:cBhvr>
                                        <p:cTn id="147" dur="800" fill="hold" decel="100000"/>
                                        <p:tgtEl>
                                          <p:spTgt spid="41"/>
                                        </p:tgtEl>
                                        <p:attrNameLst>
                                          <p:attrName>ppt_x</p:attrName>
                                        </p:attrNameLst>
                                      </p:cBhvr>
                                      <p:tavLst>
                                        <p:tav tm="0">
                                          <p:val>
                                            <p:strVal val="#ppt_x"/>
                                          </p:val>
                                        </p:tav>
                                        <p:tav tm="100000">
                                          <p:val>
                                            <p:strVal val="#ppt_x"/>
                                          </p:val>
                                        </p:tav>
                                      </p:tavLst>
                                    </p:anim>
                                    <p:anim calcmode="lin" valueType="num">
                                      <p:cBhvr>
                                        <p:cTn id="148" dur="800" fill="hold" decel="100000"/>
                                        <p:tgtEl>
                                          <p:spTgt spid="41"/>
                                        </p:tgtEl>
                                        <p:attrNameLst>
                                          <p:attrName>ppt_y</p:attrName>
                                        </p:attrNameLst>
                                      </p:cBhvr>
                                      <p:tavLst>
                                        <p:tav tm="0">
                                          <p:val>
                                            <p:strVal val="#ppt_y+0.0250"/>
                                          </p:val>
                                        </p:tav>
                                        <p:tav tm="100000">
                                          <p:val>
                                            <p:strVal val="#ppt_y"/>
                                          </p:val>
                                        </p:tav>
                                      </p:tavLst>
                                    </p:anim>
                                  </p:childTnLst>
                                </p:cTn>
                              </p:par>
                              <p:par>
                                <p:cTn id="152" presetID="10" presetClass="entr" presetSubtype="0" fill="hold" grpId="0" nodeType="withEffect">
                                  <p:stCondLst>
                                    <p:cond delay="920"/>
                                  </p:stCondLst>
                                  <p:childTnLst>
                                    <p:set>
                                      <p:cBhvr>
                                        <p:cTn id="150" dur="1" fill="hold">
                                          <p:stCondLst>
                                            <p:cond delay="0"/>
                                          </p:stCondLst>
                                        </p:cTn>
                                        <p:tgtEl>
                                          <p:spTgt spid="35"/>
                                        </p:tgtEl>
                                        <p:attrNameLst>
                                          <p:attrName>style.visibility</p:attrName>
                                        </p:attrNameLst>
                                      </p:cBhvr>
                                      <p:to>
                                        <p:strVal val="visible"/>
                                      </p:to>
                                    </p:set>
                                    <p:animEffect transition="in" filter="fade">
                                      <p:cBhvr>
                                        <p:cTn id="151" dur="800" decel="100000"/>
                                        <p:tgtEl>
                                          <p:spTgt spid="35"/>
                                        </p:tgtEl>
                                      </p:cBhvr>
                                    </p:animEffect>
                                  </p:childTnLst>
                                </p:cTn>
                              </p:par>
                              <p:par>
                                <p:cTn id="156" presetID="2" presetClass="entr" presetSubtype="0" fill="hold" grpId="0" nodeType="withEffect">
                                  <p:stCondLst>
                                    <p:cond delay="960"/>
                                  </p:stCondLst>
                                  <p:childTnLst>
                                    <p:set>
                                      <p:cBhvr>
                                        <p:cTn id="153" dur="1" fill="hold">
                                          <p:stCondLst>
                                            <p:cond delay="0"/>
                                          </p:stCondLst>
                                        </p:cTn>
                                        <p:tgtEl>
                                          <p:spTgt spid="36"/>
                                        </p:tgtEl>
                                        <p:attrNameLst>
                                          <p:attrName>style.visibility</p:attrName>
                                        </p:attrNameLst>
                                      </p:cBhvr>
                                      <p:to>
                                        <p:strVal val="visible"/>
                                      </p:to>
                                    </p:set>
                                    <p:animEffect transition="in" filter="fade">
                                      <p:cBhvr>
                                        <p:cTn id="154" dur="400" decel="100000"/>
                                        <p:tgtEl>
                                          <p:spTgt spid="36"/>
                                        </p:tgtEl>
                                      </p:cBhvr>
                                    </p:animEffect>
                                    <p:animMotion origin="layout" path="M -0.0120 0.0000 L 0 0 E" pathEditMode="relative" ptsTypes="">
                                      <p:cBhvr>
                                        <p:cTn id="155" dur="800" fill="hold" decel="100000"/>
                                        <p:tgtEl>
                                          <p:spTgt spid="36"/>
                                        </p:tgtEl>
                                        <p:attrNameLst>
                                          <p:attrName>ppt_x</p:attrName>
                                          <p:attrName>ppt_y</p:attrName>
                                        </p:attrNameLst>
                                      </p:cBhvr>
                                      <p:rCtr x="0" y="0"/>
                                    </p:animMotion>
                                  </p:childTnLst>
                                </p:cTn>
                              </p:par>
                              <p:par>
                                <p:cTn id="161" presetID="42" presetClass="entr" presetSubtype="0" fill="hold" grpId="0" nodeType="withEffect">
                                  <p:stCondLst>
                                    <p:cond delay="960"/>
                                  </p:stCondLst>
                                  <p:childTnLst>
                                    <p:set>
                                      <p:cBhvr>
                                        <p:cTn id="157" dur="1" fill="hold">
                                          <p:stCondLst>
                                            <p:cond delay="0"/>
                                          </p:stCondLst>
                                        </p:cTn>
                                        <p:tgtEl>
                                          <p:spTgt spid="42"/>
                                        </p:tgtEl>
                                        <p:attrNameLst>
                                          <p:attrName>style.visibility</p:attrName>
                                        </p:attrNameLst>
                                      </p:cBhvr>
                                      <p:to>
                                        <p:strVal val="visible"/>
                                      </p:to>
                                    </p:set>
                                    <p:animEffect transition="in" filter="fade">
                                      <p:cBhvr>
                                        <p:cTn id="158" dur="640" decel="100000"/>
                                        <p:tgtEl>
                                          <p:spTgt spid="42"/>
                                        </p:tgtEl>
                                      </p:cBhvr>
                                    </p:animEffect>
                                    <p:anim calcmode="lin" valueType="num">
                                      <p:cBhvr>
                                        <p:cTn id="159" dur="800" fill="hold" decel="100000"/>
                                        <p:tgtEl>
                                          <p:spTgt spid="42"/>
                                        </p:tgtEl>
                                        <p:attrNameLst>
                                          <p:attrName>ppt_x</p:attrName>
                                        </p:attrNameLst>
                                      </p:cBhvr>
                                      <p:tavLst>
                                        <p:tav tm="0">
                                          <p:val>
                                            <p:strVal val="#ppt_x"/>
                                          </p:val>
                                        </p:tav>
                                        <p:tav tm="100000">
                                          <p:val>
                                            <p:strVal val="#ppt_x"/>
                                          </p:val>
                                        </p:tav>
                                      </p:tavLst>
                                    </p:anim>
                                    <p:anim calcmode="lin" valueType="num">
                                      <p:cBhvr>
                                        <p:cTn id="160" dur="800" fill="hold" decel="100000"/>
                                        <p:tgtEl>
                                          <p:spTgt spid="42"/>
                                        </p:tgtEl>
                                        <p:attrNameLst>
                                          <p:attrName>ppt_y</p:attrName>
                                        </p:attrNameLst>
                                      </p:cBhvr>
                                      <p:tavLst>
                                        <p:tav tm="0">
                                          <p:val>
                                            <p:strVal val="#ppt_y+0.0250"/>
                                          </p:val>
                                        </p:tav>
                                        <p:tav tm="100000">
                                          <p:val>
                                            <p:strVal val="#ppt_y"/>
                                          </p:val>
                                        </p:tav>
                                      </p:tavLst>
                                    </p:anim>
                                  </p:childTnLst>
                                </p:cTn>
                              </p:par>
                              <p:par>
                                <p:cTn id="164" presetID="10" presetClass="entr" presetSubtype="0" fill="hold" grpId="0" nodeType="withEffect">
                                  <p:stCondLst>
                                    <p:cond delay="1040"/>
                                  </p:stCondLst>
                                  <p:childTnLst>
                                    <p:set>
                                      <p:cBhvr>
                                        <p:cTn id="162" dur="1" fill="hold">
                                          <p:stCondLst>
                                            <p:cond delay="0"/>
                                          </p:stCondLst>
                                        </p:cTn>
                                        <p:tgtEl>
                                          <p:spTgt spid="43"/>
                                        </p:tgtEl>
                                        <p:attrNameLst>
                                          <p:attrName>style.visibility</p:attrName>
                                        </p:attrNameLst>
                                      </p:cBhvr>
                                      <p:to>
                                        <p:strVal val="visible"/>
                                      </p:to>
                                    </p:set>
                                    <p:animEffect transition="in" filter="fade">
                                      <p:cBhvr>
                                        <p:cTn id="163" dur="800" decel="100000"/>
                                        <p:tgtEl>
                                          <p:spTgt spid="43"/>
                                        </p:tgtEl>
                                      </p:cBhvr>
                                    </p:animEffect>
                                  </p:childTnLst>
                                </p:cTn>
                              </p:par>
                              <p:par>
                                <p:cTn id="168" presetID="2" presetClass="entr" presetSubtype="0" fill="hold" grpId="0" nodeType="withEffect">
                                  <p:stCondLst>
                                    <p:cond delay="1080"/>
                                  </p:stCondLst>
                                  <p:childTnLst>
                                    <p:set>
                                      <p:cBhvr>
                                        <p:cTn id="165" dur="1" fill="hold">
                                          <p:stCondLst>
                                            <p:cond delay="0"/>
                                          </p:stCondLst>
                                        </p:cTn>
                                        <p:tgtEl>
                                          <p:spTgt spid="44"/>
                                        </p:tgtEl>
                                        <p:attrNameLst>
                                          <p:attrName>style.visibility</p:attrName>
                                        </p:attrNameLst>
                                      </p:cBhvr>
                                      <p:to>
                                        <p:strVal val="visible"/>
                                      </p:to>
                                    </p:set>
                                    <p:animEffect transition="in" filter="fade">
                                      <p:cBhvr>
                                        <p:cTn id="166" dur="400" decel="100000"/>
                                        <p:tgtEl>
                                          <p:spTgt spid="44"/>
                                        </p:tgtEl>
                                      </p:cBhvr>
                                    </p:animEffect>
                                    <p:animMotion origin="layout" path="M -0.0120 0.0000 L 0 0 E" pathEditMode="relative" ptsTypes="">
                                      <p:cBhvr>
                                        <p:cTn id="167" dur="800" fill="hold" decel="100000"/>
                                        <p:tgtEl>
                                          <p:spTgt spid="44"/>
                                        </p:tgtEl>
                                        <p:attrNameLst>
                                          <p:attrName>ppt_x</p:attrName>
                                          <p:attrName>ppt_y</p:attrName>
                                        </p:attrNameLst>
                                      </p:cBhvr>
                                      <p:rCtr x="0" y="0"/>
                                    </p:animMotion>
                                  </p:childTnLst>
                                </p:cTn>
                              </p:par>
                              <p:par>
                                <p:cTn id="171" presetID="10" presetClass="entr" presetSubtype="0" fill="hold" grpId="0" nodeType="withEffect">
                                  <p:stCondLst>
                                    <p:cond delay="1300"/>
                                  </p:stCondLst>
                                  <p:childTnLst>
                                    <p:set>
                                      <p:cBhvr>
                                        <p:cTn id="169" dur="1" fill="hold">
                                          <p:stCondLst>
                                            <p:cond delay="0"/>
                                          </p:stCondLst>
                                        </p:cTn>
                                        <p:tgtEl>
                                          <p:spTgt spid="46"/>
                                        </p:tgtEl>
                                        <p:attrNameLst>
                                          <p:attrName>style.visibility</p:attrName>
                                        </p:attrNameLst>
                                      </p:cBhvr>
                                      <p:to>
                                        <p:strVal val="visible"/>
                                      </p:to>
                                    </p:set>
                                    <p:animEffect transition="in" filter="fade">
                                      <p:cBhvr>
                                        <p:cTn id="170" dur="900" decel="1000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4" grpId="0" animBg="1"/>
      <p:bldP spid="10" grpId="0" animBg="1"/>
      <p:bldP spid="15" grpId="0" animBg="1"/>
      <p:bldP spid="17" grpId="0" animBg="1"/>
      <p:bldP spid="22" grpId="0" animBg="1"/>
      <p:bldP spid="11" grpId="0" animBg="1"/>
      <p:bldP spid="18" grpId="0" animBg="1"/>
      <p:bldP spid="23" grpId="0" animBg="1"/>
      <p:bldP spid="25" grpId="0" animBg="1"/>
      <p:bldP spid="30" grpId="0" animBg="1"/>
      <p:bldP spid="19" grpId="0" animBg="1"/>
      <p:bldP spid="26" grpId="0" animBg="1"/>
      <p:bldP spid="31" grpId="0" animBg="1"/>
      <p:bldP spid="33" grpId="0" animBg="1"/>
      <p:bldP spid="38" grpId="0" animBg="1"/>
      <p:bldP spid="27" grpId="0" animBg="1"/>
      <p:bldP spid="34" grpId="0" animBg="1"/>
      <p:bldP spid="39" grpId="0" animBg="1"/>
      <p:bldP spid="41" grpId="0" animBg="1"/>
      <p:bldP spid="35" grpId="0" animBg="1"/>
      <p:bldP spid="42" grpId="0" animBg="1"/>
      <p:bldP spid="43" grpId="0" animBg="1"/>
      <p:bldP spid="46" grpId="0" animBg="1"/>
    </p:bldLst>
  </p:timing>
</p:sld>
</file>

<file path=ppt/slides/slide3.xml><?xml version="1.0" encoding="utf-8"?>
<p:sld xmlns:p14="http://schemas.microsoft.com/office/powerpoint/2010/main"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orbA" descr="Decorative background light">    </p:cNvPr>
          <p:cNvPicPr>
            <a:picLocks noChangeAspect="1"/>
          </p:cNvPicPr>
          <p:nvPr/>
        </p:nvPicPr>
        <p:blipFill>
          <a:blip r:embed="rId1"/>
          <a:stretch>
            <a:fillRect/>
          </a:stretch>
        </p:blipFill>
        <p:spPr>
          <a:xfrm>
            <a:off x="-2057400" y="2514600"/>
            <a:ext cx="7772400" cy="7772400"/>
          </a:xfrm>
          <a:prstGeom prst="rect">
            <a:avLst/>
          </a:prstGeom>
        </p:spPr>
      </p:pic>
      <p:pic>
        <p:nvPicPr>
          <p:cNvPr id="3" name="!!orbB" descr="Decorative background light">    </p:cNvPr>
          <p:cNvPicPr>
            <a:picLocks noChangeAspect="1"/>
          </p:cNvPicPr>
          <p:nvPr/>
        </p:nvPicPr>
        <p:blipFill>
          <a:blip r:embed="rId2"/>
          <a:stretch>
            <a:fillRect/>
          </a:stretch>
        </p:blipFill>
        <p:spPr>
          <a:xfrm>
            <a:off x="8412480" y="-1920240"/>
            <a:ext cx="5486400" cy="5486400"/>
          </a:xfrm>
          <a:prstGeom prst="rect">
            <a:avLst/>
          </a:prstGeom>
        </p:spPr>
      </p:pic>
      <p:sp>
        <p:nvSpPr>
          <p:cNvPr id="4" name="!!kicker"/>
          <p:cNvSpPr/>
          <p:nvPr>
            <p:ph idx="100" type="body" hasCustomPrompt="1"/>
          </p:nvPr>
        </p:nvSpPr>
        <p:spPr>
          <a:xfrm>
            <a:off x="548640" y="384048"/>
            <a:ext cx="8732520" cy="329184"/>
          </a:xfrm>
          <a:prstGeom prst="rect">
            <a:avLst/>
          </a:prstGeom>
          <a:noFill/>
          <a:ln/>
        </p:spPr>
        <p:txBody>
          <a:bodyPr wrap="square" lIns="0" tIns="0" rIns="0" bIns="0" rtlCol="0" anchor="t"/>
          <a:lstStyle/>
          <a:p>
            <a:pPr algn="l" indent="0" marL="0">
              <a:buNone/>
            </a:pPr>
            <a:r>
              <a:rPr lang="en-US" sz="1500" b="1" spc="300" kern="0" dirty="0">
                <a:solidFill>
                  <a:schemeClr val="accent1"/>
                </a:solidFill>
              </a:rPr>
              <a:t>AT A GLANCE</a:t>
            </a:r>
            <a:endParaRPr lang="en-US" sz="1500" dirty="0"/>
          </a:p>
        </p:txBody>
      </p:sp>
      <p:sp>
        <p:nvSpPr>
          <p:cNvPr id="5" name="!!title"/>
          <p:cNvSpPr/>
          <p:nvPr>
            <p:ph idx="101" type="title" hasCustomPrompt="1"/>
          </p:nvPr>
        </p:nvSpPr>
        <p:spPr>
          <a:xfrm>
            <a:off x="548640" y="731520"/>
            <a:ext cx="8732520" cy="786384"/>
          </a:xfrm>
          <a:prstGeom prst="rect">
            <a:avLst/>
          </a:prstGeom>
          <a:noFill/>
          <a:ln/>
        </p:spPr>
        <p:txBody>
          <a:bodyPr wrap="square" lIns="0" tIns="0" rIns="0" bIns="0" rtlCol="0" anchor="t"/>
          <a:lstStyle/>
          <a:p>
            <a:pPr algn="l" indent="0" marL="0">
              <a:buNone/>
            </a:pPr>
            <a:r>
              <a:rPr lang="en-US" sz="3800" b="1" dirty="0">
                <a:solidFill>
                  <a:schemeClr val="tx1"/>
                </a:solidFill>
              </a:rPr>
              <a:t>A small country with a giant reservoir</a:t>
            </a:r>
            <a:endParaRPr lang="en-US" sz="3800" dirty="0"/>
          </a:p>
        </p:txBody>
      </p:sp>
      <p:pic>
        <p:nvPicPr>
          <p:cNvPr id="6" name="glance_i_1" descr="Decorative graphic">    </p:cNvPr>
          <p:cNvPicPr>
            <a:picLocks noChangeAspect="1"/>
          </p:cNvPicPr>
          <p:nvPr/>
        </p:nvPicPr>
        <p:blipFill>
          <a:blip r:embed="rId3"/>
          <a:stretch>
            <a:fillRect/>
          </a:stretch>
        </p:blipFill>
        <p:spPr>
          <a:xfrm>
            <a:off x="548640" y="2103120"/>
            <a:ext cx="502920" cy="502920"/>
          </a:xfrm>
          <a:prstGeom prst="rect">
            <a:avLst/>
          </a:prstGeom>
        </p:spPr>
      </p:pic>
      <p:sp>
        <p:nvSpPr>
          <p:cNvPr id="7" name="glance_t_2"/>
          <p:cNvSpPr txBox="1"/>
          <p:nvPr/>
        </p:nvSpPr>
        <p:spPr>
          <a:xfrm>
            <a:off x="548640" y="2697480"/>
            <a:ext cx="2533574" cy="1005840"/>
          </a:xfrm>
          <a:prstGeom prst="rect">
            <a:avLst/>
          </a:prstGeom>
          <a:noFill/>
          <a:ln/>
        </p:spPr>
        <p:txBody>
          <a:bodyPr wrap="square" lIns="0" tIns="0" rIns="0" bIns="0" rtlCol="0" anchor="t"/>
          <a:lstStyle/>
          <a:p>
            <a:pPr indent="0" marL="0">
              <a:buNone/>
            </a:pPr>
            <a:r>
              <a:rPr lang="en-US" sz="6600" b="1" dirty="0">
                <a:solidFill>
                  <a:schemeClr val="accent1"/>
                </a:solidFill>
                <a:latin typeface="Arial" pitchFamily="34" charset="0"/>
                <a:ea typeface="Arial" pitchFamily="34" charset="-122"/>
                <a:cs typeface="Arial" pitchFamily="34" charset="-120"/>
              </a:rPr>
              <a:t>101.5</a:t>
            </a:r>
            <a:endParaRPr lang="en-US" sz="6600" dirty="0"/>
          </a:p>
        </p:txBody>
      </p:sp>
      <p:sp>
        <p:nvSpPr>
          <p:cNvPr id="8" name="glance_t_3"/>
          <p:cNvSpPr txBox="1"/>
          <p:nvPr/>
        </p:nvSpPr>
        <p:spPr>
          <a:xfrm>
            <a:off x="548640" y="3703320"/>
            <a:ext cx="2533574" cy="411480"/>
          </a:xfrm>
          <a:prstGeom prst="rect">
            <a:avLst/>
          </a:prstGeom>
          <a:noFill/>
          <a:ln/>
        </p:spPr>
        <p:txBody>
          <a:bodyPr wrap="square" lIns="0" tIns="0" rIns="0" bIns="0" rtlCol="0" anchor="t"/>
          <a:lstStyle/>
          <a:p>
            <a:pPr indent="0" marL="0">
              <a:buNone/>
            </a:pPr>
            <a:r>
              <a:rPr lang="en-US" sz="2200" b="1" dirty="0">
                <a:solidFill>
                  <a:schemeClr val="tx1"/>
                </a:solidFill>
                <a:latin typeface="Arial" pitchFamily="34" charset="0"/>
                <a:ea typeface="Arial" pitchFamily="34" charset="-122"/>
                <a:cs typeface="Arial" pitchFamily="34" charset="-120"/>
              </a:rPr>
              <a:t>billion barrels</a:t>
            </a:r>
            <a:endParaRPr lang="en-US" sz="2200" dirty="0"/>
          </a:p>
        </p:txBody>
      </p:sp>
      <p:sp>
        <p:nvSpPr>
          <p:cNvPr id="9" name="glance_t_4"/>
          <p:cNvSpPr txBox="1"/>
          <p:nvPr/>
        </p:nvSpPr>
        <p:spPr>
          <a:xfrm>
            <a:off x="548640" y="4160520"/>
            <a:ext cx="2442134" cy="914400"/>
          </a:xfrm>
          <a:prstGeom prst="rect">
            <a:avLst/>
          </a:prstGeom>
          <a:noFill/>
          <a:ln/>
        </p:spPr>
        <p:txBody>
          <a:bodyPr wrap="square" lIns="0" tIns="0" rIns="0" bIns="0" rtlCol="0" anchor="t"/>
          <a:lstStyle/>
          <a:p>
            <a:pPr indent="0" marL="0">
              <a:buNone/>
            </a:pPr>
            <a:r>
              <a:rPr lang="en-US" sz="1600" dirty="0">
                <a:solidFill>
                  <a:schemeClr val="tx2"/>
                </a:solidFill>
                <a:latin typeface="Arial" pitchFamily="34" charset="0"/>
                <a:ea typeface="Arial" pitchFamily="34" charset="-122"/>
                <a:cs typeface="Arial" pitchFamily="34" charset="-120"/>
              </a:rPr>
              <a:t>proven crude oil reserves, about 6.5% of world total</a:t>
            </a:r>
            <a:endParaRPr lang="en-US" sz="1600" dirty="0"/>
          </a:p>
        </p:txBody>
      </p:sp>
      <p:pic>
        <p:nvPicPr>
          <p:cNvPr id="10" name="glance_i_5" descr="Decorative graphic">    </p:cNvPr>
          <p:cNvPicPr>
            <a:picLocks noChangeAspect="1"/>
          </p:cNvPicPr>
          <p:nvPr/>
        </p:nvPicPr>
        <p:blipFill>
          <a:blip r:embed="rId4"/>
          <a:stretch>
            <a:fillRect/>
          </a:stretch>
        </p:blipFill>
        <p:spPr>
          <a:xfrm>
            <a:off x="3402254" y="2103120"/>
            <a:ext cx="502920" cy="502920"/>
          </a:xfrm>
          <a:prstGeom prst="rect">
            <a:avLst/>
          </a:prstGeom>
        </p:spPr>
      </p:pic>
      <p:sp>
        <p:nvSpPr>
          <p:cNvPr id="11" name="glance_t_6"/>
          <p:cNvSpPr txBox="1"/>
          <p:nvPr/>
        </p:nvSpPr>
        <p:spPr>
          <a:xfrm>
            <a:off x="3402254" y="2697480"/>
            <a:ext cx="2533574" cy="1005840"/>
          </a:xfrm>
          <a:prstGeom prst="rect">
            <a:avLst/>
          </a:prstGeom>
          <a:noFill/>
          <a:ln/>
        </p:spPr>
        <p:txBody>
          <a:bodyPr wrap="square" lIns="0" tIns="0" rIns="0" bIns="0" rtlCol="0" anchor="t"/>
          <a:lstStyle/>
          <a:p>
            <a:pPr indent="0" marL="0">
              <a:buNone/>
            </a:pPr>
            <a:r>
              <a:rPr lang="en-US" sz="6600" b="1" dirty="0">
                <a:solidFill>
                  <a:schemeClr val="tx1"/>
                </a:solidFill>
                <a:latin typeface="Arial" pitchFamily="34" charset="0"/>
                <a:ea typeface="Arial" pitchFamily="34" charset="-122"/>
                <a:cs typeface="Arial" pitchFamily="34" charset="-120"/>
              </a:rPr>
              <a:t>2.4</a:t>
            </a:r>
            <a:endParaRPr lang="en-US" sz="6600" dirty="0"/>
          </a:p>
        </p:txBody>
      </p:sp>
      <p:sp>
        <p:nvSpPr>
          <p:cNvPr id="12" name="glance_t_7"/>
          <p:cNvSpPr txBox="1"/>
          <p:nvPr/>
        </p:nvSpPr>
        <p:spPr>
          <a:xfrm>
            <a:off x="3402254" y="3703320"/>
            <a:ext cx="2533574" cy="411480"/>
          </a:xfrm>
          <a:prstGeom prst="rect">
            <a:avLst/>
          </a:prstGeom>
          <a:noFill/>
          <a:ln/>
        </p:spPr>
        <p:txBody>
          <a:bodyPr wrap="square" lIns="0" tIns="0" rIns="0" bIns="0" rtlCol="0" anchor="t"/>
          <a:lstStyle/>
          <a:p>
            <a:pPr indent="0" marL="0">
              <a:buNone/>
            </a:pPr>
            <a:r>
              <a:rPr lang="en-US" sz="2200" b="1" dirty="0">
                <a:solidFill>
                  <a:schemeClr val="tx1"/>
                </a:solidFill>
                <a:latin typeface="Arial" pitchFamily="34" charset="0"/>
                <a:ea typeface="Arial" pitchFamily="34" charset="-122"/>
                <a:cs typeface="Arial" pitchFamily="34" charset="-120"/>
              </a:rPr>
              <a:t>million b/d</a:t>
            </a:r>
            <a:endParaRPr lang="en-US" sz="2200" dirty="0"/>
          </a:p>
        </p:txBody>
      </p:sp>
      <p:sp>
        <p:nvSpPr>
          <p:cNvPr id="13" name="glance_t_8"/>
          <p:cNvSpPr txBox="1"/>
          <p:nvPr/>
        </p:nvSpPr>
        <p:spPr>
          <a:xfrm>
            <a:off x="3402254" y="4160520"/>
            <a:ext cx="2442134" cy="914400"/>
          </a:xfrm>
          <a:prstGeom prst="rect">
            <a:avLst/>
          </a:prstGeom>
          <a:noFill/>
          <a:ln/>
        </p:spPr>
        <p:txBody>
          <a:bodyPr wrap="square" lIns="0" tIns="0" rIns="0" bIns="0" rtlCol="0" anchor="t"/>
          <a:lstStyle/>
          <a:p>
            <a:pPr indent="0" marL="0">
              <a:buNone/>
            </a:pPr>
            <a:r>
              <a:rPr lang="en-US" sz="1600" dirty="0">
                <a:solidFill>
                  <a:schemeClr val="tx2"/>
                </a:solidFill>
                <a:latin typeface="Arial" pitchFamily="34" charset="0"/>
                <a:ea typeface="Arial" pitchFamily="34" charset="-122"/>
                <a:cs typeface="Arial" pitchFamily="34" charset="-120"/>
              </a:rPr>
              <a:t>crude oil output in 2024, under OPEC+ cuts</a:t>
            </a:r>
            <a:endParaRPr lang="en-US" sz="1600" dirty="0"/>
          </a:p>
        </p:txBody>
      </p:sp>
      <p:pic>
        <p:nvPicPr>
          <p:cNvPr id="14" name="glance_i_9" descr="Decorative graphic">    </p:cNvPr>
          <p:cNvPicPr>
            <a:picLocks noChangeAspect="1"/>
          </p:cNvPicPr>
          <p:nvPr/>
        </p:nvPicPr>
        <p:blipFill>
          <a:blip r:embed="rId5"/>
          <a:stretch>
            <a:fillRect/>
          </a:stretch>
        </p:blipFill>
        <p:spPr>
          <a:xfrm>
            <a:off x="6255868" y="2103120"/>
            <a:ext cx="502920" cy="502920"/>
          </a:xfrm>
          <a:prstGeom prst="rect">
            <a:avLst/>
          </a:prstGeom>
        </p:spPr>
      </p:pic>
      <p:sp>
        <p:nvSpPr>
          <p:cNvPr id="15" name="glance_t_10"/>
          <p:cNvSpPr txBox="1"/>
          <p:nvPr/>
        </p:nvSpPr>
        <p:spPr>
          <a:xfrm>
            <a:off x="6255868" y="2697480"/>
            <a:ext cx="2533574" cy="1005840"/>
          </a:xfrm>
          <a:prstGeom prst="rect">
            <a:avLst/>
          </a:prstGeom>
          <a:noFill/>
          <a:ln/>
        </p:spPr>
        <p:txBody>
          <a:bodyPr wrap="square" lIns="0" tIns="0" rIns="0" bIns="0" rtlCol="0" anchor="t"/>
          <a:lstStyle/>
          <a:p>
            <a:pPr indent="0" marL="0">
              <a:buNone/>
            </a:pPr>
            <a:r>
              <a:rPr lang="en-US" sz="6600" b="1" dirty="0">
                <a:solidFill>
                  <a:schemeClr val="tx1"/>
                </a:solidFill>
                <a:latin typeface="Arial" pitchFamily="34" charset="0"/>
                <a:ea typeface="Arial" pitchFamily="34" charset="-122"/>
                <a:cs typeface="Arial" pitchFamily="34" charset="-120"/>
              </a:rPr>
              <a:t>1.4</a:t>
            </a:r>
            <a:endParaRPr lang="en-US" sz="6600" dirty="0"/>
          </a:p>
        </p:txBody>
      </p:sp>
      <p:sp>
        <p:nvSpPr>
          <p:cNvPr id="16" name="glance_t_11"/>
          <p:cNvSpPr txBox="1"/>
          <p:nvPr/>
        </p:nvSpPr>
        <p:spPr>
          <a:xfrm>
            <a:off x="6255868" y="3703320"/>
            <a:ext cx="2533574" cy="411480"/>
          </a:xfrm>
          <a:prstGeom prst="rect">
            <a:avLst/>
          </a:prstGeom>
          <a:noFill/>
          <a:ln/>
        </p:spPr>
        <p:txBody>
          <a:bodyPr wrap="square" lIns="0" tIns="0" rIns="0" bIns="0" rtlCol="0" anchor="t"/>
          <a:lstStyle/>
          <a:p>
            <a:pPr indent="0" marL="0">
              <a:buNone/>
            </a:pPr>
            <a:r>
              <a:rPr lang="en-US" sz="2200" b="1" dirty="0">
                <a:solidFill>
                  <a:schemeClr val="tx1"/>
                </a:solidFill>
                <a:latin typeface="Arial" pitchFamily="34" charset="0"/>
                <a:ea typeface="Arial" pitchFamily="34" charset="-122"/>
                <a:cs typeface="Arial" pitchFamily="34" charset="-120"/>
              </a:rPr>
              <a:t>million b/d</a:t>
            </a:r>
            <a:endParaRPr lang="en-US" sz="2200" dirty="0"/>
          </a:p>
        </p:txBody>
      </p:sp>
      <p:sp>
        <p:nvSpPr>
          <p:cNvPr id="17" name="glance_t_12"/>
          <p:cNvSpPr txBox="1"/>
          <p:nvPr/>
        </p:nvSpPr>
        <p:spPr>
          <a:xfrm>
            <a:off x="6255868" y="4160520"/>
            <a:ext cx="2442134" cy="914400"/>
          </a:xfrm>
          <a:prstGeom prst="rect">
            <a:avLst/>
          </a:prstGeom>
          <a:noFill/>
          <a:ln/>
        </p:spPr>
        <p:txBody>
          <a:bodyPr wrap="square" lIns="0" tIns="0" rIns="0" bIns="0" rtlCol="0" anchor="t"/>
          <a:lstStyle/>
          <a:p>
            <a:pPr indent="0" marL="0">
              <a:buNone/>
            </a:pPr>
            <a:r>
              <a:rPr lang="en-US" sz="1600" dirty="0">
                <a:solidFill>
                  <a:schemeClr val="tx2"/>
                </a:solidFill>
                <a:latin typeface="Arial" pitchFamily="34" charset="0"/>
                <a:ea typeface="Arial" pitchFamily="34" charset="-122"/>
                <a:cs typeface="Arial" pitchFamily="34" charset="-120"/>
              </a:rPr>
              <a:t>domestic refining capacity since Al-Zour came on line</a:t>
            </a:r>
            <a:endParaRPr lang="en-US" sz="1600" dirty="0"/>
          </a:p>
        </p:txBody>
      </p:sp>
      <p:pic>
        <p:nvPicPr>
          <p:cNvPr id="18" name="glance_i_13" descr="Decorative graphic">    </p:cNvPr>
          <p:cNvPicPr>
            <a:picLocks noChangeAspect="1"/>
          </p:cNvPicPr>
          <p:nvPr/>
        </p:nvPicPr>
        <p:blipFill>
          <a:blip r:embed="rId6"/>
          <a:stretch>
            <a:fillRect/>
          </a:stretch>
        </p:blipFill>
        <p:spPr>
          <a:xfrm>
            <a:off x="9109481" y="2103120"/>
            <a:ext cx="502920" cy="502920"/>
          </a:xfrm>
          <a:prstGeom prst="rect">
            <a:avLst/>
          </a:prstGeom>
        </p:spPr>
      </p:pic>
      <p:sp>
        <p:nvSpPr>
          <p:cNvPr id="19" name="glance_t_14"/>
          <p:cNvSpPr txBox="1"/>
          <p:nvPr/>
        </p:nvSpPr>
        <p:spPr>
          <a:xfrm>
            <a:off x="9109481" y="2697480"/>
            <a:ext cx="2533574" cy="1005840"/>
          </a:xfrm>
          <a:prstGeom prst="rect">
            <a:avLst/>
          </a:prstGeom>
          <a:noFill/>
          <a:ln/>
        </p:spPr>
        <p:txBody>
          <a:bodyPr wrap="square" lIns="0" tIns="0" rIns="0" bIns="0" rtlCol="0" anchor="t"/>
          <a:lstStyle/>
          <a:p>
            <a:pPr indent="0" marL="0">
              <a:buNone/>
            </a:pPr>
            <a:r>
              <a:rPr lang="en-US" sz="6600" b="1" dirty="0">
                <a:solidFill>
                  <a:schemeClr val="tx1"/>
                </a:solidFill>
                <a:latin typeface="Arial" pitchFamily="34" charset="0"/>
                <a:ea typeface="Arial" pitchFamily="34" charset="-122"/>
                <a:cs typeface="Arial" pitchFamily="34" charset="-120"/>
              </a:rPr>
              <a:t>90%+</a:t>
            </a:r>
            <a:endParaRPr lang="en-US" sz="6600" dirty="0"/>
          </a:p>
        </p:txBody>
      </p:sp>
      <p:sp>
        <p:nvSpPr>
          <p:cNvPr id="20" name="glance_t_15"/>
          <p:cNvSpPr txBox="1"/>
          <p:nvPr/>
        </p:nvSpPr>
        <p:spPr>
          <a:xfrm>
            <a:off x="9109481" y="3703320"/>
            <a:ext cx="2533574" cy="411480"/>
          </a:xfrm>
          <a:prstGeom prst="rect">
            <a:avLst/>
          </a:prstGeom>
          <a:noFill/>
          <a:ln/>
        </p:spPr>
        <p:txBody>
          <a:bodyPr wrap="square" lIns="0" tIns="0" rIns="0" bIns="0" rtlCol="0" anchor="t"/>
          <a:lstStyle/>
          <a:p>
            <a:pPr indent="0" marL="0">
              <a:buNone/>
            </a:pPr>
            <a:r>
              <a:rPr lang="en-US" sz="2200" b="1" dirty="0">
                <a:solidFill>
                  <a:schemeClr val="tx1"/>
                </a:solidFill>
                <a:latin typeface="Arial" pitchFamily="34" charset="0"/>
                <a:ea typeface="Arial" pitchFamily="34" charset="-122"/>
                <a:cs typeface="Arial" pitchFamily="34" charset="-120"/>
              </a:rPr>
              <a:t>of exports</a:t>
            </a:r>
            <a:endParaRPr lang="en-US" sz="2200" dirty="0"/>
          </a:p>
        </p:txBody>
      </p:sp>
      <p:sp>
        <p:nvSpPr>
          <p:cNvPr id="21" name="glance_t_16"/>
          <p:cNvSpPr txBox="1"/>
          <p:nvPr/>
        </p:nvSpPr>
        <p:spPr>
          <a:xfrm>
            <a:off x="9109481" y="4160520"/>
            <a:ext cx="2442134" cy="914400"/>
          </a:xfrm>
          <a:prstGeom prst="rect">
            <a:avLst/>
          </a:prstGeom>
          <a:noFill/>
          <a:ln/>
        </p:spPr>
        <p:txBody>
          <a:bodyPr wrap="square" lIns="0" tIns="0" rIns="0" bIns="0" rtlCol="0" anchor="t"/>
          <a:lstStyle/>
          <a:p>
            <a:pPr indent="0" marL="0">
              <a:buNone/>
            </a:pPr>
            <a:r>
              <a:rPr lang="en-US" sz="1600" dirty="0">
                <a:solidFill>
                  <a:schemeClr val="tx2"/>
                </a:solidFill>
                <a:latin typeface="Arial" pitchFamily="34" charset="0"/>
                <a:ea typeface="Arial" pitchFamily="34" charset="-122"/>
                <a:cs typeface="Arial" pitchFamily="34" charset="-120"/>
              </a:rPr>
              <a:t>are petroleum; oil funds most of the state budget</a:t>
            </a:r>
            <a:endParaRPr lang="en-US" sz="1600" dirty="0"/>
          </a:p>
        </p:txBody>
      </p:sp>
      <p:sp>
        <p:nvSpPr>
          <p:cNvPr id="22" name="!!source"/>
          <p:cNvSpPr txBox="1"/>
          <p:nvPr/>
        </p:nvSpPr>
        <p:spPr>
          <a:xfrm>
            <a:off x="548640" y="5943600"/>
            <a:ext cx="9692640" cy="274320"/>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Sources: OPEC (2025b, 2026a); JODI (2026); KNPC (n.d.-b, n.d.-c); KIPIC (2024); World Bank (2026); Britannica (n.d.-b).</a:t>
            </a:r>
            <a:endParaRPr lang="en-US" sz="1200" dirty="0"/>
          </a:p>
        </p:txBody>
      </p:sp>
      <p:sp>
        <p:nvSpPr>
          <p:cNvPr id="23" name="!!home_bg"/>
          <p:cNvSpPr/>
          <p:nvPr/>
        </p:nvSpPr>
        <p:spPr>
          <a:xfrm>
            <a:off x="10637215" y="6272784"/>
            <a:ext cx="384048" cy="384048"/>
          </a:xfrm>
          <a:prstGeom prst="roundRect">
            <a:avLst>
              <a:gd name="adj" fmla="val 23810"/>
            </a:avLst>
          </a:prstGeom>
          <a:solidFill>
            <a:srgbClr val="2C2C2E"/>
          </a:solidFill>
          <a:ln/>
        </p:spPr>
      </p:sp>
      <p:pic>
        <p:nvPicPr>
          <p:cNvPr id="24" name="!!home_ic" descr="Decorative graphic">    </p:cNvPr>
          <p:cNvPicPr>
            <a:picLocks noChangeAspect="1"/>
          </p:cNvPicPr>
          <p:nvPr/>
        </p:nvPicPr>
        <p:blipFill>
          <a:blip r:embed="rId7"/>
          <a:stretch>
            <a:fillRect/>
          </a:stretch>
        </p:blipFill>
        <p:spPr>
          <a:xfrm>
            <a:off x="10719511" y="6355080"/>
            <a:ext cx="219456" cy="219456"/>
          </a:xfrm>
          <a:prstGeom prst="rect">
            <a:avLst/>
          </a:prstGeom>
        </p:spPr>
      </p:pic>
      <p:sp>
        <p:nvSpPr>
          <p:cNvPr id="25" name="!!home_hit">
            <a:hlinkClick r:id="rId8" tooltip="Back to contents" action="ppaction://hlinksldjump" highlightClick="1"/>
          </p:cNvPr>
          <p:cNvSpPr/>
          <p:nvPr/>
        </p:nvSpPr>
        <p:spPr>
          <a:xfrm>
            <a:off x="10637215" y="6272784"/>
            <a:ext cx="384048" cy="384048"/>
          </a:xfrm>
          <a:prstGeom prst="roundRect">
            <a:avLst>
              <a:gd name="adj" fmla="val 23810"/>
            </a:avLst>
          </a:prstGeom>
          <a:solidFill>
            <a:srgbClr val="000000">
              <a:alpha val="0"/>
            </a:srgbClr>
          </a:solidFill>
          <a:ln/>
        </p:spPr>
      </p:sp>
      <p:sp>
        <p:nvSpPr>
          <p:cNvPr id="27" name="!!footer"/>
          <p:cNvSpPr txBox="1"/>
          <p:nvPr/>
        </p:nvSpPr>
        <p:spPr>
          <a:xfrm>
            <a:off x="548640" y="6327648"/>
            <a:ext cx="5486400" cy="292608"/>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Kuwait Oil &amp; Gas  ·  EGCH2230</a:t>
            </a:r>
            <a:endParaRPr lang="en-US" sz="1200" dirty="0"/>
          </a:p>
        </p:txBody>
      </p:sp>
      <p:sp>
        <p:nvSpPr>
          <p:cNvPr id="28" name="!!num"/>
          <p:cNvSpPr txBox="1"/>
          <p:nvPr/>
        </p:nvSpPr>
        <p:spPr>
          <a:xfrm>
            <a:off x="11094415" y="6327648"/>
            <a:ext cx="548640" cy="292608"/>
          </a:xfrm>
          <a:prstGeom prst="rect">
            <a:avLst/>
          </a:prstGeom>
          <a:noFill/>
          <a:ln/>
        </p:spPr>
        <p:txBody>
          <a:bodyPr wrap="square" lIns="0" tIns="0" rIns="0" bIns="0" rtlCol="0" anchor="ctr"/>
          <a:lstStyle/>
          <a:p>
            <a:pPr algn="r" indent="0" marL="0">
              <a:buNone/>
            </a:pPr>
            <a:r>
              <a:rPr lang="en-US" sz="1200" dirty="0">
                <a:solidFill>
                  <a:schemeClr val="tx2"/>
                </a:solidFill>
                <a:latin typeface="Arial" pitchFamily="34" charset="0"/>
                <a:ea typeface="Arial" pitchFamily="34" charset="-122"/>
                <a:cs typeface="Arial" pitchFamily="34" charset="-120"/>
              </a:rPr>
              <a:t>3</a:t>
            </a:r>
            <a:endParaRPr lang="en-US" sz="1200" dirty="0"/>
          </a:p>
        </p:txBody>
      </p:sp>
      <p:pic>
        <p:nvPicPr>
          <p:cNvPr id="29" name="!!badge" descr="University of Technology and Applied Sciences, Salalah">    </p:cNvPr>
          <p:cNvPicPr>
            <a:picLocks noChangeAspect="1"/>
          </p:cNvPicPr>
          <p:nvPr/>
        </p:nvPicPr>
        <p:blipFill>
          <a:blip r:embed="rId9"/>
          <a:stretch>
            <a:fillRect/>
          </a:stretch>
        </p:blipFill>
        <p:spPr>
          <a:xfrm>
            <a:off x="9677095" y="274320"/>
            <a:ext cx="1965960" cy="80987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0" presetClass="path" presetSubtype="0" fill="hold" grpId="0" nodeType="afterEffect" repeatCount="indefinite" autoRev="1">
                                  <p:stCondLst>
                                    <p:cond delay="0"/>
                                  </p:stCondLst>
                                  <p:childTnLst>
                                    <p:animMotion origin="layout" path="M 0 0 L 0.0350 -0.0300 E" pathEditMode="relative" ptsTypes="">
                                      <p:cBhvr>
                                        <p:cTn id="5" dur="13000" fill="hold" accel="50000" decel="50000"/>
                                        <p:tgtEl>
                                          <p:spTgt spid="2"/>
                                        </p:tgtEl>
                                        <p:attrNameLst>
                                          <p:attrName>ppt_x</p:attrName>
                                          <p:attrName>ppt_y</p:attrName>
                                        </p:attrNameLst>
                                      </p:cBhvr>
                                      <p:rCtr x="0" y="0"/>
                                    </p:animMotion>
                                  </p:childTnLst>
                                </p:cTn>
                              </p:par>
                              <p:par>
                                <p:cTn id="8" presetID="0" presetClass="path" presetSubtype="0" fill="hold" grpId="0" nodeType="withEffect" repeatCount="indefinite" autoRev="1">
                                  <p:stCondLst>
                                    <p:cond delay="0"/>
                                  </p:stCondLst>
                                  <p:childTnLst>
                                    <p:animMotion origin="layout" path="M 0 0 L -0.0300 0.0250 E" pathEditMode="relative" ptsTypes="">
                                      <p:cBhvr>
                                        <p:cTn id="7" dur="15000" fill="hold" accel="50000" decel="50000"/>
                                        <p:tgtEl>
                                          <p:spTgt spid="3"/>
                                        </p:tgtEl>
                                        <p:attrNameLst>
                                          <p:attrName>ppt_x</p:attrName>
                                          <p:attrName>ppt_y</p:attrName>
                                        </p:attrNameLst>
                                      </p:cBhvr>
                                      <p:rCtr x="0" y="0"/>
                                    </p:animMotion>
                                  </p:childTnLst>
                                </p:cTn>
                              </p:par>
                              <p:par>
                                <p:cTn id="11" presetID="10" presetClass="entr" presetSubtype="0" fill="hold" grpId="0" nodeType="withEffect">
                                  <p:stCondLst>
                                    <p:cond delay="3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700" decel="100000"/>
                                        <p:tgtEl>
                                          <p:spTgt spid="6"/>
                                        </p:tgtEl>
                                      </p:cBhvr>
                                    </p:animEffect>
                                  </p:childTnLst>
                                </p:cTn>
                              </p:par>
                              <p:par>
                                <p:cTn id="16" presetID="53" presetClass="entr" presetSubtype="16" fill="hold" grpId="0" nodeType="withEffect">
                                  <p:stCondLst>
                                    <p:cond delay="380"/>
                                  </p:stCondLst>
                                  <p:childTnLst>
                                    <p:set>
                                      <p:cBhvr>
                                        <p:cTn id="12" dur="1" fill="hold">
                                          <p:stCondLst>
                                            <p:cond delay="0"/>
                                          </p:stCondLst>
                                        </p:cTn>
                                        <p:tgtEl>
                                          <p:spTgt spid="7"/>
                                        </p:tgtEl>
                                        <p:attrNameLst>
                                          <p:attrName>style.visibility</p:attrName>
                                        </p:attrNameLst>
                                      </p:cBhvr>
                                      <p:to>
                                        <p:strVal val="visible"/>
                                      </p:to>
                                    </p:set>
                                    <p:anim calcmode="lin" valueType="num">
                                      <p:cBhvr>
                                        <p:cTn id="13" dur="1100" fill="hold" decel="100000"/>
                                        <p:tgtEl>
                                          <p:spTgt spid="7"/>
                                        </p:tgtEl>
                                        <p:attrNameLst>
                                          <p:attrName>ppt_w</p:attrName>
                                        </p:attrNameLst>
                                      </p:cBhvr>
                                      <p:tavLst>
                                        <p:tav tm="0">
                                          <p:val>
                                            <p:strVal val="#ppt_w*0.900"/>
                                          </p:val>
                                        </p:tav>
                                        <p:tav tm="100000">
                                          <p:val>
                                            <p:strVal val="#ppt_w"/>
                                          </p:val>
                                        </p:tav>
                                      </p:tavLst>
                                    </p:anim>
                                    <p:anim calcmode="lin" valueType="num">
                                      <p:cBhvr>
                                        <p:cTn id="14" dur="1100" fill="hold" decel="100000"/>
                                        <p:tgtEl>
                                          <p:spTgt spid="7"/>
                                        </p:tgtEl>
                                        <p:attrNameLst>
                                          <p:attrName>ppt_h</p:attrName>
                                        </p:attrNameLst>
                                      </p:cBhvr>
                                      <p:tavLst>
                                        <p:tav tm="0">
                                          <p:val>
                                            <p:strVal val="#ppt_h*0.900"/>
                                          </p:val>
                                        </p:tav>
                                        <p:tav tm="100000">
                                          <p:val>
                                            <p:strVal val="#ppt_h"/>
                                          </p:val>
                                        </p:tav>
                                      </p:tavLst>
                                    </p:anim>
                                    <p:animEffect transition="in" filter="fade">
                                      <p:cBhvr>
                                        <p:cTn id="15" dur="770" decel="100000"/>
                                        <p:tgtEl>
                                          <p:spTgt spid="7"/>
                                        </p:tgtEl>
                                      </p:cBhvr>
                                    </p:animEffect>
                                  </p:childTnLst>
                                </p:cTn>
                              </p:par>
                              <p:par>
                                <p:cTn id="19" presetID="10" presetClass="entr" presetSubtype="0" fill="hold" grpId="0" nodeType="withEffect">
                                  <p:stCondLst>
                                    <p:cond delay="46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700" decel="100000"/>
                                        <p:tgtEl>
                                          <p:spTgt spid="10"/>
                                        </p:tgtEl>
                                      </p:cBhvr>
                                    </p:animEffect>
                                  </p:childTnLst>
                                </p:cTn>
                              </p:par>
                              <p:par>
                                <p:cTn id="24" presetID="42" presetClass="entr" presetSubtype="0" fill="hold" grpId="0" nodeType="withEffect">
                                  <p:stCondLst>
                                    <p:cond delay="52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640" decel="100000"/>
                                        <p:tgtEl>
                                          <p:spTgt spid="8"/>
                                        </p:tgtEl>
                                      </p:cBhvr>
                                    </p:animEffect>
                                    <p:anim calcmode="lin" valueType="num">
                                      <p:cBhvr>
                                        <p:cTn id="22" dur="800" fill="hold" decel="100000"/>
                                        <p:tgtEl>
                                          <p:spTgt spid="8"/>
                                        </p:tgtEl>
                                        <p:attrNameLst>
                                          <p:attrName>ppt_x</p:attrName>
                                        </p:attrNameLst>
                                      </p:cBhvr>
                                      <p:tavLst>
                                        <p:tav tm="0">
                                          <p:val>
                                            <p:strVal val="#ppt_x"/>
                                          </p:val>
                                        </p:tav>
                                        <p:tav tm="100000">
                                          <p:val>
                                            <p:strVal val="#ppt_x"/>
                                          </p:val>
                                        </p:tav>
                                      </p:tavLst>
                                    </p:anim>
                                    <p:anim calcmode="lin" valueType="num">
                                      <p:cBhvr>
                                        <p:cTn id="23" dur="800" fill="hold" decel="100000"/>
                                        <p:tgtEl>
                                          <p:spTgt spid="8"/>
                                        </p:tgtEl>
                                        <p:attrNameLst>
                                          <p:attrName>ppt_y</p:attrName>
                                        </p:attrNameLst>
                                      </p:cBhvr>
                                      <p:tavLst>
                                        <p:tav tm="0">
                                          <p:val>
                                            <p:strVal val="#ppt_y+0.0250"/>
                                          </p:val>
                                        </p:tav>
                                        <p:tav tm="100000">
                                          <p:val>
                                            <p:strVal val="#ppt_y"/>
                                          </p:val>
                                        </p:tav>
                                      </p:tavLst>
                                    </p:anim>
                                  </p:childTnLst>
                                </p:cTn>
                              </p:par>
                              <p:par>
                                <p:cTn id="29" presetID="53" presetClass="entr" presetSubtype="16" fill="hold" grpId="0" nodeType="withEffect">
                                  <p:stCondLst>
                                    <p:cond delay="540"/>
                                  </p:stCondLst>
                                  <p:childTnLst>
                                    <p:set>
                                      <p:cBhvr>
                                        <p:cTn id="25" dur="1" fill="hold">
                                          <p:stCondLst>
                                            <p:cond delay="0"/>
                                          </p:stCondLst>
                                        </p:cTn>
                                        <p:tgtEl>
                                          <p:spTgt spid="11"/>
                                        </p:tgtEl>
                                        <p:attrNameLst>
                                          <p:attrName>style.visibility</p:attrName>
                                        </p:attrNameLst>
                                      </p:cBhvr>
                                      <p:to>
                                        <p:strVal val="visible"/>
                                      </p:to>
                                    </p:set>
                                    <p:anim calcmode="lin" valueType="num">
                                      <p:cBhvr>
                                        <p:cTn id="26" dur="1100" fill="hold" decel="100000"/>
                                        <p:tgtEl>
                                          <p:spTgt spid="11"/>
                                        </p:tgtEl>
                                        <p:attrNameLst>
                                          <p:attrName>ppt_w</p:attrName>
                                        </p:attrNameLst>
                                      </p:cBhvr>
                                      <p:tavLst>
                                        <p:tav tm="0">
                                          <p:val>
                                            <p:strVal val="#ppt_w*0.900"/>
                                          </p:val>
                                        </p:tav>
                                        <p:tav tm="100000">
                                          <p:val>
                                            <p:strVal val="#ppt_w"/>
                                          </p:val>
                                        </p:tav>
                                      </p:tavLst>
                                    </p:anim>
                                    <p:anim calcmode="lin" valueType="num">
                                      <p:cBhvr>
                                        <p:cTn id="27" dur="1100" fill="hold" decel="100000"/>
                                        <p:tgtEl>
                                          <p:spTgt spid="11"/>
                                        </p:tgtEl>
                                        <p:attrNameLst>
                                          <p:attrName>ppt_h</p:attrName>
                                        </p:attrNameLst>
                                      </p:cBhvr>
                                      <p:tavLst>
                                        <p:tav tm="0">
                                          <p:val>
                                            <p:strVal val="#ppt_h*0.900"/>
                                          </p:val>
                                        </p:tav>
                                        <p:tav tm="100000">
                                          <p:val>
                                            <p:strVal val="#ppt_h"/>
                                          </p:val>
                                        </p:tav>
                                      </p:tavLst>
                                    </p:anim>
                                    <p:animEffect transition="in" filter="fade">
                                      <p:cBhvr>
                                        <p:cTn id="28" dur="770" decel="100000"/>
                                        <p:tgtEl>
                                          <p:spTgt spid="11"/>
                                        </p:tgtEl>
                                      </p:cBhvr>
                                    </p:animEffect>
                                  </p:childTnLst>
                                </p:cTn>
                              </p:par>
                              <p:par>
                                <p:cTn id="34" presetID="42" presetClass="entr" presetSubtype="0" fill="hold" grpId="0" nodeType="withEffect">
                                  <p:stCondLst>
                                    <p:cond delay="62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640" decel="100000"/>
                                        <p:tgtEl>
                                          <p:spTgt spid="9"/>
                                        </p:tgtEl>
                                      </p:cBhvr>
                                    </p:animEffect>
                                    <p:anim calcmode="lin" valueType="num">
                                      <p:cBhvr>
                                        <p:cTn id="32" dur="800" fill="hold" decel="100000"/>
                                        <p:tgtEl>
                                          <p:spTgt spid="9"/>
                                        </p:tgtEl>
                                        <p:attrNameLst>
                                          <p:attrName>ppt_x</p:attrName>
                                        </p:attrNameLst>
                                      </p:cBhvr>
                                      <p:tavLst>
                                        <p:tav tm="0">
                                          <p:val>
                                            <p:strVal val="#ppt_x"/>
                                          </p:val>
                                        </p:tav>
                                        <p:tav tm="100000">
                                          <p:val>
                                            <p:strVal val="#ppt_x"/>
                                          </p:val>
                                        </p:tav>
                                      </p:tavLst>
                                    </p:anim>
                                    <p:anim calcmode="lin" valueType="num">
                                      <p:cBhvr>
                                        <p:cTn id="33" dur="800" fill="hold" decel="100000"/>
                                        <p:tgtEl>
                                          <p:spTgt spid="9"/>
                                        </p:tgtEl>
                                        <p:attrNameLst>
                                          <p:attrName>ppt_y</p:attrName>
                                        </p:attrNameLst>
                                      </p:cBhvr>
                                      <p:tavLst>
                                        <p:tav tm="0">
                                          <p:val>
                                            <p:strVal val="#ppt_y+0.0250"/>
                                          </p:val>
                                        </p:tav>
                                        <p:tav tm="100000">
                                          <p:val>
                                            <p:strVal val="#ppt_y"/>
                                          </p:val>
                                        </p:tav>
                                      </p:tavLst>
                                    </p:anim>
                                  </p:childTnLst>
                                </p:cTn>
                              </p:par>
                              <p:par>
                                <p:cTn id="37" presetID="10" presetClass="entr" presetSubtype="0" fill="hold" grpId="0" nodeType="withEffect">
                                  <p:stCondLst>
                                    <p:cond delay="62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700" decel="100000"/>
                                        <p:tgtEl>
                                          <p:spTgt spid="14"/>
                                        </p:tgtEl>
                                      </p:cBhvr>
                                    </p:animEffect>
                                  </p:childTnLst>
                                </p:cTn>
                              </p:par>
                              <p:par>
                                <p:cTn id="42" presetID="42" presetClass="entr" presetSubtype="0" fill="hold" grpId="0" nodeType="withEffect">
                                  <p:stCondLst>
                                    <p:cond delay="68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640" decel="100000"/>
                                        <p:tgtEl>
                                          <p:spTgt spid="12"/>
                                        </p:tgtEl>
                                      </p:cBhvr>
                                    </p:animEffect>
                                    <p:anim calcmode="lin" valueType="num">
                                      <p:cBhvr>
                                        <p:cTn id="40" dur="800" fill="hold" decel="100000"/>
                                        <p:tgtEl>
                                          <p:spTgt spid="12"/>
                                        </p:tgtEl>
                                        <p:attrNameLst>
                                          <p:attrName>ppt_x</p:attrName>
                                        </p:attrNameLst>
                                      </p:cBhvr>
                                      <p:tavLst>
                                        <p:tav tm="0">
                                          <p:val>
                                            <p:strVal val="#ppt_x"/>
                                          </p:val>
                                        </p:tav>
                                        <p:tav tm="100000">
                                          <p:val>
                                            <p:strVal val="#ppt_x"/>
                                          </p:val>
                                        </p:tav>
                                      </p:tavLst>
                                    </p:anim>
                                    <p:anim calcmode="lin" valueType="num">
                                      <p:cBhvr>
                                        <p:cTn id="41" dur="800" fill="hold" decel="100000"/>
                                        <p:tgtEl>
                                          <p:spTgt spid="12"/>
                                        </p:tgtEl>
                                        <p:attrNameLst>
                                          <p:attrName>ppt_y</p:attrName>
                                        </p:attrNameLst>
                                      </p:cBhvr>
                                      <p:tavLst>
                                        <p:tav tm="0">
                                          <p:val>
                                            <p:strVal val="#ppt_y+0.0250"/>
                                          </p:val>
                                        </p:tav>
                                        <p:tav tm="100000">
                                          <p:val>
                                            <p:strVal val="#ppt_y"/>
                                          </p:val>
                                        </p:tav>
                                      </p:tavLst>
                                    </p:anim>
                                  </p:childTnLst>
                                </p:cTn>
                              </p:par>
                              <p:par>
                                <p:cTn id="47" presetID="53" presetClass="entr" presetSubtype="16" fill="hold" grpId="0" nodeType="withEffect">
                                  <p:stCondLst>
                                    <p:cond delay="700"/>
                                  </p:stCondLst>
                                  <p:childTnLst>
                                    <p:set>
                                      <p:cBhvr>
                                        <p:cTn id="43" dur="1" fill="hold">
                                          <p:stCondLst>
                                            <p:cond delay="0"/>
                                          </p:stCondLst>
                                        </p:cTn>
                                        <p:tgtEl>
                                          <p:spTgt spid="15"/>
                                        </p:tgtEl>
                                        <p:attrNameLst>
                                          <p:attrName>style.visibility</p:attrName>
                                        </p:attrNameLst>
                                      </p:cBhvr>
                                      <p:to>
                                        <p:strVal val="visible"/>
                                      </p:to>
                                    </p:set>
                                    <p:anim calcmode="lin" valueType="num">
                                      <p:cBhvr>
                                        <p:cTn id="44" dur="1100" fill="hold" decel="100000"/>
                                        <p:tgtEl>
                                          <p:spTgt spid="15"/>
                                        </p:tgtEl>
                                        <p:attrNameLst>
                                          <p:attrName>ppt_w</p:attrName>
                                        </p:attrNameLst>
                                      </p:cBhvr>
                                      <p:tavLst>
                                        <p:tav tm="0">
                                          <p:val>
                                            <p:strVal val="#ppt_w*0.900"/>
                                          </p:val>
                                        </p:tav>
                                        <p:tav tm="100000">
                                          <p:val>
                                            <p:strVal val="#ppt_w"/>
                                          </p:val>
                                        </p:tav>
                                      </p:tavLst>
                                    </p:anim>
                                    <p:anim calcmode="lin" valueType="num">
                                      <p:cBhvr>
                                        <p:cTn id="45" dur="1100" fill="hold" decel="100000"/>
                                        <p:tgtEl>
                                          <p:spTgt spid="15"/>
                                        </p:tgtEl>
                                        <p:attrNameLst>
                                          <p:attrName>ppt_h</p:attrName>
                                        </p:attrNameLst>
                                      </p:cBhvr>
                                      <p:tavLst>
                                        <p:tav tm="0">
                                          <p:val>
                                            <p:strVal val="#ppt_h*0.900"/>
                                          </p:val>
                                        </p:tav>
                                        <p:tav tm="100000">
                                          <p:val>
                                            <p:strVal val="#ppt_h"/>
                                          </p:val>
                                        </p:tav>
                                      </p:tavLst>
                                    </p:anim>
                                    <p:animEffect transition="in" filter="fade">
                                      <p:cBhvr>
                                        <p:cTn id="46" dur="770" decel="100000"/>
                                        <p:tgtEl>
                                          <p:spTgt spid="15"/>
                                        </p:tgtEl>
                                      </p:cBhvr>
                                    </p:animEffect>
                                  </p:childTnLst>
                                </p:cTn>
                              </p:par>
                              <p:par>
                                <p:cTn id="52" presetID="42" presetClass="entr" presetSubtype="0" fill="hold" grpId="0" nodeType="withEffect">
                                  <p:stCondLst>
                                    <p:cond delay="78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640" decel="100000"/>
                                        <p:tgtEl>
                                          <p:spTgt spid="13"/>
                                        </p:tgtEl>
                                      </p:cBhvr>
                                    </p:animEffect>
                                    <p:anim calcmode="lin" valueType="num">
                                      <p:cBhvr>
                                        <p:cTn id="50" dur="800" fill="hold" decel="100000"/>
                                        <p:tgtEl>
                                          <p:spTgt spid="13"/>
                                        </p:tgtEl>
                                        <p:attrNameLst>
                                          <p:attrName>ppt_x</p:attrName>
                                        </p:attrNameLst>
                                      </p:cBhvr>
                                      <p:tavLst>
                                        <p:tav tm="0">
                                          <p:val>
                                            <p:strVal val="#ppt_x"/>
                                          </p:val>
                                        </p:tav>
                                        <p:tav tm="100000">
                                          <p:val>
                                            <p:strVal val="#ppt_x"/>
                                          </p:val>
                                        </p:tav>
                                      </p:tavLst>
                                    </p:anim>
                                    <p:anim calcmode="lin" valueType="num">
                                      <p:cBhvr>
                                        <p:cTn id="51" dur="800" fill="hold" decel="100000"/>
                                        <p:tgtEl>
                                          <p:spTgt spid="13"/>
                                        </p:tgtEl>
                                        <p:attrNameLst>
                                          <p:attrName>ppt_y</p:attrName>
                                        </p:attrNameLst>
                                      </p:cBhvr>
                                      <p:tavLst>
                                        <p:tav tm="0">
                                          <p:val>
                                            <p:strVal val="#ppt_y+0.0250"/>
                                          </p:val>
                                        </p:tav>
                                        <p:tav tm="100000">
                                          <p:val>
                                            <p:strVal val="#ppt_y"/>
                                          </p:val>
                                        </p:tav>
                                      </p:tavLst>
                                    </p:anim>
                                  </p:childTnLst>
                                </p:cTn>
                              </p:par>
                              <p:par>
                                <p:cTn id="55" presetID="10" presetClass="entr" presetSubtype="0" fill="hold" grpId="0" nodeType="withEffect">
                                  <p:stCondLst>
                                    <p:cond delay="78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700" decel="100000"/>
                                        <p:tgtEl>
                                          <p:spTgt spid="18"/>
                                        </p:tgtEl>
                                      </p:cBhvr>
                                    </p:animEffect>
                                  </p:childTnLst>
                                </p:cTn>
                              </p:par>
                              <p:par>
                                <p:cTn id="60" presetID="42" presetClass="entr" presetSubtype="0" fill="hold" grpId="0" nodeType="withEffect">
                                  <p:stCondLst>
                                    <p:cond delay="84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640" decel="100000"/>
                                        <p:tgtEl>
                                          <p:spTgt spid="16"/>
                                        </p:tgtEl>
                                      </p:cBhvr>
                                    </p:animEffect>
                                    <p:anim calcmode="lin" valueType="num">
                                      <p:cBhvr>
                                        <p:cTn id="58" dur="800" fill="hold" decel="100000"/>
                                        <p:tgtEl>
                                          <p:spTgt spid="16"/>
                                        </p:tgtEl>
                                        <p:attrNameLst>
                                          <p:attrName>ppt_x</p:attrName>
                                        </p:attrNameLst>
                                      </p:cBhvr>
                                      <p:tavLst>
                                        <p:tav tm="0">
                                          <p:val>
                                            <p:strVal val="#ppt_x"/>
                                          </p:val>
                                        </p:tav>
                                        <p:tav tm="100000">
                                          <p:val>
                                            <p:strVal val="#ppt_x"/>
                                          </p:val>
                                        </p:tav>
                                      </p:tavLst>
                                    </p:anim>
                                    <p:anim calcmode="lin" valueType="num">
                                      <p:cBhvr>
                                        <p:cTn id="59" dur="800" fill="hold" decel="100000"/>
                                        <p:tgtEl>
                                          <p:spTgt spid="16"/>
                                        </p:tgtEl>
                                        <p:attrNameLst>
                                          <p:attrName>ppt_y</p:attrName>
                                        </p:attrNameLst>
                                      </p:cBhvr>
                                      <p:tavLst>
                                        <p:tav tm="0">
                                          <p:val>
                                            <p:strVal val="#ppt_y+0.0250"/>
                                          </p:val>
                                        </p:tav>
                                        <p:tav tm="100000">
                                          <p:val>
                                            <p:strVal val="#ppt_y"/>
                                          </p:val>
                                        </p:tav>
                                      </p:tavLst>
                                    </p:anim>
                                  </p:childTnLst>
                                </p:cTn>
                              </p:par>
                              <p:par>
                                <p:cTn id="65" presetID="53" presetClass="entr" presetSubtype="16" fill="hold" grpId="0" nodeType="withEffect">
                                  <p:stCondLst>
                                    <p:cond delay="860"/>
                                  </p:stCondLst>
                                  <p:childTnLst>
                                    <p:set>
                                      <p:cBhvr>
                                        <p:cTn id="61" dur="1" fill="hold">
                                          <p:stCondLst>
                                            <p:cond delay="0"/>
                                          </p:stCondLst>
                                        </p:cTn>
                                        <p:tgtEl>
                                          <p:spTgt spid="19"/>
                                        </p:tgtEl>
                                        <p:attrNameLst>
                                          <p:attrName>style.visibility</p:attrName>
                                        </p:attrNameLst>
                                      </p:cBhvr>
                                      <p:to>
                                        <p:strVal val="visible"/>
                                      </p:to>
                                    </p:set>
                                    <p:anim calcmode="lin" valueType="num">
                                      <p:cBhvr>
                                        <p:cTn id="62" dur="1100" fill="hold" decel="100000"/>
                                        <p:tgtEl>
                                          <p:spTgt spid="19"/>
                                        </p:tgtEl>
                                        <p:attrNameLst>
                                          <p:attrName>ppt_w</p:attrName>
                                        </p:attrNameLst>
                                      </p:cBhvr>
                                      <p:tavLst>
                                        <p:tav tm="0">
                                          <p:val>
                                            <p:strVal val="#ppt_w*0.900"/>
                                          </p:val>
                                        </p:tav>
                                        <p:tav tm="100000">
                                          <p:val>
                                            <p:strVal val="#ppt_w"/>
                                          </p:val>
                                        </p:tav>
                                      </p:tavLst>
                                    </p:anim>
                                    <p:anim calcmode="lin" valueType="num">
                                      <p:cBhvr>
                                        <p:cTn id="63" dur="1100" fill="hold" decel="100000"/>
                                        <p:tgtEl>
                                          <p:spTgt spid="19"/>
                                        </p:tgtEl>
                                        <p:attrNameLst>
                                          <p:attrName>ppt_h</p:attrName>
                                        </p:attrNameLst>
                                      </p:cBhvr>
                                      <p:tavLst>
                                        <p:tav tm="0">
                                          <p:val>
                                            <p:strVal val="#ppt_h*0.900"/>
                                          </p:val>
                                        </p:tav>
                                        <p:tav tm="100000">
                                          <p:val>
                                            <p:strVal val="#ppt_h"/>
                                          </p:val>
                                        </p:tav>
                                      </p:tavLst>
                                    </p:anim>
                                    <p:animEffect transition="in" filter="fade">
                                      <p:cBhvr>
                                        <p:cTn id="64" dur="770" decel="100000"/>
                                        <p:tgtEl>
                                          <p:spTgt spid="19"/>
                                        </p:tgtEl>
                                      </p:cBhvr>
                                    </p:animEffect>
                                  </p:childTnLst>
                                </p:cTn>
                              </p:par>
                              <p:par>
                                <p:cTn id="70" presetID="42" presetClass="entr" presetSubtype="0" fill="hold" grpId="0" nodeType="withEffect">
                                  <p:stCondLst>
                                    <p:cond delay="94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640" decel="100000"/>
                                        <p:tgtEl>
                                          <p:spTgt spid="17"/>
                                        </p:tgtEl>
                                      </p:cBhvr>
                                    </p:animEffect>
                                    <p:anim calcmode="lin" valueType="num">
                                      <p:cBhvr>
                                        <p:cTn id="68" dur="800" fill="hold" decel="100000"/>
                                        <p:tgtEl>
                                          <p:spTgt spid="17"/>
                                        </p:tgtEl>
                                        <p:attrNameLst>
                                          <p:attrName>ppt_x</p:attrName>
                                        </p:attrNameLst>
                                      </p:cBhvr>
                                      <p:tavLst>
                                        <p:tav tm="0">
                                          <p:val>
                                            <p:strVal val="#ppt_x"/>
                                          </p:val>
                                        </p:tav>
                                        <p:tav tm="100000">
                                          <p:val>
                                            <p:strVal val="#ppt_x"/>
                                          </p:val>
                                        </p:tav>
                                      </p:tavLst>
                                    </p:anim>
                                    <p:anim calcmode="lin" valueType="num">
                                      <p:cBhvr>
                                        <p:cTn id="69" dur="800" fill="hold" decel="100000"/>
                                        <p:tgtEl>
                                          <p:spTgt spid="17"/>
                                        </p:tgtEl>
                                        <p:attrNameLst>
                                          <p:attrName>ppt_y</p:attrName>
                                        </p:attrNameLst>
                                      </p:cBhvr>
                                      <p:tavLst>
                                        <p:tav tm="0">
                                          <p:val>
                                            <p:strVal val="#ppt_y+0.0250"/>
                                          </p:val>
                                        </p:tav>
                                        <p:tav tm="100000">
                                          <p:val>
                                            <p:strVal val="#ppt_y"/>
                                          </p:val>
                                        </p:tav>
                                      </p:tavLst>
                                    </p:anim>
                                  </p:childTnLst>
                                </p:cTn>
                              </p:par>
                              <p:par>
                                <p:cTn id="75" presetID="42" presetClass="entr" presetSubtype="0" fill="hold" grpId="0" nodeType="withEffect">
                                  <p:stCondLst>
                                    <p:cond delay="1000"/>
                                  </p:stCondLst>
                                  <p:childTnLst>
                                    <p:set>
                                      <p:cBhvr>
                                        <p:cTn id="71" dur="1" fill="hold">
                                          <p:stCondLst>
                                            <p:cond delay="0"/>
                                          </p:stCondLst>
                                        </p:cTn>
                                        <p:tgtEl>
                                          <p:spTgt spid="20"/>
                                        </p:tgtEl>
                                        <p:attrNameLst>
                                          <p:attrName>style.visibility</p:attrName>
                                        </p:attrNameLst>
                                      </p:cBhvr>
                                      <p:to>
                                        <p:strVal val="visible"/>
                                      </p:to>
                                    </p:set>
                                    <p:animEffect transition="in" filter="fade">
                                      <p:cBhvr>
                                        <p:cTn id="72" dur="640" decel="100000"/>
                                        <p:tgtEl>
                                          <p:spTgt spid="20"/>
                                        </p:tgtEl>
                                      </p:cBhvr>
                                    </p:animEffect>
                                    <p:anim calcmode="lin" valueType="num">
                                      <p:cBhvr>
                                        <p:cTn id="73" dur="800" fill="hold" decel="100000"/>
                                        <p:tgtEl>
                                          <p:spTgt spid="20"/>
                                        </p:tgtEl>
                                        <p:attrNameLst>
                                          <p:attrName>ppt_x</p:attrName>
                                        </p:attrNameLst>
                                      </p:cBhvr>
                                      <p:tavLst>
                                        <p:tav tm="0">
                                          <p:val>
                                            <p:strVal val="#ppt_x"/>
                                          </p:val>
                                        </p:tav>
                                        <p:tav tm="100000">
                                          <p:val>
                                            <p:strVal val="#ppt_x"/>
                                          </p:val>
                                        </p:tav>
                                      </p:tavLst>
                                    </p:anim>
                                    <p:anim calcmode="lin" valueType="num">
                                      <p:cBhvr>
                                        <p:cTn id="74" dur="800" fill="hold" decel="100000"/>
                                        <p:tgtEl>
                                          <p:spTgt spid="20"/>
                                        </p:tgtEl>
                                        <p:attrNameLst>
                                          <p:attrName>ppt_y</p:attrName>
                                        </p:attrNameLst>
                                      </p:cBhvr>
                                      <p:tavLst>
                                        <p:tav tm="0">
                                          <p:val>
                                            <p:strVal val="#ppt_y+0.0250"/>
                                          </p:val>
                                        </p:tav>
                                        <p:tav tm="100000">
                                          <p:val>
                                            <p:strVal val="#ppt_y"/>
                                          </p:val>
                                        </p:tav>
                                      </p:tavLst>
                                    </p:anim>
                                  </p:childTnLst>
                                </p:cTn>
                              </p:par>
                              <p:par>
                                <p:cTn id="80" presetID="42" presetClass="entr" presetSubtype="0" fill="hold" grpId="0" nodeType="withEffect">
                                  <p:stCondLst>
                                    <p:cond delay="1100"/>
                                  </p:stCondLst>
                                  <p:childTnLst>
                                    <p:set>
                                      <p:cBhvr>
                                        <p:cTn id="76" dur="1" fill="hold">
                                          <p:stCondLst>
                                            <p:cond delay="0"/>
                                          </p:stCondLst>
                                        </p:cTn>
                                        <p:tgtEl>
                                          <p:spTgt spid="21"/>
                                        </p:tgtEl>
                                        <p:attrNameLst>
                                          <p:attrName>style.visibility</p:attrName>
                                        </p:attrNameLst>
                                      </p:cBhvr>
                                      <p:to>
                                        <p:strVal val="visible"/>
                                      </p:to>
                                    </p:set>
                                    <p:animEffect transition="in" filter="fade">
                                      <p:cBhvr>
                                        <p:cTn id="77" dur="640" decel="100000"/>
                                        <p:tgtEl>
                                          <p:spTgt spid="21"/>
                                        </p:tgtEl>
                                      </p:cBhvr>
                                    </p:animEffect>
                                    <p:anim calcmode="lin" valueType="num">
                                      <p:cBhvr>
                                        <p:cTn id="78" dur="800" fill="hold" decel="100000"/>
                                        <p:tgtEl>
                                          <p:spTgt spid="21"/>
                                        </p:tgtEl>
                                        <p:attrNameLst>
                                          <p:attrName>ppt_x</p:attrName>
                                        </p:attrNameLst>
                                      </p:cBhvr>
                                      <p:tavLst>
                                        <p:tav tm="0">
                                          <p:val>
                                            <p:strVal val="#ppt_x"/>
                                          </p:val>
                                        </p:tav>
                                        <p:tav tm="100000">
                                          <p:val>
                                            <p:strVal val="#ppt_x"/>
                                          </p:val>
                                        </p:tav>
                                      </p:tavLst>
                                    </p:anim>
                                    <p:anim calcmode="lin" valueType="num">
                                      <p:cBhvr>
                                        <p:cTn id="79" dur="800" fill="hold" decel="100000"/>
                                        <p:tgtEl>
                                          <p:spTgt spid="21"/>
                                        </p:tgtEl>
                                        <p:attrNameLst>
                                          <p:attrName>ppt_y</p:attrName>
                                        </p:attrNameLst>
                                      </p:cBhvr>
                                      <p:tavLst>
                                        <p:tav tm="0">
                                          <p:val>
                                            <p:strVal val="#ppt_y+0.0250"/>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1" grpId="0" animBg="1"/>
      <p:bldP spid="9" grpId="0" animBg="1"/>
      <p:bldP spid="12" grpId="0" animBg="1"/>
      <p:bldP spid="15" grpId="0" animBg="1"/>
      <p:bldP spid="13" grpId="0" animBg="1"/>
      <p:bldP spid="16" grpId="0" animBg="1"/>
      <p:bldP spid="19" grpId="0" animBg="1"/>
      <p:bldP spid="17" grpId="0" animBg="1"/>
      <p:bldP spid="20" grpId="0" animBg="1"/>
      <p:bldP spid="21" grpId="0" animBg="1"/>
    </p:bldLst>
  </p:timing>
</p:sld>
</file>

<file path=ppt/slides/slide4.xml><?xml version="1.0" encoding="utf-8"?>
<p:sld xmlns:p14="http://schemas.microsoft.com/office/powerpoint/2010/main"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orbA" descr="Decorative background light">    </p:cNvPr>
          <p:cNvPicPr>
            <a:picLocks noChangeAspect="1"/>
          </p:cNvPicPr>
          <p:nvPr/>
        </p:nvPicPr>
        <p:blipFill>
          <a:blip r:embed="rId1"/>
          <a:stretch>
            <a:fillRect/>
          </a:stretch>
        </p:blipFill>
        <p:spPr>
          <a:xfrm>
            <a:off x="-1234440" y="-594360"/>
            <a:ext cx="7772400" cy="7772400"/>
          </a:xfrm>
          <a:prstGeom prst="rect">
            <a:avLst/>
          </a:prstGeom>
        </p:spPr>
      </p:pic>
      <p:pic>
        <p:nvPicPr>
          <p:cNvPr id="3" name="!!orbB" descr="Decorative background light">    </p:cNvPr>
          <p:cNvPicPr>
            <a:picLocks noChangeAspect="1"/>
          </p:cNvPicPr>
          <p:nvPr/>
        </p:nvPicPr>
        <p:blipFill>
          <a:blip r:embed="rId2"/>
          <a:stretch>
            <a:fillRect/>
          </a:stretch>
        </p:blipFill>
        <p:spPr>
          <a:xfrm>
            <a:off x="8686800" y="3291840"/>
            <a:ext cx="5486400" cy="5486400"/>
          </a:xfrm>
          <a:prstGeom prst="rect">
            <a:avLst/>
          </a:prstGeom>
        </p:spPr>
      </p:pic>
      <p:pic>
        <p:nvPicPr>
          <p:cNvPr id="4" name="!!drop" descr="Oil drop illustration">    </p:cNvPr>
          <p:cNvPicPr>
            <a:picLocks noChangeAspect="1"/>
          </p:cNvPicPr>
          <p:nvPr/>
        </p:nvPicPr>
        <p:blipFill>
          <a:blip r:embed="rId3"/>
          <a:stretch>
            <a:fillRect/>
          </a:stretch>
        </p:blipFill>
        <p:spPr>
          <a:xfrm>
            <a:off x="914400" y="1051560"/>
            <a:ext cx="3474720" cy="4389120"/>
          </a:xfrm>
          <a:prstGeom prst="rect">
            <a:avLst/>
          </a:prstGeom>
        </p:spPr>
      </p:pic>
      <p:sp>
        <p:nvSpPr>
          <p:cNvPr id="5" name="!!kicker"/>
          <p:cNvSpPr txBox="1"/>
          <p:nvPr/>
        </p:nvSpPr>
        <p:spPr>
          <a:xfrm>
            <a:off x="4846320" y="1371600"/>
            <a:ext cx="4114800" cy="1554480"/>
          </a:xfrm>
          <a:prstGeom prst="rect">
            <a:avLst/>
          </a:prstGeom>
          <a:noFill/>
          <a:ln/>
        </p:spPr>
        <p:txBody>
          <a:bodyPr wrap="square" lIns="0" tIns="0" rIns="0" bIns="0" rtlCol="0" anchor="t"/>
          <a:lstStyle/>
          <a:p>
            <a:pPr indent="0" marL="0">
              <a:buNone/>
            </a:pPr>
            <a:r>
              <a:rPr lang="en-US" sz="12000" b="1" dirty="0">
                <a:solidFill>
                  <a:schemeClr val="accent1"/>
                </a:solidFill>
                <a:latin typeface="Arial" pitchFamily="34" charset="0"/>
                <a:ea typeface="Arial" pitchFamily="34" charset="-122"/>
                <a:cs typeface="Arial" pitchFamily="34" charset="-120"/>
              </a:rPr>
              <a:t>01</a:t>
            </a:r>
            <a:endParaRPr lang="en-US" sz="12000" dirty="0"/>
          </a:p>
        </p:txBody>
      </p:sp>
      <p:sp>
        <p:nvSpPr>
          <p:cNvPr id="6" name="!!title"/>
          <p:cNvSpPr txBox="1"/>
          <p:nvPr/>
        </p:nvSpPr>
        <p:spPr>
          <a:xfrm>
            <a:off x="4846320" y="2971800"/>
            <a:ext cx="6766560" cy="914400"/>
          </a:xfrm>
          <a:prstGeom prst="rect">
            <a:avLst/>
          </a:prstGeom>
          <a:noFill/>
          <a:ln/>
        </p:spPr>
        <p:txBody>
          <a:bodyPr wrap="square" lIns="0" tIns="0" rIns="0" bIns="0" rtlCol="0" anchor="t"/>
          <a:lstStyle/>
          <a:p>
            <a:pPr indent="0" marL="0">
              <a:buNone/>
            </a:pPr>
            <a:r>
              <a:rPr lang="en-US" sz="5000" b="1" dirty="0">
                <a:solidFill>
                  <a:schemeClr val="tx1"/>
                </a:solidFill>
                <a:latin typeface="Arial" pitchFamily="34" charset="0"/>
                <a:ea typeface="Arial" pitchFamily="34" charset="-122"/>
                <a:cs typeface="Arial" pitchFamily="34" charset="-120"/>
              </a:rPr>
              <a:t>History &amp; Types</a:t>
            </a:r>
            <a:endParaRPr lang="en-US" sz="5000" dirty="0"/>
          </a:p>
        </p:txBody>
      </p:sp>
      <p:sp>
        <p:nvSpPr>
          <p:cNvPr id="7" name="sec1_t_1"/>
          <p:cNvSpPr txBox="1"/>
          <p:nvPr/>
        </p:nvSpPr>
        <p:spPr>
          <a:xfrm>
            <a:off x="4846320" y="3931920"/>
            <a:ext cx="6400800" cy="822960"/>
          </a:xfrm>
          <a:prstGeom prst="rect">
            <a:avLst/>
          </a:prstGeom>
          <a:noFill/>
          <a:ln/>
        </p:spPr>
        <p:txBody>
          <a:bodyPr wrap="square" lIns="0" tIns="0" rIns="0" bIns="0" rtlCol="0" anchor="t"/>
          <a:lstStyle/>
          <a:p>
            <a:pPr indent="0" marL="0">
              <a:buNone/>
            </a:pPr>
            <a:r>
              <a:rPr lang="en-US" sz="2200" dirty="0">
                <a:solidFill>
                  <a:schemeClr val="tx2"/>
                </a:solidFill>
                <a:latin typeface="Arial" pitchFamily="34" charset="0"/>
                <a:ea typeface="Arial" pitchFamily="34" charset="-122"/>
                <a:cs typeface="Arial" pitchFamily="34" charset="-120"/>
              </a:rPr>
              <a:t>From a pearling port to a petroleum state</a:t>
            </a:r>
            <a:endParaRPr lang="en-US" sz="2200" dirty="0"/>
          </a:p>
        </p:txBody>
      </p:sp>
      <p:sp>
        <p:nvSpPr>
          <p:cNvPr id="8" name="sec1_s_2"/>
          <p:cNvSpPr/>
          <p:nvPr/>
        </p:nvSpPr>
        <p:spPr>
          <a:xfrm>
            <a:off x="4864608" y="5029200"/>
            <a:ext cx="128016" cy="128016"/>
          </a:xfrm>
          <a:prstGeom prst="ellipse">
            <a:avLst/>
          </a:prstGeom>
          <a:solidFill>
            <a:srgbClr val="FF9F0A"/>
          </a:solidFill>
          <a:ln/>
        </p:spPr>
      </p:sp>
      <p:sp>
        <p:nvSpPr>
          <p:cNvPr id="9" name="sec1_s_3"/>
          <p:cNvSpPr/>
          <p:nvPr/>
        </p:nvSpPr>
        <p:spPr>
          <a:xfrm>
            <a:off x="5157216" y="5029200"/>
            <a:ext cx="128016" cy="128016"/>
          </a:xfrm>
          <a:prstGeom prst="ellipse">
            <a:avLst/>
          </a:prstGeom>
          <a:solidFill>
            <a:srgbClr val="3A3A3C"/>
          </a:solidFill>
          <a:ln/>
        </p:spPr>
      </p:sp>
      <p:sp>
        <p:nvSpPr>
          <p:cNvPr id="10" name="sec1_s_4"/>
          <p:cNvSpPr/>
          <p:nvPr/>
        </p:nvSpPr>
        <p:spPr>
          <a:xfrm>
            <a:off x="5449824" y="5029200"/>
            <a:ext cx="128016" cy="128016"/>
          </a:xfrm>
          <a:prstGeom prst="ellipse">
            <a:avLst/>
          </a:prstGeom>
          <a:solidFill>
            <a:srgbClr val="3A3A3C"/>
          </a:solidFill>
          <a:ln/>
        </p:spPr>
      </p:sp>
      <p:sp>
        <p:nvSpPr>
          <p:cNvPr id="11" name="sec1_s_5"/>
          <p:cNvSpPr/>
          <p:nvPr/>
        </p:nvSpPr>
        <p:spPr>
          <a:xfrm>
            <a:off x="5742432" y="5029200"/>
            <a:ext cx="128016" cy="128016"/>
          </a:xfrm>
          <a:prstGeom prst="ellipse">
            <a:avLst/>
          </a:prstGeom>
          <a:solidFill>
            <a:srgbClr val="3A3A3C"/>
          </a:solidFill>
          <a:ln/>
        </p:spPr>
      </p:sp>
      <p:sp>
        <p:nvSpPr>
          <p:cNvPr id="12" name="sec1_s_6"/>
          <p:cNvSpPr/>
          <p:nvPr/>
        </p:nvSpPr>
        <p:spPr>
          <a:xfrm>
            <a:off x="6035040" y="5029200"/>
            <a:ext cx="128016" cy="128016"/>
          </a:xfrm>
          <a:prstGeom prst="ellipse">
            <a:avLst/>
          </a:prstGeom>
          <a:solidFill>
            <a:srgbClr val="3A3A3C"/>
          </a:solidFill>
          <a:ln/>
        </p:spPr>
      </p:sp>
      <p:sp>
        <p:nvSpPr>
          <p:cNvPr id="13" name="!!home_bg"/>
          <p:cNvSpPr/>
          <p:nvPr/>
        </p:nvSpPr>
        <p:spPr>
          <a:xfrm>
            <a:off x="10637215" y="6272784"/>
            <a:ext cx="384048" cy="384048"/>
          </a:xfrm>
          <a:prstGeom prst="roundRect">
            <a:avLst>
              <a:gd name="adj" fmla="val 23810"/>
            </a:avLst>
          </a:prstGeom>
          <a:solidFill>
            <a:srgbClr val="2C2C2E"/>
          </a:solidFill>
          <a:ln/>
        </p:spPr>
      </p:sp>
      <p:pic>
        <p:nvPicPr>
          <p:cNvPr id="14" name="!!home_ic" descr="Decorative graphic">    </p:cNvPr>
          <p:cNvPicPr>
            <a:picLocks noChangeAspect="1"/>
          </p:cNvPicPr>
          <p:nvPr/>
        </p:nvPicPr>
        <p:blipFill>
          <a:blip r:embed="rId4"/>
          <a:stretch>
            <a:fillRect/>
          </a:stretch>
        </p:blipFill>
        <p:spPr>
          <a:xfrm>
            <a:off x="10719511" y="6355080"/>
            <a:ext cx="219456" cy="219456"/>
          </a:xfrm>
          <a:prstGeom prst="rect">
            <a:avLst/>
          </a:prstGeom>
        </p:spPr>
      </p:pic>
      <p:sp>
        <p:nvSpPr>
          <p:cNvPr id="15" name="!!home_hit">
            <a:hlinkClick r:id="rId5" tooltip="Back to contents" action="ppaction://hlinksldjump" highlightClick="1"/>
          </p:cNvPr>
          <p:cNvSpPr/>
          <p:nvPr/>
        </p:nvSpPr>
        <p:spPr>
          <a:xfrm>
            <a:off x="10637215" y="6272784"/>
            <a:ext cx="384048" cy="384048"/>
          </a:xfrm>
          <a:prstGeom prst="roundRect">
            <a:avLst>
              <a:gd name="adj" fmla="val 23810"/>
            </a:avLst>
          </a:prstGeom>
          <a:solidFill>
            <a:srgbClr val="000000">
              <a:alpha val="0"/>
            </a:srgbClr>
          </a:solidFill>
          <a:ln/>
        </p:spPr>
      </p:sp>
      <p:sp>
        <p:nvSpPr>
          <p:cNvPr id="17" name="!!footer"/>
          <p:cNvSpPr txBox="1"/>
          <p:nvPr/>
        </p:nvSpPr>
        <p:spPr>
          <a:xfrm>
            <a:off x="548640" y="6327648"/>
            <a:ext cx="5486400" cy="292608"/>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Kuwait Oil &amp; Gas  ·  EGCH2230</a:t>
            </a:r>
            <a:endParaRPr lang="en-US" sz="1200" dirty="0"/>
          </a:p>
        </p:txBody>
      </p:sp>
      <p:sp>
        <p:nvSpPr>
          <p:cNvPr id="18" name="!!num"/>
          <p:cNvSpPr txBox="1"/>
          <p:nvPr/>
        </p:nvSpPr>
        <p:spPr>
          <a:xfrm>
            <a:off x="11094415" y="6327648"/>
            <a:ext cx="548640" cy="292608"/>
          </a:xfrm>
          <a:prstGeom prst="rect">
            <a:avLst/>
          </a:prstGeom>
          <a:noFill/>
          <a:ln/>
        </p:spPr>
        <p:txBody>
          <a:bodyPr wrap="square" lIns="0" tIns="0" rIns="0" bIns="0" rtlCol="0" anchor="ctr"/>
          <a:lstStyle/>
          <a:p>
            <a:pPr algn="r" indent="0" marL="0">
              <a:buNone/>
            </a:pPr>
            <a:r>
              <a:rPr lang="en-US" sz="1200" dirty="0">
                <a:solidFill>
                  <a:schemeClr val="tx2"/>
                </a:solidFill>
                <a:latin typeface="Arial" pitchFamily="34" charset="0"/>
                <a:ea typeface="Arial" pitchFamily="34" charset="-122"/>
                <a:cs typeface="Arial" pitchFamily="34" charset="-120"/>
              </a:rPr>
              <a:t>4</a:t>
            </a:r>
            <a:endParaRPr lang="en-US" sz="1200" dirty="0"/>
          </a:p>
        </p:txBody>
      </p:sp>
      <p:pic>
        <p:nvPicPr>
          <p:cNvPr id="19" name="!!badge" descr="University of Technology and Applied Sciences, Salalah">    </p:cNvPr>
          <p:cNvPicPr>
            <a:picLocks noChangeAspect="1"/>
          </p:cNvPicPr>
          <p:nvPr/>
        </p:nvPicPr>
        <p:blipFill>
          <a:blip r:embed="rId6"/>
          <a:stretch>
            <a:fillRect/>
          </a:stretch>
        </p:blipFill>
        <p:spPr>
          <a:xfrm>
            <a:off x="9677095" y="274320"/>
            <a:ext cx="1965960" cy="80987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0" presetClass="path" presetSubtype="0" fill="hold" grpId="0" nodeType="afterEffect" repeatCount="indefinite" autoRev="1">
                                  <p:stCondLst>
                                    <p:cond delay="0"/>
                                  </p:stCondLst>
                                  <p:childTnLst>
                                    <p:animMotion origin="layout" path="M 0 0 L 0.0350 -0.0300 E" pathEditMode="relative" ptsTypes="">
                                      <p:cBhvr>
                                        <p:cTn id="5" dur="13000" fill="hold" accel="50000" decel="50000"/>
                                        <p:tgtEl>
                                          <p:spTgt spid="2"/>
                                        </p:tgtEl>
                                        <p:attrNameLst>
                                          <p:attrName>ppt_x</p:attrName>
                                          <p:attrName>ppt_y</p:attrName>
                                        </p:attrNameLst>
                                      </p:cBhvr>
                                      <p:rCtr x="0" y="0"/>
                                    </p:animMotion>
                                  </p:childTnLst>
                                </p:cTn>
                              </p:par>
                              <p:par>
                                <p:cTn id="8" presetID="0" presetClass="path" presetSubtype="0" fill="hold" grpId="0" nodeType="withEffect" repeatCount="indefinite" autoRev="1">
                                  <p:stCondLst>
                                    <p:cond delay="0"/>
                                  </p:stCondLst>
                                  <p:childTnLst>
                                    <p:animMotion origin="layout" path="M 0 0 L -0.0300 0.0250 E" pathEditMode="relative" ptsTypes="">
                                      <p:cBhvr>
                                        <p:cTn id="7" dur="15000" fill="hold" accel="50000" decel="50000"/>
                                        <p:tgtEl>
                                          <p:spTgt spid="3"/>
                                        </p:tgtEl>
                                        <p:attrNameLst>
                                          <p:attrName>ppt_x</p:attrName>
                                          <p:attrName>ppt_y</p:attrName>
                                        </p:attrNameLst>
                                      </p:cBhvr>
                                      <p:rCtr x="0" y="0"/>
                                    </p:animMotion>
                                  </p:childTnLst>
                                </p:cTn>
                              </p:par>
                              <p:par>
                                <p:cTn id="13" presetID="53" presetClass="entr" presetSubtype="16"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p:cTn id="10" dur="1600" fill="hold" decel="100000"/>
                                        <p:tgtEl>
                                          <p:spTgt spid="4"/>
                                        </p:tgtEl>
                                        <p:attrNameLst>
                                          <p:attrName>ppt_w</p:attrName>
                                        </p:attrNameLst>
                                      </p:cBhvr>
                                      <p:tavLst>
                                        <p:tav tm="0">
                                          <p:val>
                                            <p:strVal val="#ppt_w*0.880"/>
                                          </p:val>
                                        </p:tav>
                                        <p:tav tm="100000">
                                          <p:val>
                                            <p:strVal val="#ppt_w"/>
                                          </p:val>
                                        </p:tav>
                                      </p:tavLst>
                                    </p:anim>
                                    <p:anim calcmode="lin" valueType="num">
                                      <p:cBhvr>
                                        <p:cTn id="11" dur="1600" fill="hold" decel="100000"/>
                                        <p:tgtEl>
                                          <p:spTgt spid="4"/>
                                        </p:tgtEl>
                                        <p:attrNameLst>
                                          <p:attrName>ppt_h</p:attrName>
                                        </p:attrNameLst>
                                      </p:cBhvr>
                                      <p:tavLst>
                                        <p:tav tm="0">
                                          <p:val>
                                            <p:strVal val="#ppt_h*0.880"/>
                                          </p:val>
                                        </p:tav>
                                        <p:tav tm="100000">
                                          <p:val>
                                            <p:strVal val="#ppt_h"/>
                                          </p:val>
                                        </p:tav>
                                      </p:tavLst>
                                    </p:anim>
                                    <p:animEffect transition="in" filter="fade">
                                      <p:cBhvr>
                                        <p:cTn id="12" dur="1120" decel="100000"/>
                                        <p:tgtEl>
                                          <p:spTgt spid="4"/>
                                        </p:tgtEl>
                                      </p:cBhvr>
                                    </p:animEffect>
                                  </p:childTnLst>
                                </p:cTn>
                              </p:par>
                              <p:par>
                                <p:cTn id="18" presetID="42" presetClass="entr" presetSubtype="0" fill="hold" grpId="0" nodeType="withEffect">
                                  <p:stCondLst>
                                    <p:cond delay="70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720" decel="100000"/>
                                        <p:tgtEl>
                                          <p:spTgt spid="7"/>
                                        </p:tgtEl>
                                      </p:cBhvr>
                                    </p:animEffect>
                                    <p:anim calcmode="lin" valueType="num">
                                      <p:cBhvr>
                                        <p:cTn id="16" dur="900" fill="hold" decel="100000"/>
                                        <p:tgtEl>
                                          <p:spTgt spid="7"/>
                                        </p:tgtEl>
                                        <p:attrNameLst>
                                          <p:attrName>ppt_x</p:attrName>
                                        </p:attrNameLst>
                                      </p:cBhvr>
                                      <p:tavLst>
                                        <p:tav tm="0">
                                          <p:val>
                                            <p:strVal val="#ppt_x"/>
                                          </p:val>
                                        </p:tav>
                                        <p:tav tm="100000">
                                          <p:val>
                                            <p:strVal val="#ppt_x"/>
                                          </p:val>
                                        </p:tav>
                                      </p:tavLst>
                                    </p:anim>
                                    <p:anim calcmode="lin" valueType="num">
                                      <p:cBhvr>
                                        <p:cTn id="17" dur="900" fill="hold" decel="100000"/>
                                        <p:tgtEl>
                                          <p:spTgt spid="7"/>
                                        </p:tgtEl>
                                        <p:attrNameLst>
                                          <p:attrName>ppt_y</p:attrName>
                                        </p:attrNameLst>
                                      </p:cBhvr>
                                      <p:tavLst>
                                        <p:tav tm="0">
                                          <p:val>
                                            <p:strVal val="#ppt_y+0.0250"/>
                                          </p:val>
                                        </p:tav>
                                        <p:tav tm="100000">
                                          <p:val>
                                            <p:strVal val="#ppt_y"/>
                                          </p:val>
                                        </p:tav>
                                      </p:tavLst>
                                    </p:anim>
                                  </p:childTnLst>
                                </p:cTn>
                              </p:par>
                              <p:par>
                                <p:cTn id="21" presetID="10" presetClass="entr" presetSubtype="0" fill="hold" grpId="0" nodeType="withEffect">
                                  <p:stCondLst>
                                    <p:cond delay="90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600" decel="100000"/>
                                        <p:tgtEl>
                                          <p:spTgt spid="8"/>
                                        </p:tgtEl>
                                      </p:cBhvr>
                                    </p:animEffect>
                                  </p:childTnLst>
                                </p:cTn>
                              </p:par>
                              <p:par>
                                <p:cTn id="24" presetID="10" presetClass="entr" presetSubtype="0" fill="hold" grpId="0" nodeType="withEffect">
                                  <p:stCondLst>
                                    <p:cond delay="98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600" decel="100000"/>
                                        <p:tgtEl>
                                          <p:spTgt spid="9"/>
                                        </p:tgtEl>
                                      </p:cBhvr>
                                    </p:animEffect>
                                  </p:childTnLst>
                                </p:cTn>
                              </p:par>
                              <p:par>
                                <p:cTn id="27" presetID="10" presetClass="entr" presetSubtype="0" fill="hold" grpId="0" nodeType="withEffect">
                                  <p:stCondLst>
                                    <p:cond delay="106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600" decel="100000"/>
                                        <p:tgtEl>
                                          <p:spTgt spid="10"/>
                                        </p:tgtEl>
                                      </p:cBhvr>
                                    </p:animEffect>
                                  </p:childTnLst>
                                </p:cTn>
                              </p:par>
                              <p:par>
                                <p:cTn id="30" presetID="10" presetClass="entr" presetSubtype="0" fill="hold" grpId="0" nodeType="withEffect">
                                  <p:stCondLst>
                                    <p:cond delay="114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600" decel="100000"/>
                                        <p:tgtEl>
                                          <p:spTgt spid="11"/>
                                        </p:tgtEl>
                                      </p:cBhvr>
                                    </p:animEffect>
                                  </p:childTnLst>
                                </p:cTn>
                              </p:par>
                              <p:par>
                                <p:cTn id="33" presetID="10" presetClass="entr" presetSubtype="0" fill="hold" grpId="0" nodeType="withEffect">
                                  <p:stCondLst>
                                    <p:cond delay="122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600" decel="100000"/>
                                        <p:tgtEl>
                                          <p:spTgt spid="12"/>
                                        </p:tgtEl>
                                      </p:cBhvr>
                                    </p:animEffect>
                                  </p:childTnLst>
                                </p:cTn>
                              </p:par>
                              <p:par>
                                <p:cTn id="35" presetID="0" presetClass="path" presetSubtype="0" fill="hold" grpId="1" nodeType="withEffect" repeatCount="indefinite" autoRev="1">
                                  <p:stCondLst>
                                    <p:cond delay="1600"/>
                                  </p:stCondLst>
                                  <p:childTnLst>
                                    <p:animMotion origin="layout" path="M 0 0 L 0.0000 -0.0160 E" pathEditMode="relative" ptsTypes="">
                                      <p:cBhvr>
                                        <p:cTn id="34" dur="3800" fill="hold" accel="50000" decel="50000"/>
                                        <p:tgtEl>
                                          <p:spTgt spid="4"/>
                                        </p:tgtEl>
                                        <p:attrNameLst>
                                          <p:attrName>ppt_x</p:attrName>
                                          <p:attrName>ppt_y</p:attrName>
                                        </p:attrNameLst>
                                      </p:cBhvr>
                                      <p:rCtr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Lst>
  </p:timing>
</p:sld>
</file>

<file path=ppt/slides/slide5.xml><?xml version="1.0" encoding="utf-8"?>
<p:sld xmlns:p14="http://schemas.microsoft.com/office/powerpoint/2010/main"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orbA" descr="Decorative background light">    </p:cNvPr>
          <p:cNvPicPr>
            <a:picLocks noChangeAspect="1"/>
          </p:cNvPicPr>
          <p:nvPr/>
        </p:nvPicPr>
        <p:blipFill>
          <a:blip r:embed="rId1"/>
          <a:stretch>
            <a:fillRect/>
          </a:stretch>
        </p:blipFill>
        <p:spPr>
          <a:xfrm>
            <a:off x="1554480" y="2468880"/>
            <a:ext cx="9144000" cy="9144000"/>
          </a:xfrm>
          <a:prstGeom prst="rect">
            <a:avLst/>
          </a:prstGeom>
        </p:spPr>
      </p:pic>
      <p:pic>
        <p:nvPicPr>
          <p:cNvPr id="3" name="!!orbB" descr="Decorative background light">    </p:cNvPr>
          <p:cNvPicPr>
            <a:picLocks noChangeAspect="1"/>
          </p:cNvPicPr>
          <p:nvPr/>
        </p:nvPicPr>
        <p:blipFill>
          <a:blip r:embed="rId2"/>
          <a:stretch>
            <a:fillRect/>
          </a:stretch>
        </p:blipFill>
        <p:spPr>
          <a:xfrm>
            <a:off x="9235440" y="-1828800"/>
            <a:ext cx="4572000" cy="4572000"/>
          </a:xfrm>
          <a:prstGeom prst="rect">
            <a:avLst/>
          </a:prstGeom>
        </p:spPr>
      </p:pic>
      <p:sp>
        <p:nvSpPr>
          <p:cNvPr id="4" name="!!kicker"/>
          <p:cNvSpPr/>
          <p:nvPr>
            <p:ph idx="100" type="body" hasCustomPrompt="1"/>
          </p:nvPr>
        </p:nvSpPr>
        <p:spPr>
          <a:xfrm>
            <a:off x="548640" y="384048"/>
            <a:ext cx="8732520" cy="329184"/>
          </a:xfrm>
          <a:prstGeom prst="rect">
            <a:avLst/>
          </a:prstGeom>
          <a:noFill/>
          <a:ln/>
        </p:spPr>
        <p:txBody>
          <a:bodyPr wrap="square" lIns="0" tIns="0" rIns="0" bIns="0" rtlCol="0" anchor="t"/>
          <a:lstStyle/>
          <a:p>
            <a:pPr algn="l" indent="0" marL="0">
              <a:buNone/>
            </a:pPr>
            <a:r>
              <a:rPr lang="en-US" sz="1500" b="1" spc="300" kern="0" dirty="0">
                <a:solidFill>
                  <a:schemeClr val="accent1"/>
                </a:solidFill>
              </a:rPr>
              <a:t>01 — HISTORY &amp; TYPES</a:t>
            </a:r>
            <a:endParaRPr lang="en-US" sz="1500" dirty="0"/>
          </a:p>
        </p:txBody>
      </p:sp>
      <p:sp>
        <p:nvSpPr>
          <p:cNvPr id="5" name="!!title"/>
          <p:cNvSpPr/>
          <p:nvPr>
            <p:ph idx="101" type="title" hasCustomPrompt="1"/>
          </p:nvPr>
        </p:nvSpPr>
        <p:spPr>
          <a:xfrm>
            <a:off x="548640" y="731520"/>
            <a:ext cx="8732520" cy="786384"/>
          </a:xfrm>
          <a:prstGeom prst="rect">
            <a:avLst/>
          </a:prstGeom>
          <a:noFill/>
          <a:ln/>
        </p:spPr>
        <p:txBody>
          <a:bodyPr wrap="square" lIns="0" tIns="0" rIns="0" bIns="0" rtlCol="0" anchor="t"/>
          <a:lstStyle/>
          <a:p>
            <a:pPr algn="l" indent="0" marL="0">
              <a:buNone/>
            </a:pPr>
            <a:r>
              <a:rPr lang="en-US" sz="3800" b="1" dirty="0">
                <a:solidFill>
                  <a:schemeClr val="tx1"/>
                </a:solidFill>
              </a:rPr>
              <a:t>Ninety years in nine moments</a:t>
            </a:r>
            <a:endParaRPr lang="en-US" sz="3800" dirty="0"/>
          </a:p>
        </p:txBody>
      </p:sp>
      <p:sp>
        <p:nvSpPr>
          <p:cNvPr id="6" name="timeline_s_1"/>
          <p:cNvSpPr/>
          <p:nvPr/>
        </p:nvSpPr>
        <p:spPr>
          <a:xfrm>
            <a:off x="960120" y="3689604"/>
            <a:ext cx="10271455" cy="27432"/>
          </a:xfrm>
          <a:prstGeom prst="rect">
            <a:avLst/>
          </a:prstGeom>
          <a:solidFill>
            <a:srgbClr val="3A3A3C"/>
          </a:solidFill>
          <a:ln/>
        </p:spPr>
      </p:sp>
      <p:sp>
        <p:nvSpPr>
          <p:cNvPr id="7" name="timeline_s_2"/>
          <p:cNvSpPr/>
          <p:nvPr/>
        </p:nvSpPr>
        <p:spPr>
          <a:xfrm>
            <a:off x="960120" y="3685032"/>
            <a:ext cx="10271455" cy="36576"/>
          </a:xfrm>
          <a:prstGeom prst="rect">
            <a:avLst/>
          </a:prstGeom>
          <a:solidFill>
            <a:srgbClr val="FF9F0A">
              <a:alpha val="65000"/>
            </a:srgbClr>
          </a:solidFill>
          <a:ln/>
        </p:spPr>
      </p:sp>
      <p:sp>
        <p:nvSpPr>
          <p:cNvPr id="8" name="timeline_s_3"/>
          <p:cNvSpPr/>
          <p:nvPr/>
        </p:nvSpPr>
        <p:spPr>
          <a:xfrm>
            <a:off x="1115568" y="3584448"/>
            <a:ext cx="237744" cy="237744"/>
          </a:xfrm>
          <a:prstGeom prst="ellipse">
            <a:avLst/>
          </a:prstGeom>
          <a:solidFill>
            <a:srgbClr val="FF9F0A"/>
          </a:solidFill>
          <a:ln/>
          <a:effectLst>
            <a:outerShdw sx="100000" sy="100000" kx="0" ky="0" algn="bl" rotWithShape="0" blurRad="152400" dist="50800" dir="5400000">
              <a:srgbClr val="FF9F0A">
                <a:alpha val="80000"/>
              </a:srgbClr>
            </a:outerShdw>
          </a:effectLst>
        </p:spPr>
      </p:sp>
      <p:sp>
        <p:nvSpPr>
          <p:cNvPr id="9" name="timeline_s_4"/>
          <p:cNvSpPr/>
          <p:nvPr/>
        </p:nvSpPr>
        <p:spPr>
          <a:xfrm>
            <a:off x="1227125" y="3273552"/>
            <a:ext cx="14630" cy="246888"/>
          </a:xfrm>
          <a:prstGeom prst="rect">
            <a:avLst/>
          </a:prstGeom>
          <a:solidFill>
            <a:srgbClr val="3A3A3C"/>
          </a:solidFill>
          <a:ln/>
        </p:spPr>
      </p:sp>
      <p:sp>
        <p:nvSpPr>
          <p:cNvPr id="10" name="timeline_t_5"/>
          <p:cNvSpPr txBox="1"/>
          <p:nvPr/>
        </p:nvSpPr>
        <p:spPr>
          <a:xfrm>
            <a:off x="548640" y="2240280"/>
            <a:ext cx="1371600" cy="457200"/>
          </a:xfrm>
          <a:prstGeom prst="rect">
            <a:avLst/>
          </a:prstGeom>
          <a:noFill/>
          <a:ln/>
        </p:spPr>
        <p:txBody>
          <a:bodyPr wrap="square" lIns="0" tIns="0" rIns="0" bIns="0" rtlCol="0" anchor="t"/>
          <a:lstStyle/>
          <a:p>
            <a:pPr algn="ctr" indent="0" marL="0">
              <a:buNone/>
            </a:pPr>
            <a:r>
              <a:rPr lang="en-US" sz="2800" b="1" dirty="0">
                <a:solidFill>
                  <a:schemeClr val="tx1"/>
                </a:solidFill>
                <a:latin typeface="Arial" pitchFamily="34" charset="0"/>
                <a:ea typeface="Arial" pitchFamily="34" charset="-122"/>
                <a:cs typeface="Arial" pitchFamily="34" charset="-120"/>
              </a:rPr>
              <a:t>1934</a:t>
            </a:r>
            <a:endParaRPr lang="en-US" sz="2800" dirty="0"/>
          </a:p>
        </p:txBody>
      </p:sp>
      <p:sp>
        <p:nvSpPr>
          <p:cNvPr id="11" name="timeline_t_6"/>
          <p:cNvSpPr txBox="1"/>
          <p:nvPr/>
        </p:nvSpPr>
        <p:spPr>
          <a:xfrm>
            <a:off x="365760" y="2697480"/>
            <a:ext cx="1737360" cy="548640"/>
          </a:xfrm>
          <a:prstGeom prst="rect">
            <a:avLst/>
          </a:prstGeom>
          <a:noFill/>
          <a:ln/>
        </p:spPr>
        <p:txBody>
          <a:bodyPr wrap="square" lIns="0" tIns="0" rIns="0" bIns="0" rtlCol="0" anchor="t"/>
          <a:lstStyle/>
          <a:p>
            <a:pPr algn="ctr" indent="0" marL="0">
              <a:buNone/>
            </a:pPr>
            <a:r>
              <a:rPr lang="en-US" sz="1500" dirty="0">
                <a:solidFill>
                  <a:schemeClr val="tx2"/>
                </a:solidFill>
                <a:latin typeface="Arial" pitchFamily="34" charset="0"/>
                <a:ea typeface="Arial" pitchFamily="34" charset="-122"/>
                <a:cs typeface="Arial" pitchFamily="34" charset="-120"/>
              </a:rPr>
              <a:t>Oil concession</a:t>
            </a:r>
            <a:endParaRPr lang="en-US" sz="1500" dirty="0"/>
          </a:p>
          <a:p>
            <a:pPr algn="ctr" indent="0" marL="0">
              <a:buNone/>
            </a:pPr>
            <a:r>
              <a:rPr lang="en-US" sz="1500" dirty="0">
                <a:solidFill>
                  <a:schemeClr val="tx2"/>
                </a:solidFill>
                <a:latin typeface="Arial" pitchFamily="34" charset="0"/>
                <a:ea typeface="Arial" pitchFamily="34" charset="-122"/>
                <a:cs typeface="Arial" pitchFamily="34" charset="-120"/>
              </a:rPr>
              <a:t>signed with KOC</a:t>
            </a:r>
            <a:endParaRPr lang="en-US" sz="1500" dirty="0"/>
          </a:p>
        </p:txBody>
      </p:sp>
      <p:sp>
        <p:nvSpPr>
          <p:cNvPr id="12" name="timeline_s_7"/>
          <p:cNvSpPr/>
          <p:nvPr/>
        </p:nvSpPr>
        <p:spPr>
          <a:xfrm>
            <a:off x="2330920" y="3584448"/>
            <a:ext cx="237744" cy="237744"/>
          </a:xfrm>
          <a:prstGeom prst="ellipse">
            <a:avLst/>
          </a:prstGeom>
          <a:solidFill>
            <a:srgbClr val="FF9F0A"/>
          </a:solidFill>
          <a:ln/>
          <a:effectLst>
            <a:outerShdw sx="100000" sy="100000" kx="0" ky="0" algn="bl" rotWithShape="0" blurRad="152400" dist="50800" dir="5400000">
              <a:srgbClr val="FF9F0A">
                <a:alpha val="80000"/>
              </a:srgbClr>
            </a:outerShdw>
          </a:effectLst>
        </p:spPr>
      </p:sp>
      <p:sp>
        <p:nvSpPr>
          <p:cNvPr id="13" name="timeline_s_8"/>
          <p:cNvSpPr/>
          <p:nvPr/>
        </p:nvSpPr>
        <p:spPr>
          <a:xfrm>
            <a:off x="2442477" y="3886200"/>
            <a:ext cx="14630" cy="338328"/>
          </a:xfrm>
          <a:prstGeom prst="rect">
            <a:avLst/>
          </a:prstGeom>
          <a:solidFill>
            <a:srgbClr val="3A3A3C"/>
          </a:solidFill>
          <a:ln/>
        </p:spPr>
      </p:sp>
      <p:sp>
        <p:nvSpPr>
          <p:cNvPr id="14" name="timeline_t_9"/>
          <p:cNvSpPr txBox="1"/>
          <p:nvPr/>
        </p:nvSpPr>
        <p:spPr>
          <a:xfrm>
            <a:off x="1763992" y="4343400"/>
            <a:ext cx="1371600" cy="457200"/>
          </a:xfrm>
          <a:prstGeom prst="rect">
            <a:avLst/>
          </a:prstGeom>
          <a:noFill/>
          <a:ln/>
        </p:spPr>
        <p:txBody>
          <a:bodyPr wrap="square" lIns="0" tIns="0" rIns="0" bIns="0" rtlCol="0" anchor="t"/>
          <a:lstStyle/>
          <a:p>
            <a:pPr algn="ctr" indent="0" marL="0">
              <a:buNone/>
            </a:pPr>
            <a:r>
              <a:rPr lang="en-US" sz="2800" b="1" dirty="0">
                <a:solidFill>
                  <a:schemeClr val="tx1"/>
                </a:solidFill>
                <a:latin typeface="Arial" pitchFamily="34" charset="0"/>
                <a:ea typeface="Arial" pitchFamily="34" charset="-122"/>
                <a:cs typeface="Arial" pitchFamily="34" charset="-120"/>
              </a:rPr>
              <a:t>1938</a:t>
            </a:r>
            <a:endParaRPr lang="en-US" sz="2800" dirty="0"/>
          </a:p>
        </p:txBody>
      </p:sp>
      <p:sp>
        <p:nvSpPr>
          <p:cNvPr id="15" name="timeline_t_10"/>
          <p:cNvSpPr txBox="1"/>
          <p:nvPr/>
        </p:nvSpPr>
        <p:spPr>
          <a:xfrm>
            <a:off x="1581112" y="4800600"/>
            <a:ext cx="1737360" cy="548640"/>
          </a:xfrm>
          <a:prstGeom prst="rect">
            <a:avLst/>
          </a:prstGeom>
          <a:noFill/>
          <a:ln/>
        </p:spPr>
        <p:txBody>
          <a:bodyPr wrap="square" lIns="0" tIns="0" rIns="0" bIns="0" rtlCol="0" anchor="t"/>
          <a:lstStyle/>
          <a:p>
            <a:pPr algn="ctr" indent="0" marL="0">
              <a:buNone/>
            </a:pPr>
            <a:r>
              <a:rPr lang="en-US" sz="1500" dirty="0">
                <a:solidFill>
                  <a:schemeClr val="tx2"/>
                </a:solidFill>
                <a:latin typeface="Arial" pitchFamily="34" charset="0"/>
                <a:ea typeface="Arial" pitchFamily="34" charset="-122"/>
                <a:cs typeface="Arial" pitchFamily="34" charset="-120"/>
              </a:rPr>
              <a:t>Oil strikes at</a:t>
            </a:r>
            <a:endParaRPr lang="en-US" sz="1500" dirty="0"/>
          </a:p>
          <a:p>
            <a:pPr algn="ctr" indent="0" marL="0">
              <a:buNone/>
            </a:pPr>
            <a:r>
              <a:rPr lang="en-US" sz="1500" dirty="0">
                <a:solidFill>
                  <a:schemeClr val="tx2"/>
                </a:solidFill>
                <a:latin typeface="Arial" pitchFamily="34" charset="0"/>
                <a:ea typeface="Arial" pitchFamily="34" charset="-122"/>
                <a:cs typeface="Arial" pitchFamily="34" charset="-120"/>
              </a:rPr>
              <a:t>Burgan No. 1</a:t>
            </a:r>
            <a:endParaRPr lang="en-US" sz="1500" dirty="0"/>
          </a:p>
        </p:txBody>
      </p:sp>
      <p:sp>
        <p:nvSpPr>
          <p:cNvPr id="16" name="timeline_s_11"/>
          <p:cNvSpPr/>
          <p:nvPr/>
        </p:nvSpPr>
        <p:spPr>
          <a:xfrm>
            <a:off x="3546272" y="3584448"/>
            <a:ext cx="237744" cy="237744"/>
          </a:xfrm>
          <a:prstGeom prst="ellipse">
            <a:avLst/>
          </a:prstGeom>
          <a:solidFill>
            <a:srgbClr val="FF9F0A"/>
          </a:solidFill>
          <a:ln/>
          <a:effectLst>
            <a:outerShdw sx="100000" sy="100000" kx="0" ky="0" algn="bl" rotWithShape="0" blurRad="152400" dist="50800" dir="5400000">
              <a:srgbClr val="FF9F0A">
                <a:alpha val="80000"/>
              </a:srgbClr>
            </a:outerShdw>
          </a:effectLst>
        </p:spPr>
      </p:sp>
      <p:sp>
        <p:nvSpPr>
          <p:cNvPr id="17" name="timeline_s_12"/>
          <p:cNvSpPr/>
          <p:nvPr/>
        </p:nvSpPr>
        <p:spPr>
          <a:xfrm>
            <a:off x="3657829" y="3273552"/>
            <a:ext cx="14630" cy="246888"/>
          </a:xfrm>
          <a:prstGeom prst="rect">
            <a:avLst/>
          </a:prstGeom>
          <a:solidFill>
            <a:srgbClr val="3A3A3C"/>
          </a:solidFill>
          <a:ln/>
        </p:spPr>
      </p:sp>
      <p:sp>
        <p:nvSpPr>
          <p:cNvPr id="18" name="timeline_t_13"/>
          <p:cNvSpPr txBox="1"/>
          <p:nvPr/>
        </p:nvSpPr>
        <p:spPr>
          <a:xfrm>
            <a:off x="2979344" y="2240280"/>
            <a:ext cx="1371600" cy="457200"/>
          </a:xfrm>
          <a:prstGeom prst="rect">
            <a:avLst/>
          </a:prstGeom>
          <a:noFill/>
          <a:ln/>
        </p:spPr>
        <p:txBody>
          <a:bodyPr wrap="square" lIns="0" tIns="0" rIns="0" bIns="0" rtlCol="0" anchor="t"/>
          <a:lstStyle/>
          <a:p>
            <a:pPr algn="ctr" indent="0" marL="0">
              <a:buNone/>
            </a:pPr>
            <a:r>
              <a:rPr lang="en-US" sz="2800" b="1" dirty="0">
                <a:solidFill>
                  <a:schemeClr val="tx1"/>
                </a:solidFill>
                <a:latin typeface="Arial" pitchFamily="34" charset="0"/>
                <a:ea typeface="Arial" pitchFamily="34" charset="-122"/>
                <a:cs typeface="Arial" pitchFamily="34" charset="-120"/>
              </a:rPr>
              <a:t>1946</a:t>
            </a:r>
            <a:endParaRPr lang="en-US" sz="2800" dirty="0"/>
          </a:p>
        </p:txBody>
      </p:sp>
      <p:sp>
        <p:nvSpPr>
          <p:cNvPr id="19" name="timeline_t_14"/>
          <p:cNvSpPr txBox="1"/>
          <p:nvPr/>
        </p:nvSpPr>
        <p:spPr>
          <a:xfrm>
            <a:off x="2796464" y="2697480"/>
            <a:ext cx="1737360" cy="548640"/>
          </a:xfrm>
          <a:prstGeom prst="rect">
            <a:avLst/>
          </a:prstGeom>
          <a:noFill/>
          <a:ln/>
        </p:spPr>
        <p:txBody>
          <a:bodyPr wrap="square" lIns="0" tIns="0" rIns="0" bIns="0" rtlCol="0" anchor="t"/>
          <a:lstStyle/>
          <a:p>
            <a:pPr algn="ctr" indent="0" marL="0">
              <a:buNone/>
            </a:pPr>
            <a:r>
              <a:rPr lang="en-US" sz="1500" dirty="0">
                <a:solidFill>
                  <a:schemeClr val="tx2"/>
                </a:solidFill>
                <a:latin typeface="Arial" pitchFamily="34" charset="0"/>
                <a:ea typeface="Arial" pitchFamily="34" charset="-122"/>
                <a:cs typeface="Arial" pitchFamily="34" charset="-120"/>
              </a:rPr>
              <a:t>First crude</a:t>
            </a:r>
            <a:endParaRPr lang="en-US" sz="1500" dirty="0"/>
          </a:p>
          <a:p>
            <a:pPr algn="ctr" indent="0" marL="0">
              <a:buNone/>
            </a:pPr>
            <a:r>
              <a:rPr lang="en-US" sz="1500" dirty="0">
                <a:solidFill>
                  <a:schemeClr val="tx2"/>
                </a:solidFill>
                <a:latin typeface="Arial" pitchFamily="34" charset="0"/>
                <a:ea typeface="Arial" pitchFamily="34" charset="-122"/>
                <a:cs typeface="Arial" pitchFamily="34" charset="-120"/>
              </a:rPr>
              <a:t>export</a:t>
            </a:r>
            <a:endParaRPr lang="en-US" sz="1500" dirty="0"/>
          </a:p>
        </p:txBody>
      </p:sp>
      <p:sp>
        <p:nvSpPr>
          <p:cNvPr id="20" name="timeline_s_15"/>
          <p:cNvSpPr/>
          <p:nvPr/>
        </p:nvSpPr>
        <p:spPr>
          <a:xfrm>
            <a:off x="4761624" y="3584448"/>
            <a:ext cx="237744" cy="237744"/>
          </a:xfrm>
          <a:prstGeom prst="ellipse">
            <a:avLst/>
          </a:prstGeom>
          <a:solidFill>
            <a:srgbClr val="FF9F0A"/>
          </a:solidFill>
          <a:ln/>
          <a:effectLst>
            <a:outerShdw sx="100000" sy="100000" kx="0" ky="0" algn="bl" rotWithShape="0" blurRad="152400" dist="50800" dir="5400000">
              <a:srgbClr val="FF9F0A">
                <a:alpha val="80000"/>
              </a:srgbClr>
            </a:outerShdw>
          </a:effectLst>
        </p:spPr>
      </p:sp>
      <p:sp>
        <p:nvSpPr>
          <p:cNvPr id="21" name="timeline_s_16"/>
          <p:cNvSpPr/>
          <p:nvPr/>
        </p:nvSpPr>
        <p:spPr>
          <a:xfrm>
            <a:off x="4873181" y="3886200"/>
            <a:ext cx="14630" cy="338328"/>
          </a:xfrm>
          <a:prstGeom prst="rect">
            <a:avLst/>
          </a:prstGeom>
          <a:solidFill>
            <a:srgbClr val="3A3A3C"/>
          </a:solidFill>
          <a:ln/>
        </p:spPr>
      </p:sp>
      <p:sp>
        <p:nvSpPr>
          <p:cNvPr id="22" name="timeline_t_17"/>
          <p:cNvSpPr txBox="1"/>
          <p:nvPr/>
        </p:nvSpPr>
        <p:spPr>
          <a:xfrm>
            <a:off x="4194696" y="4343400"/>
            <a:ext cx="1371600" cy="457200"/>
          </a:xfrm>
          <a:prstGeom prst="rect">
            <a:avLst/>
          </a:prstGeom>
          <a:noFill/>
          <a:ln/>
        </p:spPr>
        <p:txBody>
          <a:bodyPr wrap="square" lIns="0" tIns="0" rIns="0" bIns="0" rtlCol="0" anchor="t"/>
          <a:lstStyle/>
          <a:p>
            <a:pPr algn="ctr" indent="0" marL="0">
              <a:buNone/>
            </a:pPr>
            <a:r>
              <a:rPr lang="en-US" sz="2800" b="1" dirty="0">
                <a:solidFill>
                  <a:schemeClr val="tx1"/>
                </a:solidFill>
                <a:latin typeface="Arial" pitchFamily="34" charset="0"/>
                <a:ea typeface="Arial" pitchFamily="34" charset="-122"/>
                <a:cs typeface="Arial" pitchFamily="34" charset="-120"/>
              </a:rPr>
              <a:t>1960</a:t>
            </a:r>
            <a:endParaRPr lang="en-US" sz="2800" dirty="0"/>
          </a:p>
        </p:txBody>
      </p:sp>
      <p:sp>
        <p:nvSpPr>
          <p:cNvPr id="23" name="timeline_t_18"/>
          <p:cNvSpPr txBox="1"/>
          <p:nvPr/>
        </p:nvSpPr>
        <p:spPr>
          <a:xfrm>
            <a:off x="4011816" y="4800600"/>
            <a:ext cx="1737360" cy="548640"/>
          </a:xfrm>
          <a:prstGeom prst="rect">
            <a:avLst/>
          </a:prstGeom>
          <a:noFill/>
          <a:ln/>
        </p:spPr>
        <p:txBody>
          <a:bodyPr wrap="square" lIns="0" tIns="0" rIns="0" bIns="0" rtlCol="0" anchor="t"/>
          <a:lstStyle/>
          <a:p>
            <a:pPr algn="ctr" indent="0" marL="0">
              <a:buNone/>
            </a:pPr>
            <a:r>
              <a:rPr lang="en-US" sz="1500" dirty="0">
                <a:solidFill>
                  <a:schemeClr val="tx2"/>
                </a:solidFill>
                <a:latin typeface="Arial" pitchFamily="34" charset="0"/>
                <a:ea typeface="Arial" pitchFamily="34" charset="-122"/>
                <a:cs typeface="Arial" pitchFamily="34" charset="-120"/>
              </a:rPr>
              <a:t>Co-founds OPEC;</a:t>
            </a:r>
            <a:endParaRPr lang="en-US" sz="1500" dirty="0"/>
          </a:p>
          <a:p>
            <a:pPr algn="ctr" indent="0" marL="0">
              <a:buNone/>
            </a:pPr>
            <a:r>
              <a:rPr lang="en-US" sz="1500" dirty="0">
                <a:solidFill>
                  <a:schemeClr val="tx2"/>
                </a:solidFill>
                <a:latin typeface="Arial" pitchFamily="34" charset="0"/>
                <a:ea typeface="Arial" pitchFamily="34" charset="-122"/>
                <a:cs typeface="Arial" pitchFamily="34" charset="-120"/>
              </a:rPr>
              <a:t>KNPC formed</a:t>
            </a:r>
            <a:endParaRPr lang="en-US" sz="1500" dirty="0"/>
          </a:p>
        </p:txBody>
      </p:sp>
      <p:sp>
        <p:nvSpPr>
          <p:cNvPr id="24" name="timeline_s_19"/>
          <p:cNvSpPr/>
          <p:nvPr/>
        </p:nvSpPr>
        <p:spPr>
          <a:xfrm>
            <a:off x="5976976" y="3584448"/>
            <a:ext cx="237744" cy="237744"/>
          </a:xfrm>
          <a:prstGeom prst="ellipse">
            <a:avLst/>
          </a:prstGeom>
          <a:solidFill>
            <a:srgbClr val="FF9F0A"/>
          </a:solidFill>
          <a:ln/>
          <a:effectLst>
            <a:outerShdw sx="100000" sy="100000" kx="0" ky="0" algn="bl" rotWithShape="0" blurRad="152400" dist="50800" dir="5400000">
              <a:srgbClr val="FF9F0A">
                <a:alpha val="80000"/>
              </a:srgbClr>
            </a:outerShdw>
          </a:effectLst>
        </p:spPr>
      </p:sp>
      <p:sp>
        <p:nvSpPr>
          <p:cNvPr id="25" name="timeline_s_20"/>
          <p:cNvSpPr/>
          <p:nvPr/>
        </p:nvSpPr>
        <p:spPr>
          <a:xfrm>
            <a:off x="6088532" y="3273552"/>
            <a:ext cx="14630" cy="246888"/>
          </a:xfrm>
          <a:prstGeom prst="rect">
            <a:avLst/>
          </a:prstGeom>
          <a:solidFill>
            <a:srgbClr val="3A3A3C"/>
          </a:solidFill>
          <a:ln/>
        </p:spPr>
      </p:sp>
      <p:sp>
        <p:nvSpPr>
          <p:cNvPr id="26" name="timeline_t_21"/>
          <p:cNvSpPr txBox="1"/>
          <p:nvPr/>
        </p:nvSpPr>
        <p:spPr>
          <a:xfrm>
            <a:off x="5410048" y="2240280"/>
            <a:ext cx="1371600" cy="457200"/>
          </a:xfrm>
          <a:prstGeom prst="rect">
            <a:avLst/>
          </a:prstGeom>
          <a:noFill/>
          <a:ln/>
        </p:spPr>
        <p:txBody>
          <a:bodyPr wrap="square" lIns="0" tIns="0" rIns="0" bIns="0" rtlCol="0" anchor="t"/>
          <a:lstStyle/>
          <a:p>
            <a:pPr algn="ctr" indent="0" marL="0">
              <a:buNone/>
            </a:pPr>
            <a:r>
              <a:rPr lang="en-US" sz="2800" b="1" dirty="0">
                <a:solidFill>
                  <a:schemeClr val="tx1"/>
                </a:solidFill>
                <a:latin typeface="Arial" pitchFamily="34" charset="0"/>
                <a:ea typeface="Arial" pitchFamily="34" charset="-122"/>
                <a:cs typeface="Arial" pitchFamily="34" charset="-120"/>
              </a:rPr>
              <a:t>1975</a:t>
            </a:r>
            <a:endParaRPr lang="en-US" sz="2800" dirty="0"/>
          </a:p>
        </p:txBody>
      </p:sp>
      <p:sp>
        <p:nvSpPr>
          <p:cNvPr id="27" name="timeline_t_22"/>
          <p:cNvSpPr txBox="1"/>
          <p:nvPr/>
        </p:nvSpPr>
        <p:spPr>
          <a:xfrm>
            <a:off x="5227168" y="2697480"/>
            <a:ext cx="1737360" cy="548640"/>
          </a:xfrm>
          <a:prstGeom prst="rect">
            <a:avLst/>
          </a:prstGeom>
          <a:noFill/>
          <a:ln/>
        </p:spPr>
        <p:txBody>
          <a:bodyPr wrap="square" lIns="0" tIns="0" rIns="0" bIns="0" rtlCol="0" anchor="t"/>
          <a:lstStyle/>
          <a:p>
            <a:pPr algn="ctr" indent="0" marL="0">
              <a:buNone/>
            </a:pPr>
            <a:r>
              <a:rPr lang="en-US" sz="1500" dirty="0">
                <a:solidFill>
                  <a:schemeClr val="tx2"/>
                </a:solidFill>
                <a:latin typeface="Arial" pitchFamily="34" charset="0"/>
                <a:ea typeface="Arial" pitchFamily="34" charset="-122"/>
                <a:cs typeface="Arial" pitchFamily="34" charset="-120"/>
              </a:rPr>
              <a:t>KOC fully</a:t>
            </a:r>
            <a:endParaRPr lang="en-US" sz="1500" dirty="0"/>
          </a:p>
          <a:p>
            <a:pPr algn="ctr" indent="0" marL="0">
              <a:buNone/>
            </a:pPr>
            <a:r>
              <a:rPr lang="en-US" sz="1500" dirty="0">
                <a:solidFill>
                  <a:schemeClr val="tx2"/>
                </a:solidFill>
                <a:latin typeface="Arial" pitchFamily="34" charset="0"/>
                <a:ea typeface="Arial" pitchFamily="34" charset="-122"/>
                <a:cs typeface="Arial" pitchFamily="34" charset="-120"/>
              </a:rPr>
              <a:t>nationalised</a:t>
            </a:r>
            <a:endParaRPr lang="en-US" sz="1500" dirty="0"/>
          </a:p>
        </p:txBody>
      </p:sp>
      <p:sp>
        <p:nvSpPr>
          <p:cNvPr id="28" name="timeline_s_23"/>
          <p:cNvSpPr/>
          <p:nvPr/>
        </p:nvSpPr>
        <p:spPr>
          <a:xfrm>
            <a:off x="7192328" y="3584448"/>
            <a:ext cx="237744" cy="237744"/>
          </a:xfrm>
          <a:prstGeom prst="ellipse">
            <a:avLst/>
          </a:prstGeom>
          <a:solidFill>
            <a:srgbClr val="FF9F0A"/>
          </a:solidFill>
          <a:ln/>
          <a:effectLst>
            <a:outerShdw sx="100000" sy="100000" kx="0" ky="0" algn="bl" rotWithShape="0" blurRad="152400" dist="50800" dir="5400000">
              <a:srgbClr val="FF9F0A">
                <a:alpha val="80000"/>
              </a:srgbClr>
            </a:outerShdw>
          </a:effectLst>
        </p:spPr>
      </p:sp>
      <p:sp>
        <p:nvSpPr>
          <p:cNvPr id="29" name="timeline_s_24"/>
          <p:cNvSpPr/>
          <p:nvPr/>
        </p:nvSpPr>
        <p:spPr>
          <a:xfrm>
            <a:off x="7303884" y="3886200"/>
            <a:ext cx="14630" cy="338328"/>
          </a:xfrm>
          <a:prstGeom prst="rect">
            <a:avLst/>
          </a:prstGeom>
          <a:solidFill>
            <a:srgbClr val="3A3A3C"/>
          </a:solidFill>
          <a:ln/>
        </p:spPr>
      </p:sp>
      <p:sp>
        <p:nvSpPr>
          <p:cNvPr id="30" name="timeline_t_25"/>
          <p:cNvSpPr txBox="1"/>
          <p:nvPr/>
        </p:nvSpPr>
        <p:spPr>
          <a:xfrm>
            <a:off x="6625400" y="4343400"/>
            <a:ext cx="1371600" cy="457200"/>
          </a:xfrm>
          <a:prstGeom prst="rect">
            <a:avLst/>
          </a:prstGeom>
          <a:noFill/>
          <a:ln/>
        </p:spPr>
        <p:txBody>
          <a:bodyPr wrap="square" lIns="0" tIns="0" rIns="0" bIns="0" rtlCol="0" anchor="t"/>
          <a:lstStyle/>
          <a:p>
            <a:pPr algn="ctr" indent="0" marL="0">
              <a:buNone/>
            </a:pPr>
            <a:r>
              <a:rPr lang="en-US" sz="2800" b="1" dirty="0">
                <a:solidFill>
                  <a:schemeClr val="tx1"/>
                </a:solidFill>
                <a:latin typeface="Arial" pitchFamily="34" charset="0"/>
                <a:ea typeface="Arial" pitchFamily="34" charset="-122"/>
                <a:cs typeface="Arial" pitchFamily="34" charset="-120"/>
              </a:rPr>
              <a:t>1980</a:t>
            </a:r>
            <a:endParaRPr lang="en-US" sz="2800" dirty="0"/>
          </a:p>
        </p:txBody>
      </p:sp>
      <p:sp>
        <p:nvSpPr>
          <p:cNvPr id="31" name="timeline_t_26"/>
          <p:cNvSpPr txBox="1"/>
          <p:nvPr/>
        </p:nvSpPr>
        <p:spPr>
          <a:xfrm>
            <a:off x="6442520" y="4800600"/>
            <a:ext cx="1737360" cy="548640"/>
          </a:xfrm>
          <a:prstGeom prst="rect">
            <a:avLst/>
          </a:prstGeom>
          <a:noFill/>
          <a:ln/>
        </p:spPr>
        <p:txBody>
          <a:bodyPr wrap="square" lIns="0" tIns="0" rIns="0" bIns="0" rtlCol="0" anchor="t"/>
          <a:lstStyle/>
          <a:p>
            <a:pPr algn="ctr" indent="0" marL="0">
              <a:buNone/>
            </a:pPr>
            <a:r>
              <a:rPr lang="en-US" sz="1500" dirty="0">
                <a:solidFill>
                  <a:schemeClr val="tx2"/>
                </a:solidFill>
                <a:latin typeface="Arial" pitchFamily="34" charset="0"/>
                <a:ea typeface="Arial" pitchFamily="34" charset="-122"/>
                <a:cs typeface="Arial" pitchFamily="34" charset="-120"/>
              </a:rPr>
              <a:t>KPC created</a:t>
            </a:r>
            <a:endParaRPr lang="en-US" sz="1500" dirty="0"/>
          </a:p>
        </p:txBody>
      </p:sp>
      <p:sp>
        <p:nvSpPr>
          <p:cNvPr id="32" name="timeline_s_27"/>
          <p:cNvSpPr/>
          <p:nvPr/>
        </p:nvSpPr>
        <p:spPr>
          <a:xfrm>
            <a:off x="8407679" y="3584448"/>
            <a:ext cx="237744" cy="237744"/>
          </a:xfrm>
          <a:prstGeom prst="ellipse">
            <a:avLst/>
          </a:prstGeom>
          <a:solidFill>
            <a:srgbClr val="FF453A"/>
          </a:solidFill>
          <a:ln/>
          <a:effectLst>
            <a:outerShdw sx="100000" sy="100000" kx="0" ky="0" algn="bl" rotWithShape="0" blurRad="152400" dist="50800" dir="5400000">
              <a:srgbClr val="FF453A">
                <a:alpha val="80000"/>
              </a:srgbClr>
            </a:outerShdw>
          </a:effectLst>
        </p:spPr>
      </p:sp>
      <p:sp>
        <p:nvSpPr>
          <p:cNvPr id="33" name="timeline_s_28"/>
          <p:cNvSpPr/>
          <p:nvPr/>
        </p:nvSpPr>
        <p:spPr>
          <a:xfrm>
            <a:off x="8519236" y="3273552"/>
            <a:ext cx="14630" cy="246888"/>
          </a:xfrm>
          <a:prstGeom prst="rect">
            <a:avLst/>
          </a:prstGeom>
          <a:solidFill>
            <a:srgbClr val="3A3A3C"/>
          </a:solidFill>
          <a:ln/>
        </p:spPr>
      </p:sp>
      <p:sp>
        <p:nvSpPr>
          <p:cNvPr id="34" name="!!y1991"/>
          <p:cNvSpPr txBox="1"/>
          <p:nvPr/>
        </p:nvSpPr>
        <p:spPr>
          <a:xfrm>
            <a:off x="7840751" y="2240280"/>
            <a:ext cx="1371600" cy="457200"/>
          </a:xfrm>
          <a:prstGeom prst="rect">
            <a:avLst/>
          </a:prstGeom>
          <a:noFill/>
          <a:ln/>
        </p:spPr>
        <p:txBody>
          <a:bodyPr wrap="square" lIns="0" tIns="0" rIns="0" bIns="0" rtlCol="0" anchor="t"/>
          <a:lstStyle/>
          <a:p>
            <a:pPr algn="ctr" indent="0" marL="0">
              <a:buNone/>
            </a:pPr>
            <a:r>
              <a:rPr lang="en-US" sz="2800" b="1" dirty="0">
                <a:solidFill>
                  <a:schemeClr val="accent4"/>
                </a:solidFill>
                <a:latin typeface="Arial" pitchFamily="34" charset="0"/>
                <a:ea typeface="Arial" pitchFamily="34" charset="-122"/>
                <a:cs typeface="Arial" pitchFamily="34" charset="-120"/>
              </a:rPr>
              <a:t>1991</a:t>
            </a:r>
            <a:endParaRPr lang="en-US" sz="2800" dirty="0"/>
          </a:p>
        </p:txBody>
      </p:sp>
      <p:sp>
        <p:nvSpPr>
          <p:cNvPr id="35" name="timeline_t_29"/>
          <p:cNvSpPr txBox="1"/>
          <p:nvPr/>
        </p:nvSpPr>
        <p:spPr>
          <a:xfrm>
            <a:off x="7657871" y="2697480"/>
            <a:ext cx="1737360" cy="548640"/>
          </a:xfrm>
          <a:prstGeom prst="rect">
            <a:avLst/>
          </a:prstGeom>
          <a:noFill/>
          <a:ln/>
        </p:spPr>
        <p:txBody>
          <a:bodyPr wrap="square" lIns="0" tIns="0" rIns="0" bIns="0" rtlCol="0" anchor="t"/>
          <a:lstStyle/>
          <a:p>
            <a:pPr algn="ctr" indent="0" marL="0">
              <a:buNone/>
            </a:pPr>
            <a:r>
              <a:rPr lang="en-US" sz="1500" dirty="0">
                <a:solidFill>
                  <a:schemeClr val="tx2"/>
                </a:solidFill>
                <a:latin typeface="Arial" pitchFamily="34" charset="0"/>
                <a:ea typeface="Arial" pitchFamily="34" charset="-122"/>
                <a:cs typeface="Arial" pitchFamily="34" charset="-120"/>
              </a:rPr>
              <a:t>Well fires after</a:t>
            </a:r>
            <a:endParaRPr lang="en-US" sz="1500" dirty="0"/>
          </a:p>
          <a:p>
            <a:pPr algn="ctr" indent="0" marL="0">
              <a:buNone/>
            </a:pPr>
            <a:r>
              <a:rPr lang="en-US" sz="1500" dirty="0">
                <a:solidFill>
                  <a:schemeClr val="tx2"/>
                </a:solidFill>
                <a:latin typeface="Arial" pitchFamily="34" charset="0"/>
                <a:ea typeface="Arial" pitchFamily="34" charset="-122"/>
                <a:cs typeface="Arial" pitchFamily="34" charset="-120"/>
              </a:rPr>
              <a:t>the 1990 invasion</a:t>
            </a:r>
            <a:endParaRPr lang="en-US" sz="1500" dirty="0"/>
          </a:p>
        </p:txBody>
      </p:sp>
      <p:sp>
        <p:nvSpPr>
          <p:cNvPr id="36" name="timeline_s_30"/>
          <p:cNvSpPr/>
          <p:nvPr/>
        </p:nvSpPr>
        <p:spPr>
          <a:xfrm>
            <a:off x="9623031" y="3584448"/>
            <a:ext cx="237744" cy="237744"/>
          </a:xfrm>
          <a:prstGeom prst="ellipse">
            <a:avLst/>
          </a:prstGeom>
          <a:solidFill>
            <a:srgbClr val="FF9F0A"/>
          </a:solidFill>
          <a:ln/>
          <a:effectLst>
            <a:outerShdw sx="100000" sy="100000" kx="0" ky="0" algn="bl" rotWithShape="0" blurRad="152400" dist="50800" dir="5400000">
              <a:srgbClr val="FF9F0A">
                <a:alpha val="80000"/>
              </a:srgbClr>
            </a:outerShdw>
          </a:effectLst>
        </p:spPr>
      </p:sp>
      <p:sp>
        <p:nvSpPr>
          <p:cNvPr id="37" name="timeline_s_31"/>
          <p:cNvSpPr/>
          <p:nvPr/>
        </p:nvSpPr>
        <p:spPr>
          <a:xfrm>
            <a:off x="9734588" y="3886200"/>
            <a:ext cx="14630" cy="338328"/>
          </a:xfrm>
          <a:prstGeom prst="rect">
            <a:avLst/>
          </a:prstGeom>
          <a:solidFill>
            <a:srgbClr val="3A3A3C"/>
          </a:solidFill>
          <a:ln/>
        </p:spPr>
      </p:sp>
      <p:sp>
        <p:nvSpPr>
          <p:cNvPr id="38" name="timeline_t_32"/>
          <p:cNvSpPr txBox="1"/>
          <p:nvPr/>
        </p:nvSpPr>
        <p:spPr>
          <a:xfrm>
            <a:off x="9056103" y="4343400"/>
            <a:ext cx="1371600" cy="457200"/>
          </a:xfrm>
          <a:prstGeom prst="rect">
            <a:avLst/>
          </a:prstGeom>
          <a:noFill/>
          <a:ln/>
        </p:spPr>
        <p:txBody>
          <a:bodyPr wrap="square" lIns="0" tIns="0" rIns="0" bIns="0" rtlCol="0" anchor="t"/>
          <a:lstStyle/>
          <a:p>
            <a:pPr algn="ctr" indent="0" marL="0">
              <a:buNone/>
            </a:pPr>
            <a:r>
              <a:rPr lang="en-US" sz="2800" b="1" dirty="0">
                <a:solidFill>
                  <a:schemeClr val="tx1"/>
                </a:solidFill>
                <a:latin typeface="Arial" pitchFamily="34" charset="0"/>
                <a:ea typeface="Arial" pitchFamily="34" charset="-122"/>
                <a:cs typeface="Arial" pitchFamily="34" charset="-120"/>
              </a:rPr>
              <a:t>2018</a:t>
            </a:r>
            <a:endParaRPr lang="en-US" sz="2800" dirty="0"/>
          </a:p>
        </p:txBody>
      </p:sp>
      <p:sp>
        <p:nvSpPr>
          <p:cNvPr id="39" name="timeline_t_33"/>
          <p:cNvSpPr txBox="1"/>
          <p:nvPr/>
        </p:nvSpPr>
        <p:spPr>
          <a:xfrm>
            <a:off x="8873223" y="4800600"/>
            <a:ext cx="1737360" cy="548640"/>
          </a:xfrm>
          <a:prstGeom prst="rect">
            <a:avLst/>
          </a:prstGeom>
          <a:noFill/>
          <a:ln/>
        </p:spPr>
        <p:txBody>
          <a:bodyPr wrap="square" lIns="0" tIns="0" rIns="0" bIns="0" rtlCol="0" anchor="t"/>
          <a:lstStyle/>
          <a:p>
            <a:pPr algn="ctr" indent="0" marL="0">
              <a:buNone/>
            </a:pPr>
            <a:r>
              <a:rPr lang="en-US" sz="1500" dirty="0">
                <a:solidFill>
                  <a:schemeClr val="tx2"/>
                </a:solidFill>
                <a:latin typeface="Arial" pitchFamily="34" charset="0"/>
                <a:ea typeface="Arial" pitchFamily="34" charset="-122"/>
                <a:cs typeface="Arial" pitchFamily="34" charset="-120"/>
              </a:rPr>
              <a:t>Jurassic super-light</a:t>
            </a:r>
            <a:endParaRPr lang="en-US" sz="1500" dirty="0"/>
          </a:p>
          <a:p>
            <a:pPr algn="ctr" indent="0" marL="0">
              <a:buNone/>
            </a:pPr>
            <a:r>
              <a:rPr lang="en-US" sz="1500" dirty="0">
                <a:solidFill>
                  <a:schemeClr val="tx2"/>
                </a:solidFill>
                <a:latin typeface="Arial" pitchFamily="34" charset="0"/>
                <a:ea typeface="Arial" pitchFamily="34" charset="-122"/>
                <a:cs typeface="Arial" pitchFamily="34" charset="-120"/>
              </a:rPr>
              <a:t>crude and gas</a:t>
            </a:r>
            <a:endParaRPr lang="en-US" sz="1500" dirty="0"/>
          </a:p>
        </p:txBody>
      </p:sp>
      <p:sp>
        <p:nvSpPr>
          <p:cNvPr id="40" name="timeline_s_34"/>
          <p:cNvSpPr/>
          <p:nvPr/>
        </p:nvSpPr>
        <p:spPr>
          <a:xfrm>
            <a:off x="10838383" y="3584448"/>
            <a:ext cx="237744" cy="237744"/>
          </a:xfrm>
          <a:prstGeom prst="ellipse">
            <a:avLst/>
          </a:prstGeom>
          <a:solidFill>
            <a:srgbClr val="FF9F0A"/>
          </a:solidFill>
          <a:ln/>
          <a:effectLst>
            <a:outerShdw sx="100000" sy="100000" kx="0" ky="0" algn="bl" rotWithShape="0" blurRad="152400" dist="50800" dir="5400000">
              <a:srgbClr val="FF9F0A">
                <a:alpha val="80000"/>
              </a:srgbClr>
            </a:outerShdw>
          </a:effectLst>
        </p:spPr>
      </p:sp>
      <p:sp>
        <p:nvSpPr>
          <p:cNvPr id="41" name="timeline_s_35"/>
          <p:cNvSpPr/>
          <p:nvPr/>
        </p:nvSpPr>
        <p:spPr>
          <a:xfrm>
            <a:off x="10949940" y="3273552"/>
            <a:ext cx="14630" cy="246888"/>
          </a:xfrm>
          <a:prstGeom prst="rect">
            <a:avLst/>
          </a:prstGeom>
          <a:solidFill>
            <a:srgbClr val="3A3A3C"/>
          </a:solidFill>
          <a:ln/>
        </p:spPr>
      </p:sp>
      <p:sp>
        <p:nvSpPr>
          <p:cNvPr id="42" name="timeline_t_36"/>
          <p:cNvSpPr txBox="1"/>
          <p:nvPr/>
        </p:nvSpPr>
        <p:spPr>
          <a:xfrm>
            <a:off x="10271455" y="2240280"/>
            <a:ext cx="1371600" cy="457200"/>
          </a:xfrm>
          <a:prstGeom prst="rect">
            <a:avLst/>
          </a:prstGeom>
          <a:noFill/>
          <a:ln/>
        </p:spPr>
        <p:txBody>
          <a:bodyPr wrap="square" lIns="0" tIns="0" rIns="0" bIns="0" rtlCol="0" anchor="t"/>
          <a:lstStyle/>
          <a:p>
            <a:pPr algn="ctr" indent="0" marL="0">
              <a:buNone/>
            </a:pPr>
            <a:r>
              <a:rPr lang="en-US" sz="2800" b="1" dirty="0">
                <a:solidFill>
                  <a:schemeClr val="tx1"/>
                </a:solidFill>
                <a:latin typeface="Arial" pitchFamily="34" charset="0"/>
                <a:ea typeface="Arial" pitchFamily="34" charset="-122"/>
                <a:cs typeface="Arial" pitchFamily="34" charset="-120"/>
              </a:rPr>
              <a:t>2024</a:t>
            </a:r>
            <a:endParaRPr lang="en-US" sz="2800" dirty="0"/>
          </a:p>
        </p:txBody>
      </p:sp>
      <p:sp>
        <p:nvSpPr>
          <p:cNvPr id="43" name="timeline_t_37"/>
          <p:cNvSpPr txBox="1"/>
          <p:nvPr/>
        </p:nvSpPr>
        <p:spPr>
          <a:xfrm>
            <a:off x="10088575" y="2697480"/>
            <a:ext cx="1737360" cy="548640"/>
          </a:xfrm>
          <a:prstGeom prst="rect">
            <a:avLst/>
          </a:prstGeom>
          <a:noFill/>
          <a:ln/>
        </p:spPr>
        <p:txBody>
          <a:bodyPr wrap="square" lIns="0" tIns="0" rIns="0" bIns="0" rtlCol="0" anchor="t"/>
          <a:lstStyle/>
          <a:p>
            <a:pPr algn="ctr" indent="0" marL="0">
              <a:buNone/>
            </a:pPr>
            <a:r>
              <a:rPr lang="en-US" sz="1500" dirty="0">
                <a:solidFill>
                  <a:schemeClr val="tx2"/>
                </a:solidFill>
                <a:latin typeface="Arial" pitchFamily="34" charset="0"/>
                <a:ea typeface="Arial" pitchFamily="34" charset="-122"/>
                <a:cs typeface="Arial" pitchFamily="34" charset="-120"/>
              </a:rPr>
              <a:t>Al-Zour refinery</a:t>
            </a:r>
            <a:endParaRPr lang="en-US" sz="1500" dirty="0"/>
          </a:p>
          <a:p>
            <a:pPr algn="ctr" indent="0" marL="0">
              <a:buNone/>
            </a:pPr>
            <a:r>
              <a:rPr lang="en-US" sz="1500" dirty="0">
                <a:solidFill>
                  <a:schemeClr val="tx2"/>
                </a:solidFill>
                <a:latin typeface="Arial" pitchFamily="34" charset="0"/>
                <a:ea typeface="Arial" pitchFamily="34" charset="-122"/>
                <a:cs typeface="Arial" pitchFamily="34" charset="-120"/>
              </a:rPr>
              <a:t>at full 615 kb/d</a:t>
            </a:r>
            <a:endParaRPr lang="en-US" sz="1500" dirty="0"/>
          </a:p>
        </p:txBody>
      </p:sp>
      <p:sp>
        <p:nvSpPr>
          <p:cNvPr id="44" name="!!source"/>
          <p:cNvSpPr txBox="1"/>
          <p:nvPr/>
        </p:nvSpPr>
        <p:spPr>
          <a:xfrm>
            <a:off x="548640" y="5943600"/>
            <a:ext cx="9692640" cy="274320"/>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Sources: KOC (n.d.-a); KPC (n.d.-b); KNPC (n.d.-a); Britannica (n.d.-a); S&amp;P Global (2018a, 2024); KIPIC (2024).</a:t>
            </a:r>
            <a:endParaRPr lang="en-US" sz="1200" dirty="0"/>
          </a:p>
        </p:txBody>
      </p:sp>
      <p:sp>
        <p:nvSpPr>
          <p:cNvPr id="45" name="!!home_bg"/>
          <p:cNvSpPr/>
          <p:nvPr/>
        </p:nvSpPr>
        <p:spPr>
          <a:xfrm>
            <a:off x="10637215" y="6272784"/>
            <a:ext cx="384048" cy="384048"/>
          </a:xfrm>
          <a:prstGeom prst="roundRect">
            <a:avLst>
              <a:gd name="adj" fmla="val 23810"/>
            </a:avLst>
          </a:prstGeom>
          <a:solidFill>
            <a:srgbClr val="2C2C2E"/>
          </a:solidFill>
          <a:ln/>
        </p:spPr>
      </p:sp>
      <p:pic>
        <p:nvPicPr>
          <p:cNvPr id="46" name="!!home_ic" descr="Decorative graphic">    </p:cNvPr>
          <p:cNvPicPr>
            <a:picLocks noChangeAspect="1"/>
          </p:cNvPicPr>
          <p:nvPr/>
        </p:nvPicPr>
        <p:blipFill>
          <a:blip r:embed="rId3"/>
          <a:stretch>
            <a:fillRect/>
          </a:stretch>
        </p:blipFill>
        <p:spPr>
          <a:xfrm>
            <a:off x="10719511" y="6355080"/>
            <a:ext cx="219456" cy="219456"/>
          </a:xfrm>
          <a:prstGeom prst="rect">
            <a:avLst/>
          </a:prstGeom>
        </p:spPr>
      </p:pic>
      <p:sp>
        <p:nvSpPr>
          <p:cNvPr id="47" name="!!home_hit">
            <a:hlinkClick r:id="rId4" tooltip="Back to contents" action="ppaction://hlinksldjump" highlightClick="1"/>
          </p:cNvPr>
          <p:cNvSpPr/>
          <p:nvPr/>
        </p:nvSpPr>
        <p:spPr>
          <a:xfrm>
            <a:off x="10637215" y="6272784"/>
            <a:ext cx="384048" cy="384048"/>
          </a:xfrm>
          <a:prstGeom prst="roundRect">
            <a:avLst>
              <a:gd name="adj" fmla="val 23810"/>
            </a:avLst>
          </a:prstGeom>
          <a:solidFill>
            <a:srgbClr val="000000">
              <a:alpha val="0"/>
            </a:srgbClr>
          </a:solidFill>
          <a:ln/>
        </p:spPr>
      </p:sp>
      <p:sp>
        <p:nvSpPr>
          <p:cNvPr id="49" name="!!footer"/>
          <p:cNvSpPr txBox="1"/>
          <p:nvPr/>
        </p:nvSpPr>
        <p:spPr>
          <a:xfrm>
            <a:off x="548640" y="6327648"/>
            <a:ext cx="5486400" cy="292608"/>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Kuwait Oil &amp; Gas  ·  EGCH2230</a:t>
            </a:r>
            <a:endParaRPr lang="en-US" sz="1200" dirty="0"/>
          </a:p>
        </p:txBody>
      </p:sp>
      <p:sp>
        <p:nvSpPr>
          <p:cNvPr id="50" name="!!num"/>
          <p:cNvSpPr txBox="1"/>
          <p:nvPr/>
        </p:nvSpPr>
        <p:spPr>
          <a:xfrm>
            <a:off x="11094415" y="6327648"/>
            <a:ext cx="548640" cy="292608"/>
          </a:xfrm>
          <a:prstGeom prst="rect">
            <a:avLst/>
          </a:prstGeom>
          <a:noFill/>
          <a:ln/>
        </p:spPr>
        <p:txBody>
          <a:bodyPr wrap="square" lIns="0" tIns="0" rIns="0" bIns="0" rtlCol="0" anchor="ctr"/>
          <a:lstStyle/>
          <a:p>
            <a:pPr algn="r" indent="0" marL="0">
              <a:buNone/>
            </a:pPr>
            <a:r>
              <a:rPr lang="en-US" sz="1200" dirty="0">
                <a:solidFill>
                  <a:schemeClr val="tx2"/>
                </a:solidFill>
                <a:latin typeface="Arial" pitchFamily="34" charset="0"/>
                <a:ea typeface="Arial" pitchFamily="34" charset="-122"/>
                <a:cs typeface="Arial" pitchFamily="34" charset="-120"/>
              </a:rPr>
              <a:t>5</a:t>
            </a:r>
            <a:endParaRPr lang="en-US" sz="1200" dirty="0"/>
          </a:p>
        </p:txBody>
      </p:sp>
      <p:pic>
        <p:nvPicPr>
          <p:cNvPr id="51" name="!!badge" descr="University of Technology and Applied Sciences, Salalah">    </p:cNvPr>
          <p:cNvPicPr>
            <a:picLocks noChangeAspect="1"/>
          </p:cNvPicPr>
          <p:nvPr/>
        </p:nvPicPr>
        <p:blipFill>
          <a:blip r:embed="rId5"/>
          <a:stretch>
            <a:fillRect/>
          </a:stretch>
        </p:blipFill>
        <p:spPr>
          <a:xfrm>
            <a:off x="9677095" y="274320"/>
            <a:ext cx="1965960" cy="80987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0" presetClass="path" presetSubtype="0" fill="hold" grpId="0" nodeType="afterEffect" repeatCount="indefinite" autoRev="1">
                                  <p:stCondLst>
                                    <p:cond delay="0"/>
                                  </p:stCondLst>
                                  <p:childTnLst>
                                    <p:animMotion origin="layout" path="M 0 0 L 0.0350 -0.0300 E" pathEditMode="relative" ptsTypes="">
                                      <p:cBhvr>
                                        <p:cTn id="5" dur="13000" fill="hold" accel="50000" decel="50000"/>
                                        <p:tgtEl>
                                          <p:spTgt spid="2"/>
                                        </p:tgtEl>
                                        <p:attrNameLst>
                                          <p:attrName>ppt_x</p:attrName>
                                          <p:attrName>ppt_y</p:attrName>
                                        </p:attrNameLst>
                                      </p:cBhvr>
                                      <p:rCtr x="0" y="0"/>
                                    </p:animMotion>
                                  </p:childTnLst>
                                </p:cTn>
                              </p:par>
                              <p:par>
                                <p:cTn id="8" presetID="0" presetClass="path" presetSubtype="0" fill="hold" grpId="0" nodeType="withEffect" repeatCount="indefinite" autoRev="1">
                                  <p:stCondLst>
                                    <p:cond delay="0"/>
                                  </p:stCondLst>
                                  <p:childTnLst>
                                    <p:animMotion origin="layout" path="M 0 0 L -0.0300 0.0250 E" pathEditMode="relative" ptsTypes="">
                                      <p:cBhvr>
                                        <p:cTn id="7" dur="15000" fill="hold" accel="50000" decel="50000"/>
                                        <p:tgtEl>
                                          <p:spTgt spid="3"/>
                                        </p:tgtEl>
                                        <p:attrNameLst>
                                          <p:attrName>ppt_x</p:attrName>
                                          <p:attrName>ppt_y</p:attrName>
                                        </p:attrNameLst>
                                      </p:cBhvr>
                                      <p:rCtr x="0" y="0"/>
                                    </p:animMotion>
                                  </p:childTnLst>
                                </p:cTn>
                              </p:par>
                              <p:par>
                                <p:cTn id="11" presetID="22" presetClass="entr" presetSubtype="8" fill="hold" grpId="0" nodeType="withEffect">
                                  <p:stCondLst>
                                    <p:cond delay="25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2400" decel="100000"/>
                                        <p:tgtEl>
                                          <p:spTgt spid="6"/>
                                        </p:tgtEl>
                                      </p:cBhvr>
                                    </p:animEffect>
                                  </p:childTnLst>
                                </p:cTn>
                              </p:par>
                              <p:par>
                                <p:cTn id="14" presetID="22" presetClass="entr" presetSubtype="8" fill="hold" grpId="0" nodeType="withEffect">
                                  <p:stCondLst>
                                    <p:cond delay="40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2400" decel="100000"/>
                                        <p:tgtEl>
                                          <p:spTgt spid="7"/>
                                        </p:tgtEl>
                                      </p:cBhvr>
                                    </p:animEffect>
                                  </p:childTnLst>
                                </p:cTn>
                              </p:par>
                              <p:par>
                                <p:cTn id="19" presetID="53" presetClass="entr" presetSubtype="16" fill="hold" grpId="0" nodeType="withEffect">
                                  <p:stCondLst>
                                    <p:cond delay="432"/>
                                  </p:stCondLst>
                                  <p:childTnLst>
                                    <p:set>
                                      <p:cBhvr>
                                        <p:cTn id="15" dur="1" fill="hold">
                                          <p:stCondLst>
                                            <p:cond delay="0"/>
                                          </p:stCondLst>
                                        </p:cTn>
                                        <p:tgtEl>
                                          <p:spTgt spid="8"/>
                                        </p:tgtEl>
                                        <p:attrNameLst>
                                          <p:attrName>style.visibility</p:attrName>
                                        </p:attrNameLst>
                                      </p:cBhvr>
                                      <p:to>
                                        <p:strVal val="visible"/>
                                      </p:to>
                                    </p:set>
                                    <p:anim calcmode="lin" valueType="num">
                                      <p:cBhvr>
                                        <p:cTn id="16" dur="600" fill="hold" decel="100000"/>
                                        <p:tgtEl>
                                          <p:spTgt spid="8"/>
                                        </p:tgtEl>
                                        <p:attrNameLst>
                                          <p:attrName>ppt_w</p:attrName>
                                        </p:attrNameLst>
                                      </p:cBhvr>
                                      <p:tavLst>
                                        <p:tav tm="0">
                                          <p:val>
                                            <p:strVal val="#ppt_w*1.900"/>
                                          </p:val>
                                        </p:tav>
                                        <p:tav tm="100000">
                                          <p:val>
                                            <p:strVal val="#ppt_w"/>
                                          </p:val>
                                        </p:tav>
                                      </p:tavLst>
                                    </p:anim>
                                    <p:anim calcmode="lin" valueType="num">
                                      <p:cBhvr>
                                        <p:cTn id="17" dur="600" fill="hold" decel="100000"/>
                                        <p:tgtEl>
                                          <p:spTgt spid="8"/>
                                        </p:tgtEl>
                                        <p:attrNameLst>
                                          <p:attrName>ppt_h</p:attrName>
                                        </p:attrNameLst>
                                      </p:cBhvr>
                                      <p:tavLst>
                                        <p:tav tm="0">
                                          <p:val>
                                            <p:strVal val="#ppt_h*1.900"/>
                                          </p:val>
                                        </p:tav>
                                        <p:tav tm="100000">
                                          <p:val>
                                            <p:strVal val="#ppt_h"/>
                                          </p:val>
                                        </p:tav>
                                      </p:tavLst>
                                    </p:anim>
                                    <p:animEffect transition="in" filter="fade">
                                      <p:cBhvr>
                                        <p:cTn id="18" dur="420" decel="100000"/>
                                        <p:tgtEl>
                                          <p:spTgt spid="8"/>
                                        </p:tgtEl>
                                      </p:cBhvr>
                                    </p:animEffect>
                                  </p:childTnLst>
                                </p:cTn>
                              </p:par>
                              <p:par>
                                <p:cTn id="24" presetID="42" presetClass="entr" presetSubtype="0" fill="hold" grpId="0" nodeType="withEffect">
                                  <p:stCondLst>
                                    <p:cond delay="492"/>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60" decel="100000"/>
                                        <p:tgtEl>
                                          <p:spTgt spid="10"/>
                                        </p:tgtEl>
                                      </p:cBhvr>
                                    </p:animEffect>
                                    <p:anim calcmode="lin" valueType="num">
                                      <p:cBhvr>
                                        <p:cTn id="22" dur="700" fill="hold" decel="100000"/>
                                        <p:tgtEl>
                                          <p:spTgt spid="10"/>
                                        </p:tgtEl>
                                        <p:attrNameLst>
                                          <p:attrName>ppt_x</p:attrName>
                                        </p:attrNameLst>
                                      </p:cBhvr>
                                      <p:tavLst>
                                        <p:tav tm="0">
                                          <p:val>
                                            <p:strVal val="#ppt_x"/>
                                          </p:val>
                                        </p:tav>
                                        <p:tav tm="100000">
                                          <p:val>
                                            <p:strVal val="#ppt_x"/>
                                          </p:val>
                                        </p:tav>
                                      </p:tavLst>
                                    </p:anim>
                                    <p:anim calcmode="lin" valueType="num">
                                      <p:cBhvr>
                                        <p:cTn id="23" dur="700" fill="hold" decel="100000"/>
                                        <p:tgtEl>
                                          <p:spTgt spid="10"/>
                                        </p:tgtEl>
                                        <p:attrNameLst>
                                          <p:attrName>ppt_y</p:attrName>
                                        </p:attrNameLst>
                                      </p:cBhvr>
                                      <p:tavLst>
                                        <p:tav tm="0">
                                          <p:val>
                                            <p:strVal val="#ppt_y+-0.0150"/>
                                          </p:val>
                                        </p:tav>
                                        <p:tav tm="100000">
                                          <p:val>
                                            <p:strVal val="#ppt_y"/>
                                          </p:val>
                                        </p:tav>
                                      </p:tavLst>
                                    </p:anim>
                                  </p:childTnLst>
                                </p:cTn>
                              </p:par>
                              <p:par>
                                <p:cTn id="27" presetID="10" presetClass="entr" presetSubtype="0" fill="hold" grpId="0" nodeType="withEffect">
                                  <p:stCondLst>
                                    <p:cond delay="512"/>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decel="100000"/>
                                        <p:tgtEl>
                                          <p:spTgt spid="9"/>
                                        </p:tgtEl>
                                      </p:cBhvr>
                                    </p:animEffect>
                                  </p:childTnLst>
                                </p:cTn>
                              </p:par>
                              <p:par>
                                <p:cTn id="32" presetID="53" presetClass="entr" presetSubtype="16" fill="hold" grpId="0" nodeType="withEffect">
                                  <p:stCondLst>
                                    <p:cond delay="581"/>
                                  </p:stCondLst>
                                  <p:childTnLst>
                                    <p:set>
                                      <p:cBhvr>
                                        <p:cTn id="28" dur="1" fill="hold">
                                          <p:stCondLst>
                                            <p:cond delay="0"/>
                                          </p:stCondLst>
                                        </p:cTn>
                                        <p:tgtEl>
                                          <p:spTgt spid="12"/>
                                        </p:tgtEl>
                                        <p:attrNameLst>
                                          <p:attrName>style.visibility</p:attrName>
                                        </p:attrNameLst>
                                      </p:cBhvr>
                                      <p:to>
                                        <p:strVal val="visible"/>
                                      </p:to>
                                    </p:set>
                                    <p:anim calcmode="lin" valueType="num">
                                      <p:cBhvr>
                                        <p:cTn id="29" dur="600" fill="hold" decel="100000"/>
                                        <p:tgtEl>
                                          <p:spTgt spid="12"/>
                                        </p:tgtEl>
                                        <p:attrNameLst>
                                          <p:attrName>ppt_w</p:attrName>
                                        </p:attrNameLst>
                                      </p:cBhvr>
                                      <p:tavLst>
                                        <p:tav tm="0">
                                          <p:val>
                                            <p:strVal val="#ppt_w*1.900"/>
                                          </p:val>
                                        </p:tav>
                                        <p:tav tm="100000">
                                          <p:val>
                                            <p:strVal val="#ppt_w"/>
                                          </p:val>
                                        </p:tav>
                                      </p:tavLst>
                                    </p:anim>
                                    <p:anim calcmode="lin" valueType="num">
                                      <p:cBhvr>
                                        <p:cTn id="30" dur="600" fill="hold" decel="100000"/>
                                        <p:tgtEl>
                                          <p:spTgt spid="12"/>
                                        </p:tgtEl>
                                        <p:attrNameLst>
                                          <p:attrName>ppt_h</p:attrName>
                                        </p:attrNameLst>
                                      </p:cBhvr>
                                      <p:tavLst>
                                        <p:tav tm="0">
                                          <p:val>
                                            <p:strVal val="#ppt_h*1.900"/>
                                          </p:val>
                                        </p:tav>
                                        <p:tav tm="100000">
                                          <p:val>
                                            <p:strVal val="#ppt_h"/>
                                          </p:val>
                                        </p:tav>
                                      </p:tavLst>
                                    </p:anim>
                                    <p:animEffect transition="in" filter="fade">
                                      <p:cBhvr>
                                        <p:cTn id="31" dur="420" decel="100000"/>
                                        <p:tgtEl>
                                          <p:spTgt spid="12"/>
                                        </p:tgtEl>
                                      </p:cBhvr>
                                    </p:animEffect>
                                  </p:childTnLst>
                                </p:cTn>
                              </p:par>
                              <p:par>
                                <p:cTn id="35" presetID="10" presetClass="entr" presetSubtype="0" fill="hold" grpId="0" nodeType="withEffect">
                                  <p:stCondLst>
                                    <p:cond delay="592"/>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700" decel="100000"/>
                                        <p:tgtEl>
                                          <p:spTgt spid="11"/>
                                        </p:tgtEl>
                                      </p:cBhvr>
                                    </p:animEffect>
                                  </p:childTnLst>
                                </p:cTn>
                              </p:par>
                              <p:par>
                                <p:cTn id="40" presetID="42" presetClass="entr" presetSubtype="0" fill="hold" grpId="0" nodeType="withEffect">
                                  <p:stCondLst>
                                    <p:cond delay="641"/>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60" decel="100000"/>
                                        <p:tgtEl>
                                          <p:spTgt spid="14"/>
                                        </p:tgtEl>
                                      </p:cBhvr>
                                    </p:animEffect>
                                    <p:anim calcmode="lin" valueType="num">
                                      <p:cBhvr>
                                        <p:cTn id="38" dur="700" fill="hold" decel="100000"/>
                                        <p:tgtEl>
                                          <p:spTgt spid="14"/>
                                        </p:tgtEl>
                                        <p:attrNameLst>
                                          <p:attrName>ppt_x</p:attrName>
                                        </p:attrNameLst>
                                      </p:cBhvr>
                                      <p:tavLst>
                                        <p:tav tm="0">
                                          <p:val>
                                            <p:strVal val="#ppt_x"/>
                                          </p:val>
                                        </p:tav>
                                        <p:tav tm="100000">
                                          <p:val>
                                            <p:strVal val="#ppt_x"/>
                                          </p:val>
                                        </p:tav>
                                      </p:tavLst>
                                    </p:anim>
                                    <p:anim calcmode="lin" valueType="num">
                                      <p:cBhvr>
                                        <p:cTn id="39" dur="700" fill="hold" decel="100000"/>
                                        <p:tgtEl>
                                          <p:spTgt spid="14"/>
                                        </p:tgtEl>
                                        <p:attrNameLst>
                                          <p:attrName>ppt_y</p:attrName>
                                        </p:attrNameLst>
                                      </p:cBhvr>
                                      <p:tavLst>
                                        <p:tav tm="0">
                                          <p:val>
                                            <p:strVal val="#ppt_y+0.0150"/>
                                          </p:val>
                                        </p:tav>
                                        <p:tav tm="100000">
                                          <p:val>
                                            <p:strVal val="#ppt_y"/>
                                          </p:val>
                                        </p:tav>
                                      </p:tavLst>
                                    </p:anim>
                                  </p:childTnLst>
                                </p:cTn>
                              </p:par>
                              <p:par>
                                <p:cTn id="43" presetID="10" presetClass="entr" presetSubtype="0" fill="hold" grpId="0" nodeType="withEffect">
                                  <p:stCondLst>
                                    <p:cond delay="661"/>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00" decel="100000"/>
                                        <p:tgtEl>
                                          <p:spTgt spid="13"/>
                                        </p:tgtEl>
                                      </p:cBhvr>
                                    </p:animEffect>
                                  </p:childTnLst>
                                </p:cTn>
                              </p:par>
                              <p:par>
                                <p:cTn id="48" presetID="53" presetClass="entr" presetSubtype="16" fill="hold" grpId="0" nodeType="withEffect">
                                  <p:stCondLst>
                                    <p:cond delay="740"/>
                                  </p:stCondLst>
                                  <p:childTnLst>
                                    <p:set>
                                      <p:cBhvr>
                                        <p:cTn id="44" dur="1" fill="hold">
                                          <p:stCondLst>
                                            <p:cond delay="0"/>
                                          </p:stCondLst>
                                        </p:cTn>
                                        <p:tgtEl>
                                          <p:spTgt spid="16"/>
                                        </p:tgtEl>
                                        <p:attrNameLst>
                                          <p:attrName>style.visibility</p:attrName>
                                        </p:attrNameLst>
                                      </p:cBhvr>
                                      <p:to>
                                        <p:strVal val="visible"/>
                                      </p:to>
                                    </p:set>
                                    <p:anim calcmode="lin" valueType="num">
                                      <p:cBhvr>
                                        <p:cTn id="45" dur="600" fill="hold" decel="100000"/>
                                        <p:tgtEl>
                                          <p:spTgt spid="16"/>
                                        </p:tgtEl>
                                        <p:attrNameLst>
                                          <p:attrName>ppt_w</p:attrName>
                                        </p:attrNameLst>
                                      </p:cBhvr>
                                      <p:tavLst>
                                        <p:tav tm="0">
                                          <p:val>
                                            <p:strVal val="#ppt_w*1.900"/>
                                          </p:val>
                                        </p:tav>
                                        <p:tav tm="100000">
                                          <p:val>
                                            <p:strVal val="#ppt_w"/>
                                          </p:val>
                                        </p:tav>
                                      </p:tavLst>
                                    </p:anim>
                                    <p:anim calcmode="lin" valueType="num">
                                      <p:cBhvr>
                                        <p:cTn id="46" dur="600" fill="hold" decel="100000"/>
                                        <p:tgtEl>
                                          <p:spTgt spid="16"/>
                                        </p:tgtEl>
                                        <p:attrNameLst>
                                          <p:attrName>ppt_h</p:attrName>
                                        </p:attrNameLst>
                                      </p:cBhvr>
                                      <p:tavLst>
                                        <p:tav tm="0">
                                          <p:val>
                                            <p:strVal val="#ppt_h*1.900"/>
                                          </p:val>
                                        </p:tav>
                                        <p:tav tm="100000">
                                          <p:val>
                                            <p:strVal val="#ppt_h"/>
                                          </p:val>
                                        </p:tav>
                                      </p:tavLst>
                                    </p:anim>
                                    <p:animEffect transition="in" filter="fade">
                                      <p:cBhvr>
                                        <p:cTn id="47" dur="420" decel="100000"/>
                                        <p:tgtEl>
                                          <p:spTgt spid="16"/>
                                        </p:tgtEl>
                                      </p:cBhvr>
                                    </p:animEffect>
                                  </p:childTnLst>
                                </p:cTn>
                              </p:par>
                              <p:par>
                                <p:cTn id="51" presetID="10" presetClass="entr" presetSubtype="0" fill="hold" grpId="0" nodeType="withEffect">
                                  <p:stCondLst>
                                    <p:cond delay="741"/>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700" decel="100000"/>
                                        <p:tgtEl>
                                          <p:spTgt spid="15"/>
                                        </p:tgtEl>
                                      </p:cBhvr>
                                    </p:animEffect>
                                  </p:childTnLst>
                                </p:cTn>
                              </p:par>
                              <p:par>
                                <p:cTn id="56" presetID="42" presetClass="entr" presetSubtype="0" fill="hold" grpId="0" nodeType="withEffect">
                                  <p:stCondLst>
                                    <p:cond delay="80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60" decel="100000"/>
                                        <p:tgtEl>
                                          <p:spTgt spid="18"/>
                                        </p:tgtEl>
                                      </p:cBhvr>
                                    </p:animEffect>
                                    <p:anim calcmode="lin" valueType="num">
                                      <p:cBhvr>
                                        <p:cTn id="54" dur="700" fill="hold" decel="100000"/>
                                        <p:tgtEl>
                                          <p:spTgt spid="18"/>
                                        </p:tgtEl>
                                        <p:attrNameLst>
                                          <p:attrName>ppt_x</p:attrName>
                                        </p:attrNameLst>
                                      </p:cBhvr>
                                      <p:tavLst>
                                        <p:tav tm="0">
                                          <p:val>
                                            <p:strVal val="#ppt_x"/>
                                          </p:val>
                                        </p:tav>
                                        <p:tav tm="100000">
                                          <p:val>
                                            <p:strVal val="#ppt_x"/>
                                          </p:val>
                                        </p:tav>
                                      </p:tavLst>
                                    </p:anim>
                                    <p:anim calcmode="lin" valueType="num">
                                      <p:cBhvr>
                                        <p:cTn id="55" dur="700" fill="hold" decel="100000"/>
                                        <p:tgtEl>
                                          <p:spTgt spid="18"/>
                                        </p:tgtEl>
                                        <p:attrNameLst>
                                          <p:attrName>ppt_y</p:attrName>
                                        </p:attrNameLst>
                                      </p:cBhvr>
                                      <p:tavLst>
                                        <p:tav tm="0">
                                          <p:val>
                                            <p:strVal val="#ppt_y+-0.0150"/>
                                          </p:val>
                                        </p:tav>
                                        <p:tav tm="100000">
                                          <p:val>
                                            <p:strVal val="#ppt_y"/>
                                          </p:val>
                                        </p:tav>
                                      </p:tavLst>
                                    </p:anim>
                                  </p:childTnLst>
                                </p:cTn>
                              </p:par>
                              <p:par>
                                <p:cTn id="59" presetID="10" presetClass="entr" presetSubtype="0" fill="hold" grpId="0" nodeType="withEffect">
                                  <p:stCondLst>
                                    <p:cond delay="82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00" decel="100000"/>
                                        <p:tgtEl>
                                          <p:spTgt spid="17"/>
                                        </p:tgtEl>
                                      </p:cBhvr>
                                    </p:animEffect>
                                  </p:childTnLst>
                                </p:cTn>
                              </p:par>
                              <p:par>
                                <p:cTn id="62" presetID="10" presetClass="entr" presetSubtype="0" fill="hold" grpId="0" nodeType="withEffect">
                                  <p:stCondLst>
                                    <p:cond delay="90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700" decel="100000"/>
                                        <p:tgtEl>
                                          <p:spTgt spid="19"/>
                                        </p:tgtEl>
                                      </p:cBhvr>
                                    </p:animEffect>
                                  </p:childTnLst>
                                </p:cTn>
                              </p:par>
                              <p:par>
                                <p:cTn id="67" presetID="53" presetClass="entr" presetSubtype="16" fill="hold" grpId="0" nodeType="withEffect">
                                  <p:stCondLst>
                                    <p:cond delay="913"/>
                                  </p:stCondLst>
                                  <p:childTnLst>
                                    <p:set>
                                      <p:cBhvr>
                                        <p:cTn id="63" dur="1" fill="hold">
                                          <p:stCondLst>
                                            <p:cond delay="0"/>
                                          </p:stCondLst>
                                        </p:cTn>
                                        <p:tgtEl>
                                          <p:spTgt spid="20"/>
                                        </p:tgtEl>
                                        <p:attrNameLst>
                                          <p:attrName>style.visibility</p:attrName>
                                        </p:attrNameLst>
                                      </p:cBhvr>
                                      <p:to>
                                        <p:strVal val="visible"/>
                                      </p:to>
                                    </p:set>
                                    <p:anim calcmode="lin" valueType="num">
                                      <p:cBhvr>
                                        <p:cTn id="64" dur="600" fill="hold" decel="100000"/>
                                        <p:tgtEl>
                                          <p:spTgt spid="20"/>
                                        </p:tgtEl>
                                        <p:attrNameLst>
                                          <p:attrName>ppt_w</p:attrName>
                                        </p:attrNameLst>
                                      </p:cBhvr>
                                      <p:tavLst>
                                        <p:tav tm="0">
                                          <p:val>
                                            <p:strVal val="#ppt_w*1.900"/>
                                          </p:val>
                                        </p:tav>
                                        <p:tav tm="100000">
                                          <p:val>
                                            <p:strVal val="#ppt_w"/>
                                          </p:val>
                                        </p:tav>
                                      </p:tavLst>
                                    </p:anim>
                                    <p:anim calcmode="lin" valueType="num">
                                      <p:cBhvr>
                                        <p:cTn id="65" dur="600" fill="hold" decel="100000"/>
                                        <p:tgtEl>
                                          <p:spTgt spid="20"/>
                                        </p:tgtEl>
                                        <p:attrNameLst>
                                          <p:attrName>ppt_h</p:attrName>
                                        </p:attrNameLst>
                                      </p:cBhvr>
                                      <p:tavLst>
                                        <p:tav tm="0">
                                          <p:val>
                                            <p:strVal val="#ppt_h*1.900"/>
                                          </p:val>
                                        </p:tav>
                                        <p:tav tm="100000">
                                          <p:val>
                                            <p:strVal val="#ppt_h"/>
                                          </p:val>
                                        </p:tav>
                                      </p:tavLst>
                                    </p:anim>
                                    <p:animEffect transition="in" filter="fade">
                                      <p:cBhvr>
                                        <p:cTn id="66" dur="420" decel="100000"/>
                                        <p:tgtEl>
                                          <p:spTgt spid="20"/>
                                        </p:tgtEl>
                                      </p:cBhvr>
                                    </p:animEffect>
                                  </p:childTnLst>
                                </p:cTn>
                              </p:par>
                              <p:par>
                                <p:cTn id="72" presetID="42" presetClass="entr" presetSubtype="0" fill="hold" grpId="0" nodeType="withEffect">
                                  <p:stCondLst>
                                    <p:cond delay="973"/>
                                  </p:stCondLst>
                                  <p:childTnLst>
                                    <p:set>
                                      <p:cBhvr>
                                        <p:cTn id="68" dur="1" fill="hold">
                                          <p:stCondLst>
                                            <p:cond delay="0"/>
                                          </p:stCondLst>
                                        </p:cTn>
                                        <p:tgtEl>
                                          <p:spTgt spid="22"/>
                                        </p:tgtEl>
                                        <p:attrNameLst>
                                          <p:attrName>style.visibility</p:attrName>
                                        </p:attrNameLst>
                                      </p:cBhvr>
                                      <p:to>
                                        <p:strVal val="visible"/>
                                      </p:to>
                                    </p:set>
                                    <p:animEffect transition="in" filter="fade">
                                      <p:cBhvr>
                                        <p:cTn id="69" dur="560" decel="100000"/>
                                        <p:tgtEl>
                                          <p:spTgt spid="22"/>
                                        </p:tgtEl>
                                      </p:cBhvr>
                                    </p:animEffect>
                                    <p:anim calcmode="lin" valueType="num">
                                      <p:cBhvr>
                                        <p:cTn id="70" dur="700" fill="hold" decel="100000"/>
                                        <p:tgtEl>
                                          <p:spTgt spid="22"/>
                                        </p:tgtEl>
                                        <p:attrNameLst>
                                          <p:attrName>ppt_x</p:attrName>
                                        </p:attrNameLst>
                                      </p:cBhvr>
                                      <p:tavLst>
                                        <p:tav tm="0">
                                          <p:val>
                                            <p:strVal val="#ppt_x"/>
                                          </p:val>
                                        </p:tav>
                                        <p:tav tm="100000">
                                          <p:val>
                                            <p:strVal val="#ppt_x"/>
                                          </p:val>
                                        </p:tav>
                                      </p:tavLst>
                                    </p:anim>
                                    <p:anim calcmode="lin" valueType="num">
                                      <p:cBhvr>
                                        <p:cTn id="71" dur="700" fill="hold" decel="100000"/>
                                        <p:tgtEl>
                                          <p:spTgt spid="22"/>
                                        </p:tgtEl>
                                        <p:attrNameLst>
                                          <p:attrName>ppt_y</p:attrName>
                                        </p:attrNameLst>
                                      </p:cBhvr>
                                      <p:tavLst>
                                        <p:tav tm="0">
                                          <p:val>
                                            <p:strVal val="#ppt_y+0.0150"/>
                                          </p:val>
                                        </p:tav>
                                        <p:tav tm="100000">
                                          <p:val>
                                            <p:strVal val="#ppt_y"/>
                                          </p:val>
                                        </p:tav>
                                      </p:tavLst>
                                    </p:anim>
                                  </p:childTnLst>
                                </p:cTn>
                              </p:par>
                              <p:par>
                                <p:cTn id="75" presetID="10" presetClass="entr" presetSubtype="0" fill="hold" grpId="0" nodeType="withEffect">
                                  <p:stCondLst>
                                    <p:cond delay="993"/>
                                  </p:stCondLst>
                                  <p:childTnLst>
                                    <p:set>
                                      <p:cBhvr>
                                        <p:cTn id="73" dur="1" fill="hold">
                                          <p:stCondLst>
                                            <p:cond delay="0"/>
                                          </p:stCondLst>
                                        </p:cTn>
                                        <p:tgtEl>
                                          <p:spTgt spid="21"/>
                                        </p:tgtEl>
                                        <p:attrNameLst>
                                          <p:attrName>style.visibility</p:attrName>
                                        </p:attrNameLst>
                                      </p:cBhvr>
                                      <p:to>
                                        <p:strVal val="visible"/>
                                      </p:to>
                                    </p:set>
                                    <p:animEffect transition="in" filter="fade">
                                      <p:cBhvr>
                                        <p:cTn id="74" dur="500" decel="100000"/>
                                        <p:tgtEl>
                                          <p:spTgt spid="21"/>
                                        </p:tgtEl>
                                      </p:cBhvr>
                                    </p:animEffect>
                                  </p:childTnLst>
                                </p:cTn>
                              </p:par>
                              <p:par>
                                <p:cTn id="78" presetID="10" presetClass="entr" presetSubtype="0" fill="hold" grpId="0" nodeType="withEffect">
                                  <p:stCondLst>
                                    <p:cond delay="1073"/>
                                  </p:stCondLst>
                                  <p:childTnLst>
                                    <p:set>
                                      <p:cBhvr>
                                        <p:cTn id="76" dur="1" fill="hold">
                                          <p:stCondLst>
                                            <p:cond delay="0"/>
                                          </p:stCondLst>
                                        </p:cTn>
                                        <p:tgtEl>
                                          <p:spTgt spid="23"/>
                                        </p:tgtEl>
                                        <p:attrNameLst>
                                          <p:attrName>style.visibility</p:attrName>
                                        </p:attrNameLst>
                                      </p:cBhvr>
                                      <p:to>
                                        <p:strVal val="visible"/>
                                      </p:to>
                                    </p:set>
                                    <p:animEffect transition="in" filter="fade">
                                      <p:cBhvr>
                                        <p:cTn id="77" dur="700" decel="100000"/>
                                        <p:tgtEl>
                                          <p:spTgt spid="23"/>
                                        </p:tgtEl>
                                      </p:cBhvr>
                                    </p:animEffect>
                                  </p:childTnLst>
                                </p:cTn>
                              </p:par>
                              <p:par>
                                <p:cTn id="83" presetID="53" presetClass="entr" presetSubtype="16" fill="hold" grpId="0" nodeType="withEffect">
                                  <p:stCondLst>
                                    <p:cond delay="1103"/>
                                  </p:stCondLst>
                                  <p:childTnLst>
                                    <p:set>
                                      <p:cBhvr>
                                        <p:cTn id="79" dur="1" fill="hold">
                                          <p:stCondLst>
                                            <p:cond delay="0"/>
                                          </p:stCondLst>
                                        </p:cTn>
                                        <p:tgtEl>
                                          <p:spTgt spid="24"/>
                                        </p:tgtEl>
                                        <p:attrNameLst>
                                          <p:attrName>style.visibility</p:attrName>
                                        </p:attrNameLst>
                                      </p:cBhvr>
                                      <p:to>
                                        <p:strVal val="visible"/>
                                      </p:to>
                                    </p:set>
                                    <p:anim calcmode="lin" valueType="num">
                                      <p:cBhvr>
                                        <p:cTn id="80" dur="600" fill="hold" decel="100000"/>
                                        <p:tgtEl>
                                          <p:spTgt spid="24"/>
                                        </p:tgtEl>
                                        <p:attrNameLst>
                                          <p:attrName>ppt_w</p:attrName>
                                        </p:attrNameLst>
                                      </p:cBhvr>
                                      <p:tavLst>
                                        <p:tav tm="0">
                                          <p:val>
                                            <p:strVal val="#ppt_w*1.900"/>
                                          </p:val>
                                        </p:tav>
                                        <p:tav tm="100000">
                                          <p:val>
                                            <p:strVal val="#ppt_w"/>
                                          </p:val>
                                        </p:tav>
                                      </p:tavLst>
                                    </p:anim>
                                    <p:anim calcmode="lin" valueType="num">
                                      <p:cBhvr>
                                        <p:cTn id="81" dur="600" fill="hold" decel="100000"/>
                                        <p:tgtEl>
                                          <p:spTgt spid="24"/>
                                        </p:tgtEl>
                                        <p:attrNameLst>
                                          <p:attrName>ppt_h</p:attrName>
                                        </p:attrNameLst>
                                      </p:cBhvr>
                                      <p:tavLst>
                                        <p:tav tm="0">
                                          <p:val>
                                            <p:strVal val="#ppt_h*1.900"/>
                                          </p:val>
                                        </p:tav>
                                        <p:tav tm="100000">
                                          <p:val>
                                            <p:strVal val="#ppt_h"/>
                                          </p:val>
                                        </p:tav>
                                      </p:tavLst>
                                    </p:anim>
                                    <p:animEffect transition="in" filter="fade">
                                      <p:cBhvr>
                                        <p:cTn id="82" dur="420" decel="100000"/>
                                        <p:tgtEl>
                                          <p:spTgt spid="24"/>
                                        </p:tgtEl>
                                      </p:cBhvr>
                                    </p:animEffect>
                                  </p:childTnLst>
                                </p:cTn>
                              </p:par>
                              <p:par>
                                <p:cTn id="88" presetID="42" presetClass="entr" presetSubtype="0" fill="hold" grpId="0" nodeType="withEffect">
                                  <p:stCondLst>
                                    <p:cond delay="1163"/>
                                  </p:stCondLst>
                                  <p:childTnLst>
                                    <p:set>
                                      <p:cBhvr>
                                        <p:cTn id="84" dur="1" fill="hold">
                                          <p:stCondLst>
                                            <p:cond delay="0"/>
                                          </p:stCondLst>
                                        </p:cTn>
                                        <p:tgtEl>
                                          <p:spTgt spid="26"/>
                                        </p:tgtEl>
                                        <p:attrNameLst>
                                          <p:attrName>style.visibility</p:attrName>
                                        </p:attrNameLst>
                                      </p:cBhvr>
                                      <p:to>
                                        <p:strVal val="visible"/>
                                      </p:to>
                                    </p:set>
                                    <p:animEffect transition="in" filter="fade">
                                      <p:cBhvr>
                                        <p:cTn id="85" dur="560" decel="100000"/>
                                        <p:tgtEl>
                                          <p:spTgt spid="26"/>
                                        </p:tgtEl>
                                      </p:cBhvr>
                                    </p:animEffect>
                                    <p:anim calcmode="lin" valueType="num">
                                      <p:cBhvr>
                                        <p:cTn id="86" dur="700" fill="hold" decel="100000"/>
                                        <p:tgtEl>
                                          <p:spTgt spid="26"/>
                                        </p:tgtEl>
                                        <p:attrNameLst>
                                          <p:attrName>ppt_x</p:attrName>
                                        </p:attrNameLst>
                                      </p:cBhvr>
                                      <p:tavLst>
                                        <p:tav tm="0">
                                          <p:val>
                                            <p:strVal val="#ppt_x"/>
                                          </p:val>
                                        </p:tav>
                                        <p:tav tm="100000">
                                          <p:val>
                                            <p:strVal val="#ppt_x"/>
                                          </p:val>
                                        </p:tav>
                                      </p:tavLst>
                                    </p:anim>
                                    <p:anim calcmode="lin" valueType="num">
                                      <p:cBhvr>
                                        <p:cTn id="87" dur="700" fill="hold" decel="100000"/>
                                        <p:tgtEl>
                                          <p:spTgt spid="26"/>
                                        </p:tgtEl>
                                        <p:attrNameLst>
                                          <p:attrName>ppt_y</p:attrName>
                                        </p:attrNameLst>
                                      </p:cBhvr>
                                      <p:tavLst>
                                        <p:tav tm="0">
                                          <p:val>
                                            <p:strVal val="#ppt_y+-0.0150"/>
                                          </p:val>
                                        </p:tav>
                                        <p:tav tm="100000">
                                          <p:val>
                                            <p:strVal val="#ppt_y"/>
                                          </p:val>
                                        </p:tav>
                                      </p:tavLst>
                                    </p:anim>
                                  </p:childTnLst>
                                </p:cTn>
                              </p:par>
                              <p:par>
                                <p:cTn id="91" presetID="10" presetClass="entr" presetSubtype="0" fill="hold" grpId="0" nodeType="withEffect">
                                  <p:stCondLst>
                                    <p:cond delay="1183"/>
                                  </p:stCondLst>
                                  <p:childTnLst>
                                    <p:set>
                                      <p:cBhvr>
                                        <p:cTn id="89" dur="1" fill="hold">
                                          <p:stCondLst>
                                            <p:cond delay="0"/>
                                          </p:stCondLst>
                                        </p:cTn>
                                        <p:tgtEl>
                                          <p:spTgt spid="25"/>
                                        </p:tgtEl>
                                        <p:attrNameLst>
                                          <p:attrName>style.visibility</p:attrName>
                                        </p:attrNameLst>
                                      </p:cBhvr>
                                      <p:to>
                                        <p:strVal val="visible"/>
                                      </p:to>
                                    </p:set>
                                    <p:animEffect transition="in" filter="fade">
                                      <p:cBhvr>
                                        <p:cTn id="90" dur="500" decel="100000"/>
                                        <p:tgtEl>
                                          <p:spTgt spid="25"/>
                                        </p:tgtEl>
                                      </p:cBhvr>
                                    </p:animEffect>
                                  </p:childTnLst>
                                </p:cTn>
                              </p:par>
                              <p:par>
                                <p:cTn id="94" presetID="10" presetClass="entr" presetSubtype="0" fill="hold" grpId="0" nodeType="withEffect">
                                  <p:stCondLst>
                                    <p:cond delay="1263"/>
                                  </p:stCondLst>
                                  <p:childTnLst>
                                    <p:set>
                                      <p:cBhvr>
                                        <p:cTn id="92" dur="1" fill="hold">
                                          <p:stCondLst>
                                            <p:cond delay="0"/>
                                          </p:stCondLst>
                                        </p:cTn>
                                        <p:tgtEl>
                                          <p:spTgt spid="27"/>
                                        </p:tgtEl>
                                        <p:attrNameLst>
                                          <p:attrName>style.visibility</p:attrName>
                                        </p:attrNameLst>
                                      </p:cBhvr>
                                      <p:to>
                                        <p:strVal val="visible"/>
                                      </p:to>
                                    </p:set>
                                    <p:animEffect transition="in" filter="fade">
                                      <p:cBhvr>
                                        <p:cTn id="93" dur="700" decel="100000"/>
                                        <p:tgtEl>
                                          <p:spTgt spid="27"/>
                                        </p:tgtEl>
                                      </p:cBhvr>
                                    </p:animEffect>
                                  </p:childTnLst>
                                </p:cTn>
                              </p:par>
                              <p:par>
                                <p:cTn id="99" presetID="53" presetClass="entr" presetSubtype="16" fill="hold" grpId="0" nodeType="withEffect">
                                  <p:stCondLst>
                                    <p:cond delay="1317"/>
                                  </p:stCondLst>
                                  <p:childTnLst>
                                    <p:set>
                                      <p:cBhvr>
                                        <p:cTn id="95" dur="1" fill="hold">
                                          <p:stCondLst>
                                            <p:cond delay="0"/>
                                          </p:stCondLst>
                                        </p:cTn>
                                        <p:tgtEl>
                                          <p:spTgt spid="28"/>
                                        </p:tgtEl>
                                        <p:attrNameLst>
                                          <p:attrName>style.visibility</p:attrName>
                                        </p:attrNameLst>
                                      </p:cBhvr>
                                      <p:to>
                                        <p:strVal val="visible"/>
                                      </p:to>
                                    </p:set>
                                    <p:anim calcmode="lin" valueType="num">
                                      <p:cBhvr>
                                        <p:cTn id="96" dur="600" fill="hold" decel="100000"/>
                                        <p:tgtEl>
                                          <p:spTgt spid="28"/>
                                        </p:tgtEl>
                                        <p:attrNameLst>
                                          <p:attrName>ppt_w</p:attrName>
                                        </p:attrNameLst>
                                      </p:cBhvr>
                                      <p:tavLst>
                                        <p:tav tm="0">
                                          <p:val>
                                            <p:strVal val="#ppt_w*1.900"/>
                                          </p:val>
                                        </p:tav>
                                        <p:tav tm="100000">
                                          <p:val>
                                            <p:strVal val="#ppt_w"/>
                                          </p:val>
                                        </p:tav>
                                      </p:tavLst>
                                    </p:anim>
                                    <p:anim calcmode="lin" valueType="num">
                                      <p:cBhvr>
                                        <p:cTn id="97" dur="600" fill="hold" decel="100000"/>
                                        <p:tgtEl>
                                          <p:spTgt spid="28"/>
                                        </p:tgtEl>
                                        <p:attrNameLst>
                                          <p:attrName>ppt_h</p:attrName>
                                        </p:attrNameLst>
                                      </p:cBhvr>
                                      <p:tavLst>
                                        <p:tav tm="0">
                                          <p:val>
                                            <p:strVal val="#ppt_h*1.900"/>
                                          </p:val>
                                        </p:tav>
                                        <p:tav tm="100000">
                                          <p:val>
                                            <p:strVal val="#ppt_h"/>
                                          </p:val>
                                        </p:tav>
                                      </p:tavLst>
                                    </p:anim>
                                    <p:animEffect transition="in" filter="fade">
                                      <p:cBhvr>
                                        <p:cTn id="98" dur="420" decel="100000"/>
                                        <p:tgtEl>
                                          <p:spTgt spid="28"/>
                                        </p:tgtEl>
                                      </p:cBhvr>
                                    </p:animEffect>
                                  </p:childTnLst>
                                </p:cTn>
                              </p:par>
                              <p:par>
                                <p:cTn id="104" presetID="42" presetClass="entr" presetSubtype="0" fill="hold" grpId="0" nodeType="withEffect">
                                  <p:stCondLst>
                                    <p:cond delay="1377"/>
                                  </p:stCondLst>
                                  <p:childTnLst>
                                    <p:set>
                                      <p:cBhvr>
                                        <p:cTn id="100" dur="1" fill="hold">
                                          <p:stCondLst>
                                            <p:cond delay="0"/>
                                          </p:stCondLst>
                                        </p:cTn>
                                        <p:tgtEl>
                                          <p:spTgt spid="30"/>
                                        </p:tgtEl>
                                        <p:attrNameLst>
                                          <p:attrName>style.visibility</p:attrName>
                                        </p:attrNameLst>
                                      </p:cBhvr>
                                      <p:to>
                                        <p:strVal val="visible"/>
                                      </p:to>
                                    </p:set>
                                    <p:animEffect transition="in" filter="fade">
                                      <p:cBhvr>
                                        <p:cTn id="101" dur="560" decel="100000"/>
                                        <p:tgtEl>
                                          <p:spTgt spid="30"/>
                                        </p:tgtEl>
                                      </p:cBhvr>
                                    </p:animEffect>
                                    <p:anim calcmode="lin" valueType="num">
                                      <p:cBhvr>
                                        <p:cTn id="102" dur="700" fill="hold" decel="100000"/>
                                        <p:tgtEl>
                                          <p:spTgt spid="30"/>
                                        </p:tgtEl>
                                        <p:attrNameLst>
                                          <p:attrName>ppt_x</p:attrName>
                                        </p:attrNameLst>
                                      </p:cBhvr>
                                      <p:tavLst>
                                        <p:tav tm="0">
                                          <p:val>
                                            <p:strVal val="#ppt_x"/>
                                          </p:val>
                                        </p:tav>
                                        <p:tav tm="100000">
                                          <p:val>
                                            <p:strVal val="#ppt_x"/>
                                          </p:val>
                                        </p:tav>
                                      </p:tavLst>
                                    </p:anim>
                                    <p:anim calcmode="lin" valueType="num">
                                      <p:cBhvr>
                                        <p:cTn id="103" dur="700" fill="hold" decel="100000"/>
                                        <p:tgtEl>
                                          <p:spTgt spid="30"/>
                                        </p:tgtEl>
                                        <p:attrNameLst>
                                          <p:attrName>ppt_y</p:attrName>
                                        </p:attrNameLst>
                                      </p:cBhvr>
                                      <p:tavLst>
                                        <p:tav tm="0">
                                          <p:val>
                                            <p:strVal val="#ppt_y+0.0150"/>
                                          </p:val>
                                        </p:tav>
                                        <p:tav tm="100000">
                                          <p:val>
                                            <p:strVal val="#ppt_y"/>
                                          </p:val>
                                        </p:tav>
                                      </p:tavLst>
                                    </p:anim>
                                  </p:childTnLst>
                                </p:cTn>
                              </p:par>
                              <p:par>
                                <p:cTn id="107" presetID="10" presetClass="entr" presetSubtype="0" fill="hold" grpId="0" nodeType="withEffect">
                                  <p:stCondLst>
                                    <p:cond delay="1397"/>
                                  </p:stCondLst>
                                  <p:childTnLst>
                                    <p:set>
                                      <p:cBhvr>
                                        <p:cTn id="105" dur="1" fill="hold">
                                          <p:stCondLst>
                                            <p:cond delay="0"/>
                                          </p:stCondLst>
                                        </p:cTn>
                                        <p:tgtEl>
                                          <p:spTgt spid="29"/>
                                        </p:tgtEl>
                                        <p:attrNameLst>
                                          <p:attrName>style.visibility</p:attrName>
                                        </p:attrNameLst>
                                      </p:cBhvr>
                                      <p:to>
                                        <p:strVal val="visible"/>
                                      </p:to>
                                    </p:set>
                                    <p:animEffect transition="in" filter="fade">
                                      <p:cBhvr>
                                        <p:cTn id="106" dur="500" decel="100000"/>
                                        <p:tgtEl>
                                          <p:spTgt spid="29"/>
                                        </p:tgtEl>
                                      </p:cBhvr>
                                    </p:animEffect>
                                  </p:childTnLst>
                                </p:cTn>
                              </p:par>
                              <p:par>
                                <p:cTn id="110" presetID="10" presetClass="entr" presetSubtype="0" fill="hold" grpId="0" nodeType="withEffect">
                                  <p:stCondLst>
                                    <p:cond delay="1477"/>
                                  </p:stCondLst>
                                  <p:childTnLst>
                                    <p:set>
                                      <p:cBhvr>
                                        <p:cTn id="108" dur="1" fill="hold">
                                          <p:stCondLst>
                                            <p:cond delay="0"/>
                                          </p:stCondLst>
                                        </p:cTn>
                                        <p:tgtEl>
                                          <p:spTgt spid="31"/>
                                        </p:tgtEl>
                                        <p:attrNameLst>
                                          <p:attrName>style.visibility</p:attrName>
                                        </p:attrNameLst>
                                      </p:cBhvr>
                                      <p:to>
                                        <p:strVal val="visible"/>
                                      </p:to>
                                    </p:set>
                                    <p:animEffect transition="in" filter="fade">
                                      <p:cBhvr>
                                        <p:cTn id="109" dur="700" decel="100000"/>
                                        <p:tgtEl>
                                          <p:spTgt spid="31"/>
                                        </p:tgtEl>
                                      </p:cBhvr>
                                    </p:animEffect>
                                  </p:childTnLst>
                                </p:cTn>
                              </p:par>
                              <p:par>
                                <p:cTn id="115" presetID="53" presetClass="entr" presetSubtype="16" fill="hold" grpId="0" nodeType="withEffect">
                                  <p:stCondLst>
                                    <p:cond delay="1568"/>
                                  </p:stCondLst>
                                  <p:childTnLst>
                                    <p:set>
                                      <p:cBhvr>
                                        <p:cTn id="111" dur="1" fill="hold">
                                          <p:stCondLst>
                                            <p:cond delay="0"/>
                                          </p:stCondLst>
                                        </p:cTn>
                                        <p:tgtEl>
                                          <p:spTgt spid="32"/>
                                        </p:tgtEl>
                                        <p:attrNameLst>
                                          <p:attrName>style.visibility</p:attrName>
                                        </p:attrNameLst>
                                      </p:cBhvr>
                                      <p:to>
                                        <p:strVal val="visible"/>
                                      </p:to>
                                    </p:set>
                                    <p:anim calcmode="lin" valueType="num">
                                      <p:cBhvr>
                                        <p:cTn id="112" dur="600" fill="hold" decel="100000"/>
                                        <p:tgtEl>
                                          <p:spTgt spid="32"/>
                                        </p:tgtEl>
                                        <p:attrNameLst>
                                          <p:attrName>ppt_w</p:attrName>
                                        </p:attrNameLst>
                                      </p:cBhvr>
                                      <p:tavLst>
                                        <p:tav tm="0">
                                          <p:val>
                                            <p:strVal val="#ppt_w*1.900"/>
                                          </p:val>
                                        </p:tav>
                                        <p:tav tm="100000">
                                          <p:val>
                                            <p:strVal val="#ppt_w"/>
                                          </p:val>
                                        </p:tav>
                                      </p:tavLst>
                                    </p:anim>
                                    <p:anim calcmode="lin" valueType="num">
                                      <p:cBhvr>
                                        <p:cTn id="113" dur="600" fill="hold" decel="100000"/>
                                        <p:tgtEl>
                                          <p:spTgt spid="32"/>
                                        </p:tgtEl>
                                        <p:attrNameLst>
                                          <p:attrName>ppt_h</p:attrName>
                                        </p:attrNameLst>
                                      </p:cBhvr>
                                      <p:tavLst>
                                        <p:tav tm="0">
                                          <p:val>
                                            <p:strVal val="#ppt_h*1.900"/>
                                          </p:val>
                                        </p:tav>
                                        <p:tav tm="100000">
                                          <p:val>
                                            <p:strVal val="#ppt_h"/>
                                          </p:val>
                                        </p:tav>
                                      </p:tavLst>
                                    </p:anim>
                                    <p:animEffect transition="in" filter="fade">
                                      <p:cBhvr>
                                        <p:cTn id="114" dur="420" decel="100000"/>
                                        <p:tgtEl>
                                          <p:spTgt spid="32"/>
                                        </p:tgtEl>
                                      </p:cBhvr>
                                    </p:animEffect>
                                  </p:childTnLst>
                                </p:cTn>
                              </p:par>
                              <p:par>
                                <p:cTn id="120" presetID="42" presetClass="entr" presetSubtype="0" fill="hold" grpId="0" nodeType="withEffect">
                                  <p:stCondLst>
                                    <p:cond delay="1628"/>
                                  </p:stCondLst>
                                  <p:childTnLst>
                                    <p:set>
                                      <p:cBhvr>
                                        <p:cTn id="116" dur="1" fill="hold">
                                          <p:stCondLst>
                                            <p:cond delay="0"/>
                                          </p:stCondLst>
                                        </p:cTn>
                                        <p:tgtEl>
                                          <p:spTgt spid="34"/>
                                        </p:tgtEl>
                                        <p:attrNameLst>
                                          <p:attrName>style.visibility</p:attrName>
                                        </p:attrNameLst>
                                      </p:cBhvr>
                                      <p:to>
                                        <p:strVal val="visible"/>
                                      </p:to>
                                    </p:set>
                                    <p:animEffect transition="in" filter="fade">
                                      <p:cBhvr>
                                        <p:cTn id="117" dur="560" decel="100000"/>
                                        <p:tgtEl>
                                          <p:spTgt spid="34"/>
                                        </p:tgtEl>
                                      </p:cBhvr>
                                    </p:animEffect>
                                    <p:anim calcmode="lin" valueType="num">
                                      <p:cBhvr>
                                        <p:cTn id="118" dur="700" fill="hold" decel="100000"/>
                                        <p:tgtEl>
                                          <p:spTgt spid="34"/>
                                        </p:tgtEl>
                                        <p:attrNameLst>
                                          <p:attrName>ppt_x</p:attrName>
                                        </p:attrNameLst>
                                      </p:cBhvr>
                                      <p:tavLst>
                                        <p:tav tm="0">
                                          <p:val>
                                            <p:strVal val="#ppt_x"/>
                                          </p:val>
                                        </p:tav>
                                        <p:tav tm="100000">
                                          <p:val>
                                            <p:strVal val="#ppt_x"/>
                                          </p:val>
                                        </p:tav>
                                      </p:tavLst>
                                    </p:anim>
                                    <p:anim calcmode="lin" valueType="num">
                                      <p:cBhvr>
                                        <p:cTn id="119" dur="700" fill="hold" decel="100000"/>
                                        <p:tgtEl>
                                          <p:spTgt spid="34"/>
                                        </p:tgtEl>
                                        <p:attrNameLst>
                                          <p:attrName>ppt_y</p:attrName>
                                        </p:attrNameLst>
                                      </p:cBhvr>
                                      <p:tavLst>
                                        <p:tav tm="0">
                                          <p:val>
                                            <p:strVal val="#ppt_y+-0.0150"/>
                                          </p:val>
                                        </p:tav>
                                        <p:tav tm="100000">
                                          <p:val>
                                            <p:strVal val="#ppt_y"/>
                                          </p:val>
                                        </p:tav>
                                      </p:tavLst>
                                    </p:anim>
                                  </p:childTnLst>
                                </p:cTn>
                              </p:par>
                              <p:par>
                                <p:cTn id="123" presetID="10" presetClass="entr" presetSubtype="0" fill="hold" grpId="0" nodeType="withEffect">
                                  <p:stCondLst>
                                    <p:cond delay="1648"/>
                                  </p:stCondLst>
                                  <p:childTnLst>
                                    <p:set>
                                      <p:cBhvr>
                                        <p:cTn id="121" dur="1" fill="hold">
                                          <p:stCondLst>
                                            <p:cond delay="0"/>
                                          </p:stCondLst>
                                        </p:cTn>
                                        <p:tgtEl>
                                          <p:spTgt spid="33"/>
                                        </p:tgtEl>
                                        <p:attrNameLst>
                                          <p:attrName>style.visibility</p:attrName>
                                        </p:attrNameLst>
                                      </p:cBhvr>
                                      <p:to>
                                        <p:strVal val="visible"/>
                                      </p:to>
                                    </p:set>
                                    <p:animEffect transition="in" filter="fade">
                                      <p:cBhvr>
                                        <p:cTn id="122" dur="500" decel="100000"/>
                                        <p:tgtEl>
                                          <p:spTgt spid="33"/>
                                        </p:tgtEl>
                                      </p:cBhvr>
                                    </p:animEffect>
                                  </p:childTnLst>
                                </p:cTn>
                              </p:par>
                              <p:par>
                                <p:cTn id="126" presetID="10" presetClass="entr" presetSubtype="0" fill="hold" grpId="0" nodeType="withEffect">
                                  <p:stCondLst>
                                    <p:cond delay="1728"/>
                                  </p:stCondLst>
                                  <p:childTnLst>
                                    <p:set>
                                      <p:cBhvr>
                                        <p:cTn id="124" dur="1" fill="hold">
                                          <p:stCondLst>
                                            <p:cond delay="0"/>
                                          </p:stCondLst>
                                        </p:cTn>
                                        <p:tgtEl>
                                          <p:spTgt spid="35"/>
                                        </p:tgtEl>
                                        <p:attrNameLst>
                                          <p:attrName>style.visibility</p:attrName>
                                        </p:attrNameLst>
                                      </p:cBhvr>
                                      <p:to>
                                        <p:strVal val="visible"/>
                                      </p:to>
                                    </p:set>
                                    <p:animEffect transition="in" filter="fade">
                                      <p:cBhvr>
                                        <p:cTn id="125" dur="700" decel="100000"/>
                                        <p:tgtEl>
                                          <p:spTgt spid="35"/>
                                        </p:tgtEl>
                                      </p:cBhvr>
                                    </p:animEffect>
                                  </p:childTnLst>
                                </p:cTn>
                              </p:par>
                              <p:par>
                                <p:cTn id="131" presetID="53" presetClass="entr" presetSubtype="16" fill="hold" grpId="0" nodeType="withEffect">
                                  <p:stCondLst>
                                    <p:cond delay="1886"/>
                                  </p:stCondLst>
                                  <p:childTnLst>
                                    <p:set>
                                      <p:cBhvr>
                                        <p:cTn id="127" dur="1" fill="hold">
                                          <p:stCondLst>
                                            <p:cond delay="0"/>
                                          </p:stCondLst>
                                        </p:cTn>
                                        <p:tgtEl>
                                          <p:spTgt spid="36"/>
                                        </p:tgtEl>
                                        <p:attrNameLst>
                                          <p:attrName>style.visibility</p:attrName>
                                        </p:attrNameLst>
                                      </p:cBhvr>
                                      <p:to>
                                        <p:strVal val="visible"/>
                                      </p:to>
                                    </p:set>
                                    <p:anim calcmode="lin" valueType="num">
                                      <p:cBhvr>
                                        <p:cTn id="128" dur="600" fill="hold" decel="100000"/>
                                        <p:tgtEl>
                                          <p:spTgt spid="36"/>
                                        </p:tgtEl>
                                        <p:attrNameLst>
                                          <p:attrName>ppt_w</p:attrName>
                                        </p:attrNameLst>
                                      </p:cBhvr>
                                      <p:tavLst>
                                        <p:tav tm="0">
                                          <p:val>
                                            <p:strVal val="#ppt_w*1.900"/>
                                          </p:val>
                                        </p:tav>
                                        <p:tav tm="100000">
                                          <p:val>
                                            <p:strVal val="#ppt_w"/>
                                          </p:val>
                                        </p:tav>
                                      </p:tavLst>
                                    </p:anim>
                                    <p:anim calcmode="lin" valueType="num">
                                      <p:cBhvr>
                                        <p:cTn id="129" dur="600" fill="hold" decel="100000"/>
                                        <p:tgtEl>
                                          <p:spTgt spid="36"/>
                                        </p:tgtEl>
                                        <p:attrNameLst>
                                          <p:attrName>ppt_h</p:attrName>
                                        </p:attrNameLst>
                                      </p:cBhvr>
                                      <p:tavLst>
                                        <p:tav tm="0">
                                          <p:val>
                                            <p:strVal val="#ppt_h*1.900"/>
                                          </p:val>
                                        </p:tav>
                                        <p:tav tm="100000">
                                          <p:val>
                                            <p:strVal val="#ppt_h"/>
                                          </p:val>
                                        </p:tav>
                                      </p:tavLst>
                                    </p:anim>
                                    <p:animEffect transition="in" filter="fade">
                                      <p:cBhvr>
                                        <p:cTn id="130" dur="420" decel="100000"/>
                                        <p:tgtEl>
                                          <p:spTgt spid="36"/>
                                        </p:tgtEl>
                                      </p:cBhvr>
                                    </p:animEffect>
                                  </p:childTnLst>
                                </p:cTn>
                              </p:par>
                              <p:par>
                                <p:cTn id="136" presetID="42" presetClass="entr" presetSubtype="0" fill="hold" grpId="0" nodeType="withEffect">
                                  <p:stCondLst>
                                    <p:cond delay="1946"/>
                                  </p:stCondLst>
                                  <p:childTnLst>
                                    <p:set>
                                      <p:cBhvr>
                                        <p:cTn id="132" dur="1" fill="hold">
                                          <p:stCondLst>
                                            <p:cond delay="0"/>
                                          </p:stCondLst>
                                        </p:cTn>
                                        <p:tgtEl>
                                          <p:spTgt spid="38"/>
                                        </p:tgtEl>
                                        <p:attrNameLst>
                                          <p:attrName>style.visibility</p:attrName>
                                        </p:attrNameLst>
                                      </p:cBhvr>
                                      <p:to>
                                        <p:strVal val="visible"/>
                                      </p:to>
                                    </p:set>
                                    <p:animEffect transition="in" filter="fade">
                                      <p:cBhvr>
                                        <p:cTn id="133" dur="560" decel="100000"/>
                                        <p:tgtEl>
                                          <p:spTgt spid="38"/>
                                        </p:tgtEl>
                                      </p:cBhvr>
                                    </p:animEffect>
                                    <p:anim calcmode="lin" valueType="num">
                                      <p:cBhvr>
                                        <p:cTn id="134" dur="700" fill="hold" decel="100000"/>
                                        <p:tgtEl>
                                          <p:spTgt spid="38"/>
                                        </p:tgtEl>
                                        <p:attrNameLst>
                                          <p:attrName>ppt_x</p:attrName>
                                        </p:attrNameLst>
                                      </p:cBhvr>
                                      <p:tavLst>
                                        <p:tav tm="0">
                                          <p:val>
                                            <p:strVal val="#ppt_x"/>
                                          </p:val>
                                        </p:tav>
                                        <p:tav tm="100000">
                                          <p:val>
                                            <p:strVal val="#ppt_x"/>
                                          </p:val>
                                        </p:tav>
                                      </p:tavLst>
                                    </p:anim>
                                    <p:anim calcmode="lin" valueType="num">
                                      <p:cBhvr>
                                        <p:cTn id="135" dur="700" fill="hold" decel="100000"/>
                                        <p:tgtEl>
                                          <p:spTgt spid="38"/>
                                        </p:tgtEl>
                                        <p:attrNameLst>
                                          <p:attrName>ppt_y</p:attrName>
                                        </p:attrNameLst>
                                      </p:cBhvr>
                                      <p:tavLst>
                                        <p:tav tm="0">
                                          <p:val>
                                            <p:strVal val="#ppt_y+0.0150"/>
                                          </p:val>
                                        </p:tav>
                                        <p:tav tm="100000">
                                          <p:val>
                                            <p:strVal val="#ppt_y"/>
                                          </p:val>
                                        </p:tav>
                                      </p:tavLst>
                                    </p:anim>
                                  </p:childTnLst>
                                </p:cTn>
                              </p:par>
                              <p:par>
                                <p:cTn id="139" presetID="10" presetClass="entr" presetSubtype="0" fill="hold" grpId="0" nodeType="withEffect">
                                  <p:stCondLst>
                                    <p:cond delay="1966"/>
                                  </p:stCondLst>
                                  <p:childTnLst>
                                    <p:set>
                                      <p:cBhvr>
                                        <p:cTn id="137" dur="1" fill="hold">
                                          <p:stCondLst>
                                            <p:cond delay="0"/>
                                          </p:stCondLst>
                                        </p:cTn>
                                        <p:tgtEl>
                                          <p:spTgt spid="37"/>
                                        </p:tgtEl>
                                        <p:attrNameLst>
                                          <p:attrName>style.visibility</p:attrName>
                                        </p:attrNameLst>
                                      </p:cBhvr>
                                      <p:to>
                                        <p:strVal val="visible"/>
                                      </p:to>
                                    </p:set>
                                    <p:animEffect transition="in" filter="fade">
                                      <p:cBhvr>
                                        <p:cTn id="138" dur="500" decel="100000"/>
                                        <p:tgtEl>
                                          <p:spTgt spid="37"/>
                                        </p:tgtEl>
                                      </p:cBhvr>
                                    </p:animEffect>
                                  </p:childTnLst>
                                </p:cTn>
                              </p:par>
                              <p:par>
                                <p:cTn id="142" presetID="10" presetClass="entr" presetSubtype="0" fill="hold" grpId="0" nodeType="withEffect">
                                  <p:stCondLst>
                                    <p:cond delay="2046"/>
                                  </p:stCondLst>
                                  <p:childTnLst>
                                    <p:set>
                                      <p:cBhvr>
                                        <p:cTn id="140" dur="1" fill="hold">
                                          <p:stCondLst>
                                            <p:cond delay="0"/>
                                          </p:stCondLst>
                                        </p:cTn>
                                        <p:tgtEl>
                                          <p:spTgt spid="39"/>
                                        </p:tgtEl>
                                        <p:attrNameLst>
                                          <p:attrName>style.visibility</p:attrName>
                                        </p:attrNameLst>
                                      </p:cBhvr>
                                      <p:to>
                                        <p:strVal val="visible"/>
                                      </p:to>
                                    </p:set>
                                    <p:animEffect transition="in" filter="fade">
                                      <p:cBhvr>
                                        <p:cTn id="141" dur="700" decel="100000"/>
                                        <p:tgtEl>
                                          <p:spTgt spid="39"/>
                                        </p:tgtEl>
                                      </p:cBhvr>
                                    </p:animEffect>
                                  </p:childTnLst>
                                </p:cTn>
                              </p:par>
                              <p:par>
                                <p:cTn id="147" presetID="53" presetClass="entr" presetSubtype="16" fill="hold" grpId="0" nodeType="withEffect">
                                  <p:stCondLst>
                                    <p:cond delay="2408"/>
                                  </p:stCondLst>
                                  <p:childTnLst>
                                    <p:set>
                                      <p:cBhvr>
                                        <p:cTn id="143" dur="1" fill="hold">
                                          <p:stCondLst>
                                            <p:cond delay="0"/>
                                          </p:stCondLst>
                                        </p:cTn>
                                        <p:tgtEl>
                                          <p:spTgt spid="40"/>
                                        </p:tgtEl>
                                        <p:attrNameLst>
                                          <p:attrName>style.visibility</p:attrName>
                                        </p:attrNameLst>
                                      </p:cBhvr>
                                      <p:to>
                                        <p:strVal val="visible"/>
                                      </p:to>
                                    </p:set>
                                    <p:anim calcmode="lin" valueType="num">
                                      <p:cBhvr>
                                        <p:cTn id="144" dur="600" fill="hold" decel="100000"/>
                                        <p:tgtEl>
                                          <p:spTgt spid="40"/>
                                        </p:tgtEl>
                                        <p:attrNameLst>
                                          <p:attrName>ppt_w</p:attrName>
                                        </p:attrNameLst>
                                      </p:cBhvr>
                                      <p:tavLst>
                                        <p:tav tm="0">
                                          <p:val>
                                            <p:strVal val="#ppt_w*1.900"/>
                                          </p:val>
                                        </p:tav>
                                        <p:tav tm="100000">
                                          <p:val>
                                            <p:strVal val="#ppt_w"/>
                                          </p:val>
                                        </p:tav>
                                      </p:tavLst>
                                    </p:anim>
                                    <p:anim calcmode="lin" valueType="num">
                                      <p:cBhvr>
                                        <p:cTn id="145" dur="600" fill="hold" decel="100000"/>
                                        <p:tgtEl>
                                          <p:spTgt spid="40"/>
                                        </p:tgtEl>
                                        <p:attrNameLst>
                                          <p:attrName>ppt_h</p:attrName>
                                        </p:attrNameLst>
                                      </p:cBhvr>
                                      <p:tavLst>
                                        <p:tav tm="0">
                                          <p:val>
                                            <p:strVal val="#ppt_h*1.900"/>
                                          </p:val>
                                        </p:tav>
                                        <p:tav tm="100000">
                                          <p:val>
                                            <p:strVal val="#ppt_h"/>
                                          </p:val>
                                        </p:tav>
                                      </p:tavLst>
                                    </p:anim>
                                    <p:animEffect transition="in" filter="fade">
                                      <p:cBhvr>
                                        <p:cTn id="146" dur="420" decel="100000"/>
                                        <p:tgtEl>
                                          <p:spTgt spid="40"/>
                                        </p:tgtEl>
                                      </p:cBhvr>
                                    </p:animEffect>
                                  </p:childTnLst>
                                </p:cTn>
                              </p:par>
                              <p:par>
                                <p:cTn id="149" presetID="6" presetClass="emph" presetSubtype="0" fill="hold" grpId="1" nodeType="withEffect" repeatCount="indefinite" autoRev="1">
                                  <p:stCondLst>
                                    <p:cond delay="2468"/>
                                  </p:stCondLst>
                                  <p:childTnLst>
                                    <p:animScale>
                                      <p:cBhvr>
                                        <p:cTn id="148" dur="1700" fill="hold" accel="50000" decel="50000"/>
                                        <p:tgtEl>
                                          <p:spTgt spid="32"/>
                                        </p:tgtEl>
                                      </p:cBhvr>
                                      <p:by x="115000" y="115000"/>
                                    </p:animScale>
                                  </p:childTnLst>
                                </p:cTn>
                              </p:par>
                              <p:par>
                                <p:cTn id="154" presetID="42" presetClass="entr" presetSubtype="0" fill="hold" grpId="0" nodeType="withEffect">
                                  <p:stCondLst>
                                    <p:cond delay="2468"/>
                                  </p:stCondLst>
                                  <p:childTnLst>
                                    <p:set>
                                      <p:cBhvr>
                                        <p:cTn id="150" dur="1" fill="hold">
                                          <p:stCondLst>
                                            <p:cond delay="0"/>
                                          </p:stCondLst>
                                        </p:cTn>
                                        <p:tgtEl>
                                          <p:spTgt spid="42"/>
                                        </p:tgtEl>
                                        <p:attrNameLst>
                                          <p:attrName>style.visibility</p:attrName>
                                        </p:attrNameLst>
                                      </p:cBhvr>
                                      <p:to>
                                        <p:strVal val="visible"/>
                                      </p:to>
                                    </p:set>
                                    <p:animEffect transition="in" filter="fade">
                                      <p:cBhvr>
                                        <p:cTn id="151" dur="560" decel="100000"/>
                                        <p:tgtEl>
                                          <p:spTgt spid="42"/>
                                        </p:tgtEl>
                                      </p:cBhvr>
                                    </p:animEffect>
                                    <p:anim calcmode="lin" valueType="num">
                                      <p:cBhvr>
                                        <p:cTn id="152" dur="700" fill="hold" decel="100000"/>
                                        <p:tgtEl>
                                          <p:spTgt spid="42"/>
                                        </p:tgtEl>
                                        <p:attrNameLst>
                                          <p:attrName>ppt_x</p:attrName>
                                        </p:attrNameLst>
                                      </p:cBhvr>
                                      <p:tavLst>
                                        <p:tav tm="0">
                                          <p:val>
                                            <p:strVal val="#ppt_x"/>
                                          </p:val>
                                        </p:tav>
                                        <p:tav tm="100000">
                                          <p:val>
                                            <p:strVal val="#ppt_x"/>
                                          </p:val>
                                        </p:tav>
                                      </p:tavLst>
                                    </p:anim>
                                    <p:anim calcmode="lin" valueType="num">
                                      <p:cBhvr>
                                        <p:cTn id="153" dur="700" fill="hold" decel="100000"/>
                                        <p:tgtEl>
                                          <p:spTgt spid="42"/>
                                        </p:tgtEl>
                                        <p:attrNameLst>
                                          <p:attrName>ppt_y</p:attrName>
                                        </p:attrNameLst>
                                      </p:cBhvr>
                                      <p:tavLst>
                                        <p:tav tm="0">
                                          <p:val>
                                            <p:strVal val="#ppt_y+-0.0150"/>
                                          </p:val>
                                        </p:tav>
                                        <p:tav tm="100000">
                                          <p:val>
                                            <p:strVal val="#ppt_y"/>
                                          </p:val>
                                        </p:tav>
                                      </p:tavLst>
                                    </p:anim>
                                  </p:childTnLst>
                                </p:cTn>
                              </p:par>
                              <p:par>
                                <p:cTn id="157" presetID="10" presetClass="entr" presetSubtype="0" fill="hold" grpId="0" nodeType="withEffect">
                                  <p:stCondLst>
                                    <p:cond delay="2488"/>
                                  </p:stCondLst>
                                  <p:childTnLst>
                                    <p:set>
                                      <p:cBhvr>
                                        <p:cTn id="155" dur="1" fill="hold">
                                          <p:stCondLst>
                                            <p:cond delay="0"/>
                                          </p:stCondLst>
                                        </p:cTn>
                                        <p:tgtEl>
                                          <p:spTgt spid="41"/>
                                        </p:tgtEl>
                                        <p:attrNameLst>
                                          <p:attrName>style.visibility</p:attrName>
                                        </p:attrNameLst>
                                      </p:cBhvr>
                                      <p:to>
                                        <p:strVal val="visible"/>
                                      </p:to>
                                    </p:set>
                                    <p:animEffect transition="in" filter="fade">
                                      <p:cBhvr>
                                        <p:cTn id="156" dur="500" decel="100000"/>
                                        <p:tgtEl>
                                          <p:spTgt spid="41"/>
                                        </p:tgtEl>
                                      </p:cBhvr>
                                    </p:animEffect>
                                  </p:childTnLst>
                                </p:cTn>
                              </p:par>
                              <p:par>
                                <p:cTn id="160" presetID="10" presetClass="entr" presetSubtype="0" fill="hold" grpId="0" nodeType="withEffect">
                                  <p:stCondLst>
                                    <p:cond delay="2568"/>
                                  </p:stCondLst>
                                  <p:childTnLst>
                                    <p:set>
                                      <p:cBhvr>
                                        <p:cTn id="158" dur="1" fill="hold">
                                          <p:stCondLst>
                                            <p:cond delay="0"/>
                                          </p:stCondLst>
                                        </p:cTn>
                                        <p:tgtEl>
                                          <p:spTgt spid="43"/>
                                        </p:tgtEl>
                                        <p:attrNameLst>
                                          <p:attrName>style.visibility</p:attrName>
                                        </p:attrNameLst>
                                      </p:cBhvr>
                                      <p:to>
                                        <p:strVal val="visible"/>
                                      </p:to>
                                    </p:set>
                                    <p:animEffect transition="in" filter="fade">
                                      <p:cBhvr>
                                        <p:cTn id="159" dur="700" decel="1000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animBg="1"/>
      <p:bldP spid="9" grpId="0" animBg="1"/>
      <p:bldP spid="12" grpId="0" animBg="1"/>
      <p:bldP spid="11" grpId="0" animBg="1"/>
      <p:bldP spid="14" grpId="0" animBg="1"/>
      <p:bldP spid="13" grpId="0" animBg="1"/>
      <p:bldP spid="16" grpId="0" animBg="1"/>
      <p:bldP spid="15" grpId="0" animBg="1"/>
      <p:bldP spid="18" grpId="0" animBg="1"/>
      <p:bldP spid="17" grpId="0" animBg="1"/>
      <p:bldP spid="19" grpId="0" animBg="1"/>
      <p:bldP spid="20" grpId="0" animBg="1"/>
      <p:bldP spid="22" grpId="0" animBg="1"/>
      <p:bldP spid="21" grpId="0" animBg="1"/>
      <p:bldP spid="23" grpId="0" animBg="1"/>
      <p:bldP spid="24" grpId="0" animBg="1"/>
      <p:bldP spid="26" grpId="0" animBg="1"/>
      <p:bldP spid="25" grpId="0" animBg="1"/>
      <p:bldP spid="27" grpId="0" animBg="1"/>
      <p:bldP spid="28" grpId="0" animBg="1"/>
      <p:bldP spid="30" grpId="0" animBg="1"/>
      <p:bldP spid="29" grpId="0" animBg="1"/>
      <p:bldP spid="31" grpId="0" animBg="1"/>
      <p:bldP spid="32" grpId="0" animBg="1"/>
      <p:bldP spid="34" grpId="0" animBg="1"/>
      <p:bldP spid="33" grpId="0" animBg="1"/>
      <p:bldP spid="35" grpId="0" animBg="1"/>
      <p:bldP spid="36" grpId="0" animBg="1"/>
      <p:bldP spid="38" grpId="0" animBg="1"/>
      <p:bldP spid="37" grpId="0" animBg="1"/>
      <p:bldP spid="39" grpId="0" animBg="1"/>
      <p:bldP spid="40" grpId="0" animBg="1"/>
      <p:bldP spid="32" grpId="1" animBg="1"/>
      <p:bldP spid="42" grpId="0" animBg="1"/>
      <p:bldP spid="41" grpId="0" animBg="1"/>
      <p:bldP spid="43" grpId="0" animBg="1"/>
    </p:bldLst>
  </p:timing>
</p:sld>
</file>

<file path=ppt/slides/slide6.xml><?xml version="1.0" encoding="utf-8"?>
<p:sld xmlns:p14="http://schemas.microsoft.com/office/powerpoint/2010/main"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orbA" descr="Decorative background light">    </p:cNvPr>
          <p:cNvPicPr>
            <a:picLocks noChangeAspect="1"/>
          </p:cNvPicPr>
          <p:nvPr/>
        </p:nvPicPr>
        <p:blipFill>
          <a:blip r:embed="rId1"/>
          <a:stretch>
            <a:fillRect/>
          </a:stretch>
        </p:blipFill>
        <p:spPr>
          <a:xfrm>
            <a:off x="1143000" y="1965960"/>
            <a:ext cx="11430000" cy="11430000"/>
          </a:xfrm>
          <a:prstGeom prst="rect">
            <a:avLst/>
          </a:prstGeom>
        </p:spPr>
      </p:pic>
      <p:pic>
        <p:nvPicPr>
          <p:cNvPr id="3" name="!!orbB" descr="Decorative background light">    </p:cNvPr>
          <p:cNvPicPr>
            <a:picLocks noChangeAspect="1"/>
          </p:cNvPicPr>
          <p:nvPr/>
        </p:nvPicPr>
        <p:blipFill>
          <a:blip r:embed="rId2"/>
          <a:stretch>
            <a:fillRect/>
          </a:stretch>
        </p:blipFill>
        <p:spPr>
          <a:xfrm>
            <a:off x="-1965960" y="3886200"/>
            <a:ext cx="6858000" cy="6858000"/>
          </a:xfrm>
          <a:prstGeom prst="rect">
            <a:avLst/>
          </a:prstGeom>
        </p:spPr>
      </p:pic>
      <p:sp>
        <p:nvSpPr>
          <p:cNvPr id="4" name="!!y1991"/>
          <p:cNvSpPr/>
          <p:nvPr>
            <p:ph idx="100" type="body" hasCustomPrompt="1"/>
          </p:nvPr>
        </p:nvSpPr>
        <p:spPr>
          <a:xfrm>
            <a:off x="548640" y="384048"/>
            <a:ext cx="8732520" cy="329184"/>
          </a:xfrm>
          <a:prstGeom prst="rect">
            <a:avLst/>
          </a:prstGeom>
          <a:noFill/>
          <a:ln/>
        </p:spPr>
        <p:txBody>
          <a:bodyPr wrap="square" lIns="0" tIns="0" rIns="0" bIns="0" rtlCol="0" anchor="t"/>
          <a:lstStyle/>
          <a:p>
            <a:pPr algn="l" indent="0" marL="0">
              <a:buNone/>
            </a:pPr>
            <a:r>
              <a:rPr lang="en-US" sz="1500" b="1" spc="300" kern="0" dirty="0">
                <a:solidFill>
                  <a:schemeClr val="accent1"/>
                </a:solidFill>
              </a:rPr>
              <a:t>1991 — THE OIL FIRES</a:t>
            </a:r>
            <a:endParaRPr lang="en-US" sz="1500" dirty="0"/>
          </a:p>
        </p:txBody>
      </p:sp>
      <p:sp>
        <p:nvSpPr>
          <p:cNvPr id="5" name="!!title"/>
          <p:cNvSpPr/>
          <p:nvPr>
            <p:ph idx="101" type="title" hasCustomPrompt="1"/>
          </p:nvPr>
        </p:nvSpPr>
        <p:spPr>
          <a:xfrm>
            <a:off x="548640" y="731520"/>
            <a:ext cx="8732520" cy="786384"/>
          </a:xfrm>
          <a:prstGeom prst="rect">
            <a:avLst/>
          </a:prstGeom>
          <a:noFill/>
          <a:ln/>
        </p:spPr>
        <p:txBody>
          <a:bodyPr wrap="square" lIns="0" tIns="0" rIns="0" bIns="0" rtlCol="0" anchor="t"/>
          <a:lstStyle/>
          <a:p>
            <a:pPr algn="l" indent="0" marL="0">
              <a:buNone/>
            </a:pPr>
            <a:r>
              <a:rPr lang="en-US" sz="3800" b="1" dirty="0">
                <a:solidFill>
                  <a:schemeClr val="tx1"/>
                </a:solidFill>
              </a:rPr>
              <a:t>When the desert burned</a:t>
            </a:r>
            <a:endParaRPr lang="en-US" sz="3800" dirty="0"/>
          </a:p>
        </p:txBody>
      </p:sp>
      <p:sp>
        <p:nvSpPr>
          <p:cNvPr id="6" name="fires_t_1"/>
          <p:cNvSpPr txBox="1"/>
          <p:nvPr/>
        </p:nvSpPr>
        <p:spPr>
          <a:xfrm>
            <a:off x="548640" y="1481328"/>
            <a:ext cx="5669280" cy="1965960"/>
          </a:xfrm>
          <a:prstGeom prst="rect">
            <a:avLst/>
          </a:prstGeom>
          <a:noFill/>
          <a:ln/>
        </p:spPr>
        <p:txBody>
          <a:bodyPr wrap="square" lIns="0" tIns="0" rIns="0" bIns="0" rtlCol="0" anchor="t"/>
          <a:lstStyle/>
          <a:p>
            <a:pPr indent="0" marL="0">
              <a:buNone/>
            </a:pPr>
            <a:r>
              <a:rPr lang="en-US" sz="15000" b="1" dirty="0">
                <a:solidFill>
                  <a:schemeClr val="tx1"/>
                </a:solidFill>
                <a:latin typeface="Arial" pitchFamily="34" charset="0"/>
                <a:ea typeface="Arial" pitchFamily="34" charset="-122"/>
                <a:cs typeface="Arial" pitchFamily="34" charset="-120"/>
              </a:rPr>
              <a:t>700+</a:t>
            </a:r>
            <a:endParaRPr lang="en-US" sz="15000" dirty="0"/>
          </a:p>
        </p:txBody>
      </p:sp>
      <p:sp>
        <p:nvSpPr>
          <p:cNvPr id="7" name="fires_t_2"/>
          <p:cNvSpPr txBox="1"/>
          <p:nvPr/>
        </p:nvSpPr>
        <p:spPr>
          <a:xfrm>
            <a:off x="548640" y="3566160"/>
            <a:ext cx="5120640" cy="868680"/>
          </a:xfrm>
          <a:prstGeom prst="rect">
            <a:avLst/>
          </a:prstGeom>
          <a:noFill/>
          <a:ln/>
        </p:spPr>
        <p:txBody>
          <a:bodyPr wrap="square" lIns="0" tIns="0" rIns="0" bIns="0" rtlCol="0" anchor="t"/>
          <a:lstStyle/>
          <a:p>
            <a:pPr indent="0" marL="0">
              <a:buNone/>
            </a:pPr>
            <a:r>
              <a:rPr lang="en-US" sz="2200" dirty="0">
                <a:solidFill>
                  <a:schemeClr val="tx2"/>
                </a:solidFill>
                <a:latin typeface="Arial" pitchFamily="34" charset="0"/>
                <a:ea typeface="Arial" pitchFamily="34" charset="-122"/>
                <a:cs typeface="Arial" pitchFamily="34" charset="-120"/>
              </a:rPr>
              <a:t>oil wells set ablaze by retreating Iraqi forces in February 1991</a:t>
            </a:r>
            <a:endParaRPr lang="en-US" sz="2200" dirty="0"/>
          </a:p>
        </p:txBody>
      </p:sp>
      <p:sp>
        <p:nvSpPr>
          <p:cNvPr id="8" name="fires_t_3"/>
          <p:cNvSpPr txBox="1"/>
          <p:nvPr/>
        </p:nvSpPr>
        <p:spPr>
          <a:xfrm>
            <a:off x="6675120" y="1828800"/>
            <a:ext cx="4937760" cy="640080"/>
          </a:xfrm>
          <a:prstGeom prst="rect">
            <a:avLst/>
          </a:prstGeom>
          <a:noFill/>
          <a:ln/>
        </p:spPr>
        <p:txBody>
          <a:bodyPr wrap="square" lIns="0" tIns="0" rIns="0" bIns="0" rtlCol="0" anchor="t"/>
          <a:lstStyle/>
          <a:p>
            <a:pPr indent="0" marL="0">
              <a:buNone/>
            </a:pPr>
            <a:r>
              <a:rPr lang="en-US" sz="4000" b="1" dirty="0">
                <a:solidFill>
                  <a:schemeClr val="accent4"/>
                </a:solidFill>
                <a:latin typeface="Arial" pitchFamily="34" charset="0"/>
                <a:ea typeface="Arial" pitchFamily="34" charset="-122"/>
                <a:cs typeface="Arial" pitchFamily="34" charset="-120"/>
              </a:rPr>
              <a:t>&gt; 1 billion</a:t>
            </a:r>
            <a:endParaRPr lang="en-US" sz="4000" dirty="0"/>
          </a:p>
        </p:txBody>
      </p:sp>
      <p:sp>
        <p:nvSpPr>
          <p:cNvPr id="9" name="fires_t_4"/>
          <p:cNvSpPr txBox="1"/>
          <p:nvPr/>
        </p:nvSpPr>
        <p:spPr>
          <a:xfrm>
            <a:off x="6675120" y="2450592"/>
            <a:ext cx="4937760" cy="411480"/>
          </a:xfrm>
          <a:prstGeom prst="rect">
            <a:avLst/>
          </a:prstGeom>
          <a:noFill/>
          <a:ln/>
        </p:spPr>
        <p:txBody>
          <a:bodyPr wrap="square" lIns="0" tIns="0" rIns="0" bIns="0" rtlCol="0" anchor="t"/>
          <a:lstStyle/>
          <a:p>
            <a:pPr indent="0" marL="0">
              <a:buNone/>
            </a:pPr>
            <a:r>
              <a:rPr lang="en-US" sz="1800" dirty="0">
                <a:solidFill>
                  <a:schemeClr val="tx2"/>
                </a:solidFill>
                <a:latin typeface="Arial" pitchFamily="34" charset="0"/>
                <a:ea typeface="Arial" pitchFamily="34" charset="-122"/>
                <a:cs typeface="Arial" pitchFamily="34" charset="-120"/>
              </a:rPr>
              <a:t>barrels of crude oil lost</a:t>
            </a:r>
            <a:endParaRPr lang="en-US" sz="1800" dirty="0"/>
          </a:p>
        </p:txBody>
      </p:sp>
      <p:sp>
        <p:nvSpPr>
          <p:cNvPr id="10" name="fires_t_5"/>
          <p:cNvSpPr txBox="1"/>
          <p:nvPr/>
        </p:nvSpPr>
        <p:spPr>
          <a:xfrm>
            <a:off x="6675120" y="3035808"/>
            <a:ext cx="4937760" cy="640080"/>
          </a:xfrm>
          <a:prstGeom prst="rect">
            <a:avLst/>
          </a:prstGeom>
          <a:noFill/>
          <a:ln/>
        </p:spPr>
        <p:txBody>
          <a:bodyPr wrap="square" lIns="0" tIns="0" rIns="0" bIns="0" rtlCol="0" anchor="t"/>
          <a:lstStyle/>
          <a:p>
            <a:pPr indent="0" marL="0">
              <a:buNone/>
            </a:pPr>
            <a:r>
              <a:rPr lang="en-US" sz="4000" b="1" dirty="0">
                <a:solidFill>
                  <a:schemeClr val="accent4"/>
                </a:solidFill>
                <a:latin typeface="Arial" pitchFamily="34" charset="0"/>
                <a:ea typeface="Arial" pitchFamily="34" charset="-122"/>
                <a:cs typeface="Arial" pitchFamily="34" charset="-120"/>
              </a:rPr>
              <a:t>4–6 million b/d</a:t>
            </a:r>
            <a:endParaRPr lang="en-US" sz="4000" dirty="0"/>
          </a:p>
        </p:txBody>
      </p:sp>
      <p:sp>
        <p:nvSpPr>
          <p:cNvPr id="11" name="fires_t_6"/>
          <p:cNvSpPr txBox="1"/>
          <p:nvPr/>
        </p:nvSpPr>
        <p:spPr>
          <a:xfrm>
            <a:off x="6675120" y="3657600"/>
            <a:ext cx="4937760" cy="411480"/>
          </a:xfrm>
          <a:prstGeom prst="rect">
            <a:avLst/>
          </a:prstGeom>
          <a:noFill/>
          <a:ln/>
        </p:spPr>
        <p:txBody>
          <a:bodyPr wrap="square" lIns="0" tIns="0" rIns="0" bIns="0" rtlCol="0" anchor="t"/>
          <a:lstStyle/>
          <a:p>
            <a:pPr indent="0" marL="0">
              <a:buNone/>
            </a:pPr>
            <a:r>
              <a:rPr lang="en-US" sz="1800" dirty="0">
                <a:solidFill>
                  <a:schemeClr val="tx2"/>
                </a:solidFill>
                <a:latin typeface="Arial" pitchFamily="34" charset="0"/>
                <a:ea typeface="Arial" pitchFamily="34" charset="-122"/>
                <a:cs typeface="Arial" pitchFamily="34" charset="-120"/>
              </a:rPr>
              <a:t>of oil burning at the peak</a:t>
            </a:r>
            <a:endParaRPr lang="en-US" sz="1800" dirty="0"/>
          </a:p>
        </p:txBody>
      </p:sp>
      <p:sp>
        <p:nvSpPr>
          <p:cNvPr id="12" name="fires_t_7"/>
          <p:cNvSpPr txBox="1"/>
          <p:nvPr/>
        </p:nvSpPr>
        <p:spPr>
          <a:xfrm>
            <a:off x="6675120" y="4242816"/>
            <a:ext cx="4937760" cy="640080"/>
          </a:xfrm>
          <a:prstGeom prst="rect">
            <a:avLst/>
          </a:prstGeom>
          <a:noFill/>
          <a:ln/>
        </p:spPr>
        <p:txBody>
          <a:bodyPr wrap="square" lIns="0" tIns="0" rIns="0" bIns="0" rtlCol="0" anchor="t"/>
          <a:lstStyle/>
          <a:p>
            <a:pPr indent="0" marL="0">
              <a:buNone/>
            </a:pPr>
            <a:r>
              <a:rPr lang="en-US" sz="4000" b="1" dirty="0">
                <a:solidFill>
                  <a:schemeClr val="accent1"/>
                </a:solidFill>
                <a:latin typeface="Arial" pitchFamily="34" charset="0"/>
                <a:ea typeface="Arial" pitchFamily="34" charset="-122"/>
                <a:cs typeface="Arial" pitchFamily="34" charset="-120"/>
              </a:rPr>
              <a:t>6 November 1991</a:t>
            </a:r>
            <a:endParaRPr lang="en-US" sz="4000" dirty="0"/>
          </a:p>
        </p:txBody>
      </p:sp>
      <p:sp>
        <p:nvSpPr>
          <p:cNvPr id="13" name="fires_t_8"/>
          <p:cNvSpPr txBox="1"/>
          <p:nvPr/>
        </p:nvSpPr>
        <p:spPr>
          <a:xfrm>
            <a:off x="6675120" y="4864608"/>
            <a:ext cx="4937760" cy="411480"/>
          </a:xfrm>
          <a:prstGeom prst="rect">
            <a:avLst/>
          </a:prstGeom>
          <a:noFill/>
          <a:ln/>
        </p:spPr>
        <p:txBody>
          <a:bodyPr wrap="square" lIns="0" tIns="0" rIns="0" bIns="0" rtlCol="0" anchor="t"/>
          <a:lstStyle/>
          <a:p>
            <a:pPr indent="0" marL="0">
              <a:buNone/>
            </a:pPr>
            <a:r>
              <a:rPr lang="en-US" sz="1800" dirty="0">
                <a:solidFill>
                  <a:schemeClr val="tx2"/>
                </a:solidFill>
                <a:latin typeface="Arial" pitchFamily="34" charset="0"/>
                <a:ea typeface="Arial" pitchFamily="34" charset="-122"/>
                <a:cs typeface="Arial" pitchFamily="34" charset="-120"/>
              </a:rPr>
              <a:t>last fire capped: Burgan well 118</a:t>
            </a:r>
            <a:endParaRPr lang="en-US" sz="1800" dirty="0"/>
          </a:p>
        </p:txBody>
      </p:sp>
      <p:sp>
        <p:nvSpPr>
          <p:cNvPr id="14" name="fires_t_9"/>
          <p:cNvSpPr txBox="1"/>
          <p:nvPr/>
        </p:nvSpPr>
        <p:spPr>
          <a:xfrm>
            <a:off x="548640" y="4983480"/>
            <a:ext cx="5989320" cy="731520"/>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Recovery: </a:t>
            </a:r>
            <a:pPr indent="0" marL="0">
              <a:buNone/>
            </a:pPr>
            <a:r>
              <a:rPr lang="en-US" sz="1700" dirty="0">
                <a:solidFill>
                  <a:schemeClr val="tx2"/>
                </a:solidFill>
                <a:latin typeface="Arial" pitchFamily="34" charset="0"/>
                <a:ea typeface="Arial" pitchFamily="34" charset="-122"/>
                <a:cs typeface="Arial" pitchFamily="34" charset="-120"/>
              </a:rPr>
              <a:t>27 international teams and Kuwait’s own</a:t>
            </a:r>
            <a:endParaRPr lang="en-US" sz="1700" dirty="0"/>
          </a:p>
          <a:p>
            <a:pPr indent="0" marL="0">
              <a:buNone/>
            </a:pPr>
            <a:r>
              <a:rPr lang="en-US" sz="1700" dirty="0">
                <a:solidFill>
                  <a:schemeClr val="tx2"/>
                </a:solidFill>
                <a:latin typeface="Arial" pitchFamily="34" charset="0"/>
                <a:ea typeface="Arial" pitchFamily="34" charset="-122"/>
                <a:cs typeface="Arial" pitchFamily="34" charset="-120"/>
              </a:rPr>
              <a:t>Wild Well Killers; pre-war output back within about four years.</a:t>
            </a:r>
            <a:endParaRPr lang="en-US" sz="1700" dirty="0"/>
          </a:p>
        </p:txBody>
      </p:sp>
      <p:sp>
        <p:nvSpPr>
          <p:cNvPr id="15" name="!!source"/>
          <p:cNvSpPr txBox="1"/>
          <p:nvPr/>
        </p:nvSpPr>
        <p:spPr>
          <a:xfrm>
            <a:off x="548640" y="5943600"/>
            <a:ext cx="9692640" cy="274320"/>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Sources: KOC (n.d.-b); OSAGWI (1998, 2000); Britannica (n.d.-a). KOC: 700+ wells ablaze; OSAGWI: 750+ of 943 ignited or damaged.</a:t>
            </a:r>
            <a:endParaRPr lang="en-US" sz="1200" dirty="0"/>
          </a:p>
        </p:txBody>
      </p:sp>
      <p:sp>
        <p:nvSpPr>
          <p:cNvPr id="16" name="!!home_bg"/>
          <p:cNvSpPr/>
          <p:nvPr/>
        </p:nvSpPr>
        <p:spPr>
          <a:xfrm>
            <a:off x="10637215" y="6272784"/>
            <a:ext cx="384048" cy="384048"/>
          </a:xfrm>
          <a:prstGeom prst="roundRect">
            <a:avLst>
              <a:gd name="adj" fmla="val 23810"/>
            </a:avLst>
          </a:prstGeom>
          <a:solidFill>
            <a:srgbClr val="2C2C2E"/>
          </a:solidFill>
          <a:ln/>
        </p:spPr>
      </p:sp>
      <p:pic>
        <p:nvPicPr>
          <p:cNvPr id="17" name="!!home_ic" descr="Decorative graphic">    </p:cNvPr>
          <p:cNvPicPr>
            <a:picLocks noChangeAspect="1"/>
          </p:cNvPicPr>
          <p:nvPr/>
        </p:nvPicPr>
        <p:blipFill>
          <a:blip r:embed="rId3"/>
          <a:stretch>
            <a:fillRect/>
          </a:stretch>
        </p:blipFill>
        <p:spPr>
          <a:xfrm>
            <a:off x="10719511" y="6355080"/>
            <a:ext cx="219456" cy="219456"/>
          </a:xfrm>
          <a:prstGeom prst="rect">
            <a:avLst/>
          </a:prstGeom>
        </p:spPr>
      </p:pic>
      <p:sp>
        <p:nvSpPr>
          <p:cNvPr id="18" name="!!home_hit">
            <a:hlinkClick r:id="rId4" tooltip="Back to contents" action="ppaction://hlinksldjump" highlightClick="1"/>
          </p:cNvPr>
          <p:cNvSpPr/>
          <p:nvPr/>
        </p:nvSpPr>
        <p:spPr>
          <a:xfrm>
            <a:off x="10637215" y="6272784"/>
            <a:ext cx="384048" cy="384048"/>
          </a:xfrm>
          <a:prstGeom prst="roundRect">
            <a:avLst>
              <a:gd name="adj" fmla="val 23810"/>
            </a:avLst>
          </a:prstGeom>
          <a:solidFill>
            <a:srgbClr val="000000">
              <a:alpha val="0"/>
            </a:srgbClr>
          </a:solidFill>
          <a:ln/>
        </p:spPr>
      </p:sp>
      <p:sp>
        <p:nvSpPr>
          <p:cNvPr id="20" name="!!footer"/>
          <p:cNvSpPr txBox="1"/>
          <p:nvPr/>
        </p:nvSpPr>
        <p:spPr>
          <a:xfrm>
            <a:off x="548640" y="6327648"/>
            <a:ext cx="5486400" cy="292608"/>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Kuwait Oil &amp; Gas  ·  EGCH2230</a:t>
            </a:r>
            <a:endParaRPr lang="en-US" sz="1200" dirty="0"/>
          </a:p>
        </p:txBody>
      </p:sp>
      <p:sp>
        <p:nvSpPr>
          <p:cNvPr id="21" name="!!num"/>
          <p:cNvSpPr txBox="1"/>
          <p:nvPr/>
        </p:nvSpPr>
        <p:spPr>
          <a:xfrm>
            <a:off x="11094415" y="6327648"/>
            <a:ext cx="548640" cy="292608"/>
          </a:xfrm>
          <a:prstGeom prst="rect">
            <a:avLst/>
          </a:prstGeom>
          <a:noFill/>
          <a:ln/>
        </p:spPr>
        <p:txBody>
          <a:bodyPr wrap="square" lIns="0" tIns="0" rIns="0" bIns="0" rtlCol="0" anchor="ctr"/>
          <a:lstStyle/>
          <a:p>
            <a:pPr algn="r" indent="0" marL="0">
              <a:buNone/>
            </a:pPr>
            <a:r>
              <a:rPr lang="en-US" sz="1200" dirty="0">
                <a:solidFill>
                  <a:schemeClr val="tx2"/>
                </a:solidFill>
                <a:latin typeface="Arial" pitchFamily="34" charset="0"/>
                <a:ea typeface="Arial" pitchFamily="34" charset="-122"/>
                <a:cs typeface="Arial" pitchFamily="34" charset="-120"/>
              </a:rPr>
              <a:t>6</a:t>
            </a:r>
            <a:endParaRPr lang="en-US" sz="1200" dirty="0"/>
          </a:p>
        </p:txBody>
      </p:sp>
      <p:pic>
        <p:nvPicPr>
          <p:cNvPr id="22" name="!!badge" descr="University of Technology and Applied Sciences, Salalah">    </p:cNvPr>
          <p:cNvPicPr>
            <a:picLocks noChangeAspect="1"/>
          </p:cNvPicPr>
          <p:nvPr/>
        </p:nvPicPr>
        <p:blipFill>
          <a:blip r:embed="rId5"/>
          <a:stretch>
            <a:fillRect/>
          </a:stretch>
        </p:blipFill>
        <p:spPr>
          <a:xfrm>
            <a:off x="9677095" y="274320"/>
            <a:ext cx="1965960" cy="80987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0" presetClass="path" presetSubtype="0" fill="hold" grpId="0" nodeType="afterEffect" repeatCount="indefinite" autoRev="1">
                                  <p:stCondLst>
                                    <p:cond delay="0"/>
                                  </p:stCondLst>
                                  <p:childTnLst>
                                    <p:animMotion origin="layout" path="M 0 0 L 0.0350 -0.0300 E" pathEditMode="relative" ptsTypes="">
                                      <p:cBhvr>
                                        <p:cTn id="5" dur="13000" fill="hold" accel="50000" decel="50000"/>
                                        <p:tgtEl>
                                          <p:spTgt spid="2"/>
                                        </p:tgtEl>
                                        <p:attrNameLst>
                                          <p:attrName>ppt_x</p:attrName>
                                          <p:attrName>ppt_y</p:attrName>
                                        </p:attrNameLst>
                                      </p:cBhvr>
                                      <p:rCtr x="0" y="0"/>
                                    </p:animMotion>
                                  </p:childTnLst>
                                </p:cTn>
                              </p:par>
                              <p:par>
                                <p:cTn id="8" presetID="6" presetClass="emph" presetSubtype="0" fill="hold" grpId="1" nodeType="withEffect" repeatCount="indefinite" autoRev="1">
                                  <p:stCondLst>
                                    <p:cond delay="0"/>
                                  </p:stCondLst>
                                  <p:childTnLst>
                                    <p:animScale>
                                      <p:cBhvr>
                                        <p:cTn id="7" dur="2600" fill="hold" accel="50000" decel="50000"/>
                                        <p:tgtEl>
                                          <p:spTgt spid="2"/>
                                        </p:tgtEl>
                                      </p:cBhvr>
                                      <p:by x="112000" y="112000"/>
                                    </p:animScale>
                                  </p:childTnLst>
                                </p:cTn>
                              </p:par>
                              <p:par>
                                <p:cTn id="10" presetID="0" presetClass="path" presetSubtype="0" fill="hold" grpId="0" nodeType="withEffect" repeatCount="indefinite" autoRev="1">
                                  <p:stCondLst>
                                    <p:cond delay="0"/>
                                  </p:stCondLst>
                                  <p:childTnLst>
                                    <p:animMotion origin="layout" path="M 0 0 L -0.0300 0.0250 E" pathEditMode="relative" ptsTypes="">
                                      <p:cBhvr>
                                        <p:cTn id="9" dur="15000" fill="hold" accel="50000" decel="50000"/>
                                        <p:tgtEl>
                                          <p:spTgt spid="3"/>
                                        </p:tgtEl>
                                        <p:attrNameLst>
                                          <p:attrName>ppt_x</p:attrName>
                                          <p:attrName>ppt_y</p:attrName>
                                        </p:attrNameLst>
                                      </p:cBhvr>
                                      <p:rCtr x="0" y="0"/>
                                    </p:animMotion>
                                  </p:childTnLst>
                                </p:cTn>
                              </p:par>
                              <p:par>
                                <p:cTn id="15" presetID="53" presetClass="entr" presetSubtype="16" fill="hold" grpId="0" nodeType="withEffect">
                                  <p:stCondLst>
                                    <p:cond delay="300"/>
                                  </p:stCondLst>
                                  <p:childTnLst>
                                    <p:set>
                                      <p:cBhvr>
                                        <p:cTn id="11" dur="1" fill="hold">
                                          <p:stCondLst>
                                            <p:cond delay="0"/>
                                          </p:stCondLst>
                                        </p:cTn>
                                        <p:tgtEl>
                                          <p:spTgt spid="6"/>
                                        </p:tgtEl>
                                        <p:attrNameLst>
                                          <p:attrName>style.visibility</p:attrName>
                                        </p:attrNameLst>
                                      </p:cBhvr>
                                      <p:to>
                                        <p:strVal val="visible"/>
                                      </p:to>
                                    </p:set>
                                    <p:anim calcmode="lin" valueType="num">
                                      <p:cBhvr>
                                        <p:cTn id="12" dur="1400" fill="hold" decel="100000"/>
                                        <p:tgtEl>
                                          <p:spTgt spid="6"/>
                                        </p:tgtEl>
                                        <p:attrNameLst>
                                          <p:attrName>ppt_w</p:attrName>
                                        </p:attrNameLst>
                                      </p:cBhvr>
                                      <p:tavLst>
                                        <p:tav tm="0">
                                          <p:val>
                                            <p:strVal val="#ppt_w*0.880"/>
                                          </p:val>
                                        </p:tav>
                                        <p:tav tm="100000">
                                          <p:val>
                                            <p:strVal val="#ppt_w"/>
                                          </p:val>
                                        </p:tav>
                                      </p:tavLst>
                                    </p:anim>
                                    <p:anim calcmode="lin" valueType="num">
                                      <p:cBhvr>
                                        <p:cTn id="13" dur="1400" fill="hold" decel="100000"/>
                                        <p:tgtEl>
                                          <p:spTgt spid="6"/>
                                        </p:tgtEl>
                                        <p:attrNameLst>
                                          <p:attrName>ppt_h</p:attrName>
                                        </p:attrNameLst>
                                      </p:cBhvr>
                                      <p:tavLst>
                                        <p:tav tm="0">
                                          <p:val>
                                            <p:strVal val="#ppt_h*0.880"/>
                                          </p:val>
                                        </p:tav>
                                        <p:tav tm="100000">
                                          <p:val>
                                            <p:strVal val="#ppt_h"/>
                                          </p:val>
                                        </p:tav>
                                      </p:tavLst>
                                    </p:anim>
                                    <p:animEffect transition="in" filter="fade">
                                      <p:cBhvr>
                                        <p:cTn id="14" dur="979" decel="100000"/>
                                        <p:tgtEl>
                                          <p:spTgt spid="6"/>
                                        </p:tgtEl>
                                      </p:cBhvr>
                                    </p:animEffect>
                                  </p:childTnLst>
                                </p:cTn>
                              </p:par>
                              <p:par>
                                <p:cTn id="20" presetID="42" presetClass="entr" presetSubtype="0" fill="hold" grpId="0" nodeType="withEffect">
                                  <p:stCondLst>
                                    <p:cond delay="75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720" decel="100000"/>
                                        <p:tgtEl>
                                          <p:spTgt spid="7"/>
                                        </p:tgtEl>
                                      </p:cBhvr>
                                    </p:animEffect>
                                    <p:anim calcmode="lin" valueType="num">
                                      <p:cBhvr>
                                        <p:cTn id="18" dur="900" fill="hold" decel="100000"/>
                                        <p:tgtEl>
                                          <p:spTgt spid="7"/>
                                        </p:tgtEl>
                                        <p:attrNameLst>
                                          <p:attrName>ppt_x</p:attrName>
                                        </p:attrNameLst>
                                      </p:cBhvr>
                                      <p:tavLst>
                                        <p:tav tm="0">
                                          <p:val>
                                            <p:strVal val="#ppt_x"/>
                                          </p:val>
                                        </p:tav>
                                        <p:tav tm="100000">
                                          <p:val>
                                            <p:strVal val="#ppt_x"/>
                                          </p:val>
                                        </p:tav>
                                      </p:tavLst>
                                    </p:anim>
                                    <p:anim calcmode="lin" valueType="num">
                                      <p:cBhvr>
                                        <p:cTn id="19" dur="900" fill="hold" decel="100000"/>
                                        <p:tgtEl>
                                          <p:spTgt spid="7"/>
                                        </p:tgtEl>
                                        <p:attrNameLst>
                                          <p:attrName>ppt_y</p:attrName>
                                        </p:attrNameLst>
                                      </p:cBhvr>
                                      <p:tavLst>
                                        <p:tav tm="0">
                                          <p:val>
                                            <p:strVal val="#ppt_y+0.0250"/>
                                          </p:val>
                                        </p:tav>
                                        <p:tav tm="100000">
                                          <p:val>
                                            <p:strVal val="#ppt_y"/>
                                          </p:val>
                                        </p:tav>
                                      </p:tavLst>
                                    </p:anim>
                                  </p:childTnLst>
                                </p:cTn>
                              </p:par>
                              <p:par>
                                <p:cTn id="25" presetID="42" presetClass="entr" presetSubtype="0" fill="hold" grpId="0" nodeType="withEffect">
                                  <p:stCondLst>
                                    <p:cond delay="10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720" decel="100000"/>
                                        <p:tgtEl>
                                          <p:spTgt spid="8"/>
                                        </p:tgtEl>
                                      </p:cBhvr>
                                    </p:animEffect>
                                    <p:anim calcmode="lin" valueType="num">
                                      <p:cBhvr>
                                        <p:cTn id="23" dur="900" fill="hold" decel="100000"/>
                                        <p:tgtEl>
                                          <p:spTgt spid="8"/>
                                        </p:tgtEl>
                                        <p:attrNameLst>
                                          <p:attrName>ppt_x</p:attrName>
                                        </p:attrNameLst>
                                      </p:cBhvr>
                                      <p:tavLst>
                                        <p:tav tm="0">
                                          <p:val>
                                            <p:strVal val="#ppt_x"/>
                                          </p:val>
                                        </p:tav>
                                        <p:tav tm="100000">
                                          <p:val>
                                            <p:strVal val="#ppt_x"/>
                                          </p:val>
                                        </p:tav>
                                      </p:tavLst>
                                    </p:anim>
                                    <p:anim calcmode="lin" valueType="num">
                                      <p:cBhvr>
                                        <p:cTn id="24" dur="900" fill="hold" decel="100000"/>
                                        <p:tgtEl>
                                          <p:spTgt spid="8"/>
                                        </p:tgtEl>
                                        <p:attrNameLst>
                                          <p:attrName>ppt_y</p:attrName>
                                        </p:attrNameLst>
                                      </p:cBhvr>
                                      <p:tavLst>
                                        <p:tav tm="0">
                                          <p:val>
                                            <p:strVal val="#ppt_y+0.0250"/>
                                          </p:val>
                                        </p:tav>
                                        <p:tav tm="100000">
                                          <p:val>
                                            <p:strVal val="#ppt_y"/>
                                          </p:val>
                                        </p:tav>
                                      </p:tavLst>
                                    </p:anim>
                                  </p:childTnLst>
                                </p:cTn>
                              </p:par>
                              <p:par>
                                <p:cTn id="28" presetID="10" presetClass="entr" presetSubtype="0" fill="hold" grpId="0" nodeType="withEffect">
                                  <p:stCondLst>
                                    <p:cond delay="115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800" decel="100000"/>
                                        <p:tgtEl>
                                          <p:spTgt spid="9"/>
                                        </p:tgtEl>
                                      </p:cBhvr>
                                    </p:animEffect>
                                  </p:childTnLst>
                                </p:cTn>
                              </p:par>
                              <p:par>
                                <p:cTn id="33" presetID="42" presetClass="entr" presetSubtype="0" fill="hold" grpId="0" nodeType="withEffect">
                                  <p:stCondLst>
                                    <p:cond delay="122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720" decel="100000"/>
                                        <p:tgtEl>
                                          <p:spTgt spid="10"/>
                                        </p:tgtEl>
                                      </p:cBhvr>
                                    </p:animEffect>
                                    <p:anim calcmode="lin" valueType="num">
                                      <p:cBhvr>
                                        <p:cTn id="31" dur="900" fill="hold" decel="100000"/>
                                        <p:tgtEl>
                                          <p:spTgt spid="10"/>
                                        </p:tgtEl>
                                        <p:attrNameLst>
                                          <p:attrName>ppt_x</p:attrName>
                                        </p:attrNameLst>
                                      </p:cBhvr>
                                      <p:tavLst>
                                        <p:tav tm="0">
                                          <p:val>
                                            <p:strVal val="#ppt_x"/>
                                          </p:val>
                                        </p:tav>
                                        <p:tav tm="100000">
                                          <p:val>
                                            <p:strVal val="#ppt_x"/>
                                          </p:val>
                                        </p:tav>
                                      </p:tavLst>
                                    </p:anim>
                                    <p:anim calcmode="lin" valueType="num">
                                      <p:cBhvr>
                                        <p:cTn id="32" dur="900" fill="hold" decel="100000"/>
                                        <p:tgtEl>
                                          <p:spTgt spid="10"/>
                                        </p:tgtEl>
                                        <p:attrNameLst>
                                          <p:attrName>ppt_y</p:attrName>
                                        </p:attrNameLst>
                                      </p:cBhvr>
                                      <p:tavLst>
                                        <p:tav tm="0">
                                          <p:val>
                                            <p:strVal val="#ppt_y+0.0250"/>
                                          </p:val>
                                        </p:tav>
                                        <p:tav tm="100000">
                                          <p:val>
                                            <p:strVal val="#ppt_y"/>
                                          </p:val>
                                        </p:tav>
                                      </p:tavLst>
                                    </p:anim>
                                  </p:childTnLst>
                                </p:cTn>
                              </p:par>
                              <p:par>
                                <p:cTn id="36" presetID="10" presetClass="entr" presetSubtype="0" fill="hold" grpId="0" nodeType="withEffect">
                                  <p:stCondLst>
                                    <p:cond delay="137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800" decel="100000"/>
                                        <p:tgtEl>
                                          <p:spTgt spid="11"/>
                                        </p:tgtEl>
                                      </p:cBhvr>
                                    </p:animEffect>
                                  </p:childTnLst>
                                </p:cTn>
                              </p:par>
                              <p:par>
                                <p:cTn id="41" presetID="42" presetClass="entr" presetSubtype="0" fill="hold" grpId="0" nodeType="withEffect">
                                  <p:stCondLst>
                                    <p:cond delay="144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720" decel="100000"/>
                                        <p:tgtEl>
                                          <p:spTgt spid="12"/>
                                        </p:tgtEl>
                                      </p:cBhvr>
                                    </p:animEffect>
                                    <p:anim calcmode="lin" valueType="num">
                                      <p:cBhvr>
                                        <p:cTn id="39" dur="900" fill="hold" decel="100000"/>
                                        <p:tgtEl>
                                          <p:spTgt spid="12"/>
                                        </p:tgtEl>
                                        <p:attrNameLst>
                                          <p:attrName>ppt_x</p:attrName>
                                        </p:attrNameLst>
                                      </p:cBhvr>
                                      <p:tavLst>
                                        <p:tav tm="0">
                                          <p:val>
                                            <p:strVal val="#ppt_x"/>
                                          </p:val>
                                        </p:tav>
                                        <p:tav tm="100000">
                                          <p:val>
                                            <p:strVal val="#ppt_x"/>
                                          </p:val>
                                        </p:tav>
                                      </p:tavLst>
                                    </p:anim>
                                    <p:anim calcmode="lin" valueType="num">
                                      <p:cBhvr>
                                        <p:cTn id="40" dur="900" fill="hold" decel="100000"/>
                                        <p:tgtEl>
                                          <p:spTgt spid="12"/>
                                        </p:tgtEl>
                                        <p:attrNameLst>
                                          <p:attrName>ppt_y</p:attrName>
                                        </p:attrNameLst>
                                      </p:cBhvr>
                                      <p:tavLst>
                                        <p:tav tm="0">
                                          <p:val>
                                            <p:strVal val="#ppt_y+0.0250"/>
                                          </p:val>
                                        </p:tav>
                                        <p:tav tm="100000">
                                          <p:val>
                                            <p:strVal val="#ppt_y"/>
                                          </p:val>
                                        </p:tav>
                                      </p:tavLst>
                                    </p:anim>
                                  </p:childTnLst>
                                </p:cTn>
                              </p:par>
                              <p:par>
                                <p:cTn id="44" presetID="10" presetClass="entr" presetSubtype="0" fill="hold" grpId="0" nodeType="withEffect">
                                  <p:stCondLst>
                                    <p:cond delay="159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800" decel="100000"/>
                                        <p:tgtEl>
                                          <p:spTgt spid="13"/>
                                        </p:tgtEl>
                                      </p:cBhvr>
                                    </p:animEffect>
                                  </p:childTnLst>
                                </p:cTn>
                              </p:par>
                              <p:par>
                                <p:cTn id="47" presetID="10" presetClass="entr" presetSubtype="0" fill="hold" grpId="0" nodeType="withEffect">
                                  <p:stCondLst>
                                    <p:cond delay="190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900" decel="100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7.xml><?xml version="1.0" encoding="utf-8"?>
<p:sld xmlns:p14="http://schemas.microsoft.com/office/powerpoint/2010/main"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orbA" descr="Decorative background light">    </p:cNvPr>
          <p:cNvPicPr>
            <a:picLocks noChangeAspect="1"/>
          </p:cNvPicPr>
          <p:nvPr/>
        </p:nvPicPr>
        <p:blipFill>
          <a:blip r:embed="rId1"/>
          <a:stretch>
            <a:fillRect/>
          </a:stretch>
        </p:blipFill>
        <p:spPr>
          <a:xfrm>
            <a:off x="7132320" y="1463040"/>
            <a:ext cx="7315200" cy="7315200"/>
          </a:xfrm>
          <a:prstGeom prst="rect">
            <a:avLst/>
          </a:prstGeom>
        </p:spPr>
      </p:pic>
      <p:pic>
        <p:nvPicPr>
          <p:cNvPr id="3" name="!!orbB" descr="Decorative background light">    </p:cNvPr>
          <p:cNvPicPr>
            <a:picLocks noChangeAspect="1"/>
          </p:cNvPicPr>
          <p:nvPr/>
        </p:nvPicPr>
        <p:blipFill>
          <a:blip r:embed="rId2"/>
          <a:stretch>
            <a:fillRect/>
          </a:stretch>
        </p:blipFill>
        <p:spPr>
          <a:xfrm>
            <a:off x="-1005840" y="-1554480"/>
            <a:ext cx="4572000" cy="4572000"/>
          </a:xfrm>
          <a:prstGeom prst="rect">
            <a:avLst/>
          </a:prstGeom>
        </p:spPr>
      </p:pic>
      <p:sp>
        <p:nvSpPr>
          <p:cNvPr id="4" name="!!kicker"/>
          <p:cNvSpPr/>
          <p:nvPr>
            <p:ph idx="100" type="body" hasCustomPrompt="1"/>
          </p:nvPr>
        </p:nvSpPr>
        <p:spPr>
          <a:xfrm>
            <a:off x="548640" y="384048"/>
            <a:ext cx="8732520" cy="329184"/>
          </a:xfrm>
          <a:prstGeom prst="rect">
            <a:avLst/>
          </a:prstGeom>
          <a:noFill/>
          <a:ln/>
        </p:spPr>
        <p:txBody>
          <a:bodyPr wrap="square" lIns="0" tIns="0" rIns="0" bIns="0" rtlCol="0" anchor="t"/>
          <a:lstStyle/>
          <a:p>
            <a:pPr algn="l" indent="0" marL="0">
              <a:buNone/>
            </a:pPr>
            <a:r>
              <a:rPr lang="en-US" sz="1500" b="1" spc="300" kern="0" dirty="0">
                <a:solidFill>
                  <a:schemeClr val="accent1"/>
                </a:solidFill>
              </a:rPr>
              <a:t>01 — HISTORY &amp; TYPES</a:t>
            </a:r>
            <a:endParaRPr lang="en-US" sz="1500" dirty="0"/>
          </a:p>
        </p:txBody>
      </p:sp>
      <p:sp>
        <p:nvSpPr>
          <p:cNvPr id="5" name="!!title"/>
          <p:cNvSpPr/>
          <p:nvPr>
            <p:ph idx="101" type="title" hasCustomPrompt="1"/>
          </p:nvPr>
        </p:nvSpPr>
        <p:spPr>
          <a:xfrm>
            <a:off x="548640" y="731520"/>
            <a:ext cx="8732520" cy="786384"/>
          </a:xfrm>
          <a:prstGeom prst="rect">
            <a:avLst/>
          </a:prstGeom>
          <a:noFill/>
          <a:ln/>
        </p:spPr>
        <p:txBody>
          <a:bodyPr wrap="square" lIns="0" tIns="0" rIns="0" bIns="0" rtlCol="0" anchor="t"/>
          <a:lstStyle/>
          <a:p>
            <a:pPr algn="l" indent="0" marL="0">
              <a:buNone/>
            </a:pPr>
            <a:r>
              <a:rPr lang="en-US" sz="3800" b="1" dirty="0">
                <a:solidFill>
                  <a:schemeClr val="tx1"/>
                </a:solidFill>
              </a:rPr>
              <a:t>Four crudes on one scale</a:t>
            </a:r>
            <a:endParaRPr lang="en-US" sz="3800" dirty="0"/>
          </a:p>
        </p:txBody>
      </p:sp>
      <p:pic>
        <p:nvPicPr>
          <p:cNvPr id="6" name="crudes_i_1" descr="Decorative graphic">    </p:cNvPr>
          <p:cNvPicPr>
            <a:picLocks noChangeAspect="1"/>
          </p:cNvPicPr>
          <p:nvPr/>
        </p:nvPicPr>
        <p:blipFill>
          <a:blip r:embed="rId3"/>
          <a:stretch>
            <a:fillRect/>
          </a:stretch>
        </p:blipFill>
        <p:spPr>
          <a:xfrm>
            <a:off x="868680" y="3255264"/>
            <a:ext cx="10454335" cy="292608"/>
          </a:xfrm>
          <a:prstGeom prst="rect">
            <a:avLst/>
          </a:prstGeom>
        </p:spPr>
      </p:pic>
      <p:sp>
        <p:nvSpPr>
          <p:cNvPr id="7" name="crudes_t_2"/>
          <p:cNvSpPr txBox="1"/>
          <p:nvPr/>
        </p:nvSpPr>
        <p:spPr>
          <a:xfrm>
            <a:off x="1378754" y="3675888"/>
            <a:ext cx="2194560" cy="320040"/>
          </a:xfrm>
          <a:prstGeom prst="rect">
            <a:avLst/>
          </a:prstGeom>
          <a:noFill/>
          <a:ln/>
        </p:spPr>
        <p:txBody>
          <a:bodyPr wrap="square" lIns="0" tIns="0" rIns="0" bIns="0" rtlCol="0" anchor="t"/>
          <a:lstStyle/>
          <a:p>
            <a:pPr algn="ctr" indent="0" marL="0">
              <a:buNone/>
            </a:pPr>
            <a:r>
              <a:rPr lang="en-US" sz="1400" b="1" spc="200" kern="0" dirty="0">
                <a:solidFill>
                  <a:schemeClr val="tx2"/>
                </a:solidFill>
                <a:latin typeface="Arial" pitchFamily="34" charset="0"/>
                <a:ea typeface="Arial" pitchFamily="34" charset="-122"/>
                <a:cs typeface="Arial" pitchFamily="34" charset="-120"/>
              </a:rPr>
              <a:t>HEAVY</a:t>
            </a:r>
            <a:endParaRPr lang="en-US" sz="1400" dirty="0"/>
          </a:p>
        </p:txBody>
      </p:sp>
      <p:sp>
        <p:nvSpPr>
          <p:cNvPr id="8" name="crudes_t_3"/>
          <p:cNvSpPr txBox="1"/>
          <p:nvPr/>
        </p:nvSpPr>
        <p:spPr>
          <a:xfrm>
            <a:off x="4005406" y="3675888"/>
            <a:ext cx="2194560" cy="320040"/>
          </a:xfrm>
          <a:prstGeom prst="rect">
            <a:avLst/>
          </a:prstGeom>
          <a:noFill/>
          <a:ln/>
        </p:spPr>
        <p:txBody>
          <a:bodyPr wrap="square" lIns="0" tIns="0" rIns="0" bIns="0" rtlCol="0" anchor="t"/>
          <a:lstStyle/>
          <a:p>
            <a:pPr algn="ctr" indent="0" marL="0">
              <a:buNone/>
            </a:pPr>
            <a:r>
              <a:rPr lang="en-US" sz="1400" b="1" spc="200" kern="0" dirty="0">
                <a:solidFill>
                  <a:schemeClr val="tx2"/>
                </a:solidFill>
                <a:latin typeface="Arial" pitchFamily="34" charset="0"/>
                <a:ea typeface="Arial" pitchFamily="34" charset="-122"/>
                <a:cs typeface="Arial" pitchFamily="34" charset="-120"/>
              </a:rPr>
              <a:t>MEDIUM</a:t>
            </a:r>
            <a:endParaRPr lang="en-US" sz="1400" dirty="0"/>
          </a:p>
        </p:txBody>
      </p:sp>
      <p:sp>
        <p:nvSpPr>
          <p:cNvPr id="9" name="crudes_t_4"/>
          <p:cNvSpPr txBox="1"/>
          <p:nvPr/>
        </p:nvSpPr>
        <p:spPr>
          <a:xfrm>
            <a:off x="7742831" y="3675888"/>
            <a:ext cx="2194560" cy="320040"/>
          </a:xfrm>
          <a:prstGeom prst="rect">
            <a:avLst/>
          </a:prstGeom>
          <a:noFill/>
          <a:ln/>
        </p:spPr>
        <p:txBody>
          <a:bodyPr wrap="square" lIns="0" tIns="0" rIns="0" bIns="0" rtlCol="0" anchor="t"/>
          <a:lstStyle/>
          <a:p>
            <a:pPr algn="ctr" indent="0" marL="0">
              <a:buNone/>
            </a:pPr>
            <a:r>
              <a:rPr lang="en-US" sz="1400" b="1" spc="200" kern="0" dirty="0">
                <a:solidFill>
                  <a:schemeClr val="tx2"/>
                </a:solidFill>
                <a:latin typeface="Arial" pitchFamily="34" charset="0"/>
                <a:ea typeface="Arial" pitchFamily="34" charset="-122"/>
                <a:cs typeface="Arial" pitchFamily="34" charset="-120"/>
              </a:rPr>
              <a:t>LIGHT</a:t>
            </a:r>
            <a:endParaRPr lang="en-US" sz="1400" dirty="0"/>
          </a:p>
        </p:txBody>
      </p:sp>
      <p:sp>
        <p:nvSpPr>
          <p:cNvPr id="10" name="crudes_s_5"/>
          <p:cNvSpPr/>
          <p:nvPr/>
        </p:nvSpPr>
        <p:spPr>
          <a:xfrm>
            <a:off x="4074244" y="3639312"/>
            <a:ext cx="18288" cy="182880"/>
          </a:xfrm>
          <a:prstGeom prst="rect">
            <a:avLst/>
          </a:prstGeom>
          <a:solidFill>
            <a:srgbClr val="A1A1A6"/>
          </a:solidFill>
          <a:ln/>
        </p:spPr>
      </p:sp>
      <p:sp>
        <p:nvSpPr>
          <p:cNvPr id="11" name="crudes_s_6"/>
          <p:cNvSpPr/>
          <p:nvPr/>
        </p:nvSpPr>
        <p:spPr>
          <a:xfrm>
            <a:off x="6374198" y="3639312"/>
            <a:ext cx="18288" cy="182880"/>
          </a:xfrm>
          <a:prstGeom prst="rect">
            <a:avLst/>
          </a:prstGeom>
          <a:solidFill>
            <a:srgbClr val="A1A1A6"/>
          </a:solidFill>
          <a:ln/>
        </p:spPr>
      </p:sp>
      <p:sp>
        <p:nvSpPr>
          <p:cNvPr id="12" name="crudes_t_7"/>
          <p:cNvSpPr txBox="1"/>
          <p:nvPr/>
        </p:nvSpPr>
        <p:spPr>
          <a:xfrm>
            <a:off x="502920" y="3968496"/>
            <a:ext cx="731520" cy="274320"/>
          </a:xfrm>
          <a:prstGeom prst="rect">
            <a:avLst/>
          </a:prstGeom>
          <a:noFill/>
          <a:ln/>
        </p:spPr>
        <p:txBody>
          <a:bodyPr wrap="square" lIns="0" tIns="0" rIns="0" bIns="0" rtlCol="0" anchor="t"/>
          <a:lstStyle/>
          <a:p>
            <a:pPr algn="ctr" indent="0" marL="0">
              <a:buNone/>
            </a:pPr>
            <a:r>
              <a:rPr lang="en-US" sz="1300" dirty="0">
                <a:solidFill>
                  <a:schemeClr val="tx2"/>
                </a:solidFill>
                <a:latin typeface="Arial" pitchFamily="34" charset="0"/>
                <a:ea typeface="Arial" pitchFamily="34" charset="-122"/>
                <a:cs typeface="Arial" pitchFamily="34" charset="-120"/>
              </a:rPr>
              <a:t>10°</a:t>
            </a:r>
            <a:endParaRPr lang="en-US" sz="1300" dirty="0"/>
          </a:p>
        </p:txBody>
      </p:sp>
      <p:sp>
        <p:nvSpPr>
          <p:cNvPr id="13" name="crudes_t_8"/>
          <p:cNvSpPr txBox="1"/>
          <p:nvPr/>
        </p:nvSpPr>
        <p:spPr>
          <a:xfrm>
            <a:off x="3116504" y="3968496"/>
            <a:ext cx="731520" cy="274320"/>
          </a:xfrm>
          <a:prstGeom prst="rect">
            <a:avLst/>
          </a:prstGeom>
          <a:noFill/>
          <a:ln/>
        </p:spPr>
        <p:txBody>
          <a:bodyPr wrap="square" lIns="0" tIns="0" rIns="0" bIns="0" rtlCol="0" anchor="t"/>
          <a:lstStyle/>
          <a:p>
            <a:pPr algn="ctr" indent="0" marL="0">
              <a:buNone/>
            </a:pPr>
            <a:r>
              <a:rPr lang="en-US" sz="1300" dirty="0">
                <a:solidFill>
                  <a:schemeClr val="tx2"/>
                </a:solidFill>
                <a:latin typeface="Arial" pitchFamily="34" charset="0"/>
                <a:ea typeface="Arial" pitchFamily="34" charset="-122"/>
                <a:cs typeface="Arial" pitchFamily="34" charset="-120"/>
              </a:rPr>
              <a:t>20°</a:t>
            </a:r>
            <a:endParaRPr lang="en-US" sz="1300" dirty="0"/>
          </a:p>
        </p:txBody>
      </p:sp>
      <p:sp>
        <p:nvSpPr>
          <p:cNvPr id="14" name="crudes_t_9"/>
          <p:cNvSpPr txBox="1"/>
          <p:nvPr/>
        </p:nvSpPr>
        <p:spPr>
          <a:xfrm>
            <a:off x="5730088" y="3968496"/>
            <a:ext cx="731520" cy="274320"/>
          </a:xfrm>
          <a:prstGeom prst="rect">
            <a:avLst/>
          </a:prstGeom>
          <a:noFill/>
          <a:ln/>
        </p:spPr>
        <p:txBody>
          <a:bodyPr wrap="square" lIns="0" tIns="0" rIns="0" bIns="0" rtlCol="0" anchor="t"/>
          <a:lstStyle/>
          <a:p>
            <a:pPr algn="ctr" indent="0" marL="0">
              <a:buNone/>
            </a:pPr>
            <a:r>
              <a:rPr lang="en-US" sz="1300" dirty="0">
                <a:solidFill>
                  <a:schemeClr val="tx2"/>
                </a:solidFill>
                <a:latin typeface="Arial" pitchFamily="34" charset="0"/>
                <a:ea typeface="Arial" pitchFamily="34" charset="-122"/>
                <a:cs typeface="Arial" pitchFamily="34" charset="-120"/>
              </a:rPr>
              <a:t>30°</a:t>
            </a:r>
            <a:endParaRPr lang="en-US" sz="1300" dirty="0"/>
          </a:p>
        </p:txBody>
      </p:sp>
      <p:sp>
        <p:nvSpPr>
          <p:cNvPr id="15" name="crudes_t_10"/>
          <p:cNvSpPr txBox="1"/>
          <p:nvPr/>
        </p:nvSpPr>
        <p:spPr>
          <a:xfrm>
            <a:off x="8343671" y="3968496"/>
            <a:ext cx="731520" cy="274320"/>
          </a:xfrm>
          <a:prstGeom prst="rect">
            <a:avLst/>
          </a:prstGeom>
          <a:noFill/>
          <a:ln/>
        </p:spPr>
        <p:txBody>
          <a:bodyPr wrap="square" lIns="0" tIns="0" rIns="0" bIns="0" rtlCol="0" anchor="t"/>
          <a:lstStyle/>
          <a:p>
            <a:pPr algn="ctr" indent="0" marL="0">
              <a:buNone/>
            </a:pPr>
            <a:r>
              <a:rPr lang="en-US" sz="1300" dirty="0">
                <a:solidFill>
                  <a:schemeClr val="tx2"/>
                </a:solidFill>
                <a:latin typeface="Arial" pitchFamily="34" charset="0"/>
                <a:ea typeface="Arial" pitchFamily="34" charset="-122"/>
                <a:cs typeface="Arial" pitchFamily="34" charset="-120"/>
              </a:rPr>
              <a:t>40°</a:t>
            </a:r>
            <a:endParaRPr lang="en-US" sz="1300" dirty="0"/>
          </a:p>
        </p:txBody>
      </p:sp>
      <p:sp>
        <p:nvSpPr>
          <p:cNvPr id="16" name="crudes_t_11"/>
          <p:cNvSpPr txBox="1"/>
          <p:nvPr/>
        </p:nvSpPr>
        <p:spPr>
          <a:xfrm>
            <a:off x="10957255" y="3968496"/>
            <a:ext cx="731520" cy="274320"/>
          </a:xfrm>
          <a:prstGeom prst="rect">
            <a:avLst/>
          </a:prstGeom>
          <a:noFill/>
          <a:ln/>
        </p:spPr>
        <p:txBody>
          <a:bodyPr wrap="square" lIns="0" tIns="0" rIns="0" bIns="0" rtlCol="0" anchor="t"/>
          <a:lstStyle/>
          <a:p>
            <a:pPr algn="ctr" indent="0" marL="0">
              <a:buNone/>
            </a:pPr>
            <a:r>
              <a:rPr lang="en-US" sz="1300" dirty="0">
                <a:solidFill>
                  <a:schemeClr val="tx2"/>
                </a:solidFill>
                <a:latin typeface="Arial" pitchFamily="34" charset="0"/>
                <a:ea typeface="Arial" pitchFamily="34" charset="-122"/>
                <a:cs typeface="Arial" pitchFamily="34" charset="-120"/>
              </a:rPr>
              <a:t>50°</a:t>
            </a:r>
            <a:endParaRPr lang="en-US" sz="1300" dirty="0"/>
          </a:p>
        </p:txBody>
      </p:sp>
      <p:sp>
        <p:nvSpPr>
          <p:cNvPr id="17" name="crudes_s_12"/>
          <p:cNvSpPr/>
          <p:nvPr/>
        </p:nvSpPr>
        <p:spPr>
          <a:xfrm>
            <a:off x="2281382" y="3246120"/>
            <a:ext cx="310896" cy="310896"/>
          </a:xfrm>
          <a:prstGeom prst="ellipse">
            <a:avLst/>
          </a:prstGeom>
          <a:solidFill>
            <a:srgbClr val="F5F5F7"/>
          </a:solidFill>
          <a:ln w="38100">
            <a:solidFill>
              <a:srgbClr val="0B0B0F"/>
            </a:solidFill>
            <a:prstDash val="solid"/>
          </a:ln>
          <a:effectLst>
            <a:outerShdw sx="100000" sy="100000" kx="0" ky="0" algn="bl" rotWithShape="0" blurRad="127000" dist="50800" dir="5400000">
              <a:srgbClr val="FF9F0A">
                <a:alpha val="90000"/>
              </a:srgbClr>
            </a:outerShdw>
          </a:effectLst>
        </p:spPr>
      </p:sp>
      <p:sp>
        <p:nvSpPr>
          <p:cNvPr id="18" name="crudes_s_13"/>
          <p:cNvSpPr/>
          <p:nvPr/>
        </p:nvSpPr>
        <p:spPr>
          <a:xfrm>
            <a:off x="2429515" y="2862072"/>
            <a:ext cx="14630" cy="356616"/>
          </a:xfrm>
          <a:prstGeom prst="rect">
            <a:avLst/>
          </a:prstGeom>
          <a:solidFill>
            <a:srgbClr val="3A3A3C"/>
          </a:solidFill>
          <a:ln/>
        </p:spPr>
      </p:sp>
      <p:sp>
        <p:nvSpPr>
          <p:cNvPr id="19" name="crudes_t_14"/>
          <p:cNvSpPr txBox="1"/>
          <p:nvPr/>
        </p:nvSpPr>
        <p:spPr>
          <a:xfrm>
            <a:off x="996650" y="1783080"/>
            <a:ext cx="2880360" cy="1078992"/>
          </a:xfrm>
          <a:prstGeom prst="roundRect">
            <a:avLst>
              <a:gd name="adj" fmla="val 11864"/>
            </a:avLst>
          </a:prstGeom>
          <a:solidFill>
            <a:srgbClr val="1C1C1E"/>
          </a:solidFill>
          <a:ln w="9525">
            <a:solidFill>
              <a:srgbClr val="FFFFFF">
                <a:alpha val="10000"/>
              </a:srgbClr>
            </a:solidFill>
          </a:ln>
        </p:spPr>
        <p:txBody>
          <a:bodyPr wrap="square" lIns="152400" tIns="76200" rIns="127000" bIns="76200" rtlCol="0" anchor="t"/>
          <a:lstStyle/>
          <a:p>
            <a:pPr indent="0" marL="0">
              <a:spcAft>
                <a:spcPts val="200"/>
              </a:spcAft>
              <a:buNone/>
            </a:pPr>
            <a:r>
              <a:rPr lang="en-US" sz="1900" b="1" dirty="0">
                <a:solidFill>
                  <a:schemeClr val="tx1"/>
                </a:solidFill>
                <a:latin typeface="Arial" pitchFamily="34" charset="0"/>
                <a:ea typeface="Arial" pitchFamily="34" charset="-122"/>
                <a:cs typeface="Arial" pitchFamily="34" charset="-120"/>
              </a:rPr>
              <a:t>Kuwait Export Heavy</a:t>
            </a:r>
            <a:endParaRPr lang="en-US" sz="1900" dirty="0"/>
          </a:p>
          <a:p>
            <a:pPr indent="0" marL="0">
              <a:spcAft>
                <a:spcPts val="200"/>
              </a:spcAft>
              <a:buNone/>
            </a:pPr>
            <a:r>
              <a:rPr lang="en-US" sz="1700" b="1" dirty="0">
                <a:solidFill>
                  <a:schemeClr val="accent1"/>
                </a:solidFill>
                <a:latin typeface="Arial" pitchFamily="34" charset="0"/>
                <a:ea typeface="Arial" pitchFamily="34" charset="-122"/>
                <a:cs typeface="Arial" pitchFamily="34" charset="-120"/>
              </a:rPr>
              <a:t>16° API  ·  4.93% S</a:t>
            </a:r>
            <a:endParaRPr lang="en-US" sz="1900" dirty="0"/>
          </a:p>
          <a:p>
            <a:pPr indent="0" marL="0">
              <a:spcAft>
                <a:spcPts val="200"/>
              </a:spcAft>
              <a:buNone/>
            </a:pPr>
            <a:r>
              <a:rPr lang="en-US" sz="1500" dirty="0">
                <a:solidFill>
                  <a:schemeClr val="tx2"/>
                </a:solidFill>
                <a:latin typeface="Arial" pitchFamily="34" charset="0"/>
                <a:ea typeface="Arial" pitchFamily="34" charset="-122"/>
                <a:cs typeface="Arial" pitchFamily="34" charset="-120"/>
              </a:rPr>
              <a:t>Heavy, very sour</a:t>
            </a:r>
            <a:endParaRPr lang="en-US" sz="1900" dirty="0"/>
          </a:p>
        </p:txBody>
      </p:sp>
      <p:sp>
        <p:nvSpPr>
          <p:cNvPr id="20" name="crudes_s_15"/>
          <p:cNvSpPr/>
          <p:nvPr/>
        </p:nvSpPr>
        <p:spPr>
          <a:xfrm>
            <a:off x="5548362" y="3246120"/>
            <a:ext cx="310896" cy="310896"/>
          </a:xfrm>
          <a:prstGeom prst="ellipse">
            <a:avLst/>
          </a:prstGeom>
          <a:solidFill>
            <a:srgbClr val="F5F5F7"/>
          </a:solidFill>
          <a:ln w="38100">
            <a:solidFill>
              <a:srgbClr val="0B0B0F"/>
            </a:solidFill>
            <a:prstDash val="solid"/>
          </a:ln>
          <a:effectLst>
            <a:outerShdw sx="100000" sy="100000" kx="0" ky="0" algn="bl" rotWithShape="0" blurRad="127000" dist="50800" dir="5400000">
              <a:srgbClr val="FF9F0A">
                <a:alpha val="90000"/>
              </a:srgbClr>
            </a:outerShdw>
          </a:effectLst>
        </p:spPr>
      </p:sp>
      <p:sp>
        <p:nvSpPr>
          <p:cNvPr id="21" name="crudes_s_16"/>
          <p:cNvSpPr/>
          <p:nvPr/>
        </p:nvSpPr>
        <p:spPr>
          <a:xfrm>
            <a:off x="5696495" y="3584448"/>
            <a:ext cx="14630" cy="731520"/>
          </a:xfrm>
          <a:prstGeom prst="rect">
            <a:avLst/>
          </a:prstGeom>
          <a:solidFill>
            <a:srgbClr val="3A3A3C"/>
          </a:solidFill>
          <a:ln/>
        </p:spPr>
      </p:sp>
      <p:sp>
        <p:nvSpPr>
          <p:cNvPr id="22" name="crudes_t_17"/>
          <p:cNvSpPr txBox="1"/>
          <p:nvPr/>
        </p:nvSpPr>
        <p:spPr>
          <a:xfrm>
            <a:off x="4263630" y="4315968"/>
            <a:ext cx="2880360" cy="1078992"/>
          </a:xfrm>
          <a:prstGeom prst="roundRect">
            <a:avLst>
              <a:gd name="adj" fmla="val 11864"/>
            </a:avLst>
          </a:prstGeom>
          <a:solidFill>
            <a:srgbClr val="1C1C1E"/>
          </a:solidFill>
          <a:ln w="9525">
            <a:solidFill>
              <a:srgbClr val="FFFFFF">
                <a:alpha val="10000"/>
              </a:srgbClr>
            </a:solidFill>
          </a:ln>
        </p:spPr>
        <p:txBody>
          <a:bodyPr wrap="square" lIns="152400" tIns="76200" rIns="127000" bIns="76200" rtlCol="0" anchor="t"/>
          <a:lstStyle/>
          <a:p>
            <a:pPr indent="0" marL="0">
              <a:spcAft>
                <a:spcPts val="200"/>
              </a:spcAft>
              <a:buNone/>
            </a:pPr>
            <a:r>
              <a:rPr lang="en-US" sz="1900" b="1" dirty="0">
                <a:solidFill>
                  <a:schemeClr val="tx1"/>
                </a:solidFill>
                <a:latin typeface="Arial" pitchFamily="34" charset="0"/>
                <a:ea typeface="Arial" pitchFamily="34" charset="-122"/>
                <a:cs typeface="Arial" pitchFamily="34" charset="-120"/>
              </a:rPr>
              <a:t>Khafji</a:t>
            </a:r>
            <a:endParaRPr lang="en-US" sz="1900" dirty="0"/>
          </a:p>
          <a:p>
            <a:pPr indent="0" marL="0">
              <a:spcAft>
                <a:spcPts val="200"/>
              </a:spcAft>
              <a:buNone/>
            </a:pPr>
            <a:r>
              <a:rPr lang="en-US" sz="1700" b="1" dirty="0">
                <a:solidFill>
                  <a:schemeClr val="accent1"/>
                </a:solidFill>
                <a:latin typeface="Arial" pitchFamily="34" charset="0"/>
                <a:ea typeface="Arial" pitchFamily="34" charset="-122"/>
                <a:cs typeface="Arial" pitchFamily="34" charset="-120"/>
              </a:rPr>
              <a:t>28.5° API  ·  2.85% S</a:t>
            </a:r>
            <a:endParaRPr lang="en-US" sz="1900" dirty="0"/>
          </a:p>
          <a:p>
            <a:pPr indent="0" marL="0">
              <a:spcAft>
                <a:spcPts val="200"/>
              </a:spcAft>
              <a:buNone/>
            </a:pPr>
            <a:r>
              <a:rPr lang="en-US" sz="1500" dirty="0">
                <a:solidFill>
                  <a:schemeClr val="tx2"/>
                </a:solidFill>
                <a:latin typeface="Arial" pitchFamily="34" charset="0"/>
                <a:ea typeface="Arial" pitchFamily="34" charset="-122"/>
                <a:cs typeface="Arial" pitchFamily="34" charset="-120"/>
              </a:rPr>
              <a:t>Partitioned Zone, offshore</a:t>
            </a:r>
            <a:endParaRPr lang="en-US" sz="1900" dirty="0"/>
          </a:p>
        </p:txBody>
      </p:sp>
      <p:sp>
        <p:nvSpPr>
          <p:cNvPr id="23" name="crudes_s_18"/>
          <p:cNvSpPr/>
          <p:nvPr/>
        </p:nvSpPr>
        <p:spPr>
          <a:xfrm>
            <a:off x="6071079" y="3246120"/>
            <a:ext cx="310896" cy="310896"/>
          </a:xfrm>
          <a:prstGeom prst="ellipse">
            <a:avLst/>
          </a:prstGeom>
          <a:solidFill>
            <a:srgbClr val="F5F5F7"/>
          </a:solidFill>
          <a:ln w="38100">
            <a:solidFill>
              <a:srgbClr val="0B0B0F"/>
            </a:solidFill>
            <a:prstDash val="solid"/>
          </a:ln>
          <a:effectLst>
            <a:outerShdw sx="100000" sy="100000" kx="0" ky="0" algn="bl" rotWithShape="0" blurRad="127000" dist="50800" dir="5400000">
              <a:srgbClr val="FF9F0A">
                <a:alpha val="90000"/>
              </a:srgbClr>
            </a:outerShdw>
          </a:effectLst>
        </p:spPr>
      </p:sp>
      <p:sp>
        <p:nvSpPr>
          <p:cNvPr id="24" name="crudes_s_19"/>
          <p:cNvSpPr/>
          <p:nvPr/>
        </p:nvSpPr>
        <p:spPr>
          <a:xfrm>
            <a:off x="6219212" y="2862072"/>
            <a:ext cx="14630" cy="356616"/>
          </a:xfrm>
          <a:prstGeom prst="rect">
            <a:avLst/>
          </a:prstGeom>
          <a:solidFill>
            <a:srgbClr val="3A3A3C"/>
          </a:solidFill>
          <a:ln/>
        </p:spPr>
      </p:sp>
      <p:sp>
        <p:nvSpPr>
          <p:cNvPr id="25" name="crudes_t_20"/>
          <p:cNvSpPr txBox="1"/>
          <p:nvPr/>
        </p:nvSpPr>
        <p:spPr>
          <a:xfrm>
            <a:off x="4786347" y="1783080"/>
            <a:ext cx="2880360" cy="1078992"/>
          </a:xfrm>
          <a:prstGeom prst="roundRect">
            <a:avLst>
              <a:gd name="adj" fmla="val 11864"/>
            </a:avLst>
          </a:prstGeom>
          <a:solidFill>
            <a:srgbClr val="1C1C1E"/>
          </a:solidFill>
          <a:ln w="9525">
            <a:solidFill>
              <a:srgbClr val="FFFFFF">
                <a:alpha val="10000"/>
              </a:srgbClr>
            </a:solidFill>
          </a:ln>
        </p:spPr>
        <p:txBody>
          <a:bodyPr wrap="square" lIns="152400" tIns="76200" rIns="127000" bIns="76200" rtlCol="0" anchor="t"/>
          <a:lstStyle/>
          <a:p>
            <a:pPr indent="0" marL="0">
              <a:spcAft>
                <a:spcPts val="200"/>
              </a:spcAft>
              <a:buNone/>
            </a:pPr>
            <a:r>
              <a:rPr lang="en-US" sz="1900" b="1" dirty="0">
                <a:solidFill>
                  <a:schemeClr val="tx1"/>
                </a:solidFill>
                <a:latin typeface="Arial" pitchFamily="34" charset="0"/>
                <a:ea typeface="Arial" pitchFamily="34" charset="-122"/>
                <a:cs typeface="Arial" pitchFamily="34" charset="-120"/>
              </a:rPr>
              <a:t>Kuwait Export Crude</a:t>
            </a:r>
            <a:endParaRPr lang="en-US" sz="1900" dirty="0"/>
          </a:p>
          <a:p>
            <a:pPr indent="0" marL="0">
              <a:spcAft>
                <a:spcPts val="200"/>
              </a:spcAft>
              <a:buNone/>
            </a:pPr>
            <a:r>
              <a:rPr lang="en-US" sz="1700" b="1" dirty="0">
                <a:solidFill>
                  <a:schemeClr val="accent1"/>
                </a:solidFill>
                <a:latin typeface="Arial" pitchFamily="34" charset="0"/>
                <a:ea typeface="Arial" pitchFamily="34" charset="-122"/>
                <a:cs typeface="Arial" pitchFamily="34" charset="-120"/>
              </a:rPr>
              <a:t>30.5° API  ·  2.50% S</a:t>
            </a:r>
            <a:endParaRPr lang="en-US" sz="1900" dirty="0"/>
          </a:p>
          <a:p>
            <a:pPr indent="0" marL="0">
              <a:spcAft>
                <a:spcPts val="200"/>
              </a:spcAft>
              <a:buNone/>
            </a:pPr>
            <a:r>
              <a:rPr lang="en-US" sz="1500" dirty="0">
                <a:solidFill>
                  <a:schemeClr val="tx2"/>
                </a:solidFill>
                <a:latin typeface="Arial" pitchFamily="34" charset="0"/>
                <a:ea typeface="Arial" pitchFamily="34" charset="-122"/>
                <a:cs typeface="Arial" pitchFamily="34" charset="-120"/>
              </a:rPr>
              <a:t>Main export blend (KEC)</a:t>
            </a:r>
            <a:endParaRPr lang="en-US" sz="1900" dirty="0"/>
          </a:p>
        </p:txBody>
      </p:sp>
      <p:sp>
        <p:nvSpPr>
          <p:cNvPr id="26" name="crudes_s_21"/>
          <p:cNvSpPr/>
          <p:nvPr/>
        </p:nvSpPr>
        <p:spPr>
          <a:xfrm>
            <a:off x="10644850" y="3246120"/>
            <a:ext cx="310896" cy="310896"/>
          </a:xfrm>
          <a:prstGeom prst="ellipse">
            <a:avLst/>
          </a:prstGeom>
          <a:solidFill>
            <a:srgbClr val="F5F5F7"/>
          </a:solidFill>
          <a:ln w="38100">
            <a:solidFill>
              <a:srgbClr val="0B0B0F"/>
            </a:solidFill>
            <a:prstDash val="solid"/>
          </a:ln>
          <a:effectLst>
            <a:outerShdw sx="100000" sy="100000" kx="0" ky="0" algn="bl" rotWithShape="0" blurRad="127000" dist="50800" dir="5400000">
              <a:srgbClr val="FF9F0A">
                <a:alpha val="90000"/>
              </a:srgbClr>
            </a:outerShdw>
          </a:effectLst>
        </p:spPr>
      </p:sp>
      <p:sp>
        <p:nvSpPr>
          <p:cNvPr id="27" name="crudes_s_22"/>
          <p:cNvSpPr/>
          <p:nvPr/>
        </p:nvSpPr>
        <p:spPr>
          <a:xfrm>
            <a:off x="10792983" y="2862072"/>
            <a:ext cx="14630" cy="356616"/>
          </a:xfrm>
          <a:prstGeom prst="rect">
            <a:avLst/>
          </a:prstGeom>
          <a:solidFill>
            <a:srgbClr val="3A3A3C"/>
          </a:solidFill>
          <a:ln/>
        </p:spPr>
      </p:sp>
      <p:sp>
        <p:nvSpPr>
          <p:cNvPr id="28" name="crudes_t_23"/>
          <p:cNvSpPr txBox="1"/>
          <p:nvPr/>
        </p:nvSpPr>
        <p:spPr>
          <a:xfrm>
            <a:off x="8762695" y="1783080"/>
            <a:ext cx="2880360" cy="1078992"/>
          </a:xfrm>
          <a:prstGeom prst="roundRect">
            <a:avLst>
              <a:gd name="adj" fmla="val 11864"/>
            </a:avLst>
          </a:prstGeom>
          <a:solidFill>
            <a:srgbClr val="1C1C1E"/>
          </a:solidFill>
          <a:ln w="9525">
            <a:solidFill>
              <a:srgbClr val="FFFFFF">
                <a:alpha val="10000"/>
              </a:srgbClr>
            </a:solidFill>
          </a:ln>
        </p:spPr>
        <p:txBody>
          <a:bodyPr wrap="square" lIns="152400" tIns="76200" rIns="127000" bIns="76200" rtlCol="0" anchor="t"/>
          <a:lstStyle/>
          <a:p>
            <a:pPr indent="0" marL="0">
              <a:spcAft>
                <a:spcPts val="200"/>
              </a:spcAft>
              <a:buNone/>
            </a:pPr>
            <a:r>
              <a:rPr lang="en-US" sz="1900" b="1" dirty="0">
                <a:solidFill>
                  <a:schemeClr val="tx1"/>
                </a:solidFill>
                <a:latin typeface="Arial" pitchFamily="34" charset="0"/>
                <a:ea typeface="Arial" pitchFamily="34" charset="-122"/>
                <a:cs typeface="Arial" pitchFamily="34" charset="-120"/>
              </a:rPr>
              <a:t>Kuwait Super Light</a:t>
            </a:r>
            <a:endParaRPr lang="en-US" sz="1900" dirty="0"/>
          </a:p>
          <a:p>
            <a:pPr indent="0" marL="0">
              <a:spcAft>
                <a:spcPts val="200"/>
              </a:spcAft>
              <a:buNone/>
            </a:pPr>
            <a:r>
              <a:rPr lang="en-US" sz="1700" b="1" dirty="0">
                <a:solidFill>
                  <a:schemeClr val="accent1"/>
                </a:solidFill>
                <a:latin typeface="Arial" pitchFamily="34" charset="0"/>
                <a:ea typeface="Arial" pitchFamily="34" charset="-122"/>
                <a:cs typeface="Arial" pitchFamily="34" charset="-120"/>
              </a:rPr>
              <a:t>48° API  ·  0.38% S</a:t>
            </a:r>
            <a:endParaRPr lang="en-US" sz="1900" dirty="0"/>
          </a:p>
          <a:p>
            <a:pPr indent="0" marL="0">
              <a:spcAft>
                <a:spcPts val="200"/>
              </a:spcAft>
              <a:buNone/>
            </a:pPr>
            <a:r>
              <a:rPr lang="en-US" sz="1500" dirty="0">
                <a:solidFill>
                  <a:schemeClr val="tx2"/>
                </a:solidFill>
                <a:latin typeface="Arial" pitchFamily="34" charset="0"/>
                <a:ea typeface="Arial" pitchFamily="34" charset="-122"/>
                <a:cs typeface="Arial" pitchFamily="34" charset="-120"/>
              </a:rPr>
              <a:t>Jurassic, North Kuwait</a:t>
            </a:r>
            <a:endParaRPr lang="en-US" sz="1900" dirty="0"/>
          </a:p>
        </p:txBody>
      </p:sp>
      <p:sp>
        <p:nvSpPr>
          <p:cNvPr id="29" name="crudes_t_24"/>
          <p:cNvSpPr txBox="1"/>
          <p:nvPr/>
        </p:nvSpPr>
        <p:spPr>
          <a:xfrm>
            <a:off x="548640" y="5559552"/>
            <a:ext cx="9601200" cy="292608"/>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API gravity = 141.5 / SG − 131.5   ·   higher API = lighter oil   ·   S = sulfur content (wt%)</a:t>
            </a:r>
            <a:endParaRPr lang="en-US" sz="1400" dirty="0"/>
          </a:p>
        </p:txBody>
      </p:sp>
      <p:sp>
        <p:nvSpPr>
          <p:cNvPr id="30" name="!!source"/>
          <p:cNvSpPr txBox="1"/>
          <p:nvPr/>
        </p:nvSpPr>
        <p:spPr>
          <a:xfrm>
            <a:off x="548640" y="5943600"/>
            <a:ext cx="9692640" cy="274320"/>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Sources: Mehdi (2021); Energy Intelligence (n.d.); S&amp;P Global (2018b, 2020); EIA (2023a). Class limits: 22.3° and 31.1° API.</a:t>
            </a:r>
            <a:endParaRPr lang="en-US" sz="1200" dirty="0"/>
          </a:p>
        </p:txBody>
      </p:sp>
      <p:sp>
        <p:nvSpPr>
          <p:cNvPr id="31" name="!!home_bg"/>
          <p:cNvSpPr/>
          <p:nvPr/>
        </p:nvSpPr>
        <p:spPr>
          <a:xfrm>
            <a:off x="10637215" y="6272784"/>
            <a:ext cx="384048" cy="384048"/>
          </a:xfrm>
          <a:prstGeom prst="roundRect">
            <a:avLst>
              <a:gd name="adj" fmla="val 23810"/>
            </a:avLst>
          </a:prstGeom>
          <a:solidFill>
            <a:srgbClr val="2C2C2E"/>
          </a:solidFill>
          <a:ln/>
        </p:spPr>
      </p:sp>
      <p:pic>
        <p:nvPicPr>
          <p:cNvPr id="32" name="!!home_ic" descr="Decorative graphic">    </p:cNvPr>
          <p:cNvPicPr>
            <a:picLocks noChangeAspect="1"/>
          </p:cNvPicPr>
          <p:nvPr/>
        </p:nvPicPr>
        <p:blipFill>
          <a:blip r:embed="rId4"/>
          <a:stretch>
            <a:fillRect/>
          </a:stretch>
        </p:blipFill>
        <p:spPr>
          <a:xfrm>
            <a:off x="10719511" y="6355080"/>
            <a:ext cx="219456" cy="219456"/>
          </a:xfrm>
          <a:prstGeom prst="rect">
            <a:avLst/>
          </a:prstGeom>
        </p:spPr>
      </p:pic>
      <p:sp>
        <p:nvSpPr>
          <p:cNvPr id="33" name="!!home_hit">
            <a:hlinkClick r:id="rId5" tooltip="Back to contents" action="ppaction://hlinksldjump" highlightClick="1"/>
          </p:cNvPr>
          <p:cNvSpPr/>
          <p:nvPr/>
        </p:nvSpPr>
        <p:spPr>
          <a:xfrm>
            <a:off x="10637215" y="6272784"/>
            <a:ext cx="384048" cy="384048"/>
          </a:xfrm>
          <a:prstGeom prst="roundRect">
            <a:avLst>
              <a:gd name="adj" fmla="val 23810"/>
            </a:avLst>
          </a:prstGeom>
          <a:solidFill>
            <a:srgbClr val="000000">
              <a:alpha val="0"/>
            </a:srgbClr>
          </a:solidFill>
          <a:ln/>
        </p:spPr>
      </p:sp>
      <p:sp>
        <p:nvSpPr>
          <p:cNvPr id="35" name="!!footer"/>
          <p:cNvSpPr txBox="1"/>
          <p:nvPr/>
        </p:nvSpPr>
        <p:spPr>
          <a:xfrm>
            <a:off x="548640" y="6327648"/>
            <a:ext cx="5486400" cy="292608"/>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Kuwait Oil &amp; Gas  ·  EGCH2230</a:t>
            </a:r>
            <a:endParaRPr lang="en-US" sz="1200" dirty="0"/>
          </a:p>
        </p:txBody>
      </p:sp>
      <p:sp>
        <p:nvSpPr>
          <p:cNvPr id="36" name="!!num"/>
          <p:cNvSpPr txBox="1"/>
          <p:nvPr/>
        </p:nvSpPr>
        <p:spPr>
          <a:xfrm>
            <a:off x="11094415" y="6327648"/>
            <a:ext cx="548640" cy="292608"/>
          </a:xfrm>
          <a:prstGeom prst="rect">
            <a:avLst/>
          </a:prstGeom>
          <a:noFill/>
          <a:ln/>
        </p:spPr>
        <p:txBody>
          <a:bodyPr wrap="square" lIns="0" tIns="0" rIns="0" bIns="0" rtlCol="0" anchor="ctr"/>
          <a:lstStyle/>
          <a:p>
            <a:pPr algn="r" indent="0" marL="0">
              <a:buNone/>
            </a:pPr>
            <a:r>
              <a:rPr lang="en-US" sz="1200" dirty="0">
                <a:solidFill>
                  <a:schemeClr val="tx2"/>
                </a:solidFill>
                <a:latin typeface="Arial" pitchFamily="34" charset="0"/>
                <a:ea typeface="Arial" pitchFamily="34" charset="-122"/>
                <a:cs typeface="Arial" pitchFamily="34" charset="-120"/>
              </a:rPr>
              <a:t>7</a:t>
            </a:r>
            <a:endParaRPr lang="en-US" sz="1200" dirty="0"/>
          </a:p>
        </p:txBody>
      </p:sp>
      <p:pic>
        <p:nvPicPr>
          <p:cNvPr id="37" name="!!badge" descr="University of Technology and Applied Sciences, Salalah">    </p:cNvPr>
          <p:cNvPicPr>
            <a:picLocks noChangeAspect="1"/>
          </p:cNvPicPr>
          <p:nvPr/>
        </p:nvPicPr>
        <p:blipFill>
          <a:blip r:embed="rId6"/>
          <a:stretch>
            <a:fillRect/>
          </a:stretch>
        </p:blipFill>
        <p:spPr>
          <a:xfrm>
            <a:off x="9677095" y="274320"/>
            <a:ext cx="1965960" cy="80987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0" presetClass="path" presetSubtype="0" fill="hold" grpId="0" nodeType="afterEffect" repeatCount="indefinite" autoRev="1">
                                  <p:stCondLst>
                                    <p:cond delay="0"/>
                                  </p:stCondLst>
                                  <p:childTnLst>
                                    <p:animMotion origin="layout" path="M 0 0 L 0.0350 -0.0300 E" pathEditMode="relative" ptsTypes="">
                                      <p:cBhvr>
                                        <p:cTn id="5" dur="13000" fill="hold" accel="50000" decel="50000"/>
                                        <p:tgtEl>
                                          <p:spTgt spid="2"/>
                                        </p:tgtEl>
                                        <p:attrNameLst>
                                          <p:attrName>ppt_x</p:attrName>
                                          <p:attrName>ppt_y</p:attrName>
                                        </p:attrNameLst>
                                      </p:cBhvr>
                                      <p:rCtr x="0" y="0"/>
                                    </p:animMotion>
                                  </p:childTnLst>
                                </p:cTn>
                              </p:par>
                              <p:par>
                                <p:cTn id="8" presetID="0" presetClass="path" presetSubtype="0" fill="hold" grpId="0" nodeType="withEffect" repeatCount="indefinite" autoRev="1">
                                  <p:stCondLst>
                                    <p:cond delay="0"/>
                                  </p:stCondLst>
                                  <p:childTnLst>
                                    <p:animMotion origin="layout" path="M 0 0 L -0.0300 0.0250 E" pathEditMode="relative" ptsTypes="">
                                      <p:cBhvr>
                                        <p:cTn id="7" dur="15000" fill="hold" accel="50000" decel="50000"/>
                                        <p:tgtEl>
                                          <p:spTgt spid="3"/>
                                        </p:tgtEl>
                                        <p:attrNameLst>
                                          <p:attrName>ppt_x</p:attrName>
                                          <p:attrName>ppt_y</p:attrName>
                                        </p:attrNameLst>
                                      </p:cBhvr>
                                      <p:rCtr x="0" y="0"/>
                                    </p:animMotion>
                                  </p:childTnLst>
                                </p:cTn>
                              </p:par>
                              <p:par>
                                <p:cTn id="11" presetID="22" presetClass="entr" presetSubtype="8" fill="hold" grpId="0" nodeType="withEffect">
                                  <p:stCondLst>
                                    <p:cond delay="25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1500" decel="100000"/>
                                        <p:tgtEl>
                                          <p:spTgt spid="6"/>
                                        </p:tgtEl>
                                      </p:cBhvr>
                                    </p:animEffect>
                                  </p:childTnLst>
                                </p:cTn>
                              </p:par>
                              <p:par>
                                <p:cTn id="14" presetID="10" presetClass="entr" presetSubtype="0" fill="hold" grpId="0" nodeType="withEffect">
                                  <p:stCondLst>
                                    <p:cond delay="80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700" decel="100000"/>
                                        <p:tgtEl>
                                          <p:spTgt spid="7"/>
                                        </p:tgtEl>
                                      </p:cBhvr>
                                    </p:animEffect>
                                  </p:childTnLst>
                                </p:cTn>
                              </p:par>
                              <p:par>
                                <p:cTn id="17" presetID="10" presetClass="entr" presetSubtype="0" fill="hold" grpId="0" nodeType="withEffect">
                                  <p:stCondLst>
                                    <p:cond delay="80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600" decel="100000"/>
                                        <p:tgtEl>
                                          <p:spTgt spid="10"/>
                                        </p:tgtEl>
                                      </p:cBhvr>
                                    </p:animEffect>
                                  </p:childTnLst>
                                </p:cTn>
                              </p:par>
                              <p:par>
                                <p:cTn id="20" presetID="10" presetClass="entr" presetSubtype="0" fill="hold" grpId="0" nodeType="withEffect">
                                  <p:stCondLst>
                                    <p:cond delay="80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600" decel="100000"/>
                                        <p:tgtEl>
                                          <p:spTgt spid="11"/>
                                        </p:tgtEl>
                                      </p:cBhvr>
                                    </p:animEffect>
                                  </p:childTnLst>
                                </p:cTn>
                              </p:par>
                              <p:par>
                                <p:cTn id="23" presetID="10" presetClass="entr" presetSubtype="0" fill="hold" grpId="0" nodeType="withEffect">
                                  <p:stCondLst>
                                    <p:cond delay="90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600" decel="100000"/>
                                        <p:tgtEl>
                                          <p:spTgt spid="12"/>
                                        </p:tgtEl>
                                      </p:cBhvr>
                                    </p:animEffect>
                                  </p:childTnLst>
                                </p:cTn>
                              </p:par>
                              <p:par>
                                <p:cTn id="26" presetID="10" presetClass="entr" presetSubtype="0" fill="hold" grpId="0" nodeType="withEffect">
                                  <p:stCondLst>
                                    <p:cond delay="90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600" decel="100000"/>
                                        <p:tgtEl>
                                          <p:spTgt spid="13"/>
                                        </p:tgtEl>
                                      </p:cBhvr>
                                    </p:animEffect>
                                  </p:childTnLst>
                                </p:cTn>
                              </p:par>
                              <p:par>
                                <p:cTn id="29" presetID="10" presetClass="entr" presetSubtype="0" fill="hold" grpId="0" nodeType="withEffect">
                                  <p:stCondLst>
                                    <p:cond delay="90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600" decel="100000"/>
                                        <p:tgtEl>
                                          <p:spTgt spid="14"/>
                                        </p:tgtEl>
                                      </p:cBhvr>
                                    </p:animEffect>
                                  </p:childTnLst>
                                </p:cTn>
                              </p:par>
                              <p:par>
                                <p:cTn id="32" presetID="10" presetClass="entr" presetSubtype="0" fill="hold" grpId="0" nodeType="withEffect">
                                  <p:stCondLst>
                                    <p:cond delay="90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600" decel="100000"/>
                                        <p:tgtEl>
                                          <p:spTgt spid="15"/>
                                        </p:tgtEl>
                                      </p:cBhvr>
                                    </p:animEffect>
                                  </p:childTnLst>
                                </p:cTn>
                              </p:par>
                              <p:par>
                                <p:cTn id="35" presetID="10" presetClass="entr" presetSubtype="0" fill="hold" grpId="0" nodeType="withEffect">
                                  <p:stCondLst>
                                    <p:cond delay="90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600" decel="100000"/>
                                        <p:tgtEl>
                                          <p:spTgt spid="16"/>
                                        </p:tgtEl>
                                      </p:cBhvr>
                                    </p:animEffect>
                                  </p:childTnLst>
                                </p:cTn>
                              </p:par>
                              <p:par>
                                <p:cTn id="39" presetID="2" presetClass="entr" presetSubtype="0" fill="hold" grpId="0" nodeType="withEffect">
                                  <p:stCondLst>
                                    <p:cond delay="90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50" decel="100000"/>
                                        <p:tgtEl>
                                          <p:spTgt spid="17"/>
                                        </p:tgtEl>
                                      </p:cBhvr>
                                    </p:animEffect>
                                    <p:animMotion origin="layout" path="M -0.1286 0.0000 L 0 0 E" pathEditMode="relative" ptsTypes="">
                                      <p:cBhvr>
                                        <p:cTn id="38" dur="1100" fill="hold" decel="100000"/>
                                        <p:tgtEl>
                                          <p:spTgt spid="17"/>
                                        </p:tgtEl>
                                        <p:attrNameLst>
                                          <p:attrName>ppt_x</p:attrName>
                                          <p:attrName>ppt_y</p:attrName>
                                        </p:attrNameLst>
                                      </p:cBhvr>
                                      <p:rCtr x="0" y="0"/>
                                    </p:animMotion>
                                  </p:childTnLst>
                                </p:cTn>
                              </p:par>
                              <p:par>
                                <p:cTn id="42" presetID="10" presetClass="entr" presetSubtype="0" fill="hold" grpId="0" nodeType="withEffect">
                                  <p:stCondLst>
                                    <p:cond delay="92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700" decel="100000"/>
                                        <p:tgtEl>
                                          <p:spTgt spid="8"/>
                                        </p:tgtEl>
                                      </p:cBhvr>
                                    </p:animEffect>
                                  </p:childTnLst>
                                </p:cTn>
                              </p:par>
                              <p:par>
                                <p:cTn id="45" presetID="10" presetClass="entr" presetSubtype="0" fill="hold" grpId="0" nodeType="withEffect">
                                  <p:stCondLst>
                                    <p:cond delay="104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700" decel="100000"/>
                                        <p:tgtEl>
                                          <p:spTgt spid="9"/>
                                        </p:tgtEl>
                                      </p:cBhvr>
                                    </p:animEffect>
                                  </p:childTnLst>
                                </p:cTn>
                              </p:par>
                              <p:par>
                                <p:cTn id="49" presetID="2" presetClass="entr" presetSubtype="0" fill="hold" grpId="0" nodeType="withEffect">
                                  <p:stCondLst>
                                    <p:cond delay="108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550" decel="100000"/>
                                        <p:tgtEl>
                                          <p:spTgt spid="20"/>
                                        </p:tgtEl>
                                      </p:cBhvr>
                                    </p:animEffect>
                                    <p:animMotion origin="layout" path="M -0.3966 0.0000 L 0 0 E" pathEditMode="relative" ptsTypes="">
                                      <p:cBhvr>
                                        <p:cTn id="48" dur="1100" fill="hold" decel="100000"/>
                                        <p:tgtEl>
                                          <p:spTgt spid="20"/>
                                        </p:tgtEl>
                                        <p:attrNameLst>
                                          <p:attrName>ppt_x</p:attrName>
                                          <p:attrName>ppt_y</p:attrName>
                                        </p:attrNameLst>
                                      </p:cBhvr>
                                      <p:rCtr x="0" y="0"/>
                                    </p:animMotion>
                                  </p:childTnLst>
                                </p:cTn>
                              </p:par>
                              <p:par>
                                <p:cTn id="53" presetID="2" presetClass="entr" presetSubtype="0" fill="hold" grpId="0" nodeType="withEffect">
                                  <p:stCondLst>
                                    <p:cond delay="126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550" decel="100000"/>
                                        <p:tgtEl>
                                          <p:spTgt spid="23"/>
                                        </p:tgtEl>
                                      </p:cBhvr>
                                    </p:animEffect>
                                    <p:animMotion origin="layout" path="M -0.4395 0.0000 L 0 0 E" pathEditMode="relative" ptsTypes="">
                                      <p:cBhvr>
                                        <p:cTn id="52" dur="1100" fill="hold" decel="100000"/>
                                        <p:tgtEl>
                                          <p:spTgt spid="23"/>
                                        </p:tgtEl>
                                        <p:attrNameLst>
                                          <p:attrName>ppt_x</p:attrName>
                                          <p:attrName>ppt_y</p:attrName>
                                        </p:attrNameLst>
                                      </p:cBhvr>
                                      <p:rCtr x="0" y="0"/>
                                    </p:animMotion>
                                  </p:childTnLst>
                                </p:cTn>
                              </p:par>
                              <p:par>
                                <p:cTn id="57" presetID="2" presetClass="entr" presetSubtype="0" fill="hold" grpId="0" nodeType="withEffect">
                                  <p:stCondLst>
                                    <p:cond delay="144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550" decel="100000"/>
                                        <p:tgtEl>
                                          <p:spTgt spid="26"/>
                                        </p:tgtEl>
                                      </p:cBhvr>
                                    </p:animEffect>
                                    <p:animMotion origin="layout" path="M -0.8146 0.0000 L 0 0 E" pathEditMode="relative" ptsTypes="">
                                      <p:cBhvr>
                                        <p:cTn id="56" dur="1100" fill="hold" decel="100000"/>
                                        <p:tgtEl>
                                          <p:spTgt spid="26"/>
                                        </p:tgtEl>
                                        <p:attrNameLst>
                                          <p:attrName>ppt_x</p:attrName>
                                          <p:attrName>ppt_y</p:attrName>
                                        </p:attrNameLst>
                                      </p:cBhvr>
                                      <p:rCtr x="0" y="0"/>
                                    </p:animMotion>
                                  </p:childTnLst>
                                </p:cTn>
                              </p:par>
                              <p:par>
                                <p:cTn id="60" presetID="10" presetClass="entr" presetSubtype="0" fill="hold" grpId="0" nodeType="withEffect">
                                  <p:stCondLst>
                                    <p:cond delay="175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500" decel="100000"/>
                                        <p:tgtEl>
                                          <p:spTgt spid="18"/>
                                        </p:tgtEl>
                                      </p:cBhvr>
                                    </p:animEffect>
                                  </p:childTnLst>
                                </p:cTn>
                              </p:par>
                              <p:par>
                                <p:cTn id="65" presetID="42" presetClass="entr" presetSubtype="0" fill="hold" grpId="0" nodeType="withEffect">
                                  <p:stCondLst>
                                    <p:cond delay="175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640" decel="100000"/>
                                        <p:tgtEl>
                                          <p:spTgt spid="19"/>
                                        </p:tgtEl>
                                      </p:cBhvr>
                                    </p:animEffect>
                                    <p:anim calcmode="lin" valueType="num">
                                      <p:cBhvr>
                                        <p:cTn id="63" dur="800" fill="hold" decel="100000"/>
                                        <p:tgtEl>
                                          <p:spTgt spid="19"/>
                                        </p:tgtEl>
                                        <p:attrNameLst>
                                          <p:attrName>ppt_x</p:attrName>
                                        </p:attrNameLst>
                                      </p:cBhvr>
                                      <p:tavLst>
                                        <p:tav tm="0">
                                          <p:val>
                                            <p:strVal val="#ppt_x"/>
                                          </p:val>
                                        </p:tav>
                                        <p:tav tm="100000">
                                          <p:val>
                                            <p:strVal val="#ppt_x"/>
                                          </p:val>
                                        </p:tav>
                                      </p:tavLst>
                                    </p:anim>
                                    <p:anim calcmode="lin" valueType="num">
                                      <p:cBhvr>
                                        <p:cTn id="64" dur="800" fill="hold" decel="100000"/>
                                        <p:tgtEl>
                                          <p:spTgt spid="19"/>
                                        </p:tgtEl>
                                        <p:attrNameLst>
                                          <p:attrName>ppt_y</p:attrName>
                                        </p:attrNameLst>
                                      </p:cBhvr>
                                      <p:tavLst>
                                        <p:tav tm="0">
                                          <p:val>
                                            <p:strVal val="#ppt_y+-0.0200"/>
                                          </p:val>
                                        </p:tav>
                                        <p:tav tm="100000">
                                          <p:val>
                                            <p:strVal val="#ppt_y"/>
                                          </p:val>
                                        </p:tav>
                                      </p:tavLst>
                                    </p:anim>
                                  </p:childTnLst>
                                </p:cTn>
                              </p:par>
                              <p:par>
                                <p:cTn id="68" presetID="10" presetClass="entr" presetSubtype="0" fill="hold" grpId="0" nodeType="withEffect">
                                  <p:stCondLst>
                                    <p:cond delay="1930"/>
                                  </p:stCondLst>
                                  <p:childTnLst>
                                    <p:set>
                                      <p:cBhvr>
                                        <p:cTn id="66" dur="1" fill="hold">
                                          <p:stCondLst>
                                            <p:cond delay="0"/>
                                          </p:stCondLst>
                                        </p:cTn>
                                        <p:tgtEl>
                                          <p:spTgt spid="21"/>
                                        </p:tgtEl>
                                        <p:attrNameLst>
                                          <p:attrName>style.visibility</p:attrName>
                                        </p:attrNameLst>
                                      </p:cBhvr>
                                      <p:to>
                                        <p:strVal val="visible"/>
                                      </p:to>
                                    </p:set>
                                    <p:animEffect transition="in" filter="fade">
                                      <p:cBhvr>
                                        <p:cTn id="67" dur="500" decel="100000"/>
                                        <p:tgtEl>
                                          <p:spTgt spid="21"/>
                                        </p:tgtEl>
                                      </p:cBhvr>
                                    </p:animEffect>
                                  </p:childTnLst>
                                </p:cTn>
                              </p:par>
                              <p:par>
                                <p:cTn id="73" presetID="42" presetClass="entr" presetSubtype="0" fill="hold" grpId="0" nodeType="withEffect">
                                  <p:stCondLst>
                                    <p:cond delay="1930"/>
                                  </p:stCondLst>
                                  <p:childTnLst>
                                    <p:set>
                                      <p:cBhvr>
                                        <p:cTn id="69" dur="1" fill="hold">
                                          <p:stCondLst>
                                            <p:cond delay="0"/>
                                          </p:stCondLst>
                                        </p:cTn>
                                        <p:tgtEl>
                                          <p:spTgt spid="22"/>
                                        </p:tgtEl>
                                        <p:attrNameLst>
                                          <p:attrName>style.visibility</p:attrName>
                                        </p:attrNameLst>
                                      </p:cBhvr>
                                      <p:to>
                                        <p:strVal val="visible"/>
                                      </p:to>
                                    </p:set>
                                    <p:animEffect transition="in" filter="fade">
                                      <p:cBhvr>
                                        <p:cTn id="70" dur="640" decel="100000"/>
                                        <p:tgtEl>
                                          <p:spTgt spid="22"/>
                                        </p:tgtEl>
                                      </p:cBhvr>
                                    </p:animEffect>
                                    <p:anim calcmode="lin" valueType="num">
                                      <p:cBhvr>
                                        <p:cTn id="71" dur="800" fill="hold" decel="100000"/>
                                        <p:tgtEl>
                                          <p:spTgt spid="22"/>
                                        </p:tgtEl>
                                        <p:attrNameLst>
                                          <p:attrName>ppt_x</p:attrName>
                                        </p:attrNameLst>
                                      </p:cBhvr>
                                      <p:tavLst>
                                        <p:tav tm="0">
                                          <p:val>
                                            <p:strVal val="#ppt_x"/>
                                          </p:val>
                                        </p:tav>
                                        <p:tav tm="100000">
                                          <p:val>
                                            <p:strVal val="#ppt_x"/>
                                          </p:val>
                                        </p:tav>
                                      </p:tavLst>
                                    </p:anim>
                                    <p:anim calcmode="lin" valueType="num">
                                      <p:cBhvr>
                                        <p:cTn id="72" dur="800" fill="hold" decel="100000"/>
                                        <p:tgtEl>
                                          <p:spTgt spid="22"/>
                                        </p:tgtEl>
                                        <p:attrNameLst>
                                          <p:attrName>ppt_y</p:attrName>
                                        </p:attrNameLst>
                                      </p:cBhvr>
                                      <p:tavLst>
                                        <p:tav tm="0">
                                          <p:val>
                                            <p:strVal val="#ppt_y+0.0200"/>
                                          </p:val>
                                        </p:tav>
                                        <p:tav tm="100000">
                                          <p:val>
                                            <p:strVal val="#ppt_y"/>
                                          </p:val>
                                        </p:tav>
                                      </p:tavLst>
                                    </p:anim>
                                  </p:childTnLst>
                                </p:cTn>
                              </p:par>
                              <p:par>
                                <p:cTn id="76" presetID="10" presetClass="entr" presetSubtype="0" fill="hold" grpId="0" nodeType="withEffect">
                                  <p:stCondLst>
                                    <p:cond delay="2110"/>
                                  </p:stCondLst>
                                  <p:childTnLst>
                                    <p:set>
                                      <p:cBhvr>
                                        <p:cTn id="74" dur="1" fill="hold">
                                          <p:stCondLst>
                                            <p:cond delay="0"/>
                                          </p:stCondLst>
                                        </p:cTn>
                                        <p:tgtEl>
                                          <p:spTgt spid="24"/>
                                        </p:tgtEl>
                                        <p:attrNameLst>
                                          <p:attrName>style.visibility</p:attrName>
                                        </p:attrNameLst>
                                      </p:cBhvr>
                                      <p:to>
                                        <p:strVal val="visible"/>
                                      </p:to>
                                    </p:set>
                                    <p:animEffect transition="in" filter="fade">
                                      <p:cBhvr>
                                        <p:cTn id="75" dur="500" decel="100000"/>
                                        <p:tgtEl>
                                          <p:spTgt spid="24"/>
                                        </p:tgtEl>
                                      </p:cBhvr>
                                    </p:animEffect>
                                  </p:childTnLst>
                                </p:cTn>
                              </p:par>
                              <p:par>
                                <p:cTn id="81" presetID="42" presetClass="entr" presetSubtype="0" fill="hold" grpId="0" nodeType="withEffect">
                                  <p:stCondLst>
                                    <p:cond delay="2110"/>
                                  </p:stCondLst>
                                  <p:childTnLst>
                                    <p:set>
                                      <p:cBhvr>
                                        <p:cTn id="77" dur="1" fill="hold">
                                          <p:stCondLst>
                                            <p:cond delay="0"/>
                                          </p:stCondLst>
                                        </p:cTn>
                                        <p:tgtEl>
                                          <p:spTgt spid="25"/>
                                        </p:tgtEl>
                                        <p:attrNameLst>
                                          <p:attrName>style.visibility</p:attrName>
                                        </p:attrNameLst>
                                      </p:cBhvr>
                                      <p:to>
                                        <p:strVal val="visible"/>
                                      </p:to>
                                    </p:set>
                                    <p:animEffect transition="in" filter="fade">
                                      <p:cBhvr>
                                        <p:cTn id="78" dur="640" decel="100000"/>
                                        <p:tgtEl>
                                          <p:spTgt spid="25"/>
                                        </p:tgtEl>
                                      </p:cBhvr>
                                    </p:animEffect>
                                    <p:anim calcmode="lin" valueType="num">
                                      <p:cBhvr>
                                        <p:cTn id="79" dur="800" fill="hold" decel="100000"/>
                                        <p:tgtEl>
                                          <p:spTgt spid="25"/>
                                        </p:tgtEl>
                                        <p:attrNameLst>
                                          <p:attrName>ppt_x</p:attrName>
                                        </p:attrNameLst>
                                      </p:cBhvr>
                                      <p:tavLst>
                                        <p:tav tm="0">
                                          <p:val>
                                            <p:strVal val="#ppt_x"/>
                                          </p:val>
                                        </p:tav>
                                        <p:tav tm="100000">
                                          <p:val>
                                            <p:strVal val="#ppt_x"/>
                                          </p:val>
                                        </p:tav>
                                      </p:tavLst>
                                    </p:anim>
                                    <p:anim calcmode="lin" valueType="num">
                                      <p:cBhvr>
                                        <p:cTn id="80" dur="800" fill="hold" decel="100000"/>
                                        <p:tgtEl>
                                          <p:spTgt spid="25"/>
                                        </p:tgtEl>
                                        <p:attrNameLst>
                                          <p:attrName>ppt_y</p:attrName>
                                        </p:attrNameLst>
                                      </p:cBhvr>
                                      <p:tavLst>
                                        <p:tav tm="0">
                                          <p:val>
                                            <p:strVal val="#ppt_y+-0.0200"/>
                                          </p:val>
                                        </p:tav>
                                        <p:tav tm="100000">
                                          <p:val>
                                            <p:strVal val="#ppt_y"/>
                                          </p:val>
                                        </p:tav>
                                      </p:tavLst>
                                    </p:anim>
                                  </p:childTnLst>
                                </p:cTn>
                              </p:par>
                              <p:par>
                                <p:cTn id="84" presetID="10" presetClass="entr" presetSubtype="0" fill="hold" grpId="0" nodeType="withEffect">
                                  <p:stCondLst>
                                    <p:cond delay="2290"/>
                                  </p:stCondLst>
                                  <p:childTnLst>
                                    <p:set>
                                      <p:cBhvr>
                                        <p:cTn id="82" dur="1" fill="hold">
                                          <p:stCondLst>
                                            <p:cond delay="0"/>
                                          </p:stCondLst>
                                        </p:cTn>
                                        <p:tgtEl>
                                          <p:spTgt spid="27"/>
                                        </p:tgtEl>
                                        <p:attrNameLst>
                                          <p:attrName>style.visibility</p:attrName>
                                        </p:attrNameLst>
                                      </p:cBhvr>
                                      <p:to>
                                        <p:strVal val="visible"/>
                                      </p:to>
                                    </p:set>
                                    <p:animEffect transition="in" filter="fade">
                                      <p:cBhvr>
                                        <p:cTn id="83" dur="500" decel="100000"/>
                                        <p:tgtEl>
                                          <p:spTgt spid="27"/>
                                        </p:tgtEl>
                                      </p:cBhvr>
                                    </p:animEffect>
                                  </p:childTnLst>
                                </p:cTn>
                              </p:par>
                              <p:par>
                                <p:cTn id="89" presetID="42" presetClass="entr" presetSubtype="0" fill="hold" grpId="0" nodeType="withEffect">
                                  <p:stCondLst>
                                    <p:cond delay="2290"/>
                                  </p:stCondLst>
                                  <p:childTnLst>
                                    <p:set>
                                      <p:cBhvr>
                                        <p:cTn id="85" dur="1" fill="hold">
                                          <p:stCondLst>
                                            <p:cond delay="0"/>
                                          </p:stCondLst>
                                        </p:cTn>
                                        <p:tgtEl>
                                          <p:spTgt spid="28"/>
                                        </p:tgtEl>
                                        <p:attrNameLst>
                                          <p:attrName>style.visibility</p:attrName>
                                        </p:attrNameLst>
                                      </p:cBhvr>
                                      <p:to>
                                        <p:strVal val="visible"/>
                                      </p:to>
                                    </p:set>
                                    <p:animEffect transition="in" filter="fade">
                                      <p:cBhvr>
                                        <p:cTn id="86" dur="640" decel="100000"/>
                                        <p:tgtEl>
                                          <p:spTgt spid="28"/>
                                        </p:tgtEl>
                                      </p:cBhvr>
                                    </p:animEffect>
                                    <p:anim calcmode="lin" valueType="num">
                                      <p:cBhvr>
                                        <p:cTn id="87" dur="800" fill="hold" decel="100000"/>
                                        <p:tgtEl>
                                          <p:spTgt spid="28"/>
                                        </p:tgtEl>
                                        <p:attrNameLst>
                                          <p:attrName>ppt_x</p:attrName>
                                        </p:attrNameLst>
                                      </p:cBhvr>
                                      <p:tavLst>
                                        <p:tav tm="0">
                                          <p:val>
                                            <p:strVal val="#ppt_x"/>
                                          </p:val>
                                        </p:tav>
                                        <p:tav tm="100000">
                                          <p:val>
                                            <p:strVal val="#ppt_x"/>
                                          </p:val>
                                        </p:tav>
                                      </p:tavLst>
                                    </p:anim>
                                    <p:anim calcmode="lin" valueType="num">
                                      <p:cBhvr>
                                        <p:cTn id="88" dur="800" fill="hold" decel="100000"/>
                                        <p:tgtEl>
                                          <p:spTgt spid="28"/>
                                        </p:tgtEl>
                                        <p:attrNameLst>
                                          <p:attrName>ppt_y</p:attrName>
                                        </p:attrNameLst>
                                      </p:cBhvr>
                                      <p:tavLst>
                                        <p:tav tm="0">
                                          <p:val>
                                            <p:strVal val="#ppt_y+-0.0200"/>
                                          </p:val>
                                        </p:tav>
                                        <p:tav tm="100000">
                                          <p:val>
                                            <p:strVal val="#ppt_y"/>
                                          </p:val>
                                        </p:tav>
                                      </p:tavLst>
                                    </p:anim>
                                  </p:childTnLst>
                                </p:cTn>
                              </p:par>
                              <p:par>
                                <p:cTn id="92" presetID="10" presetClass="entr" presetSubtype="0" fill="hold" grpId="0" nodeType="withEffect">
                                  <p:stCondLst>
                                    <p:cond delay="2500"/>
                                  </p:stCondLst>
                                  <p:childTnLst>
                                    <p:set>
                                      <p:cBhvr>
                                        <p:cTn id="90" dur="1" fill="hold">
                                          <p:stCondLst>
                                            <p:cond delay="0"/>
                                          </p:stCondLst>
                                        </p:cTn>
                                        <p:tgtEl>
                                          <p:spTgt spid="29"/>
                                        </p:tgtEl>
                                        <p:attrNameLst>
                                          <p:attrName>style.visibility</p:attrName>
                                        </p:attrNameLst>
                                      </p:cBhvr>
                                      <p:to>
                                        <p:strVal val="visible"/>
                                      </p:to>
                                    </p:set>
                                    <p:animEffect transition="in" filter="fade">
                                      <p:cBhvr>
                                        <p:cTn id="91" dur="600" decel="100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1" grpId="0" animBg="1"/>
      <p:bldP spid="12" grpId="0" animBg="1"/>
      <p:bldP spid="13" grpId="0" animBg="1"/>
      <p:bldP spid="14" grpId="0" animBg="1"/>
      <p:bldP spid="15" grpId="0" animBg="1"/>
      <p:bldP spid="16" grpId="0" animBg="1"/>
      <p:bldP spid="17" grpId="0" animBg="1"/>
      <p:bldP spid="8" grpId="0" animBg="1"/>
      <p:bldP spid="9" grpId="0" animBg="1"/>
      <p:bldP spid="20" grpId="0" animBg="1"/>
      <p:bldP spid="23" grpId="0" animBg="1"/>
      <p:bldP spid="26" grpId="0" animBg="1"/>
      <p:bldP spid="18" grpId="0" animBg="1"/>
      <p:bldP spid="19" grpId="0" animBg="1"/>
      <p:bldP spid="21" grpId="0" animBg="1"/>
      <p:bldP spid="22" grpId="0" animBg="1"/>
      <p:bldP spid="24" grpId="0" animBg="1"/>
      <p:bldP spid="25" grpId="0" animBg="1"/>
      <p:bldP spid="27" grpId="0" animBg="1"/>
      <p:bldP spid="28" grpId="0" animBg="1"/>
      <p:bldP spid="29" grpId="0" animBg="1"/>
    </p:bldLst>
  </p:timing>
</p:sld>
</file>

<file path=ppt/slides/slide8.xml><?xml version="1.0" encoding="utf-8"?>
<p:sld xmlns:p14="http://schemas.microsoft.com/office/powerpoint/2010/main"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orbA" descr="Decorative background light">    </p:cNvPr>
          <p:cNvPicPr>
            <a:picLocks noChangeAspect="1"/>
          </p:cNvPicPr>
          <p:nvPr/>
        </p:nvPicPr>
        <p:blipFill>
          <a:blip r:embed="rId1"/>
          <a:stretch>
            <a:fillRect/>
          </a:stretch>
        </p:blipFill>
        <p:spPr>
          <a:xfrm>
            <a:off x="-1325880" y="-137160"/>
            <a:ext cx="7772400" cy="7772400"/>
          </a:xfrm>
          <a:prstGeom prst="rect">
            <a:avLst/>
          </a:prstGeom>
        </p:spPr>
      </p:pic>
      <p:pic>
        <p:nvPicPr>
          <p:cNvPr id="3" name="!!orbB" descr="Decorative background light">    </p:cNvPr>
          <p:cNvPicPr>
            <a:picLocks noChangeAspect="1"/>
          </p:cNvPicPr>
          <p:nvPr/>
        </p:nvPicPr>
        <p:blipFill>
          <a:blip r:embed="rId2"/>
          <a:stretch>
            <a:fillRect/>
          </a:stretch>
        </p:blipFill>
        <p:spPr>
          <a:xfrm>
            <a:off x="8778240" y="3749040"/>
            <a:ext cx="5486400" cy="5486400"/>
          </a:xfrm>
          <a:prstGeom prst="rect">
            <a:avLst/>
          </a:prstGeom>
        </p:spPr>
      </p:pic>
      <p:sp>
        <p:nvSpPr>
          <p:cNvPr id="4" name="!!kicker"/>
          <p:cNvSpPr/>
          <p:nvPr>
            <p:ph idx="100" type="body" hasCustomPrompt="1"/>
          </p:nvPr>
        </p:nvSpPr>
        <p:spPr>
          <a:xfrm>
            <a:off x="548640" y="384048"/>
            <a:ext cx="8732520" cy="329184"/>
          </a:xfrm>
          <a:prstGeom prst="rect">
            <a:avLst/>
          </a:prstGeom>
          <a:noFill/>
          <a:ln/>
        </p:spPr>
        <p:txBody>
          <a:bodyPr wrap="square" lIns="0" tIns="0" rIns="0" bIns="0" rtlCol="0" anchor="t"/>
          <a:lstStyle/>
          <a:p>
            <a:pPr algn="l" indent="0" marL="0">
              <a:buNone/>
            </a:pPr>
            <a:r>
              <a:rPr lang="en-US" sz="1500" b="1" spc="300" kern="0" dirty="0">
                <a:solidFill>
                  <a:schemeClr val="accent1"/>
                </a:solidFill>
              </a:rPr>
              <a:t>01 — HISTORY &amp; TYPES</a:t>
            </a:r>
            <a:endParaRPr lang="en-US" sz="1500" dirty="0"/>
          </a:p>
        </p:txBody>
      </p:sp>
      <p:sp>
        <p:nvSpPr>
          <p:cNvPr id="5" name="!!title"/>
          <p:cNvSpPr/>
          <p:nvPr>
            <p:ph idx="101" type="title" hasCustomPrompt="1"/>
          </p:nvPr>
        </p:nvSpPr>
        <p:spPr>
          <a:xfrm>
            <a:off x="548640" y="731520"/>
            <a:ext cx="8732520" cy="786384"/>
          </a:xfrm>
          <a:prstGeom prst="rect">
            <a:avLst/>
          </a:prstGeom>
          <a:noFill/>
          <a:ln/>
        </p:spPr>
        <p:txBody>
          <a:bodyPr wrap="square" lIns="0" tIns="0" rIns="0" bIns="0" rtlCol="0" anchor="t"/>
          <a:lstStyle/>
          <a:p>
            <a:pPr algn="l" indent="0" marL="0">
              <a:buNone/>
            </a:pPr>
            <a:r>
              <a:rPr lang="en-US" sz="3800" b="1" dirty="0">
                <a:solidFill>
                  <a:schemeClr val="tx1"/>
                </a:solidFill>
              </a:rPr>
              <a:t>Gas: mostly a by-product of oil</a:t>
            </a:r>
            <a:endParaRPr lang="en-US" sz="3800" dirty="0"/>
          </a:p>
        </p:txBody>
      </p:sp>
      <p:graphicFrame>
        <p:nvGraphicFramePr>
          <p:cNvPr id="6" name="gastypes_donut" descr=""/>
          <p:cNvGraphicFramePr/>
          <p:nvPr/>
        </p:nvGraphicFramePr>
        <p:xfrm>
          <a:off x="640080" y="1783080"/>
          <a:ext cx="3931920" cy="3931920"/>
        </p:xfrm>
        <a:graphic xmlns:a="http://schemas.openxmlformats.org/drawingml/2006/main">
          <a:graphicData uri="http://schemas.openxmlformats.org/drawingml/2006/chart">
            <c:chart xmlns:c="http://schemas.openxmlformats.org/drawingml/2006/chart" r:id="rId3"/>
          </a:graphicData>
        </a:graphic>
      </p:graphicFrame>
      <p:sp>
        <p:nvSpPr>
          <p:cNvPr id="7" name="gastypes_t_1"/>
          <p:cNvSpPr txBox="1"/>
          <p:nvPr/>
        </p:nvSpPr>
        <p:spPr>
          <a:xfrm>
            <a:off x="1508760" y="3017520"/>
            <a:ext cx="2194560" cy="822960"/>
          </a:xfrm>
          <a:prstGeom prst="rect">
            <a:avLst/>
          </a:prstGeom>
          <a:noFill/>
          <a:ln/>
        </p:spPr>
        <p:txBody>
          <a:bodyPr wrap="square" lIns="0" tIns="0" rIns="0" bIns="0" rtlCol="0" anchor="t"/>
          <a:lstStyle/>
          <a:p>
            <a:pPr algn="ctr" indent="0" marL="0">
              <a:buNone/>
            </a:pPr>
            <a:r>
              <a:rPr lang="en-US" sz="5400" b="1" dirty="0">
                <a:solidFill>
                  <a:schemeClr val="tx1"/>
                </a:solidFill>
                <a:latin typeface="Arial" pitchFamily="34" charset="0"/>
                <a:ea typeface="Arial" pitchFamily="34" charset="-122"/>
                <a:cs typeface="Arial" pitchFamily="34" charset="-120"/>
              </a:rPr>
              <a:t>70%</a:t>
            </a:r>
            <a:endParaRPr lang="en-US" sz="5400" dirty="0"/>
          </a:p>
        </p:txBody>
      </p:sp>
      <p:sp>
        <p:nvSpPr>
          <p:cNvPr id="8" name="gastypes_t_2"/>
          <p:cNvSpPr txBox="1"/>
          <p:nvPr/>
        </p:nvSpPr>
        <p:spPr>
          <a:xfrm>
            <a:off x="1600200" y="3822192"/>
            <a:ext cx="2011680" cy="457200"/>
          </a:xfrm>
          <a:prstGeom prst="rect">
            <a:avLst/>
          </a:prstGeom>
          <a:noFill/>
          <a:ln/>
        </p:spPr>
        <p:txBody>
          <a:bodyPr wrap="square" lIns="0" tIns="0" rIns="0" bIns="0" rtlCol="0" anchor="t"/>
          <a:lstStyle/>
          <a:p>
            <a:pPr algn="ctr" indent="0" marL="0">
              <a:buNone/>
            </a:pPr>
            <a:r>
              <a:rPr lang="en-US" sz="1400" dirty="0">
                <a:solidFill>
                  <a:schemeClr val="tx2"/>
                </a:solidFill>
                <a:latin typeface="Arial" pitchFamily="34" charset="0"/>
                <a:ea typeface="Arial" pitchFamily="34" charset="-122"/>
                <a:cs typeface="Arial" pitchFamily="34" charset="-120"/>
              </a:rPr>
              <a:t>associated gas,</a:t>
            </a:r>
            <a:endParaRPr lang="en-US" sz="1400" dirty="0"/>
          </a:p>
          <a:p>
            <a:pPr algn="ctr" indent="0" marL="0">
              <a:buNone/>
            </a:pPr>
            <a:r>
              <a:rPr lang="en-US" sz="1400" dirty="0">
                <a:solidFill>
                  <a:schemeClr val="tx2"/>
                </a:solidFill>
                <a:latin typeface="Arial" pitchFamily="34" charset="0"/>
                <a:ea typeface="Arial" pitchFamily="34" charset="-122"/>
                <a:cs typeface="Arial" pitchFamily="34" charset="-120"/>
              </a:rPr>
              <a:t>share of 2021 output</a:t>
            </a:r>
            <a:endParaRPr lang="en-US" sz="1400" dirty="0"/>
          </a:p>
        </p:txBody>
      </p:sp>
      <p:sp>
        <p:nvSpPr>
          <p:cNvPr id="9" name="gastypes_t_3"/>
          <p:cNvSpPr txBox="1"/>
          <p:nvPr/>
        </p:nvSpPr>
        <p:spPr>
          <a:xfrm>
            <a:off x="1042416" y="2651760"/>
            <a:ext cx="548640" cy="320040"/>
          </a:xfrm>
          <a:prstGeom prst="rect">
            <a:avLst/>
          </a:prstGeom>
          <a:noFill/>
          <a:ln/>
        </p:spPr>
        <p:txBody>
          <a:bodyPr wrap="square" lIns="0" tIns="0" rIns="0" bIns="0" rtlCol="0" anchor="ctr"/>
          <a:lstStyle/>
          <a:p>
            <a:pPr algn="ctr" indent="0" marL="0">
              <a:buNone/>
            </a:pPr>
            <a:r>
              <a:rPr lang="en-US" sz="1600" b="1" dirty="0">
                <a:solidFill>
                  <a:srgbClr val="0B0B0F"/>
                </a:solidFill>
                <a:latin typeface="Arial" pitchFamily="34" charset="0"/>
                <a:ea typeface="Arial" pitchFamily="34" charset="-122"/>
                <a:cs typeface="Arial" pitchFamily="34" charset="-120"/>
              </a:rPr>
              <a:t>30%</a:t>
            </a:r>
            <a:endParaRPr lang="en-US" sz="1600" dirty="0"/>
          </a:p>
        </p:txBody>
      </p:sp>
      <p:sp>
        <p:nvSpPr>
          <p:cNvPr id="10" name="gastypes_s_4"/>
          <p:cNvSpPr/>
          <p:nvPr/>
        </p:nvSpPr>
        <p:spPr>
          <a:xfrm>
            <a:off x="5257800" y="1874520"/>
            <a:ext cx="731520" cy="731520"/>
          </a:xfrm>
          <a:prstGeom prst="ellipse">
            <a:avLst/>
          </a:prstGeom>
          <a:solidFill>
            <a:srgbClr val="2C2C2E"/>
          </a:solidFill>
          <a:ln/>
        </p:spPr>
      </p:sp>
      <p:pic>
        <p:nvPicPr>
          <p:cNvPr id="11" name="gastypes_i_5" descr="Decorative graphic">    </p:cNvPr>
          <p:cNvPicPr>
            <a:picLocks noChangeAspect="1"/>
          </p:cNvPicPr>
          <p:nvPr/>
        </p:nvPicPr>
        <p:blipFill>
          <a:blip r:embed="rId4"/>
          <a:stretch>
            <a:fillRect/>
          </a:stretch>
        </p:blipFill>
        <p:spPr>
          <a:xfrm>
            <a:off x="5431536" y="2048256"/>
            <a:ext cx="384048" cy="384048"/>
          </a:xfrm>
          <a:prstGeom prst="rect">
            <a:avLst/>
          </a:prstGeom>
        </p:spPr>
      </p:pic>
      <p:sp>
        <p:nvSpPr>
          <p:cNvPr id="12" name="gastypes_t_6"/>
          <p:cNvSpPr txBox="1"/>
          <p:nvPr/>
        </p:nvSpPr>
        <p:spPr>
          <a:xfrm>
            <a:off x="6263640" y="1856232"/>
            <a:ext cx="5394960" cy="411480"/>
          </a:xfrm>
          <a:prstGeom prst="rect">
            <a:avLst/>
          </a:prstGeom>
          <a:noFill/>
          <a:ln/>
        </p:spPr>
        <p:txBody>
          <a:bodyPr wrap="square" lIns="0" tIns="0" rIns="0" bIns="0" rtlCol="0" anchor="t"/>
          <a:lstStyle/>
          <a:p>
            <a:pPr indent="0" marL="0">
              <a:buNone/>
            </a:pPr>
            <a:r>
              <a:rPr lang="en-US" sz="2200" b="1" dirty="0">
                <a:solidFill>
                  <a:schemeClr val="tx1"/>
                </a:solidFill>
                <a:latin typeface="Arial" pitchFamily="34" charset="0"/>
                <a:ea typeface="Arial" pitchFamily="34" charset="-122"/>
                <a:cs typeface="Arial" pitchFamily="34" charset="-120"/>
              </a:rPr>
              <a:t>Associated gas</a:t>
            </a:r>
            <a:endParaRPr lang="en-US" sz="2200" dirty="0"/>
          </a:p>
        </p:txBody>
      </p:sp>
      <p:sp>
        <p:nvSpPr>
          <p:cNvPr id="13" name="gastypes_t_7"/>
          <p:cNvSpPr txBox="1"/>
          <p:nvPr/>
        </p:nvSpPr>
        <p:spPr>
          <a:xfrm>
            <a:off x="6263640" y="2267712"/>
            <a:ext cx="5394960" cy="594360"/>
          </a:xfrm>
          <a:prstGeom prst="rect">
            <a:avLst/>
          </a:prstGeom>
          <a:noFill/>
          <a:ln/>
        </p:spPr>
        <p:txBody>
          <a:bodyPr wrap="square" lIns="0" tIns="0" rIns="0" bIns="0" rtlCol="0" anchor="t"/>
          <a:lstStyle/>
          <a:p>
            <a:pPr indent="0" marL="0">
              <a:buNone/>
            </a:pPr>
            <a:r>
              <a:rPr lang="en-US" sz="1600" dirty="0">
                <a:solidFill>
                  <a:schemeClr val="tx2"/>
                </a:solidFill>
                <a:latin typeface="Arial" pitchFamily="34" charset="0"/>
                <a:ea typeface="Arial" pitchFamily="34" charset="-122"/>
                <a:cs typeface="Arial" pitchFamily="34" charset="-120"/>
              </a:rPr>
              <a:t>Released with crude oil, so its output follows oil quotas</a:t>
            </a:r>
            <a:endParaRPr lang="en-US" sz="1600" dirty="0"/>
          </a:p>
        </p:txBody>
      </p:sp>
      <p:sp>
        <p:nvSpPr>
          <p:cNvPr id="14" name="gastypes_s_8"/>
          <p:cNvSpPr/>
          <p:nvPr/>
        </p:nvSpPr>
        <p:spPr>
          <a:xfrm>
            <a:off x="5257800" y="3063240"/>
            <a:ext cx="731520" cy="731520"/>
          </a:xfrm>
          <a:prstGeom prst="ellipse">
            <a:avLst/>
          </a:prstGeom>
          <a:solidFill>
            <a:srgbClr val="2C2C2E"/>
          </a:solidFill>
          <a:ln/>
        </p:spPr>
      </p:sp>
      <p:pic>
        <p:nvPicPr>
          <p:cNvPr id="15" name="gastypes_i_9" descr="Decorative graphic">    </p:cNvPr>
          <p:cNvPicPr>
            <a:picLocks noChangeAspect="1"/>
          </p:cNvPicPr>
          <p:nvPr/>
        </p:nvPicPr>
        <p:blipFill>
          <a:blip r:embed="rId5"/>
          <a:stretch>
            <a:fillRect/>
          </a:stretch>
        </p:blipFill>
        <p:spPr>
          <a:xfrm>
            <a:off x="5431536" y="3236976"/>
            <a:ext cx="384048" cy="384048"/>
          </a:xfrm>
          <a:prstGeom prst="rect">
            <a:avLst/>
          </a:prstGeom>
        </p:spPr>
      </p:pic>
      <p:sp>
        <p:nvSpPr>
          <p:cNvPr id="16" name="gastypes_t_10"/>
          <p:cNvSpPr txBox="1"/>
          <p:nvPr/>
        </p:nvSpPr>
        <p:spPr>
          <a:xfrm>
            <a:off x="6263640" y="3044952"/>
            <a:ext cx="5394960" cy="411480"/>
          </a:xfrm>
          <a:prstGeom prst="rect">
            <a:avLst/>
          </a:prstGeom>
          <a:noFill/>
          <a:ln/>
        </p:spPr>
        <p:txBody>
          <a:bodyPr wrap="square" lIns="0" tIns="0" rIns="0" bIns="0" rtlCol="0" anchor="t"/>
          <a:lstStyle/>
          <a:p>
            <a:pPr indent="0" marL="0">
              <a:buNone/>
            </a:pPr>
            <a:r>
              <a:rPr lang="en-US" sz="2200" b="1" dirty="0">
                <a:solidFill>
                  <a:schemeClr val="tx1"/>
                </a:solidFill>
                <a:latin typeface="Arial" pitchFamily="34" charset="0"/>
                <a:ea typeface="Arial" pitchFamily="34" charset="-122"/>
                <a:cs typeface="Arial" pitchFamily="34" charset="-120"/>
              </a:rPr>
              <a:t>Non-associated Jurassic gas</a:t>
            </a:r>
            <a:endParaRPr lang="en-US" sz="2200" dirty="0"/>
          </a:p>
        </p:txBody>
      </p:sp>
      <p:sp>
        <p:nvSpPr>
          <p:cNvPr id="17" name="gastypes_t_11"/>
          <p:cNvSpPr txBox="1"/>
          <p:nvPr/>
        </p:nvSpPr>
        <p:spPr>
          <a:xfrm>
            <a:off x="6263640" y="3456432"/>
            <a:ext cx="5394960" cy="594360"/>
          </a:xfrm>
          <a:prstGeom prst="rect">
            <a:avLst/>
          </a:prstGeom>
          <a:noFill/>
          <a:ln/>
        </p:spPr>
        <p:txBody>
          <a:bodyPr wrap="square" lIns="0" tIns="0" rIns="0" bIns="0" rtlCol="0" anchor="t"/>
          <a:lstStyle/>
          <a:p>
            <a:pPr indent="0" marL="0">
              <a:buNone/>
            </a:pPr>
            <a:r>
              <a:rPr lang="en-US" sz="1600" dirty="0">
                <a:solidFill>
                  <a:schemeClr val="tx2"/>
                </a:solidFill>
                <a:latin typeface="Arial" pitchFamily="34" charset="0"/>
                <a:ea typeface="Arial" pitchFamily="34" charset="-122"/>
                <a:cs typeface="Arial" pitchFamily="34" charset="-120"/>
              </a:rPr>
              <a:t>Deep, high-pressure sour gas in North Kuwait, since 2018</a:t>
            </a:r>
            <a:endParaRPr lang="en-US" sz="1600" dirty="0"/>
          </a:p>
        </p:txBody>
      </p:sp>
      <p:sp>
        <p:nvSpPr>
          <p:cNvPr id="18" name="gastypes_s_12"/>
          <p:cNvSpPr/>
          <p:nvPr/>
        </p:nvSpPr>
        <p:spPr>
          <a:xfrm>
            <a:off x="5257800" y="4251960"/>
            <a:ext cx="731520" cy="731520"/>
          </a:xfrm>
          <a:prstGeom prst="ellipse">
            <a:avLst/>
          </a:prstGeom>
          <a:solidFill>
            <a:srgbClr val="2C2C2E"/>
          </a:solidFill>
          <a:ln/>
        </p:spPr>
      </p:sp>
      <p:pic>
        <p:nvPicPr>
          <p:cNvPr id="19" name="gastypes_i_13" descr="Decorative graphic">    </p:cNvPr>
          <p:cNvPicPr>
            <a:picLocks noChangeAspect="1"/>
          </p:cNvPicPr>
          <p:nvPr/>
        </p:nvPicPr>
        <p:blipFill>
          <a:blip r:embed="rId6"/>
          <a:stretch>
            <a:fillRect/>
          </a:stretch>
        </p:blipFill>
        <p:spPr>
          <a:xfrm>
            <a:off x="5431536" y="4425696"/>
            <a:ext cx="384048" cy="384048"/>
          </a:xfrm>
          <a:prstGeom prst="rect">
            <a:avLst/>
          </a:prstGeom>
        </p:spPr>
      </p:pic>
      <p:sp>
        <p:nvSpPr>
          <p:cNvPr id="20" name="gastypes_t_14"/>
          <p:cNvSpPr txBox="1"/>
          <p:nvPr/>
        </p:nvSpPr>
        <p:spPr>
          <a:xfrm>
            <a:off x="6263640" y="4233672"/>
            <a:ext cx="5394960" cy="411480"/>
          </a:xfrm>
          <a:prstGeom prst="rect">
            <a:avLst/>
          </a:prstGeom>
          <a:noFill/>
          <a:ln/>
        </p:spPr>
        <p:txBody>
          <a:bodyPr wrap="square" lIns="0" tIns="0" rIns="0" bIns="0" rtlCol="0" anchor="t"/>
          <a:lstStyle/>
          <a:p>
            <a:pPr indent="0" marL="0">
              <a:buNone/>
            </a:pPr>
            <a:r>
              <a:rPr lang="en-US" sz="2200" b="1" dirty="0">
                <a:solidFill>
                  <a:schemeClr val="tx1"/>
                </a:solidFill>
                <a:latin typeface="Arial" pitchFamily="34" charset="0"/>
                <a:ea typeface="Arial" pitchFamily="34" charset="-122"/>
                <a:cs typeface="Arial" pitchFamily="34" charset="-120"/>
              </a:rPr>
              <a:t>Imported LNG</a:t>
            </a:r>
            <a:endParaRPr lang="en-US" sz="2200" dirty="0"/>
          </a:p>
        </p:txBody>
      </p:sp>
      <p:sp>
        <p:nvSpPr>
          <p:cNvPr id="21" name="gastypes_t_15"/>
          <p:cNvSpPr txBox="1"/>
          <p:nvPr/>
        </p:nvSpPr>
        <p:spPr>
          <a:xfrm>
            <a:off x="6263640" y="4645152"/>
            <a:ext cx="5394960" cy="594360"/>
          </a:xfrm>
          <a:prstGeom prst="rect">
            <a:avLst/>
          </a:prstGeom>
          <a:noFill/>
          <a:ln/>
        </p:spPr>
        <p:txBody>
          <a:bodyPr wrap="square" lIns="0" tIns="0" rIns="0" bIns="0" rtlCol="0" anchor="t"/>
          <a:lstStyle/>
          <a:p>
            <a:pPr indent="0" marL="0">
              <a:buNone/>
            </a:pPr>
            <a:r>
              <a:rPr lang="en-US" sz="1600" dirty="0">
                <a:solidFill>
                  <a:schemeClr val="tx2"/>
                </a:solidFill>
                <a:latin typeface="Arial" pitchFamily="34" charset="0"/>
                <a:ea typeface="Arial" pitchFamily="34" charset="-122"/>
                <a:cs typeface="Arial" pitchFamily="34" charset="-120"/>
              </a:rPr>
              <a:t>Imported since 2009; about 40% of the gas used in 2024</a:t>
            </a:r>
            <a:endParaRPr lang="en-US" sz="1600" dirty="0"/>
          </a:p>
        </p:txBody>
      </p:sp>
      <p:sp>
        <p:nvSpPr>
          <p:cNvPr id="22" name="gastypes_t_16"/>
          <p:cNvSpPr txBox="1"/>
          <p:nvPr/>
        </p:nvSpPr>
        <p:spPr>
          <a:xfrm>
            <a:off x="5257800" y="5440680"/>
            <a:ext cx="6400800" cy="365760"/>
          </a:xfrm>
          <a:prstGeom prst="rect">
            <a:avLst/>
          </a:prstGeom>
          <a:noFill/>
          <a:ln/>
        </p:spPr>
        <p:txBody>
          <a:bodyPr wrap="square" lIns="0" tIns="0" rIns="0" bIns="0" rtlCol="0" anchor="t"/>
          <a:lstStyle/>
          <a:p>
            <a:pPr indent="0" marL="0">
              <a:buNone/>
            </a:pPr>
            <a:r>
              <a:rPr lang="en-US" sz="1700" b="1" dirty="0">
                <a:solidFill>
                  <a:schemeClr val="accent2"/>
                </a:solidFill>
                <a:latin typeface="Arial" pitchFamily="34" charset="0"/>
                <a:ea typeface="Arial" pitchFamily="34" charset="-122"/>
                <a:cs typeface="Arial" pitchFamily="34" charset="-120"/>
              </a:rPr>
              <a:t>63 Tcf </a:t>
            </a:r>
            <a:pPr indent="0" marL="0">
              <a:buNone/>
            </a:pPr>
            <a:r>
              <a:rPr lang="en-US" sz="1700" dirty="0">
                <a:solidFill>
                  <a:schemeClr val="tx2"/>
                </a:solidFill>
                <a:latin typeface="Arial" pitchFamily="34" charset="0"/>
                <a:ea typeface="Arial" pitchFamily="34" charset="-122"/>
                <a:cs typeface="Arial" pitchFamily="34" charset="-120"/>
              </a:rPr>
              <a:t>(1.78 trillion m³) proven gas reserves, &lt; 1% of world</a:t>
            </a:r>
            <a:endParaRPr lang="en-US" sz="1700" dirty="0"/>
          </a:p>
        </p:txBody>
      </p:sp>
      <p:sp>
        <p:nvSpPr>
          <p:cNvPr id="23" name="!!source"/>
          <p:cNvSpPr txBox="1"/>
          <p:nvPr/>
        </p:nvSpPr>
        <p:spPr>
          <a:xfrm>
            <a:off x="548640" y="5943600"/>
            <a:ext cx="9692640" cy="274320"/>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Sources: EIA (2023a); Energy Institute (2025); S&amp;P Global (2018a); OPEC (2025b).</a:t>
            </a:r>
            <a:endParaRPr lang="en-US" sz="1200" dirty="0"/>
          </a:p>
        </p:txBody>
      </p:sp>
      <p:sp>
        <p:nvSpPr>
          <p:cNvPr id="24" name="!!home_bg"/>
          <p:cNvSpPr/>
          <p:nvPr/>
        </p:nvSpPr>
        <p:spPr>
          <a:xfrm>
            <a:off x="10637215" y="6272784"/>
            <a:ext cx="384048" cy="384048"/>
          </a:xfrm>
          <a:prstGeom prst="roundRect">
            <a:avLst>
              <a:gd name="adj" fmla="val 23810"/>
            </a:avLst>
          </a:prstGeom>
          <a:solidFill>
            <a:srgbClr val="2C2C2E"/>
          </a:solidFill>
          <a:ln/>
        </p:spPr>
      </p:sp>
      <p:pic>
        <p:nvPicPr>
          <p:cNvPr id="25" name="!!home_ic" descr="Decorative graphic">    </p:cNvPr>
          <p:cNvPicPr>
            <a:picLocks noChangeAspect="1"/>
          </p:cNvPicPr>
          <p:nvPr/>
        </p:nvPicPr>
        <p:blipFill>
          <a:blip r:embed="rId7"/>
          <a:stretch>
            <a:fillRect/>
          </a:stretch>
        </p:blipFill>
        <p:spPr>
          <a:xfrm>
            <a:off x="10719511" y="6355080"/>
            <a:ext cx="219456" cy="219456"/>
          </a:xfrm>
          <a:prstGeom prst="rect">
            <a:avLst/>
          </a:prstGeom>
        </p:spPr>
      </p:pic>
      <p:sp>
        <p:nvSpPr>
          <p:cNvPr id="26" name="!!home_hit">
            <a:hlinkClick r:id="rId8" tooltip="Back to contents" action="ppaction://hlinksldjump" highlightClick="1"/>
          </p:cNvPr>
          <p:cNvSpPr/>
          <p:nvPr/>
        </p:nvSpPr>
        <p:spPr>
          <a:xfrm>
            <a:off x="10637215" y="6272784"/>
            <a:ext cx="384048" cy="384048"/>
          </a:xfrm>
          <a:prstGeom prst="roundRect">
            <a:avLst>
              <a:gd name="adj" fmla="val 23810"/>
            </a:avLst>
          </a:prstGeom>
          <a:solidFill>
            <a:srgbClr val="000000">
              <a:alpha val="0"/>
            </a:srgbClr>
          </a:solidFill>
          <a:ln/>
        </p:spPr>
      </p:sp>
      <p:sp>
        <p:nvSpPr>
          <p:cNvPr id="28" name="!!footer"/>
          <p:cNvSpPr txBox="1"/>
          <p:nvPr/>
        </p:nvSpPr>
        <p:spPr>
          <a:xfrm>
            <a:off x="548640" y="6327648"/>
            <a:ext cx="5486400" cy="292608"/>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Kuwait Oil &amp; Gas  ·  EGCH2230</a:t>
            </a:r>
            <a:endParaRPr lang="en-US" sz="1200" dirty="0"/>
          </a:p>
        </p:txBody>
      </p:sp>
      <p:sp>
        <p:nvSpPr>
          <p:cNvPr id="29" name="!!num"/>
          <p:cNvSpPr txBox="1"/>
          <p:nvPr/>
        </p:nvSpPr>
        <p:spPr>
          <a:xfrm>
            <a:off x="11094415" y="6327648"/>
            <a:ext cx="548640" cy="292608"/>
          </a:xfrm>
          <a:prstGeom prst="rect">
            <a:avLst/>
          </a:prstGeom>
          <a:noFill/>
          <a:ln/>
        </p:spPr>
        <p:txBody>
          <a:bodyPr wrap="square" lIns="0" tIns="0" rIns="0" bIns="0" rtlCol="0" anchor="ctr"/>
          <a:lstStyle/>
          <a:p>
            <a:pPr algn="r" indent="0" marL="0">
              <a:buNone/>
            </a:pPr>
            <a:r>
              <a:rPr lang="en-US" sz="1200" dirty="0">
                <a:solidFill>
                  <a:schemeClr val="tx2"/>
                </a:solidFill>
                <a:latin typeface="Arial" pitchFamily="34" charset="0"/>
                <a:ea typeface="Arial" pitchFamily="34" charset="-122"/>
                <a:cs typeface="Arial" pitchFamily="34" charset="-120"/>
              </a:rPr>
              <a:t>8</a:t>
            </a:r>
            <a:endParaRPr lang="en-US" sz="1200" dirty="0"/>
          </a:p>
        </p:txBody>
      </p:sp>
      <p:pic>
        <p:nvPicPr>
          <p:cNvPr id="30" name="!!badge" descr="University of Technology and Applied Sciences, Salalah">    </p:cNvPr>
          <p:cNvPicPr>
            <a:picLocks noChangeAspect="1"/>
          </p:cNvPicPr>
          <p:nvPr/>
        </p:nvPicPr>
        <p:blipFill>
          <a:blip r:embed="rId9"/>
          <a:stretch>
            <a:fillRect/>
          </a:stretch>
        </p:blipFill>
        <p:spPr>
          <a:xfrm>
            <a:off x="9677095" y="274320"/>
            <a:ext cx="1965960" cy="80987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0" presetClass="path" presetSubtype="0" fill="hold" grpId="0" nodeType="afterEffect" repeatCount="indefinite" autoRev="1">
                                  <p:stCondLst>
                                    <p:cond delay="0"/>
                                  </p:stCondLst>
                                  <p:childTnLst>
                                    <p:animMotion origin="layout" path="M 0 0 L 0.0350 -0.0300 E" pathEditMode="relative" ptsTypes="">
                                      <p:cBhvr>
                                        <p:cTn id="5" dur="13000" fill="hold" accel="50000" decel="50000"/>
                                        <p:tgtEl>
                                          <p:spTgt spid="2"/>
                                        </p:tgtEl>
                                        <p:attrNameLst>
                                          <p:attrName>ppt_x</p:attrName>
                                          <p:attrName>ppt_y</p:attrName>
                                        </p:attrNameLst>
                                      </p:cBhvr>
                                      <p:rCtr x="0" y="0"/>
                                    </p:animMotion>
                                  </p:childTnLst>
                                </p:cTn>
                              </p:par>
                              <p:par>
                                <p:cTn id="8" presetID="0" presetClass="path" presetSubtype="0" fill="hold" grpId="0" nodeType="withEffect" repeatCount="indefinite" autoRev="1">
                                  <p:stCondLst>
                                    <p:cond delay="0"/>
                                  </p:stCondLst>
                                  <p:childTnLst>
                                    <p:animMotion origin="layout" path="M 0 0 L -0.0300 0.0250 E" pathEditMode="relative" ptsTypes="">
                                      <p:cBhvr>
                                        <p:cTn id="7" dur="15000" fill="hold" accel="50000" decel="50000"/>
                                        <p:tgtEl>
                                          <p:spTgt spid="3"/>
                                        </p:tgtEl>
                                        <p:attrNameLst>
                                          <p:attrName>ppt_x</p:attrName>
                                          <p:attrName>ppt_y</p:attrName>
                                        </p:attrNameLst>
                                      </p:cBhvr>
                                      <p:rCtr x="0" y="0"/>
                                    </p:animMotion>
                                  </p:childTnLst>
                                </p:cTn>
                              </p:par>
                              <p:par>
                                <p:cTn id="11" presetID="21" presetClass="entr" presetSubtype="1" fill="hold" grpId="0" nodeType="withEffect">
                                  <p:stCondLst>
                                    <p:cond delay="300"/>
                                  </p:stCondLst>
                                  <p:childTnLst>
                                    <p:set>
                                      <p:cBhvr>
                                        <p:cTn id="9" dur="1" fill="hold">
                                          <p:stCondLst>
                                            <p:cond delay="0"/>
                                          </p:stCondLst>
                                        </p:cTn>
                                        <p:tgtEl>
                                          <p:spTgt spid="6"/>
                                        </p:tgtEl>
                                        <p:attrNameLst>
                                          <p:attrName>style.visibility</p:attrName>
                                        </p:attrNameLst>
                                      </p:cBhvr>
                                      <p:to>
                                        <p:strVal val="visible"/>
                                      </p:to>
                                    </p:set>
                                    <p:animEffect transition="in" filter="wheel(1)">
                                      <p:cBhvr>
                                        <p:cTn id="10" dur="1600" decel="100000"/>
                                        <p:tgtEl>
                                          <p:spTgt spid="6"/>
                                        </p:tgtEl>
                                      </p:cBhvr>
                                    </p:animEffect>
                                  </p:childTnLst>
                                </p:cTn>
                              </p:par>
                              <p:par>
                                <p:cTn id="16" presetID="53" presetClass="entr" presetSubtype="16" fill="hold" grpId="0" nodeType="withEffect">
                                  <p:stCondLst>
                                    <p:cond delay="1100"/>
                                  </p:stCondLst>
                                  <p:childTnLst>
                                    <p:set>
                                      <p:cBhvr>
                                        <p:cTn id="12" dur="1" fill="hold">
                                          <p:stCondLst>
                                            <p:cond delay="0"/>
                                          </p:stCondLst>
                                        </p:cTn>
                                        <p:tgtEl>
                                          <p:spTgt spid="7"/>
                                        </p:tgtEl>
                                        <p:attrNameLst>
                                          <p:attrName>style.visibility</p:attrName>
                                        </p:attrNameLst>
                                      </p:cBhvr>
                                      <p:to>
                                        <p:strVal val="visible"/>
                                      </p:to>
                                    </p:set>
                                    <p:anim calcmode="lin" valueType="num">
                                      <p:cBhvr>
                                        <p:cTn id="13" dur="900" fill="hold" decel="100000"/>
                                        <p:tgtEl>
                                          <p:spTgt spid="7"/>
                                        </p:tgtEl>
                                        <p:attrNameLst>
                                          <p:attrName>ppt_w</p:attrName>
                                        </p:attrNameLst>
                                      </p:cBhvr>
                                      <p:tavLst>
                                        <p:tav tm="0">
                                          <p:val>
                                            <p:strVal val="#ppt_w*0.850"/>
                                          </p:val>
                                        </p:tav>
                                        <p:tav tm="100000">
                                          <p:val>
                                            <p:strVal val="#ppt_w"/>
                                          </p:val>
                                        </p:tav>
                                      </p:tavLst>
                                    </p:anim>
                                    <p:anim calcmode="lin" valueType="num">
                                      <p:cBhvr>
                                        <p:cTn id="14" dur="900" fill="hold" decel="100000"/>
                                        <p:tgtEl>
                                          <p:spTgt spid="7"/>
                                        </p:tgtEl>
                                        <p:attrNameLst>
                                          <p:attrName>ppt_h</p:attrName>
                                        </p:attrNameLst>
                                      </p:cBhvr>
                                      <p:tavLst>
                                        <p:tav tm="0">
                                          <p:val>
                                            <p:strVal val="#ppt_h*0.850"/>
                                          </p:val>
                                        </p:tav>
                                        <p:tav tm="100000">
                                          <p:val>
                                            <p:strVal val="#ppt_h"/>
                                          </p:val>
                                        </p:tav>
                                      </p:tavLst>
                                    </p:anim>
                                    <p:animEffect transition="in" filter="fade">
                                      <p:cBhvr>
                                        <p:cTn id="15" dur="630" decel="100000"/>
                                        <p:tgtEl>
                                          <p:spTgt spid="7"/>
                                        </p:tgtEl>
                                      </p:cBhvr>
                                    </p:animEffect>
                                  </p:childTnLst>
                                </p:cTn>
                              </p:par>
                              <p:par>
                                <p:cTn id="19" presetID="10" presetClass="entr" presetSubtype="0" fill="hold" grpId="0" nodeType="withEffect">
                                  <p:stCondLst>
                                    <p:cond delay="125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600" decel="100000"/>
                                        <p:tgtEl>
                                          <p:spTgt spid="8"/>
                                        </p:tgtEl>
                                      </p:cBhvr>
                                    </p:animEffect>
                                  </p:childTnLst>
                                </p:cTn>
                              </p:par>
                              <p:par>
                                <p:cTn id="22" presetID="10" presetClass="entr" presetSubtype="0" fill="hold" grpId="0" nodeType="withEffect">
                                  <p:stCondLst>
                                    <p:cond delay="125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600" decel="100000"/>
                                        <p:tgtEl>
                                          <p:spTgt spid="9"/>
                                        </p:tgtEl>
                                      </p:cBhvr>
                                    </p:animEffect>
                                  </p:childTnLst>
                                </p:cTn>
                              </p:par>
                              <p:par>
                                <p:cTn id="27" presetID="53" presetClass="entr" presetSubtype="16" fill="hold" grpId="0" nodeType="withEffect">
                                  <p:stCondLst>
                                    <p:cond delay="1450"/>
                                  </p:stCondLst>
                                  <p:childTnLst>
                                    <p:set>
                                      <p:cBhvr>
                                        <p:cTn id="23" dur="1" fill="hold">
                                          <p:stCondLst>
                                            <p:cond delay="0"/>
                                          </p:stCondLst>
                                        </p:cTn>
                                        <p:tgtEl>
                                          <p:spTgt spid="10"/>
                                        </p:tgtEl>
                                        <p:attrNameLst>
                                          <p:attrName>style.visibility</p:attrName>
                                        </p:attrNameLst>
                                      </p:cBhvr>
                                      <p:to>
                                        <p:strVal val="visible"/>
                                      </p:to>
                                    </p:set>
                                    <p:anim calcmode="lin" valueType="num">
                                      <p:cBhvr>
                                        <p:cTn id="24" dur="800" fill="hold" decel="100000"/>
                                        <p:tgtEl>
                                          <p:spTgt spid="10"/>
                                        </p:tgtEl>
                                        <p:attrNameLst>
                                          <p:attrName>ppt_w</p:attrName>
                                        </p:attrNameLst>
                                      </p:cBhvr>
                                      <p:tavLst>
                                        <p:tav tm="0">
                                          <p:val>
                                            <p:strVal val="#ppt_w*0.800"/>
                                          </p:val>
                                        </p:tav>
                                        <p:tav tm="100000">
                                          <p:val>
                                            <p:strVal val="#ppt_w"/>
                                          </p:val>
                                        </p:tav>
                                      </p:tavLst>
                                    </p:anim>
                                    <p:anim calcmode="lin" valueType="num">
                                      <p:cBhvr>
                                        <p:cTn id="25" dur="800" fill="hold" decel="100000"/>
                                        <p:tgtEl>
                                          <p:spTgt spid="10"/>
                                        </p:tgtEl>
                                        <p:attrNameLst>
                                          <p:attrName>ppt_h</p:attrName>
                                        </p:attrNameLst>
                                      </p:cBhvr>
                                      <p:tavLst>
                                        <p:tav tm="0">
                                          <p:val>
                                            <p:strVal val="#ppt_h*0.800"/>
                                          </p:val>
                                        </p:tav>
                                        <p:tav tm="100000">
                                          <p:val>
                                            <p:strVal val="#ppt_h"/>
                                          </p:val>
                                        </p:tav>
                                      </p:tavLst>
                                    </p:anim>
                                    <p:animEffect transition="in" filter="fade">
                                      <p:cBhvr>
                                        <p:cTn id="26" dur="560" decel="100000"/>
                                        <p:tgtEl>
                                          <p:spTgt spid="10"/>
                                        </p:tgtEl>
                                      </p:cBhvr>
                                    </p:animEffect>
                                  </p:childTnLst>
                                </p:cTn>
                              </p:par>
                              <p:par>
                                <p:cTn id="32" presetID="53" presetClass="entr" presetSubtype="16" fill="hold" grpId="0" nodeType="withEffect">
                                  <p:stCondLst>
                                    <p:cond delay="1450"/>
                                  </p:stCondLst>
                                  <p:childTnLst>
                                    <p:set>
                                      <p:cBhvr>
                                        <p:cTn id="28" dur="1" fill="hold">
                                          <p:stCondLst>
                                            <p:cond delay="0"/>
                                          </p:stCondLst>
                                        </p:cTn>
                                        <p:tgtEl>
                                          <p:spTgt spid="11"/>
                                        </p:tgtEl>
                                        <p:attrNameLst>
                                          <p:attrName>style.visibility</p:attrName>
                                        </p:attrNameLst>
                                      </p:cBhvr>
                                      <p:to>
                                        <p:strVal val="visible"/>
                                      </p:to>
                                    </p:set>
                                    <p:anim calcmode="lin" valueType="num">
                                      <p:cBhvr>
                                        <p:cTn id="29" dur="800" fill="hold" decel="100000"/>
                                        <p:tgtEl>
                                          <p:spTgt spid="11"/>
                                        </p:tgtEl>
                                        <p:attrNameLst>
                                          <p:attrName>ppt_w</p:attrName>
                                        </p:attrNameLst>
                                      </p:cBhvr>
                                      <p:tavLst>
                                        <p:tav tm="0">
                                          <p:val>
                                            <p:strVal val="#ppt_w*0.800"/>
                                          </p:val>
                                        </p:tav>
                                        <p:tav tm="100000">
                                          <p:val>
                                            <p:strVal val="#ppt_w"/>
                                          </p:val>
                                        </p:tav>
                                      </p:tavLst>
                                    </p:anim>
                                    <p:anim calcmode="lin" valueType="num">
                                      <p:cBhvr>
                                        <p:cTn id="30" dur="800" fill="hold" decel="100000"/>
                                        <p:tgtEl>
                                          <p:spTgt spid="11"/>
                                        </p:tgtEl>
                                        <p:attrNameLst>
                                          <p:attrName>ppt_h</p:attrName>
                                        </p:attrNameLst>
                                      </p:cBhvr>
                                      <p:tavLst>
                                        <p:tav tm="0">
                                          <p:val>
                                            <p:strVal val="#ppt_h*0.800"/>
                                          </p:val>
                                        </p:tav>
                                        <p:tav tm="100000">
                                          <p:val>
                                            <p:strVal val="#ppt_h"/>
                                          </p:val>
                                        </p:tav>
                                      </p:tavLst>
                                    </p:anim>
                                    <p:animEffect transition="in" filter="fade">
                                      <p:cBhvr>
                                        <p:cTn id="31" dur="560" decel="100000"/>
                                        <p:tgtEl>
                                          <p:spTgt spid="11"/>
                                        </p:tgtEl>
                                      </p:cBhvr>
                                    </p:animEffect>
                                  </p:childTnLst>
                                </p:cTn>
                              </p:par>
                              <p:par>
                                <p:cTn id="37" presetID="42" presetClass="entr" presetSubtype="0" fill="hold" grpId="0" nodeType="withEffect">
                                  <p:stCondLst>
                                    <p:cond delay="153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640" decel="100000"/>
                                        <p:tgtEl>
                                          <p:spTgt spid="12"/>
                                        </p:tgtEl>
                                      </p:cBhvr>
                                    </p:animEffect>
                                    <p:anim calcmode="lin" valueType="num">
                                      <p:cBhvr>
                                        <p:cTn id="35" dur="800" fill="hold" decel="100000"/>
                                        <p:tgtEl>
                                          <p:spTgt spid="12"/>
                                        </p:tgtEl>
                                        <p:attrNameLst>
                                          <p:attrName>ppt_x</p:attrName>
                                        </p:attrNameLst>
                                      </p:cBhvr>
                                      <p:tavLst>
                                        <p:tav tm="0">
                                          <p:val>
                                            <p:strVal val="#ppt_x"/>
                                          </p:val>
                                        </p:tav>
                                        <p:tav tm="100000">
                                          <p:val>
                                            <p:strVal val="#ppt_x"/>
                                          </p:val>
                                        </p:tav>
                                      </p:tavLst>
                                    </p:anim>
                                    <p:anim calcmode="lin" valueType="num">
                                      <p:cBhvr>
                                        <p:cTn id="36" dur="800" fill="hold" decel="100000"/>
                                        <p:tgtEl>
                                          <p:spTgt spid="12"/>
                                        </p:tgtEl>
                                        <p:attrNameLst>
                                          <p:attrName>ppt_y</p:attrName>
                                        </p:attrNameLst>
                                      </p:cBhvr>
                                      <p:tavLst>
                                        <p:tav tm="0">
                                          <p:val>
                                            <p:strVal val="#ppt_y+0.0250"/>
                                          </p:val>
                                        </p:tav>
                                        <p:tav tm="100000">
                                          <p:val>
                                            <p:strVal val="#ppt_y"/>
                                          </p:val>
                                        </p:tav>
                                      </p:tavLst>
                                    </p:anim>
                                  </p:childTnLst>
                                </p:cTn>
                              </p:par>
                              <p:par>
                                <p:cTn id="42" presetID="53" presetClass="entr" presetSubtype="16" fill="hold" grpId="0" nodeType="withEffect">
                                  <p:stCondLst>
                                    <p:cond delay="1610"/>
                                  </p:stCondLst>
                                  <p:childTnLst>
                                    <p:set>
                                      <p:cBhvr>
                                        <p:cTn id="38" dur="1" fill="hold">
                                          <p:stCondLst>
                                            <p:cond delay="0"/>
                                          </p:stCondLst>
                                        </p:cTn>
                                        <p:tgtEl>
                                          <p:spTgt spid="14"/>
                                        </p:tgtEl>
                                        <p:attrNameLst>
                                          <p:attrName>style.visibility</p:attrName>
                                        </p:attrNameLst>
                                      </p:cBhvr>
                                      <p:to>
                                        <p:strVal val="visible"/>
                                      </p:to>
                                    </p:set>
                                    <p:anim calcmode="lin" valueType="num">
                                      <p:cBhvr>
                                        <p:cTn id="39" dur="800" fill="hold" decel="100000"/>
                                        <p:tgtEl>
                                          <p:spTgt spid="14"/>
                                        </p:tgtEl>
                                        <p:attrNameLst>
                                          <p:attrName>ppt_w</p:attrName>
                                        </p:attrNameLst>
                                      </p:cBhvr>
                                      <p:tavLst>
                                        <p:tav tm="0">
                                          <p:val>
                                            <p:strVal val="#ppt_w*0.800"/>
                                          </p:val>
                                        </p:tav>
                                        <p:tav tm="100000">
                                          <p:val>
                                            <p:strVal val="#ppt_w"/>
                                          </p:val>
                                        </p:tav>
                                      </p:tavLst>
                                    </p:anim>
                                    <p:anim calcmode="lin" valueType="num">
                                      <p:cBhvr>
                                        <p:cTn id="40" dur="800" fill="hold" decel="100000"/>
                                        <p:tgtEl>
                                          <p:spTgt spid="14"/>
                                        </p:tgtEl>
                                        <p:attrNameLst>
                                          <p:attrName>ppt_h</p:attrName>
                                        </p:attrNameLst>
                                      </p:cBhvr>
                                      <p:tavLst>
                                        <p:tav tm="0">
                                          <p:val>
                                            <p:strVal val="#ppt_h*0.800"/>
                                          </p:val>
                                        </p:tav>
                                        <p:tav tm="100000">
                                          <p:val>
                                            <p:strVal val="#ppt_h"/>
                                          </p:val>
                                        </p:tav>
                                      </p:tavLst>
                                    </p:anim>
                                    <p:animEffect transition="in" filter="fade">
                                      <p:cBhvr>
                                        <p:cTn id="41" dur="560" decel="100000"/>
                                        <p:tgtEl>
                                          <p:spTgt spid="14"/>
                                        </p:tgtEl>
                                      </p:cBhvr>
                                    </p:animEffect>
                                  </p:childTnLst>
                                </p:cTn>
                              </p:par>
                              <p:par>
                                <p:cTn id="47" presetID="53" presetClass="entr" presetSubtype="16" fill="hold" grpId="0" nodeType="withEffect">
                                  <p:stCondLst>
                                    <p:cond delay="1610"/>
                                  </p:stCondLst>
                                  <p:childTnLst>
                                    <p:set>
                                      <p:cBhvr>
                                        <p:cTn id="43" dur="1" fill="hold">
                                          <p:stCondLst>
                                            <p:cond delay="0"/>
                                          </p:stCondLst>
                                        </p:cTn>
                                        <p:tgtEl>
                                          <p:spTgt spid="15"/>
                                        </p:tgtEl>
                                        <p:attrNameLst>
                                          <p:attrName>style.visibility</p:attrName>
                                        </p:attrNameLst>
                                      </p:cBhvr>
                                      <p:to>
                                        <p:strVal val="visible"/>
                                      </p:to>
                                    </p:set>
                                    <p:anim calcmode="lin" valueType="num">
                                      <p:cBhvr>
                                        <p:cTn id="44" dur="800" fill="hold" decel="100000"/>
                                        <p:tgtEl>
                                          <p:spTgt spid="15"/>
                                        </p:tgtEl>
                                        <p:attrNameLst>
                                          <p:attrName>ppt_w</p:attrName>
                                        </p:attrNameLst>
                                      </p:cBhvr>
                                      <p:tavLst>
                                        <p:tav tm="0">
                                          <p:val>
                                            <p:strVal val="#ppt_w*0.800"/>
                                          </p:val>
                                        </p:tav>
                                        <p:tav tm="100000">
                                          <p:val>
                                            <p:strVal val="#ppt_w"/>
                                          </p:val>
                                        </p:tav>
                                      </p:tavLst>
                                    </p:anim>
                                    <p:anim calcmode="lin" valueType="num">
                                      <p:cBhvr>
                                        <p:cTn id="45" dur="800" fill="hold" decel="100000"/>
                                        <p:tgtEl>
                                          <p:spTgt spid="15"/>
                                        </p:tgtEl>
                                        <p:attrNameLst>
                                          <p:attrName>ppt_h</p:attrName>
                                        </p:attrNameLst>
                                      </p:cBhvr>
                                      <p:tavLst>
                                        <p:tav tm="0">
                                          <p:val>
                                            <p:strVal val="#ppt_h*0.800"/>
                                          </p:val>
                                        </p:tav>
                                        <p:tav tm="100000">
                                          <p:val>
                                            <p:strVal val="#ppt_h"/>
                                          </p:val>
                                        </p:tav>
                                      </p:tavLst>
                                    </p:anim>
                                    <p:animEffect transition="in" filter="fade">
                                      <p:cBhvr>
                                        <p:cTn id="46" dur="560" decel="100000"/>
                                        <p:tgtEl>
                                          <p:spTgt spid="15"/>
                                        </p:tgtEl>
                                      </p:cBhvr>
                                    </p:animEffect>
                                  </p:childTnLst>
                                </p:cTn>
                              </p:par>
                              <p:par>
                                <p:cTn id="52" presetID="42" presetClass="entr" presetSubtype="0" fill="hold" grpId="0" nodeType="withEffect">
                                  <p:stCondLst>
                                    <p:cond delay="163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640" decel="100000"/>
                                        <p:tgtEl>
                                          <p:spTgt spid="13"/>
                                        </p:tgtEl>
                                      </p:cBhvr>
                                    </p:animEffect>
                                    <p:anim calcmode="lin" valueType="num">
                                      <p:cBhvr>
                                        <p:cTn id="50" dur="800" fill="hold" decel="100000"/>
                                        <p:tgtEl>
                                          <p:spTgt spid="13"/>
                                        </p:tgtEl>
                                        <p:attrNameLst>
                                          <p:attrName>ppt_x</p:attrName>
                                        </p:attrNameLst>
                                      </p:cBhvr>
                                      <p:tavLst>
                                        <p:tav tm="0">
                                          <p:val>
                                            <p:strVal val="#ppt_x"/>
                                          </p:val>
                                        </p:tav>
                                        <p:tav tm="100000">
                                          <p:val>
                                            <p:strVal val="#ppt_x"/>
                                          </p:val>
                                        </p:tav>
                                      </p:tavLst>
                                    </p:anim>
                                    <p:anim calcmode="lin" valueType="num">
                                      <p:cBhvr>
                                        <p:cTn id="51" dur="800" fill="hold" decel="100000"/>
                                        <p:tgtEl>
                                          <p:spTgt spid="13"/>
                                        </p:tgtEl>
                                        <p:attrNameLst>
                                          <p:attrName>ppt_y</p:attrName>
                                        </p:attrNameLst>
                                      </p:cBhvr>
                                      <p:tavLst>
                                        <p:tav tm="0">
                                          <p:val>
                                            <p:strVal val="#ppt_y+0.0250"/>
                                          </p:val>
                                        </p:tav>
                                        <p:tav tm="100000">
                                          <p:val>
                                            <p:strVal val="#ppt_y"/>
                                          </p:val>
                                        </p:tav>
                                      </p:tavLst>
                                    </p:anim>
                                  </p:childTnLst>
                                </p:cTn>
                              </p:par>
                              <p:par>
                                <p:cTn id="57" presetID="42" presetClass="entr" presetSubtype="0" fill="hold" grpId="0" nodeType="withEffect">
                                  <p:stCondLst>
                                    <p:cond delay="1690"/>
                                  </p:stCondLst>
                                  <p:childTnLst>
                                    <p:set>
                                      <p:cBhvr>
                                        <p:cTn id="53" dur="1" fill="hold">
                                          <p:stCondLst>
                                            <p:cond delay="0"/>
                                          </p:stCondLst>
                                        </p:cTn>
                                        <p:tgtEl>
                                          <p:spTgt spid="16"/>
                                        </p:tgtEl>
                                        <p:attrNameLst>
                                          <p:attrName>style.visibility</p:attrName>
                                        </p:attrNameLst>
                                      </p:cBhvr>
                                      <p:to>
                                        <p:strVal val="visible"/>
                                      </p:to>
                                    </p:set>
                                    <p:animEffect transition="in" filter="fade">
                                      <p:cBhvr>
                                        <p:cTn id="54" dur="640" decel="100000"/>
                                        <p:tgtEl>
                                          <p:spTgt spid="16"/>
                                        </p:tgtEl>
                                      </p:cBhvr>
                                    </p:animEffect>
                                    <p:anim calcmode="lin" valueType="num">
                                      <p:cBhvr>
                                        <p:cTn id="55" dur="800" fill="hold" decel="100000"/>
                                        <p:tgtEl>
                                          <p:spTgt spid="16"/>
                                        </p:tgtEl>
                                        <p:attrNameLst>
                                          <p:attrName>ppt_x</p:attrName>
                                        </p:attrNameLst>
                                      </p:cBhvr>
                                      <p:tavLst>
                                        <p:tav tm="0">
                                          <p:val>
                                            <p:strVal val="#ppt_x"/>
                                          </p:val>
                                        </p:tav>
                                        <p:tav tm="100000">
                                          <p:val>
                                            <p:strVal val="#ppt_x"/>
                                          </p:val>
                                        </p:tav>
                                      </p:tavLst>
                                    </p:anim>
                                    <p:anim calcmode="lin" valueType="num">
                                      <p:cBhvr>
                                        <p:cTn id="56" dur="800" fill="hold" decel="100000"/>
                                        <p:tgtEl>
                                          <p:spTgt spid="16"/>
                                        </p:tgtEl>
                                        <p:attrNameLst>
                                          <p:attrName>ppt_y</p:attrName>
                                        </p:attrNameLst>
                                      </p:cBhvr>
                                      <p:tavLst>
                                        <p:tav tm="0">
                                          <p:val>
                                            <p:strVal val="#ppt_y+0.0250"/>
                                          </p:val>
                                        </p:tav>
                                        <p:tav tm="100000">
                                          <p:val>
                                            <p:strVal val="#ppt_y"/>
                                          </p:val>
                                        </p:tav>
                                      </p:tavLst>
                                    </p:anim>
                                  </p:childTnLst>
                                </p:cTn>
                              </p:par>
                              <p:par>
                                <p:cTn id="62" presetID="53" presetClass="entr" presetSubtype="16" fill="hold" grpId="0" nodeType="withEffect">
                                  <p:stCondLst>
                                    <p:cond delay="1770"/>
                                  </p:stCondLst>
                                  <p:childTnLst>
                                    <p:set>
                                      <p:cBhvr>
                                        <p:cTn id="58" dur="1" fill="hold">
                                          <p:stCondLst>
                                            <p:cond delay="0"/>
                                          </p:stCondLst>
                                        </p:cTn>
                                        <p:tgtEl>
                                          <p:spTgt spid="18"/>
                                        </p:tgtEl>
                                        <p:attrNameLst>
                                          <p:attrName>style.visibility</p:attrName>
                                        </p:attrNameLst>
                                      </p:cBhvr>
                                      <p:to>
                                        <p:strVal val="visible"/>
                                      </p:to>
                                    </p:set>
                                    <p:anim calcmode="lin" valueType="num">
                                      <p:cBhvr>
                                        <p:cTn id="59" dur="800" fill="hold" decel="100000"/>
                                        <p:tgtEl>
                                          <p:spTgt spid="18"/>
                                        </p:tgtEl>
                                        <p:attrNameLst>
                                          <p:attrName>ppt_w</p:attrName>
                                        </p:attrNameLst>
                                      </p:cBhvr>
                                      <p:tavLst>
                                        <p:tav tm="0">
                                          <p:val>
                                            <p:strVal val="#ppt_w*0.800"/>
                                          </p:val>
                                        </p:tav>
                                        <p:tav tm="100000">
                                          <p:val>
                                            <p:strVal val="#ppt_w"/>
                                          </p:val>
                                        </p:tav>
                                      </p:tavLst>
                                    </p:anim>
                                    <p:anim calcmode="lin" valueType="num">
                                      <p:cBhvr>
                                        <p:cTn id="60" dur="800" fill="hold" decel="100000"/>
                                        <p:tgtEl>
                                          <p:spTgt spid="18"/>
                                        </p:tgtEl>
                                        <p:attrNameLst>
                                          <p:attrName>ppt_h</p:attrName>
                                        </p:attrNameLst>
                                      </p:cBhvr>
                                      <p:tavLst>
                                        <p:tav tm="0">
                                          <p:val>
                                            <p:strVal val="#ppt_h*0.800"/>
                                          </p:val>
                                        </p:tav>
                                        <p:tav tm="100000">
                                          <p:val>
                                            <p:strVal val="#ppt_h"/>
                                          </p:val>
                                        </p:tav>
                                      </p:tavLst>
                                    </p:anim>
                                    <p:animEffect transition="in" filter="fade">
                                      <p:cBhvr>
                                        <p:cTn id="61" dur="560" decel="100000"/>
                                        <p:tgtEl>
                                          <p:spTgt spid="18"/>
                                        </p:tgtEl>
                                      </p:cBhvr>
                                    </p:animEffect>
                                  </p:childTnLst>
                                </p:cTn>
                              </p:par>
                              <p:par>
                                <p:cTn id="67" presetID="53" presetClass="entr" presetSubtype="16" fill="hold" grpId="0" nodeType="withEffect">
                                  <p:stCondLst>
                                    <p:cond delay="1770"/>
                                  </p:stCondLst>
                                  <p:childTnLst>
                                    <p:set>
                                      <p:cBhvr>
                                        <p:cTn id="63" dur="1" fill="hold">
                                          <p:stCondLst>
                                            <p:cond delay="0"/>
                                          </p:stCondLst>
                                        </p:cTn>
                                        <p:tgtEl>
                                          <p:spTgt spid="19"/>
                                        </p:tgtEl>
                                        <p:attrNameLst>
                                          <p:attrName>style.visibility</p:attrName>
                                        </p:attrNameLst>
                                      </p:cBhvr>
                                      <p:to>
                                        <p:strVal val="visible"/>
                                      </p:to>
                                    </p:set>
                                    <p:anim calcmode="lin" valueType="num">
                                      <p:cBhvr>
                                        <p:cTn id="64" dur="800" fill="hold" decel="100000"/>
                                        <p:tgtEl>
                                          <p:spTgt spid="19"/>
                                        </p:tgtEl>
                                        <p:attrNameLst>
                                          <p:attrName>ppt_w</p:attrName>
                                        </p:attrNameLst>
                                      </p:cBhvr>
                                      <p:tavLst>
                                        <p:tav tm="0">
                                          <p:val>
                                            <p:strVal val="#ppt_w*0.800"/>
                                          </p:val>
                                        </p:tav>
                                        <p:tav tm="100000">
                                          <p:val>
                                            <p:strVal val="#ppt_w"/>
                                          </p:val>
                                        </p:tav>
                                      </p:tavLst>
                                    </p:anim>
                                    <p:anim calcmode="lin" valueType="num">
                                      <p:cBhvr>
                                        <p:cTn id="65" dur="800" fill="hold" decel="100000"/>
                                        <p:tgtEl>
                                          <p:spTgt spid="19"/>
                                        </p:tgtEl>
                                        <p:attrNameLst>
                                          <p:attrName>ppt_h</p:attrName>
                                        </p:attrNameLst>
                                      </p:cBhvr>
                                      <p:tavLst>
                                        <p:tav tm="0">
                                          <p:val>
                                            <p:strVal val="#ppt_h*0.800"/>
                                          </p:val>
                                        </p:tav>
                                        <p:tav tm="100000">
                                          <p:val>
                                            <p:strVal val="#ppt_h"/>
                                          </p:val>
                                        </p:tav>
                                      </p:tavLst>
                                    </p:anim>
                                    <p:animEffect transition="in" filter="fade">
                                      <p:cBhvr>
                                        <p:cTn id="66" dur="560" decel="100000"/>
                                        <p:tgtEl>
                                          <p:spTgt spid="19"/>
                                        </p:tgtEl>
                                      </p:cBhvr>
                                    </p:animEffect>
                                  </p:childTnLst>
                                </p:cTn>
                              </p:par>
                              <p:par>
                                <p:cTn id="72" presetID="42" presetClass="entr" presetSubtype="0" fill="hold" grpId="0" nodeType="withEffect">
                                  <p:stCondLst>
                                    <p:cond delay="1790"/>
                                  </p:stCondLst>
                                  <p:childTnLst>
                                    <p:set>
                                      <p:cBhvr>
                                        <p:cTn id="68" dur="1" fill="hold">
                                          <p:stCondLst>
                                            <p:cond delay="0"/>
                                          </p:stCondLst>
                                        </p:cTn>
                                        <p:tgtEl>
                                          <p:spTgt spid="17"/>
                                        </p:tgtEl>
                                        <p:attrNameLst>
                                          <p:attrName>style.visibility</p:attrName>
                                        </p:attrNameLst>
                                      </p:cBhvr>
                                      <p:to>
                                        <p:strVal val="visible"/>
                                      </p:to>
                                    </p:set>
                                    <p:animEffect transition="in" filter="fade">
                                      <p:cBhvr>
                                        <p:cTn id="69" dur="640" decel="100000"/>
                                        <p:tgtEl>
                                          <p:spTgt spid="17"/>
                                        </p:tgtEl>
                                      </p:cBhvr>
                                    </p:animEffect>
                                    <p:anim calcmode="lin" valueType="num">
                                      <p:cBhvr>
                                        <p:cTn id="70" dur="800" fill="hold" decel="100000"/>
                                        <p:tgtEl>
                                          <p:spTgt spid="17"/>
                                        </p:tgtEl>
                                        <p:attrNameLst>
                                          <p:attrName>ppt_x</p:attrName>
                                        </p:attrNameLst>
                                      </p:cBhvr>
                                      <p:tavLst>
                                        <p:tav tm="0">
                                          <p:val>
                                            <p:strVal val="#ppt_x"/>
                                          </p:val>
                                        </p:tav>
                                        <p:tav tm="100000">
                                          <p:val>
                                            <p:strVal val="#ppt_x"/>
                                          </p:val>
                                        </p:tav>
                                      </p:tavLst>
                                    </p:anim>
                                    <p:anim calcmode="lin" valueType="num">
                                      <p:cBhvr>
                                        <p:cTn id="71" dur="800" fill="hold" decel="100000"/>
                                        <p:tgtEl>
                                          <p:spTgt spid="17"/>
                                        </p:tgtEl>
                                        <p:attrNameLst>
                                          <p:attrName>ppt_y</p:attrName>
                                        </p:attrNameLst>
                                      </p:cBhvr>
                                      <p:tavLst>
                                        <p:tav tm="0">
                                          <p:val>
                                            <p:strVal val="#ppt_y+0.0250"/>
                                          </p:val>
                                        </p:tav>
                                        <p:tav tm="100000">
                                          <p:val>
                                            <p:strVal val="#ppt_y"/>
                                          </p:val>
                                        </p:tav>
                                      </p:tavLst>
                                    </p:anim>
                                  </p:childTnLst>
                                </p:cTn>
                              </p:par>
                              <p:par>
                                <p:cTn id="77" presetID="42" presetClass="entr" presetSubtype="0" fill="hold" grpId="0" nodeType="withEffect">
                                  <p:stCondLst>
                                    <p:cond delay="185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640" decel="100000"/>
                                        <p:tgtEl>
                                          <p:spTgt spid="20"/>
                                        </p:tgtEl>
                                      </p:cBhvr>
                                    </p:animEffect>
                                    <p:anim calcmode="lin" valueType="num">
                                      <p:cBhvr>
                                        <p:cTn id="75" dur="800" fill="hold" decel="100000"/>
                                        <p:tgtEl>
                                          <p:spTgt spid="20"/>
                                        </p:tgtEl>
                                        <p:attrNameLst>
                                          <p:attrName>ppt_x</p:attrName>
                                        </p:attrNameLst>
                                      </p:cBhvr>
                                      <p:tavLst>
                                        <p:tav tm="0">
                                          <p:val>
                                            <p:strVal val="#ppt_x"/>
                                          </p:val>
                                        </p:tav>
                                        <p:tav tm="100000">
                                          <p:val>
                                            <p:strVal val="#ppt_x"/>
                                          </p:val>
                                        </p:tav>
                                      </p:tavLst>
                                    </p:anim>
                                    <p:anim calcmode="lin" valueType="num">
                                      <p:cBhvr>
                                        <p:cTn id="76" dur="800" fill="hold" decel="100000"/>
                                        <p:tgtEl>
                                          <p:spTgt spid="20"/>
                                        </p:tgtEl>
                                        <p:attrNameLst>
                                          <p:attrName>ppt_y</p:attrName>
                                        </p:attrNameLst>
                                      </p:cBhvr>
                                      <p:tavLst>
                                        <p:tav tm="0">
                                          <p:val>
                                            <p:strVal val="#ppt_y+0.0250"/>
                                          </p:val>
                                        </p:tav>
                                        <p:tav tm="100000">
                                          <p:val>
                                            <p:strVal val="#ppt_y"/>
                                          </p:val>
                                        </p:tav>
                                      </p:tavLst>
                                    </p:anim>
                                  </p:childTnLst>
                                </p:cTn>
                              </p:par>
                              <p:par>
                                <p:cTn id="82" presetID="42" presetClass="entr" presetSubtype="0" fill="hold" grpId="0" nodeType="withEffect">
                                  <p:stCondLst>
                                    <p:cond delay="1950"/>
                                  </p:stCondLst>
                                  <p:childTnLst>
                                    <p:set>
                                      <p:cBhvr>
                                        <p:cTn id="78" dur="1" fill="hold">
                                          <p:stCondLst>
                                            <p:cond delay="0"/>
                                          </p:stCondLst>
                                        </p:cTn>
                                        <p:tgtEl>
                                          <p:spTgt spid="21"/>
                                        </p:tgtEl>
                                        <p:attrNameLst>
                                          <p:attrName>style.visibility</p:attrName>
                                        </p:attrNameLst>
                                      </p:cBhvr>
                                      <p:to>
                                        <p:strVal val="visible"/>
                                      </p:to>
                                    </p:set>
                                    <p:animEffect transition="in" filter="fade">
                                      <p:cBhvr>
                                        <p:cTn id="79" dur="640" decel="100000"/>
                                        <p:tgtEl>
                                          <p:spTgt spid="21"/>
                                        </p:tgtEl>
                                      </p:cBhvr>
                                    </p:animEffect>
                                    <p:anim calcmode="lin" valueType="num">
                                      <p:cBhvr>
                                        <p:cTn id="80" dur="800" fill="hold" decel="100000"/>
                                        <p:tgtEl>
                                          <p:spTgt spid="21"/>
                                        </p:tgtEl>
                                        <p:attrNameLst>
                                          <p:attrName>ppt_x</p:attrName>
                                        </p:attrNameLst>
                                      </p:cBhvr>
                                      <p:tavLst>
                                        <p:tav tm="0">
                                          <p:val>
                                            <p:strVal val="#ppt_x"/>
                                          </p:val>
                                        </p:tav>
                                        <p:tav tm="100000">
                                          <p:val>
                                            <p:strVal val="#ppt_x"/>
                                          </p:val>
                                        </p:tav>
                                      </p:tavLst>
                                    </p:anim>
                                    <p:anim calcmode="lin" valueType="num">
                                      <p:cBhvr>
                                        <p:cTn id="81" dur="800" fill="hold" decel="100000"/>
                                        <p:tgtEl>
                                          <p:spTgt spid="21"/>
                                        </p:tgtEl>
                                        <p:attrNameLst>
                                          <p:attrName>ppt_y</p:attrName>
                                        </p:attrNameLst>
                                      </p:cBhvr>
                                      <p:tavLst>
                                        <p:tav tm="0">
                                          <p:val>
                                            <p:strVal val="#ppt_y+0.0250"/>
                                          </p:val>
                                        </p:tav>
                                        <p:tav tm="100000">
                                          <p:val>
                                            <p:strVal val="#ppt_y"/>
                                          </p:val>
                                        </p:tav>
                                      </p:tavLst>
                                    </p:anim>
                                  </p:childTnLst>
                                </p:cTn>
                              </p:par>
                              <p:par>
                                <p:cTn id="85" presetID="10" presetClass="entr" presetSubtype="0" fill="hold" grpId="0" nodeType="withEffect">
                                  <p:stCondLst>
                                    <p:cond delay="2250"/>
                                  </p:stCondLst>
                                  <p:childTnLst>
                                    <p:set>
                                      <p:cBhvr>
                                        <p:cTn id="83" dur="1" fill="hold">
                                          <p:stCondLst>
                                            <p:cond delay="0"/>
                                          </p:stCondLst>
                                        </p:cTn>
                                        <p:tgtEl>
                                          <p:spTgt spid="22"/>
                                        </p:tgtEl>
                                        <p:attrNameLst>
                                          <p:attrName>style.visibility</p:attrName>
                                        </p:attrNameLst>
                                      </p:cBhvr>
                                      <p:to>
                                        <p:strVal val="visible"/>
                                      </p:to>
                                    </p:set>
                                    <p:animEffect transition="in" filter="fade">
                                      <p:cBhvr>
                                        <p:cTn id="84" dur="700" decel="100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P spid="7" grpId="0" animBg="1"/>
      <p:bldP spid="8" grpId="0" animBg="1"/>
      <p:bldP spid="9" grpId="0" animBg="1"/>
      <p:bldP spid="10" grpId="0" animBg="1"/>
      <p:bldP spid="12" grpId="0" animBg="1"/>
      <p:bldP spid="14" grpId="0" animBg="1"/>
      <p:bldP spid="13" grpId="0" animBg="1"/>
      <p:bldP spid="16" grpId="0" animBg="1"/>
      <p:bldP spid="18" grpId="0" animBg="1"/>
      <p:bldP spid="17" grpId="0" animBg="1"/>
      <p:bldP spid="20" grpId="0" animBg="1"/>
      <p:bldP spid="21" grpId="0" animBg="1"/>
      <p:bldP spid="22" grpId="0" animBg="1"/>
    </p:bldLst>
  </p:timing>
</p:sld>
</file>

<file path=ppt/slides/slide9.xml><?xml version="1.0" encoding="utf-8"?>
<p:sld xmlns:p14="http://schemas.microsoft.com/office/powerpoint/2010/main"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orbA" descr="Decorative background light">    </p:cNvPr>
          <p:cNvPicPr>
            <a:picLocks noChangeAspect="1"/>
          </p:cNvPicPr>
          <p:nvPr/>
        </p:nvPicPr>
        <p:blipFill>
          <a:blip r:embed="rId1"/>
          <a:stretch>
            <a:fillRect/>
          </a:stretch>
        </p:blipFill>
        <p:spPr>
          <a:xfrm>
            <a:off x="-1234440" y="-594360"/>
            <a:ext cx="7772400" cy="7772400"/>
          </a:xfrm>
          <a:prstGeom prst="rect">
            <a:avLst/>
          </a:prstGeom>
        </p:spPr>
      </p:pic>
      <p:pic>
        <p:nvPicPr>
          <p:cNvPr id="3" name="!!orbB" descr="Decorative background light">    </p:cNvPr>
          <p:cNvPicPr>
            <a:picLocks noChangeAspect="1"/>
          </p:cNvPicPr>
          <p:nvPr/>
        </p:nvPicPr>
        <p:blipFill>
          <a:blip r:embed="rId2"/>
          <a:stretch>
            <a:fillRect/>
          </a:stretch>
        </p:blipFill>
        <p:spPr>
          <a:xfrm>
            <a:off x="8686800" y="-1920240"/>
            <a:ext cx="5486400" cy="5486400"/>
          </a:xfrm>
          <a:prstGeom prst="rect">
            <a:avLst/>
          </a:prstGeom>
        </p:spPr>
      </p:pic>
      <p:pic>
        <p:nvPicPr>
          <p:cNvPr id="4" name="!!drop" descr="Oil drop illustration">    </p:cNvPr>
          <p:cNvPicPr>
            <a:picLocks noChangeAspect="1"/>
          </p:cNvPicPr>
          <p:nvPr/>
        </p:nvPicPr>
        <p:blipFill>
          <a:blip r:embed="rId3"/>
          <a:stretch>
            <a:fillRect/>
          </a:stretch>
        </p:blipFill>
        <p:spPr>
          <a:xfrm>
            <a:off x="914400" y="1051560"/>
            <a:ext cx="3474720" cy="4389120"/>
          </a:xfrm>
          <a:prstGeom prst="rect">
            <a:avLst/>
          </a:prstGeom>
        </p:spPr>
      </p:pic>
      <p:sp>
        <p:nvSpPr>
          <p:cNvPr id="5" name="!!kicker"/>
          <p:cNvSpPr txBox="1"/>
          <p:nvPr/>
        </p:nvSpPr>
        <p:spPr>
          <a:xfrm>
            <a:off x="4846320" y="1371600"/>
            <a:ext cx="4114800" cy="1554480"/>
          </a:xfrm>
          <a:prstGeom prst="rect">
            <a:avLst/>
          </a:prstGeom>
          <a:noFill/>
          <a:ln/>
        </p:spPr>
        <p:txBody>
          <a:bodyPr wrap="square" lIns="0" tIns="0" rIns="0" bIns="0" rtlCol="0" anchor="t"/>
          <a:lstStyle/>
          <a:p>
            <a:pPr indent="0" marL="0">
              <a:buNone/>
            </a:pPr>
            <a:r>
              <a:rPr lang="en-US" sz="12000" b="1" dirty="0">
                <a:solidFill>
                  <a:schemeClr val="accent1"/>
                </a:solidFill>
                <a:latin typeface="Arial" pitchFamily="34" charset="0"/>
                <a:ea typeface="Arial" pitchFamily="34" charset="-122"/>
                <a:cs typeface="Arial" pitchFamily="34" charset="-120"/>
              </a:rPr>
              <a:t>02</a:t>
            </a:r>
            <a:endParaRPr lang="en-US" sz="12000" dirty="0"/>
          </a:p>
        </p:txBody>
      </p:sp>
      <p:sp>
        <p:nvSpPr>
          <p:cNvPr id="6" name="!!title"/>
          <p:cNvSpPr txBox="1"/>
          <p:nvPr/>
        </p:nvSpPr>
        <p:spPr>
          <a:xfrm>
            <a:off x="4846320" y="2971800"/>
            <a:ext cx="6766560" cy="914400"/>
          </a:xfrm>
          <a:prstGeom prst="rect">
            <a:avLst/>
          </a:prstGeom>
          <a:noFill/>
          <a:ln/>
        </p:spPr>
        <p:txBody>
          <a:bodyPr wrap="square" lIns="0" tIns="0" rIns="0" bIns="0" rtlCol="0" anchor="t"/>
          <a:lstStyle/>
          <a:p>
            <a:pPr indent="0" marL="0">
              <a:buNone/>
            </a:pPr>
            <a:r>
              <a:rPr lang="en-US" sz="5000" b="1" dirty="0">
                <a:solidFill>
                  <a:schemeClr val="tx1"/>
                </a:solidFill>
                <a:latin typeface="Arial" pitchFamily="34" charset="0"/>
                <a:ea typeface="Arial" pitchFamily="34" charset="-122"/>
                <a:cs typeface="Arial" pitchFamily="34" charset="-120"/>
              </a:rPr>
              <a:t>Resources &amp; Growth</a:t>
            </a:r>
            <a:endParaRPr lang="en-US" sz="5000" dirty="0"/>
          </a:p>
        </p:txBody>
      </p:sp>
      <p:sp>
        <p:nvSpPr>
          <p:cNvPr id="7" name="sec2_t_1"/>
          <p:cNvSpPr txBox="1"/>
          <p:nvPr/>
        </p:nvSpPr>
        <p:spPr>
          <a:xfrm>
            <a:off x="4846320" y="3931920"/>
            <a:ext cx="6400800" cy="822960"/>
          </a:xfrm>
          <a:prstGeom prst="rect">
            <a:avLst/>
          </a:prstGeom>
          <a:noFill/>
          <a:ln/>
        </p:spPr>
        <p:txBody>
          <a:bodyPr wrap="square" lIns="0" tIns="0" rIns="0" bIns="0" rtlCol="0" anchor="t"/>
          <a:lstStyle/>
          <a:p>
            <a:pPr indent="0" marL="0">
              <a:buNone/>
            </a:pPr>
            <a:r>
              <a:rPr lang="en-US" sz="2200" dirty="0">
                <a:solidFill>
                  <a:schemeClr val="tx2"/>
                </a:solidFill>
                <a:latin typeface="Arial" pitchFamily="34" charset="0"/>
                <a:ea typeface="Arial" pitchFamily="34" charset="-122"/>
                <a:cs typeface="Arial" pitchFamily="34" charset="-120"/>
              </a:rPr>
              <a:t>Reserves, output and an industry built around them</a:t>
            </a:r>
            <a:endParaRPr lang="en-US" sz="2200" dirty="0"/>
          </a:p>
        </p:txBody>
      </p:sp>
      <p:sp>
        <p:nvSpPr>
          <p:cNvPr id="8" name="sec2_s_2"/>
          <p:cNvSpPr/>
          <p:nvPr/>
        </p:nvSpPr>
        <p:spPr>
          <a:xfrm>
            <a:off x="4864608" y="5029200"/>
            <a:ext cx="128016" cy="128016"/>
          </a:xfrm>
          <a:prstGeom prst="ellipse">
            <a:avLst/>
          </a:prstGeom>
          <a:solidFill>
            <a:srgbClr val="3A3A3C"/>
          </a:solidFill>
          <a:ln/>
        </p:spPr>
      </p:sp>
      <p:sp>
        <p:nvSpPr>
          <p:cNvPr id="9" name="sec2_s_3"/>
          <p:cNvSpPr/>
          <p:nvPr/>
        </p:nvSpPr>
        <p:spPr>
          <a:xfrm>
            <a:off x="5157216" y="5029200"/>
            <a:ext cx="128016" cy="128016"/>
          </a:xfrm>
          <a:prstGeom prst="ellipse">
            <a:avLst/>
          </a:prstGeom>
          <a:solidFill>
            <a:srgbClr val="FF9F0A"/>
          </a:solidFill>
          <a:ln/>
        </p:spPr>
      </p:sp>
      <p:sp>
        <p:nvSpPr>
          <p:cNvPr id="10" name="sec2_s_4"/>
          <p:cNvSpPr/>
          <p:nvPr/>
        </p:nvSpPr>
        <p:spPr>
          <a:xfrm>
            <a:off x="5449824" y="5029200"/>
            <a:ext cx="128016" cy="128016"/>
          </a:xfrm>
          <a:prstGeom prst="ellipse">
            <a:avLst/>
          </a:prstGeom>
          <a:solidFill>
            <a:srgbClr val="3A3A3C"/>
          </a:solidFill>
          <a:ln/>
        </p:spPr>
      </p:sp>
      <p:sp>
        <p:nvSpPr>
          <p:cNvPr id="11" name="sec2_s_5"/>
          <p:cNvSpPr/>
          <p:nvPr/>
        </p:nvSpPr>
        <p:spPr>
          <a:xfrm>
            <a:off x="5742432" y="5029200"/>
            <a:ext cx="128016" cy="128016"/>
          </a:xfrm>
          <a:prstGeom prst="ellipse">
            <a:avLst/>
          </a:prstGeom>
          <a:solidFill>
            <a:srgbClr val="3A3A3C"/>
          </a:solidFill>
          <a:ln/>
        </p:spPr>
      </p:sp>
      <p:sp>
        <p:nvSpPr>
          <p:cNvPr id="12" name="sec2_s_6"/>
          <p:cNvSpPr/>
          <p:nvPr/>
        </p:nvSpPr>
        <p:spPr>
          <a:xfrm>
            <a:off x="6035040" y="5029200"/>
            <a:ext cx="128016" cy="128016"/>
          </a:xfrm>
          <a:prstGeom prst="ellipse">
            <a:avLst/>
          </a:prstGeom>
          <a:solidFill>
            <a:srgbClr val="3A3A3C"/>
          </a:solidFill>
          <a:ln/>
        </p:spPr>
      </p:sp>
      <p:sp>
        <p:nvSpPr>
          <p:cNvPr id="13" name="!!home_bg"/>
          <p:cNvSpPr/>
          <p:nvPr/>
        </p:nvSpPr>
        <p:spPr>
          <a:xfrm>
            <a:off x="10637215" y="6272784"/>
            <a:ext cx="384048" cy="384048"/>
          </a:xfrm>
          <a:prstGeom prst="roundRect">
            <a:avLst>
              <a:gd name="adj" fmla="val 23810"/>
            </a:avLst>
          </a:prstGeom>
          <a:solidFill>
            <a:srgbClr val="2C2C2E"/>
          </a:solidFill>
          <a:ln/>
        </p:spPr>
      </p:sp>
      <p:pic>
        <p:nvPicPr>
          <p:cNvPr id="14" name="!!home_ic" descr="Decorative graphic">    </p:cNvPr>
          <p:cNvPicPr>
            <a:picLocks noChangeAspect="1"/>
          </p:cNvPicPr>
          <p:nvPr/>
        </p:nvPicPr>
        <p:blipFill>
          <a:blip r:embed="rId4"/>
          <a:stretch>
            <a:fillRect/>
          </a:stretch>
        </p:blipFill>
        <p:spPr>
          <a:xfrm>
            <a:off x="10719511" y="6355080"/>
            <a:ext cx="219456" cy="219456"/>
          </a:xfrm>
          <a:prstGeom prst="rect">
            <a:avLst/>
          </a:prstGeom>
        </p:spPr>
      </p:pic>
      <p:sp>
        <p:nvSpPr>
          <p:cNvPr id="15" name="!!home_hit">
            <a:hlinkClick r:id="rId5" tooltip="Back to contents" action="ppaction://hlinksldjump" highlightClick="1"/>
          </p:cNvPr>
          <p:cNvSpPr/>
          <p:nvPr/>
        </p:nvSpPr>
        <p:spPr>
          <a:xfrm>
            <a:off x="10637215" y="6272784"/>
            <a:ext cx="384048" cy="384048"/>
          </a:xfrm>
          <a:prstGeom prst="roundRect">
            <a:avLst>
              <a:gd name="adj" fmla="val 23810"/>
            </a:avLst>
          </a:prstGeom>
          <a:solidFill>
            <a:srgbClr val="000000">
              <a:alpha val="0"/>
            </a:srgbClr>
          </a:solidFill>
          <a:ln/>
        </p:spPr>
      </p:sp>
      <p:sp>
        <p:nvSpPr>
          <p:cNvPr id="17" name="!!footer"/>
          <p:cNvSpPr txBox="1"/>
          <p:nvPr/>
        </p:nvSpPr>
        <p:spPr>
          <a:xfrm>
            <a:off x="548640" y="6327648"/>
            <a:ext cx="5486400" cy="292608"/>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Kuwait Oil &amp; Gas  ·  EGCH2230</a:t>
            </a:r>
            <a:endParaRPr lang="en-US" sz="1200" dirty="0"/>
          </a:p>
        </p:txBody>
      </p:sp>
      <p:sp>
        <p:nvSpPr>
          <p:cNvPr id="18" name="!!num"/>
          <p:cNvSpPr txBox="1"/>
          <p:nvPr/>
        </p:nvSpPr>
        <p:spPr>
          <a:xfrm>
            <a:off x="11094415" y="6327648"/>
            <a:ext cx="548640" cy="292608"/>
          </a:xfrm>
          <a:prstGeom prst="rect">
            <a:avLst/>
          </a:prstGeom>
          <a:noFill/>
          <a:ln/>
        </p:spPr>
        <p:txBody>
          <a:bodyPr wrap="square" lIns="0" tIns="0" rIns="0" bIns="0" rtlCol="0" anchor="ctr"/>
          <a:lstStyle/>
          <a:p>
            <a:pPr algn="r" indent="0" marL="0">
              <a:buNone/>
            </a:pPr>
            <a:r>
              <a:rPr lang="en-US" sz="1200" dirty="0">
                <a:solidFill>
                  <a:schemeClr val="tx2"/>
                </a:solidFill>
                <a:latin typeface="Arial" pitchFamily="34" charset="0"/>
                <a:ea typeface="Arial" pitchFamily="34" charset="-122"/>
                <a:cs typeface="Arial" pitchFamily="34" charset="-120"/>
              </a:rPr>
              <a:t>9</a:t>
            </a:r>
            <a:endParaRPr lang="en-US" sz="1200" dirty="0"/>
          </a:p>
        </p:txBody>
      </p:sp>
      <p:pic>
        <p:nvPicPr>
          <p:cNvPr id="19" name="!!badge" descr="University of Technology and Applied Sciences, Salalah">    </p:cNvPr>
          <p:cNvPicPr>
            <a:picLocks noChangeAspect="1"/>
          </p:cNvPicPr>
          <p:nvPr/>
        </p:nvPicPr>
        <p:blipFill>
          <a:blip r:embed="rId6"/>
          <a:stretch>
            <a:fillRect/>
          </a:stretch>
        </p:blipFill>
        <p:spPr>
          <a:xfrm>
            <a:off x="9677095" y="274320"/>
            <a:ext cx="1965960" cy="80987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0" presetClass="path" presetSubtype="0" fill="hold" grpId="0" nodeType="afterEffect" repeatCount="indefinite" autoRev="1">
                                  <p:stCondLst>
                                    <p:cond delay="0"/>
                                  </p:stCondLst>
                                  <p:childTnLst>
                                    <p:animMotion origin="layout" path="M 0 0 L 0.0350 -0.0300 E" pathEditMode="relative" ptsTypes="">
                                      <p:cBhvr>
                                        <p:cTn id="5" dur="13000" fill="hold" accel="50000" decel="50000"/>
                                        <p:tgtEl>
                                          <p:spTgt spid="2"/>
                                        </p:tgtEl>
                                        <p:attrNameLst>
                                          <p:attrName>ppt_x</p:attrName>
                                          <p:attrName>ppt_y</p:attrName>
                                        </p:attrNameLst>
                                      </p:cBhvr>
                                      <p:rCtr x="0" y="0"/>
                                    </p:animMotion>
                                  </p:childTnLst>
                                </p:cTn>
                              </p:par>
                              <p:par>
                                <p:cTn id="8" presetID="0" presetClass="path" presetSubtype="0" fill="hold" grpId="0" nodeType="withEffect" repeatCount="indefinite" autoRev="1">
                                  <p:stCondLst>
                                    <p:cond delay="0"/>
                                  </p:stCondLst>
                                  <p:childTnLst>
                                    <p:animMotion origin="layout" path="M 0 0 L -0.0300 0.0250 E" pathEditMode="relative" ptsTypes="">
                                      <p:cBhvr>
                                        <p:cTn id="7" dur="15000" fill="hold" accel="50000" decel="50000"/>
                                        <p:tgtEl>
                                          <p:spTgt spid="3"/>
                                        </p:tgtEl>
                                        <p:attrNameLst>
                                          <p:attrName>ppt_x</p:attrName>
                                          <p:attrName>ppt_y</p:attrName>
                                        </p:attrNameLst>
                                      </p:cBhvr>
                                      <p:rCtr x="0" y="0"/>
                                    </p:animMotion>
                                  </p:childTnLst>
                                </p:cTn>
                              </p:par>
                              <p:par>
                                <p:cTn id="13" presetID="53" presetClass="entr" presetSubtype="16"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p:cTn id="10" dur="1600" fill="hold" decel="100000"/>
                                        <p:tgtEl>
                                          <p:spTgt spid="4"/>
                                        </p:tgtEl>
                                        <p:attrNameLst>
                                          <p:attrName>ppt_w</p:attrName>
                                        </p:attrNameLst>
                                      </p:cBhvr>
                                      <p:tavLst>
                                        <p:tav tm="0">
                                          <p:val>
                                            <p:strVal val="#ppt_w*0.880"/>
                                          </p:val>
                                        </p:tav>
                                        <p:tav tm="100000">
                                          <p:val>
                                            <p:strVal val="#ppt_w"/>
                                          </p:val>
                                        </p:tav>
                                      </p:tavLst>
                                    </p:anim>
                                    <p:anim calcmode="lin" valueType="num">
                                      <p:cBhvr>
                                        <p:cTn id="11" dur="1600" fill="hold" decel="100000"/>
                                        <p:tgtEl>
                                          <p:spTgt spid="4"/>
                                        </p:tgtEl>
                                        <p:attrNameLst>
                                          <p:attrName>ppt_h</p:attrName>
                                        </p:attrNameLst>
                                      </p:cBhvr>
                                      <p:tavLst>
                                        <p:tav tm="0">
                                          <p:val>
                                            <p:strVal val="#ppt_h*0.880"/>
                                          </p:val>
                                        </p:tav>
                                        <p:tav tm="100000">
                                          <p:val>
                                            <p:strVal val="#ppt_h"/>
                                          </p:val>
                                        </p:tav>
                                      </p:tavLst>
                                    </p:anim>
                                    <p:animEffect transition="in" filter="fade">
                                      <p:cBhvr>
                                        <p:cTn id="12" dur="1120" decel="100000"/>
                                        <p:tgtEl>
                                          <p:spTgt spid="4"/>
                                        </p:tgtEl>
                                      </p:cBhvr>
                                    </p:animEffect>
                                  </p:childTnLst>
                                </p:cTn>
                              </p:par>
                              <p:par>
                                <p:cTn id="18" presetID="42" presetClass="entr" presetSubtype="0" fill="hold" grpId="0" nodeType="withEffect">
                                  <p:stCondLst>
                                    <p:cond delay="70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720" decel="100000"/>
                                        <p:tgtEl>
                                          <p:spTgt spid="7"/>
                                        </p:tgtEl>
                                      </p:cBhvr>
                                    </p:animEffect>
                                    <p:anim calcmode="lin" valueType="num">
                                      <p:cBhvr>
                                        <p:cTn id="16" dur="900" fill="hold" decel="100000"/>
                                        <p:tgtEl>
                                          <p:spTgt spid="7"/>
                                        </p:tgtEl>
                                        <p:attrNameLst>
                                          <p:attrName>ppt_x</p:attrName>
                                        </p:attrNameLst>
                                      </p:cBhvr>
                                      <p:tavLst>
                                        <p:tav tm="0">
                                          <p:val>
                                            <p:strVal val="#ppt_x"/>
                                          </p:val>
                                        </p:tav>
                                        <p:tav tm="100000">
                                          <p:val>
                                            <p:strVal val="#ppt_x"/>
                                          </p:val>
                                        </p:tav>
                                      </p:tavLst>
                                    </p:anim>
                                    <p:anim calcmode="lin" valueType="num">
                                      <p:cBhvr>
                                        <p:cTn id="17" dur="900" fill="hold" decel="100000"/>
                                        <p:tgtEl>
                                          <p:spTgt spid="7"/>
                                        </p:tgtEl>
                                        <p:attrNameLst>
                                          <p:attrName>ppt_y</p:attrName>
                                        </p:attrNameLst>
                                      </p:cBhvr>
                                      <p:tavLst>
                                        <p:tav tm="0">
                                          <p:val>
                                            <p:strVal val="#ppt_y+0.0250"/>
                                          </p:val>
                                        </p:tav>
                                        <p:tav tm="100000">
                                          <p:val>
                                            <p:strVal val="#ppt_y"/>
                                          </p:val>
                                        </p:tav>
                                      </p:tavLst>
                                    </p:anim>
                                  </p:childTnLst>
                                </p:cTn>
                              </p:par>
                              <p:par>
                                <p:cTn id="21" presetID="10" presetClass="entr" presetSubtype="0" fill="hold" grpId="0" nodeType="withEffect">
                                  <p:stCondLst>
                                    <p:cond delay="90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600" decel="100000"/>
                                        <p:tgtEl>
                                          <p:spTgt spid="8"/>
                                        </p:tgtEl>
                                      </p:cBhvr>
                                    </p:animEffect>
                                  </p:childTnLst>
                                </p:cTn>
                              </p:par>
                              <p:par>
                                <p:cTn id="24" presetID="10" presetClass="entr" presetSubtype="0" fill="hold" grpId="0" nodeType="withEffect">
                                  <p:stCondLst>
                                    <p:cond delay="98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600" decel="100000"/>
                                        <p:tgtEl>
                                          <p:spTgt spid="9"/>
                                        </p:tgtEl>
                                      </p:cBhvr>
                                    </p:animEffect>
                                  </p:childTnLst>
                                </p:cTn>
                              </p:par>
                              <p:par>
                                <p:cTn id="27" presetID="10" presetClass="entr" presetSubtype="0" fill="hold" grpId="0" nodeType="withEffect">
                                  <p:stCondLst>
                                    <p:cond delay="106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600" decel="100000"/>
                                        <p:tgtEl>
                                          <p:spTgt spid="10"/>
                                        </p:tgtEl>
                                      </p:cBhvr>
                                    </p:animEffect>
                                  </p:childTnLst>
                                </p:cTn>
                              </p:par>
                              <p:par>
                                <p:cTn id="30" presetID="10" presetClass="entr" presetSubtype="0" fill="hold" grpId="0" nodeType="withEffect">
                                  <p:stCondLst>
                                    <p:cond delay="114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600" decel="100000"/>
                                        <p:tgtEl>
                                          <p:spTgt spid="11"/>
                                        </p:tgtEl>
                                      </p:cBhvr>
                                    </p:animEffect>
                                  </p:childTnLst>
                                </p:cTn>
                              </p:par>
                              <p:par>
                                <p:cTn id="33" presetID="10" presetClass="entr" presetSubtype="0" fill="hold" grpId="0" nodeType="withEffect">
                                  <p:stCondLst>
                                    <p:cond delay="122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600" decel="100000"/>
                                        <p:tgtEl>
                                          <p:spTgt spid="12"/>
                                        </p:tgtEl>
                                      </p:cBhvr>
                                    </p:animEffect>
                                  </p:childTnLst>
                                </p:cTn>
                              </p:par>
                              <p:par>
                                <p:cTn id="35" presetID="0" presetClass="path" presetSubtype="0" fill="hold" grpId="1" nodeType="withEffect" repeatCount="indefinite" autoRev="1">
                                  <p:stCondLst>
                                    <p:cond delay="1600"/>
                                  </p:stCondLst>
                                  <p:childTnLst>
                                    <p:animMotion origin="layout" path="M 0 0 L 0.0000 -0.0160 E" pathEditMode="relative" ptsTypes="">
                                      <p:cBhvr>
                                        <p:cTn id="34" dur="3800" fill="hold" accel="50000" decel="50000"/>
                                        <p:tgtEl>
                                          <p:spTgt spid="4"/>
                                        </p:tgtEl>
                                        <p:attrNameLst>
                                          <p:attrName>ppt_x</p:attrName>
                                          <p:attrName>ppt_y</p:attrName>
                                        </p:attrNameLst>
                                      </p:cBhvr>
                                      <p:rCtr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Lst>
  </p:timing>
</p:sld>
</file>

<file path=ppt/slides/slide10.xml><?xml version="1.0" encoding="utf-8"?>
<p:sld xmlns:p14="http://schemas.microsoft.com/office/powerpoint/2010/main"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orbA" descr="Decorative background light">    </p:cNvPr>
          <p:cNvPicPr>
            <a:picLocks noChangeAspect="1"/>
          </p:cNvPicPr>
          <p:nvPr/>
        </p:nvPicPr>
        <p:blipFill>
          <a:blip r:embed="rId1"/>
          <a:stretch>
            <a:fillRect/>
          </a:stretch>
        </p:blipFill>
        <p:spPr>
          <a:xfrm>
            <a:off x="4617720" y="-502920"/>
            <a:ext cx="8686800" cy="8686800"/>
          </a:xfrm>
          <a:prstGeom prst="rect">
            <a:avLst/>
          </a:prstGeom>
        </p:spPr>
      </p:pic>
      <p:pic>
        <p:nvPicPr>
          <p:cNvPr id="3" name="!!orbB" descr="Decorative background light">    </p:cNvPr>
          <p:cNvPicPr>
            <a:picLocks noChangeAspect="1"/>
          </p:cNvPicPr>
          <p:nvPr/>
        </p:nvPicPr>
        <p:blipFill>
          <a:blip r:embed="rId2"/>
          <a:stretch>
            <a:fillRect/>
          </a:stretch>
        </p:blipFill>
        <p:spPr>
          <a:xfrm>
            <a:off x="-1828800" y="3931920"/>
            <a:ext cx="5486400" cy="5486400"/>
          </a:xfrm>
          <a:prstGeom prst="rect">
            <a:avLst/>
          </a:prstGeom>
        </p:spPr>
      </p:pic>
      <p:sp>
        <p:nvSpPr>
          <p:cNvPr id="4" name="!!kicker"/>
          <p:cNvSpPr/>
          <p:nvPr>
            <p:ph idx="100" type="body" hasCustomPrompt="1"/>
          </p:nvPr>
        </p:nvSpPr>
        <p:spPr>
          <a:xfrm>
            <a:off x="548640" y="384048"/>
            <a:ext cx="8732520" cy="329184"/>
          </a:xfrm>
          <a:prstGeom prst="rect">
            <a:avLst/>
          </a:prstGeom>
          <a:noFill/>
          <a:ln/>
        </p:spPr>
        <p:txBody>
          <a:bodyPr wrap="square" lIns="0" tIns="0" rIns="0" bIns="0" rtlCol="0" anchor="t"/>
          <a:lstStyle/>
          <a:p>
            <a:pPr algn="l" indent="0" marL="0">
              <a:buNone/>
            </a:pPr>
            <a:r>
              <a:rPr lang="en-US" sz="1500" b="1" spc="300" kern="0" dirty="0">
                <a:solidFill>
                  <a:schemeClr val="accent1"/>
                </a:solidFill>
              </a:rPr>
              <a:t>02 — RESOURCES &amp; GROWTH</a:t>
            </a:r>
            <a:endParaRPr lang="en-US" sz="1500" dirty="0"/>
          </a:p>
        </p:txBody>
      </p:sp>
      <p:sp>
        <p:nvSpPr>
          <p:cNvPr id="5" name="!!title"/>
          <p:cNvSpPr/>
          <p:nvPr>
            <p:ph idx="101" type="title" hasCustomPrompt="1"/>
          </p:nvPr>
        </p:nvSpPr>
        <p:spPr>
          <a:xfrm>
            <a:off x="548640" y="731520"/>
            <a:ext cx="8732520" cy="786384"/>
          </a:xfrm>
          <a:prstGeom prst="rect">
            <a:avLst/>
          </a:prstGeom>
          <a:noFill/>
          <a:ln/>
        </p:spPr>
        <p:txBody>
          <a:bodyPr wrap="square" lIns="0" tIns="0" rIns="0" bIns="0" rtlCol="0" anchor="t"/>
          <a:lstStyle/>
          <a:p>
            <a:pPr algn="l" indent="0" marL="0">
              <a:buNone/>
            </a:pPr>
            <a:r>
              <a:rPr lang="en-US" sz="3800" b="1" dirty="0">
                <a:solidFill>
                  <a:schemeClr val="tx1"/>
                </a:solidFill>
              </a:rPr>
              <a:t>Seventh-largest oil reserves on Earth</a:t>
            </a:r>
            <a:endParaRPr lang="en-US" sz="3800" dirty="0"/>
          </a:p>
        </p:txBody>
      </p:sp>
      <p:sp>
        <p:nvSpPr>
          <p:cNvPr id="6" name="reserves_t_1"/>
          <p:cNvSpPr txBox="1"/>
          <p:nvPr/>
        </p:nvSpPr>
        <p:spPr>
          <a:xfrm>
            <a:off x="548640" y="1828800"/>
            <a:ext cx="6035040" cy="1600200"/>
          </a:xfrm>
          <a:prstGeom prst="rect">
            <a:avLst/>
          </a:prstGeom>
          <a:noFill/>
          <a:ln/>
        </p:spPr>
        <p:txBody>
          <a:bodyPr wrap="square" lIns="0" tIns="0" rIns="0" bIns="0" rtlCol="0" anchor="t"/>
          <a:lstStyle/>
          <a:p>
            <a:pPr indent="0" marL="0">
              <a:buNone/>
            </a:pPr>
            <a:r>
              <a:rPr lang="en-US" sz="13000" b="1" dirty="0">
                <a:solidFill>
                  <a:schemeClr val="accent1"/>
                </a:solidFill>
                <a:latin typeface="Arial" pitchFamily="34" charset="0"/>
                <a:ea typeface="Arial" pitchFamily="34" charset="-122"/>
                <a:cs typeface="Arial" pitchFamily="34" charset="-120"/>
              </a:rPr>
              <a:t>101.5</a:t>
            </a:r>
            <a:endParaRPr lang="en-US" sz="13000" dirty="0"/>
          </a:p>
        </p:txBody>
      </p:sp>
      <p:sp>
        <p:nvSpPr>
          <p:cNvPr id="7" name="reserves_t_2"/>
          <p:cNvSpPr txBox="1"/>
          <p:nvPr/>
        </p:nvSpPr>
        <p:spPr>
          <a:xfrm>
            <a:off x="548640" y="3611880"/>
            <a:ext cx="5852160" cy="457200"/>
          </a:xfrm>
          <a:prstGeom prst="rect">
            <a:avLst/>
          </a:prstGeom>
          <a:noFill/>
          <a:ln/>
        </p:spPr>
        <p:txBody>
          <a:bodyPr wrap="square" lIns="0" tIns="0" rIns="0" bIns="0" rtlCol="0" anchor="t"/>
          <a:lstStyle/>
          <a:p>
            <a:pPr indent="0" marL="0">
              <a:buNone/>
            </a:pPr>
            <a:r>
              <a:rPr lang="en-US" sz="2600" b="1" dirty="0">
                <a:solidFill>
                  <a:schemeClr val="tx1"/>
                </a:solidFill>
                <a:latin typeface="Arial" pitchFamily="34" charset="0"/>
                <a:ea typeface="Arial" pitchFamily="34" charset="-122"/>
                <a:cs typeface="Arial" pitchFamily="34" charset="-120"/>
              </a:rPr>
              <a:t>billion barrels of proven crude oil</a:t>
            </a:r>
            <a:endParaRPr lang="en-US" sz="2600" dirty="0"/>
          </a:p>
        </p:txBody>
      </p:sp>
      <p:sp>
        <p:nvSpPr>
          <p:cNvPr id="8" name="reserves_t_3"/>
          <p:cNvSpPr txBox="1"/>
          <p:nvPr/>
        </p:nvSpPr>
        <p:spPr>
          <a:xfrm>
            <a:off x="548640" y="4160520"/>
            <a:ext cx="5486400" cy="777240"/>
          </a:xfrm>
          <a:prstGeom prst="rect">
            <a:avLst/>
          </a:prstGeom>
          <a:noFill/>
          <a:ln/>
        </p:spPr>
        <p:txBody>
          <a:bodyPr wrap="square" lIns="0" tIns="0" rIns="0" bIns="0" rtlCol="0" anchor="t"/>
          <a:lstStyle/>
          <a:p>
            <a:pPr indent="0" marL="0">
              <a:buNone/>
            </a:pPr>
            <a:r>
              <a:rPr lang="en-US" sz="1700" dirty="0">
                <a:solidFill>
                  <a:schemeClr val="tx2"/>
                </a:solidFill>
                <a:latin typeface="Arial" pitchFamily="34" charset="0"/>
                <a:ea typeface="Arial" pitchFamily="34" charset="-122"/>
                <a:cs typeface="Arial" pitchFamily="34" charset="-120"/>
              </a:rPr>
              <a:t>Unchanged in official statistics since about 2010: additions have offset about one billion barrels produced each year.</a:t>
            </a:r>
            <a:endParaRPr lang="en-US" sz="1700" dirty="0"/>
          </a:p>
        </p:txBody>
      </p:sp>
      <p:sp>
        <p:nvSpPr>
          <p:cNvPr id="9" name="reserves_t_4"/>
          <p:cNvSpPr txBox="1"/>
          <p:nvPr/>
        </p:nvSpPr>
        <p:spPr>
          <a:xfrm>
            <a:off x="548640" y="5074920"/>
            <a:ext cx="5486400" cy="411480"/>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 100 years </a:t>
            </a:r>
            <a:pPr indent="0" marL="0">
              <a:buNone/>
            </a:pPr>
            <a:r>
              <a:rPr lang="en-US" sz="1700" dirty="0">
                <a:solidFill>
                  <a:schemeClr val="tx2"/>
                </a:solidFill>
                <a:latin typeface="Arial" pitchFamily="34" charset="0"/>
                <a:ea typeface="Arial" pitchFamily="34" charset="-122"/>
                <a:cs typeface="Arial" pitchFamily="34" charset="-120"/>
              </a:rPr>
              <a:t>of output left at today’s rate</a:t>
            </a:r>
            <a:endParaRPr lang="en-US" sz="1700" dirty="0"/>
          </a:p>
        </p:txBody>
      </p:sp>
      <p:graphicFrame>
        <p:nvGraphicFramePr>
          <p:cNvPr id="10" name="reserves_share" descr=""/>
          <p:cNvGraphicFramePr/>
          <p:nvPr/>
        </p:nvGraphicFramePr>
        <p:xfrm>
          <a:off x="6949440" y="1737360"/>
          <a:ext cx="4114800" cy="4114800"/>
        </p:xfrm>
        <a:graphic xmlns:a="http://schemas.openxmlformats.org/drawingml/2006/main">
          <a:graphicData uri="http://schemas.openxmlformats.org/drawingml/2006/chart">
            <c:chart xmlns:c="http://schemas.openxmlformats.org/drawingml/2006/chart" r:id="rId3"/>
          </a:graphicData>
        </a:graphic>
      </p:graphicFrame>
      <p:sp>
        <p:nvSpPr>
          <p:cNvPr id="11" name="reserves_t_5"/>
          <p:cNvSpPr txBox="1"/>
          <p:nvPr/>
        </p:nvSpPr>
        <p:spPr>
          <a:xfrm>
            <a:off x="7635240" y="3200400"/>
            <a:ext cx="2743200" cy="822960"/>
          </a:xfrm>
          <a:prstGeom prst="rect">
            <a:avLst/>
          </a:prstGeom>
          <a:noFill/>
          <a:ln/>
        </p:spPr>
        <p:txBody>
          <a:bodyPr wrap="square" lIns="0" tIns="0" rIns="0" bIns="0" rtlCol="0" anchor="t"/>
          <a:lstStyle/>
          <a:p>
            <a:pPr algn="ctr" indent="0" marL="0">
              <a:buNone/>
            </a:pPr>
            <a:r>
              <a:rPr lang="en-US" sz="5400" b="1" dirty="0">
                <a:solidFill>
                  <a:schemeClr val="tx1"/>
                </a:solidFill>
                <a:latin typeface="Arial" pitchFamily="34" charset="0"/>
                <a:ea typeface="Arial" pitchFamily="34" charset="-122"/>
                <a:cs typeface="Arial" pitchFamily="34" charset="-120"/>
              </a:rPr>
              <a:t>6.5%</a:t>
            </a:r>
            <a:endParaRPr lang="en-US" sz="5400" dirty="0"/>
          </a:p>
        </p:txBody>
      </p:sp>
      <p:sp>
        <p:nvSpPr>
          <p:cNvPr id="12" name="reserves_t_6"/>
          <p:cNvSpPr txBox="1"/>
          <p:nvPr/>
        </p:nvSpPr>
        <p:spPr>
          <a:xfrm>
            <a:off x="7635240" y="3977640"/>
            <a:ext cx="2743200" cy="365760"/>
          </a:xfrm>
          <a:prstGeom prst="rect">
            <a:avLst/>
          </a:prstGeom>
          <a:noFill/>
          <a:ln/>
        </p:spPr>
        <p:txBody>
          <a:bodyPr wrap="square" lIns="0" tIns="0" rIns="0" bIns="0" rtlCol="0" anchor="t"/>
          <a:lstStyle/>
          <a:p>
            <a:pPr algn="ctr" indent="0" marL="0">
              <a:buNone/>
            </a:pPr>
            <a:r>
              <a:rPr lang="en-US" sz="1600" dirty="0">
                <a:solidFill>
                  <a:schemeClr val="tx2"/>
                </a:solidFill>
                <a:latin typeface="Arial" pitchFamily="34" charset="0"/>
                <a:ea typeface="Arial" pitchFamily="34" charset="-122"/>
                <a:cs typeface="Arial" pitchFamily="34" charset="-120"/>
              </a:rPr>
              <a:t>of world reserves</a:t>
            </a:r>
            <a:endParaRPr lang="en-US" sz="1600" dirty="0"/>
          </a:p>
        </p:txBody>
      </p:sp>
      <p:sp>
        <p:nvSpPr>
          <p:cNvPr id="13" name="!!source"/>
          <p:cNvSpPr txBox="1"/>
          <p:nvPr/>
        </p:nvSpPr>
        <p:spPr>
          <a:xfrm>
            <a:off x="548640" y="5943600"/>
            <a:ext cx="9692640" cy="274320"/>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Sources: OPEC (2025b, 2026a), world 1,567–1,572 bn bbl; EIA (2023a); bp (2021). Includes half of the Partitioned Zone.</a:t>
            </a:r>
            <a:endParaRPr lang="en-US" sz="1200" dirty="0"/>
          </a:p>
        </p:txBody>
      </p:sp>
      <p:sp>
        <p:nvSpPr>
          <p:cNvPr id="14" name="!!home_bg"/>
          <p:cNvSpPr/>
          <p:nvPr/>
        </p:nvSpPr>
        <p:spPr>
          <a:xfrm>
            <a:off x="10637215" y="6272784"/>
            <a:ext cx="384048" cy="384048"/>
          </a:xfrm>
          <a:prstGeom prst="roundRect">
            <a:avLst>
              <a:gd name="adj" fmla="val 23810"/>
            </a:avLst>
          </a:prstGeom>
          <a:solidFill>
            <a:srgbClr val="2C2C2E"/>
          </a:solidFill>
          <a:ln/>
        </p:spPr>
      </p:sp>
      <p:pic>
        <p:nvPicPr>
          <p:cNvPr id="15" name="!!home_ic" descr="Decorative graphic">    </p:cNvPr>
          <p:cNvPicPr>
            <a:picLocks noChangeAspect="1"/>
          </p:cNvPicPr>
          <p:nvPr/>
        </p:nvPicPr>
        <p:blipFill>
          <a:blip r:embed="rId4"/>
          <a:stretch>
            <a:fillRect/>
          </a:stretch>
        </p:blipFill>
        <p:spPr>
          <a:xfrm>
            <a:off x="10719511" y="6355080"/>
            <a:ext cx="219456" cy="219456"/>
          </a:xfrm>
          <a:prstGeom prst="rect">
            <a:avLst/>
          </a:prstGeom>
        </p:spPr>
      </p:pic>
      <p:sp>
        <p:nvSpPr>
          <p:cNvPr id="16" name="!!home_hit">
            <a:hlinkClick r:id="rId5" tooltip="Back to contents" action="ppaction://hlinksldjump" highlightClick="1"/>
          </p:cNvPr>
          <p:cNvSpPr/>
          <p:nvPr/>
        </p:nvSpPr>
        <p:spPr>
          <a:xfrm>
            <a:off x="10637215" y="6272784"/>
            <a:ext cx="384048" cy="384048"/>
          </a:xfrm>
          <a:prstGeom prst="roundRect">
            <a:avLst>
              <a:gd name="adj" fmla="val 23810"/>
            </a:avLst>
          </a:prstGeom>
          <a:solidFill>
            <a:srgbClr val="000000">
              <a:alpha val="0"/>
            </a:srgbClr>
          </a:solidFill>
          <a:ln/>
        </p:spPr>
      </p:sp>
      <p:sp>
        <p:nvSpPr>
          <p:cNvPr id="18" name="!!footer"/>
          <p:cNvSpPr txBox="1"/>
          <p:nvPr/>
        </p:nvSpPr>
        <p:spPr>
          <a:xfrm>
            <a:off x="548640" y="6327648"/>
            <a:ext cx="5486400" cy="292608"/>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Kuwait Oil &amp; Gas  ·  EGCH2230</a:t>
            </a:r>
            <a:endParaRPr lang="en-US" sz="1200" dirty="0"/>
          </a:p>
        </p:txBody>
      </p:sp>
      <p:sp>
        <p:nvSpPr>
          <p:cNvPr id="19" name="!!num"/>
          <p:cNvSpPr txBox="1"/>
          <p:nvPr/>
        </p:nvSpPr>
        <p:spPr>
          <a:xfrm>
            <a:off x="11094415" y="6327648"/>
            <a:ext cx="548640" cy="292608"/>
          </a:xfrm>
          <a:prstGeom prst="rect">
            <a:avLst/>
          </a:prstGeom>
          <a:noFill/>
          <a:ln/>
        </p:spPr>
        <p:txBody>
          <a:bodyPr wrap="square" lIns="0" tIns="0" rIns="0" bIns="0" rtlCol="0" anchor="ctr"/>
          <a:lstStyle/>
          <a:p>
            <a:pPr algn="r" indent="0" marL="0">
              <a:buNone/>
            </a:pPr>
            <a:r>
              <a:rPr lang="en-US" sz="1200" dirty="0">
                <a:solidFill>
                  <a:schemeClr val="tx2"/>
                </a:solidFill>
                <a:latin typeface="Arial" pitchFamily="34" charset="0"/>
                <a:ea typeface="Arial" pitchFamily="34" charset="-122"/>
                <a:cs typeface="Arial" pitchFamily="34" charset="-120"/>
              </a:rPr>
              <a:t>10</a:t>
            </a:r>
            <a:endParaRPr lang="en-US" sz="1200" dirty="0"/>
          </a:p>
        </p:txBody>
      </p:sp>
      <p:pic>
        <p:nvPicPr>
          <p:cNvPr id="20" name="!!badge" descr="University of Technology and Applied Sciences, Salalah">    </p:cNvPr>
          <p:cNvPicPr>
            <a:picLocks noChangeAspect="1"/>
          </p:cNvPicPr>
          <p:nvPr/>
        </p:nvPicPr>
        <p:blipFill>
          <a:blip r:embed="rId6"/>
          <a:stretch>
            <a:fillRect/>
          </a:stretch>
        </p:blipFill>
        <p:spPr>
          <a:xfrm>
            <a:off x="9677095" y="274320"/>
            <a:ext cx="1965960" cy="80987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0" presetClass="path" presetSubtype="0" fill="hold" grpId="0" nodeType="afterEffect" repeatCount="indefinite" autoRev="1">
                                  <p:stCondLst>
                                    <p:cond delay="0"/>
                                  </p:stCondLst>
                                  <p:childTnLst>
                                    <p:animMotion origin="layout" path="M 0 0 L 0.0350 -0.0300 E" pathEditMode="relative" ptsTypes="">
                                      <p:cBhvr>
                                        <p:cTn id="5" dur="13000" fill="hold" accel="50000" decel="50000"/>
                                        <p:tgtEl>
                                          <p:spTgt spid="2"/>
                                        </p:tgtEl>
                                        <p:attrNameLst>
                                          <p:attrName>ppt_x</p:attrName>
                                          <p:attrName>ppt_y</p:attrName>
                                        </p:attrNameLst>
                                      </p:cBhvr>
                                      <p:rCtr x="0" y="0"/>
                                    </p:animMotion>
                                  </p:childTnLst>
                                </p:cTn>
                              </p:par>
                              <p:par>
                                <p:cTn id="8" presetID="0" presetClass="path" presetSubtype="0" fill="hold" grpId="0" nodeType="withEffect" repeatCount="indefinite" autoRev="1">
                                  <p:stCondLst>
                                    <p:cond delay="0"/>
                                  </p:stCondLst>
                                  <p:childTnLst>
                                    <p:animMotion origin="layout" path="M 0 0 L -0.0300 0.0250 E" pathEditMode="relative" ptsTypes="">
                                      <p:cBhvr>
                                        <p:cTn id="7" dur="15000" fill="hold" accel="50000" decel="50000"/>
                                        <p:tgtEl>
                                          <p:spTgt spid="3"/>
                                        </p:tgtEl>
                                        <p:attrNameLst>
                                          <p:attrName>ppt_x</p:attrName>
                                          <p:attrName>ppt_y</p:attrName>
                                        </p:attrNameLst>
                                      </p:cBhvr>
                                      <p:rCtr x="0" y="0"/>
                                    </p:animMotion>
                                  </p:childTnLst>
                                </p:cTn>
                              </p:par>
                              <p:par>
                                <p:cTn id="13" presetID="53" presetClass="entr" presetSubtype="16" fill="hold" grpId="0" nodeType="withEffect">
                                  <p:stCondLst>
                                    <p:cond delay="250"/>
                                  </p:stCondLst>
                                  <p:childTnLst>
                                    <p:set>
                                      <p:cBhvr>
                                        <p:cTn id="9" dur="1" fill="hold">
                                          <p:stCondLst>
                                            <p:cond delay="0"/>
                                          </p:stCondLst>
                                        </p:cTn>
                                        <p:tgtEl>
                                          <p:spTgt spid="6"/>
                                        </p:tgtEl>
                                        <p:attrNameLst>
                                          <p:attrName>style.visibility</p:attrName>
                                        </p:attrNameLst>
                                      </p:cBhvr>
                                      <p:to>
                                        <p:strVal val="visible"/>
                                      </p:to>
                                    </p:set>
                                    <p:anim calcmode="lin" valueType="num">
                                      <p:cBhvr>
                                        <p:cTn id="10" dur="1300" fill="hold" decel="100000"/>
                                        <p:tgtEl>
                                          <p:spTgt spid="6"/>
                                        </p:tgtEl>
                                        <p:attrNameLst>
                                          <p:attrName>ppt_w</p:attrName>
                                        </p:attrNameLst>
                                      </p:cBhvr>
                                      <p:tavLst>
                                        <p:tav tm="0">
                                          <p:val>
                                            <p:strVal val="#ppt_w*0.880"/>
                                          </p:val>
                                        </p:tav>
                                        <p:tav tm="100000">
                                          <p:val>
                                            <p:strVal val="#ppt_w"/>
                                          </p:val>
                                        </p:tav>
                                      </p:tavLst>
                                    </p:anim>
                                    <p:anim calcmode="lin" valueType="num">
                                      <p:cBhvr>
                                        <p:cTn id="11" dur="1300" fill="hold" decel="100000"/>
                                        <p:tgtEl>
                                          <p:spTgt spid="6"/>
                                        </p:tgtEl>
                                        <p:attrNameLst>
                                          <p:attrName>ppt_h</p:attrName>
                                        </p:attrNameLst>
                                      </p:cBhvr>
                                      <p:tavLst>
                                        <p:tav tm="0">
                                          <p:val>
                                            <p:strVal val="#ppt_h*0.880"/>
                                          </p:val>
                                        </p:tav>
                                        <p:tav tm="100000">
                                          <p:val>
                                            <p:strVal val="#ppt_h"/>
                                          </p:val>
                                        </p:tav>
                                      </p:tavLst>
                                    </p:anim>
                                    <p:animEffect transition="in" filter="fade">
                                      <p:cBhvr>
                                        <p:cTn id="12" dur="909" decel="100000"/>
                                        <p:tgtEl>
                                          <p:spTgt spid="6"/>
                                        </p:tgtEl>
                                      </p:cBhvr>
                                    </p:animEffect>
                                  </p:childTnLst>
                                </p:cTn>
                              </p:par>
                              <p:par>
                                <p:cTn id="16" presetID="21" presetClass="entr" presetSubtype="1" fill="hold" grpId="0" nodeType="withEffect">
                                  <p:stCondLst>
                                    <p:cond delay="500"/>
                                  </p:stCondLst>
                                  <p:childTnLst>
                                    <p:set>
                                      <p:cBhvr>
                                        <p:cTn id="14" dur="1" fill="hold">
                                          <p:stCondLst>
                                            <p:cond delay="0"/>
                                          </p:stCondLst>
                                        </p:cTn>
                                        <p:tgtEl>
                                          <p:spTgt spid="10"/>
                                        </p:tgtEl>
                                        <p:attrNameLst>
                                          <p:attrName>style.visibility</p:attrName>
                                        </p:attrNameLst>
                                      </p:cBhvr>
                                      <p:to>
                                        <p:strVal val="visible"/>
                                      </p:to>
                                    </p:set>
                                    <p:animEffect transition="in" filter="wheel(1)">
                                      <p:cBhvr>
                                        <p:cTn id="15" dur="1700" decel="100000"/>
                                        <p:tgtEl>
                                          <p:spTgt spid="10"/>
                                        </p:tgtEl>
                                      </p:cBhvr>
                                    </p:animEffect>
                                  </p:childTnLst>
                                </p:cTn>
                              </p:par>
                              <p:par>
                                <p:cTn id="21" presetID="42" presetClass="entr" presetSubtype="0" fill="hold" grpId="0" nodeType="withEffect">
                                  <p:stCondLst>
                                    <p:cond delay="65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40" decel="100000"/>
                                        <p:tgtEl>
                                          <p:spTgt spid="7"/>
                                        </p:tgtEl>
                                      </p:cBhvr>
                                    </p:animEffect>
                                    <p:anim calcmode="lin" valueType="num">
                                      <p:cBhvr>
                                        <p:cTn id="19" dur="800" fill="hold" decel="100000"/>
                                        <p:tgtEl>
                                          <p:spTgt spid="7"/>
                                        </p:tgtEl>
                                        <p:attrNameLst>
                                          <p:attrName>ppt_x</p:attrName>
                                        </p:attrNameLst>
                                      </p:cBhvr>
                                      <p:tavLst>
                                        <p:tav tm="0">
                                          <p:val>
                                            <p:strVal val="#ppt_x"/>
                                          </p:val>
                                        </p:tav>
                                        <p:tav tm="100000">
                                          <p:val>
                                            <p:strVal val="#ppt_x"/>
                                          </p:val>
                                        </p:tav>
                                      </p:tavLst>
                                    </p:anim>
                                    <p:anim calcmode="lin" valueType="num">
                                      <p:cBhvr>
                                        <p:cTn id="20" dur="800" fill="hold" decel="100000"/>
                                        <p:tgtEl>
                                          <p:spTgt spid="7"/>
                                        </p:tgtEl>
                                        <p:attrNameLst>
                                          <p:attrName>ppt_y</p:attrName>
                                        </p:attrNameLst>
                                      </p:cBhvr>
                                      <p:tavLst>
                                        <p:tav tm="0">
                                          <p:val>
                                            <p:strVal val="#ppt_y+0.0250"/>
                                          </p:val>
                                        </p:tav>
                                        <p:tav tm="100000">
                                          <p:val>
                                            <p:strVal val="#ppt_y"/>
                                          </p:val>
                                        </p:tav>
                                      </p:tavLst>
                                    </p:anim>
                                  </p:childTnLst>
                                </p:cTn>
                              </p:par>
                              <p:par>
                                <p:cTn id="26" presetID="42" presetClass="entr" presetSubtype="0" fill="hold" grpId="0" nodeType="withEffect">
                                  <p:stCondLst>
                                    <p:cond delay="8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640" decel="100000"/>
                                        <p:tgtEl>
                                          <p:spTgt spid="8"/>
                                        </p:tgtEl>
                                      </p:cBhvr>
                                    </p:animEffect>
                                    <p:anim calcmode="lin" valueType="num">
                                      <p:cBhvr>
                                        <p:cTn id="24" dur="800" fill="hold" decel="100000"/>
                                        <p:tgtEl>
                                          <p:spTgt spid="8"/>
                                        </p:tgtEl>
                                        <p:attrNameLst>
                                          <p:attrName>ppt_x</p:attrName>
                                        </p:attrNameLst>
                                      </p:cBhvr>
                                      <p:tavLst>
                                        <p:tav tm="0">
                                          <p:val>
                                            <p:strVal val="#ppt_x"/>
                                          </p:val>
                                        </p:tav>
                                        <p:tav tm="100000">
                                          <p:val>
                                            <p:strVal val="#ppt_x"/>
                                          </p:val>
                                        </p:tav>
                                      </p:tavLst>
                                    </p:anim>
                                    <p:anim calcmode="lin" valueType="num">
                                      <p:cBhvr>
                                        <p:cTn id="25" dur="800" fill="hold" decel="100000"/>
                                        <p:tgtEl>
                                          <p:spTgt spid="8"/>
                                        </p:tgtEl>
                                        <p:attrNameLst>
                                          <p:attrName>ppt_y</p:attrName>
                                        </p:attrNameLst>
                                      </p:cBhvr>
                                      <p:tavLst>
                                        <p:tav tm="0">
                                          <p:val>
                                            <p:strVal val="#ppt_y+0.0250"/>
                                          </p:val>
                                        </p:tav>
                                        <p:tav tm="100000">
                                          <p:val>
                                            <p:strVal val="#ppt_y"/>
                                          </p:val>
                                        </p:tav>
                                      </p:tavLst>
                                    </p:anim>
                                  </p:childTnLst>
                                </p:cTn>
                              </p:par>
                              <p:par>
                                <p:cTn id="31" presetID="42" presetClass="entr" presetSubtype="0" fill="hold" grpId="0" nodeType="withEffect">
                                  <p:stCondLst>
                                    <p:cond delay="105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640" decel="100000"/>
                                        <p:tgtEl>
                                          <p:spTgt spid="9"/>
                                        </p:tgtEl>
                                      </p:cBhvr>
                                    </p:animEffect>
                                    <p:anim calcmode="lin" valueType="num">
                                      <p:cBhvr>
                                        <p:cTn id="29" dur="800" fill="hold" decel="100000"/>
                                        <p:tgtEl>
                                          <p:spTgt spid="9"/>
                                        </p:tgtEl>
                                        <p:attrNameLst>
                                          <p:attrName>ppt_x</p:attrName>
                                        </p:attrNameLst>
                                      </p:cBhvr>
                                      <p:tavLst>
                                        <p:tav tm="0">
                                          <p:val>
                                            <p:strVal val="#ppt_x"/>
                                          </p:val>
                                        </p:tav>
                                        <p:tav tm="100000">
                                          <p:val>
                                            <p:strVal val="#ppt_x"/>
                                          </p:val>
                                        </p:tav>
                                      </p:tavLst>
                                    </p:anim>
                                    <p:anim calcmode="lin" valueType="num">
                                      <p:cBhvr>
                                        <p:cTn id="30" dur="800" fill="hold" decel="100000"/>
                                        <p:tgtEl>
                                          <p:spTgt spid="9"/>
                                        </p:tgtEl>
                                        <p:attrNameLst>
                                          <p:attrName>ppt_y</p:attrName>
                                        </p:attrNameLst>
                                      </p:cBhvr>
                                      <p:tavLst>
                                        <p:tav tm="0">
                                          <p:val>
                                            <p:strVal val="#ppt_y+0.0250"/>
                                          </p:val>
                                        </p:tav>
                                        <p:tav tm="100000">
                                          <p:val>
                                            <p:strVal val="#ppt_y"/>
                                          </p:val>
                                        </p:tav>
                                      </p:tavLst>
                                    </p:anim>
                                  </p:childTnLst>
                                </p:cTn>
                              </p:par>
                              <p:par>
                                <p:cTn id="36" presetID="53" presetClass="entr" presetSubtype="16" fill="hold" grpId="0" nodeType="withEffect">
                                  <p:stCondLst>
                                    <p:cond delay="1700"/>
                                  </p:stCondLst>
                                  <p:childTnLst>
                                    <p:set>
                                      <p:cBhvr>
                                        <p:cTn id="32" dur="1" fill="hold">
                                          <p:stCondLst>
                                            <p:cond delay="0"/>
                                          </p:stCondLst>
                                        </p:cTn>
                                        <p:tgtEl>
                                          <p:spTgt spid="11"/>
                                        </p:tgtEl>
                                        <p:attrNameLst>
                                          <p:attrName>style.visibility</p:attrName>
                                        </p:attrNameLst>
                                      </p:cBhvr>
                                      <p:to>
                                        <p:strVal val="visible"/>
                                      </p:to>
                                    </p:set>
                                    <p:anim calcmode="lin" valueType="num">
                                      <p:cBhvr>
                                        <p:cTn id="33" dur="900" fill="hold" decel="100000"/>
                                        <p:tgtEl>
                                          <p:spTgt spid="11"/>
                                        </p:tgtEl>
                                        <p:attrNameLst>
                                          <p:attrName>ppt_w</p:attrName>
                                        </p:attrNameLst>
                                      </p:cBhvr>
                                      <p:tavLst>
                                        <p:tav tm="0">
                                          <p:val>
                                            <p:strVal val="#ppt_w*0.850"/>
                                          </p:val>
                                        </p:tav>
                                        <p:tav tm="100000">
                                          <p:val>
                                            <p:strVal val="#ppt_w"/>
                                          </p:val>
                                        </p:tav>
                                      </p:tavLst>
                                    </p:anim>
                                    <p:anim calcmode="lin" valueType="num">
                                      <p:cBhvr>
                                        <p:cTn id="34" dur="900" fill="hold" decel="100000"/>
                                        <p:tgtEl>
                                          <p:spTgt spid="11"/>
                                        </p:tgtEl>
                                        <p:attrNameLst>
                                          <p:attrName>ppt_h</p:attrName>
                                        </p:attrNameLst>
                                      </p:cBhvr>
                                      <p:tavLst>
                                        <p:tav tm="0">
                                          <p:val>
                                            <p:strVal val="#ppt_h*0.850"/>
                                          </p:val>
                                        </p:tav>
                                        <p:tav tm="100000">
                                          <p:val>
                                            <p:strVal val="#ppt_h"/>
                                          </p:val>
                                        </p:tav>
                                      </p:tavLst>
                                    </p:anim>
                                    <p:animEffect transition="in" filter="fade">
                                      <p:cBhvr>
                                        <p:cTn id="35" dur="630" decel="100000"/>
                                        <p:tgtEl>
                                          <p:spTgt spid="11"/>
                                        </p:tgtEl>
                                      </p:cBhvr>
                                    </p:animEffect>
                                  </p:childTnLst>
                                </p:cTn>
                              </p:par>
                              <p:par>
                                <p:cTn id="39" presetID="10" presetClass="entr" presetSubtype="0" fill="hold" grpId="0" nodeType="withEffect">
                                  <p:stCondLst>
                                    <p:cond delay="185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700" decel="100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Graphic spid="10" grpId="0">
        <p:bldAsOne/>
      </p:bldGraphic>
      <p:bldP spid="7" grpId="0" animBg="1"/>
      <p:bldP spid="8" grpId="0" animBg="1"/>
      <p:bldP spid="9" grpId="0" animBg="1"/>
      <p:bldP spid="11" grpId="0" animBg="1"/>
      <p:bldP spid="12" grpId="0" animBg="1"/>
    </p:bldLst>
  </p:timing>
</p:sld>
</file>

<file path=ppt/slides/slide11.xml><?xml version="1.0" encoding="utf-8"?>
<p:sld xmlns:p14="http://schemas.microsoft.com/office/powerpoint/2010/main"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orbA" descr="Decorative background light">    </p:cNvPr>
          <p:cNvPicPr>
            <a:picLocks noChangeAspect="1"/>
          </p:cNvPicPr>
          <p:nvPr/>
        </p:nvPicPr>
        <p:blipFill>
          <a:blip r:embed="rId1"/>
          <a:stretch>
            <a:fillRect/>
          </a:stretch>
        </p:blipFill>
        <p:spPr>
          <a:xfrm>
            <a:off x="1005840" y="1280160"/>
            <a:ext cx="10058400" cy="10058400"/>
          </a:xfrm>
          <a:prstGeom prst="rect">
            <a:avLst/>
          </a:prstGeom>
        </p:spPr>
      </p:pic>
      <p:pic>
        <p:nvPicPr>
          <p:cNvPr id="3" name="!!orbB" descr="Decorative background light">    </p:cNvPr>
          <p:cNvPicPr>
            <a:picLocks noChangeAspect="1"/>
          </p:cNvPicPr>
          <p:nvPr/>
        </p:nvPicPr>
        <p:blipFill>
          <a:blip r:embed="rId2"/>
          <a:stretch>
            <a:fillRect/>
          </a:stretch>
        </p:blipFill>
        <p:spPr>
          <a:xfrm>
            <a:off x="-1920240" y="-1828800"/>
            <a:ext cx="4572000" cy="4572000"/>
          </a:xfrm>
          <a:prstGeom prst="rect">
            <a:avLst/>
          </a:prstGeom>
        </p:spPr>
      </p:pic>
      <p:sp>
        <p:nvSpPr>
          <p:cNvPr id="4" name="!!kicker"/>
          <p:cNvSpPr/>
          <p:nvPr>
            <p:ph idx="100" type="body" hasCustomPrompt="1"/>
          </p:nvPr>
        </p:nvSpPr>
        <p:spPr>
          <a:xfrm>
            <a:off x="548640" y="384048"/>
            <a:ext cx="8732520" cy="329184"/>
          </a:xfrm>
          <a:prstGeom prst="rect">
            <a:avLst/>
          </a:prstGeom>
          <a:noFill/>
          <a:ln/>
        </p:spPr>
        <p:txBody>
          <a:bodyPr wrap="square" lIns="0" tIns="0" rIns="0" bIns="0" rtlCol="0" anchor="t"/>
          <a:lstStyle/>
          <a:p>
            <a:pPr algn="l" indent="0" marL="0">
              <a:buNone/>
            </a:pPr>
            <a:r>
              <a:rPr lang="en-US" sz="1500" b="1" spc="300" kern="0" dirty="0">
                <a:solidFill>
                  <a:schemeClr val="accent1"/>
                </a:solidFill>
              </a:rPr>
              <a:t>02 — RESOURCES &amp; GROWTH</a:t>
            </a:r>
            <a:endParaRPr lang="en-US" sz="1500" dirty="0"/>
          </a:p>
        </p:txBody>
      </p:sp>
      <p:sp>
        <p:nvSpPr>
          <p:cNvPr id="5" name="!!title"/>
          <p:cNvSpPr/>
          <p:nvPr>
            <p:ph idx="101" type="title" hasCustomPrompt="1"/>
          </p:nvPr>
        </p:nvSpPr>
        <p:spPr>
          <a:xfrm>
            <a:off x="548640" y="731520"/>
            <a:ext cx="8732520" cy="786384"/>
          </a:xfrm>
          <a:prstGeom prst="rect">
            <a:avLst/>
          </a:prstGeom>
          <a:noFill/>
          <a:ln/>
        </p:spPr>
        <p:txBody>
          <a:bodyPr wrap="square" lIns="0" tIns="0" rIns="0" bIns="0" rtlCol="0" anchor="t"/>
          <a:lstStyle/>
          <a:p>
            <a:pPr algn="l" indent="0" marL="0">
              <a:buNone/>
            </a:pPr>
            <a:r>
              <a:rPr lang="en-US" sz="3800" b="1" dirty="0">
                <a:solidFill>
                  <a:schemeClr val="tx1"/>
                </a:solidFill>
              </a:rPr>
              <a:t>Eight decades of output</a:t>
            </a:r>
            <a:endParaRPr lang="en-US" sz="3800" dirty="0"/>
          </a:p>
        </p:txBody>
      </p:sp>
      <p:graphicFrame>
        <p:nvGraphicFramePr>
          <p:cNvPr id="6" name="production_chart" descr=""/>
          <p:cNvGraphicFramePr/>
          <p:nvPr/>
        </p:nvGraphicFramePr>
        <p:xfrm>
          <a:off x="502920" y="1737360"/>
          <a:ext cx="11155680" cy="4114800"/>
        </p:xfrm>
        <a:graphic xmlns:a="http://schemas.openxmlformats.org/drawingml/2006/main">
          <a:graphicData uri="http://schemas.openxmlformats.org/drawingml/2006/chart">
            <c:chart xmlns:c="http://schemas.openxmlformats.org/drawingml/2006/chart" r:id="rId3"/>
          </a:graphicData>
        </a:graphic>
      </p:graphicFrame>
      <p:sp>
        <p:nvSpPr>
          <p:cNvPr id="7" name="production_s_1"/>
          <p:cNvSpPr/>
          <p:nvPr/>
        </p:nvSpPr>
        <p:spPr>
          <a:xfrm>
            <a:off x="1956870" y="5169600"/>
            <a:ext cx="182880" cy="182880"/>
          </a:xfrm>
          <a:prstGeom prst="ellipse">
            <a:avLst/>
          </a:prstGeom>
          <a:solidFill>
            <a:srgbClr val="F5F5F7"/>
          </a:solidFill>
          <a:ln w="31750">
            <a:solidFill>
              <a:srgbClr val="FF9F0A"/>
            </a:solidFill>
            <a:prstDash val="solid"/>
          </a:ln>
          <a:effectLst>
            <a:outerShdw sx="100000" sy="100000" kx="0" ky="0" algn="bl" rotWithShape="0" blurRad="127000" dist="50800" dir="5400000">
              <a:srgbClr val="FF9F0A">
                <a:alpha val="80000"/>
              </a:srgbClr>
            </a:outerShdw>
          </a:effectLst>
        </p:spPr>
      </p:sp>
      <p:sp>
        <p:nvSpPr>
          <p:cNvPr id="8" name="production_t_2"/>
          <p:cNvSpPr txBox="1"/>
          <p:nvPr/>
        </p:nvSpPr>
        <p:spPr>
          <a:xfrm>
            <a:off x="1042470" y="3477960"/>
            <a:ext cx="2011680" cy="566928"/>
          </a:xfrm>
          <a:prstGeom prst="rect">
            <a:avLst/>
          </a:prstGeom>
          <a:noFill/>
          <a:ln/>
        </p:spPr>
        <p:txBody>
          <a:bodyPr wrap="square" lIns="0" tIns="0" rIns="0" bIns="0" rtlCol="0" anchor="t"/>
          <a:lstStyle/>
          <a:p>
            <a:pPr algn="ctr" indent="0" marL="0">
              <a:buNone/>
            </a:pPr>
            <a:r>
              <a:rPr lang="en-US" sz="1600" b="1" dirty="0">
                <a:solidFill>
                  <a:schemeClr val="tx1"/>
                </a:solidFill>
                <a:latin typeface="Arial" pitchFamily="34" charset="0"/>
                <a:ea typeface="Arial" pitchFamily="34" charset="-122"/>
                <a:cs typeface="Arial" pitchFamily="34" charset="-120"/>
              </a:rPr>
              <a:t>1946</a:t>
            </a:r>
            <a:endParaRPr lang="en-US" sz="1600" dirty="0"/>
          </a:p>
          <a:p>
            <a:pPr algn="ctr" indent="0" marL="0">
              <a:buNone/>
            </a:pPr>
            <a:r>
              <a:rPr lang="en-US" sz="1600" dirty="0">
                <a:solidFill>
                  <a:schemeClr val="tx2"/>
                </a:solidFill>
                <a:latin typeface="Arial" pitchFamily="34" charset="0"/>
                <a:ea typeface="Arial" pitchFamily="34" charset="-122"/>
                <a:cs typeface="Arial" pitchFamily="34" charset="-120"/>
              </a:rPr>
              <a:t>first exports</a:t>
            </a:r>
            <a:endParaRPr lang="en-US" sz="1600" dirty="0"/>
          </a:p>
        </p:txBody>
      </p:sp>
      <p:sp>
        <p:nvSpPr>
          <p:cNvPr id="9" name="production_s_3"/>
          <p:cNvSpPr/>
          <p:nvPr/>
        </p:nvSpPr>
        <p:spPr>
          <a:xfrm>
            <a:off x="2041909" y="4081464"/>
            <a:ext cx="12802" cy="1069848"/>
          </a:xfrm>
          <a:prstGeom prst="rect">
            <a:avLst/>
          </a:prstGeom>
          <a:solidFill>
            <a:srgbClr val="8E8E93"/>
          </a:solidFill>
          <a:ln/>
        </p:spPr>
      </p:sp>
      <p:sp>
        <p:nvSpPr>
          <p:cNvPr id="10" name="production_s_4"/>
          <p:cNvSpPr/>
          <p:nvPr/>
        </p:nvSpPr>
        <p:spPr>
          <a:xfrm>
            <a:off x="5027963" y="2044233"/>
            <a:ext cx="182880" cy="182880"/>
          </a:xfrm>
          <a:prstGeom prst="ellipse">
            <a:avLst/>
          </a:prstGeom>
          <a:solidFill>
            <a:srgbClr val="F5F5F7"/>
          </a:solidFill>
          <a:ln w="31750">
            <a:solidFill>
              <a:srgbClr val="FF9F0A"/>
            </a:solidFill>
            <a:prstDash val="solid"/>
          </a:ln>
          <a:effectLst>
            <a:outerShdw sx="100000" sy="100000" kx="0" ky="0" algn="bl" rotWithShape="0" blurRad="127000" dist="50800" dir="5400000">
              <a:srgbClr val="FF9F0A">
                <a:alpha val="80000"/>
              </a:srgbClr>
            </a:outerShdw>
          </a:effectLst>
        </p:spPr>
      </p:sp>
      <p:sp>
        <p:nvSpPr>
          <p:cNvPr id="11" name="production_t_5"/>
          <p:cNvSpPr txBox="1"/>
          <p:nvPr/>
        </p:nvSpPr>
        <p:spPr>
          <a:xfrm>
            <a:off x="5256563" y="1806489"/>
            <a:ext cx="2011680" cy="566928"/>
          </a:xfrm>
          <a:prstGeom prst="rect">
            <a:avLst/>
          </a:prstGeom>
          <a:noFill/>
          <a:ln/>
        </p:spPr>
        <p:txBody>
          <a:bodyPr wrap="square" lIns="0" tIns="0" rIns="0" bIns="0" rtlCol="0" anchor="t"/>
          <a:lstStyle/>
          <a:p>
            <a:pPr algn="ctr" indent="0" marL="0">
              <a:buNone/>
            </a:pPr>
            <a:r>
              <a:rPr lang="en-US" sz="1600" b="1" dirty="0">
                <a:solidFill>
                  <a:schemeClr val="tx1"/>
                </a:solidFill>
                <a:latin typeface="Arial" pitchFamily="34" charset="0"/>
                <a:ea typeface="Arial" pitchFamily="34" charset="-122"/>
                <a:cs typeface="Arial" pitchFamily="34" charset="-120"/>
              </a:rPr>
              <a:t>1972 · 3.34 mb/d</a:t>
            </a:r>
            <a:endParaRPr lang="en-US" sz="1600" dirty="0"/>
          </a:p>
          <a:p>
            <a:pPr algn="ctr" indent="0" marL="0">
              <a:buNone/>
            </a:pPr>
            <a:r>
              <a:rPr lang="en-US" sz="1600" dirty="0">
                <a:solidFill>
                  <a:schemeClr val="tx2"/>
                </a:solidFill>
                <a:latin typeface="Arial" pitchFamily="34" charset="0"/>
                <a:ea typeface="Arial" pitchFamily="34" charset="-122"/>
                <a:cs typeface="Arial" pitchFamily="34" charset="-120"/>
              </a:rPr>
              <a:t>all-time peak</a:t>
            </a:r>
            <a:endParaRPr lang="en-US" sz="1600" dirty="0"/>
          </a:p>
        </p:txBody>
      </p:sp>
      <p:sp>
        <p:nvSpPr>
          <p:cNvPr id="12" name="production_s_6"/>
          <p:cNvSpPr/>
          <p:nvPr/>
        </p:nvSpPr>
        <p:spPr>
          <a:xfrm>
            <a:off x="7272223" y="5010651"/>
            <a:ext cx="182880" cy="182880"/>
          </a:xfrm>
          <a:prstGeom prst="ellipse">
            <a:avLst/>
          </a:prstGeom>
          <a:solidFill>
            <a:srgbClr val="F5F5F7"/>
          </a:solidFill>
          <a:ln w="31750">
            <a:solidFill>
              <a:srgbClr val="FF9F0A"/>
            </a:solidFill>
            <a:prstDash val="solid"/>
          </a:ln>
          <a:effectLst>
            <a:outerShdw sx="100000" sy="100000" kx="0" ky="0" algn="bl" rotWithShape="0" blurRad="127000" dist="50800" dir="5400000">
              <a:srgbClr val="FF9F0A">
                <a:alpha val="80000"/>
              </a:srgbClr>
            </a:outerShdw>
          </a:effectLst>
        </p:spPr>
      </p:sp>
      <p:sp>
        <p:nvSpPr>
          <p:cNvPr id="13" name="production_t_7"/>
          <p:cNvSpPr txBox="1"/>
          <p:nvPr/>
        </p:nvSpPr>
        <p:spPr>
          <a:xfrm>
            <a:off x="7564831" y="4644891"/>
            <a:ext cx="2011680" cy="566928"/>
          </a:xfrm>
          <a:prstGeom prst="rect">
            <a:avLst/>
          </a:prstGeom>
          <a:noFill/>
          <a:ln/>
        </p:spPr>
        <p:txBody>
          <a:bodyPr wrap="square" lIns="0" tIns="0" rIns="0" bIns="0" rtlCol="0" anchor="t"/>
          <a:lstStyle/>
          <a:p>
            <a:pPr algn="ctr" indent="0" marL="0">
              <a:buNone/>
            </a:pPr>
            <a:r>
              <a:rPr lang="en-US" sz="1600" b="1" dirty="0">
                <a:solidFill>
                  <a:schemeClr val="tx1"/>
                </a:solidFill>
                <a:latin typeface="Arial" pitchFamily="34" charset="0"/>
                <a:ea typeface="Arial" pitchFamily="34" charset="-122"/>
                <a:cs typeface="Arial" pitchFamily="34" charset="-120"/>
              </a:rPr>
              <a:t>1991 · 0.19 mb/d</a:t>
            </a:r>
            <a:endParaRPr lang="en-US" sz="1600" dirty="0"/>
          </a:p>
          <a:p>
            <a:pPr algn="ctr" indent="0" marL="0">
              <a:buNone/>
            </a:pPr>
            <a:r>
              <a:rPr lang="en-US" sz="1600" dirty="0">
                <a:solidFill>
                  <a:schemeClr val="tx2"/>
                </a:solidFill>
                <a:latin typeface="Arial" pitchFamily="34" charset="0"/>
                <a:ea typeface="Arial" pitchFamily="34" charset="-122"/>
                <a:cs typeface="Arial" pitchFamily="34" charset="-120"/>
              </a:rPr>
              <a:t>invasion and fires</a:t>
            </a:r>
            <a:endParaRPr lang="en-US" sz="1600" dirty="0"/>
          </a:p>
        </p:txBody>
      </p:sp>
      <p:sp>
        <p:nvSpPr>
          <p:cNvPr id="14" name="production_s_8"/>
          <p:cNvSpPr/>
          <p:nvPr/>
        </p:nvSpPr>
        <p:spPr>
          <a:xfrm>
            <a:off x="9752721" y="2183430"/>
            <a:ext cx="182880" cy="182880"/>
          </a:xfrm>
          <a:prstGeom prst="ellipse">
            <a:avLst/>
          </a:prstGeom>
          <a:solidFill>
            <a:srgbClr val="F5F5F7"/>
          </a:solidFill>
          <a:ln w="31750">
            <a:solidFill>
              <a:srgbClr val="FF9F0A"/>
            </a:solidFill>
            <a:prstDash val="solid"/>
          </a:ln>
          <a:effectLst>
            <a:outerShdw sx="100000" sy="100000" kx="0" ky="0" algn="bl" rotWithShape="0" blurRad="127000" dist="50800" dir="5400000">
              <a:srgbClr val="FF9F0A">
                <a:alpha val="80000"/>
              </a:srgbClr>
            </a:outerShdw>
          </a:effectLst>
        </p:spPr>
      </p:sp>
      <p:sp>
        <p:nvSpPr>
          <p:cNvPr id="15" name="production_t_9"/>
          <p:cNvSpPr txBox="1"/>
          <p:nvPr/>
        </p:nvSpPr>
        <p:spPr>
          <a:xfrm>
            <a:off x="8838321" y="1433622"/>
            <a:ext cx="2011680" cy="566928"/>
          </a:xfrm>
          <a:prstGeom prst="rect">
            <a:avLst/>
          </a:prstGeom>
          <a:noFill/>
          <a:ln/>
        </p:spPr>
        <p:txBody>
          <a:bodyPr wrap="square" lIns="0" tIns="0" rIns="0" bIns="0" rtlCol="0" anchor="t"/>
          <a:lstStyle/>
          <a:p>
            <a:pPr algn="ctr" indent="0" marL="0">
              <a:buNone/>
            </a:pPr>
            <a:r>
              <a:rPr lang="en-US" sz="1600" b="1" dirty="0">
                <a:solidFill>
                  <a:schemeClr val="tx1"/>
                </a:solidFill>
                <a:latin typeface="Arial" pitchFamily="34" charset="0"/>
                <a:ea typeface="Arial" pitchFamily="34" charset="-122"/>
                <a:cs typeface="Arial" pitchFamily="34" charset="-120"/>
              </a:rPr>
              <a:t>2012 · ≈ 3.2 mb/d</a:t>
            </a:r>
            <a:endParaRPr lang="en-US" sz="1600" dirty="0"/>
          </a:p>
          <a:p>
            <a:pPr algn="ctr" indent="0" marL="0">
              <a:buNone/>
            </a:pPr>
            <a:r>
              <a:rPr lang="en-US" sz="1600" dirty="0">
                <a:solidFill>
                  <a:schemeClr val="tx2"/>
                </a:solidFill>
                <a:latin typeface="Arial" pitchFamily="34" charset="0"/>
                <a:ea typeface="Arial" pitchFamily="34" charset="-122"/>
                <a:cs typeface="Arial" pitchFamily="34" charset="-120"/>
              </a:rPr>
              <a:t>post-war high (est.)</a:t>
            </a:r>
            <a:endParaRPr lang="en-US" sz="1600" dirty="0"/>
          </a:p>
        </p:txBody>
      </p:sp>
      <p:sp>
        <p:nvSpPr>
          <p:cNvPr id="16" name="production_s_10"/>
          <p:cNvSpPr/>
          <p:nvPr/>
        </p:nvSpPr>
        <p:spPr>
          <a:xfrm>
            <a:off x="11170149" y="2618894"/>
            <a:ext cx="182880" cy="182880"/>
          </a:xfrm>
          <a:prstGeom prst="ellipse">
            <a:avLst/>
          </a:prstGeom>
          <a:solidFill>
            <a:srgbClr val="F5F5F7"/>
          </a:solidFill>
          <a:ln w="31750">
            <a:solidFill>
              <a:srgbClr val="FF9F0A"/>
            </a:solidFill>
            <a:prstDash val="solid"/>
          </a:ln>
          <a:effectLst>
            <a:outerShdw sx="100000" sy="100000" kx="0" ky="0" algn="bl" rotWithShape="0" blurRad="127000" dist="50800" dir="5400000">
              <a:srgbClr val="FF9F0A">
                <a:alpha val="80000"/>
              </a:srgbClr>
            </a:outerShdw>
          </a:effectLst>
        </p:spPr>
      </p:sp>
      <p:sp>
        <p:nvSpPr>
          <p:cNvPr id="17" name="production_t_11"/>
          <p:cNvSpPr txBox="1"/>
          <p:nvPr/>
        </p:nvSpPr>
        <p:spPr>
          <a:xfrm>
            <a:off x="9631375" y="2865782"/>
            <a:ext cx="2011680" cy="566928"/>
          </a:xfrm>
          <a:prstGeom prst="rect">
            <a:avLst/>
          </a:prstGeom>
          <a:noFill/>
          <a:ln/>
        </p:spPr>
        <p:txBody>
          <a:bodyPr wrap="square" lIns="0" tIns="0" rIns="0" bIns="0" rtlCol="0" anchor="t"/>
          <a:lstStyle/>
          <a:p>
            <a:pPr algn="ctr" indent="0" marL="0">
              <a:buNone/>
            </a:pPr>
            <a:r>
              <a:rPr lang="en-US" sz="1600" b="1" dirty="0">
                <a:solidFill>
                  <a:schemeClr val="tx1"/>
                </a:solidFill>
                <a:latin typeface="Arial" pitchFamily="34" charset="0"/>
                <a:ea typeface="Arial" pitchFamily="34" charset="-122"/>
                <a:cs typeface="Arial" pitchFamily="34" charset="-120"/>
              </a:rPr>
              <a:t>2024 · ≈ 2.7 mb/d</a:t>
            </a:r>
            <a:endParaRPr lang="en-US" sz="1600" dirty="0"/>
          </a:p>
          <a:p>
            <a:pPr algn="ctr" indent="0" marL="0">
              <a:buNone/>
            </a:pPr>
            <a:r>
              <a:rPr lang="en-US" sz="1600" dirty="0">
                <a:solidFill>
                  <a:schemeClr val="tx2"/>
                </a:solidFill>
                <a:latin typeface="Arial" pitchFamily="34" charset="0"/>
                <a:ea typeface="Arial" pitchFamily="34" charset="-122"/>
                <a:cs typeface="Arial" pitchFamily="34" charset="-120"/>
              </a:rPr>
              <a:t>incl. NGLs; crude 2.4</a:t>
            </a:r>
            <a:endParaRPr lang="en-US" sz="1600" dirty="0"/>
          </a:p>
        </p:txBody>
      </p:sp>
      <p:sp>
        <p:nvSpPr>
          <p:cNvPr id="18" name="production_t_12"/>
          <p:cNvSpPr txBox="1"/>
          <p:nvPr/>
        </p:nvSpPr>
        <p:spPr>
          <a:xfrm>
            <a:off x="548640" y="1554480"/>
            <a:ext cx="5486400" cy="27432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mb/d = million barrels per day (total oil, incl. NGLs)</a:t>
            </a:r>
            <a:endParaRPr lang="en-US" sz="1400" dirty="0"/>
          </a:p>
        </p:txBody>
      </p:sp>
      <p:sp>
        <p:nvSpPr>
          <p:cNvPr id="19" name="!!source"/>
          <p:cNvSpPr txBox="1"/>
          <p:nvPr/>
        </p:nvSpPr>
        <p:spPr>
          <a:xfrm>
            <a:off x="548640" y="5943600"/>
            <a:ext cx="9692640" cy="274320"/>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Sources: Energy Institute (2025) via Our World in Data (2025), incl. NGLs; some years (e.g. 2012, 2024) derived; 1946–55: KPC (n.d.-b).</a:t>
            </a:r>
            <a:endParaRPr lang="en-US" sz="1200" dirty="0"/>
          </a:p>
        </p:txBody>
      </p:sp>
      <p:sp>
        <p:nvSpPr>
          <p:cNvPr id="20" name="!!home_bg"/>
          <p:cNvSpPr/>
          <p:nvPr/>
        </p:nvSpPr>
        <p:spPr>
          <a:xfrm>
            <a:off x="10637215" y="6272784"/>
            <a:ext cx="384048" cy="384048"/>
          </a:xfrm>
          <a:prstGeom prst="roundRect">
            <a:avLst>
              <a:gd name="adj" fmla="val 23810"/>
            </a:avLst>
          </a:prstGeom>
          <a:solidFill>
            <a:srgbClr val="2C2C2E"/>
          </a:solidFill>
          <a:ln/>
        </p:spPr>
      </p:sp>
      <p:pic>
        <p:nvPicPr>
          <p:cNvPr id="21" name="!!home_ic" descr="Decorative graphic">    </p:cNvPr>
          <p:cNvPicPr>
            <a:picLocks noChangeAspect="1"/>
          </p:cNvPicPr>
          <p:nvPr/>
        </p:nvPicPr>
        <p:blipFill>
          <a:blip r:embed="rId4"/>
          <a:stretch>
            <a:fillRect/>
          </a:stretch>
        </p:blipFill>
        <p:spPr>
          <a:xfrm>
            <a:off x="10719511" y="6355080"/>
            <a:ext cx="219456" cy="219456"/>
          </a:xfrm>
          <a:prstGeom prst="rect">
            <a:avLst/>
          </a:prstGeom>
        </p:spPr>
      </p:pic>
      <p:sp>
        <p:nvSpPr>
          <p:cNvPr id="22" name="!!home_hit">
            <a:hlinkClick r:id="rId5" tooltip="Back to contents" action="ppaction://hlinksldjump" highlightClick="1"/>
          </p:cNvPr>
          <p:cNvSpPr/>
          <p:nvPr/>
        </p:nvSpPr>
        <p:spPr>
          <a:xfrm>
            <a:off x="10637215" y="6272784"/>
            <a:ext cx="384048" cy="384048"/>
          </a:xfrm>
          <a:prstGeom prst="roundRect">
            <a:avLst>
              <a:gd name="adj" fmla="val 23810"/>
            </a:avLst>
          </a:prstGeom>
          <a:solidFill>
            <a:srgbClr val="000000">
              <a:alpha val="0"/>
            </a:srgbClr>
          </a:solidFill>
          <a:ln/>
        </p:spPr>
      </p:sp>
      <p:sp>
        <p:nvSpPr>
          <p:cNvPr id="24" name="!!footer"/>
          <p:cNvSpPr txBox="1"/>
          <p:nvPr/>
        </p:nvSpPr>
        <p:spPr>
          <a:xfrm>
            <a:off x="548640" y="6327648"/>
            <a:ext cx="5486400" cy="292608"/>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Kuwait Oil &amp; Gas  ·  EGCH2230</a:t>
            </a:r>
            <a:endParaRPr lang="en-US" sz="1200" dirty="0"/>
          </a:p>
        </p:txBody>
      </p:sp>
      <p:sp>
        <p:nvSpPr>
          <p:cNvPr id="25" name="!!num"/>
          <p:cNvSpPr txBox="1"/>
          <p:nvPr/>
        </p:nvSpPr>
        <p:spPr>
          <a:xfrm>
            <a:off x="11094415" y="6327648"/>
            <a:ext cx="548640" cy="292608"/>
          </a:xfrm>
          <a:prstGeom prst="rect">
            <a:avLst/>
          </a:prstGeom>
          <a:noFill/>
          <a:ln/>
        </p:spPr>
        <p:txBody>
          <a:bodyPr wrap="square" lIns="0" tIns="0" rIns="0" bIns="0" rtlCol="0" anchor="ctr"/>
          <a:lstStyle/>
          <a:p>
            <a:pPr algn="r" indent="0" marL="0">
              <a:buNone/>
            </a:pPr>
            <a:r>
              <a:rPr lang="en-US" sz="1200" dirty="0">
                <a:solidFill>
                  <a:schemeClr val="tx2"/>
                </a:solidFill>
                <a:latin typeface="Arial" pitchFamily="34" charset="0"/>
                <a:ea typeface="Arial" pitchFamily="34" charset="-122"/>
                <a:cs typeface="Arial" pitchFamily="34" charset="-120"/>
              </a:rPr>
              <a:t>11</a:t>
            </a:r>
            <a:endParaRPr lang="en-US" sz="1200" dirty="0"/>
          </a:p>
        </p:txBody>
      </p:sp>
      <p:pic>
        <p:nvPicPr>
          <p:cNvPr id="26" name="!!badge" descr="University of Technology and Applied Sciences, Salalah">    </p:cNvPr>
          <p:cNvPicPr>
            <a:picLocks noChangeAspect="1"/>
          </p:cNvPicPr>
          <p:nvPr/>
        </p:nvPicPr>
        <p:blipFill>
          <a:blip r:embed="rId6"/>
          <a:stretch>
            <a:fillRect/>
          </a:stretch>
        </p:blipFill>
        <p:spPr>
          <a:xfrm>
            <a:off x="9677095" y="274320"/>
            <a:ext cx="1965960" cy="80987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0" presetClass="path" presetSubtype="0" fill="hold" grpId="0" nodeType="afterEffect" repeatCount="indefinite" autoRev="1">
                                  <p:stCondLst>
                                    <p:cond delay="0"/>
                                  </p:stCondLst>
                                  <p:childTnLst>
                                    <p:animMotion origin="layout" path="M 0 0 L 0.0350 -0.0300 E" pathEditMode="relative" ptsTypes="">
                                      <p:cBhvr>
                                        <p:cTn id="5" dur="13000" fill="hold" accel="50000" decel="50000"/>
                                        <p:tgtEl>
                                          <p:spTgt spid="2"/>
                                        </p:tgtEl>
                                        <p:attrNameLst>
                                          <p:attrName>ppt_x</p:attrName>
                                          <p:attrName>ppt_y</p:attrName>
                                        </p:attrNameLst>
                                      </p:cBhvr>
                                      <p:rCtr x="0" y="0"/>
                                    </p:animMotion>
                                  </p:childTnLst>
                                </p:cTn>
                              </p:par>
                              <p:par>
                                <p:cTn id="8" presetID="0" presetClass="path" presetSubtype="0" fill="hold" grpId="0" nodeType="withEffect" repeatCount="indefinite" autoRev="1">
                                  <p:stCondLst>
                                    <p:cond delay="0"/>
                                  </p:stCondLst>
                                  <p:childTnLst>
                                    <p:animMotion origin="layout" path="M 0 0 L -0.0300 0.0250 E" pathEditMode="relative" ptsTypes="">
                                      <p:cBhvr>
                                        <p:cTn id="7" dur="15000" fill="hold" accel="50000" decel="50000"/>
                                        <p:tgtEl>
                                          <p:spTgt spid="3"/>
                                        </p:tgtEl>
                                        <p:attrNameLst>
                                          <p:attrName>ppt_x</p:attrName>
                                          <p:attrName>ppt_y</p:attrName>
                                        </p:attrNameLst>
                                      </p:cBhvr>
                                      <p:rCtr x="0" y="0"/>
                                    </p:animMotion>
                                  </p:childTnLst>
                                </p:cTn>
                              </p:par>
                              <p:par>
                                <p:cTn id="11" presetID="22" presetClass="entr" presetSubtype="8" fill="hold" grpId="0" nodeType="withEffect">
                                  <p:stCondLst>
                                    <p:cond delay="25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2800" decel="100000"/>
                                        <p:tgtEl>
                                          <p:spTgt spid="6"/>
                                        </p:tgtEl>
                                      </p:cBhvr>
                                    </p:animEffect>
                                  </p:childTnLst>
                                </p:cTn>
                              </p:par>
                              <p:par>
                                <p:cTn id="14" presetID="10" presetClass="entr" presetSubtype="0" fill="hold" grpId="0" nodeType="withEffect">
                                  <p:stCondLst>
                                    <p:cond delay="30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700" decel="100000"/>
                                        <p:tgtEl>
                                          <p:spTgt spid="18"/>
                                        </p:tgtEl>
                                      </p:cBhvr>
                                    </p:animEffect>
                                  </p:childTnLst>
                                </p:cTn>
                              </p:par>
                              <p:par>
                                <p:cTn id="19" presetID="53" presetClass="entr" presetSubtype="16" fill="hold" grpId="0" nodeType="withEffect">
                                  <p:stCondLst>
                                    <p:cond delay="451"/>
                                  </p:stCondLst>
                                  <p:childTnLst>
                                    <p:set>
                                      <p:cBhvr>
                                        <p:cTn id="15" dur="1" fill="hold">
                                          <p:stCondLst>
                                            <p:cond delay="0"/>
                                          </p:stCondLst>
                                        </p:cTn>
                                        <p:tgtEl>
                                          <p:spTgt spid="7"/>
                                        </p:tgtEl>
                                        <p:attrNameLst>
                                          <p:attrName>style.visibility</p:attrName>
                                        </p:attrNameLst>
                                      </p:cBhvr>
                                      <p:to>
                                        <p:strVal val="visible"/>
                                      </p:to>
                                    </p:set>
                                    <p:anim calcmode="lin" valueType="num">
                                      <p:cBhvr>
                                        <p:cTn id="16" dur="600" fill="hold" decel="100000"/>
                                        <p:tgtEl>
                                          <p:spTgt spid="7"/>
                                        </p:tgtEl>
                                        <p:attrNameLst>
                                          <p:attrName>ppt_w</p:attrName>
                                        </p:attrNameLst>
                                      </p:cBhvr>
                                      <p:tavLst>
                                        <p:tav tm="0">
                                          <p:val>
                                            <p:strVal val="#ppt_w*1.800"/>
                                          </p:val>
                                        </p:tav>
                                        <p:tav tm="100000">
                                          <p:val>
                                            <p:strVal val="#ppt_w"/>
                                          </p:val>
                                        </p:tav>
                                      </p:tavLst>
                                    </p:anim>
                                    <p:anim calcmode="lin" valueType="num">
                                      <p:cBhvr>
                                        <p:cTn id="17" dur="600" fill="hold" decel="100000"/>
                                        <p:tgtEl>
                                          <p:spTgt spid="7"/>
                                        </p:tgtEl>
                                        <p:attrNameLst>
                                          <p:attrName>ppt_h</p:attrName>
                                        </p:attrNameLst>
                                      </p:cBhvr>
                                      <p:tavLst>
                                        <p:tav tm="0">
                                          <p:val>
                                            <p:strVal val="#ppt_h*1.800"/>
                                          </p:val>
                                        </p:tav>
                                        <p:tav tm="100000">
                                          <p:val>
                                            <p:strVal val="#ppt_h"/>
                                          </p:val>
                                        </p:tav>
                                      </p:tavLst>
                                    </p:anim>
                                    <p:animEffect transition="in" filter="fade">
                                      <p:cBhvr>
                                        <p:cTn id="18" dur="420" decel="100000"/>
                                        <p:tgtEl>
                                          <p:spTgt spid="7"/>
                                        </p:tgtEl>
                                      </p:cBhvr>
                                    </p:animEffect>
                                  </p:childTnLst>
                                </p:cTn>
                              </p:par>
                              <p:par>
                                <p:cTn id="24" presetID="42" presetClass="entr" presetSubtype="0" fill="hold" grpId="0" nodeType="withEffect">
                                  <p:stCondLst>
                                    <p:cond delay="551"/>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60" decel="100000"/>
                                        <p:tgtEl>
                                          <p:spTgt spid="8"/>
                                        </p:tgtEl>
                                      </p:cBhvr>
                                    </p:animEffect>
                                    <p:anim calcmode="lin" valueType="num">
                                      <p:cBhvr>
                                        <p:cTn id="22" dur="700" fill="hold" decel="100000"/>
                                        <p:tgtEl>
                                          <p:spTgt spid="8"/>
                                        </p:tgtEl>
                                        <p:attrNameLst>
                                          <p:attrName>ppt_x</p:attrName>
                                        </p:attrNameLst>
                                      </p:cBhvr>
                                      <p:tavLst>
                                        <p:tav tm="0">
                                          <p:val>
                                            <p:strVal val="#ppt_x"/>
                                          </p:val>
                                        </p:tav>
                                        <p:tav tm="100000">
                                          <p:val>
                                            <p:strVal val="#ppt_x"/>
                                          </p:val>
                                        </p:tav>
                                      </p:tavLst>
                                    </p:anim>
                                    <p:anim calcmode="lin" valueType="num">
                                      <p:cBhvr>
                                        <p:cTn id="23" dur="700" fill="hold" decel="100000"/>
                                        <p:tgtEl>
                                          <p:spTgt spid="8"/>
                                        </p:tgtEl>
                                        <p:attrNameLst>
                                          <p:attrName>ppt_y</p:attrName>
                                        </p:attrNameLst>
                                      </p:cBhvr>
                                      <p:tavLst>
                                        <p:tav tm="0">
                                          <p:val>
                                            <p:strVal val="#ppt_y+-0.0120"/>
                                          </p:val>
                                        </p:tav>
                                        <p:tav tm="100000">
                                          <p:val>
                                            <p:strVal val="#ppt_y"/>
                                          </p:val>
                                        </p:tav>
                                      </p:tavLst>
                                    </p:anim>
                                  </p:childTnLst>
                                </p:cTn>
                              </p:par>
                              <p:par>
                                <p:cTn id="27" presetID="22" presetClass="entr" presetSubtype="4" fill="hold" grpId="0" nodeType="withEffect">
                                  <p:stCondLst>
                                    <p:cond delay="551"/>
                                  </p:stCondLst>
                                  <p:childTnLst>
                                    <p:set>
                                      <p:cBhvr>
                                        <p:cTn id="25" dur="1" fill="hold">
                                          <p:stCondLst>
                                            <p:cond delay="0"/>
                                          </p:stCondLst>
                                        </p:cTn>
                                        <p:tgtEl>
                                          <p:spTgt spid="9"/>
                                        </p:tgtEl>
                                        <p:attrNameLst>
                                          <p:attrName>style.visibility</p:attrName>
                                        </p:attrNameLst>
                                      </p:cBhvr>
                                      <p:to>
                                        <p:strVal val="visible"/>
                                      </p:to>
                                    </p:set>
                                    <p:animEffect transition="in" filter="wipe(down)">
                                      <p:cBhvr>
                                        <p:cTn id="26" dur="500" decel="100000"/>
                                        <p:tgtEl>
                                          <p:spTgt spid="9"/>
                                        </p:tgtEl>
                                      </p:cBhvr>
                                    </p:animEffect>
                                  </p:childTnLst>
                                </p:cTn>
                              </p:par>
                              <p:par>
                                <p:cTn id="32" presetID="53" presetClass="entr" presetSubtype="16" fill="hold" grpId="0" nodeType="withEffect">
                                  <p:stCondLst>
                                    <p:cond delay="906"/>
                                  </p:stCondLst>
                                  <p:childTnLst>
                                    <p:set>
                                      <p:cBhvr>
                                        <p:cTn id="28" dur="1" fill="hold">
                                          <p:stCondLst>
                                            <p:cond delay="0"/>
                                          </p:stCondLst>
                                        </p:cTn>
                                        <p:tgtEl>
                                          <p:spTgt spid="10"/>
                                        </p:tgtEl>
                                        <p:attrNameLst>
                                          <p:attrName>style.visibility</p:attrName>
                                        </p:attrNameLst>
                                      </p:cBhvr>
                                      <p:to>
                                        <p:strVal val="visible"/>
                                      </p:to>
                                    </p:set>
                                    <p:anim calcmode="lin" valueType="num">
                                      <p:cBhvr>
                                        <p:cTn id="29" dur="600" fill="hold" decel="100000"/>
                                        <p:tgtEl>
                                          <p:spTgt spid="10"/>
                                        </p:tgtEl>
                                        <p:attrNameLst>
                                          <p:attrName>ppt_w</p:attrName>
                                        </p:attrNameLst>
                                      </p:cBhvr>
                                      <p:tavLst>
                                        <p:tav tm="0">
                                          <p:val>
                                            <p:strVal val="#ppt_w*1.800"/>
                                          </p:val>
                                        </p:tav>
                                        <p:tav tm="100000">
                                          <p:val>
                                            <p:strVal val="#ppt_w"/>
                                          </p:val>
                                        </p:tav>
                                      </p:tavLst>
                                    </p:anim>
                                    <p:anim calcmode="lin" valueType="num">
                                      <p:cBhvr>
                                        <p:cTn id="30" dur="600" fill="hold" decel="100000"/>
                                        <p:tgtEl>
                                          <p:spTgt spid="10"/>
                                        </p:tgtEl>
                                        <p:attrNameLst>
                                          <p:attrName>ppt_h</p:attrName>
                                        </p:attrNameLst>
                                      </p:cBhvr>
                                      <p:tavLst>
                                        <p:tav tm="0">
                                          <p:val>
                                            <p:strVal val="#ppt_h*1.800"/>
                                          </p:val>
                                        </p:tav>
                                        <p:tav tm="100000">
                                          <p:val>
                                            <p:strVal val="#ppt_h"/>
                                          </p:val>
                                        </p:tav>
                                      </p:tavLst>
                                    </p:anim>
                                    <p:animEffect transition="in" filter="fade">
                                      <p:cBhvr>
                                        <p:cTn id="31" dur="420" decel="100000"/>
                                        <p:tgtEl>
                                          <p:spTgt spid="10"/>
                                        </p:tgtEl>
                                      </p:cBhvr>
                                    </p:animEffect>
                                  </p:childTnLst>
                                </p:cTn>
                              </p:par>
                              <p:par>
                                <p:cTn id="37" presetID="42" presetClass="entr" presetSubtype="0" fill="hold" grpId="0" nodeType="withEffect">
                                  <p:stCondLst>
                                    <p:cond delay="1006"/>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60" decel="100000"/>
                                        <p:tgtEl>
                                          <p:spTgt spid="11"/>
                                        </p:tgtEl>
                                      </p:cBhvr>
                                    </p:animEffect>
                                    <p:anim calcmode="lin" valueType="num">
                                      <p:cBhvr>
                                        <p:cTn id="35" dur="700" fill="hold" decel="100000"/>
                                        <p:tgtEl>
                                          <p:spTgt spid="11"/>
                                        </p:tgtEl>
                                        <p:attrNameLst>
                                          <p:attrName>ppt_x</p:attrName>
                                        </p:attrNameLst>
                                      </p:cBhvr>
                                      <p:tavLst>
                                        <p:tav tm="0">
                                          <p:val>
                                            <p:strVal val="#ppt_x"/>
                                          </p:val>
                                        </p:tav>
                                        <p:tav tm="100000">
                                          <p:val>
                                            <p:strVal val="#ppt_x"/>
                                          </p:val>
                                        </p:tav>
                                      </p:tavLst>
                                    </p:anim>
                                    <p:anim calcmode="lin" valueType="num">
                                      <p:cBhvr>
                                        <p:cTn id="36" dur="700" fill="hold" decel="100000"/>
                                        <p:tgtEl>
                                          <p:spTgt spid="11"/>
                                        </p:tgtEl>
                                        <p:attrNameLst>
                                          <p:attrName>ppt_y</p:attrName>
                                        </p:attrNameLst>
                                      </p:cBhvr>
                                      <p:tavLst>
                                        <p:tav tm="0">
                                          <p:val>
                                            <p:strVal val="#ppt_y+-0.0120"/>
                                          </p:val>
                                        </p:tav>
                                        <p:tav tm="100000">
                                          <p:val>
                                            <p:strVal val="#ppt_y"/>
                                          </p:val>
                                        </p:tav>
                                      </p:tavLst>
                                    </p:anim>
                                  </p:childTnLst>
                                </p:cTn>
                              </p:par>
                              <p:par>
                                <p:cTn id="42" presetID="53" presetClass="entr" presetSubtype="16" fill="hold" grpId="0" nodeType="withEffect">
                                  <p:stCondLst>
                                    <p:cond delay="1313"/>
                                  </p:stCondLst>
                                  <p:childTnLst>
                                    <p:set>
                                      <p:cBhvr>
                                        <p:cTn id="38" dur="1" fill="hold">
                                          <p:stCondLst>
                                            <p:cond delay="0"/>
                                          </p:stCondLst>
                                        </p:cTn>
                                        <p:tgtEl>
                                          <p:spTgt spid="12"/>
                                        </p:tgtEl>
                                        <p:attrNameLst>
                                          <p:attrName>style.visibility</p:attrName>
                                        </p:attrNameLst>
                                      </p:cBhvr>
                                      <p:to>
                                        <p:strVal val="visible"/>
                                      </p:to>
                                    </p:set>
                                    <p:anim calcmode="lin" valueType="num">
                                      <p:cBhvr>
                                        <p:cTn id="39" dur="600" fill="hold" decel="100000"/>
                                        <p:tgtEl>
                                          <p:spTgt spid="12"/>
                                        </p:tgtEl>
                                        <p:attrNameLst>
                                          <p:attrName>ppt_w</p:attrName>
                                        </p:attrNameLst>
                                      </p:cBhvr>
                                      <p:tavLst>
                                        <p:tav tm="0">
                                          <p:val>
                                            <p:strVal val="#ppt_w*1.800"/>
                                          </p:val>
                                        </p:tav>
                                        <p:tav tm="100000">
                                          <p:val>
                                            <p:strVal val="#ppt_w"/>
                                          </p:val>
                                        </p:tav>
                                      </p:tavLst>
                                    </p:anim>
                                    <p:anim calcmode="lin" valueType="num">
                                      <p:cBhvr>
                                        <p:cTn id="40" dur="600" fill="hold" decel="100000"/>
                                        <p:tgtEl>
                                          <p:spTgt spid="12"/>
                                        </p:tgtEl>
                                        <p:attrNameLst>
                                          <p:attrName>ppt_h</p:attrName>
                                        </p:attrNameLst>
                                      </p:cBhvr>
                                      <p:tavLst>
                                        <p:tav tm="0">
                                          <p:val>
                                            <p:strVal val="#ppt_h*1.800"/>
                                          </p:val>
                                        </p:tav>
                                        <p:tav tm="100000">
                                          <p:val>
                                            <p:strVal val="#ppt_h"/>
                                          </p:val>
                                        </p:tav>
                                      </p:tavLst>
                                    </p:anim>
                                    <p:animEffect transition="in" filter="fade">
                                      <p:cBhvr>
                                        <p:cTn id="41" dur="420" decel="100000"/>
                                        <p:tgtEl>
                                          <p:spTgt spid="12"/>
                                        </p:tgtEl>
                                      </p:cBhvr>
                                    </p:animEffect>
                                  </p:childTnLst>
                                </p:cTn>
                              </p:par>
                              <p:par>
                                <p:cTn id="47" presetID="42" presetClass="entr" presetSubtype="0" fill="hold" grpId="0" nodeType="withEffect">
                                  <p:stCondLst>
                                    <p:cond delay="1413"/>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560" decel="100000"/>
                                        <p:tgtEl>
                                          <p:spTgt spid="13"/>
                                        </p:tgtEl>
                                      </p:cBhvr>
                                    </p:animEffect>
                                    <p:anim calcmode="lin" valueType="num">
                                      <p:cBhvr>
                                        <p:cTn id="45" dur="700" fill="hold" decel="100000"/>
                                        <p:tgtEl>
                                          <p:spTgt spid="13"/>
                                        </p:tgtEl>
                                        <p:attrNameLst>
                                          <p:attrName>ppt_x</p:attrName>
                                        </p:attrNameLst>
                                      </p:cBhvr>
                                      <p:tavLst>
                                        <p:tav tm="0">
                                          <p:val>
                                            <p:strVal val="#ppt_x"/>
                                          </p:val>
                                        </p:tav>
                                        <p:tav tm="100000">
                                          <p:val>
                                            <p:strVal val="#ppt_x"/>
                                          </p:val>
                                        </p:tav>
                                      </p:tavLst>
                                    </p:anim>
                                    <p:anim calcmode="lin" valueType="num">
                                      <p:cBhvr>
                                        <p:cTn id="46" dur="700" fill="hold" decel="100000"/>
                                        <p:tgtEl>
                                          <p:spTgt spid="13"/>
                                        </p:tgtEl>
                                        <p:attrNameLst>
                                          <p:attrName>ppt_y</p:attrName>
                                        </p:attrNameLst>
                                      </p:cBhvr>
                                      <p:tavLst>
                                        <p:tav tm="0">
                                          <p:val>
                                            <p:strVal val="#ppt_y+-0.0120"/>
                                          </p:val>
                                        </p:tav>
                                        <p:tav tm="100000">
                                          <p:val>
                                            <p:strVal val="#ppt_y"/>
                                          </p:val>
                                        </p:tav>
                                      </p:tavLst>
                                    </p:anim>
                                  </p:childTnLst>
                                </p:cTn>
                              </p:par>
                              <p:par>
                                <p:cTn id="52" presetID="53" presetClass="entr" presetSubtype="16" fill="hold" grpId="0" nodeType="withEffect">
                                  <p:stCondLst>
                                    <p:cond delay="1921"/>
                                  </p:stCondLst>
                                  <p:childTnLst>
                                    <p:set>
                                      <p:cBhvr>
                                        <p:cTn id="48" dur="1" fill="hold">
                                          <p:stCondLst>
                                            <p:cond delay="0"/>
                                          </p:stCondLst>
                                        </p:cTn>
                                        <p:tgtEl>
                                          <p:spTgt spid="14"/>
                                        </p:tgtEl>
                                        <p:attrNameLst>
                                          <p:attrName>style.visibility</p:attrName>
                                        </p:attrNameLst>
                                      </p:cBhvr>
                                      <p:to>
                                        <p:strVal val="visible"/>
                                      </p:to>
                                    </p:set>
                                    <p:anim calcmode="lin" valueType="num">
                                      <p:cBhvr>
                                        <p:cTn id="49" dur="600" fill="hold" decel="100000"/>
                                        <p:tgtEl>
                                          <p:spTgt spid="14"/>
                                        </p:tgtEl>
                                        <p:attrNameLst>
                                          <p:attrName>ppt_w</p:attrName>
                                        </p:attrNameLst>
                                      </p:cBhvr>
                                      <p:tavLst>
                                        <p:tav tm="0">
                                          <p:val>
                                            <p:strVal val="#ppt_w*1.800"/>
                                          </p:val>
                                        </p:tav>
                                        <p:tav tm="100000">
                                          <p:val>
                                            <p:strVal val="#ppt_w"/>
                                          </p:val>
                                        </p:tav>
                                      </p:tavLst>
                                    </p:anim>
                                    <p:anim calcmode="lin" valueType="num">
                                      <p:cBhvr>
                                        <p:cTn id="50" dur="600" fill="hold" decel="100000"/>
                                        <p:tgtEl>
                                          <p:spTgt spid="14"/>
                                        </p:tgtEl>
                                        <p:attrNameLst>
                                          <p:attrName>ppt_h</p:attrName>
                                        </p:attrNameLst>
                                      </p:cBhvr>
                                      <p:tavLst>
                                        <p:tav tm="0">
                                          <p:val>
                                            <p:strVal val="#ppt_h*1.800"/>
                                          </p:val>
                                        </p:tav>
                                        <p:tav tm="100000">
                                          <p:val>
                                            <p:strVal val="#ppt_h"/>
                                          </p:val>
                                        </p:tav>
                                      </p:tavLst>
                                    </p:anim>
                                    <p:animEffect transition="in" filter="fade">
                                      <p:cBhvr>
                                        <p:cTn id="51" dur="420" decel="100000"/>
                                        <p:tgtEl>
                                          <p:spTgt spid="14"/>
                                        </p:tgtEl>
                                      </p:cBhvr>
                                    </p:animEffect>
                                  </p:childTnLst>
                                </p:cTn>
                              </p:par>
                              <p:par>
                                <p:cTn id="57" presetID="42" presetClass="entr" presetSubtype="0" fill="hold" grpId="0" nodeType="withEffect">
                                  <p:stCondLst>
                                    <p:cond delay="2021"/>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60" decel="100000"/>
                                        <p:tgtEl>
                                          <p:spTgt spid="15"/>
                                        </p:tgtEl>
                                      </p:cBhvr>
                                    </p:animEffect>
                                    <p:anim calcmode="lin" valueType="num">
                                      <p:cBhvr>
                                        <p:cTn id="55" dur="700" fill="hold" decel="100000"/>
                                        <p:tgtEl>
                                          <p:spTgt spid="15"/>
                                        </p:tgtEl>
                                        <p:attrNameLst>
                                          <p:attrName>ppt_x</p:attrName>
                                        </p:attrNameLst>
                                      </p:cBhvr>
                                      <p:tavLst>
                                        <p:tav tm="0">
                                          <p:val>
                                            <p:strVal val="#ppt_x"/>
                                          </p:val>
                                        </p:tav>
                                        <p:tav tm="100000">
                                          <p:val>
                                            <p:strVal val="#ppt_x"/>
                                          </p:val>
                                        </p:tav>
                                      </p:tavLst>
                                    </p:anim>
                                    <p:anim calcmode="lin" valueType="num">
                                      <p:cBhvr>
                                        <p:cTn id="56" dur="700" fill="hold" decel="100000"/>
                                        <p:tgtEl>
                                          <p:spTgt spid="15"/>
                                        </p:tgtEl>
                                        <p:attrNameLst>
                                          <p:attrName>ppt_y</p:attrName>
                                        </p:attrNameLst>
                                      </p:cBhvr>
                                      <p:tavLst>
                                        <p:tav tm="0">
                                          <p:val>
                                            <p:strVal val="#ppt_y+-0.0120"/>
                                          </p:val>
                                        </p:tav>
                                        <p:tav tm="100000">
                                          <p:val>
                                            <p:strVal val="#ppt_y"/>
                                          </p:val>
                                        </p:tav>
                                      </p:tavLst>
                                    </p:anim>
                                  </p:childTnLst>
                                </p:cTn>
                              </p:par>
                              <p:par>
                                <p:cTn id="62" presetID="53" presetClass="entr" presetSubtype="16" fill="hold" grpId="0" nodeType="withEffect">
                                  <p:stCondLst>
                                    <p:cond delay="2522"/>
                                  </p:stCondLst>
                                  <p:childTnLst>
                                    <p:set>
                                      <p:cBhvr>
                                        <p:cTn id="58" dur="1" fill="hold">
                                          <p:stCondLst>
                                            <p:cond delay="0"/>
                                          </p:stCondLst>
                                        </p:cTn>
                                        <p:tgtEl>
                                          <p:spTgt spid="16"/>
                                        </p:tgtEl>
                                        <p:attrNameLst>
                                          <p:attrName>style.visibility</p:attrName>
                                        </p:attrNameLst>
                                      </p:cBhvr>
                                      <p:to>
                                        <p:strVal val="visible"/>
                                      </p:to>
                                    </p:set>
                                    <p:anim calcmode="lin" valueType="num">
                                      <p:cBhvr>
                                        <p:cTn id="59" dur="600" fill="hold" decel="100000"/>
                                        <p:tgtEl>
                                          <p:spTgt spid="16"/>
                                        </p:tgtEl>
                                        <p:attrNameLst>
                                          <p:attrName>ppt_w</p:attrName>
                                        </p:attrNameLst>
                                      </p:cBhvr>
                                      <p:tavLst>
                                        <p:tav tm="0">
                                          <p:val>
                                            <p:strVal val="#ppt_w*1.800"/>
                                          </p:val>
                                        </p:tav>
                                        <p:tav tm="100000">
                                          <p:val>
                                            <p:strVal val="#ppt_w"/>
                                          </p:val>
                                        </p:tav>
                                      </p:tavLst>
                                    </p:anim>
                                    <p:anim calcmode="lin" valueType="num">
                                      <p:cBhvr>
                                        <p:cTn id="60" dur="600" fill="hold" decel="100000"/>
                                        <p:tgtEl>
                                          <p:spTgt spid="16"/>
                                        </p:tgtEl>
                                        <p:attrNameLst>
                                          <p:attrName>ppt_h</p:attrName>
                                        </p:attrNameLst>
                                      </p:cBhvr>
                                      <p:tavLst>
                                        <p:tav tm="0">
                                          <p:val>
                                            <p:strVal val="#ppt_h*1.800"/>
                                          </p:val>
                                        </p:tav>
                                        <p:tav tm="100000">
                                          <p:val>
                                            <p:strVal val="#ppt_h"/>
                                          </p:val>
                                        </p:tav>
                                      </p:tavLst>
                                    </p:anim>
                                    <p:animEffect transition="in" filter="fade">
                                      <p:cBhvr>
                                        <p:cTn id="61" dur="420" decel="100000"/>
                                        <p:tgtEl>
                                          <p:spTgt spid="16"/>
                                        </p:tgtEl>
                                      </p:cBhvr>
                                    </p:animEffect>
                                  </p:childTnLst>
                                </p:cTn>
                              </p:par>
                              <p:par>
                                <p:cTn id="67" presetID="42" presetClass="entr" presetSubtype="0" fill="hold" grpId="0" nodeType="withEffect">
                                  <p:stCondLst>
                                    <p:cond delay="2622"/>
                                  </p:stCondLst>
                                  <p:childTnLst>
                                    <p:set>
                                      <p:cBhvr>
                                        <p:cTn id="63" dur="1" fill="hold">
                                          <p:stCondLst>
                                            <p:cond delay="0"/>
                                          </p:stCondLst>
                                        </p:cTn>
                                        <p:tgtEl>
                                          <p:spTgt spid="17"/>
                                        </p:tgtEl>
                                        <p:attrNameLst>
                                          <p:attrName>style.visibility</p:attrName>
                                        </p:attrNameLst>
                                      </p:cBhvr>
                                      <p:to>
                                        <p:strVal val="visible"/>
                                      </p:to>
                                    </p:set>
                                    <p:animEffect transition="in" filter="fade">
                                      <p:cBhvr>
                                        <p:cTn id="64" dur="560" decel="100000"/>
                                        <p:tgtEl>
                                          <p:spTgt spid="17"/>
                                        </p:tgtEl>
                                      </p:cBhvr>
                                    </p:animEffect>
                                    <p:anim calcmode="lin" valueType="num">
                                      <p:cBhvr>
                                        <p:cTn id="65" dur="700" fill="hold" decel="100000"/>
                                        <p:tgtEl>
                                          <p:spTgt spid="17"/>
                                        </p:tgtEl>
                                        <p:attrNameLst>
                                          <p:attrName>ppt_x</p:attrName>
                                        </p:attrNameLst>
                                      </p:cBhvr>
                                      <p:tavLst>
                                        <p:tav tm="0">
                                          <p:val>
                                            <p:strVal val="#ppt_x"/>
                                          </p:val>
                                        </p:tav>
                                        <p:tav tm="100000">
                                          <p:val>
                                            <p:strVal val="#ppt_x"/>
                                          </p:val>
                                        </p:tav>
                                      </p:tavLst>
                                    </p:anim>
                                    <p:anim calcmode="lin" valueType="num">
                                      <p:cBhvr>
                                        <p:cTn id="66" dur="700" fill="hold" decel="100000"/>
                                        <p:tgtEl>
                                          <p:spTgt spid="17"/>
                                        </p:tgtEl>
                                        <p:attrNameLst>
                                          <p:attrName>ppt_y</p:attrName>
                                        </p:attrNameLst>
                                      </p:cBhvr>
                                      <p:tavLst>
                                        <p:tav tm="0">
                                          <p:val>
                                            <p:strVal val="#ppt_y+0.0120"/>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P spid="18"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2.xml><?xml version="1.0" encoding="utf-8"?>
<p:sld xmlns:p14="http://schemas.microsoft.com/office/powerpoint/2010/main"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orbA" descr="Decorative background light">    </p:cNvPr>
          <p:cNvPicPr>
            <a:picLocks noChangeAspect="1"/>
          </p:cNvPicPr>
          <p:nvPr/>
        </p:nvPicPr>
        <p:blipFill>
          <a:blip r:embed="rId1"/>
          <a:stretch>
            <a:fillRect/>
          </a:stretch>
        </p:blipFill>
        <p:spPr>
          <a:xfrm>
            <a:off x="-457200" y="914400"/>
            <a:ext cx="9144000" cy="9144000"/>
          </a:xfrm>
          <a:prstGeom prst="rect">
            <a:avLst/>
          </a:prstGeom>
        </p:spPr>
      </p:pic>
      <p:pic>
        <p:nvPicPr>
          <p:cNvPr id="3" name="!!orbB" descr="Decorative background light">    </p:cNvPr>
          <p:cNvPicPr>
            <a:picLocks noChangeAspect="1"/>
          </p:cNvPicPr>
          <p:nvPr/>
        </p:nvPicPr>
        <p:blipFill>
          <a:blip r:embed="rId2"/>
          <a:stretch>
            <a:fillRect/>
          </a:stretch>
        </p:blipFill>
        <p:spPr>
          <a:xfrm>
            <a:off x="8595360" y="-1828800"/>
            <a:ext cx="5486400" cy="5486400"/>
          </a:xfrm>
          <a:prstGeom prst="rect">
            <a:avLst/>
          </a:prstGeom>
        </p:spPr>
      </p:pic>
      <p:sp>
        <p:nvSpPr>
          <p:cNvPr id="4" name="!!kicker"/>
          <p:cNvSpPr/>
          <p:nvPr>
            <p:ph idx="100" type="body" hasCustomPrompt="1"/>
          </p:nvPr>
        </p:nvSpPr>
        <p:spPr>
          <a:xfrm>
            <a:off x="548640" y="384048"/>
            <a:ext cx="8732520" cy="329184"/>
          </a:xfrm>
          <a:prstGeom prst="rect">
            <a:avLst/>
          </a:prstGeom>
          <a:noFill/>
          <a:ln/>
        </p:spPr>
        <p:txBody>
          <a:bodyPr wrap="square" lIns="0" tIns="0" rIns="0" bIns="0" rtlCol="0" anchor="t"/>
          <a:lstStyle/>
          <a:p>
            <a:pPr algn="l" indent="0" marL="0">
              <a:buNone/>
            </a:pPr>
            <a:r>
              <a:rPr lang="en-US" sz="1500" b="1" spc="300" kern="0" dirty="0">
                <a:solidFill>
                  <a:schemeClr val="accent1"/>
                </a:solidFill>
              </a:rPr>
              <a:t>02 — RESOURCES &amp; GROWTH</a:t>
            </a:r>
            <a:endParaRPr lang="en-US" sz="1500" dirty="0"/>
          </a:p>
        </p:txBody>
      </p:sp>
      <p:sp>
        <p:nvSpPr>
          <p:cNvPr id="5" name="!!title"/>
          <p:cNvSpPr/>
          <p:nvPr>
            <p:ph idx="101" type="title" hasCustomPrompt="1"/>
          </p:nvPr>
        </p:nvSpPr>
        <p:spPr>
          <a:xfrm>
            <a:off x="548640" y="731520"/>
            <a:ext cx="8732520" cy="786384"/>
          </a:xfrm>
          <a:prstGeom prst="rect">
            <a:avLst/>
          </a:prstGeom>
          <a:noFill/>
          <a:ln/>
        </p:spPr>
        <p:txBody>
          <a:bodyPr wrap="square" lIns="0" tIns="0" rIns="0" bIns="0" rtlCol="0" anchor="t"/>
          <a:lstStyle/>
          <a:p>
            <a:pPr algn="l" indent="0" marL="0">
              <a:buNone/>
            </a:pPr>
            <a:r>
              <a:rPr lang="en-US" sz="3800" b="1" dirty="0">
                <a:solidFill>
                  <a:schemeClr val="tx1"/>
                </a:solidFill>
              </a:rPr>
              <a:t>Burning more gas than it produces</a:t>
            </a:r>
            <a:endParaRPr lang="en-US" sz="3800" dirty="0"/>
          </a:p>
        </p:txBody>
      </p:sp>
      <p:graphicFrame>
        <p:nvGraphicFramePr>
          <p:cNvPr id="6" name="gasbalance_area" descr=""/>
          <p:cNvGraphicFramePr/>
          <p:nvPr/>
        </p:nvGraphicFramePr>
        <p:xfrm>
          <a:off x="457200" y="1783080"/>
          <a:ext cx="7589520" cy="4069080"/>
        </p:xfrm>
        <a:graphic xmlns:a="http://schemas.openxmlformats.org/drawingml/2006/main">
          <a:graphicData uri="http://schemas.openxmlformats.org/drawingml/2006/chart">
            <c:chart xmlns:c="http://schemas.openxmlformats.org/drawingml/2006/chart" r:id="rId3"/>
          </a:graphicData>
        </a:graphic>
      </p:graphicFrame>
      <p:sp>
        <p:nvSpPr>
          <p:cNvPr id="7" name="gasbalance_t_1"/>
          <p:cNvSpPr txBox="1"/>
          <p:nvPr/>
        </p:nvSpPr>
        <p:spPr>
          <a:xfrm>
            <a:off x="6784848" y="2651760"/>
            <a:ext cx="914400" cy="548640"/>
          </a:xfrm>
          <a:prstGeom prst="rect">
            <a:avLst/>
          </a:prstGeom>
          <a:noFill/>
          <a:ln/>
        </p:spPr>
        <p:txBody>
          <a:bodyPr wrap="square" lIns="0" tIns="0" rIns="0" bIns="0" rtlCol="0" anchor="t"/>
          <a:lstStyle/>
          <a:p>
            <a:pPr algn="ctr" indent="0" marL="0">
              <a:buNone/>
            </a:pPr>
            <a:r>
              <a:rPr lang="en-US" sz="1600" b="1" dirty="0">
                <a:solidFill>
                  <a:schemeClr val="tx1"/>
                </a:solidFill>
                <a:latin typeface="Arial" pitchFamily="34" charset="0"/>
                <a:ea typeface="Arial" pitchFamily="34" charset="-122"/>
                <a:cs typeface="Arial" pitchFamily="34" charset="-120"/>
              </a:rPr>
              <a:t>LNG</a:t>
            </a:r>
            <a:endParaRPr lang="en-US" sz="1600" dirty="0"/>
          </a:p>
          <a:p>
            <a:pPr algn="ctr" indent="0" marL="0">
              <a:buNone/>
            </a:pPr>
            <a:r>
              <a:rPr lang="en-US" sz="1600" b="1" dirty="0">
                <a:solidFill>
                  <a:schemeClr val="tx1"/>
                </a:solidFill>
                <a:latin typeface="Arial" pitchFamily="34" charset="0"/>
                <a:ea typeface="Arial" pitchFamily="34" charset="-122"/>
                <a:cs typeface="Arial" pitchFamily="34" charset="-120"/>
              </a:rPr>
              <a:t>imports</a:t>
            </a:r>
            <a:endParaRPr lang="en-US" sz="1600" dirty="0"/>
          </a:p>
        </p:txBody>
      </p:sp>
      <p:sp>
        <p:nvSpPr>
          <p:cNvPr id="8" name="gasbalance_t_2"/>
          <p:cNvSpPr txBox="1"/>
          <p:nvPr/>
        </p:nvSpPr>
        <p:spPr>
          <a:xfrm>
            <a:off x="5120640" y="4206240"/>
            <a:ext cx="2651760" cy="320040"/>
          </a:xfrm>
          <a:prstGeom prst="rect">
            <a:avLst/>
          </a:prstGeom>
          <a:noFill/>
          <a:ln/>
        </p:spPr>
        <p:txBody>
          <a:bodyPr wrap="square" lIns="0" tIns="0" rIns="0" bIns="0" rtlCol="0" anchor="t"/>
          <a:lstStyle/>
          <a:p>
            <a:pPr indent="0" marL="0">
              <a:buNone/>
            </a:pPr>
            <a:r>
              <a:rPr lang="en-US" sz="1600" b="1" dirty="0">
                <a:solidFill>
                  <a:schemeClr val="bg1"/>
                </a:solidFill>
                <a:latin typeface="Arial" pitchFamily="34" charset="0"/>
                <a:ea typeface="Arial" pitchFamily="34" charset="-122"/>
                <a:cs typeface="Arial" pitchFamily="34" charset="-120"/>
              </a:rPr>
              <a:t>Domestic production</a:t>
            </a:r>
            <a:endParaRPr lang="en-US" sz="1600" dirty="0"/>
          </a:p>
        </p:txBody>
      </p:sp>
      <p:sp>
        <p:nvSpPr>
          <p:cNvPr id="9" name="gasbalance_t_3"/>
          <p:cNvSpPr txBox="1"/>
          <p:nvPr/>
        </p:nvSpPr>
        <p:spPr>
          <a:xfrm>
            <a:off x="548640" y="1554480"/>
            <a:ext cx="3200400" cy="27432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billion m³ (bcm) per year</a:t>
            </a:r>
            <a:endParaRPr lang="en-US" sz="1400" dirty="0"/>
          </a:p>
        </p:txBody>
      </p:sp>
      <p:sp>
        <p:nvSpPr>
          <p:cNvPr id="10" name="gasbalance_t_4"/>
          <p:cNvSpPr txBox="1"/>
          <p:nvPr/>
        </p:nvSpPr>
        <p:spPr>
          <a:xfrm>
            <a:off x="8503920" y="1828800"/>
            <a:ext cx="3108960" cy="1280160"/>
          </a:xfrm>
          <a:prstGeom prst="rect">
            <a:avLst/>
          </a:prstGeom>
          <a:noFill/>
          <a:ln/>
        </p:spPr>
        <p:txBody>
          <a:bodyPr wrap="square" lIns="0" tIns="0" rIns="0" bIns="0" rtlCol="0" anchor="t"/>
          <a:lstStyle/>
          <a:p>
            <a:pPr indent="0" marL="0">
              <a:buNone/>
            </a:pPr>
            <a:r>
              <a:rPr lang="en-US" sz="9600" b="1" dirty="0">
                <a:solidFill>
                  <a:schemeClr val="accent2"/>
                </a:solidFill>
                <a:latin typeface="Arial" pitchFamily="34" charset="0"/>
                <a:ea typeface="Arial" pitchFamily="34" charset="-122"/>
                <a:cs typeface="Arial" pitchFamily="34" charset="-120"/>
              </a:rPr>
              <a:t>40%</a:t>
            </a:r>
            <a:endParaRPr lang="en-US" sz="9600" dirty="0"/>
          </a:p>
        </p:txBody>
      </p:sp>
      <p:sp>
        <p:nvSpPr>
          <p:cNvPr id="11" name="gasbalance_t_5"/>
          <p:cNvSpPr txBox="1"/>
          <p:nvPr/>
        </p:nvSpPr>
        <p:spPr>
          <a:xfrm>
            <a:off x="8503920" y="3154680"/>
            <a:ext cx="3108960" cy="86868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of the gas Kuwait used in 2024 was imported as LNG</a:t>
            </a:r>
            <a:endParaRPr lang="en-US" sz="1900" dirty="0"/>
          </a:p>
        </p:txBody>
      </p:sp>
      <p:sp>
        <p:nvSpPr>
          <p:cNvPr id="12" name="gasbalance_t_6"/>
          <p:cNvSpPr txBox="1"/>
          <p:nvPr/>
        </p:nvSpPr>
        <p:spPr>
          <a:xfrm>
            <a:off x="8503920" y="4114800"/>
            <a:ext cx="3108960" cy="1280160"/>
          </a:xfrm>
          <a:prstGeom prst="rect">
            <a:avLst/>
          </a:prstGeom>
          <a:noFill/>
          <a:ln/>
        </p:spPr>
        <p:txBody>
          <a:bodyPr wrap="square" lIns="0" tIns="0" rIns="0" bIns="0" rtlCol="0" anchor="t"/>
          <a:lstStyle/>
          <a:p>
            <a:pPr indent="0" marL="0">
              <a:buNone/>
            </a:pPr>
            <a:r>
              <a:rPr lang="en-US" sz="1600" dirty="0">
                <a:solidFill>
                  <a:schemeClr val="tx2"/>
                </a:solidFill>
                <a:latin typeface="Arial" pitchFamily="34" charset="0"/>
                <a:ea typeface="Arial" pitchFamily="34" charset="-122"/>
                <a:cs typeface="Arial" pitchFamily="34" charset="-120"/>
              </a:rPr>
              <a:t>≈ 15 bcm produced vs ≈ 25 bcm consumed. Imports began in 2009 at Mina Al-Ahmadi; Al-Zour now has a permanent LNG terminal.</a:t>
            </a:r>
            <a:endParaRPr lang="en-US" sz="1600" dirty="0"/>
          </a:p>
        </p:txBody>
      </p:sp>
      <p:sp>
        <p:nvSpPr>
          <p:cNvPr id="13" name="!!source"/>
          <p:cNvSpPr txBox="1"/>
          <p:nvPr/>
        </p:nvSpPr>
        <p:spPr>
          <a:xfrm>
            <a:off x="548640" y="5943600"/>
            <a:ext cx="9692640" cy="274320"/>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Sources: Energy Institute (2025) via Our World in Data (2025); EIA (2011a); KIPIC (n.d.). Converted at 10 TWh ≈ 1 bcm.</a:t>
            </a:r>
            <a:endParaRPr lang="en-US" sz="1200" dirty="0"/>
          </a:p>
        </p:txBody>
      </p:sp>
      <p:sp>
        <p:nvSpPr>
          <p:cNvPr id="14" name="!!home_bg"/>
          <p:cNvSpPr/>
          <p:nvPr/>
        </p:nvSpPr>
        <p:spPr>
          <a:xfrm>
            <a:off x="10637215" y="6272784"/>
            <a:ext cx="384048" cy="384048"/>
          </a:xfrm>
          <a:prstGeom prst="roundRect">
            <a:avLst>
              <a:gd name="adj" fmla="val 23810"/>
            </a:avLst>
          </a:prstGeom>
          <a:solidFill>
            <a:srgbClr val="2C2C2E"/>
          </a:solidFill>
          <a:ln/>
        </p:spPr>
      </p:sp>
      <p:pic>
        <p:nvPicPr>
          <p:cNvPr id="15" name="!!home_ic" descr="Decorative graphic">    </p:cNvPr>
          <p:cNvPicPr>
            <a:picLocks noChangeAspect="1"/>
          </p:cNvPicPr>
          <p:nvPr/>
        </p:nvPicPr>
        <p:blipFill>
          <a:blip r:embed="rId4"/>
          <a:stretch>
            <a:fillRect/>
          </a:stretch>
        </p:blipFill>
        <p:spPr>
          <a:xfrm>
            <a:off x="10719511" y="6355080"/>
            <a:ext cx="219456" cy="219456"/>
          </a:xfrm>
          <a:prstGeom prst="rect">
            <a:avLst/>
          </a:prstGeom>
        </p:spPr>
      </p:pic>
      <p:sp>
        <p:nvSpPr>
          <p:cNvPr id="16" name="!!home_hit">
            <a:hlinkClick r:id="rId5" tooltip="Back to contents" action="ppaction://hlinksldjump" highlightClick="1"/>
          </p:cNvPr>
          <p:cNvSpPr/>
          <p:nvPr/>
        </p:nvSpPr>
        <p:spPr>
          <a:xfrm>
            <a:off x="10637215" y="6272784"/>
            <a:ext cx="384048" cy="384048"/>
          </a:xfrm>
          <a:prstGeom prst="roundRect">
            <a:avLst>
              <a:gd name="adj" fmla="val 23810"/>
            </a:avLst>
          </a:prstGeom>
          <a:solidFill>
            <a:srgbClr val="000000">
              <a:alpha val="0"/>
            </a:srgbClr>
          </a:solidFill>
          <a:ln/>
        </p:spPr>
      </p:sp>
      <p:sp>
        <p:nvSpPr>
          <p:cNvPr id="18" name="!!footer"/>
          <p:cNvSpPr txBox="1"/>
          <p:nvPr/>
        </p:nvSpPr>
        <p:spPr>
          <a:xfrm>
            <a:off x="548640" y="6327648"/>
            <a:ext cx="5486400" cy="292608"/>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Kuwait Oil &amp; Gas  ·  EGCH2230</a:t>
            </a:r>
            <a:endParaRPr lang="en-US" sz="1200" dirty="0"/>
          </a:p>
        </p:txBody>
      </p:sp>
      <p:sp>
        <p:nvSpPr>
          <p:cNvPr id="19" name="!!num"/>
          <p:cNvSpPr txBox="1"/>
          <p:nvPr/>
        </p:nvSpPr>
        <p:spPr>
          <a:xfrm>
            <a:off x="11094415" y="6327648"/>
            <a:ext cx="548640" cy="292608"/>
          </a:xfrm>
          <a:prstGeom prst="rect">
            <a:avLst/>
          </a:prstGeom>
          <a:noFill/>
          <a:ln/>
        </p:spPr>
        <p:txBody>
          <a:bodyPr wrap="square" lIns="0" tIns="0" rIns="0" bIns="0" rtlCol="0" anchor="ctr"/>
          <a:lstStyle/>
          <a:p>
            <a:pPr algn="r" indent="0" marL="0">
              <a:buNone/>
            </a:pPr>
            <a:r>
              <a:rPr lang="en-US" sz="1200" dirty="0">
                <a:solidFill>
                  <a:schemeClr val="tx2"/>
                </a:solidFill>
                <a:latin typeface="Arial" pitchFamily="34" charset="0"/>
                <a:ea typeface="Arial" pitchFamily="34" charset="-122"/>
                <a:cs typeface="Arial" pitchFamily="34" charset="-120"/>
              </a:rPr>
              <a:t>12</a:t>
            </a:r>
            <a:endParaRPr lang="en-US" sz="1200" dirty="0"/>
          </a:p>
        </p:txBody>
      </p:sp>
      <p:pic>
        <p:nvPicPr>
          <p:cNvPr id="20" name="!!badge" descr="University of Technology and Applied Sciences, Salalah">    </p:cNvPr>
          <p:cNvPicPr>
            <a:picLocks noChangeAspect="1"/>
          </p:cNvPicPr>
          <p:nvPr/>
        </p:nvPicPr>
        <p:blipFill>
          <a:blip r:embed="rId6"/>
          <a:stretch>
            <a:fillRect/>
          </a:stretch>
        </p:blipFill>
        <p:spPr>
          <a:xfrm>
            <a:off x="9677095" y="274320"/>
            <a:ext cx="1965960" cy="80987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0" presetClass="path" presetSubtype="0" fill="hold" grpId="0" nodeType="afterEffect" repeatCount="indefinite" autoRev="1">
                                  <p:stCondLst>
                                    <p:cond delay="0"/>
                                  </p:stCondLst>
                                  <p:childTnLst>
                                    <p:animMotion origin="layout" path="M 0 0 L 0.0350 -0.0300 E" pathEditMode="relative" ptsTypes="">
                                      <p:cBhvr>
                                        <p:cTn id="5" dur="13000" fill="hold" accel="50000" decel="50000"/>
                                        <p:tgtEl>
                                          <p:spTgt spid="2"/>
                                        </p:tgtEl>
                                        <p:attrNameLst>
                                          <p:attrName>ppt_x</p:attrName>
                                          <p:attrName>ppt_y</p:attrName>
                                        </p:attrNameLst>
                                      </p:cBhvr>
                                      <p:rCtr x="0" y="0"/>
                                    </p:animMotion>
                                  </p:childTnLst>
                                </p:cTn>
                              </p:par>
                              <p:par>
                                <p:cTn id="8" presetID="0" presetClass="path" presetSubtype="0" fill="hold" grpId="0" nodeType="withEffect" repeatCount="indefinite" autoRev="1">
                                  <p:stCondLst>
                                    <p:cond delay="0"/>
                                  </p:stCondLst>
                                  <p:childTnLst>
                                    <p:animMotion origin="layout" path="M 0 0 L -0.0300 0.0250 E" pathEditMode="relative" ptsTypes="">
                                      <p:cBhvr>
                                        <p:cTn id="7" dur="15000" fill="hold" accel="50000" decel="50000"/>
                                        <p:tgtEl>
                                          <p:spTgt spid="3"/>
                                        </p:tgtEl>
                                        <p:attrNameLst>
                                          <p:attrName>ppt_x</p:attrName>
                                          <p:attrName>ppt_y</p:attrName>
                                        </p:attrNameLst>
                                      </p:cBhvr>
                                      <p:rCtr x="0" y="0"/>
                                    </p:animMotion>
                                  </p:childTnLst>
                                </p:cTn>
                              </p:par>
                              <p:par>
                                <p:cTn id="11" presetID="22" presetClass="entr" presetSubtype="8" fill="hold" grpId="0" nodeType="withEffect">
                                  <p:stCondLst>
                                    <p:cond delay="25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2400" decel="100000"/>
                                        <p:tgtEl>
                                          <p:spTgt spid="6"/>
                                        </p:tgtEl>
                                      </p:cBhvr>
                                    </p:animEffect>
                                  </p:childTnLst>
                                </p:cTn>
                              </p:par>
                              <p:par>
                                <p:cTn id="14" presetID="10" presetClass="entr" presetSubtype="0" fill="hold" grpId="0" nodeType="withEffect">
                                  <p:stCondLst>
                                    <p:cond delay="30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700" decel="100000"/>
                                        <p:tgtEl>
                                          <p:spTgt spid="9"/>
                                        </p:tgtEl>
                                      </p:cBhvr>
                                    </p:animEffect>
                                  </p:childTnLst>
                                </p:cTn>
                              </p:par>
                              <p:par>
                                <p:cTn id="17" presetID="10" presetClass="entr" presetSubtype="0" fill="hold" grpId="0" nodeType="withEffect">
                                  <p:stCondLst>
                                    <p:cond delay="128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600" decel="100000"/>
                                        <p:tgtEl>
                                          <p:spTgt spid="8"/>
                                        </p:tgtEl>
                                      </p:cBhvr>
                                    </p:animEffect>
                                  </p:childTnLst>
                                </p:cTn>
                              </p:par>
                              <p:par>
                                <p:cTn id="22" presetID="53" presetClass="entr" presetSubtype="16" fill="hold" grpId="0" nodeType="withEffect">
                                  <p:stCondLst>
                                    <p:cond delay="1700"/>
                                  </p:stCondLst>
                                  <p:childTnLst>
                                    <p:set>
                                      <p:cBhvr>
                                        <p:cTn id="18" dur="1" fill="hold">
                                          <p:stCondLst>
                                            <p:cond delay="0"/>
                                          </p:stCondLst>
                                        </p:cTn>
                                        <p:tgtEl>
                                          <p:spTgt spid="10"/>
                                        </p:tgtEl>
                                        <p:attrNameLst>
                                          <p:attrName>style.visibility</p:attrName>
                                        </p:attrNameLst>
                                      </p:cBhvr>
                                      <p:to>
                                        <p:strVal val="visible"/>
                                      </p:to>
                                    </p:set>
                                    <p:anim calcmode="lin" valueType="num">
                                      <p:cBhvr>
                                        <p:cTn id="19" dur="1100" fill="hold" decel="100000"/>
                                        <p:tgtEl>
                                          <p:spTgt spid="10"/>
                                        </p:tgtEl>
                                        <p:attrNameLst>
                                          <p:attrName>ppt_w</p:attrName>
                                        </p:attrNameLst>
                                      </p:cBhvr>
                                      <p:tavLst>
                                        <p:tav tm="0">
                                          <p:val>
                                            <p:strVal val="#ppt_w*0.860"/>
                                          </p:val>
                                        </p:tav>
                                        <p:tav tm="100000">
                                          <p:val>
                                            <p:strVal val="#ppt_w"/>
                                          </p:val>
                                        </p:tav>
                                      </p:tavLst>
                                    </p:anim>
                                    <p:anim calcmode="lin" valueType="num">
                                      <p:cBhvr>
                                        <p:cTn id="20" dur="1100" fill="hold" decel="100000"/>
                                        <p:tgtEl>
                                          <p:spTgt spid="10"/>
                                        </p:tgtEl>
                                        <p:attrNameLst>
                                          <p:attrName>ppt_h</p:attrName>
                                        </p:attrNameLst>
                                      </p:cBhvr>
                                      <p:tavLst>
                                        <p:tav tm="0">
                                          <p:val>
                                            <p:strVal val="#ppt_h*0.860"/>
                                          </p:val>
                                        </p:tav>
                                        <p:tav tm="100000">
                                          <p:val>
                                            <p:strVal val="#ppt_h"/>
                                          </p:val>
                                        </p:tav>
                                      </p:tavLst>
                                    </p:anim>
                                    <p:animEffect transition="in" filter="fade">
                                      <p:cBhvr>
                                        <p:cTn id="21" dur="770" decel="100000"/>
                                        <p:tgtEl>
                                          <p:spTgt spid="10"/>
                                        </p:tgtEl>
                                      </p:cBhvr>
                                    </p:animEffect>
                                  </p:childTnLst>
                                </p:cTn>
                              </p:par>
                              <p:par>
                                <p:cTn id="25" presetID="10" presetClass="entr" presetSubtype="0" fill="hold" grpId="0" nodeType="withEffect">
                                  <p:stCondLst>
                                    <p:cond delay="1791"/>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600" decel="100000"/>
                                        <p:tgtEl>
                                          <p:spTgt spid="7"/>
                                        </p:tgtEl>
                                      </p:cBhvr>
                                    </p:animEffect>
                                  </p:childTnLst>
                                </p:cTn>
                              </p:par>
                              <p:par>
                                <p:cTn id="30" presetID="42" presetClass="entr" presetSubtype="0" fill="hold" grpId="0" nodeType="withEffect">
                                  <p:stCondLst>
                                    <p:cond delay="200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640" decel="100000"/>
                                        <p:tgtEl>
                                          <p:spTgt spid="11"/>
                                        </p:tgtEl>
                                      </p:cBhvr>
                                    </p:animEffect>
                                    <p:anim calcmode="lin" valueType="num">
                                      <p:cBhvr>
                                        <p:cTn id="28" dur="800" fill="hold" decel="100000"/>
                                        <p:tgtEl>
                                          <p:spTgt spid="11"/>
                                        </p:tgtEl>
                                        <p:attrNameLst>
                                          <p:attrName>ppt_x</p:attrName>
                                        </p:attrNameLst>
                                      </p:cBhvr>
                                      <p:tavLst>
                                        <p:tav tm="0">
                                          <p:val>
                                            <p:strVal val="#ppt_x"/>
                                          </p:val>
                                        </p:tav>
                                        <p:tav tm="100000">
                                          <p:val>
                                            <p:strVal val="#ppt_x"/>
                                          </p:val>
                                        </p:tav>
                                      </p:tavLst>
                                    </p:anim>
                                    <p:anim calcmode="lin" valueType="num">
                                      <p:cBhvr>
                                        <p:cTn id="29" dur="800" fill="hold" decel="100000"/>
                                        <p:tgtEl>
                                          <p:spTgt spid="11"/>
                                        </p:tgtEl>
                                        <p:attrNameLst>
                                          <p:attrName>ppt_y</p:attrName>
                                        </p:attrNameLst>
                                      </p:cBhvr>
                                      <p:tavLst>
                                        <p:tav tm="0">
                                          <p:val>
                                            <p:strVal val="#ppt_y+0.0250"/>
                                          </p:val>
                                        </p:tav>
                                        <p:tav tm="100000">
                                          <p:val>
                                            <p:strVal val="#ppt_y"/>
                                          </p:val>
                                        </p:tav>
                                      </p:tavLst>
                                    </p:anim>
                                  </p:childTnLst>
                                </p:cTn>
                              </p:par>
                              <p:par>
                                <p:cTn id="35" presetID="42" presetClass="entr" presetSubtype="0" fill="hold" grpId="0" nodeType="withEffect">
                                  <p:stCondLst>
                                    <p:cond delay="220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640" decel="100000"/>
                                        <p:tgtEl>
                                          <p:spTgt spid="12"/>
                                        </p:tgtEl>
                                      </p:cBhvr>
                                    </p:animEffect>
                                    <p:anim calcmode="lin" valueType="num">
                                      <p:cBhvr>
                                        <p:cTn id="33" dur="800" fill="hold" decel="100000"/>
                                        <p:tgtEl>
                                          <p:spTgt spid="12"/>
                                        </p:tgtEl>
                                        <p:attrNameLst>
                                          <p:attrName>ppt_x</p:attrName>
                                        </p:attrNameLst>
                                      </p:cBhvr>
                                      <p:tavLst>
                                        <p:tav tm="0">
                                          <p:val>
                                            <p:strVal val="#ppt_x"/>
                                          </p:val>
                                        </p:tav>
                                        <p:tav tm="100000">
                                          <p:val>
                                            <p:strVal val="#ppt_x"/>
                                          </p:val>
                                        </p:tav>
                                      </p:tavLst>
                                    </p:anim>
                                    <p:anim calcmode="lin" valueType="num">
                                      <p:cBhvr>
                                        <p:cTn id="34" dur="800" fill="hold" decel="100000"/>
                                        <p:tgtEl>
                                          <p:spTgt spid="12"/>
                                        </p:tgtEl>
                                        <p:attrNameLst>
                                          <p:attrName>ppt_y</p:attrName>
                                        </p:attrNameLst>
                                      </p:cBhvr>
                                      <p:tavLst>
                                        <p:tav tm="0">
                                          <p:val>
                                            <p:strVal val="#ppt_y+0.0250"/>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P spid="9" grpId="0" animBg="1"/>
      <p:bldP spid="8" grpId="0" animBg="1"/>
      <p:bldP spid="10" grpId="0" animBg="1"/>
      <p:bldP spid="7" grpId="0" animBg="1"/>
      <p:bldP spid="11" grpId="0" animBg="1"/>
      <p:bldP spid="12" grpId="0" animBg="1"/>
    </p:bldLst>
  </p:timing>
</p:sld>
</file>

<file path=ppt/slides/slide13.xml><?xml version="1.0" encoding="utf-8"?>
<p:sld xmlns:p14="http://schemas.microsoft.com/office/powerpoint/2010/main"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orbA" descr="Decorative background light">    </p:cNvPr>
          <p:cNvPicPr>
            <a:picLocks noChangeAspect="1"/>
          </p:cNvPicPr>
          <p:nvPr/>
        </p:nvPicPr>
        <p:blipFill>
          <a:blip r:embed="rId1"/>
          <a:stretch>
            <a:fillRect/>
          </a:stretch>
        </p:blipFill>
        <p:spPr>
          <a:xfrm>
            <a:off x="1234440" y="-1325880"/>
            <a:ext cx="9601200" cy="9601200"/>
          </a:xfrm>
          <a:prstGeom prst="rect">
            <a:avLst/>
          </a:prstGeom>
        </p:spPr>
      </p:pic>
      <p:pic>
        <p:nvPicPr>
          <p:cNvPr id="3" name="!!orbB" descr="Decorative background light">    </p:cNvPr>
          <p:cNvPicPr>
            <a:picLocks noChangeAspect="1"/>
          </p:cNvPicPr>
          <p:nvPr/>
        </p:nvPicPr>
        <p:blipFill>
          <a:blip r:embed="rId2"/>
          <a:stretch>
            <a:fillRect/>
          </a:stretch>
        </p:blipFill>
        <p:spPr>
          <a:xfrm>
            <a:off x="-1554480" y="4389120"/>
            <a:ext cx="4572000" cy="4572000"/>
          </a:xfrm>
          <a:prstGeom prst="rect">
            <a:avLst/>
          </a:prstGeom>
        </p:spPr>
      </p:pic>
      <p:sp>
        <p:nvSpPr>
          <p:cNvPr id="4" name="!!kicker"/>
          <p:cNvSpPr/>
          <p:nvPr>
            <p:ph idx="100" type="body" hasCustomPrompt="1"/>
          </p:nvPr>
        </p:nvSpPr>
        <p:spPr>
          <a:xfrm>
            <a:off x="548640" y="384048"/>
            <a:ext cx="8732520" cy="329184"/>
          </a:xfrm>
          <a:prstGeom prst="rect">
            <a:avLst/>
          </a:prstGeom>
          <a:noFill/>
          <a:ln/>
        </p:spPr>
        <p:txBody>
          <a:bodyPr wrap="square" lIns="0" tIns="0" rIns="0" bIns="0" rtlCol="0" anchor="t"/>
          <a:lstStyle/>
          <a:p>
            <a:pPr algn="l" indent="0" marL="0">
              <a:buNone/>
            </a:pPr>
            <a:r>
              <a:rPr lang="en-US" sz="1500" b="1" spc="300" kern="0" dirty="0">
                <a:solidFill>
                  <a:schemeClr val="accent1"/>
                </a:solidFill>
              </a:rPr>
              <a:t>02 — RESOURCES &amp; GROWTH</a:t>
            </a:r>
            <a:endParaRPr lang="en-US" sz="1500" dirty="0"/>
          </a:p>
        </p:txBody>
      </p:sp>
      <p:sp>
        <p:nvSpPr>
          <p:cNvPr id="5" name="!!title"/>
          <p:cNvSpPr/>
          <p:nvPr>
            <p:ph idx="101" type="title" hasCustomPrompt="1"/>
          </p:nvPr>
        </p:nvSpPr>
        <p:spPr>
          <a:xfrm>
            <a:off x="548640" y="731520"/>
            <a:ext cx="8732520" cy="786384"/>
          </a:xfrm>
          <a:prstGeom prst="rect">
            <a:avLst/>
          </a:prstGeom>
          <a:noFill/>
          <a:ln/>
        </p:spPr>
        <p:txBody>
          <a:bodyPr wrap="square" lIns="0" tIns="0" rIns="0" bIns="0" rtlCol="0" anchor="t"/>
          <a:lstStyle/>
          <a:p>
            <a:pPr algn="l" indent="0" marL="0">
              <a:buNone/>
            </a:pPr>
            <a:r>
              <a:rPr lang="en-US" sz="3800" b="1" dirty="0">
                <a:solidFill>
                  <a:schemeClr val="tx1"/>
                </a:solidFill>
              </a:rPr>
              <a:t>One state company, the whole chain</a:t>
            </a:r>
            <a:endParaRPr lang="en-US" sz="3800" dirty="0"/>
          </a:p>
        </p:txBody>
      </p:sp>
      <p:sp>
        <p:nvSpPr>
          <p:cNvPr id="6" name="chain_t_1"/>
          <p:cNvSpPr txBox="1"/>
          <p:nvPr/>
        </p:nvSpPr>
        <p:spPr>
          <a:xfrm>
            <a:off x="548640" y="1783080"/>
            <a:ext cx="11094415" cy="566928"/>
          </a:xfrm>
          <a:prstGeom prst="roundRect">
            <a:avLst>
              <a:gd name="adj" fmla="val 22581"/>
            </a:avLst>
          </a:prstGeom>
          <a:solidFill>
            <a:srgbClr val="1C1C1E"/>
          </a:solidFill>
          <a:ln w="9525">
            <a:solidFill>
              <a:srgbClr val="FFFFFF">
                <a:alpha val="10000"/>
              </a:srgbClr>
            </a:solidFill>
          </a:ln>
        </p:spPr>
        <p:txBody>
          <a:bodyPr wrap="square" lIns="254000" tIns="0" rIns="254000" bIns="0" rtlCol="0" anchor="ctr"/>
          <a:lstStyle/>
          <a:p>
            <a:pPr algn="ctr" indent="0" marL="0">
              <a:buNone/>
            </a:pPr>
            <a:r>
              <a:rPr lang="en-US" sz="1800" b="1" dirty="0">
                <a:solidFill>
                  <a:schemeClr val="tx1"/>
                </a:solidFill>
                <a:latin typeface="Arial" pitchFamily="34" charset="0"/>
                <a:ea typeface="Arial" pitchFamily="34" charset="-122"/>
                <a:cs typeface="Arial" pitchFamily="34" charset="-120"/>
              </a:rPr>
              <a:t>KUWAIT PETROLEUM CORPORATION (KPC)</a:t>
            </a:r>
            <a:pPr algn="ctr" indent="0" marL="0">
              <a:buNone/>
            </a:pPr>
            <a:r>
              <a:rPr lang="en-US" sz="1800" dirty="0">
                <a:solidFill>
                  <a:schemeClr val="tx2"/>
                </a:solidFill>
                <a:latin typeface="Arial" pitchFamily="34" charset="0"/>
                <a:ea typeface="Arial" pitchFamily="34" charset="-122"/>
                <a:cs typeface="Arial" pitchFamily="34" charset="-120"/>
              </a:rPr>
              <a:t>   ·   state-owned holding company, est. 1980</a:t>
            </a:r>
            <a:endParaRPr lang="en-US" sz="1800" dirty="0"/>
          </a:p>
        </p:txBody>
      </p:sp>
      <p:sp>
        <p:nvSpPr>
          <p:cNvPr id="7" name="chain_s_2"/>
          <p:cNvSpPr/>
          <p:nvPr/>
        </p:nvSpPr>
        <p:spPr>
          <a:xfrm>
            <a:off x="974110" y="2633472"/>
            <a:ext cx="1133856" cy="1133856"/>
          </a:xfrm>
          <a:prstGeom prst="ellipse">
            <a:avLst/>
          </a:prstGeom>
          <a:solidFill>
            <a:srgbClr val="FF9F0A">
              <a:alpha val="16000"/>
            </a:srgbClr>
          </a:solidFill>
          <a:ln/>
        </p:spPr>
      </p:sp>
      <p:sp>
        <p:nvSpPr>
          <p:cNvPr id="8" name="chain_s_3"/>
          <p:cNvSpPr/>
          <p:nvPr/>
        </p:nvSpPr>
        <p:spPr>
          <a:xfrm>
            <a:off x="1038118" y="2697480"/>
            <a:ext cx="1005840" cy="1005840"/>
          </a:xfrm>
          <a:prstGeom prst="ellipse">
            <a:avLst/>
          </a:prstGeom>
          <a:solidFill>
            <a:srgbClr val="2C2C2E"/>
          </a:solidFill>
          <a:ln/>
          <a:effectLst>
            <a:outerShdw sx="100000" sy="100000" kx="0" ky="0" algn="bl" rotWithShape="0" blurRad="203200" dist="50800" dir="5400000">
              <a:srgbClr val="FF9F0A">
                <a:alpha val="35000"/>
              </a:srgbClr>
            </a:outerShdw>
          </a:effectLst>
        </p:spPr>
      </p:sp>
      <p:pic>
        <p:nvPicPr>
          <p:cNvPr id="9" name="chain_i_4" descr="Decorative graphic">    </p:cNvPr>
          <p:cNvPicPr>
            <a:picLocks noChangeAspect="1"/>
          </p:cNvPicPr>
          <p:nvPr/>
        </p:nvPicPr>
        <p:blipFill>
          <a:blip r:embed="rId3"/>
          <a:stretch>
            <a:fillRect/>
          </a:stretch>
        </p:blipFill>
        <p:spPr>
          <a:xfrm>
            <a:off x="1266718" y="2926080"/>
            <a:ext cx="548640" cy="548640"/>
          </a:xfrm>
          <a:prstGeom prst="rect">
            <a:avLst/>
          </a:prstGeom>
        </p:spPr>
      </p:pic>
      <p:sp>
        <p:nvSpPr>
          <p:cNvPr id="10" name="chain_t_5"/>
          <p:cNvSpPr txBox="1"/>
          <p:nvPr/>
        </p:nvSpPr>
        <p:spPr>
          <a:xfrm>
            <a:off x="548640" y="3886200"/>
            <a:ext cx="1984797" cy="411480"/>
          </a:xfrm>
          <a:prstGeom prst="rect">
            <a:avLst/>
          </a:prstGeom>
          <a:noFill/>
          <a:ln/>
        </p:spPr>
        <p:txBody>
          <a:bodyPr wrap="square" lIns="0" tIns="0" rIns="0" bIns="0" rtlCol="0" anchor="t"/>
          <a:lstStyle/>
          <a:p>
            <a:pPr algn="ctr" indent="0" marL="0">
              <a:buNone/>
            </a:pPr>
            <a:r>
              <a:rPr lang="en-US" sz="2000" b="1" dirty="0">
                <a:solidFill>
                  <a:schemeClr val="tx1"/>
                </a:solidFill>
                <a:latin typeface="Arial" pitchFamily="34" charset="0"/>
                <a:ea typeface="Arial" pitchFamily="34" charset="-122"/>
                <a:cs typeface="Arial" pitchFamily="34" charset="-120"/>
              </a:rPr>
              <a:t>Upstream</a:t>
            </a:r>
            <a:endParaRPr lang="en-US" sz="2000" dirty="0"/>
          </a:p>
        </p:txBody>
      </p:sp>
      <p:sp>
        <p:nvSpPr>
          <p:cNvPr id="11" name="chain_t_6"/>
          <p:cNvSpPr txBox="1"/>
          <p:nvPr/>
        </p:nvSpPr>
        <p:spPr>
          <a:xfrm>
            <a:off x="548640" y="4343400"/>
            <a:ext cx="1984797" cy="1188720"/>
          </a:xfrm>
          <a:prstGeom prst="rect">
            <a:avLst/>
          </a:prstGeom>
          <a:noFill/>
          <a:ln/>
        </p:spPr>
        <p:txBody>
          <a:bodyPr wrap="square" lIns="0" tIns="0" rIns="0" bIns="0" rtlCol="0" anchor="t"/>
          <a:lstStyle/>
          <a:p>
            <a:pPr algn="ctr" indent="0" marL="0">
              <a:spcAft>
                <a:spcPts val="300"/>
              </a:spcAft>
              <a:buNone/>
            </a:pPr>
            <a:r>
              <a:rPr lang="en-US" sz="1400" dirty="0">
                <a:solidFill>
                  <a:schemeClr val="tx2"/>
                </a:solidFill>
                <a:latin typeface="Arial" pitchFamily="34" charset="0"/>
                <a:ea typeface="Arial" pitchFamily="34" charset="-122"/>
                <a:cs typeface="Arial" pitchFamily="34" charset="-120"/>
              </a:rPr>
              <a:t>KOC: Kuwait fields</a:t>
            </a:r>
            <a:endParaRPr lang="en-US" sz="1400" dirty="0"/>
          </a:p>
          <a:p>
            <a:pPr algn="ctr" indent="0" marL="0">
              <a:spcAft>
                <a:spcPts val="300"/>
              </a:spcAft>
              <a:buNone/>
            </a:pPr>
            <a:r>
              <a:rPr lang="en-US" sz="1400" dirty="0">
                <a:solidFill>
                  <a:schemeClr val="tx2"/>
                </a:solidFill>
                <a:latin typeface="Arial" pitchFamily="34" charset="0"/>
                <a:ea typeface="Arial" pitchFamily="34" charset="-122"/>
                <a:cs typeface="Arial" pitchFamily="34" charset="-120"/>
              </a:rPr>
              <a:t>KGOC: Partitioned Zone</a:t>
            </a:r>
            <a:endParaRPr lang="en-US" sz="1400" dirty="0"/>
          </a:p>
          <a:p>
            <a:pPr algn="ctr" indent="0" marL="0">
              <a:spcAft>
                <a:spcPts val="300"/>
              </a:spcAft>
              <a:buNone/>
            </a:pPr>
            <a:r>
              <a:rPr lang="en-US" sz="1400" dirty="0">
                <a:solidFill>
                  <a:schemeClr val="tx2"/>
                </a:solidFill>
                <a:latin typeface="Arial" pitchFamily="34" charset="0"/>
                <a:ea typeface="Arial" pitchFamily="34" charset="-122"/>
                <a:cs typeface="Arial" pitchFamily="34" charset="-120"/>
              </a:rPr>
              <a:t>KUFPEC: abroad</a:t>
            </a:r>
            <a:endParaRPr lang="en-US" sz="1400" dirty="0"/>
          </a:p>
        </p:txBody>
      </p:sp>
      <p:pic>
        <p:nvPicPr>
          <p:cNvPr id="12" name="chain_i_7" descr="Decorative graphic">    </p:cNvPr>
          <p:cNvPicPr>
            <a:picLocks noChangeAspect="1"/>
          </p:cNvPicPr>
          <p:nvPr/>
        </p:nvPicPr>
        <p:blipFill>
          <a:blip r:embed="rId4"/>
          <a:stretch>
            <a:fillRect/>
          </a:stretch>
        </p:blipFill>
        <p:spPr>
          <a:xfrm>
            <a:off x="2524293" y="3044952"/>
            <a:ext cx="310896" cy="310896"/>
          </a:xfrm>
          <a:prstGeom prst="rect">
            <a:avLst/>
          </a:prstGeom>
        </p:spPr>
      </p:pic>
      <p:sp>
        <p:nvSpPr>
          <p:cNvPr id="13" name="chain_s_8"/>
          <p:cNvSpPr/>
          <p:nvPr/>
        </p:nvSpPr>
        <p:spPr>
          <a:xfrm>
            <a:off x="3251515" y="2633472"/>
            <a:ext cx="1133856" cy="1133856"/>
          </a:xfrm>
          <a:prstGeom prst="ellipse">
            <a:avLst/>
          </a:prstGeom>
          <a:solidFill>
            <a:srgbClr val="FF9F0A">
              <a:alpha val="16000"/>
            </a:srgbClr>
          </a:solidFill>
          <a:ln/>
        </p:spPr>
      </p:sp>
      <p:sp>
        <p:nvSpPr>
          <p:cNvPr id="14" name="chain_s_9"/>
          <p:cNvSpPr/>
          <p:nvPr/>
        </p:nvSpPr>
        <p:spPr>
          <a:xfrm>
            <a:off x="3315523" y="2697480"/>
            <a:ext cx="1005840" cy="1005840"/>
          </a:xfrm>
          <a:prstGeom prst="ellipse">
            <a:avLst/>
          </a:prstGeom>
          <a:solidFill>
            <a:srgbClr val="2C2C2E"/>
          </a:solidFill>
          <a:ln/>
          <a:effectLst>
            <a:outerShdw sx="100000" sy="100000" kx="0" ky="0" algn="bl" rotWithShape="0" blurRad="203200" dist="50800" dir="5400000">
              <a:srgbClr val="FF9F0A">
                <a:alpha val="35000"/>
              </a:srgbClr>
            </a:outerShdw>
          </a:effectLst>
        </p:spPr>
      </p:sp>
      <p:pic>
        <p:nvPicPr>
          <p:cNvPr id="15" name="chain_i_10" descr="Decorative graphic">    </p:cNvPr>
          <p:cNvPicPr>
            <a:picLocks noChangeAspect="1"/>
          </p:cNvPicPr>
          <p:nvPr/>
        </p:nvPicPr>
        <p:blipFill>
          <a:blip r:embed="rId5"/>
          <a:stretch>
            <a:fillRect/>
          </a:stretch>
        </p:blipFill>
        <p:spPr>
          <a:xfrm>
            <a:off x="3544123" y="2926080"/>
            <a:ext cx="548640" cy="548640"/>
          </a:xfrm>
          <a:prstGeom prst="rect">
            <a:avLst/>
          </a:prstGeom>
        </p:spPr>
      </p:pic>
      <p:sp>
        <p:nvSpPr>
          <p:cNvPr id="16" name="chain_t_11"/>
          <p:cNvSpPr txBox="1"/>
          <p:nvPr/>
        </p:nvSpPr>
        <p:spPr>
          <a:xfrm>
            <a:off x="2826045" y="3886200"/>
            <a:ext cx="1984797" cy="411480"/>
          </a:xfrm>
          <a:prstGeom prst="rect">
            <a:avLst/>
          </a:prstGeom>
          <a:noFill/>
          <a:ln/>
        </p:spPr>
        <p:txBody>
          <a:bodyPr wrap="square" lIns="0" tIns="0" rIns="0" bIns="0" rtlCol="0" anchor="t"/>
          <a:lstStyle/>
          <a:p>
            <a:pPr algn="ctr" indent="0" marL="0">
              <a:buNone/>
            </a:pPr>
            <a:r>
              <a:rPr lang="en-US" sz="2000" b="1" dirty="0">
                <a:solidFill>
                  <a:schemeClr val="tx1"/>
                </a:solidFill>
                <a:latin typeface="Arial" pitchFamily="34" charset="0"/>
                <a:ea typeface="Arial" pitchFamily="34" charset="-122"/>
                <a:cs typeface="Arial" pitchFamily="34" charset="-120"/>
              </a:rPr>
              <a:t>Shipping</a:t>
            </a:r>
            <a:endParaRPr lang="en-US" sz="2000" dirty="0"/>
          </a:p>
        </p:txBody>
      </p:sp>
      <p:sp>
        <p:nvSpPr>
          <p:cNvPr id="17" name="chain_t_12"/>
          <p:cNvSpPr txBox="1"/>
          <p:nvPr/>
        </p:nvSpPr>
        <p:spPr>
          <a:xfrm>
            <a:off x="2826045" y="4343400"/>
            <a:ext cx="1984797" cy="1188720"/>
          </a:xfrm>
          <a:prstGeom prst="rect">
            <a:avLst/>
          </a:prstGeom>
          <a:noFill/>
          <a:ln/>
        </p:spPr>
        <p:txBody>
          <a:bodyPr wrap="square" lIns="0" tIns="0" rIns="0" bIns="0" rtlCol="0" anchor="t"/>
          <a:lstStyle/>
          <a:p>
            <a:pPr algn="ctr" indent="0" marL="0">
              <a:spcAft>
                <a:spcPts val="300"/>
              </a:spcAft>
              <a:buNone/>
            </a:pPr>
            <a:r>
              <a:rPr lang="en-US" sz="1400" dirty="0">
                <a:solidFill>
                  <a:schemeClr val="tx2"/>
                </a:solidFill>
                <a:latin typeface="Arial" pitchFamily="34" charset="0"/>
                <a:ea typeface="Arial" pitchFamily="34" charset="-122"/>
                <a:cs typeface="Arial" pitchFamily="34" charset="-120"/>
              </a:rPr>
              <a:t>KOTC tankers</a:t>
            </a:r>
            <a:endParaRPr lang="en-US" sz="1400" dirty="0"/>
          </a:p>
          <a:p>
            <a:pPr algn="ctr" indent="0" marL="0">
              <a:spcAft>
                <a:spcPts val="300"/>
              </a:spcAft>
              <a:buNone/>
            </a:pPr>
            <a:r>
              <a:rPr lang="en-US" sz="1400" dirty="0">
                <a:solidFill>
                  <a:schemeClr val="tx2"/>
                </a:solidFill>
                <a:latin typeface="Arial" pitchFamily="34" charset="0"/>
                <a:ea typeface="Arial" pitchFamily="34" charset="-122"/>
                <a:cs typeface="Arial" pitchFamily="34" charset="-120"/>
              </a:rPr>
              <a:t>(since 1957)</a:t>
            </a:r>
            <a:endParaRPr lang="en-US" sz="1400" dirty="0"/>
          </a:p>
        </p:txBody>
      </p:sp>
      <p:pic>
        <p:nvPicPr>
          <p:cNvPr id="18" name="chain_i_13" descr="Decorative graphic">    </p:cNvPr>
          <p:cNvPicPr>
            <a:picLocks noChangeAspect="1"/>
          </p:cNvPicPr>
          <p:nvPr/>
        </p:nvPicPr>
        <p:blipFill>
          <a:blip r:embed="rId6"/>
          <a:stretch>
            <a:fillRect/>
          </a:stretch>
        </p:blipFill>
        <p:spPr>
          <a:xfrm>
            <a:off x="4801697" y="3044952"/>
            <a:ext cx="310896" cy="310896"/>
          </a:xfrm>
          <a:prstGeom prst="rect">
            <a:avLst/>
          </a:prstGeom>
        </p:spPr>
      </p:pic>
      <p:sp>
        <p:nvSpPr>
          <p:cNvPr id="19" name="chain_s_14"/>
          <p:cNvSpPr/>
          <p:nvPr/>
        </p:nvSpPr>
        <p:spPr>
          <a:xfrm>
            <a:off x="5528920" y="2633472"/>
            <a:ext cx="1133856" cy="1133856"/>
          </a:xfrm>
          <a:prstGeom prst="ellipse">
            <a:avLst/>
          </a:prstGeom>
          <a:solidFill>
            <a:srgbClr val="FF9F0A">
              <a:alpha val="16000"/>
            </a:srgbClr>
          </a:solidFill>
          <a:ln/>
        </p:spPr>
      </p:sp>
      <p:sp>
        <p:nvSpPr>
          <p:cNvPr id="20" name="chain_s_15"/>
          <p:cNvSpPr/>
          <p:nvPr/>
        </p:nvSpPr>
        <p:spPr>
          <a:xfrm>
            <a:off x="5592928" y="2697480"/>
            <a:ext cx="1005840" cy="1005840"/>
          </a:xfrm>
          <a:prstGeom prst="ellipse">
            <a:avLst/>
          </a:prstGeom>
          <a:solidFill>
            <a:srgbClr val="2C2C2E"/>
          </a:solidFill>
          <a:ln/>
          <a:effectLst>
            <a:outerShdw sx="100000" sy="100000" kx="0" ky="0" algn="bl" rotWithShape="0" blurRad="203200" dist="50800" dir="5400000">
              <a:srgbClr val="FF9F0A">
                <a:alpha val="35000"/>
              </a:srgbClr>
            </a:outerShdw>
          </a:effectLst>
        </p:spPr>
      </p:sp>
      <p:pic>
        <p:nvPicPr>
          <p:cNvPr id="21" name="chain_i_16" descr="Decorative graphic">    </p:cNvPr>
          <p:cNvPicPr>
            <a:picLocks noChangeAspect="1"/>
          </p:cNvPicPr>
          <p:nvPr/>
        </p:nvPicPr>
        <p:blipFill>
          <a:blip r:embed="rId7"/>
          <a:stretch>
            <a:fillRect/>
          </a:stretch>
        </p:blipFill>
        <p:spPr>
          <a:xfrm>
            <a:off x="5821528" y="2926080"/>
            <a:ext cx="548640" cy="548640"/>
          </a:xfrm>
          <a:prstGeom prst="rect">
            <a:avLst/>
          </a:prstGeom>
        </p:spPr>
      </p:pic>
      <p:sp>
        <p:nvSpPr>
          <p:cNvPr id="22" name="chain_t_17"/>
          <p:cNvSpPr txBox="1"/>
          <p:nvPr/>
        </p:nvSpPr>
        <p:spPr>
          <a:xfrm>
            <a:off x="5103449" y="3886200"/>
            <a:ext cx="1984797" cy="411480"/>
          </a:xfrm>
          <a:prstGeom prst="rect">
            <a:avLst/>
          </a:prstGeom>
          <a:noFill/>
          <a:ln/>
        </p:spPr>
        <p:txBody>
          <a:bodyPr wrap="square" lIns="0" tIns="0" rIns="0" bIns="0" rtlCol="0" anchor="t"/>
          <a:lstStyle/>
          <a:p>
            <a:pPr algn="ctr" indent="0" marL="0">
              <a:buNone/>
            </a:pPr>
            <a:r>
              <a:rPr lang="en-US" sz="2000" b="1" dirty="0">
                <a:solidFill>
                  <a:schemeClr val="tx1"/>
                </a:solidFill>
                <a:latin typeface="Arial" pitchFamily="34" charset="0"/>
                <a:ea typeface="Arial" pitchFamily="34" charset="-122"/>
                <a:cs typeface="Arial" pitchFamily="34" charset="-120"/>
              </a:rPr>
              <a:t>Refining</a:t>
            </a:r>
            <a:endParaRPr lang="en-US" sz="2000" dirty="0"/>
          </a:p>
        </p:txBody>
      </p:sp>
      <p:sp>
        <p:nvSpPr>
          <p:cNvPr id="23" name="chain_t_18"/>
          <p:cNvSpPr txBox="1"/>
          <p:nvPr/>
        </p:nvSpPr>
        <p:spPr>
          <a:xfrm>
            <a:off x="5103449" y="4343400"/>
            <a:ext cx="1984797" cy="1188720"/>
          </a:xfrm>
          <a:prstGeom prst="rect">
            <a:avLst/>
          </a:prstGeom>
          <a:noFill/>
          <a:ln/>
        </p:spPr>
        <p:txBody>
          <a:bodyPr wrap="square" lIns="0" tIns="0" rIns="0" bIns="0" rtlCol="0" anchor="t"/>
          <a:lstStyle/>
          <a:p>
            <a:pPr algn="ctr" indent="0" marL="0">
              <a:spcAft>
                <a:spcPts val="300"/>
              </a:spcAft>
              <a:buNone/>
            </a:pPr>
            <a:r>
              <a:rPr lang="en-US" sz="1400" dirty="0">
                <a:solidFill>
                  <a:schemeClr val="tx2"/>
                </a:solidFill>
                <a:latin typeface="Arial" pitchFamily="34" charset="0"/>
                <a:ea typeface="Arial" pitchFamily="34" charset="-122"/>
                <a:cs typeface="Arial" pitchFamily="34" charset="-120"/>
              </a:rPr>
              <a:t>KNPC: two refineries</a:t>
            </a:r>
            <a:endParaRPr lang="en-US" sz="1400" dirty="0"/>
          </a:p>
          <a:p>
            <a:pPr algn="ctr" indent="0" marL="0">
              <a:spcAft>
                <a:spcPts val="300"/>
              </a:spcAft>
              <a:buNone/>
            </a:pPr>
            <a:r>
              <a:rPr lang="en-US" sz="1400" dirty="0">
                <a:solidFill>
                  <a:schemeClr val="tx2"/>
                </a:solidFill>
                <a:latin typeface="Arial" pitchFamily="34" charset="0"/>
                <a:ea typeface="Arial" pitchFamily="34" charset="-122"/>
                <a:cs typeface="Arial" pitchFamily="34" charset="-120"/>
              </a:rPr>
              <a:t>KIPIC: Al-Zour</a:t>
            </a:r>
            <a:endParaRPr lang="en-US" sz="1400" dirty="0"/>
          </a:p>
        </p:txBody>
      </p:sp>
      <p:pic>
        <p:nvPicPr>
          <p:cNvPr id="24" name="chain_i_19" descr="Decorative graphic">    </p:cNvPr>
          <p:cNvPicPr>
            <a:picLocks noChangeAspect="1"/>
          </p:cNvPicPr>
          <p:nvPr/>
        </p:nvPicPr>
        <p:blipFill>
          <a:blip r:embed="rId8"/>
          <a:stretch>
            <a:fillRect/>
          </a:stretch>
        </p:blipFill>
        <p:spPr>
          <a:xfrm>
            <a:off x="7079102" y="3044952"/>
            <a:ext cx="310896" cy="310896"/>
          </a:xfrm>
          <a:prstGeom prst="rect">
            <a:avLst/>
          </a:prstGeom>
        </p:spPr>
      </p:pic>
      <p:sp>
        <p:nvSpPr>
          <p:cNvPr id="25" name="chain_s_20"/>
          <p:cNvSpPr/>
          <p:nvPr/>
        </p:nvSpPr>
        <p:spPr>
          <a:xfrm>
            <a:off x="7806324" y="2633472"/>
            <a:ext cx="1133856" cy="1133856"/>
          </a:xfrm>
          <a:prstGeom prst="ellipse">
            <a:avLst/>
          </a:prstGeom>
          <a:solidFill>
            <a:srgbClr val="FF9F0A">
              <a:alpha val="16000"/>
            </a:srgbClr>
          </a:solidFill>
          <a:ln/>
        </p:spPr>
      </p:sp>
      <p:sp>
        <p:nvSpPr>
          <p:cNvPr id="26" name="chain_s_21"/>
          <p:cNvSpPr/>
          <p:nvPr/>
        </p:nvSpPr>
        <p:spPr>
          <a:xfrm>
            <a:off x="7870332" y="2697480"/>
            <a:ext cx="1005840" cy="1005840"/>
          </a:xfrm>
          <a:prstGeom prst="ellipse">
            <a:avLst/>
          </a:prstGeom>
          <a:solidFill>
            <a:srgbClr val="2C2C2E"/>
          </a:solidFill>
          <a:ln/>
          <a:effectLst>
            <a:outerShdw sx="100000" sy="100000" kx="0" ky="0" algn="bl" rotWithShape="0" blurRad="203200" dist="50800" dir="5400000">
              <a:srgbClr val="FF9F0A">
                <a:alpha val="35000"/>
              </a:srgbClr>
            </a:outerShdw>
          </a:effectLst>
        </p:spPr>
      </p:sp>
      <p:pic>
        <p:nvPicPr>
          <p:cNvPr id="27" name="chain_i_22" descr="Decorative graphic">    </p:cNvPr>
          <p:cNvPicPr>
            <a:picLocks noChangeAspect="1"/>
          </p:cNvPicPr>
          <p:nvPr/>
        </p:nvPicPr>
        <p:blipFill>
          <a:blip r:embed="rId9"/>
          <a:stretch>
            <a:fillRect/>
          </a:stretch>
        </p:blipFill>
        <p:spPr>
          <a:xfrm>
            <a:off x="8098932" y="2926080"/>
            <a:ext cx="548640" cy="548640"/>
          </a:xfrm>
          <a:prstGeom prst="rect">
            <a:avLst/>
          </a:prstGeom>
        </p:spPr>
      </p:pic>
      <p:sp>
        <p:nvSpPr>
          <p:cNvPr id="28" name="chain_t_23"/>
          <p:cNvSpPr txBox="1"/>
          <p:nvPr/>
        </p:nvSpPr>
        <p:spPr>
          <a:xfrm>
            <a:off x="7380854" y="3886200"/>
            <a:ext cx="1984797" cy="411480"/>
          </a:xfrm>
          <a:prstGeom prst="rect">
            <a:avLst/>
          </a:prstGeom>
          <a:noFill/>
          <a:ln/>
        </p:spPr>
        <p:txBody>
          <a:bodyPr wrap="square" lIns="0" tIns="0" rIns="0" bIns="0" rtlCol="0" anchor="t"/>
          <a:lstStyle/>
          <a:p>
            <a:pPr algn="ctr" indent="0" marL="0">
              <a:buNone/>
            </a:pPr>
            <a:r>
              <a:rPr lang="en-US" sz="2000" b="1" dirty="0">
                <a:solidFill>
                  <a:schemeClr val="tx1"/>
                </a:solidFill>
                <a:latin typeface="Arial" pitchFamily="34" charset="0"/>
                <a:ea typeface="Arial" pitchFamily="34" charset="-122"/>
                <a:cs typeface="Arial" pitchFamily="34" charset="-120"/>
              </a:rPr>
              <a:t>Petrochemicals</a:t>
            </a:r>
            <a:endParaRPr lang="en-US" sz="2000" dirty="0"/>
          </a:p>
        </p:txBody>
      </p:sp>
      <p:sp>
        <p:nvSpPr>
          <p:cNvPr id="29" name="chain_t_24"/>
          <p:cNvSpPr txBox="1"/>
          <p:nvPr/>
        </p:nvSpPr>
        <p:spPr>
          <a:xfrm>
            <a:off x="7380854" y="4343400"/>
            <a:ext cx="1984797" cy="1188720"/>
          </a:xfrm>
          <a:prstGeom prst="rect">
            <a:avLst/>
          </a:prstGeom>
          <a:noFill/>
          <a:ln/>
        </p:spPr>
        <p:txBody>
          <a:bodyPr wrap="square" lIns="0" tIns="0" rIns="0" bIns="0" rtlCol="0" anchor="t"/>
          <a:lstStyle/>
          <a:p>
            <a:pPr algn="ctr" indent="0" marL="0">
              <a:spcAft>
                <a:spcPts val="300"/>
              </a:spcAft>
              <a:buNone/>
            </a:pPr>
            <a:r>
              <a:rPr lang="en-US" sz="1400" dirty="0">
                <a:solidFill>
                  <a:schemeClr val="tx2"/>
                </a:solidFill>
                <a:latin typeface="Arial" pitchFamily="34" charset="0"/>
                <a:ea typeface="Arial" pitchFamily="34" charset="-122"/>
                <a:cs typeface="Arial" pitchFamily="34" charset="-120"/>
              </a:rPr>
              <a:t>PIC (since 1963)</a:t>
            </a:r>
            <a:endParaRPr lang="en-US" sz="1400" dirty="0"/>
          </a:p>
          <a:p>
            <a:pPr algn="ctr" indent="0" marL="0">
              <a:spcAft>
                <a:spcPts val="300"/>
              </a:spcAft>
              <a:buNone/>
            </a:pPr>
            <a:r>
              <a:rPr lang="en-US" sz="1400" dirty="0">
                <a:solidFill>
                  <a:schemeClr val="tx2"/>
                </a:solidFill>
                <a:latin typeface="Arial" pitchFamily="34" charset="0"/>
                <a:ea typeface="Arial" pitchFamily="34" charset="-122"/>
                <a:cs typeface="Arial" pitchFamily="34" charset="-120"/>
              </a:rPr>
              <a:t>EQUATE group</a:t>
            </a:r>
            <a:endParaRPr lang="en-US" sz="1400" dirty="0"/>
          </a:p>
        </p:txBody>
      </p:sp>
      <p:pic>
        <p:nvPicPr>
          <p:cNvPr id="30" name="chain_i_25" descr="Decorative graphic">    </p:cNvPr>
          <p:cNvPicPr>
            <a:picLocks noChangeAspect="1"/>
          </p:cNvPicPr>
          <p:nvPr/>
        </p:nvPicPr>
        <p:blipFill>
          <a:blip r:embed="rId10"/>
          <a:stretch>
            <a:fillRect/>
          </a:stretch>
        </p:blipFill>
        <p:spPr>
          <a:xfrm>
            <a:off x="9356507" y="3044952"/>
            <a:ext cx="310896" cy="310896"/>
          </a:xfrm>
          <a:prstGeom prst="rect">
            <a:avLst/>
          </a:prstGeom>
        </p:spPr>
      </p:pic>
      <p:sp>
        <p:nvSpPr>
          <p:cNvPr id="31" name="chain_s_26"/>
          <p:cNvSpPr/>
          <p:nvPr/>
        </p:nvSpPr>
        <p:spPr>
          <a:xfrm>
            <a:off x="10083729" y="2633472"/>
            <a:ext cx="1133856" cy="1133856"/>
          </a:xfrm>
          <a:prstGeom prst="ellipse">
            <a:avLst/>
          </a:prstGeom>
          <a:solidFill>
            <a:srgbClr val="FF9F0A">
              <a:alpha val="16000"/>
            </a:srgbClr>
          </a:solidFill>
          <a:ln/>
        </p:spPr>
      </p:sp>
      <p:sp>
        <p:nvSpPr>
          <p:cNvPr id="32" name="chain_s_27"/>
          <p:cNvSpPr/>
          <p:nvPr/>
        </p:nvSpPr>
        <p:spPr>
          <a:xfrm>
            <a:off x="10147737" y="2697480"/>
            <a:ext cx="1005840" cy="1005840"/>
          </a:xfrm>
          <a:prstGeom prst="ellipse">
            <a:avLst/>
          </a:prstGeom>
          <a:solidFill>
            <a:srgbClr val="2C2C2E"/>
          </a:solidFill>
          <a:ln/>
          <a:effectLst>
            <a:outerShdw sx="100000" sy="100000" kx="0" ky="0" algn="bl" rotWithShape="0" blurRad="203200" dist="50800" dir="5400000">
              <a:srgbClr val="FF9F0A">
                <a:alpha val="35000"/>
              </a:srgbClr>
            </a:outerShdw>
          </a:effectLst>
        </p:spPr>
      </p:sp>
      <p:pic>
        <p:nvPicPr>
          <p:cNvPr id="33" name="chain_i_28" descr="Decorative graphic">    </p:cNvPr>
          <p:cNvPicPr>
            <a:picLocks noChangeAspect="1"/>
          </p:cNvPicPr>
          <p:nvPr/>
        </p:nvPicPr>
        <p:blipFill>
          <a:blip r:embed="rId11"/>
          <a:stretch>
            <a:fillRect/>
          </a:stretch>
        </p:blipFill>
        <p:spPr>
          <a:xfrm>
            <a:off x="10376337" y="2926080"/>
            <a:ext cx="548640" cy="548640"/>
          </a:xfrm>
          <a:prstGeom prst="rect">
            <a:avLst/>
          </a:prstGeom>
        </p:spPr>
      </p:pic>
      <p:sp>
        <p:nvSpPr>
          <p:cNvPr id="34" name="chain_t_29"/>
          <p:cNvSpPr txBox="1"/>
          <p:nvPr/>
        </p:nvSpPr>
        <p:spPr>
          <a:xfrm>
            <a:off x="9658259" y="3886200"/>
            <a:ext cx="1984797" cy="411480"/>
          </a:xfrm>
          <a:prstGeom prst="rect">
            <a:avLst/>
          </a:prstGeom>
          <a:noFill/>
          <a:ln/>
        </p:spPr>
        <p:txBody>
          <a:bodyPr wrap="square" lIns="0" tIns="0" rIns="0" bIns="0" rtlCol="0" anchor="t"/>
          <a:lstStyle/>
          <a:p>
            <a:pPr algn="ctr" indent="0" marL="0">
              <a:buNone/>
            </a:pPr>
            <a:r>
              <a:rPr lang="en-US" sz="2000" b="1" dirty="0">
                <a:solidFill>
                  <a:schemeClr val="tx1"/>
                </a:solidFill>
                <a:latin typeface="Arial" pitchFamily="34" charset="0"/>
                <a:ea typeface="Arial" pitchFamily="34" charset="-122"/>
                <a:cs typeface="Arial" pitchFamily="34" charset="-120"/>
              </a:rPr>
              <a:t>Marketing</a:t>
            </a:r>
            <a:endParaRPr lang="en-US" sz="2000" dirty="0"/>
          </a:p>
        </p:txBody>
      </p:sp>
      <p:sp>
        <p:nvSpPr>
          <p:cNvPr id="35" name="chain_t_30"/>
          <p:cNvSpPr txBox="1"/>
          <p:nvPr/>
        </p:nvSpPr>
        <p:spPr>
          <a:xfrm>
            <a:off x="9658259" y="4343400"/>
            <a:ext cx="1984797" cy="1188720"/>
          </a:xfrm>
          <a:prstGeom prst="rect">
            <a:avLst/>
          </a:prstGeom>
          <a:noFill/>
          <a:ln/>
        </p:spPr>
        <p:txBody>
          <a:bodyPr wrap="square" lIns="0" tIns="0" rIns="0" bIns="0" rtlCol="0" anchor="t"/>
          <a:lstStyle/>
          <a:p>
            <a:pPr algn="ctr" indent="0" marL="0">
              <a:spcAft>
                <a:spcPts val="300"/>
              </a:spcAft>
              <a:buNone/>
            </a:pPr>
            <a:r>
              <a:rPr lang="en-US" sz="1400" dirty="0">
                <a:solidFill>
                  <a:schemeClr val="tx2"/>
                </a:solidFill>
                <a:latin typeface="Arial" pitchFamily="34" charset="0"/>
                <a:ea typeface="Arial" pitchFamily="34" charset="-122"/>
                <a:cs typeface="Arial" pitchFamily="34" charset="-120"/>
              </a:rPr>
              <a:t>KPI: Q8 brand</a:t>
            </a:r>
            <a:endParaRPr lang="en-US" sz="1400" dirty="0"/>
          </a:p>
          <a:p>
            <a:pPr algn="ctr" indent="0" marL="0">
              <a:spcAft>
                <a:spcPts val="300"/>
              </a:spcAft>
              <a:buNone/>
            </a:pPr>
            <a:r>
              <a:rPr lang="en-US" sz="1400" dirty="0">
                <a:solidFill>
                  <a:schemeClr val="tx2"/>
                </a:solidFill>
                <a:latin typeface="Arial" pitchFamily="34" charset="0"/>
                <a:ea typeface="Arial" pitchFamily="34" charset="-122"/>
                <a:cs typeface="Arial" pitchFamily="34" charset="-120"/>
              </a:rPr>
              <a:t>fuels &amp; refining abroad</a:t>
            </a:r>
            <a:endParaRPr lang="en-US" sz="1400" dirty="0"/>
          </a:p>
        </p:txBody>
      </p:sp>
      <p:sp>
        <p:nvSpPr>
          <p:cNvPr id="36" name="!!source"/>
          <p:cNvSpPr txBox="1"/>
          <p:nvPr/>
        </p:nvSpPr>
        <p:spPr>
          <a:xfrm>
            <a:off x="548640" y="5943600"/>
            <a:ext cx="9692640" cy="274320"/>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Sources: KPC (n.d.-c); KOC (n.d.-a); KNPC (n.d.-a); KIPIC (n.d.); KOTC (n.d.); PIC (n.d.); Britannica (n.d.-b).</a:t>
            </a:r>
            <a:endParaRPr lang="en-US" sz="1200" dirty="0"/>
          </a:p>
        </p:txBody>
      </p:sp>
      <p:sp>
        <p:nvSpPr>
          <p:cNvPr id="37" name="!!home_bg"/>
          <p:cNvSpPr/>
          <p:nvPr/>
        </p:nvSpPr>
        <p:spPr>
          <a:xfrm>
            <a:off x="10637215" y="6272784"/>
            <a:ext cx="384048" cy="384048"/>
          </a:xfrm>
          <a:prstGeom prst="roundRect">
            <a:avLst>
              <a:gd name="adj" fmla="val 23810"/>
            </a:avLst>
          </a:prstGeom>
          <a:solidFill>
            <a:srgbClr val="2C2C2E"/>
          </a:solidFill>
          <a:ln/>
        </p:spPr>
      </p:sp>
      <p:pic>
        <p:nvPicPr>
          <p:cNvPr id="38" name="!!home_ic" descr="Decorative graphic">    </p:cNvPr>
          <p:cNvPicPr>
            <a:picLocks noChangeAspect="1"/>
          </p:cNvPicPr>
          <p:nvPr/>
        </p:nvPicPr>
        <p:blipFill>
          <a:blip r:embed="rId12"/>
          <a:stretch>
            <a:fillRect/>
          </a:stretch>
        </p:blipFill>
        <p:spPr>
          <a:xfrm>
            <a:off x="10719511" y="6355080"/>
            <a:ext cx="219456" cy="219456"/>
          </a:xfrm>
          <a:prstGeom prst="rect">
            <a:avLst/>
          </a:prstGeom>
        </p:spPr>
      </p:pic>
      <p:sp>
        <p:nvSpPr>
          <p:cNvPr id="39" name="!!home_hit">
            <a:hlinkClick r:id="rId13" tooltip="Back to contents" action="ppaction://hlinksldjump" highlightClick="1"/>
          </p:cNvPr>
          <p:cNvSpPr/>
          <p:nvPr/>
        </p:nvSpPr>
        <p:spPr>
          <a:xfrm>
            <a:off x="10637215" y="6272784"/>
            <a:ext cx="384048" cy="384048"/>
          </a:xfrm>
          <a:prstGeom prst="roundRect">
            <a:avLst>
              <a:gd name="adj" fmla="val 23810"/>
            </a:avLst>
          </a:prstGeom>
          <a:solidFill>
            <a:srgbClr val="000000">
              <a:alpha val="0"/>
            </a:srgbClr>
          </a:solidFill>
          <a:ln/>
        </p:spPr>
      </p:sp>
      <p:sp>
        <p:nvSpPr>
          <p:cNvPr id="41" name="!!footer"/>
          <p:cNvSpPr txBox="1"/>
          <p:nvPr/>
        </p:nvSpPr>
        <p:spPr>
          <a:xfrm>
            <a:off x="548640" y="6327648"/>
            <a:ext cx="5486400" cy="292608"/>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Kuwait Oil &amp; Gas  ·  EGCH2230</a:t>
            </a:r>
            <a:endParaRPr lang="en-US" sz="1200" dirty="0"/>
          </a:p>
        </p:txBody>
      </p:sp>
      <p:sp>
        <p:nvSpPr>
          <p:cNvPr id="42" name="!!num"/>
          <p:cNvSpPr txBox="1"/>
          <p:nvPr/>
        </p:nvSpPr>
        <p:spPr>
          <a:xfrm>
            <a:off x="11094415" y="6327648"/>
            <a:ext cx="548640" cy="292608"/>
          </a:xfrm>
          <a:prstGeom prst="rect">
            <a:avLst/>
          </a:prstGeom>
          <a:noFill/>
          <a:ln/>
        </p:spPr>
        <p:txBody>
          <a:bodyPr wrap="square" lIns="0" tIns="0" rIns="0" bIns="0" rtlCol="0" anchor="ctr"/>
          <a:lstStyle/>
          <a:p>
            <a:pPr algn="r" indent="0" marL="0">
              <a:buNone/>
            </a:pPr>
            <a:r>
              <a:rPr lang="en-US" sz="1200" dirty="0">
                <a:solidFill>
                  <a:schemeClr val="tx2"/>
                </a:solidFill>
                <a:latin typeface="Arial" pitchFamily="34" charset="0"/>
                <a:ea typeface="Arial" pitchFamily="34" charset="-122"/>
                <a:cs typeface="Arial" pitchFamily="34" charset="-120"/>
              </a:rPr>
              <a:t>13</a:t>
            </a:r>
            <a:endParaRPr lang="en-US" sz="1200" dirty="0"/>
          </a:p>
        </p:txBody>
      </p:sp>
      <p:pic>
        <p:nvPicPr>
          <p:cNvPr id="43" name="!!badge" descr="University of Technology and Applied Sciences, Salalah">    </p:cNvPr>
          <p:cNvPicPr>
            <a:picLocks noChangeAspect="1"/>
          </p:cNvPicPr>
          <p:nvPr/>
        </p:nvPicPr>
        <p:blipFill>
          <a:blip r:embed="rId14"/>
          <a:stretch>
            <a:fillRect/>
          </a:stretch>
        </p:blipFill>
        <p:spPr>
          <a:xfrm>
            <a:off x="9677095" y="274320"/>
            <a:ext cx="1965960" cy="80987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0" presetClass="path" presetSubtype="0" fill="hold" grpId="0" nodeType="afterEffect" repeatCount="indefinite" autoRev="1">
                                  <p:stCondLst>
                                    <p:cond delay="0"/>
                                  </p:stCondLst>
                                  <p:childTnLst>
                                    <p:animMotion origin="layout" path="M 0 0 L 0.0350 -0.0300 E" pathEditMode="relative" ptsTypes="">
                                      <p:cBhvr>
                                        <p:cTn id="5" dur="13000" fill="hold" accel="50000" decel="50000"/>
                                        <p:tgtEl>
                                          <p:spTgt spid="2"/>
                                        </p:tgtEl>
                                        <p:attrNameLst>
                                          <p:attrName>ppt_x</p:attrName>
                                          <p:attrName>ppt_y</p:attrName>
                                        </p:attrNameLst>
                                      </p:cBhvr>
                                      <p:rCtr x="0" y="0"/>
                                    </p:animMotion>
                                  </p:childTnLst>
                                </p:cTn>
                              </p:par>
                              <p:par>
                                <p:cTn id="8" presetID="0" presetClass="path" presetSubtype="0" fill="hold" grpId="0" nodeType="withEffect" repeatCount="indefinite" autoRev="1">
                                  <p:stCondLst>
                                    <p:cond delay="0"/>
                                  </p:stCondLst>
                                  <p:childTnLst>
                                    <p:animMotion origin="layout" path="M 0 0 L -0.0300 0.0250 E" pathEditMode="relative" ptsTypes="">
                                      <p:cBhvr>
                                        <p:cTn id="7" dur="15000" fill="hold" accel="50000" decel="50000"/>
                                        <p:tgtEl>
                                          <p:spTgt spid="3"/>
                                        </p:tgtEl>
                                        <p:attrNameLst>
                                          <p:attrName>ppt_x</p:attrName>
                                          <p:attrName>ppt_y</p:attrName>
                                        </p:attrNameLst>
                                      </p:cBhvr>
                                      <p:rCtr x="0" y="0"/>
                                    </p:animMotion>
                                  </p:childTnLst>
                                </p:cTn>
                              </p:par>
                              <p:par>
                                <p:cTn id="13" presetID="53" presetClass="entr" presetSubtype="16" fill="hold" grpId="0" nodeType="withEffect">
                                  <p:stCondLst>
                                    <p:cond delay="250"/>
                                  </p:stCondLst>
                                  <p:childTnLst>
                                    <p:set>
                                      <p:cBhvr>
                                        <p:cTn id="9" dur="1" fill="hold">
                                          <p:stCondLst>
                                            <p:cond delay="0"/>
                                          </p:stCondLst>
                                        </p:cTn>
                                        <p:tgtEl>
                                          <p:spTgt spid="6"/>
                                        </p:tgtEl>
                                        <p:attrNameLst>
                                          <p:attrName>style.visibility</p:attrName>
                                        </p:attrNameLst>
                                      </p:cBhvr>
                                      <p:to>
                                        <p:strVal val="visible"/>
                                      </p:to>
                                    </p:set>
                                    <p:anim calcmode="lin" valueType="num">
                                      <p:cBhvr>
                                        <p:cTn id="10" dur="900" fill="hold" decel="100000"/>
                                        <p:tgtEl>
                                          <p:spTgt spid="6"/>
                                        </p:tgtEl>
                                        <p:attrNameLst>
                                          <p:attrName>ppt_w</p:attrName>
                                        </p:attrNameLst>
                                      </p:cBhvr>
                                      <p:tavLst>
                                        <p:tav tm="0">
                                          <p:val>
                                            <p:strVal val="#ppt_w*0.970"/>
                                          </p:val>
                                        </p:tav>
                                        <p:tav tm="100000">
                                          <p:val>
                                            <p:strVal val="#ppt_w"/>
                                          </p:val>
                                        </p:tav>
                                      </p:tavLst>
                                    </p:anim>
                                    <p:anim calcmode="lin" valueType="num">
                                      <p:cBhvr>
                                        <p:cTn id="11" dur="900" fill="hold" decel="100000"/>
                                        <p:tgtEl>
                                          <p:spTgt spid="6"/>
                                        </p:tgtEl>
                                        <p:attrNameLst>
                                          <p:attrName>ppt_h</p:attrName>
                                        </p:attrNameLst>
                                      </p:cBhvr>
                                      <p:tavLst>
                                        <p:tav tm="0">
                                          <p:val>
                                            <p:strVal val="#ppt_h*0.970"/>
                                          </p:val>
                                        </p:tav>
                                        <p:tav tm="100000">
                                          <p:val>
                                            <p:strVal val="#ppt_h"/>
                                          </p:val>
                                        </p:tav>
                                      </p:tavLst>
                                    </p:anim>
                                    <p:animEffect transition="in" filter="fade">
                                      <p:cBhvr>
                                        <p:cTn id="12" dur="630" decel="100000"/>
                                        <p:tgtEl>
                                          <p:spTgt spid="6"/>
                                        </p:tgtEl>
                                      </p:cBhvr>
                                    </p:animEffect>
                                  </p:childTnLst>
                                </p:cTn>
                              </p:par>
                              <p:par>
                                <p:cTn id="18" presetID="53" presetClass="entr" presetSubtype="16" fill="hold" grpId="0"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p:cTn id="15" dur="900" fill="hold" decel="100000"/>
                                        <p:tgtEl>
                                          <p:spTgt spid="7"/>
                                        </p:tgtEl>
                                        <p:attrNameLst>
                                          <p:attrName>ppt_w</p:attrName>
                                        </p:attrNameLst>
                                      </p:cBhvr>
                                      <p:tavLst>
                                        <p:tav tm="0">
                                          <p:val>
                                            <p:strVal val="#ppt_w*0.800"/>
                                          </p:val>
                                        </p:tav>
                                        <p:tav tm="100000">
                                          <p:val>
                                            <p:strVal val="#ppt_w"/>
                                          </p:val>
                                        </p:tav>
                                      </p:tavLst>
                                    </p:anim>
                                    <p:anim calcmode="lin" valueType="num">
                                      <p:cBhvr>
                                        <p:cTn id="16" dur="900" fill="hold" decel="100000"/>
                                        <p:tgtEl>
                                          <p:spTgt spid="7"/>
                                        </p:tgtEl>
                                        <p:attrNameLst>
                                          <p:attrName>ppt_h</p:attrName>
                                        </p:attrNameLst>
                                      </p:cBhvr>
                                      <p:tavLst>
                                        <p:tav tm="0">
                                          <p:val>
                                            <p:strVal val="#ppt_h*0.800"/>
                                          </p:val>
                                        </p:tav>
                                        <p:tav tm="100000">
                                          <p:val>
                                            <p:strVal val="#ppt_h"/>
                                          </p:val>
                                        </p:tav>
                                      </p:tavLst>
                                    </p:anim>
                                    <p:animEffect transition="in" filter="fade">
                                      <p:cBhvr>
                                        <p:cTn id="17" dur="630" decel="100000"/>
                                        <p:tgtEl>
                                          <p:spTgt spid="7"/>
                                        </p:tgtEl>
                                      </p:cBhvr>
                                    </p:animEffect>
                                  </p:childTnLst>
                                </p:cTn>
                              </p:par>
                              <p:par>
                                <p:cTn id="23" presetID="53" presetClass="entr" presetSubtype="16" fill="hold" grpId="0" nodeType="withEffect">
                                  <p:stCondLst>
                                    <p:cond delay="500"/>
                                  </p:stCondLst>
                                  <p:childTnLst>
                                    <p:set>
                                      <p:cBhvr>
                                        <p:cTn id="19" dur="1" fill="hold">
                                          <p:stCondLst>
                                            <p:cond delay="0"/>
                                          </p:stCondLst>
                                        </p:cTn>
                                        <p:tgtEl>
                                          <p:spTgt spid="8"/>
                                        </p:tgtEl>
                                        <p:attrNameLst>
                                          <p:attrName>style.visibility</p:attrName>
                                        </p:attrNameLst>
                                      </p:cBhvr>
                                      <p:to>
                                        <p:strVal val="visible"/>
                                      </p:to>
                                    </p:set>
                                    <p:anim calcmode="lin" valueType="num">
                                      <p:cBhvr>
                                        <p:cTn id="20" dur="900" fill="hold" decel="100000"/>
                                        <p:tgtEl>
                                          <p:spTgt spid="8"/>
                                        </p:tgtEl>
                                        <p:attrNameLst>
                                          <p:attrName>ppt_w</p:attrName>
                                        </p:attrNameLst>
                                      </p:cBhvr>
                                      <p:tavLst>
                                        <p:tav tm="0">
                                          <p:val>
                                            <p:strVal val="#ppt_w*0.800"/>
                                          </p:val>
                                        </p:tav>
                                        <p:tav tm="100000">
                                          <p:val>
                                            <p:strVal val="#ppt_w"/>
                                          </p:val>
                                        </p:tav>
                                      </p:tavLst>
                                    </p:anim>
                                    <p:anim calcmode="lin" valueType="num">
                                      <p:cBhvr>
                                        <p:cTn id="21" dur="900" fill="hold" decel="100000"/>
                                        <p:tgtEl>
                                          <p:spTgt spid="8"/>
                                        </p:tgtEl>
                                        <p:attrNameLst>
                                          <p:attrName>ppt_h</p:attrName>
                                        </p:attrNameLst>
                                      </p:cBhvr>
                                      <p:tavLst>
                                        <p:tav tm="0">
                                          <p:val>
                                            <p:strVal val="#ppt_h*0.800"/>
                                          </p:val>
                                        </p:tav>
                                        <p:tav tm="100000">
                                          <p:val>
                                            <p:strVal val="#ppt_h"/>
                                          </p:val>
                                        </p:tav>
                                      </p:tavLst>
                                    </p:anim>
                                    <p:animEffect transition="in" filter="fade">
                                      <p:cBhvr>
                                        <p:cTn id="22" dur="630" decel="100000"/>
                                        <p:tgtEl>
                                          <p:spTgt spid="8"/>
                                        </p:tgtEl>
                                      </p:cBhvr>
                                    </p:animEffect>
                                  </p:childTnLst>
                                </p:cTn>
                              </p:par>
                              <p:par>
                                <p:cTn id="28" presetID="53" presetClass="entr" presetSubtype="16" fill="hold" grpId="0" nodeType="withEffect">
                                  <p:stCondLst>
                                    <p:cond delay="500"/>
                                  </p:stCondLst>
                                  <p:childTnLst>
                                    <p:set>
                                      <p:cBhvr>
                                        <p:cTn id="24" dur="1" fill="hold">
                                          <p:stCondLst>
                                            <p:cond delay="0"/>
                                          </p:stCondLst>
                                        </p:cTn>
                                        <p:tgtEl>
                                          <p:spTgt spid="9"/>
                                        </p:tgtEl>
                                        <p:attrNameLst>
                                          <p:attrName>style.visibility</p:attrName>
                                        </p:attrNameLst>
                                      </p:cBhvr>
                                      <p:to>
                                        <p:strVal val="visible"/>
                                      </p:to>
                                    </p:set>
                                    <p:anim calcmode="lin" valueType="num">
                                      <p:cBhvr>
                                        <p:cTn id="25" dur="900" fill="hold" decel="100000"/>
                                        <p:tgtEl>
                                          <p:spTgt spid="9"/>
                                        </p:tgtEl>
                                        <p:attrNameLst>
                                          <p:attrName>ppt_w</p:attrName>
                                        </p:attrNameLst>
                                      </p:cBhvr>
                                      <p:tavLst>
                                        <p:tav tm="0">
                                          <p:val>
                                            <p:strVal val="#ppt_w*0.800"/>
                                          </p:val>
                                        </p:tav>
                                        <p:tav tm="100000">
                                          <p:val>
                                            <p:strVal val="#ppt_w"/>
                                          </p:val>
                                        </p:tav>
                                      </p:tavLst>
                                    </p:anim>
                                    <p:anim calcmode="lin" valueType="num">
                                      <p:cBhvr>
                                        <p:cTn id="26" dur="900" fill="hold" decel="100000"/>
                                        <p:tgtEl>
                                          <p:spTgt spid="9"/>
                                        </p:tgtEl>
                                        <p:attrNameLst>
                                          <p:attrName>ppt_h</p:attrName>
                                        </p:attrNameLst>
                                      </p:cBhvr>
                                      <p:tavLst>
                                        <p:tav tm="0">
                                          <p:val>
                                            <p:strVal val="#ppt_h*0.800"/>
                                          </p:val>
                                        </p:tav>
                                        <p:tav tm="100000">
                                          <p:val>
                                            <p:strVal val="#ppt_h"/>
                                          </p:val>
                                        </p:tav>
                                      </p:tavLst>
                                    </p:anim>
                                    <p:animEffect transition="in" filter="fade">
                                      <p:cBhvr>
                                        <p:cTn id="27" dur="630" decel="100000"/>
                                        <p:tgtEl>
                                          <p:spTgt spid="9"/>
                                        </p:tgtEl>
                                      </p:cBhvr>
                                    </p:animEffect>
                                  </p:childTnLst>
                                </p:cTn>
                              </p:par>
                              <p:par>
                                <p:cTn id="33" presetID="42" presetClass="entr" presetSubtype="0" fill="hold" grpId="0" nodeType="withEffect">
                                  <p:stCondLst>
                                    <p:cond delay="62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640" decel="100000"/>
                                        <p:tgtEl>
                                          <p:spTgt spid="10"/>
                                        </p:tgtEl>
                                      </p:cBhvr>
                                    </p:animEffect>
                                    <p:anim calcmode="lin" valueType="num">
                                      <p:cBhvr>
                                        <p:cTn id="31" dur="800" fill="hold" decel="100000"/>
                                        <p:tgtEl>
                                          <p:spTgt spid="10"/>
                                        </p:tgtEl>
                                        <p:attrNameLst>
                                          <p:attrName>ppt_x</p:attrName>
                                        </p:attrNameLst>
                                      </p:cBhvr>
                                      <p:tavLst>
                                        <p:tav tm="0">
                                          <p:val>
                                            <p:strVal val="#ppt_x"/>
                                          </p:val>
                                        </p:tav>
                                        <p:tav tm="100000">
                                          <p:val>
                                            <p:strVal val="#ppt_x"/>
                                          </p:val>
                                        </p:tav>
                                      </p:tavLst>
                                    </p:anim>
                                    <p:anim calcmode="lin" valueType="num">
                                      <p:cBhvr>
                                        <p:cTn id="32" dur="800" fill="hold" decel="100000"/>
                                        <p:tgtEl>
                                          <p:spTgt spid="10"/>
                                        </p:tgtEl>
                                        <p:attrNameLst>
                                          <p:attrName>ppt_y</p:attrName>
                                        </p:attrNameLst>
                                      </p:cBhvr>
                                      <p:tavLst>
                                        <p:tav tm="0">
                                          <p:val>
                                            <p:strVal val="#ppt_y+0.0250"/>
                                          </p:val>
                                        </p:tav>
                                        <p:tav tm="100000">
                                          <p:val>
                                            <p:strVal val="#ppt_y"/>
                                          </p:val>
                                        </p:tav>
                                      </p:tavLst>
                                    </p:anim>
                                  </p:childTnLst>
                                </p:cTn>
                              </p:par>
                              <p:par>
                                <p:cTn id="38" presetID="42" presetClass="entr" presetSubtype="0" fill="hold" grpId="0" nodeType="withEffect">
                                  <p:stCondLst>
                                    <p:cond delay="72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640" decel="100000"/>
                                        <p:tgtEl>
                                          <p:spTgt spid="11"/>
                                        </p:tgtEl>
                                      </p:cBhvr>
                                    </p:animEffect>
                                    <p:anim calcmode="lin" valueType="num">
                                      <p:cBhvr>
                                        <p:cTn id="36" dur="800" fill="hold" decel="100000"/>
                                        <p:tgtEl>
                                          <p:spTgt spid="11"/>
                                        </p:tgtEl>
                                        <p:attrNameLst>
                                          <p:attrName>ppt_x</p:attrName>
                                        </p:attrNameLst>
                                      </p:cBhvr>
                                      <p:tavLst>
                                        <p:tav tm="0">
                                          <p:val>
                                            <p:strVal val="#ppt_x"/>
                                          </p:val>
                                        </p:tav>
                                        <p:tav tm="100000">
                                          <p:val>
                                            <p:strVal val="#ppt_x"/>
                                          </p:val>
                                        </p:tav>
                                      </p:tavLst>
                                    </p:anim>
                                    <p:anim calcmode="lin" valueType="num">
                                      <p:cBhvr>
                                        <p:cTn id="37" dur="800" fill="hold" decel="100000"/>
                                        <p:tgtEl>
                                          <p:spTgt spid="11"/>
                                        </p:tgtEl>
                                        <p:attrNameLst>
                                          <p:attrName>ppt_y</p:attrName>
                                        </p:attrNameLst>
                                      </p:cBhvr>
                                      <p:tavLst>
                                        <p:tav tm="0">
                                          <p:val>
                                            <p:strVal val="#ppt_y+0.0250"/>
                                          </p:val>
                                        </p:tav>
                                        <p:tav tm="100000">
                                          <p:val>
                                            <p:strVal val="#ppt_y"/>
                                          </p:val>
                                        </p:tav>
                                      </p:tavLst>
                                    </p:anim>
                                  </p:childTnLst>
                                </p:cTn>
                              </p:par>
                              <p:par>
                                <p:cTn id="42" presetID="2" presetClass="entr" presetSubtype="0" fill="hold" grpId="0" nodeType="withEffect">
                                  <p:stCondLst>
                                    <p:cond delay="80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350" decel="100000"/>
                                        <p:tgtEl>
                                          <p:spTgt spid="12"/>
                                        </p:tgtEl>
                                      </p:cBhvr>
                                    </p:animEffect>
                                    <p:animMotion origin="layout" path="M -0.0100 0.0000 L 0 0 E" pathEditMode="relative" ptsTypes="">
                                      <p:cBhvr>
                                        <p:cTn id="41" dur="700" fill="hold" decel="100000"/>
                                        <p:tgtEl>
                                          <p:spTgt spid="12"/>
                                        </p:tgtEl>
                                        <p:attrNameLst>
                                          <p:attrName>ppt_x</p:attrName>
                                          <p:attrName>ppt_y</p:attrName>
                                        </p:attrNameLst>
                                      </p:cBhvr>
                                      <p:rCtr x="0" y="0"/>
                                    </p:animMotion>
                                  </p:childTnLst>
                                </p:cTn>
                              </p:par>
                              <p:par>
                                <p:cTn id="47" presetID="53" presetClass="entr" presetSubtype="16" fill="hold" grpId="0" nodeType="withEffect">
                                  <p:stCondLst>
                                    <p:cond delay="800"/>
                                  </p:stCondLst>
                                  <p:childTnLst>
                                    <p:set>
                                      <p:cBhvr>
                                        <p:cTn id="43" dur="1" fill="hold">
                                          <p:stCondLst>
                                            <p:cond delay="0"/>
                                          </p:stCondLst>
                                        </p:cTn>
                                        <p:tgtEl>
                                          <p:spTgt spid="13"/>
                                        </p:tgtEl>
                                        <p:attrNameLst>
                                          <p:attrName>style.visibility</p:attrName>
                                        </p:attrNameLst>
                                      </p:cBhvr>
                                      <p:to>
                                        <p:strVal val="visible"/>
                                      </p:to>
                                    </p:set>
                                    <p:anim calcmode="lin" valueType="num">
                                      <p:cBhvr>
                                        <p:cTn id="44" dur="900" fill="hold" decel="100000"/>
                                        <p:tgtEl>
                                          <p:spTgt spid="13"/>
                                        </p:tgtEl>
                                        <p:attrNameLst>
                                          <p:attrName>ppt_w</p:attrName>
                                        </p:attrNameLst>
                                      </p:cBhvr>
                                      <p:tavLst>
                                        <p:tav tm="0">
                                          <p:val>
                                            <p:strVal val="#ppt_w*0.800"/>
                                          </p:val>
                                        </p:tav>
                                        <p:tav tm="100000">
                                          <p:val>
                                            <p:strVal val="#ppt_w"/>
                                          </p:val>
                                        </p:tav>
                                      </p:tavLst>
                                    </p:anim>
                                    <p:anim calcmode="lin" valueType="num">
                                      <p:cBhvr>
                                        <p:cTn id="45" dur="900" fill="hold" decel="100000"/>
                                        <p:tgtEl>
                                          <p:spTgt spid="13"/>
                                        </p:tgtEl>
                                        <p:attrNameLst>
                                          <p:attrName>ppt_h</p:attrName>
                                        </p:attrNameLst>
                                      </p:cBhvr>
                                      <p:tavLst>
                                        <p:tav tm="0">
                                          <p:val>
                                            <p:strVal val="#ppt_h*0.800"/>
                                          </p:val>
                                        </p:tav>
                                        <p:tav tm="100000">
                                          <p:val>
                                            <p:strVal val="#ppt_h"/>
                                          </p:val>
                                        </p:tav>
                                      </p:tavLst>
                                    </p:anim>
                                    <p:animEffect transition="in" filter="fade">
                                      <p:cBhvr>
                                        <p:cTn id="46" dur="630" decel="100000"/>
                                        <p:tgtEl>
                                          <p:spTgt spid="13"/>
                                        </p:tgtEl>
                                      </p:cBhvr>
                                    </p:animEffect>
                                  </p:childTnLst>
                                </p:cTn>
                              </p:par>
                              <p:par>
                                <p:cTn id="52" presetID="53" presetClass="entr" presetSubtype="16" fill="hold" grpId="0" nodeType="withEffect">
                                  <p:stCondLst>
                                    <p:cond delay="800"/>
                                  </p:stCondLst>
                                  <p:childTnLst>
                                    <p:set>
                                      <p:cBhvr>
                                        <p:cTn id="48" dur="1" fill="hold">
                                          <p:stCondLst>
                                            <p:cond delay="0"/>
                                          </p:stCondLst>
                                        </p:cTn>
                                        <p:tgtEl>
                                          <p:spTgt spid="14"/>
                                        </p:tgtEl>
                                        <p:attrNameLst>
                                          <p:attrName>style.visibility</p:attrName>
                                        </p:attrNameLst>
                                      </p:cBhvr>
                                      <p:to>
                                        <p:strVal val="visible"/>
                                      </p:to>
                                    </p:set>
                                    <p:anim calcmode="lin" valueType="num">
                                      <p:cBhvr>
                                        <p:cTn id="49" dur="900" fill="hold" decel="100000"/>
                                        <p:tgtEl>
                                          <p:spTgt spid="14"/>
                                        </p:tgtEl>
                                        <p:attrNameLst>
                                          <p:attrName>ppt_w</p:attrName>
                                        </p:attrNameLst>
                                      </p:cBhvr>
                                      <p:tavLst>
                                        <p:tav tm="0">
                                          <p:val>
                                            <p:strVal val="#ppt_w*0.800"/>
                                          </p:val>
                                        </p:tav>
                                        <p:tav tm="100000">
                                          <p:val>
                                            <p:strVal val="#ppt_w"/>
                                          </p:val>
                                        </p:tav>
                                      </p:tavLst>
                                    </p:anim>
                                    <p:anim calcmode="lin" valueType="num">
                                      <p:cBhvr>
                                        <p:cTn id="50" dur="900" fill="hold" decel="100000"/>
                                        <p:tgtEl>
                                          <p:spTgt spid="14"/>
                                        </p:tgtEl>
                                        <p:attrNameLst>
                                          <p:attrName>ppt_h</p:attrName>
                                        </p:attrNameLst>
                                      </p:cBhvr>
                                      <p:tavLst>
                                        <p:tav tm="0">
                                          <p:val>
                                            <p:strVal val="#ppt_h*0.800"/>
                                          </p:val>
                                        </p:tav>
                                        <p:tav tm="100000">
                                          <p:val>
                                            <p:strVal val="#ppt_h"/>
                                          </p:val>
                                        </p:tav>
                                      </p:tavLst>
                                    </p:anim>
                                    <p:animEffect transition="in" filter="fade">
                                      <p:cBhvr>
                                        <p:cTn id="51" dur="630" decel="100000"/>
                                        <p:tgtEl>
                                          <p:spTgt spid="14"/>
                                        </p:tgtEl>
                                      </p:cBhvr>
                                    </p:animEffect>
                                  </p:childTnLst>
                                </p:cTn>
                              </p:par>
                              <p:par>
                                <p:cTn id="57" presetID="53" presetClass="entr" presetSubtype="16" fill="hold" grpId="0" nodeType="withEffect">
                                  <p:stCondLst>
                                    <p:cond delay="800"/>
                                  </p:stCondLst>
                                  <p:childTnLst>
                                    <p:set>
                                      <p:cBhvr>
                                        <p:cTn id="53" dur="1" fill="hold">
                                          <p:stCondLst>
                                            <p:cond delay="0"/>
                                          </p:stCondLst>
                                        </p:cTn>
                                        <p:tgtEl>
                                          <p:spTgt spid="15"/>
                                        </p:tgtEl>
                                        <p:attrNameLst>
                                          <p:attrName>style.visibility</p:attrName>
                                        </p:attrNameLst>
                                      </p:cBhvr>
                                      <p:to>
                                        <p:strVal val="visible"/>
                                      </p:to>
                                    </p:set>
                                    <p:anim calcmode="lin" valueType="num">
                                      <p:cBhvr>
                                        <p:cTn id="54" dur="900" fill="hold" decel="100000"/>
                                        <p:tgtEl>
                                          <p:spTgt spid="15"/>
                                        </p:tgtEl>
                                        <p:attrNameLst>
                                          <p:attrName>ppt_w</p:attrName>
                                        </p:attrNameLst>
                                      </p:cBhvr>
                                      <p:tavLst>
                                        <p:tav tm="0">
                                          <p:val>
                                            <p:strVal val="#ppt_w*0.800"/>
                                          </p:val>
                                        </p:tav>
                                        <p:tav tm="100000">
                                          <p:val>
                                            <p:strVal val="#ppt_w"/>
                                          </p:val>
                                        </p:tav>
                                      </p:tavLst>
                                    </p:anim>
                                    <p:anim calcmode="lin" valueType="num">
                                      <p:cBhvr>
                                        <p:cTn id="55" dur="900" fill="hold" decel="100000"/>
                                        <p:tgtEl>
                                          <p:spTgt spid="15"/>
                                        </p:tgtEl>
                                        <p:attrNameLst>
                                          <p:attrName>ppt_h</p:attrName>
                                        </p:attrNameLst>
                                      </p:cBhvr>
                                      <p:tavLst>
                                        <p:tav tm="0">
                                          <p:val>
                                            <p:strVal val="#ppt_h*0.800"/>
                                          </p:val>
                                        </p:tav>
                                        <p:tav tm="100000">
                                          <p:val>
                                            <p:strVal val="#ppt_h"/>
                                          </p:val>
                                        </p:tav>
                                      </p:tavLst>
                                    </p:anim>
                                    <p:animEffect transition="in" filter="fade">
                                      <p:cBhvr>
                                        <p:cTn id="56" dur="630" decel="100000"/>
                                        <p:tgtEl>
                                          <p:spTgt spid="15"/>
                                        </p:tgtEl>
                                      </p:cBhvr>
                                    </p:animEffect>
                                  </p:childTnLst>
                                </p:cTn>
                              </p:par>
                              <p:par>
                                <p:cTn id="62" presetID="42" presetClass="entr" presetSubtype="0" fill="hold" grpId="0" nodeType="withEffect">
                                  <p:stCondLst>
                                    <p:cond delay="920"/>
                                  </p:stCondLst>
                                  <p:childTnLst>
                                    <p:set>
                                      <p:cBhvr>
                                        <p:cTn id="58" dur="1" fill="hold">
                                          <p:stCondLst>
                                            <p:cond delay="0"/>
                                          </p:stCondLst>
                                        </p:cTn>
                                        <p:tgtEl>
                                          <p:spTgt spid="16"/>
                                        </p:tgtEl>
                                        <p:attrNameLst>
                                          <p:attrName>style.visibility</p:attrName>
                                        </p:attrNameLst>
                                      </p:cBhvr>
                                      <p:to>
                                        <p:strVal val="visible"/>
                                      </p:to>
                                    </p:set>
                                    <p:animEffect transition="in" filter="fade">
                                      <p:cBhvr>
                                        <p:cTn id="59" dur="640" decel="100000"/>
                                        <p:tgtEl>
                                          <p:spTgt spid="16"/>
                                        </p:tgtEl>
                                      </p:cBhvr>
                                    </p:animEffect>
                                    <p:anim calcmode="lin" valueType="num">
                                      <p:cBhvr>
                                        <p:cTn id="60" dur="800" fill="hold" decel="100000"/>
                                        <p:tgtEl>
                                          <p:spTgt spid="16"/>
                                        </p:tgtEl>
                                        <p:attrNameLst>
                                          <p:attrName>ppt_x</p:attrName>
                                        </p:attrNameLst>
                                      </p:cBhvr>
                                      <p:tavLst>
                                        <p:tav tm="0">
                                          <p:val>
                                            <p:strVal val="#ppt_x"/>
                                          </p:val>
                                        </p:tav>
                                        <p:tav tm="100000">
                                          <p:val>
                                            <p:strVal val="#ppt_x"/>
                                          </p:val>
                                        </p:tav>
                                      </p:tavLst>
                                    </p:anim>
                                    <p:anim calcmode="lin" valueType="num">
                                      <p:cBhvr>
                                        <p:cTn id="61" dur="800" fill="hold" decel="100000"/>
                                        <p:tgtEl>
                                          <p:spTgt spid="16"/>
                                        </p:tgtEl>
                                        <p:attrNameLst>
                                          <p:attrName>ppt_y</p:attrName>
                                        </p:attrNameLst>
                                      </p:cBhvr>
                                      <p:tavLst>
                                        <p:tav tm="0">
                                          <p:val>
                                            <p:strVal val="#ppt_y+0.0250"/>
                                          </p:val>
                                        </p:tav>
                                        <p:tav tm="100000">
                                          <p:val>
                                            <p:strVal val="#ppt_y"/>
                                          </p:val>
                                        </p:tav>
                                      </p:tavLst>
                                    </p:anim>
                                  </p:childTnLst>
                                </p:cTn>
                              </p:par>
                              <p:par>
                                <p:cTn id="67" presetID="42" presetClass="entr" presetSubtype="0" fill="hold" grpId="0" nodeType="withEffect">
                                  <p:stCondLst>
                                    <p:cond delay="1020"/>
                                  </p:stCondLst>
                                  <p:childTnLst>
                                    <p:set>
                                      <p:cBhvr>
                                        <p:cTn id="63" dur="1" fill="hold">
                                          <p:stCondLst>
                                            <p:cond delay="0"/>
                                          </p:stCondLst>
                                        </p:cTn>
                                        <p:tgtEl>
                                          <p:spTgt spid="17"/>
                                        </p:tgtEl>
                                        <p:attrNameLst>
                                          <p:attrName>style.visibility</p:attrName>
                                        </p:attrNameLst>
                                      </p:cBhvr>
                                      <p:to>
                                        <p:strVal val="visible"/>
                                      </p:to>
                                    </p:set>
                                    <p:animEffect transition="in" filter="fade">
                                      <p:cBhvr>
                                        <p:cTn id="64" dur="640" decel="100000"/>
                                        <p:tgtEl>
                                          <p:spTgt spid="17"/>
                                        </p:tgtEl>
                                      </p:cBhvr>
                                    </p:animEffect>
                                    <p:anim calcmode="lin" valueType="num">
                                      <p:cBhvr>
                                        <p:cTn id="65" dur="800" fill="hold" decel="100000"/>
                                        <p:tgtEl>
                                          <p:spTgt spid="17"/>
                                        </p:tgtEl>
                                        <p:attrNameLst>
                                          <p:attrName>ppt_x</p:attrName>
                                        </p:attrNameLst>
                                      </p:cBhvr>
                                      <p:tavLst>
                                        <p:tav tm="0">
                                          <p:val>
                                            <p:strVal val="#ppt_x"/>
                                          </p:val>
                                        </p:tav>
                                        <p:tav tm="100000">
                                          <p:val>
                                            <p:strVal val="#ppt_x"/>
                                          </p:val>
                                        </p:tav>
                                      </p:tavLst>
                                    </p:anim>
                                    <p:anim calcmode="lin" valueType="num">
                                      <p:cBhvr>
                                        <p:cTn id="66" dur="800" fill="hold" decel="100000"/>
                                        <p:tgtEl>
                                          <p:spTgt spid="17"/>
                                        </p:tgtEl>
                                        <p:attrNameLst>
                                          <p:attrName>ppt_y</p:attrName>
                                        </p:attrNameLst>
                                      </p:cBhvr>
                                      <p:tavLst>
                                        <p:tav tm="0">
                                          <p:val>
                                            <p:strVal val="#ppt_y+0.0250"/>
                                          </p:val>
                                        </p:tav>
                                        <p:tav tm="100000">
                                          <p:val>
                                            <p:strVal val="#ppt_y"/>
                                          </p:val>
                                        </p:tav>
                                      </p:tavLst>
                                    </p:anim>
                                  </p:childTnLst>
                                </p:cTn>
                              </p:par>
                              <p:par>
                                <p:cTn id="71" presetID="2" presetClass="entr" presetSubtype="0" fill="hold" grpId="0" nodeType="withEffect">
                                  <p:stCondLst>
                                    <p:cond delay="1100"/>
                                  </p:stCondLst>
                                  <p:childTnLst>
                                    <p:set>
                                      <p:cBhvr>
                                        <p:cTn id="68" dur="1" fill="hold">
                                          <p:stCondLst>
                                            <p:cond delay="0"/>
                                          </p:stCondLst>
                                        </p:cTn>
                                        <p:tgtEl>
                                          <p:spTgt spid="18"/>
                                        </p:tgtEl>
                                        <p:attrNameLst>
                                          <p:attrName>style.visibility</p:attrName>
                                        </p:attrNameLst>
                                      </p:cBhvr>
                                      <p:to>
                                        <p:strVal val="visible"/>
                                      </p:to>
                                    </p:set>
                                    <p:animEffect transition="in" filter="fade">
                                      <p:cBhvr>
                                        <p:cTn id="69" dur="350" decel="100000"/>
                                        <p:tgtEl>
                                          <p:spTgt spid="18"/>
                                        </p:tgtEl>
                                      </p:cBhvr>
                                    </p:animEffect>
                                    <p:animMotion origin="layout" path="M -0.0100 0.0000 L 0 0 E" pathEditMode="relative" ptsTypes="">
                                      <p:cBhvr>
                                        <p:cTn id="70" dur="700" fill="hold" decel="100000"/>
                                        <p:tgtEl>
                                          <p:spTgt spid="18"/>
                                        </p:tgtEl>
                                        <p:attrNameLst>
                                          <p:attrName>ppt_x</p:attrName>
                                          <p:attrName>ppt_y</p:attrName>
                                        </p:attrNameLst>
                                      </p:cBhvr>
                                      <p:rCtr x="0" y="0"/>
                                    </p:animMotion>
                                  </p:childTnLst>
                                </p:cTn>
                              </p:par>
                              <p:par>
                                <p:cTn id="76" presetID="53" presetClass="entr" presetSubtype="16" fill="hold" grpId="0" nodeType="withEffect">
                                  <p:stCondLst>
                                    <p:cond delay="1100"/>
                                  </p:stCondLst>
                                  <p:childTnLst>
                                    <p:set>
                                      <p:cBhvr>
                                        <p:cTn id="72" dur="1" fill="hold">
                                          <p:stCondLst>
                                            <p:cond delay="0"/>
                                          </p:stCondLst>
                                        </p:cTn>
                                        <p:tgtEl>
                                          <p:spTgt spid="19"/>
                                        </p:tgtEl>
                                        <p:attrNameLst>
                                          <p:attrName>style.visibility</p:attrName>
                                        </p:attrNameLst>
                                      </p:cBhvr>
                                      <p:to>
                                        <p:strVal val="visible"/>
                                      </p:to>
                                    </p:set>
                                    <p:anim calcmode="lin" valueType="num">
                                      <p:cBhvr>
                                        <p:cTn id="73" dur="900" fill="hold" decel="100000"/>
                                        <p:tgtEl>
                                          <p:spTgt spid="19"/>
                                        </p:tgtEl>
                                        <p:attrNameLst>
                                          <p:attrName>ppt_w</p:attrName>
                                        </p:attrNameLst>
                                      </p:cBhvr>
                                      <p:tavLst>
                                        <p:tav tm="0">
                                          <p:val>
                                            <p:strVal val="#ppt_w*0.800"/>
                                          </p:val>
                                        </p:tav>
                                        <p:tav tm="100000">
                                          <p:val>
                                            <p:strVal val="#ppt_w"/>
                                          </p:val>
                                        </p:tav>
                                      </p:tavLst>
                                    </p:anim>
                                    <p:anim calcmode="lin" valueType="num">
                                      <p:cBhvr>
                                        <p:cTn id="74" dur="900" fill="hold" decel="100000"/>
                                        <p:tgtEl>
                                          <p:spTgt spid="19"/>
                                        </p:tgtEl>
                                        <p:attrNameLst>
                                          <p:attrName>ppt_h</p:attrName>
                                        </p:attrNameLst>
                                      </p:cBhvr>
                                      <p:tavLst>
                                        <p:tav tm="0">
                                          <p:val>
                                            <p:strVal val="#ppt_h*0.800"/>
                                          </p:val>
                                        </p:tav>
                                        <p:tav tm="100000">
                                          <p:val>
                                            <p:strVal val="#ppt_h"/>
                                          </p:val>
                                        </p:tav>
                                      </p:tavLst>
                                    </p:anim>
                                    <p:animEffect transition="in" filter="fade">
                                      <p:cBhvr>
                                        <p:cTn id="75" dur="630" decel="100000"/>
                                        <p:tgtEl>
                                          <p:spTgt spid="19"/>
                                        </p:tgtEl>
                                      </p:cBhvr>
                                    </p:animEffect>
                                  </p:childTnLst>
                                </p:cTn>
                              </p:par>
                              <p:par>
                                <p:cTn id="81" presetID="53" presetClass="entr" presetSubtype="16" fill="hold" grpId="0" nodeType="withEffect">
                                  <p:stCondLst>
                                    <p:cond delay="1100"/>
                                  </p:stCondLst>
                                  <p:childTnLst>
                                    <p:set>
                                      <p:cBhvr>
                                        <p:cTn id="77" dur="1" fill="hold">
                                          <p:stCondLst>
                                            <p:cond delay="0"/>
                                          </p:stCondLst>
                                        </p:cTn>
                                        <p:tgtEl>
                                          <p:spTgt spid="20"/>
                                        </p:tgtEl>
                                        <p:attrNameLst>
                                          <p:attrName>style.visibility</p:attrName>
                                        </p:attrNameLst>
                                      </p:cBhvr>
                                      <p:to>
                                        <p:strVal val="visible"/>
                                      </p:to>
                                    </p:set>
                                    <p:anim calcmode="lin" valueType="num">
                                      <p:cBhvr>
                                        <p:cTn id="78" dur="900" fill="hold" decel="100000"/>
                                        <p:tgtEl>
                                          <p:spTgt spid="20"/>
                                        </p:tgtEl>
                                        <p:attrNameLst>
                                          <p:attrName>ppt_w</p:attrName>
                                        </p:attrNameLst>
                                      </p:cBhvr>
                                      <p:tavLst>
                                        <p:tav tm="0">
                                          <p:val>
                                            <p:strVal val="#ppt_w*0.800"/>
                                          </p:val>
                                        </p:tav>
                                        <p:tav tm="100000">
                                          <p:val>
                                            <p:strVal val="#ppt_w"/>
                                          </p:val>
                                        </p:tav>
                                      </p:tavLst>
                                    </p:anim>
                                    <p:anim calcmode="lin" valueType="num">
                                      <p:cBhvr>
                                        <p:cTn id="79" dur="900" fill="hold" decel="100000"/>
                                        <p:tgtEl>
                                          <p:spTgt spid="20"/>
                                        </p:tgtEl>
                                        <p:attrNameLst>
                                          <p:attrName>ppt_h</p:attrName>
                                        </p:attrNameLst>
                                      </p:cBhvr>
                                      <p:tavLst>
                                        <p:tav tm="0">
                                          <p:val>
                                            <p:strVal val="#ppt_h*0.800"/>
                                          </p:val>
                                        </p:tav>
                                        <p:tav tm="100000">
                                          <p:val>
                                            <p:strVal val="#ppt_h"/>
                                          </p:val>
                                        </p:tav>
                                      </p:tavLst>
                                    </p:anim>
                                    <p:animEffect transition="in" filter="fade">
                                      <p:cBhvr>
                                        <p:cTn id="80" dur="630" decel="100000"/>
                                        <p:tgtEl>
                                          <p:spTgt spid="20"/>
                                        </p:tgtEl>
                                      </p:cBhvr>
                                    </p:animEffect>
                                  </p:childTnLst>
                                </p:cTn>
                              </p:par>
                              <p:par>
                                <p:cTn id="86" presetID="53" presetClass="entr" presetSubtype="16" fill="hold" grpId="0" nodeType="withEffect">
                                  <p:stCondLst>
                                    <p:cond delay="1100"/>
                                  </p:stCondLst>
                                  <p:childTnLst>
                                    <p:set>
                                      <p:cBhvr>
                                        <p:cTn id="82" dur="1" fill="hold">
                                          <p:stCondLst>
                                            <p:cond delay="0"/>
                                          </p:stCondLst>
                                        </p:cTn>
                                        <p:tgtEl>
                                          <p:spTgt spid="21"/>
                                        </p:tgtEl>
                                        <p:attrNameLst>
                                          <p:attrName>style.visibility</p:attrName>
                                        </p:attrNameLst>
                                      </p:cBhvr>
                                      <p:to>
                                        <p:strVal val="visible"/>
                                      </p:to>
                                    </p:set>
                                    <p:anim calcmode="lin" valueType="num">
                                      <p:cBhvr>
                                        <p:cTn id="83" dur="900" fill="hold" decel="100000"/>
                                        <p:tgtEl>
                                          <p:spTgt spid="21"/>
                                        </p:tgtEl>
                                        <p:attrNameLst>
                                          <p:attrName>ppt_w</p:attrName>
                                        </p:attrNameLst>
                                      </p:cBhvr>
                                      <p:tavLst>
                                        <p:tav tm="0">
                                          <p:val>
                                            <p:strVal val="#ppt_w*0.800"/>
                                          </p:val>
                                        </p:tav>
                                        <p:tav tm="100000">
                                          <p:val>
                                            <p:strVal val="#ppt_w"/>
                                          </p:val>
                                        </p:tav>
                                      </p:tavLst>
                                    </p:anim>
                                    <p:anim calcmode="lin" valueType="num">
                                      <p:cBhvr>
                                        <p:cTn id="84" dur="900" fill="hold" decel="100000"/>
                                        <p:tgtEl>
                                          <p:spTgt spid="21"/>
                                        </p:tgtEl>
                                        <p:attrNameLst>
                                          <p:attrName>ppt_h</p:attrName>
                                        </p:attrNameLst>
                                      </p:cBhvr>
                                      <p:tavLst>
                                        <p:tav tm="0">
                                          <p:val>
                                            <p:strVal val="#ppt_h*0.800"/>
                                          </p:val>
                                        </p:tav>
                                        <p:tav tm="100000">
                                          <p:val>
                                            <p:strVal val="#ppt_h"/>
                                          </p:val>
                                        </p:tav>
                                      </p:tavLst>
                                    </p:anim>
                                    <p:animEffect transition="in" filter="fade">
                                      <p:cBhvr>
                                        <p:cTn id="85" dur="630" decel="100000"/>
                                        <p:tgtEl>
                                          <p:spTgt spid="21"/>
                                        </p:tgtEl>
                                      </p:cBhvr>
                                    </p:animEffect>
                                  </p:childTnLst>
                                </p:cTn>
                              </p:par>
                              <p:par>
                                <p:cTn id="91" presetID="42" presetClass="entr" presetSubtype="0" fill="hold" grpId="0" nodeType="withEffect">
                                  <p:stCondLst>
                                    <p:cond delay="122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640" decel="100000"/>
                                        <p:tgtEl>
                                          <p:spTgt spid="22"/>
                                        </p:tgtEl>
                                      </p:cBhvr>
                                    </p:animEffect>
                                    <p:anim calcmode="lin" valueType="num">
                                      <p:cBhvr>
                                        <p:cTn id="89" dur="800" fill="hold" decel="100000"/>
                                        <p:tgtEl>
                                          <p:spTgt spid="22"/>
                                        </p:tgtEl>
                                        <p:attrNameLst>
                                          <p:attrName>ppt_x</p:attrName>
                                        </p:attrNameLst>
                                      </p:cBhvr>
                                      <p:tavLst>
                                        <p:tav tm="0">
                                          <p:val>
                                            <p:strVal val="#ppt_x"/>
                                          </p:val>
                                        </p:tav>
                                        <p:tav tm="100000">
                                          <p:val>
                                            <p:strVal val="#ppt_x"/>
                                          </p:val>
                                        </p:tav>
                                      </p:tavLst>
                                    </p:anim>
                                    <p:anim calcmode="lin" valueType="num">
                                      <p:cBhvr>
                                        <p:cTn id="90" dur="800" fill="hold" decel="100000"/>
                                        <p:tgtEl>
                                          <p:spTgt spid="22"/>
                                        </p:tgtEl>
                                        <p:attrNameLst>
                                          <p:attrName>ppt_y</p:attrName>
                                        </p:attrNameLst>
                                      </p:cBhvr>
                                      <p:tavLst>
                                        <p:tav tm="0">
                                          <p:val>
                                            <p:strVal val="#ppt_y+0.0250"/>
                                          </p:val>
                                        </p:tav>
                                        <p:tav tm="100000">
                                          <p:val>
                                            <p:strVal val="#ppt_y"/>
                                          </p:val>
                                        </p:tav>
                                      </p:tavLst>
                                    </p:anim>
                                  </p:childTnLst>
                                </p:cTn>
                              </p:par>
                              <p:par>
                                <p:cTn id="96" presetID="42" presetClass="entr" presetSubtype="0" fill="hold" grpId="0" nodeType="withEffect">
                                  <p:stCondLst>
                                    <p:cond delay="1320"/>
                                  </p:stCondLst>
                                  <p:childTnLst>
                                    <p:set>
                                      <p:cBhvr>
                                        <p:cTn id="92" dur="1" fill="hold">
                                          <p:stCondLst>
                                            <p:cond delay="0"/>
                                          </p:stCondLst>
                                        </p:cTn>
                                        <p:tgtEl>
                                          <p:spTgt spid="23"/>
                                        </p:tgtEl>
                                        <p:attrNameLst>
                                          <p:attrName>style.visibility</p:attrName>
                                        </p:attrNameLst>
                                      </p:cBhvr>
                                      <p:to>
                                        <p:strVal val="visible"/>
                                      </p:to>
                                    </p:set>
                                    <p:animEffect transition="in" filter="fade">
                                      <p:cBhvr>
                                        <p:cTn id="93" dur="640" decel="100000"/>
                                        <p:tgtEl>
                                          <p:spTgt spid="23"/>
                                        </p:tgtEl>
                                      </p:cBhvr>
                                    </p:animEffect>
                                    <p:anim calcmode="lin" valueType="num">
                                      <p:cBhvr>
                                        <p:cTn id="94" dur="800" fill="hold" decel="100000"/>
                                        <p:tgtEl>
                                          <p:spTgt spid="23"/>
                                        </p:tgtEl>
                                        <p:attrNameLst>
                                          <p:attrName>ppt_x</p:attrName>
                                        </p:attrNameLst>
                                      </p:cBhvr>
                                      <p:tavLst>
                                        <p:tav tm="0">
                                          <p:val>
                                            <p:strVal val="#ppt_x"/>
                                          </p:val>
                                        </p:tav>
                                        <p:tav tm="100000">
                                          <p:val>
                                            <p:strVal val="#ppt_x"/>
                                          </p:val>
                                        </p:tav>
                                      </p:tavLst>
                                    </p:anim>
                                    <p:anim calcmode="lin" valueType="num">
                                      <p:cBhvr>
                                        <p:cTn id="95" dur="800" fill="hold" decel="100000"/>
                                        <p:tgtEl>
                                          <p:spTgt spid="23"/>
                                        </p:tgtEl>
                                        <p:attrNameLst>
                                          <p:attrName>ppt_y</p:attrName>
                                        </p:attrNameLst>
                                      </p:cBhvr>
                                      <p:tavLst>
                                        <p:tav tm="0">
                                          <p:val>
                                            <p:strVal val="#ppt_y+0.0250"/>
                                          </p:val>
                                        </p:tav>
                                        <p:tav tm="100000">
                                          <p:val>
                                            <p:strVal val="#ppt_y"/>
                                          </p:val>
                                        </p:tav>
                                      </p:tavLst>
                                    </p:anim>
                                  </p:childTnLst>
                                </p:cTn>
                              </p:par>
                              <p:par>
                                <p:cTn id="100" presetID="2" presetClass="entr" presetSubtype="0" fill="hold" grpId="0" nodeType="withEffect">
                                  <p:stCondLst>
                                    <p:cond delay="1400"/>
                                  </p:stCondLst>
                                  <p:childTnLst>
                                    <p:set>
                                      <p:cBhvr>
                                        <p:cTn id="97" dur="1" fill="hold">
                                          <p:stCondLst>
                                            <p:cond delay="0"/>
                                          </p:stCondLst>
                                        </p:cTn>
                                        <p:tgtEl>
                                          <p:spTgt spid="24"/>
                                        </p:tgtEl>
                                        <p:attrNameLst>
                                          <p:attrName>style.visibility</p:attrName>
                                        </p:attrNameLst>
                                      </p:cBhvr>
                                      <p:to>
                                        <p:strVal val="visible"/>
                                      </p:to>
                                    </p:set>
                                    <p:animEffect transition="in" filter="fade">
                                      <p:cBhvr>
                                        <p:cTn id="98" dur="350" decel="100000"/>
                                        <p:tgtEl>
                                          <p:spTgt spid="24"/>
                                        </p:tgtEl>
                                      </p:cBhvr>
                                    </p:animEffect>
                                    <p:animMotion origin="layout" path="M -0.0100 0.0000 L 0 0 E" pathEditMode="relative" ptsTypes="">
                                      <p:cBhvr>
                                        <p:cTn id="99" dur="700" fill="hold" decel="100000"/>
                                        <p:tgtEl>
                                          <p:spTgt spid="24"/>
                                        </p:tgtEl>
                                        <p:attrNameLst>
                                          <p:attrName>ppt_x</p:attrName>
                                          <p:attrName>ppt_y</p:attrName>
                                        </p:attrNameLst>
                                      </p:cBhvr>
                                      <p:rCtr x="0" y="0"/>
                                    </p:animMotion>
                                  </p:childTnLst>
                                </p:cTn>
                              </p:par>
                              <p:par>
                                <p:cTn id="105" presetID="53" presetClass="entr" presetSubtype="16" fill="hold" grpId="0" nodeType="withEffect">
                                  <p:stCondLst>
                                    <p:cond delay="1400"/>
                                  </p:stCondLst>
                                  <p:childTnLst>
                                    <p:set>
                                      <p:cBhvr>
                                        <p:cTn id="101" dur="1" fill="hold">
                                          <p:stCondLst>
                                            <p:cond delay="0"/>
                                          </p:stCondLst>
                                        </p:cTn>
                                        <p:tgtEl>
                                          <p:spTgt spid="25"/>
                                        </p:tgtEl>
                                        <p:attrNameLst>
                                          <p:attrName>style.visibility</p:attrName>
                                        </p:attrNameLst>
                                      </p:cBhvr>
                                      <p:to>
                                        <p:strVal val="visible"/>
                                      </p:to>
                                    </p:set>
                                    <p:anim calcmode="lin" valueType="num">
                                      <p:cBhvr>
                                        <p:cTn id="102" dur="900" fill="hold" decel="100000"/>
                                        <p:tgtEl>
                                          <p:spTgt spid="25"/>
                                        </p:tgtEl>
                                        <p:attrNameLst>
                                          <p:attrName>ppt_w</p:attrName>
                                        </p:attrNameLst>
                                      </p:cBhvr>
                                      <p:tavLst>
                                        <p:tav tm="0">
                                          <p:val>
                                            <p:strVal val="#ppt_w*0.800"/>
                                          </p:val>
                                        </p:tav>
                                        <p:tav tm="100000">
                                          <p:val>
                                            <p:strVal val="#ppt_w"/>
                                          </p:val>
                                        </p:tav>
                                      </p:tavLst>
                                    </p:anim>
                                    <p:anim calcmode="lin" valueType="num">
                                      <p:cBhvr>
                                        <p:cTn id="103" dur="900" fill="hold" decel="100000"/>
                                        <p:tgtEl>
                                          <p:spTgt spid="25"/>
                                        </p:tgtEl>
                                        <p:attrNameLst>
                                          <p:attrName>ppt_h</p:attrName>
                                        </p:attrNameLst>
                                      </p:cBhvr>
                                      <p:tavLst>
                                        <p:tav tm="0">
                                          <p:val>
                                            <p:strVal val="#ppt_h*0.800"/>
                                          </p:val>
                                        </p:tav>
                                        <p:tav tm="100000">
                                          <p:val>
                                            <p:strVal val="#ppt_h"/>
                                          </p:val>
                                        </p:tav>
                                      </p:tavLst>
                                    </p:anim>
                                    <p:animEffect transition="in" filter="fade">
                                      <p:cBhvr>
                                        <p:cTn id="104" dur="630" decel="100000"/>
                                        <p:tgtEl>
                                          <p:spTgt spid="25"/>
                                        </p:tgtEl>
                                      </p:cBhvr>
                                    </p:animEffect>
                                  </p:childTnLst>
                                </p:cTn>
                              </p:par>
                              <p:par>
                                <p:cTn id="110" presetID="53" presetClass="entr" presetSubtype="16" fill="hold" grpId="0" nodeType="withEffect">
                                  <p:stCondLst>
                                    <p:cond delay="1400"/>
                                  </p:stCondLst>
                                  <p:childTnLst>
                                    <p:set>
                                      <p:cBhvr>
                                        <p:cTn id="106" dur="1" fill="hold">
                                          <p:stCondLst>
                                            <p:cond delay="0"/>
                                          </p:stCondLst>
                                        </p:cTn>
                                        <p:tgtEl>
                                          <p:spTgt spid="26"/>
                                        </p:tgtEl>
                                        <p:attrNameLst>
                                          <p:attrName>style.visibility</p:attrName>
                                        </p:attrNameLst>
                                      </p:cBhvr>
                                      <p:to>
                                        <p:strVal val="visible"/>
                                      </p:to>
                                    </p:set>
                                    <p:anim calcmode="lin" valueType="num">
                                      <p:cBhvr>
                                        <p:cTn id="107" dur="900" fill="hold" decel="100000"/>
                                        <p:tgtEl>
                                          <p:spTgt spid="26"/>
                                        </p:tgtEl>
                                        <p:attrNameLst>
                                          <p:attrName>ppt_w</p:attrName>
                                        </p:attrNameLst>
                                      </p:cBhvr>
                                      <p:tavLst>
                                        <p:tav tm="0">
                                          <p:val>
                                            <p:strVal val="#ppt_w*0.800"/>
                                          </p:val>
                                        </p:tav>
                                        <p:tav tm="100000">
                                          <p:val>
                                            <p:strVal val="#ppt_w"/>
                                          </p:val>
                                        </p:tav>
                                      </p:tavLst>
                                    </p:anim>
                                    <p:anim calcmode="lin" valueType="num">
                                      <p:cBhvr>
                                        <p:cTn id="108" dur="900" fill="hold" decel="100000"/>
                                        <p:tgtEl>
                                          <p:spTgt spid="26"/>
                                        </p:tgtEl>
                                        <p:attrNameLst>
                                          <p:attrName>ppt_h</p:attrName>
                                        </p:attrNameLst>
                                      </p:cBhvr>
                                      <p:tavLst>
                                        <p:tav tm="0">
                                          <p:val>
                                            <p:strVal val="#ppt_h*0.800"/>
                                          </p:val>
                                        </p:tav>
                                        <p:tav tm="100000">
                                          <p:val>
                                            <p:strVal val="#ppt_h"/>
                                          </p:val>
                                        </p:tav>
                                      </p:tavLst>
                                    </p:anim>
                                    <p:animEffect transition="in" filter="fade">
                                      <p:cBhvr>
                                        <p:cTn id="109" dur="630" decel="100000"/>
                                        <p:tgtEl>
                                          <p:spTgt spid="26"/>
                                        </p:tgtEl>
                                      </p:cBhvr>
                                    </p:animEffect>
                                  </p:childTnLst>
                                </p:cTn>
                              </p:par>
                              <p:par>
                                <p:cTn id="115" presetID="53" presetClass="entr" presetSubtype="16" fill="hold" grpId="0" nodeType="withEffect">
                                  <p:stCondLst>
                                    <p:cond delay="1400"/>
                                  </p:stCondLst>
                                  <p:childTnLst>
                                    <p:set>
                                      <p:cBhvr>
                                        <p:cTn id="111" dur="1" fill="hold">
                                          <p:stCondLst>
                                            <p:cond delay="0"/>
                                          </p:stCondLst>
                                        </p:cTn>
                                        <p:tgtEl>
                                          <p:spTgt spid="27"/>
                                        </p:tgtEl>
                                        <p:attrNameLst>
                                          <p:attrName>style.visibility</p:attrName>
                                        </p:attrNameLst>
                                      </p:cBhvr>
                                      <p:to>
                                        <p:strVal val="visible"/>
                                      </p:to>
                                    </p:set>
                                    <p:anim calcmode="lin" valueType="num">
                                      <p:cBhvr>
                                        <p:cTn id="112" dur="900" fill="hold" decel="100000"/>
                                        <p:tgtEl>
                                          <p:spTgt spid="27"/>
                                        </p:tgtEl>
                                        <p:attrNameLst>
                                          <p:attrName>ppt_w</p:attrName>
                                        </p:attrNameLst>
                                      </p:cBhvr>
                                      <p:tavLst>
                                        <p:tav tm="0">
                                          <p:val>
                                            <p:strVal val="#ppt_w*0.800"/>
                                          </p:val>
                                        </p:tav>
                                        <p:tav tm="100000">
                                          <p:val>
                                            <p:strVal val="#ppt_w"/>
                                          </p:val>
                                        </p:tav>
                                      </p:tavLst>
                                    </p:anim>
                                    <p:anim calcmode="lin" valueType="num">
                                      <p:cBhvr>
                                        <p:cTn id="113" dur="900" fill="hold" decel="100000"/>
                                        <p:tgtEl>
                                          <p:spTgt spid="27"/>
                                        </p:tgtEl>
                                        <p:attrNameLst>
                                          <p:attrName>ppt_h</p:attrName>
                                        </p:attrNameLst>
                                      </p:cBhvr>
                                      <p:tavLst>
                                        <p:tav tm="0">
                                          <p:val>
                                            <p:strVal val="#ppt_h*0.800"/>
                                          </p:val>
                                        </p:tav>
                                        <p:tav tm="100000">
                                          <p:val>
                                            <p:strVal val="#ppt_h"/>
                                          </p:val>
                                        </p:tav>
                                      </p:tavLst>
                                    </p:anim>
                                    <p:animEffect transition="in" filter="fade">
                                      <p:cBhvr>
                                        <p:cTn id="114" dur="630" decel="100000"/>
                                        <p:tgtEl>
                                          <p:spTgt spid="27"/>
                                        </p:tgtEl>
                                      </p:cBhvr>
                                    </p:animEffect>
                                  </p:childTnLst>
                                </p:cTn>
                              </p:par>
                              <p:par>
                                <p:cTn id="120" presetID="42" presetClass="entr" presetSubtype="0" fill="hold" grpId="0" nodeType="withEffect">
                                  <p:stCondLst>
                                    <p:cond delay="1520"/>
                                  </p:stCondLst>
                                  <p:childTnLst>
                                    <p:set>
                                      <p:cBhvr>
                                        <p:cTn id="116" dur="1" fill="hold">
                                          <p:stCondLst>
                                            <p:cond delay="0"/>
                                          </p:stCondLst>
                                        </p:cTn>
                                        <p:tgtEl>
                                          <p:spTgt spid="28"/>
                                        </p:tgtEl>
                                        <p:attrNameLst>
                                          <p:attrName>style.visibility</p:attrName>
                                        </p:attrNameLst>
                                      </p:cBhvr>
                                      <p:to>
                                        <p:strVal val="visible"/>
                                      </p:to>
                                    </p:set>
                                    <p:animEffect transition="in" filter="fade">
                                      <p:cBhvr>
                                        <p:cTn id="117" dur="640" decel="100000"/>
                                        <p:tgtEl>
                                          <p:spTgt spid="28"/>
                                        </p:tgtEl>
                                      </p:cBhvr>
                                    </p:animEffect>
                                    <p:anim calcmode="lin" valueType="num">
                                      <p:cBhvr>
                                        <p:cTn id="118" dur="800" fill="hold" decel="100000"/>
                                        <p:tgtEl>
                                          <p:spTgt spid="28"/>
                                        </p:tgtEl>
                                        <p:attrNameLst>
                                          <p:attrName>ppt_x</p:attrName>
                                        </p:attrNameLst>
                                      </p:cBhvr>
                                      <p:tavLst>
                                        <p:tav tm="0">
                                          <p:val>
                                            <p:strVal val="#ppt_x"/>
                                          </p:val>
                                        </p:tav>
                                        <p:tav tm="100000">
                                          <p:val>
                                            <p:strVal val="#ppt_x"/>
                                          </p:val>
                                        </p:tav>
                                      </p:tavLst>
                                    </p:anim>
                                    <p:anim calcmode="lin" valueType="num">
                                      <p:cBhvr>
                                        <p:cTn id="119" dur="800" fill="hold" decel="100000"/>
                                        <p:tgtEl>
                                          <p:spTgt spid="28"/>
                                        </p:tgtEl>
                                        <p:attrNameLst>
                                          <p:attrName>ppt_y</p:attrName>
                                        </p:attrNameLst>
                                      </p:cBhvr>
                                      <p:tavLst>
                                        <p:tav tm="0">
                                          <p:val>
                                            <p:strVal val="#ppt_y+0.0250"/>
                                          </p:val>
                                        </p:tav>
                                        <p:tav tm="100000">
                                          <p:val>
                                            <p:strVal val="#ppt_y"/>
                                          </p:val>
                                        </p:tav>
                                      </p:tavLst>
                                    </p:anim>
                                  </p:childTnLst>
                                </p:cTn>
                              </p:par>
                              <p:par>
                                <p:cTn id="125" presetID="42" presetClass="entr" presetSubtype="0" fill="hold" grpId="0" nodeType="withEffect">
                                  <p:stCondLst>
                                    <p:cond delay="1620"/>
                                  </p:stCondLst>
                                  <p:childTnLst>
                                    <p:set>
                                      <p:cBhvr>
                                        <p:cTn id="121" dur="1" fill="hold">
                                          <p:stCondLst>
                                            <p:cond delay="0"/>
                                          </p:stCondLst>
                                        </p:cTn>
                                        <p:tgtEl>
                                          <p:spTgt spid="29"/>
                                        </p:tgtEl>
                                        <p:attrNameLst>
                                          <p:attrName>style.visibility</p:attrName>
                                        </p:attrNameLst>
                                      </p:cBhvr>
                                      <p:to>
                                        <p:strVal val="visible"/>
                                      </p:to>
                                    </p:set>
                                    <p:animEffect transition="in" filter="fade">
                                      <p:cBhvr>
                                        <p:cTn id="122" dur="640" decel="100000"/>
                                        <p:tgtEl>
                                          <p:spTgt spid="29"/>
                                        </p:tgtEl>
                                      </p:cBhvr>
                                    </p:animEffect>
                                    <p:anim calcmode="lin" valueType="num">
                                      <p:cBhvr>
                                        <p:cTn id="123" dur="800" fill="hold" decel="100000"/>
                                        <p:tgtEl>
                                          <p:spTgt spid="29"/>
                                        </p:tgtEl>
                                        <p:attrNameLst>
                                          <p:attrName>ppt_x</p:attrName>
                                        </p:attrNameLst>
                                      </p:cBhvr>
                                      <p:tavLst>
                                        <p:tav tm="0">
                                          <p:val>
                                            <p:strVal val="#ppt_x"/>
                                          </p:val>
                                        </p:tav>
                                        <p:tav tm="100000">
                                          <p:val>
                                            <p:strVal val="#ppt_x"/>
                                          </p:val>
                                        </p:tav>
                                      </p:tavLst>
                                    </p:anim>
                                    <p:anim calcmode="lin" valueType="num">
                                      <p:cBhvr>
                                        <p:cTn id="124" dur="800" fill="hold" decel="100000"/>
                                        <p:tgtEl>
                                          <p:spTgt spid="29"/>
                                        </p:tgtEl>
                                        <p:attrNameLst>
                                          <p:attrName>ppt_y</p:attrName>
                                        </p:attrNameLst>
                                      </p:cBhvr>
                                      <p:tavLst>
                                        <p:tav tm="0">
                                          <p:val>
                                            <p:strVal val="#ppt_y+0.0250"/>
                                          </p:val>
                                        </p:tav>
                                        <p:tav tm="100000">
                                          <p:val>
                                            <p:strVal val="#ppt_y"/>
                                          </p:val>
                                        </p:tav>
                                      </p:tavLst>
                                    </p:anim>
                                  </p:childTnLst>
                                </p:cTn>
                              </p:par>
                              <p:par>
                                <p:cTn id="129" presetID="2" presetClass="entr" presetSubtype="0" fill="hold" grpId="0" nodeType="withEffect">
                                  <p:stCondLst>
                                    <p:cond delay="1700"/>
                                  </p:stCondLst>
                                  <p:childTnLst>
                                    <p:set>
                                      <p:cBhvr>
                                        <p:cTn id="126" dur="1" fill="hold">
                                          <p:stCondLst>
                                            <p:cond delay="0"/>
                                          </p:stCondLst>
                                        </p:cTn>
                                        <p:tgtEl>
                                          <p:spTgt spid="30"/>
                                        </p:tgtEl>
                                        <p:attrNameLst>
                                          <p:attrName>style.visibility</p:attrName>
                                        </p:attrNameLst>
                                      </p:cBhvr>
                                      <p:to>
                                        <p:strVal val="visible"/>
                                      </p:to>
                                    </p:set>
                                    <p:animEffect transition="in" filter="fade">
                                      <p:cBhvr>
                                        <p:cTn id="127" dur="350" decel="100000"/>
                                        <p:tgtEl>
                                          <p:spTgt spid="30"/>
                                        </p:tgtEl>
                                      </p:cBhvr>
                                    </p:animEffect>
                                    <p:animMotion origin="layout" path="M -0.0100 0.0000 L 0 0 E" pathEditMode="relative" ptsTypes="">
                                      <p:cBhvr>
                                        <p:cTn id="128" dur="700" fill="hold" decel="100000"/>
                                        <p:tgtEl>
                                          <p:spTgt spid="30"/>
                                        </p:tgtEl>
                                        <p:attrNameLst>
                                          <p:attrName>ppt_x</p:attrName>
                                          <p:attrName>ppt_y</p:attrName>
                                        </p:attrNameLst>
                                      </p:cBhvr>
                                      <p:rCtr x="0" y="0"/>
                                    </p:animMotion>
                                  </p:childTnLst>
                                </p:cTn>
                              </p:par>
                              <p:par>
                                <p:cTn id="134" presetID="53" presetClass="entr" presetSubtype="16" fill="hold" grpId="0" nodeType="withEffect">
                                  <p:stCondLst>
                                    <p:cond delay="1700"/>
                                  </p:stCondLst>
                                  <p:childTnLst>
                                    <p:set>
                                      <p:cBhvr>
                                        <p:cTn id="130" dur="1" fill="hold">
                                          <p:stCondLst>
                                            <p:cond delay="0"/>
                                          </p:stCondLst>
                                        </p:cTn>
                                        <p:tgtEl>
                                          <p:spTgt spid="31"/>
                                        </p:tgtEl>
                                        <p:attrNameLst>
                                          <p:attrName>style.visibility</p:attrName>
                                        </p:attrNameLst>
                                      </p:cBhvr>
                                      <p:to>
                                        <p:strVal val="visible"/>
                                      </p:to>
                                    </p:set>
                                    <p:anim calcmode="lin" valueType="num">
                                      <p:cBhvr>
                                        <p:cTn id="131" dur="900" fill="hold" decel="100000"/>
                                        <p:tgtEl>
                                          <p:spTgt spid="31"/>
                                        </p:tgtEl>
                                        <p:attrNameLst>
                                          <p:attrName>ppt_w</p:attrName>
                                        </p:attrNameLst>
                                      </p:cBhvr>
                                      <p:tavLst>
                                        <p:tav tm="0">
                                          <p:val>
                                            <p:strVal val="#ppt_w*0.800"/>
                                          </p:val>
                                        </p:tav>
                                        <p:tav tm="100000">
                                          <p:val>
                                            <p:strVal val="#ppt_w"/>
                                          </p:val>
                                        </p:tav>
                                      </p:tavLst>
                                    </p:anim>
                                    <p:anim calcmode="lin" valueType="num">
                                      <p:cBhvr>
                                        <p:cTn id="132" dur="900" fill="hold" decel="100000"/>
                                        <p:tgtEl>
                                          <p:spTgt spid="31"/>
                                        </p:tgtEl>
                                        <p:attrNameLst>
                                          <p:attrName>ppt_h</p:attrName>
                                        </p:attrNameLst>
                                      </p:cBhvr>
                                      <p:tavLst>
                                        <p:tav tm="0">
                                          <p:val>
                                            <p:strVal val="#ppt_h*0.800"/>
                                          </p:val>
                                        </p:tav>
                                        <p:tav tm="100000">
                                          <p:val>
                                            <p:strVal val="#ppt_h"/>
                                          </p:val>
                                        </p:tav>
                                      </p:tavLst>
                                    </p:anim>
                                    <p:animEffect transition="in" filter="fade">
                                      <p:cBhvr>
                                        <p:cTn id="133" dur="630" decel="100000"/>
                                        <p:tgtEl>
                                          <p:spTgt spid="31"/>
                                        </p:tgtEl>
                                      </p:cBhvr>
                                    </p:animEffect>
                                  </p:childTnLst>
                                </p:cTn>
                              </p:par>
                              <p:par>
                                <p:cTn id="139" presetID="53" presetClass="entr" presetSubtype="16" fill="hold" grpId="0" nodeType="withEffect">
                                  <p:stCondLst>
                                    <p:cond delay="1700"/>
                                  </p:stCondLst>
                                  <p:childTnLst>
                                    <p:set>
                                      <p:cBhvr>
                                        <p:cTn id="135" dur="1" fill="hold">
                                          <p:stCondLst>
                                            <p:cond delay="0"/>
                                          </p:stCondLst>
                                        </p:cTn>
                                        <p:tgtEl>
                                          <p:spTgt spid="32"/>
                                        </p:tgtEl>
                                        <p:attrNameLst>
                                          <p:attrName>style.visibility</p:attrName>
                                        </p:attrNameLst>
                                      </p:cBhvr>
                                      <p:to>
                                        <p:strVal val="visible"/>
                                      </p:to>
                                    </p:set>
                                    <p:anim calcmode="lin" valueType="num">
                                      <p:cBhvr>
                                        <p:cTn id="136" dur="900" fill="hold" decel="100000"/>
                                        <p:tgtEl>
                                          <p:spTgt spid="32"/>
                                        </p:tgtEl>
                                        <p:attrNameLst>
                                          <p:attrName>ppt_w</p:attrName>
                                        </p:attrNameLst>
                                      </p:cBhvr>
                                      <p:tavLst>
                                        <p:tav tm="0">
                                          <p:val>
                                            <p:strVal val="#ppt_w*0.800"/>
                                          </p:val>
                                        </p:tav>
                                        <p:tav tm="100000">
                                          <p:val>
                                            <p:strVal val="#ppt_w"/>
                                          </p:val>
                                        </p:tav>
                                      </p:tavLst>
                                    </p:anim>
                                    <p:anim calcmode="lin" valueType="num">
                                      <p:cBhvr>
                                        <p:cTn id="137" dur="900" fill="hold" decel="100000"/>
                                        <p:tgtEl>
                                          <p:spTgt spid="32"/>
                                        </p:tgtEl>
                                        <p:attrNameLst>
                                          <p:attrName>ppt_h</p:attrName>
                                        </p:attrNameLst>
                                      </p:cBhvr>
                                      <p:tavLst>
                                        <p:tav tm="0">
                                          <p:val>
                                            <p:strVal val="#ppt_h*0.800"/>
                                          </p:val>
                                        </p:tav>
                                        <p:tav tm="100000">
                                          <p:val>
                                            <p:strVal val="#ppt_h"/>
                                          </p:val>
                                        </p:tav>
                                      </p:tavLst>
                                    </p:anim>
                                    <p:animEffect transition="in" filter="fade">
                                      <p:cBhvr>
                                        <p:cTn id="138" dur="630" decel="100000"/>
                                        <p:tgtEl>
                                          <p:spTgt spid="32"/>
                                        </p:tgtEl>
                                      </p:cBhvr>
                                    </p:animEffect>
                                  </p:childTnLst>
                                </p:cTn>
                              </p:par>
                              <p:par>
                                <p:cTn id="144" presetID="53" presetClass="entr" presetSubtype="16" fill="hold" grpId="0" nodeType="withEffect">
                                  <p:stCondLst>
                                    <p:cond delay="1700"/>
                                  </p:stCondLst>
                                  <p:childTnLst>
                                    <p:set>
                                      <p:cBhvr>
                                        <p:cTn id="140" dur="1" fill="hold">
                                          <p:stCondLst>
                                            <p:cond delay="0"/>
                                          </p:stCondLst>
                                        </p:cTn>
                                        <p:tgtEl>
                                          <p:spTgt spid="33"/>
                                        </p:tgtEl>
                                        <p:attrNameLst>
                                          <p:attrName>style.visibility</p:attrName>
                                        </p:attrNameLst>
                                      </p:cBhvr>
                                      <p:to>
                                        <p:strVal val="visible"/>
                                      </p:to>
                                    </p:set>
                                    <p:anim calcmode="lin" valueType="num">
                                      <p:cBhvr>
                                        <p:cTn id="141" dur="900" fill="hold" decel="100000"/>
                                        <p:tgtEl>
                                          <p:spTgt spid="33"/>
                                        </p:tgtEl>
                                        <p:attrNameLst>
                                          <p:attrName>ppt_w</p:attrName>
                                        </p:attrNameLst>
                                      </p:cBhvr>
                                      <p:tavLst>
                                        <p:tav tm="0">
                                          <p:val>
                                            <p:strVal val="#ppt_w*0.800"/>
                                          </p:val>
                                        </p:tav>
                                        <p:tav tm="100000">
                                          <p:val>
                                            <p:strVal val="#ppt_w"/>
                                          </p:val>
                                        </p:tav>
                                      </p:tavLst>
                                    </p:anim>
                                    <p:anim calcmode="lin" valueType="num">
                                      <p:cBhvr>
                                        <p:cTn id="142" dur="900" fill="hold" decel="100000"/>
                                        <p:tgtEl>
                                          <p:spTgt spid="33"/>
                                        </p:tgtEl>
                                        <p:attrNameLst>
                                          <p:attrName>ppt_h</p:attrName>
                                        </p:attrNameLst>
                                      </p:cBhvr>
                                      <p:tavLst>
                                        <p:tav tm="0">
                                          <p:val>
                                            <p:strVal val="#ppt_h*0.800"/>
                                          </p:val>
                                        </p:tav>
                                        <p:tav tm="100000">
                                          <p:val>
                                            <p:strVal val="#ppt_h"/>
                                          </p:val>
                                        </p:tav>
                                      </p:tavLst>
                                    </p:anim>
                                    <p:animEffect transition="in" filter="fade">
                                      <p:cBhvr>
                                        <p:cTn id="143" dur="630" decel="100000"/>
                                        <p:tgtEl>
                                          <p:spTgt spid="33"/>
                                        </p:tgtEl>
                                      </p:cBhvr>
                                    </p:animEffect>
                                  </p:childTnLst>
                                </p:cTn>
                              </p:par>
                              <p:par>
                                <p:cTn id="149" presetID="42" presetClass="entr" presetSubtype="0" fill="hold" grpId="0" nodeType="withEffect">
                                  <p:stCondLst>
                                    <p:cond delay="1820"/>
                                  </p:stCondLst>
                                  <p:childTnLst>
                                    <p:set>
                                      <p:cBhvr>
                                        <p:cTn id="145" dur="1" fill="hold">
                                          <p:stCondLst>
                                            <p:cond delay="0"/>
                                          </p:stCondLst>
                                        </p:cTn>
                                        <p:tgtEl>
                                          <p:spTgt spid="34"/>
                                        </p:tgtEl>
                                        <p:attrNameLst>
                                          <p:attrName>style.visibility</p:attrName>
                                        </p:attrNameLst>
                                      </p:cBhvr>
                                      <p:to>
                                        <p:strVal val="visible"/>
                                      </p:to>
                                    </p:set>
                                    <p:animEffect transition="in" filter="fade">
                                      <p:cBhvr>
                                        <p:cTn id="146" dur="640" decel="100000"/>
                                        <p:tgtEl>
                                          <p:spTgt spid="34"/>
                                        </p:tgtEl>
                                      </p:cBhvr>
                                    </p:animEffect>
                                    <p:anim calcmode="lin" valueType="num">
                                      <p:cBhvr>
                                        <p:cTn id="147" dur="800" fill="hold" decel="100000"/>
                                        <p:tgtEl>
                                          <p:spTgt spid="34"/>
                                        </p:tgtEl>
                                        <p:attrNameLst>
                                          <p:attrName>ppt_x</p:attrName>
                                        </p:attrNameLst>
                                      </p:cBhvr>
                                      <p:tavLst>
                                        <p:tav tm="0">
                                          <p:val>
                                            <p:strVal val="#ppt_x"/>
                                          </p:val>
                                        </p:tav>
                                        <p:tav tm="100000">
                                          <p:val>
                                            <p:strVal val="#ppt_x"/>
                                          </p:val>
                                        </p:tav>
                                      </p:tavLst>
                                    </p:anim>
                                    <p:anim calcmode="lin" valueType="num">
                                      <p:cBhvr>
                                        <p:cTn id="148" dur="800" fill="hold" decel="100000"/>
                                        <p:tgtEl>
                                          <p:spTgt spid="34"/>
                                        </p:tgtEl>
                                        <p:attrNameLst>
                                          <p:attrName>ppt_y</p:attrName>
                                        </p:attrNameLst>
                                      </p:cBhvr>
                                      <p:tavLst>
                                        <p:tav tm="0">
                                          <p:val>
                                            <p:strVal val="#ppt_y+0.0250"/>
                                          </p:val>
                                        </p:tav>
                                        <p:tav tm="100000">
                                          <p:val>
                                            <p:strVal val="#ppt_y"/>
                                          </p:val>
                                        </p:tav>
                                      </p:tavLst>
                                    </p:anim>
                                  </p:childTnLst>
                                </p:cTn>
                              </p:par>
                              <p:par>
                                <p:cTn id="154" presetID="42" presetClass="entr" presetSubtype="0" fill="hold" grpId="0" nodeType="withEffect">
                                  <p:stCondLst>
                                    <p:cond delay="1920"/>
                                  </p:stCondLst>
                                  <p:childTnLst>
                                    <p:set>
                                      <p:cBhvr>
                                        <p:cTn id="150" dur="1" fill="hold">
                                          <p:stCondLst>
                                            <p:cond delay="0"/>
                                          </p:stCondLst>
                                        </p:cTn>
                                        <p:tgtEl>
                                          <p:spTgt spid="35"/>
                                        </p:tgtEl>
                                        <p:attrNameLst>
                                          <p:attrName>style.visibility</p:attrName>
                                        </p:attrNameLst>
                                      </p:cBhvr>
                                      <p:to>
                                        <p:strVal val="visible"/>
                                      </p:to>
                                    </p:set>
                                    <p:animEffect transition="in" filter="fade">
                                      <p:cBhvr>
                                        <p:cTn id="151" dur="640" decel="100000"/>
                                        <p:tgtEl>
                                          <p:spTgt spid="35"/>
                                        </p:tgtEl>
                                      </p:cBhvr>
                                    </p:animEffect>
                                    <p:anim calcmode="lin" valueType="num">
                                      <p:cBhvr>
                                        <p:cTn id="152" dur="800" fill="hold" decel="100000"/>
                                        <p:tgtEl>
                                          <p:spTgt spid="35"/>
                                        </p:tgtEl>
                                        <p:attrNameLst>
                                          <p:attrName>ppt_x</p:attrName>
                                        </p:attrNameLst>
                                      </p:cBhvr>
                                      <p:tavLst>
                                        <p:tav tm="0">
                                          <p:val>
                                            <p:strVal val="#ppt_x"/>
                                          </p:val>
                                        </p:tav>
                                        <p:tav tm="100000">
                                          <p:val>
                                            <p:strVal val="#ppt_x"/>
                                          </p:val>
                                        </p:tav>
                                      </p:tavLst>
                                    </p:anim>
                                    <p:anim calcmode="lin" valueType="num">
                                      <p:cBhvr>
                                        <p:cTn id="153" dur="800" fill="hold" decel="100000"/>
                                        <p:tgtEl>
                                          <p:spTgt spid="35"/>
                                        </p:tgtEl>
                                        <p:attrNameLst>
                                          <p:attrName>ppt_y</p:attrName>
                                        </p:attrNameLst>
                                      </p:cBhvr>
                                      <p:tavLst>
                                        <p:tav tm="0">
                                          <p:val>
                                            <p:strVal val="#ppt_y+0.0250"/>
                                          </p:val>
                                        </p:tav>
                                        <p:tav tm="100000">
                                          <p:val>
                                            <p:strVal val="#ppt_y"/>
                                          </p:val>
                                        </p:tav>
                                      </p:tavLst>
                                    </p:anim>
                                  </p:childTnLst>
                                </p:cTn>
                              </p:par>
                              <p:par>
                                <p:cTn id="156" presetID="6" presetClass="emph" presetSubtype="0" fill="hold" grpId="1" nodeType="withEffect" repeatCount="indefinite" autoRev="1">
                                  <p:stCondLst>
                                    <p:cond delay="2700"/>
                                  </p:stCondLst>
                                  <p:childTnLst>
                                    <p:animScale>
                                      <p:cBhvr>
                                        <p:cTn id="155" dur="1500" fill="hold" accel="50000" decel="50000"/>
                                        <p:tgtEl>
                                          <p:spTgt spid="7"/>
                                        </p:tgtEl>
                                      </p:cBhvr>
                                      <p:by x="120000" y="120000"/>
                                    </p:animScale>
                                  </p:childTnLst>
                                </p:cTn>
                              </p:par>
                              <p:par>
                                <p:cTn id="158" presetID="6" presetClass="emph" presetSubtype="0" fill="hold" grpId="1" nodeType="withEffect" repeatCount="indefinite" autoRev="1">
                                  <p:stCondLst>
                                    <p:cond delay="3060"/>
                                  </p:stCondLst>
                                  <p:childTnLst>
                                    <p:animScale>
                                      <p:cBhvr>
                                        <p:cTn id="157" dur="1500" fill="hold" accel="50000" decel="50000"/>
                                        <p:tgtEl>
                                          <p:spTgt spid="13"/>
                                        </p:tgtEl>
                                      </p:cBhvr>
                                      <p:by x="120000" y="120000"/>
                                    </p:animScale>
                                  </p:childTnLst>
                                </p:cTn>
                              </p:par>
                              <p:par>
                                <p:cTn id="160" presetID="6" presetClass="emph" presetSubtype="0" fill="hold" grpId="1" nodeType="withEffect" repeatCount="indefinite" autoRev="1">
                                  <p:stCondLst>
                                    <p:cond delay="3420"/>
                                  </p:stCondLst>
                                  <p:childTnLst>
                                    <p:animScale>
                                      <p:cBhvr>
                                        <p:cTn id="159" dur="1500" fill="hold" accel="50000" decel="50000"/>
                                        <p:tgtEl>
                                          <p:spTgt spid="19"/>
                                        </p:tgtEl>
                                      </p:cBhvr>
                                      <p:by x="120000" y="120000"/>
                                    </p:animScale>
                                  </p:childTnLst>
                                </p:cTn>
                              </p:par>
                              <p:par>
                                <p:cTn id="162" presetID="6" presetClass="emph" presetSubtype="0" fill="hold" grpId="1" nodeType="withEffect" repeatCount="indefinite" autoRev="1">
                                  <p:stCondLst>
                                    <p:cond delay="3780"/>
                                  </p:stCondLst>
                                  <p:childTnLst>
                                    <p:animScale>
                                      <p:cBhvr>
                                        <p:cTn id="161" dur="1500" fill="hold" accel="50000" decel="50000"/>
                                        <p:tgtEl>
                                          <p:spTgt spid="25"/>
                                        </p:tgtEl>
                                      </p:cBhvr>
                                      <p:by x="120000" y="120000"/>
                                    </p:animScale>
                                  </p:childTnLst>
                                </p:cTn>
                              </p:par>
                              <p:par>
                                <p:cTn id="164" presetID="6" presetClass="emph" presetSubtype="0" fill="hold" grpId="1" nodeType="withEffect" repeatCount="indefinite" autoRev="1">
                                  <p:stCondLst>
                                    <p:cond delay="4140"/>
                                  </p:stCondLst>
                                  <p:childTnLst>
                                    <p:animScale>
                                      <p:cBhvr>
                                        <p:cTn id="163" dur="1500" fill="hold" accel="50000" decel="50000"/>
                                        <p:tgtEl>
                                          <p:spTgt spid="31"/>
                                        </p:tgtEl>
                                      </p:cBhvr>
                                      <p:by x="120000" y="12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animBg="1"/>
      <p:bldP spid="11" grpId="0" animBg="1"/>
      <p:bldP spid="13" grpId="0" animBg="1"/>
      <p:bldP spid="14" grpId="0" animBg="1"/>
      <p:bldP spid="16" grpId="0" animBg="1"/>
      <p:bldP spid="17" grpId="0" animBg="1"/>
      <p:bldP spid="19" grpId="0" animBg="1"/>
      <p:bldP spid="20" grpId="0" animBg="1"/>
      <p:bldP spid="22" grpId="0" animBg="1"/>
      <p:bldP spid="23" grpId="0" animBg="1"/>
      <p:bldP spid="25" grpId="0" animBg="1"/>
      <p:bldP spid="26" grpId="0" animBg="1"/>
      <p:bldP spid="28" grpId="0" animBg="1"/>
      <p:bldP spid="29" grpId="0" animBg="1"/>
      <p:bldP spid="31" grpId="0" animBg="1"/>
      <p:bldP spid="32" grpId="0" animBg="1"/>
      <p:bldP spid="34" grpId="0" animBg="1"/>
      <p:bldP spid="35" grpId="0" animBg="1"/>
      <p:bldP spid="7" grpId="1" animBg="1"/>
      <p:bldP spid="13" grpId="1" animBg="1"/>
      <p:bldP spid="19" grpId="1" animBg="1"/>
      <p:bldP spid="25" grpId="1" animBg="1"/>
      <p:bldP spid="31" grpId="1" animBg="1"/>
    </p:bldLst>
  </p:timing>
</p:sld>
</file>

<file path=ppt/slides/slide14.xml><?xml version="1.0" encoding="utf-8"?>
<p:sld xmlns:p14="http://schemas.microsoft.com/office/powerpoint/2010/main"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orbA" descr="Decorative background light">    </p:cNvPr>
          <p:cNvPicPr>
            <a:picLocks noChangeAspect="1"/>
          </p:cNvPicPr>
          <p:nvPr/>
        </p:nvPicPr>
        <p:blipFill>
          <a:blip r:embed="rId1"/>
          <a:stretch>
            <a:fillRect/>
          </a:stretch>
        </p:blipFill>
        <p:spPr>
          <a:xfrm>
            <a:off x="-914400" y="1463040"/>
            <a:ext cx="7315200" cy="7315200"/>
          </a:xfrm>
          <a:prstGeom prst="rect">
            <a:avLst/>
          </a:prstGeom>
        </p:spPr>
      </p:pic>
      <p:pic>
        <p:nvPicPr>
          <p:cNvPr id="3" name="!!orbB" descr="Decorative background light">    </p:cNvPr>
          <p:cNvPicPr>
            <a:picLocks noChangeAspect="1"/>
          </p:cNvPicPr>
          <p:nvPr/>
        </p:nvPicPr>
        <p:blipFill>
          <a:blip r:embed="rId2"/>
          <a:stretch>
            <a:fillRect/>
          </a:stretch>
        </p:blipFill>
        <p:spPr>
          <a:xfrm>
            <a:off x="6858000" y="-457200"/>
            <a:ext cx="7315200" cy="7315200"/>
          </a:xfrm>
          <a:prstGeom prst="rect">
            <a:avLst/>
          </a:prstGeom>
        </p:spPr>
      </p:pic>
      <p:sp>
        <p:nvSpPr>
          <p:cNvPr id="4" name="!!kicker"/>
          <p:cNvSpPr/>
          <p:nvPr>
            <p:ph idx="100" type="body" hasCustomPrompt="1"/>
          </p:nvPr>
        </p:nvSpPr>
        <p:spPr>
          <a:xfrm>
            <a:off x="548640" y="384048"/>
            <a:ext cx="8732520" cy="329184"/>
          </a:xfrm>
          <a:prstGeom prst="rect">
            <a:avLst/>
          </a:prstGeom>
          <a:noFill/>
          <a:ln/>
        </p:spPr>
        <p:txBody>
          <a:bodyPr wrap="square" lIns="0" tIns="0" rIns="0" bIns="0" rtlCol="0" anchor="t"/>
          <a:lstStyle/>
          <a:p>
            <a:pPr algn="l" indent="0" marL="0">
              <a:buNone/>
            </a:pPr>
            <a:r>
              <a:rPr lang="en-US" sz="1500" b="1" spc="300" kern="0" dirty="0">
                <a:solidFill>
                  <a:schemeClr val="accent1"/>
                </a:solidFill>
              </a:rPr>
              <a:t>02 — RESOURCES &amp; GROWTH</a:t>
            </a:r>
            <a:endParaRPr lang="en-US" sz="1500" dirty="0"/>
          </a:p>
        </p:txBody>
      </p:sp>
      <p:sp>
        <p:nvSpPr>
          <p:cNvPr id="5" name="!!title"/>
          <p:cNvSpPr/>
          <p:nvPr>
            <p:ph idx="101" type="title" hasCustomPrompt="1"/>
          </p:nvPr>
        </p:nvSpPr>
        <p:spPr>
          <a:xfrm>
            <a:off x="548640" y="731520"/>
            <a:ext cx="8732520" cy="786384"/>
          </a:xfrm>
          <a:prstGeom prst="rect">
            <a:avLst/>
          </a:prstGeom>
          <a:noFill/>
          <a:ln/>
        </p:spPr>
        <p:txBody>
          <a:bodyPr wrap="square" lIns="0" tIns="0" rIns="0" bIns="0" rtlCol="0" anchor="t"/>
          <a:lstStyle/>
          <a:p>
            <a:pPr algn="l" indent="0" marL="0">
              <a:buNone/>
            </a:pPr>
            <a:r>
              <a:rPr lang="en-US" sz="3800" b="1" dirty="0">
                <a:solidFill>
                  <a:schemeClr val="tx1"/>
                </a:solidFill>
              </a:rPr>
              <a:t>Refining capacity more than doubled</a:t>
            </a:r>
            <a:endParaRPr lang="en-US" sz="3800" dirty="0"/>
          </a:p>
        </p:txBody>
      </p:sp>
      <p:sp>
        <p:nvSpPr>
          <p:cNvPr id="6" name="refining_s_1"/>
          <p:cNvSpPr/>
          <p:nvPr/>
        </p:nvSpPr>
        <p:spPr>
          <a:xfrm>
            <a:off x="914400" y="4003766"/>
            <a:ext cx="1325880" cy="1116874"/>
          </a:xfrm>
          <a:prstGeom prst="roundRect">
            <a:avLst>
              <a:gd name="adj" fmla="val 8187"/>
            </a:avLst>
          </a:prstGeom>
          <a:solidFill>
            <a:srgbClr val="636366"/>
          </a:solidFill>
          <a:ln/>
        </p:spPr>
      </p:sp>
      <p:sp>
        <p:nvSpPr>
          <p:cNvPr id="7" name="refining_t_2"/>
          <p:cNvSpPr txBox="1"/>
          <p:nvPr/>
        </p:nvSpPr>
        <p:spPr>
          <a:xfrm>
            <a:off x="640080" y="3226526"/>
            <a:ext cx="1874520" cy="731520"/>
          </a:xfrm>
          <a:prstGeom prst="rect">
            <a:avLst/>
          </a:prstGeom>
          <a:noFill/>
          <a:ln/>
        </p:spPr>
        <p:txBody>
          <a:bodyPr wrap="square" lIns="0" tIns="0" rIns="0" bIns="0" rtlCol="0" anchor="t"/>
          <a:lstStyle/>
          <a:p>
            <a:pPr algn="ctr" indent="0" marL="0">
              <a:buNone/>
            </a:pPr>
            <a:r>
              <a:rPr lang="en-US" sz="4800" b="1" dirty="0">
                <a:solidFill>
                  <a:schemeClr val="tx1"/>
                </a:solidFill>
                <a:latin typeface="Arial" pitchFamily="34" charset="0"/>
                <a:ea typeface="Arial" pitchFamily="34" charset="-122"/>
                <a:cs typeface="Arial" pitchFamily="34" charset="-120"/>
              </a:rPr>
              <a:t>0.6</a:t>
            </a:r>
            <a:endParaRPr lang="en-US" sz="4800" dirty="0"/>
          </a:p>
        </p:txBody>
      </p:sp>
      <p:sp>
        <p:nvSpPr>
          <p:cNvPr id="8" name="refining_t_3"/>
          <p:cNvSpPr txBox="1"/>
          <p:nvPr/>
        </p:nvSpPr>
        <p:spPr>
          <a:xfrm>
            <a:off x="640080" y="5230368"/>
            <a:ext cx="1874520" cy="320040"/>
          </a:xfrm>
          <a:prstGeom prst="rect">
            <a:avLst/>
          </a:prstGeom>
          <a:noFill/>
          <a:ln/>
        </p:spPr>
        <p:txBody>
          <a:bodyPr wrap="square" lIns="0" tIns="0" rIns="0" bIns="0" rtlCol="0" anchor="t"/>
          <a:lstStyle/>
          <a:p>
            <a:pPr algn="ctr" indent="0" marL="0">
              <a:buNone/>
            </a:pPr>
            <a:r>
              <a:rPr lang="en-US" sz="1600" dirty="0">
                <a:solidFill>
                  <a:schemeClr val="tx2"/>
                </a:solidFill>
                <a:latin typeface="Arial" pitchFamily="34" charset="0"/>
                <a:ea typeface="Arial" pitchFamily="34" charset="-122"/>
                <a:cs typeface="Arial" pitchFamily="34" charset="-120"/>
              </a:rPr>
              <a:t>Jan 2021</a:t>
            </a:r>
            <a:endParaRPr lang="en-US" sz="1600" dirty="0"/>
          </a:p>
        </p:txBody>
      </p:sp>
      <p:sp>
        <p:nvSpPr>
          <p:cNvPr id="9" name="refining_s_4"/>
          <p:cNvSpPr/>
          <p:nvPr/>
        </p:nvSpPr>
        <p:spPr>
          <a:xfrm>
            <a:off x="2834640" y="2514600"/>
            <a:ext cx="1325880" cy="2606040"/>
          </a:xfrm>
          <a:prstGeom prst="roundRect">
            <a:avLst>
              <a:gd name="adj" fmla="val 6897"/>
            </a:avLst>
          </a:prstGeom>
          <a:solidFill>
            <a:srgbClr val="FF9F0A"/>
          </a:solidFill>
          <a:ln/>
          <a:effectLst>
            <a:outerShdw sx="100000" sy="100000" kx="0" ky="0" algn="bl" rotWithShape="0" blurRad="228600" dist="50800" dir="5400000">
              <a:srgbClr val="FF9F0A">
                <a:alpha val="45000"/>
              </a:srgbClr>
            </a:outerShdw>
          </a:effectLst>
        </p:spPr>
      </p:sp>
      <p:sp>
        <p:nvSpPr>
          <p:cNvPr id="10" name="refining_t_5"/>
          <p:cNvSpPr txBox="1"/>
          <p:nvPr/>
        </p:nvSpPr>
        <p:spPr>
          <a:xfrm>
            <a:off x="2560320" y="1737360"/>
            <a:ext cx="1874520" cy="731520"/>
          </a:xfrm>
          <a:prstGeom prst="rect">
            <a:avLst/>
          </a:prstGeom>
          <a:noFill/>
          <a:ln/>
        </p:spPr>
        <p:txBody>
          <a:bodyPr wrap="square" lIns="0" tIns="0" rIns="0" bIns="0" rtlCol="0" anchor="t"/>
          <a:lstStyle/>
          <a:p>
            <a:pPr algn="ctr" indent="0" marL="0">
              <a:buNone/>
            </a:pPr>
            <a:r>
              <a:rPr lang="en-US" sz="4800" b="1" dirty="0">
                <a:solidFill>
                  <a:schemeClr val="accent1"/>
                </a:solidFill>
                <a:latin typeface="Arial" pitchFamily="34" charset="0"/>
                <a:ea typeface="Arial" pitchFamily="34" charset="-122"/>
                <a:cs typeface="Arial" pitchFamily="34" charset="-120"/>
              </a:rPr>
              <a:t>1.4</a:t>
            </a:r>
            <a:endParaRPr lang="en-US" sz="4800" dirty="0"/>
          </a:p>
        </p:txBody>
      </p:sp>
      <p:sp>
        <p:nvSpPr>
          <p:cNvPr id="11" name="refining_t_6"/>
          <p:cNvSpPr txBox="1"/>
          <p:nvPr/>
        </p:nvSpPr>
        <p:spPr>
          <a:xfrm>
            <a:off x="2560320" y="5230368"/>
            <a:ext cx="1874520" cy="320040"/>
          </a:xfrm>
          <a:prstGeom prst="rect">
            <a:avLst/>
          </a:prstGeom>
          <a:noFill/>
          <a:ln/>
        </p:spPr>
        <p:txBody>
          <a:bodyPr wrap="square" lIns="0" tIns="0" rIns="0" bIns="0" rtlCol="0" anchor="t"/>
          <a:lstStyle/>
          <a:p>
            <a:pPr algn="ctr" indent="0" marL="0">
              <a:buNone/>
            </a:pPr>
            <a:r>
              <a:rPr lang="en-US" sz="1600" dirty="0">
                <a:solidFill>
                  <a:schemeClr val="tx2"/>
                </a:solidFill>
                <a:latin typeface="Arial" pitchFamily="34" charset="0"/>
                <a:ea typeface="Arial" pitchFamily="34" charset="-122"/>
                <a:cs typeface="Arial" pitchFamily="34" charset="-120"/>
              </a:rPr>
              <a:t>Jul 2023</a:t>
            </a:r>
            <a:endParaRPr lang="en-US" sz="1600" dirty="0"/>
          </a:p>
        </p:txBody>
      </p:sp>
      <p:sp>
        <p:nvSpPr>
          <p:cNvPr id="12" name="refining_t_7"/>
          <p:cNvSpPr txBox="1"/>
          <p:nvPr/>
        </p:nvSpPr>
        <p:spPr>
          <a:xfrm>
            <a:off x="914400" y="5577840"/>
            <a:ext cx="3291840" cy="320040"/>
          </a:xfrm>
          <a:prstGeom prst="rect">
            <a:avLst/>
          </a:prstGeom>
          <a:noFill/>
          <a:ln/>
        </p:spPr>
        <p:txBody>
          <a:bodyPr wrap="square" lIns="0" tIns="0" rIns="0" bIns="0" rtlCol="0" anchor="t"/>
          <a:lstStyle/>
          <a:p>
            <a:pPr algn="ctr" indent="0" marL="0">
              <a:buNone/>
            </a:pPr>
            <a:r>
              <a:rPr lang="en-US" sz="1500" dirty="0">
                <a:solidFill>
                  <a:schemeClr val="tx2"/>
                </a:solidFill>
                <a:latin typeface="Arial" pitchFamily="34" charset="0"/>
                <a:ea typeface="Arial" pitchFamily="34" charset="-122"/>
                <a:cs typeface="Arial" pitchFamily="34" charset="-120"/>
              </a:rPr>
              <a:t>million b/d</a:t>
            </a:r>
            <a:endParaRPr lang="en-US" sz="1500" dirty="0"/>
          </a:p>
        </p:txBody>
      </p:sp>
      <p:sp>
        <p:nvSpPr>
          <p:cNvPr id="13" name="refining_t_8"/>
          <p:cNvSpPr txBox="1"/>
          <p:nvPr/>
        </p:nvSpPr>
        <p:spPr>
          <a:xfrm>
            <a:off x="5120640" y="1874520"/>
            <a:ext cx="2743200" cy="384048"/>
          </a:xfrm>
          <a:prstGeom prst="rect">
            <a:avLst/>
          </a:prstGeom>
          <a:noFill/>
          <a:ln/>
        </p:spPr>
        <p:txBody>
          <a:bodyPr wrap="square" lIns="0" tIns="0" rIns="0" bIns="0" rtlCol="0" anchor="t"/>
          <a:lstStyle/>
          <a:p>
            <a:pPr indent="0" marL="0">
              <a:buNone/>
            </a:pPr>
            <a:r>
              <a:rPr lang="en-US" sz="2100" b="1" dirty="0">
                <a:solidFill>
                  <a:schemeClr val="tx1"/>
                </a:solidFill>
                <a:latin typeface="Arial" pitchFamily="34" charset="0"/>
                <a:ea typeface="Arial" pitchFamily="34" charset="-122"/>
                <a:cs typeface="Arial" pitchFamily="34" charset="-120"/>
              </a:rPr>
              <a:t>Al-Zour</a:t>
            </a:r>
            <a:endParaRPr lang="en-US" sz="2100" dirty="0"/>
          </a:p>
        </p:txBody>
      </p:sp>
      <p:sp>
        <p:nvSpPr>
          <p:cNvPr id="14" name="refining_t_9"/>
          <p:cNvSpPr txBox="1"/>
          <p:nvPr/>
        </p:nvSpPr>
        <p:spPr>
          <a:xfrm>
            <a:off x="5120640" y="2276856"/>
            <a:ext cx="3108960" cy="32004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KIPIC · full capacity 2024</a:t>
            </a:r>
            <a:endParaRPr lang="en-US" sz="1400" dirty="0"/>
          </a:p>
        </p:txBody>
      </p:sp>
      <p:sp>
        <p:nvSpPr>
          <p:cNvPr id="15" name="refining_s_10"/>
          <p:cNvSpPr/>
          <p:nvPr/>
        </p:nvSpPr>
        <p:spPr>
          <a:xfrm>
            <a:off x="7818120" y="1993392"/>
            <a:ext cx="2926080" cy="384048"/>
          </a:xfrm>
          <a:prstGeom prst="roundRect">
            <a:avLst>
              <a:gd name="adj" fmla="val 19048"/>
            </a:avLst>
          </a:prstGeom>
          <a:solidFill>
            <a:srgbClr val="FF9F0A"/>
          </a:solidFill>
          <a:ln/>
        </p:spPr>
      </p:sp>
      <p:sp>
        <p:nvSpPr>
          <p:cNvPr id="16" name="refining_t_11"/>
          <p:cNvSpPr txBox="1"/>
          <p:nvPr/>
        </p:nvSpPr>
        <p:spPr>
          <a:xfrm>
            <a:off x="10853928" y="1929384"/>
            <a:ext cx="822960" cy="502920"/>
          </a:xfrm>
          <a:prstGeom prst="rect">
            <a:avLst/>
          </a:prstGeom>
          <a:noFill/>
          <a:ln/>
        </p:spPr>
        <p:txBody>
          <a:bodyPr wrap="square" lIns="0" tIns="0" rIns="0" bIns="0" rtlCol="0" anchor="ctr"/>
          <a:lstStyle/>
          <a:p>
            <a:pPr indent="0" marL="0">
              <a:buNone/>
            </a:pPr>
            <a:r>
              <a:rPr lang="en-US" sz="2200" b="1" dirty="0">
                <a:solidFill>
                  <a:schemeClr val="tx1"/>
                </a:solidFill>
                <a:latin typeface="Arial" pitchFamily="34" charset="0"/>
                <a:ea typeface="Arial" pitchFamily="34" charset="-122"/>
                <a:cs typeface="Arial" pitchFamily="34" charset="-120"/>
              </a:rPr>
              <a:t>615</a:t>
            </a:r>
            <a:endParaRPr lang="en-US" sz="2200" dirty="0"/>
          </a:p>
        </p:txBody>
      </p:sp>
      <p:sp>
        <p:nvSpPr>
          <p:cNvPr id="17" name="refining_t_12"/>
          <p:cNvSpPr txBox="1"/>
          <p:nvPr/>
        </p:nvSpPr>
        <p:spPr>
          <a:xfrm>
            <a:off x="5120640" y="2898648"/>
            <a:ext cx="2743200" cy="384048"/>
          </a:xfrm>
          <a:prstGeom prst="rect">
            <a:avLst/>
          </a:prstGeom>
          <a:noFill/>
          <a:ln/>
        </p:spPr>
        <p:txBody>
          <a:bodyPr wrap="square" lIns="0" tIns="0" rIns="0" bIns="0" rtlCol="0" anchor="t"/>
          <a:lstStyle/>
          <a:p>
            <a:pPr indent="0" marL="0">
              <a:buNone/>
            </a:pPr>
            <a:r>
              <a:rPr lang="en-US" sz="2100" b="1" dirty="0">
                <a:solidFill>
                  <a:schemeClr val="tx1"/>
                </a:solidFill>
                <a:latin typeface="Arial" pitchFamily="34" charset="0"/>
                <a:ea typeface="Arial" pitchFamily="34" charset="-122"/>
                <a:cs typeface="Arial" pitchFamily="34" charset="-120"/>
              </a:rPr>
              <a:t>Mina Abdullah</a:t>
            </a:r>
            <a:endParaRPr lang="en-US" sz="2100" dirty="0"/>
          </a:p>
        </p:txBody>
      </p:sp>
      <p:sp>
        <p:nvSpPr>
          <p:cNvPr id="18" name="refining_t_13"/>
          <p:cNvSpPr txBox="1"/>
          <p:nvPr/>
        </p:nvSpPr>
        <p:spPr>
          <a:xfrm>
            <a:off x="5120640" y="3300984"/>
            <a:ext cx="3108960" cy="32004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KNPC · Clean Fuels Project</a:t>
            </a:r>
            <a:endParaRPr lang="en-US" sz="1400" dirty="0"/>
          </a:p>
        </p:txBody>
      </p:sp>
      <p:sp>
        <p:nvSpPr>
          <p:cNvPr id="19" name="refining_s_14"/>
          <p:cNvSpPr/>
          <p:nvPr/>
        </p:nvSpPr>
        <p:spPr>
          <a:xfrm>
            <a:off x="7818120" y="3017520"/>
            <a:ext cx="2160066" cy="384048"/>
          </a:xfrm>
          <a:prstGeom prst="roundRect">
            <a:avLst>
              <a:gd name="adj" fmla="val 19048"/>
            </a:avLst>
          </a:prstGeom>
          <a:solidFill>
            <a:srgbClr val="8A5A12"/>
          </a:solidFill>
          <a:ln/>
        </p:spPr>
      </p:sp>
      <p:sp>
        <p:nvSpPr>
          <p:cNvPr id="20" name="refining_t_15"/>
          <p:cNvSpPr txBox="1"/>
          <p:nvPr/>
        </p:nvSpPr>
        <p:spPr>
          <a:xfrm>
            <a:off x="10087914" y="2953512"/>
            <a:ext cx="822960" cy="502920"/>
          </a:xfrm>
          <a:prstGeom prst="rect">
            <a:avLst/>
          </a:prstGeom>
          <a:noFill/>
          <a:ln/>
        </p:spPr>
        <p:txBody>
          <a:bodyPr wrap="square" lIns="0" tIns="0" rIns="0" bIns="0" rtlCol="0" anchor="ctr"/>
          <a:lstStyle/>
          <a:p>
            <a:pPr indent="0" marL="0">
              <a:buNone/>
            </a:pPr>
            <a:r>
              <a:rPr lang="en-US" sz="2200" b="1" dirty="0">
                <a:solidFill>
                  <a:schemeClr val="tx1"/>
                </a:solidFill>
                <a:latin typeface="Arial" pitchFamily="34" charset="0"/>
                <a:ea typeface="Arial" pitchFamily="34" charset="-122"/>
                <a:cs typeface="Arial" pitchFamily="34" charset="-120"/>
              </a:rPr>
              <a:t>454</a:t>
            </a:r>
            <a:endParaRPr lang="en-US" sz="2200" dirty="0"/>
          </a:p>
        </p:txBody>
      </p:sp>
      <p:sp>
        <p:nvSpPr>
          <p:cNvPr id="21" name="refining_t_16"/>
          <p:cNvSpPr txBox="1"/>
          <p:nvPr/>
        </p:nvSpPr>
        <p:spPr>
          <a:xfrm>
            <a:off x="5120640" y="3922776"/>
            <a:ext cx="2743200" cy="384048"/>
          </a:xfrm>
          <a:prstGeom prst="rect">
            <a:avLst/>
          </a:prstGeom>
          <a:noFill/>
          <a:ln/>
        </p:spPr>
        <p:txBody>
          <a:bodyPr wrap="square" lIns="0" tIns="0" rIns="0" bIns="0" rtlCol="0" anchor="t"/>
          <a:lstStyle/>
          <a:p>
            <a:pPr indent="0" marL="0">
              <a:buNone/>
            </a:pPr>
            <a:r>
              <a:rPr lang="en-US" sz="2100" b="1" dirty="0">
                <a:solidFill>
                  <a:schemeClr val="tx1"/>
                </a:solidFill>
                <a:latin typeface="Arial" pitchFamily="34" charset="0"/>
                <a:ea typeface="Arial" pitchFamily="34" charset="-122"/>
                <a:cs typeface="Arial" pitchFamily="34" charset="-120"/>
              </a:rPr>
              <a:t>Mina Al-Ahmadi</a:t>
            </a:r>
            <a:endParaRPr lang="en-US" sz="2100" dirty="0"/>
          </a:p>
        </p:txBody>
      </p:sp>
      <p:sp>
        <p:nvSpPr>
          <p:cNvPr id="22" name="refining_t_17"/>
          <p:cNvSpPr txBox="1"/>
          <p:nvPr/>
        </p:nvSpPr>
        <p:spPr>
          <a:xfrm>
            <a:off x="5120640" y="4325112"/>
            <a:ext cx="3108960" cy="32004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KNPC · Clean Fuels Project</a:t>
            </a:r>
            <a:endParaRPr lang="en-US" sz="1400" dirty="0"/>
          </a:p>
        </p:txBody>
      </p:sp>
      <p:sp>
        <p:nvSpPr>
          <p:cNvPr id="23" name="refining_s_18"/>
          <p:cNvSpPr/>
          <p:nvPr/>
        </p:nvSpPr>
        <p:spPr>
          <a:xfrm>
            <a:off x="7818120" y="4041648"/>
            <a:ext cx="1646217" cy="384048"/>
          </a:xfrm>
          <a:prstGeom prst="roundRect">
            <a:avLst>
              <a:gd name="adj" fmla="val 19048"/>
            </a:avLst>
          </a:prstGeom>
          <a:solidFill>
            <a:srgbClr val="8A5A12"/>
          </a:solidFill>
          <a:ln/>
        </p:spPr>
      </p:sp>
      <p:sp>
        <p:nvSpPr>
          <p:cNvPr id="24" name="refining_t_19"/>
          <p:cNvSpPr txBox="1"/>
          <p:nvPr/>
        </p:nvSpPr>
        <p:spPr>
          <a:xfrm>
            <a:off x="9574065" y="3977640"/>
            <a:ext cx="822960" cy="502920"/>
          </a:xfrm>
          <a:prstGeom prst="rect">
            <a:avLst/>
          </a:prstGeom>
          <a:noFill/>
          <a:ln/>
        </p:spPr>
        <p:txBody>
          <a:bodyPr wrap="square" lIns="0" tIns="0" rIns="0" bIns="0" rtlCol="0" anchor="ctr"/>
          <a:lstStyle/>
          <a:p>
            <a:pPr indent="0" marL="0">
              <a:buNone/>
            </a:pPr>
            <a:r>
              <a:rPr lang="en-US" sz="2200" b="1" dirty="0">
                <a:solidFill>
                  <a:schemeClr val="tx1"/>
                </a:solidFill>
                <a:latin typeface="Arial" pitchFamily="34" charset="0"/>
                <a:ea typeface="Arial" pitchFamily="34" charset="-122"/>
                <a:cs typeface="Arial" pitchFamily="34" charset="-120"/>
              </a:rPr>
              <a:t>346</a:t>
            </a:r>
            <a:endParaRPr lang="en-US" sz="2200" dirty="0"/>
          </a:p>
        </p:txBody>
      </p:sp>
      <p:sp>
        <p:nvSpPr>
          <p:cNvPr id="25" name="refining_t_20"/>
          <p:cNvSpPr txBox="1"/>
          <p:nvPr/>
        </p:nvSpPr>
        <p:spPr>
          <a:xfrm>
            <a:off x="5120640" y="4937760"/>
            <a:ext cx="6492240" cy="365760"/>
          </a:xfrm>
          <a:prstGeom prst="rect">
            <a:avLst/>
          </a:prstGeom>
          <a:noFill/>
          <a:ln/>
        </p:spPr>
        <p:txBody>
          <a:bodyPr wrap="square" lIns="0" tIns="0" rIns="0" bIns="0" rtlCol="0" anchor="t"/>
          <a:lstStyle/>
          <a:p>
            <a:pPr indent="0" marL="0">
              <a:buNone/>
            </a:pPr>
            <a:r>
              <a:rPr lang="en-US" sz="1800" b="1" dirty="0">
                <a:solidFill>
                  <a:schemeClr val="accent1"/>
                </a:solidFill>
                <a:latin typeface="Arial" pitchFamily="34" charset="0"/>
                <a:ea typeface="Arial" pitchFamily="34" charset="-122"/>
                <a:cs typeface="Arial" pitchFamily="34" charset="-120"/>
              </a:rPr>
              <a:t>= 1,415 kb/d </a:t>
            </a:r>
            <a:pPr indent="0" marL="0">
              <a:buNone/>
            </a:pPr>
            <a:r>
              <a:rPr lang="en-US" sz="1800" dirty="0">
                <a:solidFill>
                  <a:schemeClr val="tx2"/>
                </a:solidFill>
                <a:latin typeface="Arial" pitchFamily="34" charset="0"/>
                <a:ea typeface="Arial" pitchFamily="34" charset="-122"/>
                <a:cs typeface="Arial" pitchFamily="34" charset="-120"/>
              </a:rPr>
              <a:t>of crude distillation in Kuwait</a:t>
            </a:r>
            <a:endParaRPr lang="en-US" sz="1800" dirty="0"/>
          </a:p>
        </p:txBody>
      </p:sp>
      <p:sp>
        <p:nvSpPr>
          <p:cNvPr id="26" name="!!source"/>
          <p:cNvSpPr txBox="1"/>
          <p:nvPr/>
        </p:nvSpPr>
        <p:spPr>
          <a:xfrm>
            <a:off x="548640" y="5943600"/>
            <a:ext cx="9692640" cy="274320"/>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Sources: EIA (2023b); KNPC (n.d.-b, n.d.-c); KIPIC (2024); S&amp;P Global (2024). Capacities in kb/d (thousand b/d).</a:t>
            </a:r>
            <a:endParaRPr lang="en-US" sz="1200" dirty="0"/>
          </a:p>
        </p:txBody>
      </p:sp>
      <p:sp>
        <p:nvSpPr>
          <p:cNvPr id="27" name="!!home_bg"/>
          <p:cNvSpPr/>
          <p:nvPr/>
        </p:nvSpPr>
        <p:spPr>
          <a:xfrm>
            <a:off x="10637215" y="6272784"/>
            <a:ext cx="384048" cy="384048"/>
          </a:xfrm>
          <a:prstGeom prst="roundRect">
            <a:avLst>
              <a:gd name="adj" fmla="val 23810"/>
            </a:avLst>
          </a:prstGeom>
          <a:solidFill>
            <a:srgbClr val="2C2C2E"/>
          </a:solidFill>
          <a:ln/>
        </p:spPr>
      </p:sp>
      <p:pic>
        <p:nvPicPr>
          <p:cNvPr id="28" name="!!home_ic" descr="Decorative graphic">    </p:cNvPr>
          <p:cNvPicPr>
            <a:picLocks noChangeAspect="1"/>
          </p:cNvPicPr>
          <p:nvPr/>
        </p:nvPicPr>
        <p:blipFill>
          <a:blip r:embed="rId3"/>
          <a:stretch>
            <a:fillRect/>
          </a:stretch>
        </p:blipFill>
        <p:spPr>
          <a:xfrm>
            <a:off x="10719511" y="6355080"/>
            <a:ext cx="219456" cy="219456"/>
          </a:xfrm>
          <a:prstGeom prst="rect">
            <a:avLst/>
          </a:prstGeom>
        </p:spPr>
      </p:pic>
      <p:sp>
        <p:nvSpPr>
          <p:cNvPr id="29" name="!!home_hit">
            <a:hlinkClick r:id="rId4" tooltip="Back to contents" action="ppaction://hlinksldjump" highlightClick="1"/>
          </p:cNvPr>
          <p:cNvSpPr/>
          <p:nvPr/>
        </p:nvSpPr>
        <p:spPr>
          <a:xfrm>
            <a:off x="10637215" y="6272784"/>
            <a:ext cx="384048" cy="384048"/>
          </a:xfrm>
          <a:prstGeom prst="roundRect">
            <a:avLst>
              <a:gd name="adj" fmla="val 23810"/>
            </a:avLst>
          </a:prstGeom>
          <a:solidFill>
            <a:srgbClr val="000000">
              <a:alpha val="0"/>
            </a:srgbClr>
          </a:solidFill>
          <a:ln/>
        </p:spPr>
      </p:sp>
      <p:sp>
        <p:nvSpPr>
          <p:cNvPr id="31" name="!!footer"/>
          <p:cNvSpPr txBox="1"/>
          <p:nvPr/>
        </p:nvSpPr>
        <p:spPr>
          <a:xfrm>
            <a:off x="548640" y="6327648"/>
            <a:ext cx="5486400" cy="292608"/>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Kuwait Oil &amp; Gas  ·  EGCH2230</a:t>
            </a:r>
            <a:endParaRPr lang="en-US" sz="1200" dirty="0"/>
          </a:p>
        </p:txBody>
      </p:sp>
      <p:sp>
        <p:nvSpPr>
          <p:cNvPr id="32" name="!!num"/>
          <p:cNvSpPr txBox="1"/>
          <p:nvPr/>
        </p:nvSpPr>
        <p:spPr>
          <a:xfrm>
            <a:off x="11094415" y="6327648"/>
            <a:ext cx="548640" cy="292608"/>
          </a:xfrm>
          <a:prstGeom prst="rect">
            <a:avLst/>
          </a:prstGeom>
          <a:noFill/>
          <a:ln/>
        </p:spPr>
        <p:txBody>
          <a:bodyPr wrap="square" lIns="0" tIns="0" rIns="0" bIns="0" rtlCol="0" anchor="ctr"/>
          <a:lstStyle/>
          <a:p>
            <a:pPr algn="r" indent="0" marL="0">
              <a:buNone/>
            </a:pPr>
            <a:r>
              <a:rPr lang="en-US" sz="1200" dirty="0">
                <a:solidFill>
                  <a:schemeClr val="tx2"/>
                </a:solidFill>
                <a:latin typeface="Arial" pitchFamily="34" charset="0"/>
                <a:ea typeface="Arial" pitchFamily="34" charset="-122"/>
                <a:cs typeface="Arial" pitchFamily="34" charset="-120"/>
              </a:rPr>
              <a:t>14</a:t>
            </a:r>
            <a:endParaRPr lang="en-US" sz="1200" dirty="0"/>
          </a:p>
        </p:txBody>
      </p:sp>
      <p:pic>
        <p:nvPicPr>
          <p:cNvPr id="33" name="!!badge" descr="University of Technology and Applied Sciences, Salalah">    </p:cNvPr>
          <p:cNvPicPr>
            <a:picLocks noChangeAspect="1"/>
          </p:cNvPicPr>
          <p:nvPr/>
        </p:nvPicPr>
        <p:blipFill>
          <a:blip r:embed="rId5"/>
          <a:stretch>
            <a:fillRect/>
          </a:stretch>
        </p:blipFill>
        <p:spPr>
          <a:xfrm>
            <a:off x="9677095" y="274320"/>
            <a:ext cx="1965960" cy="80987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0" presetClass="path" presetSubtype="0" fill="hold" grpId="0" nodeType="afterEffect" repeatCount="indefinite" autoRev="1">
                                  <p:stCondLst>
                                    <p:cond delay="0"/>
                                  </p:stCondLst>
                                  <p:childTnLst>
                                    <p:animMotion origin="layout" path="M 0 0 L 0.0350 -0.0300 E" pathEditMode="relative" ptsTypes="">
                                      <p:cBhvr>
                                        <p:cTn id="5" dur="13000" fill="hold" accel="50000" decel="50000"/>
                                        <p:tgtEl>
                                          <p:spTgt spid="2"/>
                                        </p:tgtEl>
                                        <p:attrNameLst>
                                          <p:attrName>ppt_x</p:attrName>
                                          <p:attrName>ppt_y</p:attrName>
                                        </p:attrNameLst>
                                      </p:cBhvr>
                                      <p:rCtr x="0" y="0"/>
                                    </p:animMotion>
                                  </p:childTnLst>
                                </p:cTn>
                              </p:par>
                              <p:par>
                                <p:cTn id="8" presetID="0" presetClass="path" presetSubtype="0" fill="hold" grpId="0" nodeType="withEffect" repeatCount="indefinite" autoRev="1">
                                  <p:stCondLst>
                                    <p:cond delay="0"/>
                                  </p:stCondLst>
                                  <p:childTnLst>
                                    <p:animMotion origin="layout" path="M 0 0 L -0.0300 0.0250 E" pathEditMode="relative" ptsTypes="">
                                      <p:cBhvr>
                                        <p:cTn id="7" dur="15000" fill="hold" accel="50000" decel="50000"/>
                                        <p:tgtEl>
                                          <p:spTgt spid="3"/>
                                        </p:tgtEl>
                                        <p:attrNameLst>
                                          <p:attrName>ppt_x</p:attrName>
                                          <p:attrName>ppt_y</p:attrName>
                                        </p:attrNameLst>
                                      </p:cBhvr>
                                      <p:rCtr x="0" y="0"/>
                                    </p:animMotion>
                                  </p:childTnLst>
                                </p:cTn>
                              </p:par>
                              <p:par>
                                <p:cTn id="11" presetID="22" presetClass="entr" presetSubtype="4" fill="hold" grpId="0" nodeType="withEffect">
                                  <p:stCondLst>
                                    <p:cond delay="30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1100" decel="100000"/>
                                        <p:tgtEl>
                                          <p:spTgt spid="6"/>
                                        </p:tgtEl>
                                      </p:cBhvr>
                                    </p:animEffect>
                                  </p:childTnLst>
                                </p:cTn>
                              </p:par>
                              <p:par>
                                <p:cTn id="14" presetID="10" presetClass="entr" presetSubtype="0" fill="hold" grpId="0" nodeType="withEffect">
                                  <p:stCondLst>
                                    <p:cond delay="30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700" decel="100000"/>
                                        <p:tgtEl>
                                          <p:spTgt spid="8"/>
                                        </p:tgtEl>
                                      </p:cBhvr>
                                    </p:animEffect>
                                  </p:childTnLst>
                                </p:cTn>
                              </p:par>
                              <p:par>
                                <p:cTn id="17" presetID="10" presetClass="entr" presetSubtype="0" fill="hold" grpId="0" nodeType="withEffect">
                                  <p:stCondLst>
                                    <p:cond delay="30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700" decel="100000"/>
                                        <p:tgtEl>
                                          <p:spTgt spid="12"/>
                                        </p:tgtEl>
                                      </p:cBhvr>
                                    </p:animEffect>
                                  </p:childTnLst>
                                </p:cTn>
                              </p:par>
                              <p:par>
                                <p:cTn id="20" presetID="22" presetClass="entr" presetSubtype="4" fill="hold" grpId="0" nodeType="withEffect">
                                  <p:stCondLst>
                                    <p:cond delay="750"/>
                                  </p:stCondLst>
                                  <p:childTnLst>
                                    <p:set>
                                      <p:cBhvr>
                                        <p:cTn id="18" dur="1" fill="hold">
                                          <p:stCondLst>
                                            <p:cond delay="0"/>
                                          </p:stCondLst>
                                        </p:cTn>
                                        <p:tgtEl>
                                          <p:spTgt spid="9"/>
                                        </p:tgtEl>
                                        <p:attrNameLst>
                                          <p:attrName>style.visibility</p:attrName>
                                        </p:attrNameLst>
                                      </p:cBhvr>
                                      <p:to>
                                        <p:strVal val="visible"/>
                                      </p:to>
                                    </p:set>
                                    <p:animEffect transition="in" filter="wipe(down)">
                                      <p:cBhvr>
                                        <p:cTn id="19" dur="1100" decel="100000"/>
                                        <p:tgtEl>
                                          <p:spTgt spid="9"/>
                                        </p:tgtEl>
                                      </p:cBhvr>
                                    </p:animEffect>
                                  </p:childTnLst>
                                </p:cTn>
                              </p:par>
                              <p:par>
                                <p:cTn id="23" presetID="10" presetClass="entr" presetSubtype="0" fill="hold" grpId="0" nodeType="withEffect">
                                  <p:stCondLst>
                                    <p:cond delay="75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700" decel="100000"/>
                                        <p:tgtEl>
                                          <p:spTgt spid="11"/>
                                        </p:tgtEl>
                                      </p:cBhvr>
                                    </p:animEffect>
                                  </p:childTnLst>
                                </p:cTn>
                              </p:par>
                              <p:par>
                                <p:cTn id="28" presetID="42" presetClass="entr" presetSubtype="0" fill="hold" grpId="0" nodeType="withEffect">
                                  <p:stCondLst>
                                    <p:cond delay="95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60" decel="100000"/>
                                        <p:tgtEl>
                                          <p:spTgt spid="7"/>
                                        </p:tgtEl>
                                      </p:cBhvr>
                                    </p:animEffect>
                                    <p:anim calcmode="lin" valueType="num">
                                      <p:cBhvr>
                                        <p:cTn id="26" dur="700" fill="hold" decel="100000"/>
                                        <p:tgtEl>
                                          <p:spTgt spid="7"/>
                                        </p:tgtEl>
                                        <p:attrNameLst>
                                          <p:attrName>ppt_x</p:attrName>
                                        </p:attrNameLst>
                                      </p:cBhvr>
                                      <p:tavLst>
                                        <p:tav tm="0">
                                          <p:val>
                                            <p:strVal val="#ppt_x"/>
                                          </p:val>
                                        </p:tav>
                                        <p:tav tm="100000">
                                          <p:val>
                                            <p:strVal val="#ppt_x"/>
                                          </p:val>
                                        </p:tav>
                                      </p:tavLst>
                                    </p:anim>
                                    <p:anim calcmode="lin" valueType="num">
                                      <p:cBhvr>
                                        <p:cTn id="27" dur="700" fill="hold" decel="100000"/>
                                        <p:tgtEl>
                                          <p:spTgt spid="7"/>
                                        </p:tgtEl>
                                        <p:attrNameLst>
                                          <p:attrName>ppt_y</p:attrName>
                                        </p:attrNameLst>
                                      </p:cBhvr>
                                      <p:tavLst>
                                        <p:tav tm="0">
                                          <p:val>
                                            <p:strVal val="#ppt_y+0.0150"/>
                                          </p:val>
                                        </p:tav>
                                        <p:tav tm="100000">
                                          <p:val>
                                            <p:strVal val="#ppt_y"/>
                                          </p:val>
                                        </p:tav>
                                      </p:tavLst>
                                    </p:anim>
                                  </p:childTnLst>
                                </p:cTn>
                              </p:par>
                              <p:par>
                                <p:cTn id="33" presetID="42" presetClass="entr" presetSubtype="0" fill="hold" grpId="0" nodeType="withEffect">
                                  <p:stCondLst>
                                    <p:cond delay="115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640" decel="100000"/>
                                        <p:tgtEl>
                                          <p:spTgt spid="13"/>
                                        </p:tgtEl>
                                      </p:cBhvr>
                                    </p:animEffect>
                                    <p:anim calcmode="lin" valueType="num">
                                      <p:cBhvr>
                                        <p:cTn id="31" dur="800" fill="hold" decel="100000"/>
                                        <p:tgtEl>
                                          <p:spTgt spid="13"/>
                                        </p:tgtEl>
                                        <p:attrNameLst>
                                          <p:attrName>ppt_x</p:attrName>
                                        </p:attrNameLst>
                                      </p:cBhvr>
                                      <p:tavLst>
                                        <p:tav tm="0">
                                          <p:val>
                                            <p:strVal val="#ppt_x"/>
                                          </p:val>
                                        </p:tav>
                                        <p:tav tm="100000">
                                          <p:val>
                                            <p:strVal val="#ppt_x"/>
                                          </p:val>
                                        </p:tav>
                                      </p:tavLst>
                                    </p:anim>
                                    <p:anim calcmode="lin" valueType="num">
                                      <p:cBhvr>
                                        <p:cTn id="32" dur="800" fill="hold" decel="100000"/>
                                        <p:tgtEl>
                                          <p:spTgt spid="13"/>
                                        </p:tgtEl>
                                        <p:attrNameLst>
                                          <p:attrName>ppt_y</p:attrName>
                                        </p:attrNameLst>
                                      </p:cBhvr>
                                      <p:tavLst>
                                        <p:tav tm="0">
                                          <p:val>
                                            <p:strVal val="#ppt_y+0.0250"/>
                                          </p:val>
                                        </p:tav>
                                        <p:tav tm="100000">
                                          <p:val>
                                            <p:strVal val="#ppt_y"/>
                                          </p:val>
                                        </p:tav>
                                      </p:tavLst>
                                    </p:anim>
                                  </p:childTnLst>
                                </p:cTn>
                              </p:par>
                              <p:par>
                                <p:cTn id="38" presetID="42" presetClass="entr" presetSubtype="0" fill="hold" grpId="0" nodeType="withEffect">
                                  <p:stCondLst>
                                    <p:cond delay="125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640" decel="100000"/>
                                        <p:tgtEl>
                                          <p:spTgt spid="14"/>
                                        </p:tgtEl>
                                      </p:cBhvr>
                                    </p:animEffect>
                                    <p:anim calcmode="lin" valueType="num">
                                      <p:cBhvr>
                                        <p:cTn id="36" dur="800" fill="hold" decel="100000"/>
                                        <p:tgtEl>
                                          <p:spTgt spid="14"/>
                                        </p:tgtEl>
                                        <p:attrNameLst>
                                          <p:attrName>ppt_x</p:attrName>
                                        </p:attrNameLst>
                                      </p:cBhvr>
                                      <p:tavLst>
                                        <p:tav tm="0">
                                          <p:val>
                                            <p:strVal val="#ppt_x"/>
                                          </p:val>
                                        </p:tav>
                                        <p:tav tm="100000">
                                          <p:val>
                                            <p:strVal val="#ppt_x"/>
                                          </p:val>
                                        </p:tav>
                                      </p:tavLst>
                                    </p:anim>
                                    <p:anim calcmode="lin" valueType="num">
                                      <p:cBhvr>
                                        <p:cTn id="37" dur="800" fill="hold" decel="100000"/>
                                        <p:tgtEl>
                                          <p:spTgt spid="14"/>
                                        </p:tgtEl>
                                        <p:attrNameLst>
                                          <p:attrName>ppt_y</p:attrName>
                                        </p:attrNameLst>
                                      </p:cBhvr>
                                      <p:tavLst>
                                        <p:tav tm="0">
                                          <p:val>
                                            <p:strVal val="#ppt_y+0.0250"/>
                                          </p:val>
                                        </p:tav>
                                        <p:tav tm="100000">
                                          <p:val>
                                            <p:strVal val="#ppt_y"/>
                                          </p:val>
                                        </p:tav>
                                      </p:tavLst>
                                    </p:anim>
                                  </p:childTnLst>
                                </p:cTn>
                              </p:par>
                              <p:par>
                                <p:cTn id="41" presetID="22" presetClass="entr" presetSubtype="8" fill="hold" grpId="0" nodeType="withEffect">
                                  <p:stCondLst>
                                    <p:cond delay="1250"/>
                                  </p:stCondLst>
                                  <p:childTnLst>
                                    <p:set>
                                      <p:cBhvr>
                                        <p:cTn id="39" dur="1" fill="hold">
                                          <p:stCondLst>
                                            <p:cond delay="0"/>
                                          </p:stCondLst>
                                        </p:cTn>
                                        <p:tgtEl>
                                          <p:spTgt spid="15"/>
                                        </p:tgtEl>
                                        <p:attrNameLst>
                                          <p:attrName>style.visibility</p:attrName>
                                        </p:attrNameLst>
                                      </p:cBhvr>
                                      <p:to>
                                        <p:strVal val="visible"/>
                                      </p:to>
                                    </p:set>
                                    <p:animEffect transition="in" filter="wipe(left)">
                                      <p:cBhvr>
                                        <p:cTn id="40" dur="900" decel="100000"/>
                                        <p:tgtEl>
                                          <p:spTgt spid="15"/>
                                        </p:tgtEl>
                                      </p:cBhvr>
                                    </p:animEffect>
                                  </p:childTnLst>
                                </p:cTn>
                              </p:par>
                              <p:par>
                                <p:cTn id="46" presetID="42" presetClass="entr" presetSubtype="0" fill="hold" grpId="0" nodeType="withEffect">
                                  <p:stCondLst>
                                    <p:cond delay="133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640" decel="100000"/>
                                        <p:tgtEl>
                                          <p:spTgt spid="17"/>
                                        </p:tgtEl>
                                      </p:cBhvr>
                                    </p:animEffect>
                                    <p:anim calcmode="lin" valueType="num">
                                      <p:cBhvr>
                                        <p:cTn id="44" dur="800" fill="hold" decel="100000"/>
                                        <p:tgtEl>
                                          <p:spTgt spid="17"/>
                                        </p:tgtEl>
                                        <p:attrNameLst>
                                          <p:attrName>ppt_x</p:attrName>
                                        </p:attrNameLst>
                                      </p:cBhvr>
                                      <p:tavLst>
                                        <p:tav tm="0">
                                          <p:val>
                                            <p:strVal val="#ppt_x"/>
                                          </p:val>
                                        </p:tav>
                                        <p:tav tm="100000">
                                          <p:val>
                                            <p:strVal val="#ppt_x"/>
                                          </p:val>
                                        </p:tav>
                                      </p:tavLst>
                                    </p:anim>
                                    <p:anim calcmode="lin" valueType="num">
                                      <p:cBhvr>
                                        <p:cTn id="45" dur="800" fill="hold" decel="100000"/>
                                        <p:tgtEl>
                                          <p:spTgt spid="17"/>
                                        </p:tgtEl>
                                        <p:attrNameLst>
                                          <p:attrName>ppt_y</p:attrName>
                                        </p:attrNameLst>
                                      </p:cBhvr>
                                      <p:tavLst>
                                        <p:tav tm="0">
                                          <p:val>
                                            <p:strVal val="#ppt_y+0.0250"/>
                                          </p:val>
                                        </p:tav>
                                        <p:tav tm="100000">
                                          <p:val>
                                            <p:strVal val="#ppt_y"/>
                                          </p:val>
                                        </p:tav>
                                      </p:tavLst>
                                    </p:anim>
                                  </p:childTnLst>
                                </p:cTn>
                              </p:par>
                              <p:par>
                                <p:cTn id="51" presetID="42" presetClass="entr" presetSubtype="0" fill="hold" grpId="0" nodeType="withEffect">
                                  <p:stCondLst>
                                    <p:cond delay="1400"/>
                                  </p:stCondLst>
                                  <p:childTnLst>
                                    <p:set>
                                      <p:cBhvr>
                                        <p:cTn id="47" dur="1" fill="hold">
                                          <p:stCondLst>
                                            <p:cond delay="0"/>
                                          </p:stCondLst>
                                        </p:cTn>
                                        <p:tgtEl>
                                          <p:spTgt spid="10"/>
                                        </p:tgtEl>
                                        <p:attrNameLst>
                                          <p:attrName>style.visibility</p:attrName>
                                        </p:attrNameLst>
                                      </p:cBhvr>
                                      <p:to>
                                        <p:strVal val="visible"/>
                                      </p:to>
                                    </p:set>
                                    <p:animEffect transition="in" filter="fade">
                                      <p:cBhvr>
                                        <p:cTn id="48" dur="560" decel="100000"/>
                                        <p:tgtEl>
                                          <p:spTgt spid="10"/>
                                        </p:tgtEl>
                                      </p:cBhvr>
                                    </p:animEffect>
                                    <p:anim calcmode="lin" valueType="num">
                                      <p:cBhvr>
                                        <p:cTn id="49" dur="700" fill="hold" decel="100000"/>
                                        <p:tgtEl>
                                          <p:spTgt spid="10"/>
                                        </p:tgtEl>
                                        <p:attrNameLst>
                                          <p:attrName>ppt_x</p:attrName>
                                        </p:attrNameLst>
                                      </p:cBhvr>
                                      <p:tavLst>
                                        <p:tav tm="0">
                                          <p:val>
                                            <p:strVal val="#ppt_x"/>
                                          </p:val>
                                        </p:tav>
                                        <p:tav tm="100000">
                                          <p:val>
                                            <p:strVal val="#ppt_x"/>
                                          </p:val>
                                        </p:tav>
                                      </p:tavLst>
                                    </p:anim>
                                    <p:anim calcmode="lin" valueType="num">
                                      <p:cBhvr>
                                        <p:cTn id="50" dur="700" fill="hold" decel="100000"/>
                                        <p:tgtEl>
                                          <p:spTgt spid="10"/>
                                        </p:tgtEl>
                                        <p:attrNameLst>
                                          <p:attrName>ppt_y</p:attrName>
                                        </p:attrNameLst>
                                      </p:cBhvr>
                                      <p:tavLst>
                                        <p:tav tm="0">
                                          <p:val>
                                            <p:strVal val="#ppt_y+0.0150"/>
                                          </p:val>
                                        </p:tav>
                                        <p:tav tm="100000">
                                          <p:val>
                                            <p:strVal val="#ppt_y"/>
                                          </p:val>
                                        </p:tav>
                                      </p:tavLst>
                                    </p:anim>
                                  </p:childTnLst>
                                </p:cTn>
                              </p:par>
                              <p:par>
                                <p:cTn id="56" presetID="42" presetClass="entr" presetSubtype="0" fill="hold" grpId="0" nodeType="withEffect">
                                  <p:stCondLst>
                                    <p:cond delay="143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640" decel="100000"/>
                                        <p:tgtEl>
                                          <p:spTgt spid="18"/>
                                        </p:tgtEl>
                                      </p:cBhvr>
                                    </p:animEffect>
                                    <p:anim calcmode="lin" valueType="num">
                                      <p:cBhvr>
                                        <p:cTn id="54" dur="800" fill="hold" decel="100000"/>
                                        <p:tgtEl>
                                          <p:spTgt spid="18"/>
                                        </p:tgtEl>
                                        <p:attrNameLst>
                                          <p:attrName>ppt_x</p:attrName>
                                        </p:attrNameLst>
                                      </p:cBhvr>
                                      <p:tavLst>
                                        <p:tav tm="0">
                                          <p:val>
                                            <p:strVal val="#ppt_x"/>
                                          </p:val>
                                        </p:tav>
                                        <p:tav tm="100000">
                                          <p:val>
                                            <p:strVal val="#ppt_x"/>
                                          </p:val>
                                        </p:tav>
                                      </p:tavLst>
                                    </p:anim>
                                    <p:anim calcmode="lin" valueType="num">
                                      <p:cBhvr>
                                        <p:cTn id="55" dur="800" fill="hold" decel="100000"/>
                                        <p:tgtEl>
                                          <p:spTgt spid="18"/>
                                        </p:tgtEl>
                                        <p:attrNameLst>
                                          <p:attrName>ppt_y</p:attrName>
                                        </p:attrNameLst>
                                      </p:cBhvr>
                                      <p:tavLst>
                                        <p:tav tm="0">
                                          <p:val>
                                            <p:strVal val="#ppt_y+0.0250"/>
                                          </p:val>
                                        </p:tav>
                                        <p:tav tm="100000">
                                          <p:val>
                                            <p:strVal val="#ppt_y"/>
                                          </p:val>
                                        </p:tav>
                                      </p:tavLst>
                                    </p:anim>
                                  </p:childTnLst>
                                </p:cTn>
                              </p:par>
                              <p:par>
                                <p:cTn id="59" presetID="22" presetClass="entr" presetSubtype="8" fill="hold" grpId="0" nodeType="withEffect">
                                  <p:stCondLst>
                                    <p:cond delay="1430"/>
                                  </p:stCondLst>
                                  <p:childTnLst>
                                    <p:set>
                                      <p:cBhvr>
                                        <p:cTn id="57" dur="1" fill="hold">
                                          <p:stCondLst>
                                            <p:cond delay="0"/>
                                          </p:stCondLst>
                                        </p:cTn>
                                        <p:tgtEl>
                                          <p:spTgt spid="19"/>
                                        </p:tgtEl>
                                        <p:attrNameLst>
                                          <p:attrName>style.visibility</p:attrName>
                                        </p:attrNameLst>
                                      </p:cBhvr>
                                      <p:to>
                                        <p:strVal val="visible"/>
                                      </p:to>
                                    </p:set>
                                    <p:animEffect transition="in" filter="wipe(left)">
                                      <p:cBhvr>
                                        <p:cTn id="58" dur="900" decel="100000"/>
                                        <p:tgtEl>
                                          <p:spTgt spid="19"/>
                                        </p:tgtEl>
                                      </p:cBhvr>
                                    </p:animEffect>
                                  </p:childTnLst>
                                </p:cTn>
                              </p:par>
                              <p:par>
                                <p:cTn id="64" presetID="42" presetClass="entr" presetSubtype="0" fill="hold" grpId="0" nodeType="withEffect">
                                  <p:stCondLst>
                                    <p:cond delay="151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640" decel="100000"/>
                                        <p:tgtEl>
                                          <p:spTgt spid="21"/>
                                        </p:tgtEl>
                                      </p:cBhvr>
                                    </p:animEffect>
                                    <p:anim calcmode="lin" valueType="num">
                                      <p:cBhvr>
                                        <p:cTn id="62" dur="800" fill="hold" decel="100000"/>
                                        <p:tgtEl>
                                          <p:spTgt spid="21"/>
                                        </p:tgtEl>
                                        <p:attrNameLst>
                                          <p:attrName>ppt_x</p:attrName>
                                        </p:attrNameLst>
                                      </p:cBhvr>
                                      <p:tavLst>
                                        <p:tav tm="0">
                                          <p:val>
                                            <p:strVal val="#ppt_x"/>
                                          </p:val>
                                        </p:tav>
                                        <p:tav tm="100000">
                                          <p:val>
                                            <p:strVal val="#ppt_x"/>
                                          </p:val>
                                        </p:tav>
                                      </p:tavLst>
                                    </p:anim>
                                    <p:anim calcmode="lin" valueType="num">
                                      <p:cBhvr>
                                        <p:cTn id="63" dur="800" fill="hold" decel="100000"/>
                                        <p:tgtEl>
                                          <p:spTgt spid="21"/>
                                        </p:tgtEl>
                                        <p:attrNameLst>
                                          <p:attrName>ppt_y</p:attrName>
                                        </p:attrNameLst>
                                      </p:cBhvr>
                                      <p:tavLst>
                                        <p:tav tm="0">
                                          <p:val>
                                            <p:strVal val="#ppt_y+0.0250"/>
                                          </p:val>
                                        </p:tav>
                                        <p:tav tm="100000">
                                          <p:val>
                                            <p:strVal val="#ppt_y"/>
                                          </p:val>
                                        </p:tav>
                                      </p:tavLst>
                                    </p:anim>
                                  </p:childTnLst>
                                </p:cTn>
                              </p:par>
                              <p:par>
                                <p:cTn id="69" presetID="42" presetClass="entr" presetSubtype="0" fill="hold" grpId="0" nodeType="withEffect">
                                  <p:stCondLst>
                                    <p:cond delay="161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640" decel="100000"/>
                                        <p:tgtEl>
                                          <p:spTgt spid="22"/>
                                        </p:tgtEl>
                                      </p:cBhvr>
                                    </p:animEffect>
                                    <p:anim calcmode="lin" valueType="num">
                                      <p:cBhvr>
                                        <p:cTn id="67" dur="800" fill="hold" decel="100000"/>
                                        <p:tgtEl>
                                          <p:spTgt spid="22"/>
                                        </p:tgtEl>
                                        <p:attrNameLst>
                                          <p:attrName>ppt_x</p:attrName>
                                        </p:attrNameLst>
                                      </p:cBhvr>
                                      <p:tavLst>
                                        <p:tav tm="0">
                                          <p:val>
                                            <p:strVal val="#ppt_x"/>
                                          </p:val>
                                        </p:tav>
                                        <p:tav tm="100000">
                                          <p:val>
                                            <p:strVal val="#ppt_x"/>
                                          </p:val>
                                        </p:tav>
                                      </p:tavLst>
                                    </p:anim>
                                    <p:anim calcmode="lin" valueType="num">
                                      <p:cBhvr>
                                        <p:cTn id="68" dur="800" fill="hold" decel="100000"/>
                                        <p:tgtEl>
                                          <p:spTgt spid="22"/>
                                        </p:tgtEl>
                                        <p:attrNameLst>
                                          <p:attrName>ppt_y</p:attrName>
                                        </p:attrNameLst>
                                      </p:cBhvr>
                                      <p:tavLst>
                                        <p:tav tm="0">
                                          <p:val>
                                            <p:strVal val="#ppt_y+0.0250"/>
                                          </p:val>
                                        </p:tav>
                                        <p:tav tm="100000">
                                          <p:val>
                                            <p:strVal val="#ppt_y"/>
                                          </p:val>
                                        </p:tav>
                                      </p:tavLst>
                                    </p:anim>
                                  </p:childTnLst>
                                </p:cTn>
                              </p:par>
                              <p:par>
                                <p:cTn id="72" presetID="22" presetClass="entr" presetSubtype="8" fill="hold" grpId="0" nodeType="withEffect">
                                  <p:stCondLst>
                                    <p:cond delay="1610"/>
                                  </p:stCondLst>
                                  <p:childTnLst>
                                    <p:set>
                                      <p:cBhvr>
                                        <p:cTn id="70" dur="1" fill="hold">
                                          <p:stCondLst>
                                            <p:cond delay="0"/>
                                          </p:stCondLst>
                                        </p:cTn>
                                        <p:tgtEl>
                                          <p:spTgt spid="23"/>
                                        </p:tgtEl>
                                        <p:attrNameLst>
                                          <p:attrName>style.visibility</p:attrName>
                                        </p:attrNameLst>
                                      </p:cBhvr>
                                      <p:to>
                                        <p:strVal val="visible"/>
                                      </p:to>
                                    </p:set>
                                    <p:animEffect transition="in" filter="wipe(left)">
                                      <p:cBhvr>
                                        <p:cTn id="71" dur="900" decel="100000"/>
                                        <p:tgtEl>
                                          <p:spTgt spid="23"/>
                                        </p:tgtEl>
                                      </p:cBhvr>
                                    </p:animEffect>
                                  </p:childTnLst>
                                </p:cTn>
                              </p:par>
                              <p:par>
                                <p:cTn id="75" presetID="10" presetClass="entr" presetSubtype="0" fill="hold" grpId="0" nodeType="withEffect">
                                  <p:stCondLst>
                                    <p:cond delay="1850"/>
                                  </p:stCondLst>
                                  <p:childTnLst>
                                    <p:set>
                                      <p:cBhvr>
                                        <p:cTn id="73" dur="1" fill="hold">
                                          <p:stCondLst>
                                            <p:cond delay="0"/>
                                          </p:stCondLst>
                                        </p:cTn>
                                        <p:tgtEl>
                                          <p:spTgt spid="16"/>
                                        </p:tgtEl>
                                        <p:attrNameLst>
                                          <p:attrName>style.visibility</p:attrName>
                                        </p:attrNameLst>
                                      </p:cBhvr>
                                      <p:to>
                                        <p:strVal val="visible"/>
                                      </p:to>
                                    </p:set>
                                    <p:animEffect transition="in" filter="fade">
                                      <p:cBhvr>
                                        <p:cTn id="74" dur="500" decel="100000"/>
                                        <p:tgtEl>
                                          <p:spTgt spid="16"/>
                                        </p:tgtEl>
                                      </p:cBhvr>
                                    </p:animEffect>
                                  </p:childTnLst>
                                </p:cTn>
                              </p:par>
                              <p:par>
                                <p:cTn id="78" presetID="10" presetClass="entr" presetSubtype="0" fill="hold" grpId="0" nodeType="withEffect">
                                  <p:stCondLst>
                                    <p:cond delay="2030"/>
                                  </p:stCondLst>
                                  <p:childTnLst>
                                    <p:set>
                                      <p:cBhvr>
                                        <p:cTn id="76" dur="1" fill="hold">
                                          <p:stCondLst>
                                            <p:cond delay="0"/>
                                          </p:stCondLst>
                                        </p:cTn>
                                        <p:tgtEl>
                                          <p:spTgt spid="20"/>
                                        </p:tgtEl>
                                        <p:attrNameLst>
                                          <p:attrName>style.visibility</p:attrName>
                                        </p:attrNameLst>
                                      </p:cBhvr>
                                      <p:to>
                                        <p:strVal val="visible"/>
                                      </p:to>
                                    </p:set>
                                    <p:animEffect transition="in" filter="fade">
                                      <p:cBhvr>
                                        <p:cTn id="77" dur="500" decel="100000"/>
                                        <p:tgtEl>
                                          <p:spTgt spid="20"/>
                                        </p:tgtEl>
                                      </p:cBhvr>
                                    </p:animEffect>
                                  </p:childTnLst>
                                </p:cTn>
                              </p:par>
                              <p:par>
                                <p:cTn id="81" presetID="10" presetClass="entr" presetSubtype="0" fill="hold" grpId="0" nodeType="withEffect">
                                  <p:stCondLst>
                                    <p:cond delay="2210"/>
                                  </p:stCondLst>
                                  <p:childTnLst>
                                    <p:set>
                                      <p:cBhvr>
                                        <p:cTn id="79" dur="1" fill="hold">
                                          <p:stCondLst>
                                            <p:cond delay="0"/>
                                          </p:stCondLst>
                                        </p:cTn>
                                        <p:tgtEl>
                                          <p:spTgt spid="24"/>
                                        </p:tgtEl>
                                        <p:attrNameLst>
                                          <p:attrName>style.visibility</p:attrName>
                                        </p:attrNameLst>
                                      </p:cBhvr>
                                      <p:to>
                                        <p:strVal val="visible"/>
                                      </p:to>
                                    </p:set>
                                    <p:animEffect transition="in" filter="fade">
                                      <p:cBhvr>
                                        <p:cTn id="80" dur="500" decel="100000"/>
                                        <p:tgtEl>
                                          <p:spTgt spid="24"/>
                                        </p:tgtEl>
                                      </p:cBhvr>
                                    </p:animEffect>
                                  </p:childTnLst>
                                </p:cTn>
                              </p:par>
                              <p:par>
                                <p:cTn id="86" presetID="42" presetClass="entr" presetSubtype="0" fill="hold" grpId="0" nodeType="withEffect">
                                  <p:stCondLst>
                                    <p:cond delay="2450"/>
                                  </p:stCondLst>
                                  <p:childTnLst>
                                    <p:set>
                                      <p:cBhvr>
                                        <p:cTn id="82" dur="1" fill="hold">
                                          <p:stCondLst>
                                            <p:cond delay="0"/>
                                          </p:stCondLst>
                                        </p:cTn>
                                        <p:tgtEl>
                                          <p:spTgt spid="25"/>
                                        </p:tgtEl>
                                        <p:attrNameLst>
                                          <p:attrName>style.visibility</p:attrName>
                                        </p:attrNameLst>
                                      </p:cBhvr>
                                      <p:to>
                                        <p:strVal val="visible"/>
                                      </p:to>
                                    </p:set>
                                    <p:animEffect transition="in" filter="fade">
                                      <p:cBhvr>
                                        <p:cTn id="83" dur="560" decel="100000"/>
                                        <p:tgtEl>
                                          <p:spTgt spid="25"/>
                                        </p:tgtEl>
                                      </p:cBhvr>
                                    </p:animEffect>
                                    <p:anim calcmode="lin" valueType="num">
                                      <p:cBhvr>
                                        <p:cTn id="84" dur="700" fill="hold" decel="100000"/>
                                        <p:tgtEl>
                                          <p:spTgt spid="25"/>
                                        </p:tgtEl>
                                        <p:attrNameLst>
                                          <p:attrName>ppt_x</p:attrName>
                                        </p:attrNameLst>
                                      </p:cBhvr>
                                      <p:tavLst>
                                        <p:tav tm="0">
                                          <p:val>
                                            <p:strVal val="#ppt_x"/>
                                          </p:val>
                                        </p:tav>
                                        <p:tav tm="100000">
                                          <p:val>
                                            <p:strVal val="#ppt_x"/>
                                          </p:val>
                                        </p:tav>
                                      </p:tavLst>
                                    </p:anim>
                                    <p:anim calcmode="lin" valueType="num">
                                      <p:cBhvr>
                                        <p:cTn id="85" dur="700" fill="hold" decel="100000"/>
                                        <p:tgtEl>
                                          <p:spTgt spid="25"/>
                                        </p:tgtEl>
                                        <p:attrNameLst>
                                          <p:attrName>ppt_y</p:attrName>
                                        </p:attrNameLst>
                                      </p:cBhvr>
                                      <p:tavLst>
                                        <p:tav tm="0">
                                          <p:val>
                                            <p:strVal val="#ppt_y+0.0250"/>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2" grpId="0" animBg="1"/>
      <p:bldP spid="9" grpId="0" animBg="1"/>
      <p:bldP spid="11" grpId="0" animBg="1"/>
      <p:bldP spid="7" grpId="0" animBg="1"/>
      <p:bldP spid="13" grpId="0" animBg="1"/>
      <p:bldP spid="14" grpId="0" animBg="1"/>
      <p:bldP spid="15" grpId="0" animBg="1"/>
      <p:bldP spid="17" grpId="0" animBg="1"/>
      <p:bldP spid="10" grpId="0" animBg="1"/>
      <p:bldP spid="18" grpId="0" animBg="1"/>
      <p:bldP spid="19" grpId="0" animBg="1"/>
      <p:bldP spid="21" grpId="0" animBg="1"/>
      <p:bldP spid="22" grpId="0" animBg="1"/>
      <p:bldP spid="23" grpId="0" animBg="1"/>
      <p:bldP spid="16" grpId="0" animBg="1"/>
      <p:bldP spid="20" grpId="0" animBg="1"/>
      <p:bldP spid="24" grpId="0" animBg="1"/>
      <p:bldP spid="25" grpId="0" animBg="1"/>
    </p:bldLst>
  </p:timing>
</p:sld>
</file>

<file path=ppt/slides/slide15.xml><?xml version="1.0" encoding="utf-8"?>
<p:sld xmlns:p14="http://schemas.microsoft.com/office/powerpoint/2010/main"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orbA" descr="Decorative background light">    </p:cNvPr>
          <p:cNvPicPr>
            <a:picLocks noChangeAspect="1"/>
          </p:cNvPicPr>
          <p:nvPr/>
        </p:nvPicPr>
        <p:blipFill>
          <a:blip r:embed="rId1"/>
          <a:stretch>
            <a:fillRect/>
          </a:stretch>
        </p:blipFill>
        <p:spPr>
          <a:xfrm>
            <a:off x="-1234440" y="-594360"/>
            <a:ext cx="7772400" cy="7772400"/>
          </a:xfrm>
          <a:prstGeom prst="rect">
            <a:avLst/>
          </a:prstGeom>
        </p:spPr>
      </p:pic>
      <p:pic>
        <p:nvPicPr>
          <p:cNvPr id="3" name="!!orbB" descr="Decorative background light">    </p:cNvPr>
          <p:cNvPicPr>
            <a:picLocks noChangeAspect="1"/>
          </p:cNvPicPr>
          <p:nvPr/>
        </p:nvPicPr>
        <p:blipFill>
          <a:blip r:embed="rId2"/>
          <a:stretch>
            <a:fillRect/>
          </a:stretch>
        </p:blipFill>
        <p:spPr>
          <a:xfrm>
            <a:off x="8686800" y="3291840"/>
            <a:ext cx="5486400" cy="5486400"/>
          </a:xfrm>
          <a:prstGeom prst="rect">
            <a:avLst/>
          </a:prstGeom>
        </p:spPr>
      </p:pic>
      <p:pic>
        <p:nvPicPr>
          <p:cNvPr id="4" name="!!drop" descr="Oil drop illustration">    </p:cNvPr>
          <p:cNvPicPr>
            <a:picLocks noChangeAspect="1"/>
          </p:cNvPicPr>
          <p:nvPr/>
        </p:nvPicPr>
        <p:blipFill>
          <a:blip r:embed="rId3"/>
          <a:stretch>
            <a:fillRect/>
          </a:stretch>
        </p:blipFill>
        <p:spPr>
          <a:xfrm>
            <a:off x="914400" y="1051560"/>
            <a:ext cx="3474720" cy="4389120"/>
          </a:xfrm>
          <a:prstGeom prst="rect">
            <a:avLst/>
          </a:prstGeom>
        </p:spPr>
      </p:pic>
      <p:sp>
        <p:nvSpPr>
          <p:cNvPr id="5" name="!!kicker"/>
          <p:cNvSpPr txBox="1"/>
          <p:nvPr/>
        </p:nvSpPr>
        <p:spPr>
          <a:xfrm>
            <a:off x="4846320" y="1371600"/>
            <a:ext cx="4114800" cy="1554480"/>
          </a:xfrm>
          <a:prstGeom prst="rect">
            <a:avLst/>
          </a:prstGeom>
          <a:noFill/>
          <a:ln/>
        </p:spPr>
        <p:txBody>
          <a:bodyPr wrap="square" lIns="0" tIns="0" rIns="0" bIns="0" rtlCol="0" anchor="t"/>
          <a:lstStyle/>
          <a:p>
            <a:pPr indent="0" marL="0">
              <a:buNone/>
            </a:pPr>
            <a:r>
              <a:rPr lang="en-US" sz="12000" b="1" dirty="0">
                <a:solidFill>
                  <a:schemeClr val="accent1"/>
                </a:solidFill>
                <a:latin typeface="Arial" pitchFamily="34" charset="0"/>
                <a:ea typeface="Arial" pitchFamily="34" charset="-122"/>
                <a:cs typeface="Arial" pitchFamily="34" charset="-120"/>
              </a:rPr>
              <a:t>03</a:t>
            </a:r>
            <a:endParaRPr lang="en-US" sz="12000" dirty="0"/>
          </a:p>
        </p:txBody>
      </p:sp>
      <p:sp>
        <p:nvSpPr>
          <p:cNvPr id="6" name="!!title"/>
          <p:cNvSpPr txBox="1"/>
          <p:nvPr/>
        </p:nvSpPr>
        <p:spPr>
          <a:xfrm>
            <a:off x="4846320" y="2971800"/>
            <a:ext cx="6766560" cy="914400"/>
          </a:xfrm>
          <a:prstGeom prst="rect">
            <a:avLst/>
          </a:prstGeom>
          <a:noFill/>
          <a:ln/>
        </p:spPr>
        <p:txBody>
          <a:bodyPr wrap="square" lIns="0" tIns="0" rIns="0" bIns="0" rtlCol="0" anchor="t"/>
          <a:lstStyle/>
          <a:p>
            <a:pPr indent="0" marL="0">
              <a:buNone/>
            </a:pPr>
            <a:r>
              <a:rPr lang="en-US" sz="5000" b="1" dirty="0">
                <a:solidFill>
                  <a:schemeClr val="tx1"/>
                </a:solidFill>
                <a:latin typeface="Arial" pitchFamily="34" charset="0"/>
                <a:ea typeface="Arial" pitchFamily="34" charset="-122"/>
                <a:cs typeface="Arial" pitchFamily="34" charset="-120"/>
              </a:rPr>
              <a:t>Reservoir Locations</a:t>
            </a:r>
            <a:endParaRPr lang="en-US" sz="5000" dirty="0"/>
          </a:p>
        </p:txBody>
      </p:sp>
      <p:sp>
        <p:nvSpPr>
          <p:cNvPr id="7" name="sec3_t_1"/>
          <p:cNvSpPr txBox="1"/>
          <p:nvPr/>
        </p:nvSpPr>
        <p:spPr>
          <a:xfrm>
            <a:off x="4846320" y="3931920"/>
            <a:ext cx="6400800" cy="822960"/>
          </a:xfrm>
          <a:prstGeom prst="rect">
            <a:avLst/>
          </a:prstGeom>
          <a:noFill/>
          <a:ln/>
        </p:spPr>
        <p:txBody>
          <a:bodyPr wrap="square" lIns="0" tIns="0" rIns="0" bIns="0" rtlCol="0" anchor="t"/>
          <a:lstStyle/>
          <a:p>
            <a:pPr indent="0" marL="0">
              <a:buNone/>
            </a:pPr>
            <a:r>
              <a:rPr lang="en-US" sz="2200" dirty="0">
                <a:solidFill>
                  <a:schemeClr val="tx2"/>
                </a:solidFill>
                <a:latin typeface="Arial" pitchFamily="34" charset="0"/>
                <a:ea typeface="Arial" pitchFamily="34" charset="-122"/>
                <a:cs typeface="Arial" pitchFamily="34" charset="-120"/>
              </a:rPr>
              <a:t>Fields, regions and the rocks that hold them</a:t>
            </a:r>
            <a:endParaRPr lang="en-US" sz="2200" dirty="0"/>
          </a:p>
        </p:txBody>
      </p:sp>
      <p:sp>
        <p:nvSpPr>
          <p:cNvPr id="8" name="sec3_s_2"/>
          <p:cNvSpPr/>
          <p:nvPr/>
        </p:nvSpPr>
        <p:spPr>
          <a:xfrm>
            <a:off x="4864608" y="5029200"/>
            <a:ext cx="128016" cy="128016"/>
          </a:xfrm>
          <a:prstGeom prst="ellipse">
            <a:avLst/>
          </a:prstGeom>
          <a:solidFill>
            <a:srgbClr val="3A3A3C"/>
          </a:solidFill>
          <a:ln/>
        </p:spPr>
      </p:sp>
      <p:sp>
        <p:nvSpPr>
          <p:cNvPr id="9" name="sec3_s_3"/>
          <p:cNvSpPr/>
          <p:nvPr/>
        </p:nvSpPr>
        <p:spPr>
          <a:xfrm>
            <a:off x="5157216" y="5029200"/>
            <a:ext cx="128016" cy="128016"/>
          </a:xfrm>
          <a:prstGeom prst="ellipse">
            <a:avLst/>
          </a:prstGeom>
          <a:solidFill>
            <a:srgbClr val="3A3A3C"/>
          </a:solidFill>
          <a:ln/>
        </p:spPr>
      </p:sp>
      <p:sp>
        <p:nvSpPr>
          <p:cNvPr id="10" name="sec3_s_4"/>
          <p:cNvSpPr/>
          <p:nvPr/>
        </p:nvSpPr>
        <p:spPr>
          <a:xfrm>
            <a:off x="5449824" y="5029200"/>
            <a:ext cx="128016" cy="128016"/>
          </a:xfrm>
          <a:prstGeom prst="ellipse">
            <a:avLst/>
          </a:prstGeom>
          <a:solidFill>
            <a:srgbClr val="FF9F0A"/>
          </a:solidFill>
          <a:ln/>
        </p:spPr>
      </p:sp>
      <p:sp>
        <p:nvSpPr>
          <p:cNvPr id="11" name="sec3_s_5"/>
          <p:cNvSpPr/>
          <p:nvPr/>
        </p:nvSpPr>
        <p:spPr>
          <a:xfrm>
            <a:off x="5742432" y="5029200"/>
            <a:ext cx="128016" cy="128016"/>
          </a:xfrm>
          <a:prstGeom prst="ellipse">
            <a:avLst/>
          </a:prstGeom>
          <a:solidFill>
            <a:srgbClr val="3A3A3C"/>
          </a:solidFill>
          <a:ln/>
        </p:spPr>
      </p:sp>
      <p:sp>
        <p:nvSpPr>
          <p:cNvPr id="12" name="sec3_s_6"/>
          <p:cNvSpPr/>
          <p:nvPr/>
        </p:nvSpPr>
        <p:spPr>
          <a:xfrm>
            <a:off x="6035040" y="5029200"/>
            <a:ext cx="128016" cy="128016"/>
          </a:xfrm>
          <a:prstGeom prst="ellipse">
            <a:avLst/>
          </a:prstGeom>
          <a:solidFill>
            <a:srgbClr val="3A3A3C"/>
          </a:solidFill>
          <a:ln/>
        </p:spPr>
      </p:sp>
      <p:sp>
        <p:nvSpPr>
          <p:cNvPr id="13" name="!!home_bg"/>
          <p:cNvSpPr/>
          <p:nvPr/>
        </p:nvSpPr>
        <p:spPr>
          <a:xfrm>
            <a:off x="10637215" y="6272784"/>
            <a:ext cx="384048" cy="384048"/>
          </a:xfrm>
          <a:prstGeom prst="roundRect">
            <a:avLst>
              <a:gd name="adj" fmla="val 23810"/>
            </a:avLst>
          </a:prstGeom>
          <a:solidFill>
            <a:srgbClr val="2C2C2E"/>
          </a:solidFill>
          <a:ln/>
        </p:spPr>
      </p:sp>
      <p:pic>
        <p:nvPicPr>
          <p:cNvPr id="14" name="!!home_ic" descr="Decorative graphic">    </p:cNvPr>
          <p:cNvPicPr>
            <a:picLocks noChangeAspect="1"/>
          </p:cNvPicPr>
          <p:nvPr/>
        </p:nvPicPr>
        <p:blipFill>
          <a:blip r:embed="rId4"/>
          <a:stretch>
            <a:fillRect/>
          </a:stretch>
        </p:blipFill>
        <p:spPr>
          <a:xfrm>
            <a:off x="10719511" y="6355080"/>
            <a:ext cx="219456" cy="219456"/>
          </a:xfrm>
          <a:prstGeom prst="rect">
            <a:avLst/>
          </a:prstGeom>
        </p:spPr>
      </p:pic>
      <p:sp>
        <p:nvSpPr>
          <p:cNvPr id="15" name="!!home_hit">
            <a:hlinkClick r:id="rId5" tooltip="Back to contents" action="ppaction://hlinksldjump" highlightClick="1"/>
          </p:cNvPr>
          <p:cNvSpPr/>
          <p:nvPr/>
        </p:nvSpPr>
        <p:spPr>
          <a:xfrm>
            <a:off x="10637215" y="6272784"/>
            <a:ext cx="384048" cy="384048"/>
          </a:xfrm>
          <a:prstGeom prst="roundRect">
            <a:avLst>
              <a:gd name="adj" fmla="val 23810"/>
            </a:avLst>
          </a:prstGeom>
          <a:solidFill>
            <a:srgbClr val="000000">
              <a:alpha val="0"/>
            </a:srgbClr>
          </a:solidFill>
          <a:ln/>
        </p:spPr>
      </p:sp>
      <p:sp>
        <p:nvSpPr>
          <p:cNvPr id="17" name="!!footer"/>
          <p:cNvSpPr txBox="1"/>
          <p:nvPr/>
        </p:nvSpPr>
        <p:spPr>
          <a:xfrm>
            <a:off x="548640" y="6327648"/>
            <a:ext cx="5486400" cy="292608"/>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Kuwait Oil &amp; Gas  ·  EGCH2230</a:t>
            </a:r>
            <a:endParaRPr lang="en-US" sz="1200" dirty="0"/>
          </a:p>
        </p:txBody>
      </p:sp>
      <p:sp>
        <p:nvSpPr>
          <p:cNvPr id="18" name="!!num"/>
          <p:cNvSpPr txBox="1"/>
          <p:nvPr/>
        </p:nvSpPr>
        <p:spPr>
          <a:xfrm>
            <a:off x="11094415" y="6327648"/>
            <a:ext cx="548640" cy="292608"/>
          </a:xfrm>
          <a:prstGeom prst="rect">
            <a:avLst/>
          </a:prstGeom>
          <a:noFill/>
          <a:ln/>
        </p:spPr>
        <p:txBody>
          <a:bodyPr wrap="square" lIns="0" tIns="0" rIns="0" bIns="0" rtlCol="0" anchor="ctr"/>
          <a:lstStyle/>
          <a:p>
            <a:pPr algn="r" indent="0" marL="0">
              <a:buNone/>
            </a:pPr>
            <a:r>
              <a:rPr lang="en-US" sz="1200" dirty="0">
                <a:solidFill>
                  <a:schemeClr val="tx2"/>
                </a:solidFill>
                <a:latin typeface="Arial" pitchFamily="34" charset="0"/>
                <a:ea typeface="Arial" pitchFamily="34" charset="-122"/>
                <a:cs typeface="Arial" pitchFamily="34" charset="-120"/>
              </a:rPr>
              <a:t>15</a:t>
            </a:r>
            <a:endParaRPr lang="en-US" sz="1200" dirty="0"/>
          </a:p>
        </p:txBody>
      </p:sp>
      <p:pic>
        <p:nvPicPr>
          <p:cNvPr id="19" name="!!badge" descr="University of Technology and Applied Sciences, Salalah">    </p:cNvPr>
          <p:cNvPicPr>
            <a:picLocks noChangeAspect="1"/>
          </p:cNvPicPr>
          <p:nvPr/>
        </p:nvPicPr>
        <p:blipFill>
          <a:blip r:embed="rId6"/>
          <a:stretch>
            <a:fillRect/>
          </a:stretch>
        </p:blipFill>
        <p:spPr>
          <a:xfrm>
            <a:off x="9677095" y="274320"/>
            <a:ext cx="1965960" cy="80987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0" presetClass="path" presetSubtype="0" fill="hold" grpId="0" nodeType="afterEffect" repeatCount="indefinite" autoRev="1">
                                  <p:stCondLst>
                                    <p:cond delay="0"/>
                                  </p:stCondLst>
                                  <p:childTnLst>
                                    <p:animMotion origin="layout" path="M 0 0 L 0.0350 -0.0300 E" pathEditMode="relative" ptsTypes="">
                                      <p:cBhvr>
                                        <p:cTn id="5" dur="13000" fill="hold" accel="50000" decel="50000"/>
                                        <p:tgtEl>
                                          <p:spTgt spid="2"/>
                                        </p:tgtEl>
                                        <p:attrNameLst>
                                          <p:attrName>ppt_x</p:attrName>
                                          <p:attrName>ppt_y</p:attrName>
                                        </p:attrNameLst>
                                      </p:cBhvr>
                                      <p:rCtr x="0" y="0"/>
                                    </p:animMotion>
                                  </p:childTnLst>
                                </p:cTn>
                              </p:par>
                              <p:par>
                                <p:cTn id="8" presetID="0" presetClass="path" presetSubtype="0" fill="hold" grpId="0" nodeType="withEffect" repeatCount="indefinite" autoRev="1">
                                  <p:stCondLst>
                                    <p:cond delay="0"/>
                                  </p:stCondLst>
                                  <p:childTnLst>
                                    <p:animMotion origin="layout" path="M 0 0 L -0.0300 0.0250 E" pathEditMode="relative" ptsTypes="">
                                      <p:cBhvr>
                                        <p:cTn id="7" dur="15000" fill="hold" accel="50000" decel="50000"/>
                                        <p:tgtEl>
                                          <p:spTgt spid="3"/>
                                        </p:tgtEl>
                                        <p:attrNameLst>
                                          <p:attrName>ppt_x</p:attrName>
                                          <p:attrName>ppt_y</p:attrName>
                                        </p:attrNameLst>
                                      </p:cBhvr>
                                      <p:rCtr x="0" y="0"/>
                                    </p:animMotion>
                                  </p:childTnLst>
                                </p:cTn>
                              </p:par>
                              <p:par>
                                <p:cTn id="13" presetID="53" presetClass="entr" presetSubtype="16"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p:cTn id="10" dur="1600" fill="hold" decel="100000"/>
                                        <p:tgtEl>
                                          <p:spTgt spid="4"/>
                                        </p:tgtEl>
                                        <p:attrNameLst>
                                          <p:attrName>ppt_w</p:attrName>
                                        </p:attrNameLst>
                                      </p:cBhvr>
                                      <p:tavLst>
                                        <p:tav tm="0">
                                          <p:val>
                                            <p:strVal val="#ppt_w*0.880"/>
                                          </p:val>
                                        </p:tav>
                                        <p:tav tm="100000">
                                          <p:val>
                                            <p:strVal val="#ppt_w"/>
                                          </p:val>
                                        </p:tav>
                                      </p:tavLst>
                                    </p:anim>
                                    <p:anim calcmode="lin" valueType="num">
                                      <p:cBhvr>
                                        <p:cTn id="11" dur="1600" fill="hold" decel="100000"/>
                                        <p:tgtEl>
                                          <p:spTgt spid="4"/>
                                        </p:tgtEl>
                                        <p:attrNameLst>
                                          <p:attrName>ppt_h</p:attrName>
                                        </p:attrNameLst>
                                      </p:cBhvr>
                                      <p:tavLst>
                                        <p:tav tm="0">
                                          <p:val>
                                            <p:strVal val="#ppt_h*0.880"/>
                                          </p:val>
                                        </p:tav>
                                        <p:tav tm="100000">
                                          <p:val>
                                            <p:strVal val="#ppt_h"/>
                                          </p:val>
                                        </p:tav>
                                      </p:tavLst>
                                    </p:anim>
                                    <p:animEffect transition="in" filter="fade">
                                      <p:cBhvr>
                                        <p:cTn id="12" dur="1120" decel="100000"/>
                                        <p:tgtEl>
                                          <p:spTgt spid="4"/>
                                        </p:tgtEl>
                                      </p:cBhvr>
                                    </p:animEffect>
                                  </p:childTnLst>
                                </p:cTn>
                              </p:par>
                              <p:par>
                                <p:cTn id="18" presetID="42" presetClass="entr" presetSubtype="0" fill="hold" grpId="0" nodeType="withEffect">
                                  <p:stCondLst>
                                    <p:cond delay="70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720" decel="100000"/>
                                        <p:tgtEl>
                                          <p:spTgt spid="7"/>
                                        </p:tgtEl>
                                      </p:cBhvr>
                                    </p:animEffect>
                                    <p:anim calcmode="lin" valueType="num">
                                      <p:cBhvr>
                                        <p:cTn id="16" dur="900" fill="hold" decel="100000"/>
                                        <p:tgtEl>
                                          <p:spTgt spid="7"/>
                                        </p:tgtEl>
                                        <p:attrNameLst>
                                          <p:attrName>ppt_x</p:attrName>
                                        </p:attrNameLst>
                                      </p:cBhvr>
                                      <p:tavLst>
                                        <p:tav tm="0">
                                          <p:val>
                                            <p:strVal val="#ppt_x"/>
                                          </p:val>
                                        </p:tav>
                                        <p:tav tm="100000">
                                          <p:val>
                                            <p:strVal val="#ppt_x"/>
                                          </p:val>
                                        </p:tav>
                                      </p:tavLst>
                                    </p:anim>
                                    <p:anim calcmode="lin" valueType="num">
                                      <p:cBhvr>
                                        <p:cTn id="17" dur="900" fill="hold" decel="100000"/>
                                        <p:tgtEl>
                                          <p:spTgt spid="7"/>
                                        </p:tgtEl>
                                        <p:attrNameLst>
                                          <p:attrName>ppt_y</p:attrName>
                                        </p:attrNameLst>
                                      </p:cBhvr>
                                      <p:tavLst>
                                        <p:tav tm="0">
                                          <p:val>
                                            <p:strVal val="#ppt_y+0.0250"/>
                                          </p:val>
                                        </p:tav>
                                        <p:tav tm="100000">
                                          <p:val>
                                            <p:strVal val="#ppt_y"/>
                                          </p:val>
                                        </p:tav>
                                      </p:tavLst>
                                    </p:anim>
                                  </p:childTnLst>
                                </p:cTn>
                              </p:par>
                              <p:par>
                                <p:cTn id="21" presetID="10" presetClass="entr" presetSubtype="0" fill="hold" grpId="0" nodeType="withEffect">
                                  <p:stCondLst>
                                    <p:cond delay="90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600" decel="100000"/>
                                        <p:tgtEl>
                                          <p:spTgt spid="8"/>
                                        </p:tgtEl>
                                      </p:cBhvr>
                                    </p:animEffect>
                                  </p:childTnLst>
                                </p:cTn>
                              </p:par>
                              <p:par>
                                <p:cTn id="24" presetID="10" presetClass="entr" presetSubtype="0" fill="hold" grpId="0" nodeType="withEffect">
                                  <p:stCondLst>
                                    <p:cond delay="98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600" decel="100000"/>
                                        <p:tgtEl>
                                          <p:spTgt spid="9"/>
                                        </p:tgtEl>
                                      </p:cBhvr>
                                    </p:animEffect>
                                  </p:childTnLst>
                                </p:cTn>
                              </p:par>
                              <p:par>
                                <p:cTn id="27" presetID="10" presetClass="entr" presetSubtype="0" fill="hold" grpId="0" nodeType="withEffect">
                                  <p:stCondLst>
                                    <p:cond delay="106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600" decel="100000"/>
                                        <p:tgtEl>
                                          <p:spTgt spid="10"/>
                                        </p:tgtEl>
                                      </p:cBhvr>
                                    </p:animEffect>
                                  </p:childTnLst>
                                </p:cTn>
                              </p:par>
                              <p:par>
                                <p:cTn id="30" presetID="10" presetClass="entr" presetSubtype="0" fill="hold" grpId="0" nodeType="withEffect">
                                  <p:stCondLst>
                                    <p:cond delay="114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600" decel="100000"/>
                                        <p:tgtEl>
                                          <p:spTgt spid="11"/>
                                        </p:tgtEl>
                                      </p:cBhvr>
                                    </p:animEffect>
                                  </p:childTnLst>
                                </p:cTn>
                              </p:par>
                              <p:par>
                                <p:cTn id="33" presetID="10" presetClass="entr" presetSubtype="0" fill="hold" grpId="0" nodeType="withEffect">
                                  <p:stCondLst>
                                    <p:cond delay="122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600" decel="100000"/>
                                        <p:tgtEl>
                                          <p:spTgt spid="12"/>
                                        </p:tgtEl>
                                      </p:cBhvr>
                                    </p:animEffect>
                                  </p:childTnLst>
                                </p:cTn>
                              </p:par>
                              <p:par>
                                <p:cTn id="35" presetID="0" presetClass="path" presetSubtype="0" fill="hold" grpId="1" nodeType="withEffect" repeatCount="indefinite" autoRev="1">
                                  <p:stCondLst>
                                    <p:cond delay="1600"/>
                                  </p:stCondLst>
                                  <p:childTnLst>
                                    <p:animMotion origin="layout" path="M 0 0 L 0.0000 -0.0160 E" pathEditMode="relative" ptsTypes="">
                                      <p:cBhvr>
                                        <p:cTn id="34" dur="3800" fill="hold" accel="50000" decel="50000"/>
                                        <p:tgtEl>
                                          <p:spTgt spid="4"/>
                                        </p:tgtEl>
                                        <p:attrNameLst>
                                          <p:attrName>ppt_x</p:attrName>
                                          <p:attrName>ppt_y</p:attrName>
                                        </p:attrNameLst>
                                      </p:cBhvr>
                                      <p:rCtr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Lst>
  </p:timing>
</p:sld>
</file>

<file path=ppt/slides/slide16.xml><?xml version="1.0" encoding="utf-8"?>
<p:sld xmlns:p14="http://schemas.microsoft.com/office/powerpoint/2010/main"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orbA" descr="Decorative background light">    </p:cNvPr>
          <p:cNvPicPr>
            <a:picLocks noChangeAspect="1"/>
          </p:cNvPicPr>
          <p:nvPr/>
        </p:nvPicPr>
        <p:blipFill>
          <a:blip r:embed="rId1"/>
          <a:stretch>
            <a:fillRect/>
          </a:stretch>
        </p:blipFill>
        <p:spPr>
          <a:xfrm>
            <a:off x="-320040" y="-45720"/>
            <a:ext cx="7772400" cy="7772400"/>
          </a:xfrm>
          <a:prstGeom prst="rect">
            <a:avLst/>
          </a:prstGeom>
        </p:spPr>
      </p:pic>
      <p:pic>
        <p:nvPicPr>
          <p:cNvPr id="3" name="!!orbB" descr="Decorative background light">    </p:cNvPr>
          <p:cNvPicPr>
            <a:picLocks noChangeAspect="1"/>
          </p:cNvPicPr>
          <p:nvPr/>
        </p:nvPicPr>
        <p:blipFill>
          <a:blip r:embed="rId2"/>
          <a:stretch>
            <a:fillRect/>
          </a:stretch>
        </p:blipFill>
        <p:spPr>
          <a:xfrm>
            <a:off x="7772400" y="3566160"/>
            <a:ext cx="5486400" cy="5486400"/>
          </a:xfrm>
          <a:prstGeom prst="rect">
            <a:avLst/>
          </a:prstGeom>
        </p:spPr>
      </p:pic>
      <p:sp>
        <p:nvSpPr>
          <p:cNvPr id="4" name="!!kicker"/>
          <p:cNvSpPr/>
          <p:nvPr>
            <p:ph idx="100" type="body" hasCustomPrompt="1"/>
          </p:nvPr>
        </p:nvSpPr>
        <p:spPr>
          <a:xfrm>
            <a:off x="548640" y="384048"/>
            <a:ext cx="8732520" cy="329184"/>
          </a:xfrm>
          <a:prstGeom prst="rect">
            <a:avLst/>
          </a:prstGeom>
          <a:noFill/>
          <a:ln/>
        </p:spPr>
        <p:txBody>
          <a:bodyPr wrap="square" lIns="0" tIns="0" rIns="0" bIns="0" rtlCol="0" anchor="t"/>
          <a:lstStyle/>
          <a:p>
            <a:pPr algn="l" indent="0" marL="0">
              <a:buNone/>
            </a:pPr>
            <a:r>
              <a:rPr lang="en-US" sz="1500" b="1" spc="300" kern="0" dirty="0">
                <a:solidFill>
                  <a:schemeClr val="accent1"/>
                </a:solidFill>
              </a:rPr>
              <a:t>03 — RESERVOIR LOCATIONS</a:t>
            </a:r>
            <a:endParaRPr lang="en-US" sz="1500" dirty="0"/>
          </a:p>
        </p:txBody>
      </p:sp>
      <p:sp>
        <p:nvSpPr>
          <p:cNvPr id="5" name="!!title"/>
          <p:cNvSpPr/>
          <p:nvPr>
            <p:ph idx="101" type="title" hasCustomPrompt="1"/>
          </p:nvPr>
        </p:nvSpPr>
        <p:spPr>
          <a:xfrm>
            <a:off x="548640" y="731520"/>
            <a:ext cx="8732520" cy="786384"/>
          </a:xfrm>
          <a:prstGeom prst="rect">
            <a:avLst/>
          </a:prstGeom>
          <a:noFill/>
          <a:ln/>
        </p:spPr>
        <p:txBody>
          <a:bodyPr wrap="square" lIns="0" tIns="0" rIns="0" bIns="0" rtlCol="0" anchor="t"/>
          <a:lstStyle/>
          <a:p>
            <a:pPr algn="l" indent="0" marL="0">
              <a:buNone/>
            </a:pPr>
            <a:r>
              <a:rPr lang="en-US" sz="3800" b="1" dirty="0">
                <a:solidFill>
                  <a:schemeClr val="tx1"/>
                </a:solidFill>
              </a:rPr>
              <a:t>Kuwait’s oil and gas map</a:t>
            </a:r>
            <a:endParaRPr lang="en-US" sz="3800" dirty="0"/>
          </a:p>
        </p:txBody>
      </p:sp>
      <p:pic>
        <p:nvPicPr>
          <p:cNvPr id="6" name="!!map" descr="Map of Kuwait with its main oil and gas fields">    </p:cNvPr>
          <p:cNvPicPr>
            <a:picLocks noChangeAspect="1"/>
          </p:cNvPicPr>
          <p:nvPr/>
        </p:nvPicPr>
        <p:blipFill>
          <a:blip r:embed="rId3"/>
          <a:stretch>
            <a:fillRect/>
          </a:stretch>
        </p:blipFill>
        <p:spPr>
          <a:xfrm>
            <a:off x="914400" y="1600200"/>
            <a:ext cx="5415461" cy="4343400"/>
          </a:xfrm>
          <a:prstGeom prst="rect">
            <a:avLst/>
          </a:prstGeom>
        </p:spPr>
      </p:pic>
      <p:sp>
        <p:nvSpPr>
          <p:cNvPr id="7" name="!!f_burgan"/>
          <p:cNvSpPr/>
          <p:nvPr/>
        </p:nvSpPr>
        <p:spPr>
          <a:xfrm>
            <a:off x="3954311" y="4017373"/>
            <a:ext cx="274320" cy="274320"/>
          </a:xfrm>
          <a:prstGeom prst="ellipse">
            <a:avLst/>
          </a:prstGeom>
          <a:solidFill>
            <a:srgbClr val="FF9F0A"/>
          </a:solidFill>
          <a:ln/>
          <a:effectLst>
            <a:outerShdw sx="100000" sy="100000" kx="0" ky="0" algn="bl" rotWithShape="0" blurRad="228600" dist="50800" dir="5400000">
              <a:srgbClr val="FF9F0A">
                <a:alpha val="90000"/>
              </a:srgbClr>
            </a:outerShdw>
          </a:effectLst>
        </p:spPr>
      </p:sp>
      <p:sp>
        <p:nvSpPr>
          <p:cNvPr id="8" name="!!fl_burgan"/>
          <p:cNvSpPr txBox="1"/>
          <p:nvPr/>
        </p:nvSpPr>
        <p:spPr>
          <a:xfrm>
            <a:off x="4000031" y="4328269"/>
            <a:ext cx="1737360" cy="274320"/>
          </a:xfrm>
          <a:prstGeom prst="rect">
            <a:avLst/>
          </a:prstGeom>
          <a:noFill/>
          <a:ln/>
        </p:spPr>
        <p:txBody>
          <a:bodyPr wrap="square" lIns="0" tIns="0" rIns="0" bIns="0" rtlCol="0" anchor="t"/>
          <a:lstStyle/>
          <a:p>
            <a:pPr algn="l" indent="0" marL="0">
              <a:buNone/>
            </a:pPr>
            <a:r>
              <a:rPr lang="en-US" sz="1300" b="1" dirty="0">
                <a:solidFill>
                  <a:schemeClr val="tx1"/>
                </a:solidFill>
                <a:effectLst>
                  <a:glow rad="76200">
                    <a:srgbClr val="141416">
                      <a:alpha val="85000"/>
                    </a:srgbClr>
                  </a:glow>
                </a:effectLst>
                <a:latin typeface="Arial" pitchFamily="34" charset="0"/>
                <a:ea typeface="Arial" pitchFamily="34" charset="-122"/>
                <a:cs typeface="Arial" pitchFamily="34" charset="-120"/>
              </a:rPr>
              <a:t>Greater Burgan</a:t>
            </a:r>
            <a:endParaRPr lang="en-US" sz="1300" dirty="0"/>
          </a:p>
        </p:txBody>
      </p:sp>
      <p:sp>
        <p:nvSpPr>
          <p:cNvPr id="9" name="!!f_raudhatain"/>
          <p:cNvSpPr/>
          <p:nvPr/>
        </p:nvSpPr>
        <p:spPr>
          <a:xfrm>
            <a:off x="3580644" y="2217964"/>
            <a:ext cx="274320" cy="274320"/>
          </a:xfrm>
          <a:prstGeom prst="ellipse">
            <a:avLst/>
          </a:prstGeom>
          <a:solidFill>
            <a:srgbClr val="FF9F0A"/>
          </a:solidFill>
          <a:ln/>
          <a:effectLst>
            <a:outerShdw sx="100000" sy="100000" kx="0" ky="0" algn="bl" rotWithShape="0" blurRad="228600" dist="50800" dir="5400000">
              <a:srgbClr val="FF9F0A">
                <a:alpha val="90000"/>
              </a:srgbClr>
            </a:outerShdw>
          </a:effectLst>
        </p:spPr>
      </p:sp>
      <p:sp>
        <p:nvSpPr>
          <p:cNvPr id="10" name="!!fl_raudhatain"/>
          <p:cNvSpPr txBox="1"/>
          <p:nvPr/>
        </p:nvSpPr>
        <p:spPr>
          <a:xfrm>
            <a:off x="1706124" y="1897924"/>
            <a:ext cx="1737360" cy="274320"/>
          </a:xfrm>
          <a:prstGeom prst="rect">
            <a:avLst/>
          </a:prstGeom>
          <a:noFill/>
          <a:ln/>
        </p:spPr>
        <p:txBody>
          <a:bodyPr wrap="square" lIns="0" tIns="0" rIns="0" bIns="0" rtlCol="0" anchor="t"/>
          <a:lstStyle/>
          <a:p>
            <a:pPr algn="r" indent="0" marL="0">
              <a:buNone/>
            </a:pPr>
            <a:r>
              <a:rPr lang="en-US" sz="1300" b="1" dirty="0">
                <a:solidFill>
                  <a:schemeClr val="tx1"/>
                </a:solidFill>
                <a:effectLst>
                  <a:glow rad="76200">
                    <a:srgbClr val="141416">
                      <a:alpha val="85000"/>
                    </a:srgbClr>
                  </a:glow>
                </a:effectLst>
                <a:latin typeface="Arial" pitchFamily="34" charset="0"/>
                <a:ea typeface="Arial" pitchFamily="34" charset="-122"/>
                <a:cs typeface="Arial" pitchFamily="34" charset="-120"/>
              </a:rPr>
              <a:t>Raudhatain</a:t>
            </a:r>
            <a:endParaRPr lang="en-US" sz="1300" dirty="0"/>
          </a:p>
        </p:txBody>
      </p:sp>
      <p:sp>
        <p:nvSpPr>
          <p:cNvPr id="11" name="!!fk_raudhatain"/>
          <p:cNvSpPr/>
          <p:nvPr/>
        </p:nvSpPr>
        <p:spPr>
          <a:xfrm>
            <a:off x="3443484" y="2080804"/>
            <a:ext cx="164592" cy="155448"/>
          </a:xfrm>
          <a:prstGeom prst="line">
            <a:avLst/>
          </a:prstGeom>
          <a:noFill/>
          <a:ln w="12700">
            <a:solidFill>
              <a:srgbClr val="A1A1A6"/>
            </a:solidFill>
            <a:prstDash val="solid"/>
          </a:ln>
        </p:spPr>
      </p:sp>
      <p:sp>
        <p:nvSpPr>
          <p:cNvPr id="12" name="!!f_sabriya"/>
          <p:cNvSpPr/>
          <p:nvPr/>
        </p:nvSpPr>
        <p:spPr>
          <a:xfrm>
            <a:off x="3846593" y="2393986"/>
            <a:ext cx="182880" cy="182880"/>
          </a:xfrm>
          <a:prstGeom prst="ellipse">
            <a:avLst/>
          </a:prstGeom>
          <a:solidFill>
            <a:srgbClr val="FF9F0A"/>
          </a:solidFill>
          <a:ln/>
          <a:effectLst>
            <a:outerShdw sx="100000" sy="100000" kx="0" ky="0" algn="bl" rotWithShape="0" blurRad="127000" dist="50800" dir="5400000">
              <a:srgbClr val="FF9F0A">
                <a:alpha val="90000"/>
              </a:srgbClr>
            </a:outerShdw>
          </a:effectLst>
        </p:spPr>
      </p:sp>
      <p:sp>
        <p:nvSpPr>
          <p:cNvPr id="13" name="!!fl_sabriya"/>
          <p:cNvSpPr txBox="1"/>
          <p:nvPr/>
        </p:nvSpPr>
        <p:spPr>
          <a:xfrm>
            <a:off x="4093481" y="2366554"/>
            <a:ext cx="1737360" cy="274320"/>
          </a:xfrm>
          <a:prstGeom prst="rect">
            <a:avLst/>
          </a:prstGeom>
          <a:noFill/>
          <a:ln/>
        </p:spPr>
        <p:txBody>
          <a:bodyPr wrap="square" lIns="0" tIns="0" rIns="0" bIns="0" rtlCol="0" anchor="t"/>
          <a:lstStyle/>
          <a:p>
            <a:pPr algn="l" indent="0" marL="0">
              <a:buNone/>
            </a:pPr>
            <a:r>
              <a:rPr lang="en-US" sz="1300" b="1" dirty="0">
                <a:solidFill>
                  <a:schemeClr val="tx1"/>
                </a:solidFill>
                <a:effectLst>
                  <a:glow rad="76200">
                    <a:srgbClr val="141416">
                      <a:alpha val="85000"/>
                    </a:srgbClr>
                  </a:glow>
                </a:effectLst>
                <a:latin typeface="Arial" pitchFamily="34" charset="0"/>
                <a:ea typeface="Arial" pitchFamily="34" charset="-122"/>
                <a:cs typeface="Arial" pitchFamily="34" charset="-120"/>
              </a:rPr>
              <a:t>Sabriya</a:t>
            </a:r>
            <a:endParaRPr lang="en-US" sz="1300" dirty="0"/>
          </a:p>
        </p:txBody>
      </p:sp>
      <p:sp>
        <p:nvSpPr>
          <p:cNvPr id="14" name="!!f_bahra"/>
          <p:cNvSpPr/>
          <p:nvPr/>
        </p:nvSpPr>
        <p:spPr>
          <a:xfrm>
            <a:off x="3958512" y="2776619"/>
            <a:ext cx="182880" cy="182880"/>
          </a:xfrm>
          <a:prstGeom prst="ellipse">
            <a:avLst/>
          </a:prstGeom>
          <a:solidFill>
            <a:srgbClr val="FF9F0A"/>
          </a:solidFill>
          <a:ln/>
          <a:effectLst>
            <a:outerShdw sx="100000" sy="100000" kx="0" ky="0" algn="bl" rotWithShape="0" blurRad="127000" dist="50800" dir="5400000">
              <a:srgbClr val="FF9F0A">
                <a:alpha val="90000"/>
              </a:srgbClr>
            </a:outerShdw>
          </a:effectLst>
        </p:spPr>
      </p:sp>
      <p:sp>
        <p:nvSpPr>
          <p:cNvPr id="15" name="!!fl_bahra"/>
          <p:cNvSpPr txBox="1"/>
          <p:nvPr/>
        </p:nvSpPr>
        <p:spPr>
          <a:xfrm>
            <a:off x="4205400" y="2749187"/>
            <a:ext cx="1737360" cy="274320"/>
          </a:xfrm>
          <a:prstGeom prst="rect">
            <a:avLst/>
          </a:prstGeom>
          <a:noFill/>
          <a:ln/>
        </p:spPr>
        <p:txBody>
          <a:bodyPr wrap="square" lIns="0" tIns="0" rIns="0" bIns="0" rtlCol="0" anchor="t"/>
          <a:lstStyle/>
          <a:p>
            <a:pPr algn="l" indent="0" marL="0">
              <a:buNone/>
            </a:pPr>
            <a:r>
              <a:rPr lang="en-US" sz="1300" b="1" dirty="0">
                <a:solidFill>
                  <a:schemeClr val="tx1"/>
                </a:solidFill>
                <a:effectLst>
                  <a:glow rad="76200">
                    <a:srgbClr val="141416">
                      <a:alpha val="85000"/>
                    </a:srgbClr>
                  </a:glow>
                </a:effectLst>
                <a:latin typeface="Arial" pitchFamily="34" charset="0"/>
                <a:ea typeface="Arial" pitchFamily="34" charset="-122"/>
                <a:cs typeface="Arial" pitchFamily="34" charset="-120"/>
              </a:rPr>
              <a:t>Bahra</a:t>
            </a:r>
            <a:endParaRPr lang="en-US" sz="1300" dirty="0"/>
          </a:p>
        </p:txBody>
      </p:sp>
      <p:sp>
        <p:nvSpPr>
          <p:cNvPr id="16" name="!!f_ratqa"/>
          <p:cNvSpPr/>
          <p:nvPr/>
        </p:nvSpPr>
        <p:spPr>
          <a:xfrm>
            <a:off x="3050520" y="2271957"/>
            <a:ext cx="182880" cy="182880"/>
          </a:xfrm>
          <a:prstGeom prst="ellipse">
            <a:avLst/>
          </a:prstGeom>
          <a:solidFill>
            <a:srgbClr val="FF9F0A"/>
          </a:solidFill>
          <a:ln/>
          <a:effectLst>
            <a:outerShdw sx="100000" sy="100000" kx="0" ky="0" algn="bl" rotWithShape="0" blurRad="127000" dist="50800" dir="5400000">
              <a:srgbClr val="FF9F0A">
                <a:alpha val="90000"/>
              </a:srgbClr>
            </a:outerShdw>
          </a:effectLst>
        </p:spPr>
      </p:sp>
      <p:sp>
        <p:nvSpPr>
          <p:cNvPr id="17" name="!!fl_ratqa"/>
          <p:cNvSpPr txBox="1"/>
          <p:nvPr/>
        </p:nvSpPr>
        <p:spPr>
          <a:xfrm>
            <a:off x="1240008" y="2226237"/>
            <a:ext cx="1737360" cy="274320"/>
          </a:xfrm>
          <a:prstGeom prst="rect">
            <a:avLst/>
          </a:prstGeom>
          <a:noFill/>
          <a:ln/>
        </p:spPr>
        <p:txBody>
          <a:bodyPr wrap="square" lIns="0" tIns="0" rIns="0" bIns="0" rtlCol="0" anchor="t"/>
          <a:lstStyle/>
          <a:p>
            <a:pPr algn="r" indent="0" marL="0">
              <a:buNone/>
            </a:pPr>
            <a:r>
              <a:rPr lang="en-US" sz="1300" b="1" dirty="0">
                <a:solidFill>
                  <a:schemeClr val="tx1"/>
                </a:solidFill>
                <a:effectLst>
                  <a:glow rad="76200">
                    <a:srgbClr val="141416">
                      <a:alpha val="85000"/>
                    </a:srgbClr>
                  </a:glow>
                </a:effectLst>
                <a:latin typeface="Arial" pitchFamily="34" charset="0"/>
                <a:ea typeface="Arial" pitchFamily="34" charset="-122"/>
                <a:cs typeface="Arial" pitchFamily="34" charset="-120"/>
              </a:rPr>
              <a:t>Ratqa (heavy oil)</a:t>
            </a:r>
            <a:endParaRPr lang="en-US" sz="1300" dirty="0"/>
          </a:p>
        </p:txBody>
      </p:sp>
      <p:sp>
        <p:nvSpPr>
          <p:cNvPr id="18" name="!!f_abdali"/>
          <p:cNvSpPr/>
          <p:nvPr/>
        </p:nvSpPr>
        <p:spPr>
          <a:xfrm>
            <a:off x="3707596" y="1949305"/>
            <a:ext cx="182880" cy="182880"/>
          </a:xfrm>
          <a:prstGeom prst="ellipse">
            <a:avLst/>
          </a:prstGeom>
          <a:solidFill>
            <a:srgbClr val="FF9F0A"/>
          </a:solidFill>
          <a:ln/>
          <a:effectLst>
            <a:outerShdw sx="100000" sy="100000" kx="0" ky="0" algn="bl" rotWithShape="0" blurRad="127000" dist="50800" dir="5400000">
              <a:srgbClr val="FF9F0A">
                <a:alpha val="90000"/>
              </a:srgbClr>
            </a:outerShdw>
          </a:effectLst>
        </p:spPr>
      </p:sp>
      <p:sp>
        <p:nvSpPr>
          <p:cNvPr id="19" name="!!fl_abdali"/>
          <p:cNvSpPr txBox="1"/>
          <p:nvPr/>
        </p:nvSpPr>
        <p:spPr>
          <a:xfrm>
            <a:off x="3945340" y="1885297"/>
            <a:ext cx="1737360" cy="274320"/>
          </a:xfrm>
          <a:prstGeom prst="rect">
            <a:avLst/>
          </a:prstGeom>
          <a:noFill/>
          <a:ln/>
        </p:spPr>
        <p:txBody>
          <a:bodyPr wrap="square" lIns="0" tIns="0" rIns="0" bIns="0" rtlCol="0" anchor="t"/>
          <a:lstStyle/>
          <a:p>
            <a:pPr algn="l" indent="0" marL="0">
              <a:buNone/>
            </a:pPr>
            <a:r>
              <a:rPr lang="en-US" sz="1300" b="1" dirty="0">
                <a:solidFill>
                  <a:schemeClr val="tx1"/>
                </a:solidFill>
                <a:effectLst>
                  <a:glow rad="76200">
                    <a:srgbClr val="141416">
                      <a:alpha val="85000"/>
                    </a:srgbClr>
                  </a:glow>
                </a:effectLst>
                <a:latin typeface="Arial" pitchFamily="34" charset="0"/>
                <a:ea typeface="Arial" pitchFamily="34" charset="-122"/>
                <a:cs typeface="Arial" pitchFamily="34" charset="-120"/>
              </a:rPr>
              <a:t>Abdali</a:t>
            </a:r>
            <a:endParaRPr lang="en-US" sz="1300" dirty="0"/>
          </a:p>
        </p:txBody>
      </p:sp>
      <p:sp>
        <p:nvSpPr>
          <p:cNvPr id="20" name="!!f_minagish"/>
          <p:cNvSpPr/>
          <p:nvPr/>
        </p:nvSpPr>
        <p:spPr>
          <a:xfrm>
            <a:off x="3179900" y="4013236"/>
            <a:ext cx="274320" cy="274320"/>
          </a:xfrm>
          <a:prstGeom prst="ellipse">
            <a:avLst/>
          </a:prstGeom>
          <a:solidFill>
            <a:srgbClr val="FF9F0A"/>
          </a:solidFill>
          <a:ln/>
          <a:effectLst>
            <a:outerShdw sx="100000" sy="100000" kx="0" ky="0" algn="bl" rotWithShape="0" blurRad="228600" dist="50800" dir="5400000">
              <a:srgbClr val="FF9F0A">
                <a:alpha val="90000"/>
              </a:srgbClr>
            </a:outerShdw>
          </a:effectLst>
        </p:spPr>
      </p:sp>
      <p:sp>
        <p:nvSpPr>
          <p:cNvPr id="21" name="!!fl_minagish"/>
          <p:cNvSpPr txBox="1"/>
          <p:nvPr/>
        </p:nvSpPr>
        <p:spPr>
          <a:xfrm>
            <a:off x="1415108" y="3876076"/>
            <a:ext cx="1737360" cy="274320"/>
          </a:xfrm>
          <a:prstGeom prst="rect">
            <a:avLst/>
          </a:prstGeom>
          <a:noFill/>
          <a:ln/>
        </p:spPr>
        <p:txBody>
          <a:bodyPr wrap="square" lIns="0" tIns="0" rIns="0" bIns="0" rtlCol="0" anchor="t"/>
          <a:lstStyle/>
          <a:p>
            <a:pPr algn="r" indent="0" marL="0">
              <a:buNone/>
            </a:pPr>
            <a:r>
              <a:rPr lang="en-US" sz="1300" b="1" dirty="0">
                <a:solidFill>
                  <a:schemeClr val="tx1"/>
                </a:solidFill>
                <a:effectLst>
                  <a:glow rad="76200">
                    <a:srgbClr val="141416">
                      <a:alpha val="85000"/>
                    </a:srgbClr>
                  </a:glow>
                </a:effectLst>
                <a:latin typeface="Arial" pitchFamily="34" charset="0"/>
                <a:ea typeface="Arial" pitchFamily="34" charset="-122"/>
                <a:cs typeface="Arial" pitchFamily="34" charset="-120"/>
              </a:rPr>
              <a:t>Minagish</a:t>
            </a:r>
            <a:endParaRPr lang="en-US" sz="1300" dirty="0"/>
          </a:p>
        </p:txBody>
      </p:sp>
      <p:sp>
        <p:nvSpPr>
          <p:cNvPr id="22" name="!!f_ummgudair"/>
          <p:cNvSpPr/>
          <p:nvPr/>
        </p:nvSpPr>
        <p:spPr>
          <a:xfrm>
            <a:off x="3514444" y="4371267"/>
            <a:ext cx="182880" cy="182880"/>
          </a:xfrm>
          <a:prstGeom prst="ellipse">
            <a:avLst/>
          </a:prstGeom>
          <a:solidFill>
            <a:srgbClr val="FF9F0A"/>
          </a:solidFill>
          <a:ln/>
          <a:effectLst>
            <a:outerShdw sx="100000" sy="100000" kx="0" ky="0" algn="bl" rotWithShape="0" blurRad="127000" dist="50800" dir="5400000">
              <a:srgbClr val="FF9F0A">
                <a:alpha val="90000"/>
              </a:srgbClr>
            </a:outerShdw>
          </a:effectLst>
        </p:spPr>
      </p:sp>
      <p:sp>
        <p:nvSpPr>
          <p:cNvPr id="23" name="!!fl_ummgudair"/>
          <p:cNvSpPr txBox="1"/>
          <p:nvPr/>
        </p:nvSpPr>
        <p:spPr>
          <a:xfrm>
            <a:off x="1703932" y="4371267"/>
            <a:ext cx="1737360" cy="274320"/>
          </a:xfrm>
          <a:prstGeom prst="rect">
            <a:avLst/>
          </a:prstGeom>
          <a:noFill/>
          <a:ln/>
        </p:spPr>
        <p:txBody>
          <a:bodyPr wrap="square" lIns="0" tIns="0" rIns="0" bIns="0" rtlCol="0" anchor="t"/>
          <a:lstStyle/>
          <a:p>
            <a:pPr algn="r" indent="0" marL="0">
              <a:buNone/>
            </a:pPr>
            <a:r>
              <a:rPr lang="en-US" sz="1300" b="1" dirty="0">
                <a:solidFill>
                  <a:schemeClr val="tx1"/>
                </a:solidFill>
                <a:effectLst>
                  <a:glow rad="76200">
                    <a:srgbClr val="141416">
                      <a:alpha val="85000"/>
                    </a:srgbClr>
                  </a:glow>
                </a:effectLst>
                <a:latin typeface="Arial" pitchFamily="34" charset="0"/>
                <a:ea typeface="Arial" pitchFamily="34" charset="-122"/>
                <a:cs typeface="Arial" pitchFamily="34" charset="-120"/>
              </a:rPr>
              <a:t>Umm Gudair</a:t>
            </a:r>
            <a:endParaRPr lang="en-US" sz="1300" dirty="0"/>
          </a:p>
        </p:txBody>
      </p:sp>
      <p:sp>
        <p:nvSpPr>
          <p:cNvPr id="24" name="!!f_abduliyah"/>
          <p:cNvSpPr/>
          <p:nvPr/>
        </p:nvSpPr>
        <p:spPr>
          <a:xfrm>
            <a:off x="3487367" y="3920381"/>
            <a:ext cx="182880" cy="182880"/>
          </a:xfrm>
          <a:prstGeom prst="ellipse">
            <a:avLst/>
          </a:prstGeom>
          <a:solidFill>
            <a:srgbClr val="FF9F0A"/>
          </a:solidFill>
          <a:ln/>
          <a:effectLst>
            <a:outerShdw sx="100000" sy="100000" kx="0" ky="0" algn="bl" rotWithShape="0" blurRad="127000" dist="50800" dir="5400000">
              <a:srgbClr val="FF9F0A">
                <a:alpha val="90000"/>
              </a:srgbClr>
            </a:outerShdw>
          </a:effectLst>
        </p:spPr>
      </p:sp>
      <p:sp>
        <p:nvSpPr>
          <p:cNvPr id="25" name="!!f_dharif"/>
          <p:cNvSpPr/>
          <p:nvPr/>
        </p:nvSpPr>
        <p:spPr>
          <a:xfrm>
            <a:off x="3640805" y="3665982"/>
            <a:ext cx="182880" cy="182880"/>
          </a:xfrm>
          <a:prstGeom prst="ellipse">
            <a:avLst/>
          </a:prstGeom>
          <a:solidFill>
            <a:srgbClr val="FF9F0A"/>
          </a:solidFill>
          <a:ln/>
          <a:effectLst>
            <a:outerShdw sx="100000" sy="100000" kx="0" ky="0" algn="bl" rotWithShape="0" blurRad="127000" dist="50800" dir="5400000">
              <a:srgbClr val="FF9F0A">
                <a:alpha val="90000"/>
              </a:srgbClr>
            </a:outerShdw>
          </a:effectLst>
        </p:spPr>
      </p:sp>
      <p:sp>
        <p:nvSpPr>
          <p:cNvPr id="26" name="!!f_kramaru"/>
          <p:cNvSpPr/>
          <p:nvPr/>
        </p:nvSpPr>
        <p:spPr>
          <a:xfrm>
            <a:off x="2851953" y="3312305"/>
            <a:ext cx="182880" cy="182880"/>
          </a:xfrm>
          <a:prstGeom prst="ellipse">
            <a:avLst/>
          </a:prstGeom>
          <a:solidFill>
            <a:srgbClr val="FF9F0A"/>
          </a:solidFill>
          <a:ln/>
          <a:effectLst>
            <a:outerShdw sx="100000" sy="100000" kx="0" ky="0" algn="bl" rotWithShape="0" blurRad="127000" dist="50800" dir="5400000">
              <a:srgbClr val="FF9F0A">
                <a:alpha val="90000"/>
              </a:srgbClr>
            </a:outerShdw>
          </a:effectLst>
        </p:spPr>
      </p:sp>
      <p:sp>
        <p:nvSpPr>
          <p:cNvPr id="27" name="!!fl_kramaru"/>
          <p:cNvSpPr txBox="1"/>
          <p:nvPr/>
        </p:nvSpPr>
        <p:spPr>
          <a:xfrm>
            <a:off x="1041441" y="3266585"/>
            <a:ext cx="1737360" cy="274320"/>
          </a:xfrm>
          <a:prstGeom prst="rect">
            <a:avLst/>
          </a:prstGeom>
          <a:noFill/>
          <a:ln/>
        </p:spPr>
        <p:txBody>
          <a:bodyPr wrap="square" lIns="0" tIns="0" rIns="0" bIns="0" rtlCol="0" anchor="t"/>
          <a:lstStyle/>
          <a:p>
            <a:pPr algn="r" indent="0" marL="0">
              <a:buNone/>
            </a:pPr>
            <a:r>
              <a:rPr lang="en-US" sz="1300" b="1" dirty="0">
                <a:solidFill>
                  <a:schemeClr val="tx1"/>
                </a:solidFill>
                <a:effectLst>
                  <a:glow rad="76200">
                    <a:srgbClr val="141416">
                      <a:alpha val="85000"/>
                    </a:srgbClr>
                  </a:glow>
                </a:effectLst>
                <a:latin typeface="Arial" pitchFamily="34" charset="0"/>
                <a:ea typeface="Arial" pitchFamily="34" charset="-122"/>
                <a:cs typeface="Arial" pitchFamily="34" charset="-120"/>
              </a:rPr>
              <a:t>Kra Al-Maru</a:t>
            </a:r>
            <a:endParaRPr lang="en-US" sz="1300" dirty="0"/>
          </a:p>
        </p:txBody>
      </p:sp>
      <p:sp>
        <p:nvSpPr>
          <p:cNvPr id="28" name="!!f_wafra"/>
          <p:cNvSpPr/>
          <p:nvPr/>
        </p:nvSpPr>
        <p:spPr>
          <a:xfrm>
            <a:off x="3871865" y="4944183"/>
            <a:ext cx="182880" cy="182880"/>
          </a:xfrm>
          <a:prstGeom prst="ellipse">
            <a:avLst/>
          </a:prstGeom>
          <a:solidFill>
            <a:srgbClr val="FF9F0A"/>
          </a:solidFill>
          <a:ln/>
          <a:effectLst>
            <a:outerShdw sx="100000" sy="100000" kx="0" ky="0" algn="bl" rotWithShape="0" blurRad="127000" dist="50800" dir="5400000">
              <a:srgbClr val="FF9F0A">
                <a:alpha val="90000"/>
              </a:srgbClr>
            </a:outerShdw>
          </a:effectLst>
        </p:spPr>
      </p:sp>
      <p:sp>
        <p:nvSpPr>
          <p:cNvPr id="29" name="!!fl_wafra"/>
          <p:cNvSpPr txBox="1"/>
          <p:nvPr/>
        </p:nvSpPr>
        <p:spPr>
          <a:xfrm>
            <a:off x="4118753" y="4916751"/>
            <a:ext cx="1737360" cy="274320"/>
          </a:xfrm>
          <a:prstGeom prst="rect">
            <a:avLst/>
          </a:prstGeom>
          <a:noFill/>
          <a:ln/>
        </p:spPr>
        <p:txBody>
          <a:bodyPr wrap="square" lIns="0" tIns="0" rIns="0" bIns="0" rtlCol="0" anchor="t"/>
          <a:lstStyle/>
          <a:p>
            <a:pPr algn="l" indent="0" marL="0">
              <a:buNone/>
            </a:pPr>
            <a:r>
              <a:rPr lang="en-US" sz="1300" b="1" dirty="0">
                <a:solidFill>
                  <a:schemeClr val="tx1"/>
                </a:solidFill>
                <a:effectLst>
                  <a:glow rad="76200">
                    <a:srgbClr val="141416">
                      <a:alpha val="85000"/>
                    </a:srgbClr>
                  </a:glow>
                </a:effectLst>
                <a:latin typeface="Arial" pitchFamily="34" charset="0"/>
                <a:ea typeface="Arial" pitchFamily="34" charset="-122"/>
                <a:cs typeface="Arial" pitchFamily="34" charset="-120"/>
              </a:rPr>
              <a:t>Wafra</a:t>
            </a:r>
            <a:endParaRPr lang="en-US" sz="1300" dirty="0"/>
          </a:p>
        </p:txBody>
      </p:sp>
      <p:sp>
        <p:nvSpPr>
          <p:cNvPr id="30" name="!!f_khafji"/>
          <p:cNvSpPr/>
          <p:nvPr/>
        </p:nvSpPr>
        <p:spPr>
          <a:xfrm>
            <a:off x="5681843" y="5014287"/>
            <a:ext cx="274320" cy="274320"/>
          </a:xfrm>
          <a:prstGeom prst="ellipse">
            <a:avLst/>
          </a:prstGeom>
          <a:solidFill>
            <a:srgbClr val="FF9F0A"/>
          </a:solidFill>
          <a:ln/>
          <a:effectLst>
            <a:outerShdw sx="100000" sy="100000" kx="0" ky="0" algn="bl" rotWithShape="0" blurRad="228600" dist="50800" dir="5400000">
              <a:srgbClr val="FF9F0A">
                <a:alpha val="90000"/>
              </a:srgbClr>
            </a:outerShdw>
          </a:effectLst>
        </p:spPr>
      </p:sp>
      <p:sp>
        <p:nvSpPr>
          <p:cNvPr id="31" name="!!fl_khafji"/>
          <p:cNvSpPr txBox="1"/>
          <p:nvPr/>
        </p:nvSpPr>
        <p:spPr>
          <a:xfrm>
            <a:off x="6001883" y="5032575"/>
            <a:ext cx="1737360" cy="274320"/>
          </a:xfrm>
          <a:prstGeom prst="rect">
            <a:avLst/>
          </a:prstGeom>
          <a:noFill/>
          <a:ln/>
        </p:spPr>
        <p:txBody>
          <a:bodyPr wrap="square" lIns="0" tIns="0" rIns="0" bIns="0" rtlCol="0" anchor="t"/>
          <a:lstStyle/>
          <a:p>
            <a:pPr algn="l" indent="0" marL="0">
              <a:buNone/>
            </a:pPr>
            <a:r>
              <a:rPr lang="en-US" sz="1300" b="1" dirty="0">
                <a:solidFill>
                  <a:schemeClr val="tx1"/>
                </a:solidFill>
                <a:effectLst>
                  <a:glow rad="76200">
                    <a:srgbClr val="141416">
                      <a:alpha val="85000"/>
                    </a:srgbClr>
                  </a:glow>
                </a:effectLst>
                <a:latin typeface="Arial" pitchFamily="34" charset="0"/>
                <a:ea typeface="Arial" pitchFamily="34" charset="-122"/>
                <a:cs typeface="Arial" pitchFamily="34" charset="-120"/>
              </a:rPr>
              <a:t>Khafji</a:t>
            </a:r>
            <a:endParaRPr lang="en-US" sz="1300" dirty="0"/>
          </a:p>
        </p:txBody>
      </p:sp>
      <p:sp>
        <p:nvSpPr>
          <p:cNvPr id="32" name="!!f_hout"/>
          <p:cNvSpPr/>
          <p:nvPr/>
        </p:nvSpPr>
        <p:spPr>
          <a:xfrm>
            <a:off x="5727563" y="4439521"/>
            <a:ext cx="182880" cy="182880"/>
          </a:xfrm>
          <a:prstGeom prst="ellipse">
            <a:avLst/>
          </a:prstGeom>
          <a:solidFill>
            <a:srgbClr val="FF9F0A"/>
          </a:solidFill>
          <a:ln/>
          <a:effectLst>
            <a:outerShdw sx="100000" sy="100000" kx="0" ky="0" algn="bl" rotWithShape="0" blurRad="127000" dist="50800" dir="5400000">
              <a:srgbClr val="FF9F0A">
                <a:alpha val="90000"/>
              </a:srgbClr>
            </a:outerShdw>
          </a:effectLst>
        </p:spPr>
      </p:sp>
      <p:sp>
        <p:nvSpPr>
          <p:cNvPr id="33" name="!!f_dorra"/>
          <p:cNvSpPr/>
          <p:nvPr/>
        </p:nvSpPr>
        <p:spPr>
          <a:xfrm>
            <a:off x="6042874" y="4151811"/>
            <a:ext cx="274320" cy="274320"/>
          </a:xfrm>
          <a:prstGeom prst="ellipse">
            <a:avLst/>
          </a:prstGeom>
          <a:solidFill>
            <a:srgbClr val="64D2FF"/>
          </a:solidFill>
          <a:ln/>
          <a:effectLst>
            <a:outerShdw sx="100000" sy="100000" kx="0" ky="0" algn="bl" rotWithShape="0" blurRad="228600" dist="50800" dir="5400000">
              <a:srgbClr val="64D2FF">
                <a:alpha val="90000"/>
              </a:srgbClr>
            </a:outerShdw>
          </a:effectLst>
        </p:spPr>
      </p:sp>
      <p:sp>
        <p:nvSpPr>
          <p:cNvPr id="34" name="!!fl_dorra"/>
          <p:cNvSpPr txBox="1"/>
          <p:nvPr/>
        </p:nvSpPr>
        <p:spPr>
          <a:xfrm>
            <a:off x="6362914" y="4170099"/>
            <a:ext cx="1737360" cy="274320"/>
          </a:xfrm>
          <a:prstGeom prst="rect">
            <a:avLst/>
          </a:prstGeom>
          <a:noFill/>
          <a:ln/>
        </p:spPr>
        <p:txBody>
          <a:bodyPr wrap="square" lIns="0" tIns="0" rIns="0" bIns="0" rtlCol="0" anchor="t"/>
          <a:lstStyle/>
          <a:p>
            <a:pPr algn="l" indent="0" marL="0">
              <a:buNone/>
            </a:pPr>
            <a:r>
              <a:rPr lang="en-US" sz="1300" b="1" dirty="0">
                <a:solidFill>
                  <a:schemeClr val="tx1"/>
                </a:solidFill>
                <a:effectLst>
                  <a:glow rad="76200">
                    <a:srgbClr val="141416">
                      <a:alpha val="85000"/>
                    </a:srgbClr>
                  </a:glow>
                </a:effectLst>
                <a:latin typeface="Arial" pitchFamily="34" charset="0"/>
                <a:ea typeface="Arial" pitchFamily="34" charset="-122"/>
                <a:cs typeface="Arial" pitchFamily="34" charset="-120"/>
              </a:rPr>
              <a:t>Dorra (gas)</a:t>
            </a:r>
            <a:endParaRPr lang="en-US" sz="1300" dirty="0"/>
          </a:p>
        </p:txBody>
      </p:sp>
      <p:sp>
        <p:nvSpPr>
          <p:cNvPr id="35" name="!!f_nokhatha"/>
          <p:cNvSpPr/>
          <p:nvPr/>
        </p:nvSpPr>
        <p:spPr>
          <a:xfrm>
            <a:off x="5341260" y="3233710"/>
            <a:ext cx="182880" cy="182880"/>
          </a:xfrm>
          <a:prstGeom prst="ellipse">
            <a:avLst/>
          </a:prstGeom>
          <a:solidFill>
            <a:srgbClr val="FF9F0A"/>
          </a:solidFill>
          <a:ln/>
          <a:effectLst>
            <a:outerShdw sx="100000" sy="100000" kx="0" ky="0" algn="bl" rotWithShape="0" blurRad="127000" dist="50800" dir="5400000">
              <a:srgbClr val="FF9F0A">
                <a:alpha val="90000"/>
              </a:srgbClr>
            </a:outerShdw>
          </a:effectLst>
        </p:spPr>
      </p:sp>
      <p:sp>
        <p:nvSpPr>
          <p:cNvPr id="36" name="!!fl_nokhatha"/>
          <p:cNvSpPr txBox="1"/>
          <p:nvPr/>
        </p:nvSpPr>
        <p:spPr>
          <a:xfrm>
            <a:off x="5588148" y="3206278"/>
            <a:ext cx="1737360" cy="274320"/>
          </a:xfrm>
          <a:prstGeom prst="rect">
            <a:avLst/>
          </a:prstGeom>
          <a:noFill/>
          <a:ln/>
        </p:spPr>
        <p:txBody>
          <a:bodyPr wrap="square" lIns="0" tIns="0" rIns="0" bIns="0" rtlCol="0" anchor="t"/>
          <a:lstStyle/>
          <a:p>
            <a:pPr algn="l" indent="0" marL="0">
              <a:buNone/>
            </a:pPr>
            <a:r>
              <a:rPr lang="en-US" sz="1300" b="1" dirty="0">
                <a:solidFill>
                  <a:schemeClr val="tx1"/>
                </a:solidFill>
                <a:effectLst>
                  <a:glow rad="76200">
                    <a:srgbClr val="141416">
                      <a:alpha val="85000"/>
                    </a:srgbClr>
                  </a:glow>
                </a:effectLst>
                <a:latin typeface="Arial" pitchFamily="34" charset="0"/>
                <a:ea typeface="Arial" pitchFamily="34" charset="-122"/>
                <a:cs typeface="Arial" pitchFamily="34" charset="-120"/>
              </a:rPr>
              <a:t>Al-Nokhatha (2024)</a:t>
            </a:r>
            <a:endParaRPr lang="en-US" sz="1300" dirty="0"/>
          </a:p>
        </p:txBody>
      </p:sp>
      <p:sp>
        <p:nvSpPr>
          <p:cNvPr id="37" name="!!f_jlaiaa"/>
          <p:cNvSpPr/>
          <p:nvPr/>
        </p:nvSpPr>
        <p:spPr>
          <a:xfrm>
            <a:off x="5315988" y="4458135"/>
            <a:ext cx="182880" cy="182880"/>
          </a:xfrm>
          <a:prstGeom prst="ellipse">
            <a:avLst/>
          </a:prstGeom>
          <a:solidFill>
            <a:srgbClr val="FF9F0A"/>
          </a:solidFill>
          <a:ln/>
          <a:effectLst>
            <a:outerShdw sx="100000" sy="100000" kx="0" ky="0" algn="bl" rotWithShape="0" blurRad="127000" dist="50800" dir="5400000">
              <a:srgbClr val="FF9F0A">
                <a:alpha val="90000"/>
              </a:srgbClr>
            </a:outerShdw>
          </a:effectLst>
        </p:spPr>
      </p:sp>
      <p:sp>
        <p:nvSpPr>
          <p:cNvPr id="38" name="!!f_kwcity"/>
          <p:cNvSpPr/>
          <p:nvPr/>
        </p:nvSpPr>
        <p:spPr>
          <a:xfrm>
            <a:off x="4047201" y="3343003"/>
            <a:ext cx="146304" cy="146304"/>
          </a:xfrm>
          <a:prstGeom prst="ellipse">
            <a:avLst/>
          </a:prstGeom>
          <a:solidFill>
            <a:srgbClr val="000000">
              <a:alpha val="0"/>
            </a:srgbClr>
          </a:solidFill>
          <a:ln w="22225">
            <a:solidFill>
              <a:srgbClr val="F5F5F7"/>
            </a:solidFill>
            <a:prstDash val="solid"/>
          </a:ln>
        </p:spPr>
      </p:sp>
      <p:sp>
        <p:nvSpPr>
          <p:cNvPr id="39" name="!!fl_kwcity"/>
          <p:cNvSpPr txBox="1"/>
          <p:nvPr/>
        </p:nvSpPr>
        <p:spPr>
          <a:xfrm>
            <a:off x="4257513" y="3288139"/>
            <a:ext cx="1737360" cy="274320"/>
          </a:xfrm>
          <a:prstGeom prst="rect">
            <a:avLst/>
          </a:prstGeom>
          <a:noFill/>
          <a:ln/>
        </p:spPr>
        <p:txBody>
          <a:bodyPr wrap="square" lIns="0" tIns="0" rIns="0" bIns="0" rtlCol="0" anchor="t"/>
          <a:lstStyle/>
          <a:p>
            <a:pPr algn="l" indent="0" marL="0">
              <a:buNone/>
            </a:pPr>
            <a:r>
              <a:rPr lang="en-US" sz="1300" dirty="0">
                <a:solidFill>
                  <a:schemeClr val="tx2"/>
                </a:solidFill>
                <a:effectLst>
                  <a:glow rad="76200">
                    <a:srgbClr val="141416">
                      <a:alpha val="85000"/>
                    </a:srgbClr>
                  </a:glow>
                </a:effectLst>
                <a:latin typeface="Arial" pitchFamily="34" charset="0"/>
                <a:ea typeface="Arial" pitchFamily="34" charset="-122"/>
                <a:cs typeface="Arial" pitchFamily="34" charset="-120"/>
              </a:rPr>
              <a:t>Kuwait City</a:t>
            </a:r>
            <a:endParaRPr lang="en-US" sz="1300" dirty="0"/>
          </a:p>
        </p:txBody>
      </p:sp>
      <p:sp>
        <p:nvSpPr>
          <p:cNvPr id="40" name="!!f_ahmadi"/>
          <p:cNvSpPr/>
          <p:nvPr/>
        </p:nvSpPr>
        <p:spPr>
          <a:xfrm rot="2700000">
            <a:off x="4391986" y="3973830"/>
            <a:ext cx="146304" cy="146304"/>
          </a:xfrm>
          <a:prstGeom prst="rect">
            <a:avLst/>
          </a:prstGeom>
          <a:solidFill>
            <a:srgbClr val="F5F5F7"/>
          </a:solidFill>
          <a:ln/>
        </p:spPr>
      </p:sp>
      <p:sp>
        <p:nvSpPr>
          <p:cNvPr id="41" name="!!fl_ahmadi"/>
          <p:cNvSpPr txBox="1"/>
          <p:nvPr/>
        </p:nvSpPr>
        <p:spPr>
          <a:xfrm>
            <a:off x="4602298" y="3918966"/>
            <a:ext cx="1737360" cy="274320"/>
          </a:xfrm>
          <a:prstGeom prst="rect">
            <a:avLst/>
          </a:prstGeom>
          <a:noFill/>
          <a:ln/>
        </p:spPr>
        <p:txBody>
          <a:bodyPr wrap="square" lIns="0" tIns="0" rIns="0" bIns="0" rtlCol="0" anchor="t"/>
          <a:lstStyle/>
          <a:p>
            <a:pPr algn="l" indent="0" marL="0">
              <a:buNone/>
            </a:pPr>
            <a:r>
              <a:rPr lang="en-US" sz="1300" dirty="0">
                <a:solidFill>
                  <a:schemeClr val="tx2"/>
                </a:solidFill>
                <a:effectLst>
                  <a:glow rad="76200">
                    <a:srgbClr val="141416">
                      <a:alpha val="85000"/>
                    </a:srgbClr>
                  </a:glow>
                </a:effectLst>
                <a:latin typeface="Arial" pitchFamily="34" charset="0"/>
                <a:ea typeface="Arial" pitchFamily="34" charset="-122"/>
                <a:cs typeface="Arial" pitchFamily="34" charset="-120"/>
              </a:rPr>
              <a:t>Mina Al-Ahmadi</a:t>
            </a:r>
            <a:endParaRPr lang="en-US" sz="1300" dirty="0"/>
          </a:p>
        </p:txBody>
      </p:sp>
      <p:sp>
        <p:nvSpPr>
          <p:cNvPr id="42" name="!!f_zour"/>
          <p:cNvSpPr/>
          <p:nvPr/>
        </p:nvSpPr>
        <p:spPr>
          <a:xfrm rot="2700000">
            <a:off x="4812586" y="4664637"/>
            <a:ext cx="146304" cy="146304"/>
          </a:xfrm>
          <a:prstGeom prst="rect">
            <a:avLst/>
          </a:prstGeom>
          <a:solidFill>
            <a:srgbClr val="F5F5F7"/>
          </a:solidFill>
          <a:ln/>
        </p:spPr>
      </p:sp>
      <p:sp>
        <p:nvSpPr>
          <p:cNvPr id="43" name="!!fl_zour"/>
          <p:cNvSpPr txBox="1"/>
          <p:nvPr/>
        </p:nvSpPr>
        <p:spPr>
          <a:xfrm>
            <a:off x="2947210" y="4609773"/>
            <a:ext cx="1737360" cy="274320"/>
          </a:xfrm>
          <a:prstGeom prst="rect">
            <a:avLst/>
          </a:prstGeom>
          <a:noFill/>
          <a:ln/>
        </p:spPr>
        <p:txBody>
          <a:bodyPr wrap="square" lIns="0" tIns="0" rIns="0" bIns="0" rtlCol="0" anchor="t"/>
          <a:lstStyle/>
          <a:p>
            <a:pPr algn="r" indent="0" marL="0">
              <a:buNone/>
            </a:pPr>
            <a:r>
              <a:rPr lang="en-US" sz="1300" dirty="0">
                <a:solidFill>
                  <a:schemeClr val="tx2"/>
                </a:solidFill>
                <a:effectLst>
                  <a:glow rad="76200">
                    <a:srgbClr val="141416">
                      <a:alpha val="85000"/>
                    </a:srgbClr>
                  </a:glow>
                </a:effectLst>
                <a:latin typeface="Arial" pitchFamily="34" charset="0"/>
                <a:ea typeface="Arial" pitchFamily="34" charset="-122"/>
                <a:cs typeface="Arial" pitchFamily="34" charset="-120"/>
              </a:rPr>
              <a:t>Al-Zour</a:t>
            </a:r>
            <a:endParaRPr lang="en-US" sz="1300" dirty="0"/>
          </a:p>
        </p:txBody>
      </p:sp>
      <p:sp>
        <p:nvSpPr>
          <p:cNvPr id="44" name="!!c_iraq"/>
          <p:cNvSpPr txBox="1"/>
          <p:nvPr/>
        </p:nvSpPr>
        <p:spPr>
          <a:xfrm>
            <a:off x="809955" y="1628503"/>
            <a:ext cx="2194560" cy="274320"/>
          </a:xfrm>
          <a:prstGeom prst="rect">
            <a:avLst/>
          </a:prstGeom>
          <a:noFill/>
          <a:ln/>
        </p:spPr>
        <p:txBody>
          <a:bodyPr wrap="square" lIns="0" tIns="0" rIns="0" bIns="0" rtlCol="0" anchor="t"/>
          <a:lstStyle/>
          <a:p>
            <a:pPr algn="ctr" indent="0" marL="0">
              <a:buNone/>
            </a:pPr>
            <a:r>
              <a:rPr lang="en-US" sz="1300" spc="400" kern="0" dirty="0">
                <a:solidFill>
                  <a:srgbClr val="8E8E93"/>
                </a:solidFill>
                <a:latin typeface="Arial" pitchFamily="34" charset="0"/>
                <a:ea typeface="Arial" pitchFamily="34" charset="-122"/>
                <a:cs typeface="Arial" pitchFamily="34" charset="-120"/>
              </a:rPr>
              <a:t>IRAQ</a:t>
            </a:r>
            <a:endParaRPr lang="en-US" sz="1300" dirty="0"/>
          </a:p>
        </p:txBody>
      </p:sp>
      <p:sp>
        <p:nvSpPr>
          <p:cNvPr id="45" name="!!c_saudi"/>
          <p:cNvSpPr txBox="1"/>
          <p:nvPr/>
        </p:nvSpPr>
        <p:spPr>
          <a:xfrm>
            <a:off x="1170985" y="5496197"/>
            <a:ext cx="2194560" cy="274320"/>
          </a:xfrm>
          <a:prstGeom prst="rect">
            <a:avLst/>
          </a:prstGeom>
          <a:noFill/>
          <a:ln/>
        </p:spPr>
        <p:txBody>
          <a:bodyPr wrap="square" lIns="0" tIns="0" rIns="0" bIns="0" rtlCol="0" anchor="t"/>
          <a:lstStyle/>
          <a:p>
            <a:pPr algn="ctr" indent="0" marL="0">
              <a:buNone/>
            </a:pPr>
            <a:r>
              <a:rPr lang="en-US" sz="1300" spc="400" kern="0" dirty="0">
                <a:solidFill>
                  <a:srgbClr val="8E8E93"/>
                </a:solidFill>
                <a:latin typeface="Arial" pitchFamily="34" charset="0"/>
                <a:ea typeface="Arial" pitchFamily="34" charset="-122"/>
                <a:cs typeface="Arial" pitchFamily="34" charset="-120"/>
              </a:rPr>
              <a:t>SAUDI ARABIA</a:t>
            </a:r>
            <a:endParaRPr lang="en-US" sz="1300" dirty="0"/>
          </a:p>
        </p:txBody>
      </p:sp>
      <p:sp>
        <p:nvSpPr>
          <p:cNvPr id="46" name="!!c_gulf"/>
          <p:cNvSpPr txBox="1"/>
          <p:nvPr/>
        </p:nvSpPr>
        <p:spPr>
          <a:xfrm>
            <a:off x="4600778" y="3634740"/>
            <a:ext cx="2194560" cy="274320"/>
          </a:xfrm>
          <a:prstGeom prst="rect">
            <a:avLst/>
          </a:prstGeom>
          <a:noFill/>
          <a:ln/>
        </p:spPr>
        <p:txBody>
          <a:bodyPr wrap="square" lIns="0" tIns="0" rIns="0" bIns="0" rtlCol="0" anchor="t"/>
          <a:lstStyle/>
          <a:p>
            <a:pPr algn="ctr" indent="0" marL="0">
              <a:buNone/>
            </a:pPr>
            <a:r>
              <a:rPr lang="en-US" sz="1300" spc="400" kern="0" dirty="0">
                <a:solidFill>
                  <a:srgbClr val="8E8E93"/>
                </a:solidFill>
                <a:latin typeface="Arial" pitchFamily="34" charset="0"/>
                <a:ea typeface="Arial" pitchFamily="34" charset="-122"/>
                <a:cs typeface="Arial" pitchFamily="34" charset="-120"/>
              </a:rPr>
              <a:t>ARABIAN GULF</a:t>
            </a:r>
            <a:endParaRPr lang="en-US" sz="1300" dirty="0"/>
          </a:p>
        </p:txBody>
      </p:sp>
      <p:sp>
        <p:nvSpPr>
          <p:cNvPr id="47" name="!!maph00">
            <a:hlinkClick r:id="rId4" tooltip="Zoom into South &amp; East Kuwait" action="ppaction://hlinksldjump" highlightClick="1"/>
          </p:cNvPr>
          <p:cNvSpPr/>
          <p:nvPr/>
        </p:nvSpPr>
        <p:spPr>
          <a:xfrm>
            <a:off x="3712388" y="3151414"/>
            <a:ext cx="1083092" cy="1551214"/>
          </a:xfrm>
          <a:prstGeom prst="rect">
            <a:avLst/>
          </a:prstGeom>
          <a:solidFill>
            <a:srgbClr val="000000">
              <a:alpha val="0"/>
            </a:srgbClr>
          </a:solidFill>
          <a:ln/>
        </p:spPr>
      </p:sp>
      <p:sp>
        <p:nvSpPr>
          <p:cNvPr id="48" name="!!maph10">
            <a:hlinkClick r:id="rId5" tooltip="Zoom into North Kuwait" action="ppaction://hlinksldjump" highlightClick="1"/>
          </p:cNvPr>
          <p:cNvSpPr/>
          <p:nvPr/>
        </p:nvSpPr>
        <p:spPr>
          <a:xfrm>
            <a:off x="1636462" y="1600200"/>
            <a:ext cx="3068761" cy="1551214"/>
          </a:xfrm>
          <a:prstGeom prst="rect">
            <a:avLst/>
          </a:prstGeom>
          <a:solidFill>
            <a:srgbClr val="000000">
              <a:alpha val="0"/>
            </a:srgbClr>
          </a:solidFill>
          <a:ln/>
        </p:spPr>
      </p:sp>
      <p:sp>
        <p:nvSpPr>
          <p:cNvPr id="49" name="!!maph20">
            <a:hlinkClick r:id="rId6" tooltip="Zoom into West Kuwait" action="ppaction://hlinksldjump" highlightClick="1"/>
          </p:cNvPr>
          <p:cNvSpPr/>
          <p:nvPr/>
        </p:nvSpPr>
        <p:spPr>
          <a:xfrm>
            <a:off x="1636462" y="3151414"/>
            <a:ext cx="2075927" cy="2171700"/>
          </a:xfrm>
          <a:prstGeom prst="rect">
            <a:avLst/>
          </a:prstGeom>
          <a:solidFill>
            <a:srgbClr val="000000">
              <a:alpha val="0"/>
            </a:srgbClr>
          </a:solidFill>
          <a:ln/>
        </p:spPr>
      </p:sp>
      <p:sp>
        <p:nvSpPr>
          <p:cNvPr id="50" name="!!maph30">
            <a:hlinkClick r:id="rId7" tooltip="Zoom into Partitioned Zone &amp; offshore" action="ppaction://hlinksldjump" highlightClick="1"/>
          </p:cNvPr>
          <p:cNvSpPr/>
          <p:nvPr/>
        </p:nvSpPr>
        <p:spPr>
          <a:xfrm>
            <a:off x="3712388" y="4702629"/>
            <a:ext cx="1534381" cy="723900"/>
          </a:xfrm>
          <a:prstGeom prst="rect">
            <a:avLst/>
          </a:prstGeom>
          <a:solidFill>
            <a:srgbClr val="000000">
              <a:alpha val="0"/>
            </a:srgbClr>
          </a:solidFill>
          <a:ln/>
        </p:spPr>
      </p:sp>
      <p:sp>
        <p:nvSpPr>
          <p:cNvPr id="51" name="!!maph31">
            <a:hlinkClick r:id="rId8" tooltip="Zoom into Partitioned Zone &amp; offshore" action="ppaction://hlinksldjump" highlightClick="1"/>
          </p:cNvPr>
          <p:cNvSpPr/>
          <p:nvPr/>
        </p:nvSpPr>
        <p:spPr>
          <a:xfrm>
            <a:off x="4795481" y="2903220"/>
            <a:ext cx="2527215" cy="2523309"/>
          </a:xfrm>
          <a:prstGeom prst="rect">
            <a:avLst/>
          </a:prstGeom>
          <a:solidFill>
            <a:srgbClr val="000000">
              <a:alpha val="0"/>
            </a:srgbClr>
          </a:solidFill>
          <a:ln/>
        </p:spPr>
      </p:sp>
      <p:sp>
        <p:nvSpPr>
          <p:cNvPr id="52" name="!!legend"/>
          <p:cNvSpPr txBox="1"/>
          <p:nvPr/>
        </p:nvSpPr>
        <p:spPr>
          <a:xfrm>
            <a:off x="7726680" y="1783080"/>
            <a:ext cx="3916375" cy="320040"/>
          </a:xfrm>
          <a:prstGeom prst="rect">
            <a:avLst/>
          </a:prstGeom>
          <a:noFill/>
          <a:ln/>
        </p:spPr>
        <p:txBody>
          <a:bodyPr wrap="square" lIns="0" tIns="0" rIns="0" bIns="0" rtlCol="0" anchor="t"/>
          <a:lstStyle/>
          <a:p>
            <a:pPr indent="0" marL="0">
              <a:buNone/>
            </a:pPr>
            <a:r>
              <a:rPr lang="en-US" sz="1500" dirty="0">
                <a:solidFill>
                  <a:schemeClr val="accent1"/>
                </a:solidFill>
                <a:latin typeface="Arial" pitchFamily="34" charset="0"/>
                <a:ea typeface="Arial" pitchFamily="34" charset="-122"/>
                <a:cs typeface="Arial" pitchFamily="34" charset="-120"/>
              </a:rPr>
              <a:t>●  </a:t>
            </a:r>
            <a:pPr indent="0" marL="0">
              <a:buNone/>
            </a:pPr>
            <a:r>
              <a:rPr lang="en-US" sz="1500" dirty="0">
                <a:solidFill>
                  <a:schemeClr val="tx2"/>
                </a:solidFill>
                <a:latin typeface="Arial" pitchFamily="34" charset="0"/>
                <a:ea typeface="Arial" pitchFamily="34" charset="-122"/>
                <a:cs typeface="Arial" pitchFamily="34" charset="-120"/>
              </a:rPr>
              <a:t>Oil   </a:t>
            </a:r>
            <a:pPr indent="0" marL="0">
              <a:buNone/>
            </a:pPr>
            <a:r>
              <a:rPr lang="en-US" sz="1500" dirty="0">
                <a:solidFill>
                  <a:schemeClr val="accent2"/>
                </a:solidFill>
                <a:latin typeface="Arial" pitchFamily="34" charset="0"/>
                <a:ea typeface="Arial" pitchFamily="34" charset="-122"/>
                <a:cs typeface="Arial" pitchFamily="34" charset="-120"/>
              </a:rPr>
              <a:t>●  </a:t>
            </a:r>
            <a:pPr indent="0" marL="0">
              <a:buNone/>
            </a:pPr>
            <a:r>
              <a:rPr lang="en-US" sz="1500" dirty="0">
                <a:solidFill>
                  <a:schemeClr val="tx2"/>
                </a:solidFill>
                <a:latin typeface="Arial" pitchFamily="34" charset="0"/>
                <a:ea typeface="Arial" pitchFamily="34" charset="-122"/>
                <a:cs typeface="Arial" pitchFamily="34" charset="-120"/>
              </a:rPr>
              <a:t>Gas   </a:t>
            </a:r>
            <a:pPr indent="0" marL="0">
              <a:buNone/>
            </a:pPr>
            <a:r>
              <a:rPr lang="en-US" sz="1500" dirty="0">
                <a:solidFill>
                  <a:schemeClr val="tx1"/>
                </a:solidFill>
                <a:latin typeface="Arial" pitchFamily="34" charset="0"/>
                <a:ea typeface="Arial" pitchFamily="34" charset="-122"/>
                <a:cs typeface="Arial" pitchFamily="34" charset="-120"/>
              </a:rPr>
              <a:t>◆  </a:t>
            </a:r>
            <a:pPr indent="0" marL="0">
              <a:buNone/>
            </a:pPr>
            <a:r>
              <a:rPr lang="en-US" sz="1500" dirty="0">
                <a:solidFill>
                  <a:schemeClr val="tx2"/>
                </a:solidFill>
                <a:latin typeface="Arial" pitchFamily="34" charset="0"/>
                <a:ea typeface="Arial" pitchFamily="34" charset="-122"/>
                <a:cs typeface="Arial" pitchFamily="34" charset="-120"/>
              </a:rPr>
              <a:t>Refinery / port   </a:t>
            </a:r>
            <a:pPr indent="0" marL="0">
              <a:buNone/>
            </a:pPr>
            <a:r>
              <a:rPr lang="en-US" sz="1500" dirty="0">
                <a:solidFill>
                  <a:schemeClr val="tx1"/>
                </a:solidFill>
                <a:latin typeface="Arial" pitchFamily="34" charset="0"/>
                <a:ea typeface="Arial" pitchFamily="34" charset="-122"/>
                <a:cs typeface="Arial" pitchFamily="34" charset="-120"/>
              </a:rPr>
              <a:t>○  </a:t>
            </a:r>
            <a:pPr indent="0" marL="0">
              <a:buNone/>
            </a:pPr>
            <a:r>
              <a:rPr lang="en-US" sz="1500" dirty="0">
                <a:solidFill>
                  <a:schemeClr val="tx2"/>
                </a:solidFill>
                <a:latin typeface="Arial" pitchFamily="34" charset="0"/>
                <a:ea typeface="Arial" pitchFamily="34" charset="-122"/>
                <a:cs typeface="Arial" pitchFamily="34" charset="-120"/>
              </a:rPr>
              <a:t>Town</a:t>
            </a:r>
            <a:endParaRPr lang="en-US" sz="1500" dirty="0"/>
          </a:p>
        </p:txBody>
      </p:sp>
      <p:sp>
        <p:nvSpPr>
          <p:cNvPr id="53" name="!!hint"/>
          <p:cNvSpPr txBox="1"/>
          <p:nvPr/>
        </p:nvSpPr>
        <p:spPr>
          <a:xfrm>
            <a:off x="7726680" y="2176272"/>
            <a:ext cx="3916375" cy="292608"/>
          </a:xfrm>
          <a:prstGeom prst="rect">
            <a:avLst/>
          </a:prstGeom>
          <a:noFill/>
          <a:ln/>
        </p:spPr>
        <p:txBody>
          <a:bodyPr wrap="square" lIns="0" tIns="0" rIns="0" bIns="0" rtlCol="0" anchor="t"/>
          <a:lstStyle/>
          <a:p>
            <a:pPr indent="0" marL="0">
              <a:buNone/>
            </a:pPr>
            <a:r>
              <a:rPr lang="en-US" sz="1400" i="1" dirty="0">
                <a:solidFill>
                  <a:schemeClr val="tx2"/>
                </a:solidFill>
                <a:latin typeface="Arial" pitchFamily="34" charset="0"/>
                <a:ea typeface="Arial" pitchFamily="34" charset="-122"/>
                <a:cs typeface="Arial" pitchFamily="34" charset="-120"/>
              </a:rPr>
              <a:t>Click an area to zoom in and see every field</a:t>
            </a:r>
            <a:endParaRPr lang="en-US" sz="1400" dirty="0"/>
          </a:p>
        </p:txBody>
      </p:sp>
      <p:sp>
        <p:nvSpPr>
          <p:cNvPr id="54" name="!!pill0"/>
          <p:cNvSpPr/>
          <p:nvPr/>
        </p:nvSpPr>
        <p:spPr>
          <a:xfrm>
            <a:off x="7726680" y="2606040"/>
            <a:ext cx="3916375" cy="493776"/>
          </a:xfrm>
          <a:prstGeom prst="roundRect">
            <a:avLst>
              <a:gd name="adj" fmla="val 50000"/>
            </a:avLst>
          </a:prstGeom>
          <a:solidFill>
            <a:srgbClr val="1C1C1E"/>
          </a:solidFill>
          <a:ln w="9525">
            <a:solidFill>
              <a:srgbClr val="FFFFFF">
                <a:alpha val="10000"/>
              </a:srgbClr>
            </a:solidFill>
            <a:prstDash val="solid"/>
          </a:ln>
        </p:spPr>
      </p:sp>
      <p:sp>
        <p:nvSpPr>
          <p:cNvPr id="55" name="!!pilld0"/>
          <p:cNvSpPr/>
          <p:nvPr/>
        </p:nvSpPr>
        <p:spPr>
          <a:xfrm>
            <a:off x="7927848" y="2761488"/>
            <a:ext cx="182880" cy="182880"/>
          </a:xfrm>
          <a:prstGeom prst="ellipse">
            <a:avLst/>
          </a:prstGeom>
          <a:solidFill>
            <a:srgbClr val="FF9F0A"/>
          </a:solidFill>
          <a:ln/>
        </p:spPr>
      </p:sp>
      <p:sp>
        <p:nvSpPr>
          <p:cNvPr id="56" name="!!pillt0"/>
          <p:cNvSpPr txBox="1"/>
          <p:nvPr/>
        </p:nvSpPr>
        <p:spPr>
          <a:xfrm>
            <a:off x="8257032" y="2606040"/>
            <a:ext cx="3001975" cy="493776"/>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South &amp; East Kuwait</a:t>
            </a:r>
            <a:endParaRPr lang="en-US" sz="1700" dirty="0"/>
          </a:p>
        </p:txBody>
      </p:sp>
      <p:pic>
        <p:nvPicPr>
          <p:cNvPr id="57" name="!!pilla0" descr="Decorative graphic">    </p:cNvPr>
          <p:cNvPicPr>
            <a:picLocks noChangeAspect="1"/>
          </p:cNvPicPr>
          <p:nvPr/>
        </p:nvPicPr>
        <p:blipFill>
          <a:blip r:embed="rId9"/>
          <a:stretch>
            <a:fillRect/>
          </a:stretch>
        </p:blipFill>
        <p:spPr>
          <a:xfrm>
            <a:off x="11231575" y="2734056"/>
            <a:ext cx="237744" cy="237744"/>
          </a:xfrm>
          <a:prstGeom prst="rect">
            <a:avLst/>
          </a:prstGeom>
        </p:spPr>
      </p:pic>
      <p:sp>
        <p:nvSpPr>
          <p:cNvPr id="58" name="!!pillh0">
            <a:hlinkClick r:id="rId10" tooltip="Zoom into South &amp; East Kuwait" action="ppaction://hlinksldjump" highlightClick="1"/>
          </p:cNvPr>
          <p:cNvSpPr/>
          <p:nvPr/>
        </p:nvSpPr>
        <p:spPr>
          <a:xfrm>
            <a:off x="7726680" y="2606040"/>
            <a:ext cx="3916375" cy="493776"/>
          </a:xfrm>
          <a:prstGeom prst="roundRect">
            <a:avLst>
              <a:gd name="adj" fmla="val 50000"/>
            </a:avLst>
          </a:prstGeom>
          <a:solidFill>
            <a:srgbClr val="000000">
              <a:alpha val="0"/>
            </a:srgbClr>
          </a:solidFill>
          <a:ln/>
        </p:spPr>
      </p:sp>
      <p:sp>
        <p:nvSpPr>
          <p:cNvPr id="59" name="!!pill1"/>
          <p:cNvSpPr/>
          <p:nvPr/>
        </p:nvSpPr>
        <p:spPr>
          <a:xfrm>
            <a:off x="7726680" y="3209544"/>
            <a:ext cx="3916375" cy="493776"/>
          </a:xfrm>
          <a:prstGeom prst="roundRect">
            <a:avLst>
              <a:gd name="adj" fmla="val 50000"/>
            </a:avLst>
          </a:prstGeom>
          <a:solidFill>
            <a:srgbClr val="1C1C1E"/>
          </a:solidFill>
          <a:ln w="9525">
            <a:solidFill>
              <a:srgbClr val="FFFFFF">
                <a:alpha val="10000"/>
              </a:srgbClr>
            </a:solidFill>
            <a:prstDash val="solid"/>
          </a:ln>
        </p:spPr>
      </p:sp>
      <p:sp>
        <p:nvSpPr>
          <p:cNvPr id="60" name="!!pilld1"/>
          <p:cNvSpPr/>
          <p:nvPr/>
        </p:nvSpPr>
        <p:spPr>
          <a:xfrm>
            <a:off x="7927848" y="3364992"/>
            <a:ext cx="182880" cy="182880"/>
          </a:xfrm>
          <a:prstGeom prst="ellipse">
            <a:avLst/>
          </a:prstGeom>
          <a:solidFill>
            <a:srgbClr val="FF9F0A"/>
          </a:solidFill>
          <a:ln/>
        </p:spPr>
      </p:sp>
      <p:sp>
        <p:nvSpPr>
          <p:cNvPr id="61" name="!!pillt1"/>
          <p:cNvSpPr txBox="1"/>
          <p:nvPr/>
        </p:nvSpPr>
        <p:spPr>
          <a:xfrm>
            <a:off x="8257032" y="3209544"/>
            <a:ext cx="3001975" cy="493776"/>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North Kuwait</a:t>
            </a:r>
            <a:endParaRPr lang="en-US" sz="1700" dirty="0"/>
          </a:p>
        </p:txBody>
      </p:sp>
      <p:pic>
        <p:nvPicPr>
          <p:cNvPr id="62" name="!!pilla1" descr="Decorative graphic">    </p:cNvPr>
          <p:cNvPicPr>
            <a:picLocks noChangeAspect="1"/>
          </p:cNvPicPr>
          <p:nvPr/>
        </p:nvPicPr>
        <p:blipFill>
          <a:blip r:embed="rId11"/>
          <a:stretch>
            <a:fillRect/>
          </a:stretch>
        </p:blipFill>
        <p:spPr>
          <a:xfrm>
            <a:off x="11231575" y="3337560"/>
            <a:ext cx="237744" cy="237744"/>
          </a:xfrm>
          <a:prstGeom prst="rect">
            <a:avLst/>
          </a:prstGeom>
        </p:spPr>
      </p:pic>
      <p:sp>
        <p:nvSpPr>
          <p:cNvPr id="63" name="!!pillh1">
            <a:hlinkClick r:id="rId12" tooltip="Zoom into North Kuwait" action="ppaction://hlinksldjump" highlightClick="1"/>
          </p:cNvPr>
          <p:cNvSpPr/>
          <p:nvPr/>
        </p:nvSpPr>
        <p:spPr>
          <a:xfrm>
            <a:off x="7726680" y="3209544"/>
            <a:ext cx="3916375" cy="493776"/>
          </a:xfrm>
          <a:prstGeom prst="roundRect">
            <a:avLst>
              <a:gd name="adj" fmla="val 50000"/>
            </a:avLst>
          </a:prstGeom>
          <a:solidFill>
            <a:srgbClr val="000000">
              <a:alpha val="0"/>
            </a:srgbClr>
          </a:solidFill>
          <a:ln/>
        </p:spPr>
      </p:sp>
      <p:sp>
        <p:nvSpPr>
          <p:cNvPr id="64" name="!!pill2"/>
          <p:cNvSpPr/>
          <p:nvPr/>
        </p:nvSpPr>
        <p:spPr>
          <a:xfrm>
            <a:off x="7726680" y="3813048"/>
            <a:ext cx="3916375" cy="493776"/>
          </a:xfrm>
          <a:prstGeom prst="roundRect">
            <a:avLst>
              <a:gd name="adj" fmla="val 50000"/>
            </a:avLst>
          </a:prstGeom>
          <a:solidFill>
            <a:srgbClr val="1C1C1E"/>
          </a:solidFill>
          <a:ln w="9525">
            <a:solidFill>
              <a:srgbClr val="FFFFFF">
                <a:alpha val="10000"/>
              </a:srgbClr>
            </a:solidFill>
            <a:prstDash val="solid"/>
          </a:ln>
        </p:spPr>
      </p:sp>
      <p:sp>
        <p:nvSpPr>
          <p:cNvPr id="65" name="!!pilld2"/>
          <p:cNvSpPr/>
          <p:nvPr/>
        </p:nvSpPr>
        <p:spPr>
          <a:xfrm>
            <a:off x="7927848" y="3968496"/>
            <a:ext cx="182880" cy="182880"/>
          </a:xfrm>
          <a:prstGeom prst="ellipse">
            <a:avLst/>
          </a:prstGeom>
          <a:solidFill>
            <a:srgbClr val="FF9F0A"/>
          </a:solidFill>
          <a:ln/>
        </p:spPr>
      </p:sp>
      <p:sp>
        <p:nvSpPr>
          <p:cNvPr id="66" name="!!pillt2"/>
          <p:cNvSpPr txBox="1"/>
          <p:nvPr/>
        </p:nvSpPr>
        <p:spPr>
          <a:xfrm>
            <a:off x="8257032" y="3813048"/>
            <a:ext cx="3001975" cy="493776"/>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West Kuwait</a:t>
            </a:r>
            <a:endParaRPr lang="en-US" sz="1700" dirty="0"/>
          </a:p>
        </p:txBody>
      </p:sp>
      <p:pic>
        <p:nvPicPr>
          <p:cNvPr id="67" name="!!pilla2" descr="Decorative graphic">    </p:cNvPr>
          <p:cNvPicPr>
            <a:picLocks noChangeAspect="1"/>
          </p:cNvPicPr>
          <p:nvPr/>
        </p:nvPicPr>
        <p:blipFill>
          <a:blip r:embed="rId13"/>
          <a:stretch>
            <a:fillRect/>
          </a:stretch>
        </p:blipFill>
        <p:spPr>
          <a:xfrm>
            <a:off x="11231575" y="3941064"/>
            <a:ext cx="237744" cy="237744"/>
          </a:xfrm>
          <a:prstGeom prst="rect">
            <a:avLst/>
          </a:prstGeom>
        </p:spPr>
      </p:pic>
      <p:sp>
        <p:nvSpPr>
          <p:cNvPr id="68" name="!!pillh2">
            <a:hlinkClick r:id="rId14" tooltip="Zoom into West Kuwait" action="ppaction://hlinksldjump" highlightClick="1"/>
          </p:cNvPr>
          <p:cNvSpPr/>
          <p:nvPr/>
        </p:nvSpPr>
        <p:spPr>
          <a:xfrm>
            <a:off x="7726680" y="3813048"/>
            <a:ext cx="3916375" cy="493776"/>
          </a:xfrm>
          <a:prstGeom prst="roundRect">
            <a:avLst>
              <a:gd name="adj" fmla="val 50000"/>
            </a:avLst>
          </a:prstGeom>
          <a:solidFill>
            <a:srgbClr val="000000">
              <a:alpha val="0"/>
            </a:srgbClr>
          </a:solidFill>
          <a:ln/>
        </p:spPr>
      </p:sp>
      <p:sp>
        <p:nvSpPr>
          <p:cNvPr id="69" name="!!pill3"/>
          <p:cNvSpPr/>
          <p:nvPr/>
        </p:nvSpPr>
        <p:spPr>
          <a:xfrm>
            <a:off x="7726680" y="4416552"/>
            <a:ext cx="3916375" cy="493776"/>
          </a:xfrm>
          <a:prstGeom prst="roundRect">
            <a:avLst>
              <a:gd name="adj" fmla="val 50000"/>
            </a:avLst>
          </a:prstGeom>
          <a:solidFill>
            <a:srgbClr val="1C1C1E"/>
          </a:solidFill>
          <a:ln w="9525">
            <a:solidFill>
              <a:srgbClr val="FFFFFF">
                <a:alpha val="10000"/>
              </a:srgbClr>
            </a:solidFill>
            <a:prstDash val="solid"/>
          </a:ln>
        </p:spPr>
      </p:sp>
      <p:sp>
        <p:nvSpPr>
          <p:cNvPr id="70" name="!!pilld3"/>
          <p:cNvSpPr/>
          <p:nvPr/>
        </p:nvSpPr>
        <p:spPr>
          <a:xfrm>
            <a:off x="7927848" y="4572000"/>
            <a:ext cx="182880" cy="182880"/>
          </a:xfrm>
          <a:prstGeom prst="ellipse">
            <a:avLst/>
          </a:prstGeom>
          <a:solidFill>
            <a:srgbClr val="FF9F0A"/>
          </a:solidFill>
          <a:ln/>
        </p:spPr>
      </p:sp>
      <p:sp>
        <p:nvSpPr>
          <p:cNvPr id="71" name="!!pillt3"/>
          <p:cNvSpPr txBox="1"/>
          <p:nvPr/>
        </p:nvSpPr>
        <p:spPr>
          <a:xfrm>
            <a:off x="8257032" y="4416552"/>
            <a:ext cx="3001975" cy="493776"/>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Partitioned Zone &amp; offshore</a:t>
            </a:r>
            <a:endParaRPr lang="en-US" sz="1700" dirty="0"/>
          </a:p>
        </p:txBody>
      </p:sp>
      <p:pic>
        <p:nvPicPr>
          <p:cNvPr id="72" name="!!pilla3" descr="Decorative graphic">    </p:cNvPr>
          <p:cNvPicPr>
            <a:picLocks noChangeAspect="1"/>
          </p:cNvPicPr>
          <p:nvPr/>
        </p:nvPicPr>
        <p:blipFill>
          <a:blip r:embed="rId15"/>
          <a:stretch>
            <a:fillRect/>
          </a:stretch>
        </p:blipFill>
        <p:spPr>
          <a:xfrm>
            <a:off x="11231575" y="4544568"/>
            <a:ext cx="237744" cy="237744"/>
          </a:xfrm>
          <a:prstGeom prst="rect">
            <a:avLst/>
          </a:prstGeom>
        </p:spPr>
      </p:pic>
      <p:sp>
        <p:nvSpPr>
          <p:cNvPr id="73" name="!!pillh3">
            <a:hlinkClick r:id="rId16" tooltip="Zoom into Partitioned Zone &amp; offshore" action="ppaction://hlinksldjump" highlightClick="1"/>
          </p:cNvPr>
          <p:cNvSpPr/>
          <p:nvPr/>
        </p:nvSpPr>
        <p:spPr>
          <a:xfrm>
            <a:off x="7726680" y="4416552"/>
            <a:ext cx="3916375" cy="493776"/>
          </a:xfrm>
          <a:prstGeom prst="roundRect">
            <a:avLst>
              <a:gd name="adj" fmla="val 50000"/>
            </a:avLst>
          </a:prstGeom>
          <a:solidFill>
            <a:srgbClr val="000000">
              <a:alpha val="0"/>
            </a:srgbClr>
          </a:solidFill>
          <a:ln/>
        </p:spPr>
      </p:sp>
      <p:sp>
        <p:nvSpPr>
          <p:cNvPr id="74" name="!!source"/>
          <p:cNvSpPr txBox="1"/>
          <p:nvPr/>
        </p:nvSpPr>
        <p:spPr>
          <a:xfrm>
            <a:off x="548640" y="5943600"/>
            <a:ext cx="9692640" cy="274320"/>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Sources: KPC (n.d.-a); Horn (2014); Naqi et al. (2023); EIA (2023a). Field positions approximate. Base map: Natural Earth (n.d.).</a:t>
            </a:r>
            <a:endParaRPr lang="en-US" sz="1200" dirty="0"/>
          </a:p>
        </p:txBody>
      </p:sp>
      <p:sp>
        <p:nvSpPr>
          <p:cNvPr id="75" name="!!home_bg"/>
          <p:cNvSpPr/>
          <p:nvPr/>
        </p:nvSpPr>
        <p:spPr>
          <a:xfrm>
            <a:off x="10637215" y="6272784"/>
            <a:ext cx="384048" cy="384048"/>
          </a:xfrm>
          <a:prstGeom prst="roundRect">
            <a:avLst>
              <a:gd name="adj" fmla="val 23810"/>
            </a:avLst>
          </a:prstGeom>
          <a:solidFill>
            <a:srgbClr val="2C2C2E"/>
          </a:solidFill>
          <a:ln/>
        </p:spPr>
      </p:sp>
      <p:pic>
        <p:nvPicPr>
          <p:cNvPr id="76" name="!!home_ic" descr="Decorative graphic">    </p:cNvPr>
          <p:cNvPicPr>
            <a:picLocks noChangeAspect="1"/>
          </p:cNvPicPr>
          <p:nvPr/>
        </p:nvPicPr>
        <p:blipFill>
          <a:blip r:embed="rId17"/>
          <a:stretch>
            <a:fillRect/>
          </a:stretch>
        </p:blipFill>
        <p:spPr>
          <a:xfrm>
            <a:off x="10719511" y="6355080"/>
            <a:ext cx="219456" cy="219456"/>
          </a:xfrm>
          <a:prstGeom prst="rect">
            <a:avLst/>
          </a:prstGeom>
        </p:spPr>
      </p:pic>
      <p:sp>
        <p:nvSpPr>
          <p:cNvPr id="77" name="!!home_hit">
            <a:hlinkClick r:id="rId18" tooltip="Back to contents" action="ppaction://hlinksldjump" highlightClick="1"/>
          </p:cNvPr>
          <p:cNvSpPr/>
          <p:nvPr/>
        </p:nvSpPr>
        <p:spPr>
          <a:xfrm>
            <a:off x="10637215" y="6272784"/>
            <a:ext cx="384048" cy="384048"/>
          </a:xfrm>
          <a:prstGeom prst="roundRect">
            <a:avLst>
              <a:gd name="adj" fmla="val 23810"/>
            </a:avLst>
          </a:prstGeom>
          <a:solidFill>
            <a:srgbClr val="000000">
              <a:alpha val="0"/>
            </a:srgbClr>
          </a:solidFill>
          <a:ln/>
        </p:spPr>
      </p:sp>
      <p:sp>
        <p:nvSpPr>
          <p:cNvPr id="79" name="!!footer"/>
          <p:cNvSpPr txBox="1"/>
          <p:nvPr/>
        </p:nvSpPr>
        <p:spPr>
          <a:xfrm>
            <a:off x="548640" y="6327648"/>
            <a:ext cx="5486400" cy="292608"/>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Kuwait Oil &amp; Gas  ·  EGCH2230</a:t>
            </a:r>
            <a:endParaRPr lang="en-US" sz="1200" dirty="0"/>
          </a:p>
        </p:txBody>
      </p:sp>
      <p:sp>
        <p:nvSpPr>
          <p:cNvPr id="80" name="!!num"/>
          <p:cNvSpPr txBox="1"/>
          <p:nvPr/>
        </p:nvSpPr>
        <p:spPr>
          <a:xfrm>
            <a:off x="11094415" y="6327648"/>
            <a:ext cx="548640" cy="292608"/>
          </a:xfrm>
          <a:prstGeom prst="rect">
            <a:avLst/>
          </a:prstGeom>
          <a:noFill/>
          <a:ln/>
        </p:spPr>
        <p:txBody>
          <a:bodyPr wrap="square" lIns="0" tIns="0" rIns="0" bIns="0" rtlCol="0" anchor="ctr"/>
          <a:lstStyle/>
          <a:p>
            <a:pPr algn="r" indent="0" marL="0">
              <a:buNone/>
            </a:pPr>
            <a:r>
              <a:rPr lang="en-US" sz="1200" dirty="0">
                <a:solidFill>
                  <a:schemeClr val="tx2"/>
                </a:solidFill>
                <a:latin typeface="Arial" pitchFamily="34" charset="0"/>
                <a:ea typeface="Arial" pitchFamily="34" charset="-122"/>
                <a:cs typeface="Arial" pitchFamily="34" charset="-120"/>
              </a:rPr>
              <a:t>16</a:t>
            </a:r>
            <a:endParaRPr lang="en-US" sz="1200" dirty="0"/>
          </a:p>
        </p:txBody>
      </p:sp>
      <p:pic>
        <p:nvPicPr>
          <p:cNvPr id="81" name="!!badge" descr="University of Technology and Applied Sciences, Salalah">    </p:cNvPr>
          <p:cNvPicPr>
            <a:picLocks noChangeAspect="1"/>
          </p:cNvPicPr>
          <p:nvPr/>
        </p:nvPicPr>
        <p:blipFill>
          <a:blip r:embed="rId19"/>
          <a:stretch>
            <a:fillRect/>
          </a:stretch>
        </p:blipFill>
        <p:spPr>
          <a:xfrm>
            <a:off x="9677095" y="274320"/>
            <a:ext cx="1965960" cy="80987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0" presetClass="path" presetSubtype="0" fill="hold" grpId="0" nodeType="afterEffect" repeatCount="indefinite" autoRev="1">
                                  <p:stCondLst>
                                    <p:cond delay="0"/>
                                  </p:stCondLst>
                                  <p:childTnLst>
                                    <p:animMotion origin="layout" path="M 0 0 L 0.0350 -0.0300 E" pathEditMode="relative" ptsTypes="">
                                      <p:cBhvr>
                                        <p:cTn id="5" dur="13000" fill="hold" accel="50000" decel="50000"/>
                                        <p:tgtEl>
                                          <p:spTgt spid="2"/>
                                        </p:tgtEl>
                                        <p:attrNameLst>
                                          <p:attrName>ppt_x</p:attrName>
                                          <p:attrName>ppt_y</p:attrName>
                                        </p:attrNameLst>
                                      </p:cBhvr>
                                      <p:rCtr x="0" y="0"/>
                                    </p:animMotion>
                                  </p:childTnLst>
                                </p:cTn>
                              </p:par>
                              <p:par>
                                <p:cTn id="8" presetID="0" presetClass="path" presetSubtype="0" fill="hold" grpId="0" nodeType="withEffect" repeatCount="indefinite" autoRev="1">
                                  <p:stCondLst>
                                    <p:cond delay="0"/>
                                  </p:stCondLst>
                                  <p:childTnLst>
                                    <p:animMotion origin="layout" path="M 0 0 L -0.0300 0.0250 E" pathEditMode="relative" ptsTypes="">
                                      <p:cBhvr>
                                        <p:cTn id="7" dur="15000" fill="hold" accel="50000" decel="50000"/>
                                        <p:tgtEl>
                                          <p:spTgt spid="3"/>
                                        </p:tgtEl>
                                        <p:attrNameLst>
                                          <p:attrName>ppt_x</p:attrName>
                                          <p:attrName>ppt_y</p:attrName>
                                        </p:attrNameLst>
                                      </p:cBhvr>
                                      <p:rCtr x="0" y="0"/>
                                    </p:animMotion>
                                  </p:childTnLst>
                                </p:cTn>
                              </p:par>
                              <p:par>
                                <p:cTn id="13" presetID="53" presetClass="entr" presetSubtype="16" fill="hold" grpId="0" nodeType="withEffect">
                                  <p:stCondLst>
                                    <p:cond delay="200"/>
                                  </p:stCondLst>
                                  <p:childTnLst>
                                    <p:set>
                                      <p:cBhvr>
                                        <p:cTn id="9" dur="1" fill="hold">
                                          <p:stCondLst>
                                            <p:cond delay="0"/>
                                          </p:stCondLst>
                                        </p:cTn>
                                        <p:tgtEl>
                                          <p:spTgt spid="6"/>
                                        </p:tgtEl>
                                        <p:attrNameLst>
                                          <p:attrName>style.visibility</p:attrName>
                                        </p:attrNameLst>
                                      </p:cBhvr>
                                      <p:to>
                                        <p:strVal val="visible"/>
                                      </p:to>
                                    </p:set>
                                    <p:anim calcmode="lin" valueType="num">
                                      <p:cBhvr>
                                        <p:cTn id="10" dur="1300" fill="hold" decel="100000"/>
                                        <p:tgtEl>
                                          <p:spTgt spid="6"/>
                                        </p:tgtEl>
                                        <p:attrNameLst>
                                          <p:attrName>ppt_w</p:attrName>
                                        </p:attrNameLst>
                                      </p:cBhvr>
                                      <p:tavLst>
                                        <p:tav tm="0">
                                          <p:val>
                                            <p:strVal val="#ppt_w*0.970"/>
                                          </p:val>
                                        </p:tav>
                                        <p:tav tm="100000">
                                          <p:val>
                                            <p:strVal val="#ppt_w"/>
                                          </p:val>
                                        </p:tav>
                                      </p:tavLst>
                                    </p:anim>
                                    <p:anim calcmode="lin" valueType="num">
                                      <p:cBhvr>
                                        <p:cTn id="11" dur="1300" fill="hold" decel="100000"/>
                                        <p:tgtEl>
                                          <p:spTgt spid="6"/>
                                        </p:tgtEl>
                                        <p:attrNameLst>
                                          <p:attrName>ppt_h</p:attrName>
                                        </p:attrNameLst>
                                      </p:cBhvr>
                                      <p:tavLst>
                                        <p:tav tm="0">
                                          <p:val>
                                            <p:strVal val="#ppt_h*0.970"/>
                                          </p:val>
                                        </p:tav>
                                        <p:tav tm="100000">
                                          <p:val>
                                            <p:strVal val="#ppt_h"/>
                                          </p:val>
                                        </p:tav>
                                      </p:tavLst>
                                    </p:anim>
                                    <p:animEffect transition="in" filter="fade">
                                      <p:cBhvr>
                                        <p:cTn id="12" dur="909" decel="100000"/>
                                        <p:tgtEl>
                                          <p:spTgt spid="6"/>
                                        </p:tgtEl>
                                      </p:cBhvr>
                                    </p:animEffect>
                                  </p:childTnLst>
                                </p:cTn>
                              </p:par>
                              <p:par>
                                <p:cTn id="16" presetID="10" presetClass="entr" presetSubtype="0" fill="hold" grpId="0" nodeType="withEffect">
                                  <p:stCondLst>
                                    <p:cond delay="600"/>
                                  </p:stCondLst>
                                  <p:childTnLst>
                                    <p:set>
                                      <p:cBhvr>
                                        <p:cTn id="14" dur="1" fill="hold">
                                          <p:stCondLst>
                                            <p:cond delay="0"/>
                                          </p:stCondLst>
                                        </p:cTn>
                                        <p:tgtEl>
                                          <p:spTgt spid="44"/>
                                        </p:tgtEl>
                                        <p:attrNameLst>
                                          <p:attrName>style.visibility</p:attrName>
                                        </p:attrNameLst>
                                      </p:cBhvr>
                                      <p:to>
                                        <p:strVal val="visible"/>
                                      </p:to>
                                    </p:set>
                                    <p:animEffect transition="in" filter="fade">
                                      <p:cBhvr>
                                        <p:cTn id="15" dur="900" decel="100000"/>
                                        <p:tgtEl>
                                          <p:spTgt spid="44"/>
                                        </p:tgtEl>
                                      </p:cBhvr>
                                    </p:animEffect>
                                  </p:childTnLst>
                                </p:cTn>
                              </p:par>
                              <p:par>
                                <p:cTn id="19" presetID="10" presetClass="entr" presetSubtype="0" fill="hold" grpId="0" nodeType="withEffect">
                                  <p:stCondLst>
                                    <p:cond delay="600"/>
                                  </p:stCondLst>
                                  <p:childTnLst>
                                    <p:set>
                                      <p:cBhvr>
                                        <p:cTn id="17" dur="1" fill="hold">
                                          <p:stCondLst>
                                            <p:cond delay="0"/>
                                          </p:stCondLst>
                                        </p:cTn>
                                        <p:tgtEl>
                                          <p:spTgt spid="45"/>
                                        </p:tgtEl>
                                        <p:attrNameLst>
                                          <p:attrName>style.visibility</p:attrName>
                                        </p:attrNameLst>
                                      </p:cBhvr>
                                      <p:to>
                                        <p:strVal val="visible"/>
                                      </p:to>
                                    </p:set>
                                    <p:animEffect transition="in" filter="fade">
                                      <p:cBhvr>
                                        <p:cTn id="18" dur="900" decel="100000"/>
                                        <p:tgtEl>
                                          <p:spTgt spid="45"/>
                                        </p:tgtEl>
                                      </p:cBhvr>
                                    </p:animEffect>
                                  </p:childTnLst>
                                </p:cTn>
                              </p:par>
                              <p:par>
                                <p:cTn id="22" presetID="10" presetClass="entr" presetSubtype="0" fill="hold" grpId="0" nodeType="withEffect">
                                  <p:stCondLst>
                                    <p:cond delay="600"/>
                                  </p:stCondLst>
                                  <p:childTnLst>
                                    <p:set>
                                      <p:cBhvr>
                                        <p:cTn id="20" dur="1" fill="hold">
                                          <p:stCondLst>
                                            <p:cond delay="0"/>
                                          </p:stCondLst>
                                        </p:cTn>
                                        <p:tgtEl>
                                          <p:spTgt spid="46"/>
                                        </p:tgtEl>
                                        <p:attrNameLst>
                                          <p:attrName>style.visibility</p:attrName>
                                        </p:attrNameLst>
                                      </p:cBhvr>
                                      <p:to>
                                        <p:strVal val="visible"/>
                                      </p:to>
                                    </p:set>
                                    <p:animEffect transition="in" filter="fade">
                                      <p:cBhvr>
                                        <p:cTn id="21" dur="900" decel="100000"/>
                                        <p:tgtEl>
                                          <p:spTgt spid="46"/>
                                        </p:tgtEl>
                                      </p:cBhvr>
                                    </p:animEffect>
                                  </p:childTnLst>
                                </p:cTn>
                              </p:par>
                              <p:par>
                                <p:cTn id="27" presetID="53" presetClass="entr" presetSubtype="16" fill="hold" grpId="0" nodeType="withEffect">
                                  <p:stCondLst>
                                    <p:cond delay="900"/>
                                  </p:stCondLst>
                                  <p:childTnLst>
                                    <p:set>
                                      <p:cBhvr>
                                        <p:cTn id="23" dur="1" fill="hold">
                                          <p:stCondLst>
                                            <p:cond delay="0"/>
                                          </p:stCondLst>
                                        </p:cTn>
                                        <p:tgtEl>
                                          <p:spTgt spid="7"/>
                                        </p:tgtEl>
                                        <p:attrNameLst>
                                          <p:attrName>style.visibility</p:attrName>
                                        </p:attrNameLst>
                                      </p:cBhvr>
                                      <p:to>
                                        <p:strVal val="visible"/>
                                      </p:to>
                                    </p:set>
                                    <p:anim calcmode="lin" valueType="num">
                                      <p:cBhvr>
                                        <p:cTn id="24" dur="650" fill="hold" decel="100000"/>
                                        <p:tgtEl>
                                          <p:spTgt spid="7"/>
                                        </p:tgtEl>
                                        <p:attrNameLst>
                                          <p:attrName>ppt_w</p:attrName>
                                        </p:attrNameLst>
                                      </p:cBhvr>
                                      <p:tavLst>
                                        <p:tav tm="0">
                                          <p:val>
                                            <p:strVal val="#ppt_w*1.900"/>
                                          </p:val>
                                        </p:tav>
                                        <p:tav tm="100000">
                                          <p:val>
                                            <p:strVal val="#ppt_w"/>
                                          </p:val>
                                        </p:tav>
                                      </p:tavLst>
                                    </p:anim>
                                    <p:anim calcmode="lin" valueType="num">
                                      <p:cBhvr>
                                        <p:cTn id="25" dur="650" fill="hold" decel="100000"/>
                                        <p:tgtEl>
                                          <p:spTgt spid="7"/>
                                        </p:tgtEl>
                                        <p:attrNameLst>
                                          <p:attrName>ppt_h</p:attrName>
                                        </p:attrNameLst>
                                      </p:cBhvr>
                                      <p:tavLst>
                                        <p:tav tm="0">
                                          <p:val>
                                            <p:strVal val="#ppt_h*1.900"/>
                                          </p:val>
                                        </p:tav>
                                        <p:tav tm="100000">
                                          <p:val>
                                            <p:strVal val="#ppt_h"/>
                                          </p:val>
                                        </p:tav>
                                      </p:tavLst>
                                    </p:anim>
                                    <p:animEffect transition="in" filter="fade">
                                      <p:cBhvr>
                                        <p:cTn id="26" dur="454" decel="100000"/>
                                        <p:tgtEl>
                                          <p:spTgt spid="7"/>
                                        </p:tgtEl>
                                      </p:cBhvr>
                                    </p:animEffect>
                                  </p:childTnLst>
                                </p:cTn>
                              </p:par>
                              <p:par>
                                <p:cTn id="32" presetID="53" presetClass="entr" presetSubtype="16" fill="hold" grpId="0" nodeType="withEffect">
                                  <p:stCondLst>
                                    <p:cond delay="955"/>
                                  </p:stCondLst>
                                  <p:childTnLst>
                                    <p:set>
                                      <p:cBhvr>
                                        <p:cTn id="28" dur="1" fill="hold">
                                          <p:stCondLst>
                                            <p:cond delay="0"/>
                                          </p:stCondLst>
                                        </p:cTn>
                                        <p:tgtEl>
                                          <p:spTgt spid="9"/>
                                        </p:tgtEl>
                                        <p:attrNameLst>
                                          <p:attrName>style.visibility</p:attrName>
                                        </p:attrNameLst>
                                      </p:cBhvr>
                                      <p:to>
                                        <p:strVal val="visible"/>
                                      </p:to>
                                    </p:set>
                                    <p:anim calcmode="lin" valueType="num">
                                      <p:cBhvr>
                                        <p:cTn id="29" dur="650" fill="hold" decel="100000"/>
                                        <p:tgtEl>
                                          <p:spTgt spid="9"/>
                                        </p:tgtEl>
                                        <p:attrNameLst>
                                          <p:attrName>ppt_w</p:attrName>
                                        </p:attrNameLst>
                                      </p:cBhvr>
                                      <p:tavLst>
                                        <p:tav tm="0">
                                          <p:val>
                                            <p:strVal val="#ppt_w*1.900"/>
                                          </p:val>
                                        </p:tav>
                                        <p:tav tm="100000">
                                          <p:val>
                                            <p:strVal val="#ppt_w"/>
                                          </p:val>
                                        </p:tav>
                                      </p:tavLst>
                                    </p:anim>
                                    <p:anim calcmode="lin" valueType="num">
                                      <p:cBhvr>
                                        <p:cTn id="30" dur="650" fill="hold" decel="100000"/>
                                        <p:tgtEl>
                                          <p:spTgt spid="9"/>
                                        </p:tgtEl>
                                        <p:attrNameLst>
                                          <p:attrName>ppt_h</p:attrName>
                                        </p:attrNameLst>
                                      </p:cBhvr>
                                      <p:tavLst>
                                        <p:tav tm="0">
                                          <p:val>
                                            <p:strVal val="#ppt_h*1.900"/>
                                          </p:val>
                                        </p:tav>
                                        <p:tav tm="100000">
                                          <p:val>
                                            <p:strVal val="#ppt_h"/>
                                          </p:val>
                                        </p:tav>
                                      </p:tavLst>
                                    </p:anim>
                                    <p:animEffect transition="in" filter="fade">
                                      <p:cBhvr>
                                        <p:cTn id="31" dur="454" decel="100000"/>
                                        <p:tgtEl>
                                          <p:spTgt spid="9"/>
                                        </p:tgtEl>
                                      </p:cBhvr>
                                    </p:animEffect>
                                  </p:childTnLst>
                                </p:cTn>
                              </p:par>
                              <p:par>
                                <p:cTn id="37" presetID="53" presetClass="entr" presetSubtype="16" fill="hold" grpId="0" nodeType="withEffect">
                                  <p:stCondLst>
                                    <p:cond delay="1010"/>
                                  </p:stCondLst>
                                  <p:childTnLst>
                                    <p:set>
                                      <p:cBhvr>
                                        <p:cTn id="33" dur="1" fill="hold">
                                          <p:stCondLst>
                                            <p:cond delay="0"/>
                                          </p:stCondLst>
                                        </p:cTn>
                                        <p:tgtEl>
                                          <p:spTgt spid="12"/>
                                        </p:tgtEl>
                                        <p:attrNameLst>
                                          <p:attrName>style.visibility</p:attrName>
                                        </p:attrNameLst>
                                      </p:cBhvr>
                                      <p:to>
                                        <p:strVal val="visible"/>
                                      </p:to>
                                    </p:set>
                                    <p:anim calcmode="lin" valueType="num">
                                      <p:cBhvr>
                                        <p:cTn id="34" dur="650" fill="hold" decel="100000"/>
                                        <p:tgtEl>
                                          <p:spTgt spid="12"/>
                                        </p:tgtEl>
                                        <p:attrNameLst>
                                          <p:attrName>ppt_w</p:attrName>
                                        </p:attrNameLst>
                                      </p:cBhvr>
                                      <p:tavLst>
                                        <p:tav tm="0">
                                          <p:val>
                                            <p:strVal val="#ppt_w*1.900"/>
                                          </p:val>
                                        </p:tav>
                                        <p:tav tm="100000">
                                          <p:val>
                                            <p:strVal val="#ppt_w"/>
                                          </p:val>
                                        </p:tav>
                                      </p:tavLst>
                                    </p:anim>
                                    <p:anim calcmode="lin" valueType="num">
                                      <p:cBhvr>
                                        <p:cTn id="35" dur="650" fill="hold" decel="100000"/>
                                        <p:tgtEl>
                                          <p:spTgt spid="12"/>
                                        </p:tgtEl>
                                        <p:attrNameLst>
                                          <p:attrName>ppt_h</p:attrName>
                                        </p:attrNameLst>
                                      </p:cBhvr>
                                      <p:tavLst>
                                        <p:tav tm="0">
                                          <p:val>
                                            <p:strVal val="#ppt_h*1.900"/>
                                          </p:val>
                                        </p:tav>
                                        <p:tav tm="100000">
                                          <p:val>
                                            <p:strVal val="#ppt_h"/>
                                          </p:val>
                                        </p:tav>
                                      </p:tavLst>
                                    </p:anim>
                                    <p:animEffect transition="in" filter="fade">
                                      <p:cBhvr>
                                        <p:cTn id="36" dur="454" decel="100000"/>
                                        <p:tgtEl>
                                          <p:spTgt spid="12"/>
                                        </p:tgtEl>
                                      </p:cBhvr>
                                    </p:animEffect>
                                  </p:childTnLst>
                                </p:cTn>
                              </p:par>
                              <p:par>
                                <p:cTn id="42" presetID="53" presetClass="entr" presetSubtype="16" fill="hold" grpId="0" nodeType="withEffect">
                                  <p:stCondLst>
                                    <p:cond delay="1065"/>
                                  </p:stCondLst>
                                  <p:childTnLst>
                                    <p:set>
                                      <p:cBhvr>
                                        <p:cTn id="38" dur="1" fill="hold">
                                          <p:stCondLst>
                                            <p:cond delay="0"/>
                                          </p:stCondLst>
                                        </p:cTn>
                                        <p:tgtEl>
                                          <p:spTgt spid="14"/>
                                        </p:tgtEl>
                                        <p:attrNameLst>
                                          <p:attrName>style.visibility</p:attrName>
                                        </p:attrNameLst>
                                      </p:cBhvr>
                                      <p:to>
                                        <p:strVal val="visible"/>
                                      </p:to>
                                    </p:set>
                                    <p:anim calcmode="lin" valueType="num">
                                      <p:cBhvr>
                                        <p:cTn id="39" dur="650" fill="hold" decel="100000"/>
                                        <p:tgtEl>
                                          <p:spTgt spid="14"/>
                                        </p:tgtEl>
                                        <p:attrNameLst>
                                          <p:attrName>ppt_w</p:attrName>
                                        </p:attrNameLst>
                                      </p:cBhvr>
                                      <p:tavLst>
                                        <p:tav tm="0">
                                          <p:val>
                                            <p:strVal val="#ppt_w*1.900"/>
                                          </p:val>
                                        </p:tav>
                                        <p:tav tm="100000">
                                          <p:val>
                                            <p:strVal val="#ppt_w"/>
                                          </p:val>
                                        </p:tav>
                                      </p:tavLst>
                                    </p:anim>
                                    <p:anim calcmode="lin" valueType="num">
                                      <p:cBhvr>
                                        <p:cTn id="40" dur="650" fill="hold" decel="100000"/>
                                        <p:tgtEl>
                                          <p:spTgt spid="14"/>
                                        </p:tgtEl>
                                        <p:attrNameLst>
                                          <p:attrName>ppt_h</p:attrName>
                                        </p:attrNameLst>
                                      </p:cBhvr>
                                      <p:tavLst>
                                        <p:tav tm="0">
                                          <p:val>
                                            <p:strVal val="#ppt_h*1.900"/>
                                          </p:val>
                                        </p:tav>
                                        <p:tav tm="100000">
                                          <p:val>
                                            <p:strVal val="#ppt_h"/>
                                          </p:val>
                                        </p:tav>
                                      </p:tavLst>
                                    </p:anim>
                                    <p:animEffect transition="in" filter="fade">
                                      <p:cBhvr>
                                        <p:cTn id="41" dur="454" decel="100000"/>
                                        <p:tgtEl>
                                          <p:spTgt spid="14"/>
                                        </p:tgtEl>
                                      </p:cBhvr>
                                    </p:animEffect>
                                  </p:childTnLst>
                                </p:cTn>
                              </p:par>
                              <p:par>
                                <p:cTn id="47" presetID="53" presetClass="entr" presetSubtype="16" fill="hold" grpId="0" nodeType="withEffect">
                                  <p:stCondLst>
                                    <p:cond delay="1120"/>
                                  </p:stCondLst>
                                  <p:childTnLst>
                                    <p:set>
                                      <p:cBhvr>
                                        <p:cTn id="43" dur="1" fill="hold">
                                          <p:stCondLst>
                                            <p:cond delay="0"/>
                                          </p:stCondLst>
                                        </p:cTn>
                                        <p:tgtEl>
                                          <p:spTgt spid="16"/>
                                        </p:tgtEl>
                                        <p:attrNameLst>
                                          <p:attrName>style.visibility</p:attrName>
                                        </p:attrNameLst>
                                      </p:cBhvr>
                                      <p:to>
                                        <p:strVal val="visible"/>
                                      </p:to>
                                    </p:set>
                                    <p:anim calcmode="lin" valueType="num">
                                      <p:cBhvr>
                                        <p:cTn id="44" dur="650" fill="hold" decel="100000"/>
                                        <p:tgtEl>
                                          <p:spTgt spid="16"/>
                                        </p:tgtEl>
                                        <p:attrNameLst>
                                          <p:attrName>ppt_w</p:attrName>
                                        </p:attrNameLst>
                                      </p:cBhvr>
                                      <p:tavLst>
                                        <p:tav tm="0">
                                          <p:val>
                                            <p:strVal val="#ppt_w*1.900"/>
                                          </p:val>
                                        </p:tav>
                                        <p:tav tm="100000">
                                          <p:val>
                                            <p:strVal val="#ppt_w"/>
                                          </p:val>
                                        </p:tav>
                                      </p:tavLst>
                                    </p:anim>
                                    <p:anim calcmode="lin" valueType="num">
                                      <p:cBhvr>
                                        <p:cTn id="45" dur="650" fill="hold" decel="100000"/>
                                        <p:tgtEl>
                                          <p:spTgt spid="16"/>
                                        </p:tgtEl>
                                        <p:attrNameLst>
                                          <p:attrName>ppt_h</p:attrName>
                                        </p:attrNameLst>
                                      </p:cBhvr>
                                      <p:tavLst>
                                        <p:tav tm="0">
                                          <p:val>
                                            <p:strVal val="#ppt_h*1.900"/>
                                          </p:val>
                                        </p:tav>
                                        <p:tav tm="100000">
                                          <p:val>
                                            <p:strVal val="#ppt_h"/>
                                          </p:val>
                                        </p:tav>
                                      </p:tavLst>
                                    </p:anim>
                                    <p:animEffect transition="in" filter="fade">
                                      <p:cBhvr>
                                        <p:cTn id="46" dur="454" decel="100000"/>
                                        <p:tgtEl>
                                          <p:spTgt spid="16"/>
                                        </p:tgtEl>
                                      </p:cBhvr>
                                    </p:animEffect>
                                  </p:childTnLst>
                                </p:cTn>
                              </p:par>
                              <p:par>
                                <p:cTn id="52" presetID="53" presetClass="entr" presetSubtype="16" fill="hold" grpId="0" nodeType="withEffect">
                                  <p:stCondLst>
                                    <p:cond delay="1175"/>
                                  </p:stCondLst>
                                  <p:childTnLst>
                                    <p:set>
                                      <p:cBhvr>
                                        <p:cTn id="48" dur="1" fill="hold">
                                          <p:stCondLst>
                                            <p:cond delay="0"/>
                                          </p:stCondLst>
                                        </p:cTn>
                                        <p:tgtEl>
                                          <p:spTgt spid="18"/>
                                        </p:tgtEl>
                                        <p:attrNameLst>
                                          <p:attrName>style.visibility</p:attrName>
                                        </p:attrNameLst>
                                      </p:cBhvr>
                                      <p:to>
                                        <p:strVal val="visible"/>
                                      </p:to>
                                    </p:set>
                                    <p:anim calcmode="lin" valueType="num">
                                      <p:cBhvr>
                                        <p:cTn id="49" dur="650" fill="hold" decel="100000"/>
                                        <p:tgtEl>
                                          <p:spTgt spid="18"/>
                                        </p:tgtEl>
                                        <p:attrNameLst>
                                          <p:attrName>ppt_w</p:attrName>
                                        </p:attrNameLst>
                                      </p:cBhvr>
                                      <p:tavLst>
                                        <p:tav tm="0">
                                          <p:val>
                                            <p:strVal val="#ppt_w*1.900"/>
                                          </p:val>
                                        </p:tav>
                                        <p:tav tm="100000">
                                          <p:val>
                                            <p:strVal val="#ppt_w"/>
                                          </p:val>
                                        </p:tav>
                                      </p:tavLst>
                                    </p:anim>
                                    <p:anim calcmode="lin" valueType="num">
                                      <p:cBhvr>
                                        <p:cTn id="50" dur="650" fill="hold" decel="100000"/>
                                        <p:tgtEl>
                                          <p:spTgt spid="18"/>
                                        </p:tgtEl>
                                        <p:attrNameLst>
                                          <p:attrName>ppt_h</p:attrName>
                                        </p:attrNameLst>
                                      </p:cBhvr>
                                      <p:tavLst>
                                        <p:tav tm="0">
                                          <p:val>
                                            <p:strVal val="#ppt_h*1.900"/>
                                          </p:val>
                                        </p:tav>
                                        <p:tav tm="100000">
                                          <p:val>
                                            <p:strVal val="#ppt_h"/>
                                          </p:val>
                                        </p:tav>
                                      </p:tavLst>
                                    </p:anim>
                                    <p:animEffect transition="in" filter="fade">
                                      <p:cBhvr>
                                        <p:cTn id="51" dur="454" decel="100000"/>
                                        <p:tgtEl>
                                          <p:spTgt spid="18"/>
                                        </p:tgtEl>
                                      </p:cBhvr>
                                    </p:animEffect>
                                  </p:childTnLst>
                                </p:cTn>
                              </p:par>
                              <p:par>
                                <p:cTn id="57" presetID="53" presetClass="entr" presetSubtype="16" fill="hold" grpId="0" nodeType="withEffect">
                                  <p:stCondLst>
                                    <p:cond delay="1230"/>
                                  </p:stCondLst>
                                  <p:childTnLst>
                                    <p:set>
                                      <p:cBhvr>
                                        <p:cTn id="53" dur="1" fill="hold">
                                          <p:stCondLst>
                                            <p:cond delay="0"/>
                                          </p:stCondLst>
                                        </p:cTn>
                                        <p:tgtEl>
                                          <p:spTgt spid="20"/>
                                        </p:tgtEl>
                                        <p:attrNameLst>
                                          <p:attrName>style.visibility</p:attrName>
                                        </p:attrNameLst>
                                      </p:cBhvr>
                                      <p:to>
                                        <p:strVal val="visible"/>
                                      </p:to>
                                    </p:set>
                                    <p:anim calcmode="lin" valueType="num">
                                      <p:cBhvr>
                                        <p:cTn id="54" dur="650" fill="hold" decel="100000"/>
                                        <p:tgtEl>
                                          <p:spTgt spid="20"/>
                                        </p:tgtEl>
                                        <p:attrNameLst>
                                          <p:attrName>ppt_w</p:attrName>
                                        </p:attrNameLst>
                                      </p:cBhvr>
                                      <p:tavLst>
                                        <p:tav tm="0">
                                          <p:val>
                                            <p:strVal val="#ppt_w*1.900"/>
                                          </p:val>
                                        </p:tav>
                                        <p:tav tm="100000">
                                          <p:val>
                                            <p:strVal val="#ppt_w"/>
                                          </p:val>
                                        </p:tav>
                                      </p:tavLst>
                                    </p:anim>
                                    <p:anim calcmode="lin" valueType="num">
                                      <p:cBhvr>
                                        <p:cTn id="55" dur="650" fill="hold" decel="100000"/>
                                        <p:tgtEl>
                                          <p:spTgt spid="20"/>
                                        </p:tgtEl>
                                        <p:attrNameLst>
                                          <p:attrName>ppt_h</p:attrName>
                                        </p:attrNameLst>
                                      </p:cBhvr>
                                      <p:tavLst>
                                        <p:tav tm="0">
                                          <p:val>
                                            <p:strVal val="#ppt_h*1.900"/>
                                          </p:val>
                                        </p:tav>
                                        <p:tav tm="100000">
                                          <p:val>
                                            <p:strVal val="#ppt_h"/>
                                          </p:val>
                                        </p:tav>
                                      </p:tavLst>
                                    </p:anim>
                                    <p:animEffect transition="in" filter="fade">
                                      <p:cBhvr>
                                        <p:cTn id="56" dur="454" decel="100000"/>
                                        <p:tgtEl>
                                          <p:spTgt spid="20"/>
                                        </p:tgtEl>
                                      </p:cBhvr>
                                    </p:animEffect>
                                  </p:childTnLst>
                                </p:cTn>
                              </p:par>
                              <p:par>
                                <p:cTn id="62" presetID="53" presetClass="entr" presetSubtype="16" fill="hold" grpId="0" nodeType="withEffect">
                                  <p:stCondLst>
                                    <p:cond delay="1285"/>
                                  </p:stCondLst>
                                  <p:childTnLst>
                                    <p:set>
                                      <p:cBhvr>
                                        <p:cTn id="58" dur="1" fill="hold">
                                          <p:stCondLst>
                                            <p:cond delay="0"/>
                                          </p:stCondLst>
                                        </p:cTn>
                                        <p:tgtEl>
                                          <p:spTgt spid="22"/>
                                        </p:tgtEl>
                                        <p:attrNameLst>
                                          <p:attrName>style.visibility</p:attrName>
                                        </p:attrNameLst>
                                      </p:cBhvr>
                                      <p:to>
                                        <p:strVal val="visible"/>
                                      </p:to>
                                    </p:set>
                                    <p:anim calcmode="lin" valueType="num">
                                      <p:cBhvr>
                                        <p:cTn id="59" dur="650" fill="hold" decel="100000"/>
                                        <p:tgtEl>
                                          <p:spTgt spid="22"/>
                                        </p:tgtEl>
                                        <p:attrNameLst>
                                          <p:attrName>ppt_w</p:attrName>
                                        </p:attrNameLst>
                                      </p:cBhvr>
                                      <p:tavLst>
                                        <p:tav tm="0">
                                          <p:val>
                                            <p:strVal val="#ppt_w*1.900"/>
                                          </p:val>
                                        </p:tav>
                                        <p:tav tm="100000">
                                          <p:val>
                                            <p:strVal val="#ppt_w"/>
                                          </p:val>
                                        </p:tav>
                                      </p:tavLst>
                                    </p:anim>
                                    <p:anim calcmode="lin" valueType="num">
                                      <p:cBhvr>
                                        <p:cTn id="60" dur="650" fill="hold" decel="100000"/>
                                        <p:tgtEl>
                                          <p:spTgt spid="22"/>
                                        </p:tgtEl>
                                        <p:attrNameLst>
                                          <p:attrName>ppt_h</p:attrName>
                                        </p:attrNameLst>
                                      </p:cBhvr>
                                      <p:tavLst>
                                        <p:tav tm="0">
                                          <p:val>
                                            <p:strVal val="#ppt_h*1.900"/>
                                          </p:val>
                                        </p:tav>
                                        <p:tav tm="100000">
                                          <p:val>
                                            <p:strVal val="#ppt_h"/>
                                          </p:val>
                                        </p:tav>
                                      </p:tavLst>
                                    </p:anim>
                                    <p:animEffect transition="in" filter="fade">
                                      <p:cBhvr>
                                        <p:cTn id="61" dur="454" decel="100000"/>
                                        <p:tgtEl>
                                          <p:spTgt spid="22"/>
                                        </p:tgtEl>
                                      </p:cBhvr>
                                    </p:animEffect>
                                  </p:childTnLst>
                                </p:cTn>
                              </p:par>
                              <p:par>
                                <p:cTn id="65" presetID="10" presetClass="entr" presetSubtype="0" fill="hold" grpId="0" nodeType="withEffect">
                                  <p:stCondLst>
                                    <p:cond delay="1300"/>
                                  </p:stCondLst>
                                  <p:childTnLst>
                                    <p:set>
                                      <p:cBhvr>
                                        <p:cTn id="63" dur="1" fill="hold">
                                          <p:stCondLst>
                                            <p:cond delay="0"/>
                                          </p:stCondLst>
                                        </p:cTn>
                                        <p:tgtEl>
                                          <p:spTgt spid="52"/>
                                        </p:tgtEl>
                                        <p:attrNameLst>
                                          <p:attrName>style.visibility</p:attrName>
                                        </p:attrNameLst>
                                      </p:cBhvr>
                                      <p:to>
                                        <p:strVal val="visible"/>
                                      </p:to>
                                    </p:set>
                                    <p:animEffect transition="in" filter="fade">
                                      <p:cBhvr>
                                        <p:cTn id="64" dur="700" decel="100000"/>
                                        <p:tgtEl>
                                          <p:spTgt spid="52"/>
                                        </p:tgtEl>
                                      </p:cBhvr>
                                    </p:animEffect>
                                  </p:childTnLst>
                                </p:cTn>
                              </p:par>
                              <p:par>
                                <p:cTn id="70" presetID="53" presetClass="entr" presetSubtype="16" fill="hold" grpId="0" nodeType="withEffect">
                                  <p:stCondLst>
                                    <p:cond delay="1340"/>
                                  </p:stCondLst>
                                  <p:childTnLst>
                                    <p:set>
                                      <p:cBhvr>
                                        <p:cTn id="66" dur="1" fill="hold">
                                          <p:stCondLst>
                                            <p:cond delay="0"/>
                                          </p:stCondLst>
                                        </p:cTn>
                                        <p:tgtEl>
                                          <p:spTgt spid="24"/>
                                        </p:tgtEl>
                                        <p:attrNameLst>
                                          <p:attrName>style.visibility</p:attrName>
                                        </p:attrNameLst>
                                      </p:cBhvr>
                                      <p:to>
                                        <p:strVal val="visible"/>
                                      </p:to>
                                    </p:set>
                                    <p:anim calcmode="lin" valueType="num">
                                      <p:cBhvr>
                                        <p:cTn id="67" dur="650" fill="hold" decel="100000"/>
                                        <p:tgtEl>
                                          <p:spTgt spid="24"/>
                                        </p:tgtEl>
                                        <p:attrNameLst>
                                          <p:attrName>ppt_w</p:attrName>
                                        </p:attrNameLst>
                                      </p:cBhvr>
                                      <p:tavLst>
                                        <p:tav tm="0">
                                          <p:val>
                                            <p:strVal val="#ppt_w*1.900"/>
                                          </p:val>
                                        </p:tav>
                                        <p:tav tm="100000">
                                          <p:val>
                                            <p:strVal val="#ppt_w"/>
                                          </p:val>
                                        </p:tav>
                                      </p:tavLst>
                                    </p:anim>
                                    <p:anim calcmode="lin" valueType="num">
                                      <p:cBhvr>
                                        <p:cTn id="68" dur="650" fill="hold" decel="100000"/>
                                        <p:tgtEl>
                                          <p:spTgt spid="24"/>
                                        </p:tgtEl>
                                        <p:attrNameLst>
                                          <p:attrName>ppt_h</p:attrName>
                                        </p:attrNameLst>
                                      </p:cBhvr>
                                      <p:tavLst>
                                        <p:tav tm="0">
                                          <p:val>
                                            <p:strVal val="#ppt_h*1.900"/>
                                          </p:val>
                                        </p:tav>
                                        <p:tav tm="100000">
                                          <p:val>
                                            <p:strVal val="#ppt_h"/>
                                          </p:val>
                                        </p:tav>
                                      </p:tavLst>
                                    </p:anim>
                                    <p:animEffect transition="in" filter="fade">
                                      <p:cBhvr>
                                        <p:cTn id="69" dur="454" decel="100000"/>
                                        <p:tgtEl>
                                          <p:spTgt spid="24"/>
                                        </p:tgtEl>
                                      </p:cBhvr>
                                    </p:animEffect>
                                  </p:childTnLst>
                                </p:cTn>
                              </p:par>
                              <p:par>
                                <p:cTn id="75" presetID="53" presetClass="entr" presetSubtype="16" fill="hold" grpId="0" nodeType="withEffect">
                                  <p:stCondLst>
                                    <p:cond delay="1395"/>
                                  </p:stCondLst>
                                  <p:childTnLst>
                                    <p:set>
                                      <p:cBhvr>
                                        <p:cTn id="71" dur="1" fill="hold">
                                          <p:stCondLst>
                                            <p:cond delay="0"/>
                                          </p:stCondLst>
                                        </p:cTn>
                                        <p:tgtEl>
                                          <p:spTgt spid="25"/>
                                        </p:tgtEl>
                                        <p:attrNameLst>
                                          <p:attrName>style.visibility</p:attrName>
                                        </p:attrNameLst>
                                      </p:cBhvr>
                                      <p:to>
                                        <p:strVal val="visible"/>
                                      </p:to>
                                    </p:set>
                                    <p:anim calcmode="lin" valueType="num">
                                      <p:cBhvr>
                                        <p:cTn id="72" dur="650" fill="hold" decel="100000"/>
                                        <p:tgtEl>
                                          <p:spTgt spid="25"/>
                                        </p:tgtEl>
                                        <p:attrNameLst>
                                          <p:attrName>ppt_w</p:attrName>
                                        </p:attrNameLst>
                                      </p:cBhvr>
                                      <p:tavLst>
                                        <p:tav tm="0">
                                          <p:val>
                                            <p:strVal val="#ppt_w*1.900"/>
                                          </p:val>
                                        </p:tav>
                                        <p:tav tm="100000">
                                          <p:val>
                                            <p:strVal val="#ppt_w"/>
                                          </p:val>
                                        </p:tav>
                                      </p:tavLst>
                                    </p:anim>
                                    <p:anim calcmode="lin" valueType="num">
                                      <p:cBhvr>
                                        <p:cTn id="73" dur="650" fill="hold" decel="100000"/>
                                        <p:tgtEl>
                                          <p:spTgt spid="25"/>
                                        </p:tgtEl>
                                        <p:attrNameLst>
                                          <p:attrName>ppt_h</p:attrName>
                                        </p:attrNameLst>
                                      </p:cBhvr>
                                      <p:tavLst>
                                        <p:tav tm="0">
                                          <p:val>
                                            <p:strVal val="#ppt_h*1.900"/>
                                          </p:val>
                                        </p:tav>
                                        <p:tav tm="100000">
                                          <p:val>
                                            <p:strVal val="#ppt_h"/>
                                          </p:val>
                                        </p:tav>
                                      </p:tavLst>
                                    </p:anim>
                                    <p:animEffect transition="in" filter="fade">
                                      <p:cBhvr>
                                        <p:cTn id="74" dur="454" decel="100000"/>
                                        <p:tgtEl>
                                          <p:spTgt spid="25"/>
                                        </p:tgtEl>
                                      </p:cBhvr>
                                    </p:animEffect>
                                  </p:childTnLst>
                                </p:cTn>
                              </p:par>
                              <p:par>
                                <p:cTn id="80" presetID="53" presetClass="entr" presetSubtype="16" fill="hold" grpId="0" nodeType="withEffect">
                                  <p:stCondLst>
                                    <p:cond delay="1450"/>
                                  </p:stCondLst>
                                  <p:childTnLst>
                                    <p:set>
                                      <p:cBhvr>
                                        <p:cTn id="76" dur="1" fill="hold">
                                          <p:stCondLst>
                                            <p:cond delay="0"/>
                                          </p:stCondLst>
                                        </p:cTn>
                                        <p:tgtEl>
                                          <p:spTgt spid="26"/>
                                        </p:tgtEl>
                                        <p:attrNameLst>
                                          <p:attrName>style.visibility</p:attrName>
                                        </p:attrNameLst>
                                      </p:cBhvr>
                                      <p:to>
                                        <p:strVal val="visible"/>
                                      </p:to>
                                    </p:set>
                                    <p:anim calcmode="lin" valueType="num">
                                      <p:cBhvr>
                                        <p:cTn id="77" dur="650" fill="hold" decel="100000"/>
                                        <p:tgtEl>
                                          <p:spTgt spid="26"/>
                                        </p:tgtEl>
                                        <p:attrNameLst>
                                          <p:attrName>ppt_w</p:attrName>
                                        </p:attrNameLst>
                                      </p:cBhvr>
                                      <p:tavLst>
                                        <p:tav tm="0">
                                          <p:val>
                                            <p:strVal val="#ppt_w*1.900"/>
                                          </p:val>
                                        </p:tav>
                                        <p:tav tm="100000">
                                          <p:val>
                                            <p:strVal val="#ppt_w"/>
                                          </p:val>
                                        </p:tav>
                                      </p:tavLst>
                                    </p:anim>
                                    <p:anim calcmode="lin" valueType="num">
                                      <p:cBhvr>
                                        <p:cTn id="78" dur="650" fill="hold" decel="100000"/>
                                        <p:tgtEl>
                                          <p:spTgt spid="26"/>
                                        </p:tgtEl>
                                        <p:attrNameLst>
                                          <p:attrName>ppt_h</p:attrName>
                                        </p:attrNameLst>
                                      </p:cBhvr>
                                      <p:tavLst>
                                        <p:tav tm="0">
                                          <p:val>
                                            <p:strVal val="#ppt_h*1.900"/>
                                          </p:val>
                                        </p:tav>
                                        <p:tav tm="100000">
                                          <p:val>
                                            <p:strVal val="#ppt_h"/>
                                          </p:val>
                                        </p:tav>
                                      </p:tavLst>
                                    </p:anim>
                                    <p:animEffect transition="in" filter="fade">
                                      <p:cBhvr>
                                        <p:cTn id="79" dur="454" decel="100000"/>
                                        <p:tgtEl>
                                          <p:spTgt spid="26"/>
                                        </p:tgtEl>
                                      </p:cBhvr>
                                    </p:animEffect>
                                  </p:childTnLst>
                                </p:cTn>
                              </p:par>
                              <p:par>
                                <p:cTn id="83" presetID="10" presetClass="entr" presetSubtype="0" fill="hold" grpId="0" nodeType="withEffect">
                                  <p:stCondLst>
                                    <p:cond delay="1450"/>
                                  </p:stCondLst>
                                  <p:childTnLst>
                                    <p:set>
                                      <p:cBhvr>
                                        <p:cTn id="81" dur="1" fill="hold">
                                          <p:stCondLst>
                                            <p:cond delay="0"/>
                                          </p:stCondLst>
                                        </p:cTn>
                                        <p:tgtEl>
                                          <p:spTgt spid="53"/>
                                        </p:tgtEl>
                                        <p:attrNameLst>
                                          <p:attrName>style.visibility</p:attrName>
                                        </p:attrNameLst>
                                      </p:cBhvr>
                                      <p:to>
                                        <p:strVal val="visible"/>
                                      </p:to>
                                    </p:set>
                                    <p:animEffect transition="in" filter="fade">
                                      <p:cBhvr>
                                        <p:cTn id="82" dur="700" decel="100000"/>
                                        <p:tgtEl>
                                          <p:spTgt spid="53"/>
                                        </p:tgtEl>
                                      </p:cBhvr>
                                    </p:animEffect>
                                  </p:childTnLst>
                                </p:cTn>
                              </p:par>
                              <p:par>
                                <p:cTn id="88" presetID="42" presetClass="entr" presetSubtype="0" fill="hold" grpId="0" nodeType="withEffect">
                                  <p:stCondLst>
                                    <p:cond delay="1500"/>
                                  </p:stCondLst>
                                  <p:childTnLst>
                                    <p:set>
                                      <p:cBhvr>
                                        <p:cTn id="84" dur="1" fill="hold">
                                          <p:stCondLst>
                                            <p:cond delay="0"/>
                                          </p:stCondLst>
                                        </p:cTn>
                                        <p:tgtEl>
                                          <p:spTgt spid="54"/>
                                        </p:tgtEl>
                                        <p:attrNameLst>
                                          <p:attrName>style.visibility</p:attrName>
                                        </p:attrNameLst>
                                      </p:cBhvr>
                                      <p:to>
                                        <p:strVal val="visible"/>
                                      </p:to>
                                    </p:set>
                                    <p:animEffect transition="in" filter="fade">
                                      <p:cBhvr>
                                        <p:cTn id="85" dur="640" decel="100000"/>
                                        <p:tgtEl>
                                          <p:spTgt spid="54"/>
                                        </p:tgtEl>
                                      </p:cBhvr>
                                    </p:animEffect>
                                    <p:anim calcmode="lin" valueType="num">
                                      <p:cBhvr>
                                        <p:cTn id="86" dur="800" fill="hold" decel="100000"/>
                                        <p:tgtEl>
                                          <p:spTgt spid="54"/>
                                        </p:tgtEl>
                                        <p:attrNameLst>
                                          <p:attrName>ppt_x</p:attrName>
                                        </p:attrNameLst>
                                      </p:cBhvr>
                                      <p:tavLst>
                                        <p:tav tm="0">
                                          <p:val>
                                            <p:strVal val="#ppt_x"/>
                                          </p:val>
                                        </p:tav>
                                        <p:tav tm="100000">
                                          <p:val>
                                            <p:strVal val="#ppt_x"/>
                                          </p:val>
                                        </p:tav>
                                      </p:tavLst>
                                    </p:anim>
                                    <p:anim calcmode="lin" valueType="num">
                                      <p:cBhvr>
                                        <p:cTn id="87" dur="800" fill="hold" decel="100000"/>
                                        <p:tgtEl>
                                          <p:spTgt spid="54"/>
                                        </p:tgtEl>
                                        <p:attrNameLst>
                                          <p:attrName>ppt_y</p:attrName>
                                        </p:attrNameLst>
                                      </p:cBhvr>
                                      <p:tavLst>
                                        <p:tav tm="0">
                                          <p:val>
                                            <p:strVal val="#ppt_y+0.0250"/>
                                          </p:val>
                                        </p:tav>
                                        <p:tav tm="100000">
                                          <p:val>
                                            <p:strVal val="#ppt_y"/>
                                          </p:val>
                                        </p:tav>
                                      </p:tavLst>
                                    </p:anim>
                                  </p:childTnLst>
                                </p:cTn>
                              </p:par>
                              <p:par>
                                <p:cTn id="93" presetID="42" presetClass="entr" presetSubtype="0" fill="hold" grpId="0" nodeType="withEffect">
                                  <p:stCondLst>
                                    <p:cond delay="1500"/>
                                  </p:stCondLst>
                                  <p:childTnLst>
                                    <p:set>
                                      <p:cBhvr>
                                        <p:cTn id="89" dur="1" fill="hold">
                                          <p:stCondLst>
                                            <p:cond delay="0"/>
                                          </p:stCondLst>
                                        </p:cTn>
                                        <p:tgtEl>
                                          <p:spTgt spid="55"/>
                                        </p:tgtEl>
                                        <p:attrNameLst>
                                          <p:attrName>style.visibility</p:attrName>
                                        </p:attrNameLst>
                                      </p:cBhvr>
                                      <p:to>
                                        <p:strVal val="visible"/>
                                      </p:to>
                                    </p:set>
                                    <p:animEffect transition="in" filter="fade">
                                      <p:cBhvr>
                                        <p:cTn id="90" dur="640" decel="100000"/>
                                        <p:tgtEl>
                                          <p:spTgt spid="55"/>
                                        </p:tgtEl>
                                      </p:cBhvr>
                                    </p:animEffect>
                                    <p:anim calcmode="lin" valueType="num">
                                      <p:cBhvr>
                                        <p:cTn id="91" dur="800" fill="hold" decel="100000"/>
                                        <p:tgtEl>
                                          <p:spTgt spid="55"/>
                                        </p:tgtEl>
                                        <p:attrNameLst>
                                          <p:attrName>ppt_x</p:attrName>
                                        </p:attrNameLst>
                                      </p:cBhvr>
                                      <p:tavLst>
                                        <p:tav tm="0">
                                          <p:val>
                                            <p:strVal val="#ppt_x"/>
                                          </p:val>
                                        </p:tav>
                                        <p:tav tm="100000">
                                          <p:val>
                                            <p:strVal val="#ppt_x"/>
                                          </p:val>
                                        </p:tav>
                                      </p:tavLst>
                                    </p:anim>
                                    <p:anim calcmode="lin" valueType="num">
                                      <p:cBhvr>
                                        <p:cTn id="92" dur="800" fill="hold" decel="100000"/>
                                        <p:tgtEl>
                                          <p:spTgt spid="55"/>
                                        </p:tgtEl>
                                        <p:attrNameLst>
                                          <p:attrName>ppt_y</p:attrName>
                                        </p:attrNameLst>
                                      </p:cBhvr>
                                      <p:tavLst>
                                        <p:tav tm="0">
                                          <p:val>
                                            <p:strVal val="#ppt_y+0.0250"/>
                                          </p:val>
                                        </p:tav>
                                        <p:tav tm="100000">
                                          <p:val>
                                            <p:strVal val="#ppt_y"/>
                                          </p:val>
                                        </p:tav>
                                      </p:tavLst>
                                    </p:anim>
                                  </p:childTnLst>
                                </p:cTn>
                              </p:par>
                              <p:par>
                                <p:cTn id="98" presetID="42" presetClass="entr" presetSubtype="0" fill="hold" grpId="0" nodeType="withEffect">
                                  <p:stCondLst>
                                    <p:cond delay="1500"/>
                                  </p:stCondLst>
                                  <p:childTnLst>
                                    <p:set>
                                      <p:cBhvr>
                                        <p:cTn id="94" dur="1" fill="hold">
                                          <p:stCondLst>
                                            <p:cond delay="0"/>
                                          </p:stCondLst>
                                        </p:cTn>
                                        <p:tgtEl>
                                          <p:spTgt spid="56"/>
                                        </p:tgtEl>
                                        <p:attrNameLst>
                                          <p:attrName>style.visibility</p:attrName>
                                        </p:attrNameLst>
                                      </p:cBhvr>
                                      <p:to>
                                        <p:strVal val="visible"/>
                                      </p:to>
                                    </p:set>
                                    <p:animEffect transition="in" filter="fade">
                                      <p:cBhvr>
                                        <p:cTn id="95" dur="640" decel="100000"/>
                                        <p:tgtEl>
                                          <p:spTgt spid="56"/>
                                        </p:tgtEl>
                                      </p:cBhvr>
                                    </p:animEffect>
                                    <p:anim calcmode="lin" valueType="num">
                                      <p:cBhvr>
                                        <p:cTn id="96" dur="800" fill="hold" decel="100000"/>
                                        <p:tgtEl>
                                          <p:spTgt spid="56"/>
                                        </p:tgtEl>
                                        <p:attrNameLst>
                                          <p:attrName>ppt_x</p:attrName>
                                        </p:attrNameLst>
                                      </p:cBhvr>
                                      <p:tavLst>
                                        <p:tav tm="0">
                                          <p:val>
                                            <p:strVal val="#ppt_x"/>
                                          </p:val>
                                        </p:tav>
                                        <p:tav tm="100000">
                                          <p:val>
                                            <p:strVal val="#ppt_x"/>
                                          </p:val>
                                        </p:tav>
                                      </p:tavLst>
                                    </p:anim>
                                    <p:anim calcmode="lin" valueType="num">
                                      <p:cBhvr>
                                        <p:cTn id="97" dur="800" fill="hold" decel="100000"/>
                                        <p:tgtEl>
                                          <p:spTgt spid="56"/>
                                        </p:tgtEl>
                                        <p:attrNameLst>
                                          <p:attrName>ppt_y</p:attrName>
                                        </p:attrNameLst>
                                      </p:cBhvr>
                                      <p:tavLst>
                                        <p:tav tm="0">
                                          <p:val>
                                            <p:strVal val="#ppt_y+0.0250"/>
                                          </p:val>
                                        </p:tav>
                                        <p:tav tm="100000">
                                          <p:val>
                                            <p:strVal val="#ppt_y"/>
                                          </p:val>
                                        </p:tav>
                                      </p:tavLst>
                                    </p:anim>
                                  </p:childTnLst>
                                </p:cTn>
                              </p:par>
                              <p:par>
                                <p:cTn id="103" presetID="53" presetClass="entr" presetSubtype="16" fill="hold" grpId="0" nodeType="withEffect">
                                  <p:stCondLst>
                                    <p:cond delay="1505"/>
                                  </p:stCondLst>
                                  <p:childTnLst>
                                    <p:set>
                                      <p:cBhvr>
                                        <p:cTn id="99" dur="1" fill="hold">
                                          <p:stCondLst>
                                            <p:cond delay="0"/>
                                          </p:stCondLst>
                                        </p:cTn>
                                        <p:tgtEl>
                                          <p:spTgt spid="28"/>
                                        </p:tgtEl>
                                        <p:attrNameLst>
                                          <p:attrName>style.visibility</p:attrName>
                                        </p:attrNameLst>
                                      </p:cBhvr>
                                      <p:to>
                                        <p:strVal val="visible"/>
                                      </p:to>
                                    </p:set>
                                    <p:anim calcmode="lin" valueType="num">
                                      <p:cBhvr>
                                        <p:cTn id="100" dur="650" fill="hold" decel="100000"/>
                                        <p:tgtEl>
                                          <p:spTgt spid="28"/>
                                        </p:tgtEl>
                                        <p:attrNameLst>
                                          <p:attrName>ppt_w</p:attrName>
                                        </p:attrNameLst>
                                      </p:cBhvr>
                                      <p:tavLst>
                                        <p:tav tm="0">
                                          <p:val>
                                            <p:strVal val="#ppt_w*1.900"/>
                                          </p:val>
                                        </p:tav>
                                        <p:tav tm="100000">
                                          <p:val>
                                            <p:strVal val="#ppt_w"/>
                                          </p:val>
                                        </p:tav>
                                      </p:tavLst>
                                    </p:anim>
                                    <p:anim calcmode="lin" valueType="num">
                                      <p:cBhvr>
                                        <p:cTn id="101" dur="650" fill="hold" decel="100000"/>
                                        <p:tgtEl>
                                          <p:spTgt spid="28"/>
                                        </p:tgtEl>
                                        <p:attrNameLst>
                                          <p:attrName>ppt_h</p:attrName>
                                        </p:attrNameLst>
                                      </p:cBhvr>
                                      <p:tavLst>
                                        <p:tav tm="0">
                                          <p:val>
                                            <p:strVal val="#ppt_h*1.900"/>
                                          </p:val>
                                        </p:tav>
                                        <p:tav tm="100000">
                                          <p:val>
                                            <p:strVal val="#ppt_h"/>
                                          </p:val>
                                        </p:tav>
                                      </p:tavLst>
                                    </p:anim>
                                    <p:animEffect transition="in" filter="fade">
                                      <p:cBhvr>
                                        <p:cTn id="102" dur="454" decel="100000"/>
                                        <p:tgtEl>
                                          <p:spTgt spid="28"/>
                                        </p:tgtEl>
                                      </p:cBhvr>
                                    </p:animEffect>
                                  </p:childTnLst>
                                </p:cTn>
                              </p:par>
                              <p:par>
                                <p:cTn id="108" presetID="53" presetClass="entr" presetSubtype="16" fill="hold" grpId="0" nodeType="withEffect">
                                  <p:stCondLst>
                                    <p:cond delay="1560"/>
                                  </p:stCondLst>
                                  <p:childTnLst>
                                    <p:set>
                                      <p:cBhvr>
                                        <p:cTn id="104" dur="1" fill="hold">
                                          <p:stCondLst>
                                            <p:cond delay="0"/>
                                          </p:stCondLst>
                                        </p:cTn>
                                        <p:tgtEl>
                                          <p:spTgt spid="30"/>
                                        </p:tgtEl>
                                        <p:attrNameLst>
                                          <p:attrName>style.visibility</p:attrName>
                                        </p:attrNameLst>
                                      </p:cBhvr>
                                      <p:to>
                                        <p:strVal val="visible"/>
                                      </p:to>
                                    </p:set>
                                    <p:anim calcmode="lin" valueType="num">
                                      <p:cBhvr>
                                        <p:cTn id="105" dur="650" fill="hold" decel="100000"/>
                                        <p:tgtEl>
                                          <p:spTgt spid="30"/>
                                        </p:tgtEl>
                                        <p:attrNameLst>
                                          <p:attrName>ppt_w</p:attrName>
                                        </p:attrNameLst>
                                      </p:cBhvr>
                                      <p:tavLst>
                                        <p:tav tm="0">
                                          <p:val>
                                            <p:strVal val="#ppt_w*1.900"/>
                                          </p:val>
                                        </p:tav>
                                        <p:tav tm="100000">
                                          <p:val>
                                            <p:strVal val="#ppt_w"/>
                                          </p:val>
                                        </p:tav>
                                      </p:tavLst>
                                    </p:anim>
                                    <p:anim calcmode="lin" valueType="num">
                                      <p:cBhvr>
                                        <p:cTn id="106" dur="650" fill="hold" decel="100000"/>
                                        <p:tgtEl>
                                          <p:spTgt spid="30"/>
                                        </p:tgtEl>
                                        <p:attrNameLst>
                                          <p:attrName>ppt_h</p:attrName>
                                        </p:attrNameLst>
                                      </p:cBhvr>
                                      <p:tavLst>
                                        <p:tav tm="0">
                                          <p:val>
                                            <p:strVal val="#ppt_h*1.900"/>
                                          </p:val>
                                        </p:tav>
                                        <p:tav tm="100000">
                                          <p:val>
                                            <p:strVal val="#ppt_h"/>
                                          </p:val>
                                        </p:tav>
                                      </p:tavLst>
                                    </p:anim>
                                    <p:animEffect transition="in" filter="fade">
                                      <p:cBhvr>
                                        <p:cTn id="107" dur="454" decel="100000"/>
                                        <p:tgtEl>
                                          <p:spTgt spid="30"/>
                                        </p:tgtEl>
                                      </p:cBhvr>
                                    </p:animEffect>
                                  </p:childTnLst>
                                </p:cTn>
                              </p:par>
                              <p:par>
                                <p:cTn id="113" presetID="53" presetClass="entr" presetSubtype="16" fill="hold" grpId="0" nodeType="withEffect">
                                  <p:stCondLst>
                                    <p:cond delay="1615"/>
                                  </p:stCondLst>
                                  <p:childTnLst>
                                    <p:set>
                                      <p:cBhvr>
                                        <p:cTn id="109" dur="1" fill="hold">
                                          <p:stCondLst>
                                            <p:cond delay="0"/>
                                          </p:stCondLst>
                                        </p:cTn>
                                        <p:tgtEl>
                                          <p:spTgt spid="32"/>
                                        </p:tgtEl>
                                        <p:attrNameLst>
                                          <p:attrName>style.visibility</p:attrName>
                                        </p:attrNameLst>
                                      </p:cBhvr>
                                      <p:to>
                                        <p:strVal val="visible"/>
                                      </p:to>
                                    </p:set>
                                    <p:anim calcmode="lin" valueType="num">
                                      <p:cBhvr>
                                        <p:cTn id="110" dur="650" fill="hold" decel="100000"/>
                                        <p:tgtEl>
                                          <p:spTgt spid="32"/>
                                        </p:tgtEl>
                                        <p:attrNameLst>
                                          <p:attrName>ppt_w</p:attrName>
                                        </p:attrNameLst>
                                      </p:cBhvr>
                                      <p:tavLst>
                                        <p:tav tm="0">
                                          <p:val>
                                            <p:strVal val="#ppt_w*1.900"/>
                                          </p:val>
                                        </p:tav>
                                        <p:tav tm="100000">
                                          <p:val>
                                            <p:strVal val="#ppt_w"/>
                                          </p:val>
                                        </p:tav>
                                      </p:tavLst>
                                    </p:anim>
                                    <p:anim calcmode="lin" valueType="num">
                                      <p:cBhvr>
                                        <p:cTn id="111" dur="650" fill="hold" decel="100000"/>
                                        <p:tgtEl>
                                          <p:spTgt spid="32"/>
                                        </p:tgtEl>
                                        <p:attrNameLst>
                                          <p:attrName>ppt_h</p:attrName>
                                        </p:attrNameLst>
                                      </p:cBhvr>
                                      <p:tavLst>
                                        <p:tav tm="0">
                                          <p:val>
                                            <p:strVal val="#ppt_h*1.900"/>
                                          </p:val>
                                        </p:tav>
                                        <p:tav tm="100000">
                                          <p:val>
                                            <p:strVal val="#ppt_h"/>
                                          </p:val>
                                        </p:tav>
                                      </p:tavLst>
                                    </p:anim>
                                    <p:animEffect transition="in" filter="fade">
                                      <p:cBhvr>
                                        <p:cTn id="112" dur="454" decel="100000"/>
                                        <p:tgtEl>
                                          <p:spTgt spid="32"/>
                                        </p:tgtEl>
                                      </p:cBhvr>
                                    </p:animEffect>
                                  </p:childTnLst>
                                </p:cTn>
                              </p:par>
                              <p:par>
                                <p:cTn id="118" presetID="42" presetClass="entr" presetSubtype="0" fill="hold" grpId="0" nodeType="withEffect">
                                  <p:stCondLst>
                                    <p:cond delay="1620"/>
                                  </p:stCondLst>
                                  <p:childTnLst>
                                    <p:set>
                                      <p:cBhvr>
                                        <p:cTn id="114" dur="1" fill="hold">
                                          <p:stCondLst>
                                            <p:cond delay="0"/>
                                          </p:stCondLst>
                                        </p:cTn>
                                        <p:tgtEl>
                                          <p:spTgt spid="59"/>
                                        </p:tgtEl>
                                        <p:attrNameLst>
                                          <p:attrName>style.visibility</p:attrName>
                                        </p:attrNameLst>
                                      </p:cBhvr>
                                      <p:to>
                                        <p:strVal val="visible"/>
                                      </p:to>
                                    </p:set>
                                    <p:animEffect transition="in" filter="fade">
                                      <p:cBhvr>
                                        <p:cTn id="115" dur="640" decel="100000"/>
                                        <p:tgtEl>
                                          <p:spTgt spid="59"/>
                                        </p:tgtEl>
                                      </p:cBhvr>
                                    </p:animEffect>
                                    <p:anim calcmode="lin" valueType="num">
                                      <p:cBhvr>
                                        <p:cTn id="116" dur="800" fill="hold" decel="100000"/>
                                        <p:tgtEl>
                                          <p:spTgt spid="59"/>
                                        </p:tgtEl>
                                        <p:attrNameLst>
                                          <p:attrName>ppt_x</p:attrName>
                                        </p:attrNameLst>
                                      </p:cBhvr>
                                      <p:tavLst>
                                        <p:tav tm="0">
                                          <p:val>
                                            <p:strVal val="#ppt_x"/>
                                          </p:val>
                                        </p:tav>
                                        <p:tav tm="100000">
                                          <p:val>
                                            <p:strVal val="#ppt_x"/>
                                          </p:val>
                                        </p:tav>
                                      </p:tavLst>
                                    </p:anim>
                                    <p:anim calcmode="lin" valueType="num">
                                      <p:cBhvr>
                                        <p:cTn id="117" dur="800" fill="hold" decel="100000"/>
                                        <p:tgtEl>
                                          <p:spTgt spid="59"/>
                                        </p:tgtEl>
                                        <p:attrNameLst>
                                          <p:attrName>ppt_y</p:attrName>
                                        </p:attrNameLst>
                                      </p:cBhvr>
                                      <p:tavLst>
                                        <p:tav tm="0">
                                          <p:val>
                                            <p:strVal val="#ppt_y+0.0250"/>
                                          </p:val>
                                        </p:tav>
                                        <p:tav tm="100000">
                                          <p:val>
                                            <p:strVal val="#ppt_y"/>
                                          </p:val>
                                        </p:tav>
                                      </p:tavLst>
                                    </p:anim>
                                  </p:childTnLst>
                                </p:cTn>
                              </p:par>
                              <p:par>
                                <p:cTn id="123" presetID="42" presetClass="entr" presetSubtype="0" fill="hold" grpId="0" nodeType="withEffect">
                                  <p:stCondLst>
                                    <p:cond delay="1620"/>
                                  </p:stCondLst>
                                  <p:childTnLst>
                                    <p:set>
                                      <p:cBhvr>
                                        <p:cTn id="119" dur="1" fill="hold">
                                          <p:stCondLst>
                                            <p:cond delay="0"/>
                                          </p:stCondLst>
                                        </p:cTn>
                                        <p:tgtEl>
                                          <p:spTgt spid="60"/>
                                        </p:tgtEl>
                                        <p:attrNameLst>
                                          <p:attrName>style.visibility</p:attrName>
                                        </p:attrNameLst>
                                      </p:cBhvr>
                                      <p:to>
                                        <p:strVal val="visible"/>
                                      </p:to>
                                    </p:set>
                                    <p:animEffect transition="in" filter="fade">
                                      <p:cBhvr>
                                        <p:cTn id="120" dur="640" decel="100000"/>
                                        <p:tgtEl>
                                          <p:spTgt spid="60"/>
                                        </p:tgtEl>
                                      </p:cBhvr>
                                    </p:animEffect>
                                    <p:anim calcmode="lin" valueType="num">
                                      <p:cBhvr>
                                        <p:cTn id="121" dur="800" fill="hold" decel="100000"/>
                                        <p:tgtEl>
                                          <p:spTgt spid="60"/>
                                        </p:tgtEl>
                                        <p:attrNameLst>
                                          <p:attrName>ppt_x</p:attrName>
                                        </p:attrNameLst>
                                      </p:cBhvr>
                                      <p:tavLst>
                                        <p:tav tm="0">
                                          <p:val>
                                            <p:strVal val="#ppt_x"/>
                                          </p:val>
                                        </p:tav>
                                        <p:tav tm="100000">
                                          <p:val>
                                            <p:strVal val="#ppt_x"/>
                                          </p:val>
                                        </p:tav>
                                      </p:tavLst>
                                    </p:anim>
                                    <p:anim calcmode="lin" valueType="num">
                                      <p:cBhvr>
                                        <p:cTn id="122" dur="800" fill="hold" decel="100000"/>
                                        <p:tgtEl>
                                          <p:spTgt spid="60"/>
                                        </p:tgtEl>
                                        <p:attrNameLst>
                                          <p:attrName>ppt_y</p:attrName>
                                        </p:attrNameLst>
                                      </p:cBhvr>
                                      <p:tavLst>
                                        <p:tav tm="0">
                                          <p:val>
                                            <p:strVal val="#ppt_y+0.0250"/>
                                          </p:val>
                                        </p:tav>
                                        <p:tav tm="100000">
                                          <p:val>
                                            <p:strVal val="#ppt_y"/>
                                          </p:val>
                                        </p:tav>
                                      </p:tavLst>
                                    </p:anim>
                                  </p:childTnLst>
                                </p:cTn>
                              </p:par>
                              <p:par>
                                <p:cTn id="128" presetID="42" presetClass="entr" presetSubtype="0" fill="hold" grpId="0" nodeType="withEffect">
                                  <p:stCondLst>
                                    <p:cond delay="1620"/>
                                  </p:stCondLst>
                                  <p:childTnLst>
                                    <p:set>
                                      <p:cBhvr>
                                        <p:cTn id="124" dur="1" fill="hold">
                                          <p:stCondLst>
                                            <p:cond delay="0"/>
                                          </p:stCondLst>
                                        </p:cTn>
                                        <p:tgtEl>
                                          <p:spTgt spid="61"/>
                                        </p:tgtEl>
                                        <p:attrNameLst>
                                          <p:attrName>style.visibility</p:attrName>
                                        </p:attrNameLst>
                                      </p:cBhvr>
                                      <p:to>
                                        <p:strVal val="visible"/>
                                      </p:to>
                                    </p:set>
                                    <p:animEffect transition="in" filter="fade">
                                      <p:cBhvr>
                                        <p:cTn id="125" dur="640" decel="100000"/>
                                        <p:tgtEl>
                                          <p:spTgt spid="61"/>
                                        </p:tgtEl>
                                      </p:cBhvr>
                                    </p:animEffect>
                                    <p:anim calcmode="lin" valueType="num">
                                      <p:cBhvr>
                                        <p:cTn id="126" dur="800" fill="hold" decel="100000"/>
                                        <p:tgtEl>
                                          <p:spTgt spid="61"/>
                                        </p:tgtEl>
                                        <p:attrNameLst>
                                          <p:attrName>ppt_x</p:attrName>
                                        </p:attrNameLst>
                                      </p:cBhvr>
                                      <p:tavLst>
                                        <p:tav tm="0">
                                          <p:val>
                                            <p:strVal val="#ppt_x"/>
                                          </p:val>
                                        </p:tav>
                                        <p:tav tm="100000">
                                          <p:val>
                                            <p:strVal val="#ppt_x"/>
                                          </p:val>
                                        </p:tav>
                                      </p:tavLst>
                                    </p:anim>
                                    <p:anim calcmode="lin" valueType="num">
                                      <p:cBhvr>
                                        <p:cTn id="127" dur="800" fill="hold" decel="100000"/>
                                        <p:tgtEl>
                                          <p:spTgt spid="61"/>
                                        </p:tgtEl>
                                        <p:attrNameLst>
                                          <p:attrName>ppt_y</p:attrName>
                                        </p:attrNameLst>
                                      </p:cBhvr>
                                      <p:tavLst>
                                        <p:tav tm="0">
                                          <p:val>
                                            <p:strVal val="#ppt_y+0.0250"/>
                                          </p:val>
                                        </p:tav>
                                        <p:tav tm="100000">
                                          <p:val>
                                            <p:strVal val="#ppt_y"/>
                                          </p:val>
                                        </p:tav>
                                      </p:tavLst>
                                    </p:anim>
                                  </p:childTnLst>
                                </p:cTn>
                              </p:par>
                              <p:par>
                                <p:cTn id="133" presetID="53" presetClass="entr" presetSubtype="16" fill="hold" grpId="0" nodeType="withEffect">
                                  <p:stCondLst>
                                    <p:cond delay="1670"/>
                                  </p:stCondLst>
                                  <p:childTnLst>
                                    <p:set>
                                      <p:cBhvr>
                                        <p:cTn id="129" dur="1" fill="hold">
                                          <p:stCondLst>
                                            <p:cond delay="0"/>
                                          </p:stCondLst>
                                        </p:cTn>
                                        <p:tgtEl>
                                          <p:spTgt spid="33"/>
                                        </p:tgtEl>
                                        <p:attrNameLst>
                                          <p:attrName>style.visibility</p:attrName>
                                        </p:attrNameLst>
                                      </p:cBhvr>
                                      <p:to>
                                        <p:strVal val="visible"/>
                                      </p:to>
                                    </p:set>
                                    <p:anim calcmode="lin" valueType="num">
                                      <p:cBhvr>
                                        <p:cTn id="130" dur="650" fill="hold" decel="100000"/>
                                        <p:tgtEl>
                                          <p:spTgt spid="33"/>
                                        </p:tgtEl>
                                        <p:attrNameLst>
                                          <p:attrName>ppt_w</p:attrName>
                                        </p:attrNameLst>
                                      </p:cBhvr>
                                      <p:tavLst>
                                        <p:tav tm="0">
                                          <p:val>
                                            <p:strVal val="#ppt_w*1.900"/>
                                          </p:val>
                                        </p:tav>
                                        <p:tav tm="100000">
                                          <p:val>
                                            <p:strVal val="#ppt_w"/>
                                          </p:val>
                                        </p:tav>
                                      </p:tavLst>
                                    </p:anim>
                                    <p:anim calcmode="lin" valueType="num">
                                      <p:cBhvr>
                                        <p:cTn id="131" dur="650" fill="hold" decel="100000"/>
                                        <p:tgtEl>
                                          <p:spTgt spid="33"/>
                                        </p:tgtEl>
                                        <p:attrNameLst>
                                          <p:attrName>ppt_h</p:attrName>
                                        </p:attrNameLst>
                                      </p:cBhvr>
                                      <p:tavLst>
                                        <p:tav tm="0">
                                          <p:val>
                                            <p:strVal val="#ppt_h*1.900"/>
                                          </p:val>
                                        </p:tav>
                                        <p:tav tm="100000">
                                          <p:val>
                                            <p:strVal val="#ppt_h"/>
                                          </p:val>
                                        </p:tav>
                                      </p:tavLst>
                                    </p:anim>
                                    <p:animEffect transition="in" filter="fade">
                                      <p:cBhvr>
                                        <p:cTn id="132" dur="454" decel="100000"/>
                                        <p:tgtEl>
                                          <p:spTgt spid="33"/>
                                        </p:tgtEl>
                                      </p:cBhvr>
                                    </p:animEffect>
                                  </p:childTnLst>
                                </p:cTn>
                              </p:par>
                              <p:par>
                                <p:cTn id="137" presetID="2" presetClass="entr" presetSubtype="0" fill="hold" grpId="0" nodeType="withEffect">
                                  <p:stCondLst>
                                    <p:cond delay="1700"/>
                                  </p:stCondLst>
                                  <p:childTnLst>
                                    <p:set>
                                      <p:cBhvr>
                                        <p:cTn id="134" dur="1" fill="hold">
                                          <p:stCondLst>
                                            <p:cond delay="0"/>
                                          </p:stCondLst>
                                        </p:cTn>
                                        <p:tgtEl>
                                          <p:spTgt spid="57"/>
                                        </p:tgtEl>
                                        <p:attrNameLst>
                                          <p:attrName>style.visibility</p:attrName>
                                        </p:attrNameLst>
                                      </p:cBhvr>
                                      <p:to>
                                        <p:strVal val="visible"/>
                                      </p:to>
                                    </p:set>
                                    <p:animEffect transition="in" filter="fade">
                                      <p:cBhvr>
                                        <p:cTn id="135" dur="350" decel="100000"/>
                                        <p:tgtEl>
                                          <p:spTgt spid="57"/>
                                        </p:tgtEl>
                                      </p:cBhvr>
                                    </p:animEffect>
                                    <p:animMotion origin="layout" path="M -0.0100 0.0000 L 0 0 E" pathEditMode="relative" ptsTypes="">
                                      <p:cBhvr>
                                        <p:cTn id="136" dur="700" fill="hold" decel="100000"/>
                                        <p:tgtEl>
                                          <p:spTgt spid="57"/>
                                        </p:tgtEl>
                                        <p:attrNameLst>
                                          <p:attrName>ppt_x</p:attrName>
                                          <p:attrName>ppt_y</p:attrName>
                                        </p:attrNameLst>
                                      </p:cBhvr>
                                      <p:rCtr x="0" y="0"/>
                                    </p:animMotion>
                                  </p:childTnLst>
                                </p:cTn>
                              </p:par>
                              <p:par>
                                <p:cTn id="142" presetID="53" presetClass="entr" presetSubtype="16" fill="hold" grpId="0" nodeType="withEffect">
                                  <p:stCondLst>
                                    <p:cond delay="1725"/>
                                  </p:stCondLst>
                                  <p:childTnLst>
                                    <p:set>
                                      <p:cBhvr>
                                        <p:cTn id="138" dur="1" fill="hold">
                                          <p:stCondLst>
                                            <p:cond delay="0"/>
                                          </p:stCondLst>
                                        </p:cTn>
                                        <p:tgtEl>
                                          <p:spTgt spid="35"/>
                                        </p:tgtEl>
                                        <p:attrNameLst>
                                          <p:attrName>style.visibility</p:attrName>
                                        </p:attrNameLst>
                                      </p:cBhvr>
                                      <p:to>
                                        <p:strVal val="visible"/>
                                      </p:to>
                                    </p:set>
                                    <p:anim calcmode="lin" valueType="num">
                                      <p:cBhvr>
                                        <p:cTn id="139" dur="650" fill="hold" decel="100000"/>
                                        <p:tgtEl>
                                          <p:spTgt spid="35"/>
                                        </p:tgtEl>
                                        <p:attrNameLst>
                                          <p:attrName>ppt_w</p:attrName>
                                        </p:attrNameLst>
                                      </p:cBhvr>
                                      <p:tavLst>
                                        <p:tav tm="0">
                                          <p:val>
                                            <p:strVal val="#ppt_w*1.900"/>
                                          </p:val>
                                        </p:tav>
                                        <p:tav tm="100000">
                                          <p:val>
                                            <p:strVal val="#ppt_w"/>
                                          </p:val>
                                        </p:tav>
                                      </p:tavLst>
                                    </p:anim>
                                    <p:anim calcmode="lin" valueType="num">
                                      <p:cBhvr>
                                        <p:cTn id="140" dur="650" fill="hold" decel="100000"/>
                                        <p:tgtEl>
                                          <p:spTgt spid="35"/>
                                        </p:tgtEl>
                                        <p:attrNameLst>
                                          <p:attrName>ppt_h</p:attrName>
                                        </p:attrNameLst>
                                      </p:cBhvr>
                                      <p:tavLst>
                                        <p:tav tm="0">
                                          <p:val>
                                            <p:strVal val="#ppt_h*1.900"/>
                                          </p:val>
                                        </p:tav>
                                        <p:tav tm="100000">
                                          <p:val>
                                            <p:strVal val="#ppt_h"/>
                                          </p:val>
                                        </p:tav>
                                      </p:tavLst>
                                    </p:anim>
                                    <p:animEffect transition="in" filter="fade">
                                      <p:cBhvr>
                                        <p:cTn id="141" dur="454" decel="100000"/>
                                        <p:tgtEl>
                                          <p:spTgt spid="35"/>
                                        </p:tgtEl>
                                      </p:cBhvr>
                                    </p:animEffect>
                                  </p:childTnLst>
                                </p:cTn>
                              </p:par>
                              <p:par>
                                <p:cTn id="147" presetID="42" presetClass="entr" presetSubtype="0" fill="hold" grpId="0" nodeType="withEffect">
                                  <p:stCondLst>
                                    <p:cond delay="1740"/>
                                  </p:stCondLst>
                                  <p:childTnLst>
                                    <p:set>
                                      <p:cBhvr>
                                        <p:cTn id="143" dur="1" fill="hold">
                                          <p:stCondLst>
                                            <p:cond delay="0"/>
                                          </p:stCondLst>
                                        </p:cTn>
                                        <p:tgtEl>
                                          <p:spTgt spid="64"/>
                                        </p:tgtEl>
                                        <p:attrNameLst>
                                          <p:attrName>style.visibility</p:attrName>
                                        </p:attrNameLst>
                                      </p:cBhvr>
                                      <p:to>
                                        <p:strVal val="visible"/>
                                      </p:to>
                                    </p:set>
                                    <p:animEffect transition="in" filter="fade">
                                      <p:cBhvr>
                                        <p:cTn id="144" dur="640" decel="100000"/>
                                        <p:tgtEl>
                                          <p:spTgt spid="64"/>
                                        </p:tgtEl>
                                      </p:cBhvr>
                                    </p:animEffect>
                                    <p:anim calcmode="lin" valueType="num">
                                      <p:cBhvr>
                                        <p:cTn id="145" dur="800" fill="hold" decel="100000"/>
                                        <p:tgtEl>
                                          <p:spTgt spid="64"/>
                                        </p:tgtEl>
                                        <p:attrNameLst>
                                          <p:attrName>ppt_x</p:attrName>
                                        </p:attrNameLst>
                                      </p:cBhvr>
                                      <p:tavLst>
                                        <p:tav tm="0">
                                          <p:val>
                                            <p:strVal val="#ppt_x"/>
                                          </p:val>
                                        </p:tav>
                                        <p:tav tm="100000">
                                          <p:val>
                                            <p:strVal val="#ppt_x"/>
                                          </p:val>
                                        </p:tav>
                                      </p:tavLst>
                                    </p:anim>
                                    <p:anim calcmode="lin" valueType="num">
                                      <p:cBhvr>
                                        <p:cTn id="146" dur="800" fill="hold" decel="100000"/>
                                        <p:tgtEl>
                                          <p:spTgt spid="64"/>
                                        </p:tgtEl>
                                        <p:attrNameLst>
                                          <p:attrName>ppt_y</p:attrName>
                                        </p:attrNameLst>
                                      </p:cBhvr>
                                      <p:tavLst>
                                        <p:tav tm="0">
                                          <p:val>
                                            <p:strVal val="#ppt_y+0.0250"/>
                                          </p:val>
                                        </p:tav>
                                        <p:tav tm="100000">
                                          <p:val>
                                            <p:strVal val="#ppt_y"/>
                                          </p:val>
                                        </p:tav>
                                      </p:tavLst>
                                    </p:anim>
                                  </p:childTnLst>
                                </p:cTn>
                              </p:par>
                              <p:par>
                                <p:cTn id="152" presetID="42" presetClass="entr" presetSubtype="0" fill="hold" grpId="0" nodeType="withEffect">
                                  <p:stCondLst>
                                    <p:cond delay="1740"/>
                                  </p:stCondLst>
                                  <p:childTnLst>
                                    <p:set>
                                      <p:cBhvr>
                                        <p:cTn id="148" dur="1" fill="hold">
                                          <p:stCondLst>
                                            <p:cond delay="0"/>
                                          </p:stCondLst>
                                        </p:cTn>
                                        <p:tgtEl>
                                          <p:spTgt spid="65"/>
                                        </p:tgtEl>
                                        <p:attrNameLst>
                                          <p:attrName>style.visibility</p:attrName>
                                        </p:attrNameLst>
                                      </p:cBhvr>
                                      <p:to>
                                        <p:strVal val="visible"/>
                                      </p:to>
                                    </p:set>
                                    <p:animEffect transition="in" filter="fade">
                                      <p:cBhvr>
                                        <p:cTn id="149" dur="640" decel="100000"/>
                                        <p:tgtEl>
                                          <p:spTgt spid="65"/>
                                        </p:tgtEl>
                                      </p:cBhvr>
                                    </p:animEffect>
                                    <p:anim calcmode="lin" valueType="num">
                                      <p:cBhvr>
                                        <p:cTn id="150" dur="800" fill="hold" decel="100000"/>
                                        <p:tgtEl>
                                          <p:spTgt spid="65"/>
                                        </p:tgtEl>
                                        <p:attrNameLst>
                                          <p:attrName>ppt_x</p:attrName>
                                        </p:attrNameLst>
                                      </p:cBhvr>
                                      <p:tavLst>
                                        <p:tav tm="0">
                                          <p:val>
                                            <p:strVal val="#ppt_x"/>
                                          </p:val>
                                        </p:tav>
                                        <p:tav tm="100000">
                                          <p:val>
                                            <p:strVal val="#ppt_x"/>
                                          </p:val>
                                        </p:tav>
                                      </p:tavLst>
                                    </p:anim>
                                    <p:anim calcmode="lin" valueType="num">
                                      <p:cBhvr>
                                        <p:cTn id="151" dur="800" fill="hold" decel="100000"/>
                                        <p:tgtEl>
                                          <p:spTgt spid="65"/>
                                        </p:tgtEl>
                                        <p:attrNameLst>
                                          <p:attrName>ppt_y</p:attrName>
                                        </p:attrNameLst>
                                      </p:cBhvr>
                                      <p:tavLst>
                                        <p:tav tm="0">
                                          <p:val>
                                            <p:strVal val="#ppt_y+0.0250"/>
                                          </p:val>
                                        </p:tav>
                                        <p:tav tm="100000">
                                          <p:val>
                                            <p:strVal val="#ppt_y"/>
                                          </p:val>
                                        </p:tav>
                                      </p:tavLst>
                                    </p:anim>
                                  </p:childTnLst>
                                </p:cTn>
                              </p:par>
                              <p:par>
                                <p:cTn id="157" presetID="42" presetClass="entr" presetSubtype="0" fill="hold" grpId="0" nodeType="withEffect">
                                  <p:stCondLst>
                                    <p:cond delay="1740"/>
                                  </p:stCondLst>
                                  <p:childTnLst>
                                    <p:set>
                                      <p:cBhvr>
                                        <p:cTn id="153" dur="1" fill="hold">
                                          <p:stCondLst>
                                            <p:cond delay="0"/>
                                          </p:stCondLst>
                                        </p:cTn>
                                        <p:tgtEl>
                                          <p:spTgt spid="66"/>
                                        </p:tgtEl>
                                        <p:attrNameLst>
                                          <p:attrName>style.visibility</p:attrName>
                                        </p:attrNameLst>
                                      </p:cBhvr>
                                      <p:to>
                                        <p:strVal val="visible"/>
                                      </p:to>
                                    </p:set>
                                    <p:animEffect transition="in" filter="fade">
                                      <p:cBhvr>
                                        <p:cTn id="154" dur="640" decel="100000"/>
                                        <p:tgtEl>
                                          <p:spTgt spid="66"/>
                                        </p:tgtEl>
                                      </p:cBhvr>
                                    </p:animEffect>
                                    <p:anim calcmode="lin" valueType="num">
                                      <p:cBhvr>
                                        <p:cTn id="155" dur="800" fill="hold" decel="100000"/>
                                        <p:tgtEl>
                                          <p:spTgt spid="66"/>
                                        </p:tgtEl>
                                        <p:attrNameLst>
                                          <p:attrName>ppt_x</p:attrName>
                                        </p:attrNameLst>
                                      </p:cBhvr>
                                      <p:tavLst>
                                        <p:tav tm="0">
                                          <p:val>
                                            <p:strVal val="#ppt_x"/>
                                          </p:val>
                                        </p:tav>
                                        <p:tav tm="100000">
                                          <p:val>
                                            <p:strVal val="#ppt_x"/>
                                          </p:val>
                                        </p:tav>
                                      </p:tavLst>
                                    </p:anim>
                                    <p:anim calcmode="lin" valueType="num">
                                      <p:cBhvr>
                                        <p:cTn id="156" dur="800" fill="hold" decel="100000"/>
                                        <p:tgtEl>
                                          <p:spTgt spid="66"/>
                                        </p:tgtEl>
                                        <p:attrNameLst>
                                          <p:attrName>ppt_y</p:attrName>
                                        </p:attrNameLst>
                                      </p:cBhvr>
                                      <p:tavLst>
                                        <p:tav tm="0">
                                          <p:val>
                                            <p:strVal val="#ppt_y+0.0250"/>
                                          </p:val>
                                        </p:tav>
                                        <p:tav tm="100000">
                                          <p:val>
                                            <p:strVal val="#ppt_y"/>
                                          </p:val>
                                        </p:tav>
                                      </p:tavLst>
                                    </p:anim>
                                  </p:childTnLst>
                                </p:cTn>
                              </p:par>
                              <p:par>
                                <p:cTn id="162" presetID="53" presetClass="entr" presetSubtype="16" fill="hold" grpId="0" nodeType="withEffect">
                                  <p:stCondLst>
                                    <p:cond delay="1780"/>
                                  </p:stCondLst>
                                  <p:childTnLst>
                                    <p:set>
                                      <p:cBhvr>
                                        <p:cTn id="158" dur="1" fill="hold">
                                          <p:stCondLst>
                                            <p:cond delay="0"/>
                                          </p:stCondLst>
                                        </p:cTn>
                                        <p:tgtEl>
                                          <p:spTgt spid="37"/>
                                        </p:tgtEl>
                                        <p:attrNameLst>
                                          <p:attrName>style.visibility</p:attrName>
                                        </p:attrNameLst>
                                      </p:cBhvr>
                                      <p:to>
                                        <p:strVal val="visible"/>
                                      </p:to>
                                    </p:set>
                                    <p:anim calcmode="lin" valueType="num">
                                      <p:cBhvr>
                                        <p:cTn id="159" dur="650" fill="hold" decel="100000"/>
                                        <p:tgtEl>
                                          <p:spTgt spid="37"/>
                                        </p:tgtEl>
                                        <p:attrNameLst>
                                          <p:attrName>ppt_w</p:attrName>
                                        </p:attrNameLst>
                                      </p:cBhvr>
                                      <p:tavLst>
                                        <p:tav tm="0">
                                          <p:val>
                                            <p:strVal val="#ppt_w*1.900"/>
                                          </p:val>
                                        </p:tav>
                                        <p:tav tm="100000">
                                          <p:val>
                                            <p:strVal val="#ppt_w"/>
                                          </p:val>
                                        </p:tav>
                                      </p:tavLst>
                                    </p:anim>
                                    <p:anim calcmode="lin" valueType="num">
                                      <p:cBhvr>
                                        <p:cTn id="160" dur="650" fill="hold" decel="100000"/>
                                        <p:tgtEl>
                                          <p:spTgt spid="37"/>
                                        </p:tgtEl>
                                        <p:attrNameLst>
                                          <p:attrName>ppt_h</p:attrName>
                                        </p:attrNameLst>
                                      </p:cBhvr>
                                      <p:tavLst>
                                        <p:tav tm="0">
                                          <p:val>
                                            <p:strVal val="#ppt_h*1.900"/>
                                          </p:val>
                                        </p:tav>
                                        <p:tav tm="100000">
                                          <p:val>
                                            <p:strVal val="#ppt_h"/>
                                          </p:val>
                                        </p:tav>
                                      </p:tavLst>
                                    </p:anim>
                                    <p:animEffect transition="in" filter="fade">
                                      <p:cBhvr>
                                        <p:cTn id="161" dur="454" decel="100000"/>
                                        <p:tgtEl>
                                          <p:spTgt spid="37"/>
                                        </p:tgtEl>
                                      </p:cBhvr>
                                    </p:animEffect>
                                  </p:childTnLst>
                                </p:cTn>
                              </p:par>
                              <p:par>
                                <p:cTn id="165" presetID="10" presetClass="entr" presetSubtype="0" fill="hold" grpId="0" nodeType="withEffect">
                                  <p:stCondLst>
                                    <p:cond delay="1800"/>
                                  </p:stCondLst>
                                  <p:childTnLst>
                                    <p:set>
                                      <p:cBhvr>
                                        <p:cTn id="163" dur="1" fill="hold">
                                          <p:stCondLst>
                                            <p:cond delay="0"/>
                                          </p:stCondLst>
                                        </p:cTn>
                                        <p:tgtEl>
                                          <p:spTgt spid="8"/>
                                        </p:tgtEl>
                                        <p:attrNameLst>
                                          <p:attrName>style.visibility</p:attrName>
                                        </p:attrNameLst>
                                      </p:cBhvr>
                                      <p:to>
                                        <p:strVal val="visible"/>
                                      </p:to>
                                    </p:set>
                                    <p:animEffect transition="in" filter="fade">
                                      <p:cBhvr>
                                        <p:cTn id="164" dur="700" decel="100000"/>
                                        <p:tgtEl>
                                          <p:spTgt spid="8"/>
                                        </p:tgtEl>
                                      </p:cBhvr>
                                    </p:animEffect>
                                  </p:childTnLst>
                                </p:cTn>
                              </p:par>
                              <p:par>
                                <p:cTn id="168" presetID="10" presetClass="entr" presetSubtype="0" fill="hold" grpId="0" nodeType="withEffect">
                                  <p:stCondLst>
                                    <p:cond delay="1800"/>
                                  </p:stCondLst>
                                  <p:childTnLst>
                                    <p:set>
                                      <p:cBhvr>
                                        <p:cTn id="166" dur="1" fill="hold">
                                          <p:stCondLst>
                                            <p:cond delay="0"/>
                                          </p:stCondLst>
                                        </p:cTn>
                                        <p:tgtEl>
                                          <p:spTgt spid="10"/>
                                        </p:tgtEl>
                                        <p:attrNameLst>
                                          <p:attrName>style.visibility</p:attrName>
                                        </p:attrNameLst>
                                      </p:cBhvr>
                                      <p:to>
                                        <p:strVal val="visible"/>
                                      </p:to>
                                    </p:set>
                                    <p:animEffect transition="in" filter="fade">
                                      <p:cBhvr>
                                        <p:cTn id="167" dur="700" decel="100000"/>
                                        <p:tgtEl>
                                          <p:spTgt spid="10"/>
                                        </p:tgtEl>
                                      </p:cBhvr>
                                    </p:animEffect>
                                  </p:childTnLst>
                                </p:cTn>
                              </p:par>
                              <p:par>
                                <p:cTn id="171" presetID="10" presetClass="entr" presetSubtype="0" fill="hold" grpId="0" nodeType="withEffect">
                                  <p:stCondLst>
                                    <p:cond delay="1800"/>
                                  </p:stCondLst>
                                  <p:childTnLst>
                                    <p:set>
                                      <p:cBhvr>
                                        <p:cTn id="169" dur="1" fill="hold">
                                          <p:stCondLst>
                                            <p:cond delay="0"/>
                                          </p:stCondLst>
                                        </p:cTn>
                                        <p:tgtEl>
                                          <p:spTgt spid="11"/>
                                        </p:tgtEl>
                                        <p:attrNameLst>
                                          <p:attrName>style.visibility</p:attrName>
                                        </p:attrNameLst>
                                      </p:cBhvr>
                                      <p:to>
                                        <p:strVal val="visible"/>
                                      </p:to>
                                    </p:set>
                                    <p:animEffect transition="in" filter="fade">
                                      <p:cBhvr>
                                        <p:cTn id="170" dur="700" decel="100000"/>
                                        <p:tgtEl>
                                          <p:spTgt spid="11"/>
                                        </p:tgtEl>
                                      </p:cBhvr>
                                    </p:animEffect>
                                  </p:childTnLst>
                                </p:cTn>
                              </p:par>
                              <p:par>
                                <p:cTn id="174" presetID="10" presetClass="entr" presetSubtype="0" fill="hold" grpId="0" nodeType="withEffect">
                                  <p:stCondLst>
                                    <p:cond delay="1800"/>
                                  </p:stCondLst>
                                  <p:childTnLst>
                                    <p:set>
                                      <p:cBhvr>
                                        <p:cTn id="172" dur="1" fill="hold">
                                          <p:stCondLst>
                                            <p:cond delay="0"/>
                                          </p:stCondLst>
                                        </p:cTn>
                                        <p:tgtEl>
                                          <p:spTgt spid="13"/>
                                        </p:tgtEl>
                                        <p:attrNameLst>
                                          <p:attrName>style.visibility</p:attrName>
                                        </p:attrNameLst>
                                      </p:cBhvr>
                                      <p:to>
                                        <p:strVal val="visible"/>
                                      </p:to>
                                    </p:set>
                                    <p:animEffect transition="in" filter="fade">
                                      <p:cBhvr>
                                        <p:cTn id="173" dur="700" decel="100000"/>
                                        <p:tgtEl>
                                          <p:spTgt spid="13"/>
                                        </p:tgtEl>
                                      </p:cBhvr>
                                    </p:animEffect>
                                  </p:childTnLst>
                                </p:cTn>
                              </p:par>
                              <p:par>
                                <p:cTn id="177" presetID="10" presetClass="entr" presetSubtype="0" fill="hold" grpId="0" nodeType="withEffect">
                                  <p:stCondLst>
                                    <p:cond delay="1800"/>
                                  </p:stCondLst>
                                  <p:childTnLst>
                                    <p:set>
                                      <p:cBhvr>
                                        <p:cTn id="175" dur="1" fill="hold">
                                          <p:stCondLst>
                                            <p:cond delay="0"/>
                                          </p:stCondLst>
                                        </p:cTn>
                                        <p:tgtEl>
                                          <p:spTgt spid="15"/>
                                        </p:tgtEl>
                                        <p:attrNameLst>
                                          <p:attrName>style.visibility</p:attrName>
                                        </p:attrNameLst>
                                      </p:cBhvr>
                                      <p:to>
                                        <p:strVal val="visible"/>
                                      </p:to>
                                    </p:set>
                                    <p:animEffect transition="in" filter="fade">
                                      <p:cBhvr>
                                        <p:cTn id="176" dur="700" decel="100000"/>
                                        <p:tgtEl>
                                          <p:spTgt spid="15"/>
                                        </p:tgtEl>
                                      </p:cBhvr>
                                    </p:animEffect>
                                  </p:childTnLst>
                                </p:cTn>
                              </p:par>
                              <p:par>
                                <p:cTn id="180" presetID="10" presetClass="entr" presetSubtype="0" fill="hold" grpId="0" nodeType="withEffect">
                                  <p:stCondLst>
                                    <p:cond delay="1800"/>
                                  </p:stCondLst>
                                  <p:childTnLst>
                                    <p:set>
                                      <p:cBhvr>
                                        <p:cTn id="178" dur="1" fill="hold">
                                          <p:stCondLst>
                                            <p:cond delay="0"/>
                                          </p:stCondLst>
                                        </p:cTn>
                                        <p:tgtEl>
                                          <p:spTgt spid="17"/>
                                        </p:tgtEl>
                                        <p:attrNameLst>
                                          <p:attrName>style.visibility</p:attrName>
                                        </p:attrNameLst>
                                      </p:cBhvr>
                                      <p:to>
                                        <p:strVal val="visible"/>
                                      </p:to>
                                    </p:set>
                                    <p:animEffect transition="in" filter="fade">
                                      <p:cBhvr>
                                        <p:cTn id="179" dur="700" decel="100000"/>
                                        <p:tgtEl>
                                          <p:spTgt spid="17"/>
                                        </p:tgtEl>
                                      </p:cBhvr>
                                    </p:animEffect>
                                  </p:childTnLst>
                                </p:cTn>
                              </p:par>
                              <p:par>
                                <p:cTn id="183" presetID="10" presetClass="entr" presetSubtype="0" fill="hold" grpId="0" nodeType="withEffect">
                                  <p:stCondLst>
                                    <p:cond delay="1800"/>
                                  </p:stCondLst>
                                  <p:childTnLst>
                                    <p:set>
                                      <p:cBhvr>
                                        <p:cTn id="181" dur="1" fill="hold">
                                          <p:stCondLst>
                                            <p:cond delay="0"/>
                                          </p:stCondLst>
                                        </p:cTn>
                                        <p:tgtEl>
                                          <p:spTgt spid="19"/>
                                        </p:tgtEl>
                                        <p:attrNameLst>
                                          <p:attrName>style.visibility</p:attrName>
                                        </p:attrNameLst>
                                      </p:cBhvr>
                                      <p:to>
                                        <p:strVal val="visible"/>
                                      </p:to>
                                    </p:set>
                                    <p:animEffect transition="in" filter="fade">
                                      <p:cBhvr>
                                        <p:cTn id="182" dur="700" decel="100000"/>
                                        <p:tgtEl>
                                          <p:spTgt spid="19"/>
                                        </p:tgtEl>
                                      </p:cBhvr>
                                    </p:animEffect>
                                  </p:childTnLst>
                                </p:cTn>
                              </p:par>
                              <p:par>
                                <p:cTn id="186" presetID="10" presetClass="entr" presetSubtype="0" fill="hold" grpId="0" nodeType="withEffect">
                                  <p:stCondLst>
                                    <p:cond delay="1800"/>
                                  </p:stCondLst>
                                  <p:childTnLst>
                                    <p:set>
                                      <p:cBhvr>
                                        <p:cTn id="184" dur="1" fill="hold">
                                          <p:stCondLst>
                                            <p:cond delay="0"/>
                                          </p:stCondLst>
                                        </p:cTn>
                                        <p:tgtEl>
                                          <p:spTgt spid="21"/>
                                        </p:tgtEl>
                                        <p:attrNameLst>
                                          <p:attrName>style.visibility</p:attrName>
                                        </p:attrNameLst>
                                      </p:cBhvr>
                                      <p:to>
                                        <p:strVal val="visible"/>
                                      </p:to>
                                    </p:set>
                                    <p:animEffect transition="in" filter="fade">
                                      <p:cBhvr>
                                        <p:cTn id="185" dur="700" decel="100000"/>
                                        <p:tgtEl>
                                          <p:spTgt spid="21"/>
                                        </p:tgtEl>
                                      </p:cBhvr>
                                    </p:animEffect>
                                  </p:childTnLst>
                                </p:cTn>
                              </p:par>
                              <p:par>
                                <p:cTn id="189" presetID="10" presetClass="entr" presetSubtype="0" fill="hold" grpId="0" nodeType="withEffect">
                                  <p:stCondLst>
                                    <p:cond delay="1800"/>
                                  </p:stCondLst>
                                  <p:childTnLst>
                                    <p:set>
                                      <p:cBhvr>
                                        <p:cTn id="187" dur="1" fill="hold">
                                          <p:stCondLst>
                                            <p:cond delay="0"/>
                                          </p:stCondLst>
                                        </p:cTn>
                                        <p:tgtEl>
                                          <p:spTgt spid="23"/>
                                        </p:tgtEl>
                                        <p:attrNameLst>
                                          <p:attrName>style.visibility</p:attrName>
                                        </p:attrNameLst>
                                      </p:cBhvr>
                                      <p:to>
                                        <p:strVal val="visible"/>
                                      </p:to>
                                    </p:set>
                                    <p:animEffect transition="in" filter="fade">
                                      <p:cBhvr>
                                        <p:cTn id="188" dur="700" decel="100000"/>
                                        <p:tgtEl>
                                          <p:spTgt spid="23"/>
                                        </p:tgtEl>
                                      </p:cBhvr>
                                    </p:animEffect>
                                  </p:childTnLst>
                                </p:cTn>
                              </p:par>
                              <p:par>
                                <p:cTn id="193" presetID="2" presetClass="entr" presetSubtype="0" fill="hold" grpId="0" nodeType="withEffect">
                                  <p:stCondLst>
                                    <p:cond delay="1820"/>
                                  </p:stCondLst>
                                  <p:childTnLst>
                                    <p:set>
                                      <p:cBhvr>
                                        <p:cTn id="190" dur="1" fill="hold">
                                          <p:stCondLst>
                                            <p:cond delay="0"/>
                                          </p:stCondLst>
                                        </p:cTn>
                                        <p:tgtEl>
                                          <p:spTgt spid="62"/>
                                        </p:tgtEl>
                                        <p:attrNameLst>
                                          <p:attrName>style.visibility</p:attrName>
                                        </p:attrNameLst>
                                      </p:cBhvr>
                                      <p:to>
                                        <p:strVal val="visible"/>
                                      </p:to>
                                    </p:set>
                                    <p:animEffect transition="in" filter="fade">
                                      <p:cBhvr>
                                        <p:cTn id="191" dur="350" decel="100000"/>
                                        <p:tgtEl>
                                          <p:spTgt spid="62"/>
                                        </p:tgtEl>
                                      </p:cBhvr>
                                    </p:animEffect>
                                    <p:animMotion origin="layout" path="M -0.0100 0.0000 L 0 0 E" pathEditMode="relative" ptsTypes="">
                                      <p:cBhvr>
                                        <p:cTn id="192" dur="700" fill="hold" decel="100000"/>
                                        <p:tgtEl>
                                          <p:spTgt spid="62"/>
                                        </p:tgtEl>
                                        <p:attrNameLst>
                                          <p:attrName>ppt_x</p:attrName>
                                          <p:attrName>ppt_y</p:attrName>
                                        </p:attrNameLst>
                                      </p:cBhvr>
                                      <p:rCtr x="0" y="0"/>
                                    </p:animMotion>
                                  </p:childTnLst>
                                </p:cTn>
                              </p:par>
                              <p:par>
                                <p:cTn id="198" presetID="53" presetClass="entr" presetSubtype="16" fill="hold" grpId="0" nodeType="withEffect">
                                  <p:stCondLst>
                                    <p:cond delay="1835"/>
                                  </p:stCondLst>
                                  <p:childTnLst>
                                    <p:set>
                                      <p:cBhvr>
                                        <p:cTn id="194" dur="1" fill="hold">
                                          <p:stCondLst>
                                            <p:cond delay="0"/>
                                          </p:stCondLst>
                                        </p:cTn>
                                        <p:tgtEl>
                                          <p:spTgt spid="38"/>
                                        </p:tgtEl>
                                        <p:attrNameLst>
                                          <p:attrName>style.visibility</p:attrName>
                                        </p:attrNameLst>
                                      </p:cBhvr>
                                      <p:to>
                                        <p:strVal val="visible"/>
                                      </p:to>
                                    </p:set>
                                    <p:anim calcmode="lin" valueType="num">
                                      <p:cBhvr>
                                        <p:cTn id="195" dur="650" fill="hold" decel="100000"/>
                                        <p:tgtEl>
                                          <p:spTgt spid="38"/>
                                        </p:tgtEl>
                                        <p:attrNameLst>
                                          <p:attrName>ppt_w</p:attrName>
                                        </p:attrNameLst>
                                      </p:cBhvr>
                                      <p:tavLst>
                                        <p:tav tm="0">
                                          <p:val>
                                            <p:strVal val="#ppt_w*1.900"/>
                                          </p:val>
                                        </p:tav>
                                        <p:tav tm="100000">
                                          <p:val>
                                            <p:strVal val="#ppt_w"/>
                                          </p:val>
                                        </p:tav>
                                      </p:tavLst>
                                    </p:anim>
                                    <p:anim calcmode="lin" valueType="num">
                                      <p:cBhvr>
                                        <p:cTn id="196" dur="650" fill="hold" decel="100000"/>
                                        <p:tgtEl>
                                          <p:spTgt spid="38"/>
                                        </p:tgtEl>
                                        <p:attrNameLst>
                                          <p:attrName>ppt_h</p:attrName>
                                        </p:attrNameLst>
                                      </p:cBhvr>
                                      <p:tavLst>
                                        <p:tav tm="0">
                                          <p:val>
                                            <p:strVal val="#ppt_h*1.900"/>
                                          </p:val>
                                        </p:tav>
                                        <p:tav tm="100000">
                                          <p:val>
                                            <p:strVal val="#ppt_h"/>
                                          </p:val>
                                        </p:tav>
                                      </p:tavLst>
                                    </p:anim>
                                    <p:animEffect transition="in" filter="fade">
                                      <p:cBhvr>
                                        <p:cTn id="197" dur="454" decel="100000"/>
                                        <p:tgtEl>
                                          <p:spTgt spid="38"/>
                                        </p:tgtEl>
                                      </p:cBhvr>
                                    </p:animEffect>
                                  </p:childTnLst>
                                </p:cTn>
                              </p:par>
                              <p:par>
                                <p:cTn id="203" presetID="42" presetClass="entr" presetSubtype="0" fill="hold" grpId="0" nodeType="withEffect">
                                  <p:stCondLst>
                                    <p:cond delay="1860"/>
                                  </p:stCondLst>
                                  <p:childTnLst>
                                    <p:set>
                                      <p:cBhvr>
                                        <p:cTn id="199" dur="1" fill="hold">
                                          <p:stCondLst>
                                            <p:cond delay="0"/>
                                          </p:stCondLst>
                                        </p:cTn>
                                        <p:tgtEl>
                                          <p:spTgt spid="69"/>
                                        </p:tgtEl>
                                        <p:attrNameLst>
                                          <p:attrName>style.visibility</p:attrName>
                                        </p:attrNameLst>
                                      </p:cBhvr>
                                      <p:to>
                                        <p:strVal val="visible"/>
                                      </p:to>
                                    </p:set>
                                    <p:animEffect transition="in" filter="fade">
                                      <p:cBhvr>
                                        <p:cTn id="200" dur="640" decel="100000"/>
                                        <p:tgtEl>
                                          <p:spTgt spid="69"/>
                                        </p:tgtEl>
                                      </p:cBhvr>
                                    </p:animEffect>
                                    <p:anim calcmode="lin" valueType="num">
                                      <p:cBhvr>
                                        <p:cTn id="201" dur="800" fill="hold" decel="100000"/>
                                        <p:tgtEl>
                                          <p:spTgt spid="69"/>
                                        </p:tgtEl>
                                        <p:attrNameLst>
                                          <p:attrName>ppt_x</p:attrName>
                                        </p:attrNameLst>
                                      </p:cBhvr>
                                      <p:tavLst>
                                        <p:tav tm="0">
                                          <p:val>
                                            <p:strVal val="#ppt_x"/>
                                          </p:val>
                                        </p:tav>
                                        <p:tav tm="100000">
                                          <p:val>
                                            <p:strVal val="#ppt_x"/>
                                          </p:val>
                                        </p:tav>
                                      </p:tavLst>
                                    </p:anim>
                                    <p:anim calcmode="lin" valueType="num">
                                      <p:cBhvr>
                                        <p:cTn id="202" dur="800" fill="hold" decel="100000"/>
                                        <p:tgtEl>
                                          <p:spTgt spid="69"/>
                                        </p:tgtEl>
                                        <p:attrNameLst>
                                          <p:attrName>ppt_y</p:attrName>
                                        </p:attrNameLst>
                                      </p:cBhvr>
                                      <p:tavLst>
                                        <p:tav tm="0">
                                          <p:val>
                                            <p:strVal val="#ppt_y+0.0250"/>
                                          </p:val>
                                        </p:tav>
                                        <p:tav tm="100000">
                                          <p:val>
                                            <p:strVal val="#ppt_y"/>
                                          </p:val>
                                        </p:tav>
                                      </p:tavLst>
                                    </p:anim>
                                  </p:childTnLst>
                                </p:cTn>
                              </p:par>
                              <p:par>
                                <p:cTn id="208" presetID="42" presetClass="entr" presetSubtype="0" fill="hold" grpId="0" nodeType="withEffect">
                                  <p:stCondLst>
                                    <p:cond delay="1860"/>
                                  </p:stCondLst>
                                  <p:childTnLst>
                                    <p:set>
                                      <p:cBhvr>
                                        <p:cTn id="204" dur="1" fill="hold">
                                          <p:stCondLst>
                                            <p:cond delay="0"/>
                                          </p:stCondLst>
                                        </p:cTn>
                                        <p:tgtEl>
                                          <p:spTgt spid="70"/>
                                        </p:tgtEl>
                                        <p:attrNameLst>
                                          <p:attrName>style.visibility</p:attrName>
                                        </p:attrNameLst>
                                      </p:cBhvr>
                                      <p:to>
                                        <p:strVal val="visible"/>
                                      </p:to>
                                    </p:set>
                                    <p:animEffect transition="in" filter="fade">
                                      <p:cBhvr>
                                        <p:cTn id="205" dur="640" decel="100000"/>
                                        <p:tgtEl>
                                          <p:spTgt spid="70"/>
                                        </p:tgtEl>
                                      </p:cBhvr>
                                    </p:animEffect>
                                    <p:anim calcmode="lin" valueType="num">
                                      <p:cBhvr>
                                        <p:cTn id="206" dur="800" fill="hold" decel="100000"/>
                                        <p:tgtEl>
                                          <p:spTgt spid="70"/>
                                        </p:tgtEl>
                                        <p:attrNameLst>
                                          <p:attrName>ppt_x</p:attrName>
                                        </p:attrNameLst>
                                      </p:cBhvr>
                                      <p:tavLst>
                                        <p:tav tm="0">
                                          <p:val>
                                            <p:strVal val="#ppt_x"/>
                                          </p:val>
                                        </p:tav>
                                        <p:tav tm="100000">
                                          <p:val>
                                            <p:strVal val="#ppt_x"/>
                                          </p:val>
                                        </p:tav>
                                      </p:tavLst>
                                    </p:anim>
                                    <p:anim calcmode="lin" valueType="num">
                                      <p:cBhvr>
                                        <p:cTn id="207" dur="800" fill="hold" decel="100000"/>
                                        <p:tgtEl>
                                          <p:spTgt spid="70"/>
                                        </p:tgtEl>
                                        <p:attrNameLst>
                                          <p:attrName>ppt_y</p:attrName>
                                        </p:attrNameLst>
                                      </p:cBhvr>
                                      <p:tavLst>
                                        <p:tav tm="0">
                                          <p:val>
                                            <p:strVal val="#ppt_y+0.0250"/>
                                          </p:val>
                                        </p:tav>
                                        <p:tav tm="100000">
                                          <p:val>
                                            <p:strVal val="#ppt_y"/>
                                          </p:val>
                                        </p:tav>
                                      </p:tavLst>
                                    </p:anim>
                                  </p:childTnLst>
                                </p:cTn>
                              </p:par>
                              <p:par>
                                <p:cTn id="213" presetID="42" presetClass="entr" presetSubtype="0" fill="hold" grpId="0" nodeType="withEffect">
                                  <p:stCondLst>
                                    <p:cond delay="1860"/>
                                  </p:stCondLst>
                                  <p:childTnLst>
                                    <p:set>
                                      <p:cBhvr>
                                        <p:cTn id="209" dur="1" fill="hold">
                                          <p:stCondLst>
                                            <p:cond delay="0"/>
                                          </p:stCondLst>
                                        </p:cTn>
                                        <p:tgtEl>
                                          <p:spTgt spid="71"/>
                                        </p:tgtEl>
                                        <p:attrNameLst>
                                          <p:attrName>style.visibility</p:attrName>
                                        </p:attrNameLst>
                                      </p:cBhvr>
                                      <p:to>
                                        <p:strVal val="visible"/>
                                      </p:to>
                                    </p:set>
                                    <p:animEffect transition="in" filter="fade">
                                      <p:cBhvr>
                                        <p:cTn id="210" dur="640" decel="100000"/>
                                        <p:tgtEl>
                                          <p:spTgt spid="71"/>
                                        </p:tgtEl>
                                      </p:cBhvr>
                                    </p:animEffect>
                                    <p:anim calcmode="lin" valueType="num">
                                      <p:cBhvr>
                                        <p:cTn id="211" dur="800" fill="hold" decel="100000"/>
                                        <p:tgtEl>
                                          <p:spTgt spid="71"/>
                                        </p:tgtEl>
                                        <p:attrNameLst>
                                          <p:attrName>ppt_x</p:attrName>
                                        </p:attrNameLst>
                                      </p:cBhvr>
                                      <p:tavLst>
                                        <p:tav tm="0">
                                          <p:val>
                                            <p:strVal val="#ppt_x"/>
                                          </p:val>
                                        </p:tav>
                                        <p:tav tm="100000">
                                          <p:val>
                                            <p:strVal val="#ppt_x"/>
                                          </p:val>
                                        </p:tav>
                                      </p:tavLst>
                                    </p:anim>
                                    <p:anim calcmode="lin" valueType="num">
                                      <p:cBhvr>
                                        <p:cTn id="212" dur="800" fill="hold" decel="100000"/>
                                        <p:tgtEl>
                                          <p:spTgt spid="71"/>
                                        </p:tgtEl>
                                        <p:attrNameLst>
                                          <p:attrName>ppt_y</p:attrName>
                                        </p:attrNameLst>
                                      </p:cBhvr>
                                      <p:tavLst>
                                        <p:tav tm="0">
                                          <p:val>
                                            <p:strVal val="#ppt_y+0.0250"/>
                                          </p:val>
                                        </p:tav>
                                        <p:tav tm="100000">
                                          <p:val>
                                            <p:strVal val="#ppt_y"/>
                                          </p:val>
                                        </p:tav>
                                      </p:tavLst>
                                    </p:anim>
                                  </p:childTnLst>
                                </p:cTn>
                              </p:par>
                              <p:par>
                                <p:cTn id="218" presetID="53" presetClass="entr" presetSubtype="16" fill="hold" grpId="0" nodeType="withEffect">
                                  <p:stCondLst>
                                    <p:cond delay="1890"/>
                                  </p:stCondLst>
                                  <p:childTnLst>
                                    <p:set>
                                      <p:cBhvr>
                                        <p:cTn id="214" dur="1" fill="hold">
                                          <p:stCondLst>
                                            <p:cond delay="0"/>
                                          </p:stCondLst>
                                        </p:cTn>
                                        <p:tgtEl>
                                          <p:spTgt spid="40"/>
                                        </p:tgtEl>
                                        <p:attrNameLst>
                                          <p:attrName>style.visibility</p:attrName>
                                        </p:attrNameLst>
                                      </p:cBhvr>
                                      <p:to>
                                        <p:strVal val="visible"/>
                                      </p:to>
                                    </p:set>
                                    <p:anim calcmode="lin" valueType="num">
                                      <p:cBhvr>
                                        <p:cTn id="215" dur="650" fill="hold" decel="100000"/>
                                        <p:tgtEl>
                                          <p:spTgt spid="40"/>
                                        </p:tgtEl>
                                        <p:attrNameLst>
                                          <p:attrName>ppt_w</p:attrName>
                                        </p:attrNameLst>
                                      </p:cBhvr>
                                      <p:tavLst>
                                        <p:tav tm="0">
                                          <p:val>
                                            <p:strVal val="#ppt_w*1.900"/>
                                          </p:val>
                                        </p:tav>
                                        <p:tav tm="100000">
                                          <p:val>
                                            <p:strVal val="#ppt_w"/>
                                          </p:val>
                                        </p:tav>
                                      </p:tavLst>
                                    </p:anim>
                                    <p:anim calcmode="lin" valueType="num">
                                      <p:cBhvr>
                                        <p:cTn id="216" dur="650" fill="hold" decel="100000"/>
                                        <p:tgtEl>
                                          <p:spTgt spid="40"/>
                                        </p:tgtEl>
                                        <p:attrNameLst>
                                          <p:attrName>ppt_h</p:attrName>
                                        </p:attrNameLst>
                                      </p:cBhvr>
                                      <p:tavLst>
                                        <p:tav tm="0">
                                          <p:val>
                                            <p:strVal val="#ppt_h*1.900"/>
                                          </p:val>
                                        </p:tav>
                                        <p:tav tm="100000">
                                          <p:val>
                                            <p:strVal val="#ppt_h"/>
                                          </p:val>
                                        </p:tav>
                                      </p:tavLst>
                                    </p:anim>
                                    <p:animEffect transition="in" filter="fade">
                                      <p:cBhvr>
                                        <p:cTn id="217" dur="454" decel="100000"/>
                                        <p:tgtEl>
                                          <p:spTgt spid="40"/>
                                        </p:tgtEl>
                                      </p:cBhvr>
                                    </p:animEffect>
                                  </p:childTnLst>
                                </p:cTn>
                              </p:par>
                              <p:par>
                                <p:cTn id="221" presetID="10" presetClass="entr" presetSubtype="0" fill="hold" grpId="0" nodeType="withEffect">
                                  <p:stCondLst>
                                    <p:cond delay="1900"/>
                                  </p:stCondLst>
                                  <p:childTnLst>
                                    <p:set>
                                      <p:cBhvr>
                                        <p:cTn id="219" dur="1" fill="hold">
                                          <p:stCondLst>
                                            <p:cond delay="0"/>
                                          </p:stCondLst>
                                        </p:cTn>
                                        <p:tgtEl>
                                          <p:spTgt spid="27"/>
                                        </p:tgtEl>
                                        <p:attrNameLst>
                                          <p:attrName>style.visibility</p:attrName>
                                        </p:attrNameLst>
                                      </p:cBhvr>
                                      <p:to>
                                        <p:strVal val="visible"/>
                                      </p:to>
                                    </p:set>
                                    <p:animEffect transition="in" filter="fade">
                                      <p:cBhvr>
                                        <p:cTn id="220" dur="700" decel="100000"/>
                                        <p:tgtEl>
                                          <p:spTgt spid="27"/>
                                        </p:tgtEl>
                                      </p:cBhvr>
                                    </p:animEffect>
                                  </p:childTnLst>
                                </p:cTn>
                              </p:par>
                              <p:par>
                                <p:cTn id="225" presetID="2" presetClass="entr" presetSubtype="0" fill="hold" grpId="0" nodeType="withEffect">
                                  <p:stCondLst>
                                    <p:cond delay="1940"/>
                                  </p:stCondLst>
                                  <p:childTnLst>
                                    <p:set>
                                      <p:cBhvr>
                                        <p:cTn id="222" dur="1" fill="hold">
                                          <p:stCondLst>
                                            <p:cond delay="0"/>
                                          </p:stCondLst>
                                        </p:cTn>
                                        <p:tgtEl>
                                          <p:spTgt spid="67"/>
                                        </p:tgtEl>
                                        <p:attrNameLst>
                                          <p:attrName>style.visibility</p:attrName>
                                        </p:attrNameLst>
                                      </p:cBhvr>
                                      <p:to>
                                        <p:strVal val="visible"/>
                                      </p:to>
                                    </p:set>
                                    <p:animEffect transition="in" filter="fade">
                                      <p:cBhvr>
                                        <p:cTn id="223" dur="350" decel="100000"/>
                                        <p:tgtEl>
                                          <p:spTgt spid="67"/>
                                        </p:tgtEl>
                                      </p:cBhvr>
                                    </p:animEffect>
                                    <p:animMotion origin="layout" path="M -0.0100 0.0000 L 0 0 E" pathEditMode="relative" ptsTypes="">
                                      <p:cBhvr>
                                        <p:cTn id="224" dur="700" fill="hold" decel="100000"/>
                                        <p:tgtEl>
                                          <p:spTgt spid="67"/>
                                        </p:tgtEl>
                                        <p:attrNameLst>
                                          <p:attrName>ppt_x</p:attrName>
                                          <p:attrName>ppt_y</p:attrName>
                                        </p:attrNameLst>
                                      </p:cBhvr>
                                      <p:rCtr x="0" y="0"/>
                                    </p:animMotion>
                                  </p:childTnLst>
                                </p:cTn>
                              </p:par>
                              <p:par>
                                <p:cTn id="230" presetID="53" presetClass="entr" presetSubtype="16" fill="hold" grpId="0" nodeType="withEffect">
                                  <p:stCondLst>
                                    <p:cond delay="1945"/>
                                  </p:stCondLst>
                                  <p:childTnLst>
                                    <p:set>
                                      <p:cBhvr>
                                        <p:cTn id="226" dur="1" fill="hold">
                                          <p:stCondLst>
                                            <p:cond delay="0"/>
                                          </p:stCondLst>
                                        </p:cTn>
                                        <p:tgtEl>
                                          <p:spTgt spid="42"/>
                                        </p:tgtEl>
                                        <p:attrNameLst>
                                          <p:attrName>style.visibility</p:attrName>
                                        </p:attrNameLst>
                                      </p:cBhvr>
                                      <p:to>
                                        <p:strVal val="visible"/>
                                      </p:to>
                                    </p:set>
                                    <p:anim calcmode="lin" valueType="num">
                                      <p:cBhvr>
                                        <p:cTn id="227" dur="650" fill="hold" decel="100000"/>
                                        <p:tgtEl>
                                          <p:spTgt spid="42"/>
                                        </p:tgtEl>
                                        <p:attrNameLst>
                                          <p:attrName>ppt_w</p:attrName>
                                        </p:attrNameLst>
                                      </p:cBhvr>
                                      <p:tavLst>
                                        <p:tav tm="0">
                                          <p:val>
                                            <p:strVal val="#ppt_w*1.900"/>
                                          </p:val>
                                        </p:tav>
                                        <p:tav tm="100000">
                                          <p:val>
                                            <p:strVal val="#ppt_w"/>
                                          </p:val>
                                        </p:tav>
                                      </p:tavLst>
                                    </p:anim>
                                    <p:anim calcmode="lin" valueType="num">
                                      <p:cBhvr>
                                        <p:cTn id="228" dur="650" fill="hold" decel="100000"/>
                                        <p:tgtEl>
                                          <p:spTgt spid="42"/>
                                        </p:tgtEl>
                                        <p:attrNameLst>
                                          <p:attrName>ppt_h</p:attrName>
                                        </p:attrNameLst>
                                      </p:cBhvr>
                                      <p:tavLst>
                                        <p:tav tm="0">
                                          <p:val>
                                            <p:strVal val="#ppt_h*1.900"/>
                                          </p:val>
                                        </p:tav>
                                        <p:tav tm="100000">
                                          <p:val>
                                            <p:strVal val="#ppt_h"/>
                                          </p:val>
                                        </p:tav>
                                      </p:tavLst>
                                    </p:anim>
                                    <p:animEffect transition="in" filter="fade">
                                      <p:cBhvr>
                                        <p:cTn id="229" dur="454" decel="100000"/>
                                        <p:tgtEl>
                                          <p:spTgt spid="42"/>
                                        </p:tgtEl>
                                      </p:cBhvr>
                                    </p:animEffect>
                                  </p:childTnLst>
                                </p:cTn>
                              </p:par>
                              <p:par>
                                <p:cTn id="233" presetID="10" presetClass="entr" presetSubtype="0" fill="hold" grpId="0" nodeType="withEffect">
                                  <p:stCondLst>
                                    <p:cond delay="1955"/>
                                  </p:stCondLst>
                                  <p:childTnLst>
                                    <p:set>
                                      <p:cBhvr>
                                        <p:cTn id="231" dur="1" fill="hold">
                                          <p:stCondLst>
                                            <p:cond delay="0"/>
                                          </p:stCondLst>
                                        </p:cTn>
                                        <p:tgtEl>
                                          <p:spTgt spid="29"/>
                                        </p:tgtEl>
                                        <p:attrNameLst>
                                          <p:attrName>style.visibility</p:attrName>
                                        </p:attrNameLst>
                                      </p:cBhvr>
                                      <p:to>
                                        <p:strVal val="visible"/>
                                      </p:to>
                                    </p:set>
                                    <p:animEffect transition="in" filter="fade">
                                      <p:cBhvr>
                                        <p:cTn id="232" dur="700" decel="100000"/>
                                        <p:tgtEl>
                                          <p:spTgt spid="29"/>
                                        </p:tgtEl>
                                      </p:cBhvr>
                                    </p:animEffect>
                                  </p:childTnLst>
                                </p:cTn>
                              </p:par>
                              <p:par>
                                <p:cTn id="236" presetID="10" presetClass="entr" presetSubtype="0" fill="hold" grpId="0" nodeType="withEffect">
                                  <p:stCondLst>
                                    <p:cond delay="2010"/>
                                  </p:stCondLst>
                                  <p:childTnLst>
                                    <p:set>
                                      <p:cBhvr>
                                        <p:cTn id="234" dur="1" fill="hold">
                                          <p:stCondLst>
                                            <p:cond delay="0"/>
                                          </p:stCondLst>
                                        </p:cTn>
                                        <p:tgtEl>
                                          <p:spTgt spid="31"/>
                                        </p:tgtEl>
                                        <p:attrNameLst>
                                          <p:attrName>style.visibility</p:attrName>
                                        </p:attrNameLst>
                                      </p:cBhvr>
                                      <p:to>
                                        <p:strVal val="visible"/>
                                      </p:to>
                                    </p:set>
                                    <p:animEffect transition="in" filter="fade">
                                      <p:cBhvr>
                                        <p:cTn id="235" dur="700" decel="100000"/>
                                        <p:tgtEl>
                                          <p:spTgt spid="31"/>
                                        </p:tgtEl>
                                      </p:cBhvr>
                                    </p:animEffect>
                                  </p:childTnLst>
                                </p:cTn>
                              </p:par>
                              <p:par>
                                <p:cTn id="240" presetID="2" presetClass="entr" presetSubtype="0" fill="hold" grpId="0" nodeType="withEffect">
                                  <p:stCondLst>
                                    <p:cond delay="2060"/>
                                  </p:stCondLst>
                                  <p:childTnLst>
                                    <p:set>
                                      <p:cBhvr>
                                        <p:cTn id="237" dur="1" fill="hold">
                                          <p:stCondLst>
                                            <p:cond delay="0"/>
                                          </p:stCondLst>
                                        </p:cTn>
                                        <p:tgtEl>
                                          <p:spTgt spid="72"/>
                                        </p:tgtEl>
                                        <p:attrNameLst>
                                          <p:attrName>style.visibility</p:attrName>
                                        </p:attrNameLst>
                                      </p:cBhvr>
                                      <p:to>
                                        <p:strVal val="visible"/>
                                      </p:to>
                                    </p:set>
                                    <p:animEffect transition="in" filter="fade">
                                      <p:cBhvr>
                                        <p:cTn id="238" dur="350" decel="100000"/>
                                        <p:tgtEl>
                                          <p:spTgt spid="72"/>
                                        </p:tgtEl>
                                      </p:cBhvr>
                                    </p:animEffect>
                                    <p:animMotion origin="layout" path="M -0.0100 0.0000 L 0 0 E" pathEditMode="relative" ptsTypes="">
                                      <p:cBhvr>
                                        <p:cTn id="239" dur="700" fill="hold" decel="100000"/>
                                        <p:tgtEl>
                                          <p:spTgt spid="72"/>
                                        </p:tgtEl>
                                        <p:attrNameLst>
                                          <p:attrName>ppt_x</p:attrName>
                                          <p:attrName>ppt_y</p:attrName>
                                        </p:attrNameLst>
                                      </p:cBhvr>
                                      <p:rCtr x="0" y="0"/>
                                    </p:animMotion>
                                  </p:childTnLst>
                                </p:cTn>
                              </p:par>
                              <p:par>
                                <p:cTn id="243" presetID="10" presetClass="entr" presetSubtype="0" fill="hold" grpId="0" nodeType="withEffect">
                                  <p:stCondLst>
                                    <p:cond delay="2120"/>
                                  </p:stCondLst>
                                  <p:childTnLst>
                                    <p:set>
                                      <p:cBhvr>
                                        <p:cTn id="241" dur="1" fill="hold">
                                          <p:stCondLst>
                                            <p:cond delay="0"/>
                                          </p:stCondLst>
                                        </p:cTn>
                                        <p:tgtEl>
                                          <p:spTgt spid="34"/>
                                        </p:tgtEl>
                                        <p:attrNameLst>
                                          <p:attrName>style.visibility</p:attrName>
                                        </p:attrNameLst>
                                      </p:cBhvr>
                                      <p:to>
                                        <p:strVal val="visible"/>
                                      </p:to>
                                    </p:set>
                                    <p:animEffect transition="in" filter="fade">
                                      <p:cBhvr>
                                        <p:cTn id="242" dur="700" decel="100000"/>
                                        <p:tgtEl>
                                          <p:spTgt spid="34"/>
                                        </p:tgtEl>
                                      </p:cBhvr>
                                    </p:animEffect>
                                  </p:childTnLst>
                                </p:cTn>
                              </p:par>
                              <p:par>
                                <p:cTn id="246" presetID="10" presetClass="entr" presetSubtype="0" fill="hold" grpId="0" nodeType="withEffect">
                                  <p:stCondLst>
                                    <p:cond delay="2175"/>
                                  </p:stCondLst>
                                  <p:childTnLst>
                                    <p:set>
                                      <p:cBhvr>
                                        <p:cTn id="244" dur="1" fill="hold">
                                          <p:stCondLst>
                                            <p:cond delay="0"/>
                                          </p:stCondLst>
                                        </p:cTn>
                                        <p:tgtEl>
                                          <p:spTgt spid="36"/>
                                        </p:tgtEl>
                                        <p:attrNameLst>
                                          <p:attrName>style.visibility</p:attrName>
                                        </p:attrNameLst>
                                      </p:cBhvr>
                                      <p:to>
                                        <p:strVal val="visible"/>
                                      </p:to>
                                    </p:set>
                                    <p:animEffect transition="in" filter="fade">
                                      <p:cBhvr>
                                        <p:cTn id="245" dur="700" decel="100000"/>
                                        <p:tgtEl>
                                          <p:spTgt spid="36"/>
                                        </p:tgtEl>
                                      </p:cBhvr>
                                    </p:animEffect>
                                  </p:childTnLst>
                                </p:cTn>
                              </p:par>
                              <p:par>
                                <p:cTn id="249" presetID="10" presetClass="entr" presetSubtype="0" fill="hold" grpId="0" nodeType="withEffect">
                                  <p:stCondLst>
                                    <p:cond delay="2285"/>
                                  </p:stCondLst>
                                  <p:childTnLst>
                                    <p:set>
                                      <p:cBhvr>
                                        <p:cTn id="247" dur="1" fill="hold">
                                          <p:stCondLst>
                                            <p:cond delay="0"/>
                                          </p:stCondLst>
                                        </p:cTn>
                                        <p:tgtEl>
                                          <p:spTgt spid="39"/>
                                        </p:tgtEl>
                                        <p:attrNameLst>
                                          <p:attrName>style.visibility</p:attrName>
                                        </p:attrNameLst>
                                      </p:cBhvr>
                                      <p:to>
                                        <p:strVal val="visible"/>
                                      </p:to>
                                    </p:set>
                                    <p:animEffect transition="in" filter="fade">
                                      <p:cBhvr>
                                        <p:cTn id="248" dur="700" decel="100000"/>
                                        <p:tgtEl>
                                          <p:spTgt spid="39"/>
                                        </p:tgtEl>
                                      </p:cBhvr>
                                    </p:animEffect>
                                  </p:childTnLst>
                                </p:cTn>
                              </p:par>
                              <p:par>
                                <p:cTn id="252" presetID="10" presetClass="entr" presetSubtype="0" fill="hold" grpId="0" nodeType="withEffect">
                                  <p:stCondLst>
                                    <p:cond delay="2340"/>
                                  </p:stCondLst>
                                  <p:childTnLst>
                                    <p:set>
                                      <p:cBhvr>
                                        <p:cTn id="250" dur="1" fill="hold">
                                          <p:stCondLst>
                                            <p:cond delay="0"/>
                                          </p:stCondLst>
                                        </p:cTn>
                                        <p:tgtEl>
                                          <p:spTgt spid="41"/>
                                        </p:tgtEl>
                                        <p:attrNameLst>
                                          <p:attrName>style.visibility</p:attrName>
                                        </p:attrNameLst>
                                      </p:cBhvr>
                                      <p:to>
                                        <p:strVal val="visible"/>
                                      </p:to>
                                    </p:set>
                                    <p:animEffect transition="in" filter="fade">
                                      <p:cBhvr>
                                        <p:cTn id="251" dur="700" decel="100000"/>
                                        <p:tgtEl>
                                          <p:spTgt spid="41"/>
                                        </p:tgtEl>
                                      </p:cBhvr>
                                    </p:animEffect>
                                  </p:childTnLst>
                                </p:cTn>
                              </p:par>
                              <p:par>
                                <p:cTn id="255" presetID="10" presetClass="entr" presetSubtype="0" fill="hold" grpId="0" nodeType="withEffect">
                                  <p:stCondLst>
                                    <p:cond delay="2395"/>
                                  </p:stCondLst>
                                  <p:childTnLst>
                                    <p:set>
                                      <p:cBhvr>
                                        <p:cTn id="253" dur="1" fill="hold">
                                          <p:stCondLst>
                                            <p:cond delay="0"/>
                                          </p:stCondLst>
                                        </p:cTn>
                                        <p:tgtEl>
                                          <p:spTgt spid="43"/>
                                        </p:tgtEl>
                                        <p:attrNameLst>
                                          <p:attrName>style.visibility</p:attrName>
                                        </p:attrNameLst>
                                      </p:cBhvr>
                                      <p:to>
                                        <p:strVal val="visible"/>
                                      </p:to>
                                    </p:set>
                                    <p:animEffect transition="in" filter="fade">
                                      <p:cBhvr>
                                        <p:cTn id="254" dur="700" decel="100000"/>
                                        <p:tgtEl>
                                          <p:spTgt spid="43"/>
                                        </p:tgtEl>
                                      </p:cBhvr>
                                    </p:animEffect>
                                  </p:childTnLst>
                                </p:cTn>
                              </p:par>
                              <p:par>
                                <p:cTn id="257" presetID="6" presetClass="emph" presetSubtype="0" fill="hold" grpId="1" nodeType="withEffect" repeatCount="indefinite" autoRev="1">
                                  <p:stCondLst>
                                    <p:cond delay="2600"/>
                                  </p:stCondLst>
                                  <p:childTnLst>
                                    <p:animScale>
                                      <p:cBhvr>
                                        <p:cTn id="256" dur="1700" fill="hold" accel="50000" decel="50000"/>
                                        <p:tgtEl>
                                          <p:spTgt spid="7"/>
                                        </p:tgtEl>
                                      </p:cBhvr>
                                      <p:by x="122000" y="122000"/>
                                    </p:animScale>
                                  </p:childTnLst>
                                </p:cTn>
                              </p:par>
                              <p:par>
                                <p:cTn id="259" presetID="6" presetClass="emph" presetSubtype="0" fill="hold" grpId="1" nodeType="withEffect" repeatCount="indefinite" autoRev="1">
                                  <p:stCondLst>
                                    <p:cond delay="2920"/>
                                  </p:stCondLst>
                                  <p:childTnLst>
                                    <p:animScale>
                                      <p:cBhvr>
                                        <p:cTn id="258" dur="1700" fill="hold" accel="50000" decel="50000"/>
                                        <p:tgtEl>
                                          <p:spTgt spid="9"/>
                                        </p:tgtEl>
                                      </p:cBhvr>
                                      <p:by x="122000" y="122000"/>
                                    </p:animScale>
                                  </p:childTnLst>
                                </p:cTn>
                              </p:par>
                              <p:par>
                                <p:cTn id="261" presetID="6" presetClass="emph" presetSubtype="0" fill="hold" grpId="1" nodeType="withEffect" repeatCount="indefinite" autoRev="1">
                                  <p:stCondLst>
                                    <p:cond delay="3240"/>
                                  </p:stCondLst>
                                  <p:childTnLst>
                                    <p:animScale>
                                      <p:cBhvr>
                                        <p:cTn id="260" dur="1700" fill="hold" accel="50000" decel="50000"/>
                                        <p:tgtEl>
                                          <p:spTgt spid="20"/>
                                        </p:tgtEl>
                                      </p:cBhvr>
                                      <p:by x="122000" y="122000"/>
                                    </p:animScale>
                                  </p:childTnLst>
                                </p:cTn>
                              </p:par>
                              <p:par>
                                <p:cTn id="263" presetID="6" presetClass="emph" presetSubtype="0" fill="hold" grpId="1" nodeType="withEffect" repeatCount="indefinite" autoRev="1">
                                  <p:stCondLst>
                                    <p:cond delay="3560"/>
                                  </p:stCondLst>
                                  <p:childTnLst>
                                    <p:animScale>
                                      <p:cBhvr>
                                        <p:cTn id="262" dur="1700" fill="hold" accel="50000" decel="50000"/>
                                        <p:tgtEl>
                                          <p:spTgt spid="30"/>
                                        </p:tgtEl>
                                      </p:cBhvr>
                                      <p:by x="122000" y="122000"/>
                                    </p:animScale>
                                  </p:childTnLst>
                                </p:cTn>
                              </p:par>
                              <p:par>
                                <p:cTn id="265" presetID="6" presetClass="emph" presetSubtype="0" fill="hold" grpId="1" nodeType="withEffect" repeatCount="indefinite" autoRev="1">
                                  <p:stCondLst>
                                    <p:cond delay="3880"/>
                                  </p:stCondLst>
                                  <p:childTnLst>
                                    <p:animScale>
                                      <p:cBhvr>
                                        <p:cTn id="264" dur="1700" fill="hold" accel="50000" decel="50000"/>
                                        <p:tgtEl>
                                          <p:spTgt spid="33"/>
                                        </p:tgtEl>
                                      </p:cBhvr>
                                      <p:by x="122000" y="12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5" grpId="0" animBg="1"/>
      <p:bldP spid="46" grpId="0" animBg="1"/>
      <p:bldP spid="7" grpId="0" animBg="1"/>
      <p:bldP spid="9" grpId="0" animBg="1"/>
      <p:bldP spid="12" grpId="0" animBg="1"/>
      <p:bldP spid="14" grpId="0" animBg="1"/>
      <p:bldP spid="16" grpId="0" animBg="1"/>
      <p:bldP spid="18" grpId="0" animBg="1"/>
      <p:bldP spid="20" grpId="0" animBg="1"/>
      <p:bldP spid="22" grpId="0" animBg="1"/>
      <p:bldP spid="52" grpId="0" animBg="1"/>
      <p:bldP spid="24" grpId="0" animBg="1"/>
      <p:bldP spid="25" grpId="0" animBg="1"/>
      <p:bldP spid="26" grpId="0" animBg="1"/>
      <p:bldP spid="53" grpId="0" animBg="1"/>
      <p:bldP spid="54" grpId="0" animBg="1"/>
      <p:bldP spid="55" grpId="0" animBg="1"/>
      <p:bldP spid="56" grpId="0" animBg="1"/>
      <p:bldP spid="28" grpId="0" animBg="1"/>
      <p:bldP spid="30" grpId="0" animBg="1"/>
      <p:bldP spid="32" grpId="0" animBg="1"/>
      <p:bldP spid="59" grpId="0" animBg="1"/>
      <p:bldP spid="60" grpId="0" animBg="1"/>
      <p:bldP spid="61" grpId="0" animBg="1"/>
      <p:bldP spid="33" grpId="0" animBg="1"/>
      <p:bldP spid="35" grpId="0" animBg="1"/>
      <p:bldP spid="64" grpId="0" animBg="1"/>
      <p:bldP spid="65" grpId="0" animBg="1"/>
      <p:bldP spid="66" grpId="0" animBg="1"/>
      <p:bldP spid="37" grpId="0" animBg="1"/>
      <p:bldP spid="8" grpId="0" animBg="1"/>
      <p:bldP spid="10" grpId="0" animBg="1"/>
      <p:bldP spid="11" grpId="0" animBg="1"/>
      <p:bldP spid="13" grpId="0" animBg="1"/>
      <p:bldP spid="15" grpId="0" animBg="1"/>
      <p:bldP spid="17" grpId="0" animBg="1"/>
      <p:bldP spid="19" grpId="0" animBg="1"/>
      <p:bldP spid="21" grpId="0" animBg="1"/>
      <p:bldP spid="23" grpId="0" animBg="1"/>
      <p:bldP spid="38" grpId="0" animBg="1"/>
      <p:bldP spid="69" grpId="0" animBg="1"/>
      <p:bldP spid="70" grpId="0" animBg="1"/>
      <p:bldP spid="71" grpId="0" animBg="1"/>
      <p:bldP spid="40" grpId="0" animBg="1"/>
      <p:bldP spid="27" grpId="0" animBg="1"/>
      <p:bldP spid="42" grpId="0" animBg="1"/>
      <p:bldP spid="29" grpId="0" animBg="1"/>
      <p:bldP spid="31" grpId="0" animBg="1"/>
      <p:bldP spid="34" grpId="0" animBg="1"/>
      <p:bldP spid="36" grpId="0" animBg="1"/>
      <p:bldP spid="39" grpId="0" animBg="1"/>
      <p:bldP spid="41" grpId="0" animBg="1"/>
      <p:bldP spid="43" grpId="0" animBg="1"/>
      <p:bldP spid="7" grpId="1" animBg="1"/>
      <p:bldP spid="9" grpId="1" animBg="1"/>
      <p:bldP spid="20" grpId="1" animBg="1"/>
      <p:bldP spid="30" grpId="1" animBg="1"/>
      <p:bldP spid="33" grpId="1" animBg="1"/>
    </p:bldLst>
  </p:timing>
</p:sld>
</file>

<file path=ppt/slides/slide17.xml><?xml version="1.0" encoding="utf-8"?>
<p:sld xmlns:p14="http://schemas.microsoft.com/office/powerpoint/2010/main" xmlns:a="http://schemas.openxmlformats.org/drawingml/2006/main" xmlns:r="http://schemas.openxmlformats.org/officeDocument/2006/relationships" xmlns:p="http://schemas.openxmlformats.org/presentationml/2006/main" show="0">
  <p:cSld name="Slide 17">
    <p:spTree>
      <p:nvGrpSpPr>
        <p:cNvPr id="1" name=""/>
        <p:cNvGrpSpPr/>
        <p:nvPr/>
      </p:nvGrpSpPr>
      <p:grpSpPr>
        <a:xfrm>
          <a:off x="0" y="0"/>
          <a:ext cx="0" cy="0"/>
          <a:chOff x="0" y="0"/>
          <a:chExt cx="0" cy="0"/>
        </a:xfrm>
      </p:grpSpPr>
      <p:pic>
        <p:nvPicPr>
          <p:cNvPr id="2" name="!!orbA" descr="Decorative background light">    </p:cNvPr>
          <p:cNvPicPr>
            <a:picLocks noChangeAspect="1"/>
          </p:cNvPicPr>
          <p:nvPr/>
        </p:nvPicPr>
        <p:blipFill>
          <a:blip r:embed="rId1"/>
          <a:stretch>
            <a:fillRect/>
          </a:stretch>
        </p:blipFill>
        <p:spPr>
          <a:xfrm>
            <a:off x="502920" y="502920"/>
            <a:ext cx="7772400" cy="7772400"/>
          </a:xfrm>
          <a:prstGeom prst="rect">
            <a:avLst/>
          </a:prstGeom>
        </p:spPr>
      </p:pic>
      <p:pic>
        <p:nvPicPr>
          <p:cNvPr id="3" name="!!orbB" descr="Decorative background light">    </p:cNvPr>
          <p:cNvPicPr>
            <a:picLocks noChangeAspect="1"/>
          </p:cNvPicPr>
          <p:nvPr/>
        </p:nvPicPr>
        <p:blipFill>
          <a:blip r:embed="rId2"/>
          <a:stretch>
            <a:fillRect/>
          </a:stretch>
        </p:blipFill>
        <p:spPr>
          <a:xfrm>
            <a:off x="7315200" y="3291840"/>
            <a:ext cx="5486400" cy="5486400"/>
          </a:xfrm>
          <a:prstGeom prst="rect">
            <a:avLst/>
          </a:prstGeom>
        </p:spPr>
      </p:pic>
      <p:sp>
        <p:nvSpPr>
          <p:cNvPr id="4" name="!!kicker"/>
          <p:cNvSpPr/>
          <p:nvPr>
            <p:ph idx="100" type="body" hasCustomPrompt="1"/>
          </p:nvPr>
        </p:nvSpPr>
        <p:spPr>
          <a:xfrm>
            <a:off x="548640" y="384048"/>
            <a:ext cx="8732520" cy="329184"/>
          </a:xfrm>
          <a:prstGeom prst="rect">
            <a:avLst/>
          </a:prstGeom>
          <a:noFill/>
          <a:ln/>
        </p:spPr>
        <p:txBody>
          <a:bodyPr wrap="square" lIns="0" tIns="0" rIns="0" bIns="0" rtlCol="0" anchor="t"/>
          <a:lstStyle/>
          <a:p>
            <a:pPr algn="l" indent="0" marL="0">
              <a:buNone/>
            </a:pPr>
            <a:r>
              <a:rPr lang="en-US" sz="1500" b="1" spc="300" kern="0" dirty="0">
                <a:solidFill>
                  <a:schemeClr val="accent1"/>
                </a:solidFill>
              </a:rPr>
              <a:t>03 — RESERVOIR LOCATIONS  ·  ZOOM</a:t>
            </a:r>
            <a:endParaRPr lang="en-US" sz="1500" dirty="0"/>
          </a:p>
        </p:txBody>
      </p:sp>
      <p:sp>
        <p:nvSpPr>
          <p:cNvPr id="5" name="!!title"/>
          <p:cNvSpPr/>
          <p:nvPr>
            <p:ph idx="101" type="title" hasCustomPrompt="1"/>
          </p:nvPr>
        </p:nvSpPr>
        <p:spPr>
          <a:xfrm>
            <a:off x="548640" y="731520"/>
            <a:ext cx="8732520" cy="786384"/>
          </a:xfrm>
          <a:prstGeom prst="rect">
            <a:avLst/>
          </a:prstGeom>
          <a:noFill/>
          <a:ln/>
        </p:spPr>
        <p:txBody>
          <a:bodyPr wrap="square" lIns="0" tIns="0" rIns="0" bIns="0" rtlCol="0" anchor="t"/>
          <a:lstStyle/>
          <a:p>
            <a:pPr algn="l" indent="0" marL="0">
              <a:buNone/>
            </a:pPr>
            <a:r>
              <a:rPr lang="en-US" sz="3800" b="1" dirty="0">
                <a:solidFill>
                  <a:schemeClr val="tx1"/>
                </a:solidFill>
              </a:rPr>
              <a:t>South &amp; East Kuwait</a:t>
            </a:r>
            <a:endParaRPr lang="en-US" sz="3800" dirty="0"/>
          </a:p>
        </p:txBody>
      </p:sp>
      <p:pic>
        <p:nvPicPr>
          <p:cNvPr id="6" name="!!map" descr="Zoomed map of a Kuwaiti producing area">    </p:cNvPr>
          <p:cNvPicPr>
            <a:picLocks noChangeAspect="1"/>
          </p:cNvPicPr>
          <p:nvPr/>
        </p:nvPicPr>
        <p:blipFill>
          <a:blip r:embed="rId3"/>
          <a:srcRect l="33738" r="9072" t="39048" b="23810"/>
          <a:stretch/>
        </p:blipFill>
        <p:spPr>
          <a:xfrm>
            <a:off x="548640" y="1783080"/>
            <a:ext cx="6812280" cy="3547872"/>
          </a:xfrm>
          <a:prstGeom prst="rect">
            <a:avLst/>
          </a:prstGeom>
        </p:spPr>
      </p:pic>
      <p:sp>
        <p:nvSpPr>
          <p:cNvPr id="7" name="!!mapframe"/>
          <p:cNvSpPr/>
          <p:nvPr/>
        </p:nvSpPr>
        <p:spPr>
          <a:xfrm>
            <a:off x="548640" y="1783080"/>
            <a:ext cx="6812280" cy="3547872"/>
          </a:xfrm>
          <a:prstGeom prst="rect">
            <a:avLst/>
          </a:prstGeom>
          <a:solidFill>
            <a:srgbClr val="000000">
              <a:alpha val="0"/>
            </a:srgbClr>
          </a:solidFill>
          <a:ln w="12700">
            <a:solidFill>
              <a:srgbClr val="3A3A3C"/>
            </a:solidFill>
            <a:prstDash val="solid"/>
          </a:ln>
        </p:spPr>
      </p:sp>
      <p:sp>
        <p:nvSpPr>
          <p:cNvPr id="8" name="!!c_iraq"/>
          <p:cNvSpPr txBox="1"/>
          <p:nvPr/>
        </p:nvSpPr>
        <p:spPr>
          <a:xfrm>
            <a:off x="-2383604" y="-1720010"/>
            <a:ext cx="2194560" cy="274320"/>
          </a:xfrm>
          <a:prstGeom prst="rect">
            <a:avLst/>
          </a:prstGeom>
          <a:noFill/>
          <a:ln/>
        </p:spPr>
        <p:txBody>
          <a:bodyPr wrap="square" lIns="0" tIns="0" rIns="0" bIns="0" rtlCol="0" anchor="t"/>
          <a:lstStyle/>
          <a:p>
            <a:pPr algn="ctr" indent="0" marL="0">
              <a:buNone/>
            </a:pPr>
            <a:r>
              <a:rPr lang="en-US" sz="1300" spc="400" kern="0" dirty="0">
                <a:solidFill>
                  <a:srgbClr val="8E8E93">
                    <a:alpha val="0"/>
                  </a:srgbClr>
                </a:solidFill>
                <a:latin typeface="Arial" pitchFamily="34" charset="0"/>
                <a:ea typeface="Arial" pitchFamily="34" charset="-122"/>
                <a:cs typeface="Arial" pitchFamily="34" charset="-120"/>
              </a:rPr>
              <a:t>IRAQ</a:t>
            </a:r>
            <a:endParaRPr lang="en-US" sz="1300" dirty="0"/>
          </a:p>
        </p:txBody>
      </p:sp>
      <p:sp>
        <p:nvSpPr>
          <p:cNvPr id="9" name="!!c_saudi"/>
          <p:cNvSpPr txBox="1"/>
          <p:nvPr/>
        </p:nvSpPr>
        <p:spPr>
          <a:xfrm>
            <a:off x="-1589497" y="6785786"/>
            <a:ext cx="2194560" cy="274320"/>
          </a:xfrm>
          <a:prstGeom prst="rect">
            <a:avLst/>
          </a:prstGeom>
          <a:noFill/>
          <a:ln/>
        </p:spPr>
        <p:txBody>
          <a:bodyPr wrap="square" lIns="0" tIns="0" rIns="0" bIns="0" rtlCol="0" anchor="t"/>
          <a:lstStyle/>
          <a:p>
            <a:pPr algn="ctr" indent="0" marL="0">
              <a:buNone/>
            </a:pPr>
            <a:r>
              <a:rPr lang="en-US" sz="1300" spc="400" kern="0" dirty="0">
                <a:solidFill>
                  <a:srgbClr val="8E8E93">
                    <a:alpha val="0"/>
                  </a:srgbClr>
                </a:solidFill>
                <a:latin typeface="Arial" pitchFamily="34" charset="0"/>
                <a:ea typeface="Arial" pitchFamily="34" charset="-122"/>
                <a:cs typeface="Arial" pitchFamily="34" charset="-120"/>
              </a:rPr>
              <a:t>SAUDI ARABIA</a:t>
            </a:r>
            <a:endParaRPr lang="en-US" sz="1300" dirty="0"/>
          </a:p>
        </p:txBody>
      </p:sp>
      <p:sp>
        <p:nvSpPr>
          <p:cNvPr id="10" name="!!c_gulf"/>
          <p:cNvSpPr txBox="1"/>
          <p:nvPr/>
        </p:nvSpPr>
        <p:spPr>
          <a:xfrm>
            <a:off x="5954516" y="2692087"/>
            <a:ext cx="2194560" cy="274320"/>
          </a:xfrm>
          <a:prstGeom prst="rect">
            <a:avLst/>
          </a:prstGeom>
          <a:noFill/>
          <a:ln/>
        </p:spPr>
        <p:txBody>
          <a:bodyPr wrap="square" lIns="0" tIns="0" rIns="0" bIns="0" rtlCol="0" anchor="t"/>
          <a:lstStyle/>
          <a:p>
            <a:pPr algn="ctr" indent="0" marL="0">
              <a:buNone/>
            </a:pPr>
            <a:r>
              <a:rPr lang="en-US" sz="1300" spc="400" kern="0" dirty="0">
                <a:solidFill>
                  <a:srgbClr val="8E8E93">
                    <a:alpha val="0"/>
                  </a:srgbClr>
                </a:solidFill>
                <a:latin typeface="Arial" pitchFamily="34" charset="0"/>
                <a:ea typeface="Arial" pitchFamily="34" charset="-122"/>
                <a:cs typeface="Arial" pitchFamily="34" charset="-120"/>
              </a:rPr>
              <a:t>ARABIAN GULF</a:t>
            </a:r>
            <a:endParaRPr lang="en-US" sz="1300" dirty="0"/>
          </a:p>
        </p:txBody>
      </p:sp>
      <p:sp>
        <p:nvSpPr>
          <p:cNvPr id="11" name="!!f_burgan"/>
          <p:cNvSpPr/>
          <p:nvPr/>
        </p:nvSpPr>
        <p:spPr>
          <a:xfrm>
            <a:off x="3346571" y="3499280"/>
            <a:ext cx="342900" cy="342900"/>
          </a:xfrm>
          <a:prstGeom prst="ellipse">
            <a:avLst/>
          </a:prstGeom>
          <a:solidFill>
            <a:srgbClr val="FF9F0A"/>
          </a:solidFill>
          <a:ln/>
          <a:effectLst>
            <a:outerShdw sx="100000" sy="100000" kx="0" ky="0" algn="bl" rotWithShape="0" blurRad="228600" dist="50800" dir="5400000">
              <a:srgbClr val="FF9F0A">
                <a:alpha val="90000"/>
              </a:srgbClr>
            </a:outerShdw>
          </a:effectLst>
        </p:spPr>
      </p:sp>
      <p:sp>
        <p:nvSpPr>
          <p:cNvPr id="12" name="!!fl_burgan"/>
          <p:cNvSpPr txBox="1"/>
          <p:nvPr/>
        </p:nvSpPr>
        <p:spPr>
          <a:xfrm>
            <a:off x="2626481" y="3890186"/>
            <a:ext cx="1783080" cy="310896"/>
          </a:xfrm>
          <a:prstGeom prst="rect">
            <a:avLst/>
          </a:prstGeom>
          <a:noFill/>
          <a:ln/>
        </p:spPr>
        <p:txBody>
          <a:bodyPr wrap="square" lIns="0" tIns="0" rIns="0" bIns="0" rtlCol="0" anchor="t"/>
          <a:lstStyle/>
          <a:p>
            <a:pPr algn="ctr" indent="0" marL="0">
              <a:buNone/>
            </a:pPr>
            <a:r>
              <a:rPr lang="en-US" sz="1500" b="1" dirty="0">
                <a:solidFill>
                  <a:schemeClr val="tx1"/>
                </a:solidFill>
                <a:effectLst>
                  <a:glow rad="76200">
                    <a:srgbClr val="141416">
                      <a:alpha val="85000"/>
                    </a:srgbClr>
                  </a:glow>
                </a:effectLst>
                <a:latin typeface="Arial" pitchFamily="34" charset="0"/>
                <a:ea typeface="Arial" pitchFamily="34" charset="-122"/>
                <a:cs typeface="Arial" pitchFamily="34" charset="-120"/>
              </a:rPr>
              <a:t>Greater Burgan</a:t>
            </a:r>
            <a:endParaRPr lang="en-US" sz="1500" dirty="0"/>
          </a:p>
        </p:txBody>
      </p:sp>
      <p:sp>
        <p:nvSpPr>
          <p:cNvPr id="13" name="!!f_raudhatain"/>
          <p:cNvSpPr/>
          <p:nvPr/>
        </p:nvSpPr>
        <p:spPr>
          <a:xfrm>
            <a:off x="2558961" y="-423672"/>
            <a:ext cx="274320" cy="274320"/>
          </a:xfrm>
          <a:prstGeom prst="ellipse">
            <a:avLst/>
          </a:prstGeom>
          <a:solidFill>
            <a:srgbClr val="FF9F0A">
              <a:alpha val="0"/>
            </a:srgbClr>
          </a:solidFill>
          <a:ln/>
        </p:spPr>
      </p:sp>
      <p:sp>
        <p:nvSpPr>
          <p:cNvPr id="14" name="!!fl_raudhatain"/>
          <p:cNvSpPr txBox="1"/>
          <p:nvPr/>
        </p:nvSpPr>
        <p:spPr>
          <a:xfrm>
            <a:off x="-1728678" y="-1292148"/>
            <a:ext cx="1737360" cy="274320"/>
          </a:xfrm>
          <a:prstGeom prst="rect">
            <a:avLst/>
          </a:prstGeom>
          <a:noFill/>
          <a:ln/>
        </p:spPr>
        <p:txBody>
          <a:bodyPr wrap="square" lIns="0" tIns="0" rIns="0" bIns="0" rtlCol="0" anchor="t"/>
          <a:lstStyle/>
          <a:p>
            <a:pPr algn="r" indent="0" marL="0">
              <a:buNone/>
            </a:pPr>
            <a:r>
              <a:rPr lang="en-US" sz="1300" dirty="0">
                <a:solidFill>
                  <a:schemeClr val="tx1">
                    <a:alpha val="0"/>
                  </a:schemeClr>
                </a:solidFill>
                <a:latin typeface="Arial" pitchFamily="34" charset="0"/>
                <a:ea typeface="Arial" pitchFamily="34" charset="-122"/>
                <a:cs typeface="Arial" pitchFamily="34" charset="-120"/>
              </a:rPr>
              <a:t>Raudhatain</a:t>
            </a:r>
            <a:endParaRPr lang="en-US" sz="1300" dirty="0"/>
          </a:p>
        </p:txBody>
      </p:sp>
      <p:sp>
        <p:nvSpPr>
          <p:cNvPr id="15" name="!!fk_raudhatain"/>
          <p:cNvSpPr/>
          <p:nvPr/>
        </p:nvSpPr>
        <p:spPr>
          <a:xfrm>
            <a:off x="2092739" y="-889894"/>
            <a:ext cx="362029" cy="341916"/>
          </a:xfrm>
          <a:prstGeom prst="line">
            <a:avLst/>
          </a:prstGeom>
          <a:noFill/>
          <a:ln w="12700">
            <a:solidFill>
              <a:srgbClr val="A1A1A6">
                <a:alpha val="0"/>
              </a:srgbClr>
            </a:solidFill>
            <a:prstDash val="solid"/>
          </a:ln>
        </p:spPr>
      </p:sp>
      <p:sp>
        <p:nvSpPr>
          <p:cNvPr id="16" name="!!f_sabriya"/>
          <p:cNvSpPr/>
          <p:nvPr/>
        </p:nvSpPr>
        <p:spPr>
          <a:xfrm>
            <a:off x="3089086" y="-91393"/>
            <a:ext cx="182880" cy="182880"/>
          </a:xfrm>
          <a:prstGeom prst="ellipse">
            <a:avLst/>
          </a:prstGeom>
          <a:solidFill>
            <a:srgbClr val="FF9F0A">
              <a:alpha val="0"/>
            </a:srgbClr>
          </a:solidFill>
          <a:ln/>
        </p:spPr>
      </p:sp>
      <p:sp>
        <p:nvSpPr>
          <p:cNvPr id="17" name="!!fl_sabriya"/>
          <p:cNvSpPr txBox="1"/>
          <p:nvPr/>
        </p:nvSpPr>
        <p:spPr>
          <a:xfrm>
            <a:off x="3522442" y="-261418"/>
            <a:ext cx="1737360" cy="274320"/>
          </a:xfrm>
          <a:prstGeom prst="rect">
            <a:avLst/>
          </a:prstGeom>
          <a:noFill/>
          <a:ln/>
        </p:spPr>
        <p:txBody>
          <a:bodyPr wrap="square" lIns="0" tIns="0" rIns="0" bIns="0" rtlCol="0" anchor="t"/>
          <a:lstStyle/>
          <a:p>
            <a:pPr algn="l" indent="0" marL="0">
              <a:buNone/>
            </a:pPr>
            <a:r>
              <a:rPr lang="en-US" sz="1300" dirty="0">
                <a:solidFill>
                  <a:schemeClr val="tx1">
                    <a:alpha val="0"/>
                  </a:schemeClr>
                </a:solidFill>
                <a:latin typeface="Arial" pitchFamily="34" charset="0"/>
                <a:ea typeface="Arial" pitchFamily="34" charset="-122"/>
                <a:cs typeface="Arial" pitchFamily="34" charset="-120"/>
              </a:rPr>
              <a:t>Sabriya</a:t>
            </a:r>
            <a:endParaRPr lang="en-US" sz="1300" dirty="0"/>
          </a:p>
        </p:txBody>
      </p:sp>
      <p:sp>
        <p:nvSpPr>
          <p:cNvPr id="18" name="!!f_bahra"/>
          <p:cNvSpPr/>
          <p:nvPr/>
        </p:nvSpPr>
        <p:spPr>
          <a:xfrm>
            <a:off x="3335259" y="750089"/>
            <a:ext cx="182880" cy="182880"/>
          </a:xfrm>
          <a:prstGeom prst="ellipse">
            <a:avLst/>
          </a:prstGeom>
          <a:solidFill>
            <a:srgbClr val="FF9F0A">
              <a:alpha val="0"/>
            </a:srgbClr>
          </a:solidFill>
          <a:ln/>
        </p:spPr>
      </p:sp>
      <p:sp>
        <p:nvSpPr>
          <p:cNvPr id="19" name="!!fl_bahra"/>
          <p:cNvSpPr txBox="1"/>
          <p:nvPr/>
        </p:nvSpPr>
        <p:spPr>
          <a:xfrm>
            <a:off x="3768615" y="580064"/>
            <a:ext cx="1737360" cy="274320"/>
          </a:xfrm>
          <a:prstGeom prst="rect">
            <a:avLst/>
          </a:prstGeom>
          <a:noFill/>
          <a:ln/>
        </p:spPr>
        <p:txBody>
          <a:bodyPr wrap="square" lIns="0" tIns="0" rIns="0" bIns="0" rtlCol="0" anchor="t"/>
          <a:lstStyle/>
          <a:p>
            <a:pPr algn="l" indent="0" marL="0">
              <a:buNone/>
            </a:pPr>
            <a:r>
              <a:rPr lang="en-US" sz="1300" dirty="0">
                <a:solidFill>
                  <a:schemeClr val="tx1">
                    <a:alpha val="0"/>
                  </a:schemeClr>
                </a:solidFill>
                <a:latin typeface="Arial" pitchFamily="34" charset="0"/>
                <a:ea typeface="Arial" pitchFamily="34" charset="-122"/>
                <a:cs typeface="Arial" pitchFamily="34" charset="-120"/>
              </a:rPr>
              <a:t>Bahra</a:t>
            </a:r>
            <a:endParaRPr lang="en-US" sz="1300" dirty="0"/>
          </a:p>
        </p:txBody>
      </p:sp>
      <p:sp>
        <p:nvSpPr>
          <p:cNvPr id="20" name="!!f_ratqa"/>
          <p:cNvSpPr/>
          <p:nvPr/>
        </p:nvSpPr>
        <p:spPr>
          <a:xfrm>
            <a:off x="1338081" y="-359758"/>
            <a:ext cx="182880" cy="182880"/>
          </a:xfrm>
          <a:prstGeom prst="ellipse">
            <a:avLst/>
          </a:prstGeom>
          <a:solidFill>
            <a:srgbClr val="FF9F0A">
              <a:alpha val="0"/>
            </a:srgbClr>
          </a:solidFill>
          <a:ln/>
        </p:spPr>
      </p:sp>
      <p:sp>
        <p:nvSpPr>
          <p:cNvPr id="21" name="!!fl_ratqa"/>
          <p:cNvSpPr txBox="1"/>
          <p:nvPr/>
        </p:nvSpPr>
        <p:spPr>
          <a:xfrm>
            <a:off x="-2753925" y="-570009"/>
            <a:ext cx="1737360" cy="274320"/>
          </a:xfrm>
          <a:prstGeom prst="rect">
            <a:avLst/>
          </a:prstGeom>
          <a:noFill/>
          <a:ln/>
        </p:spPr>
        <p:txBody>
          <a:bodyPr wrap="square" lIns="0" tIns="0" rIns="0" bIns="0" rtlCol="0" anchor="t"/>
          <a:lstStyle/>
          <a:p>
            <a:pPr algn="r" indent="0" marL="0">
              <a:buNone/>
            </a:pPr>
            <a:r>
              <a:rPr lang="en-US" sz="1300" dirty="0">
                <a:solidFill>
                  <a:schemeClr val="tx1">
                    <a:alpha val="0"/>
                  </a:schemeClr>
                </a:solidFill>
                <a:latin typeface="Arial" pitchFamily="34" charset="0"/>
                <a:ea typeface="Arial" pitchFamily="34" charset="-122"/>
                <a:cs typeface="Arial" pitchFamily="34" charset="-120"/>
              </a:rPr>
              <a:t>Ratqa (heavy oil)</a:t>
            </a:r>
            <a:endParaRPr lang="en-US" sz="1300" dirty="0"/>
          </a:p>
        </p:txBody>
      </p:sp>
      <p:sp>
        <p:nvSpPr>
          <p:cNvPr id="22" name="!!f_abdali"/>
          <p:cNvSpPr/>
          <p:nvPr/>
        </p:nvSpPr>
        <p:spPr>
          <a:xfrm>
            <a:off x="2783355" y="-1069332"/>
            <a:ext cx="182880" cy="182880"/>
          </a:xfrm>
          <a:prstGeom prst="ellipse">
            <a:avLst/>
          </a:prstGeom>
          <a:solidFill>
            <a:srgbClr val="FF9F0A">
              <a:alpha val="0"/>
            </a:srgbClr>
          </a:solidFill>
          <a:ln/>
        </p:spPr>
      </p:sp>
      <p:sp>
        <p:nvSpPr>
          <p:cNvPr id="23" name="!!fl_abdali"/>
          <p:cNvSpPr txBox="1"/>
          <p:nvPr/>
        </p:nvSpPr>
        <p:spPr>
          <a:xfrm>
            <a:off x="3196599" y="-1319808"/>
            <a:ext cx="1737360" cy="274320"/>
          </a:xfrm>
          <a:prstGeom prst="rect">
            <a:avLst/>
          </a:prstGeom>
          <a:noFill/>
          <a:ln/>
        </p:spPr>
        <p:txBody>
          <a:bodyPr wrap="square" lIns="0" tIns="0" rIns="0" bIns="0" rtlCol="0" anchor="t"/>
          <a:lstStyle/>
          <a:p>
            <a:pPr algn="l" indent="0" marL="0">
              <a:buNone/>
            </a:pPr>
            <a:r>
              <a:rPr lang="en-US" sz="1300" dirty="0">
                <a:solidFill>
                  <a:schemeClr val="tx1">
                    <a:alpha val="0"/>
                  </a:schemeClr>
                </a:solidFill>
                <a:latin typeface="Arial" pitchFamily="34" charset="0"/>
                <a:ea typeface="Arial" pitchFamily="34" charset="-122"/>
                <a:cs typeface="Arial" pitchFamily="34" charset="-120"/>
              </a:rPr>
              <a:t>Abdali</a:t>
            </a:r>
            <a:endParaRPr lang="en-US" sz="1300" dirty="0"/>
          </a:p>
        </p:txBody>
      </p:sp>
      <p:sp>
        <p:nvSpPr>
          <p:cNvPr id="24" name="!!f_minagish"/>
          <p:cNvSpPr/>
          <p:nvPr/>
        </p:nvSpPr>
        <p:spPr>
          <a:xfrm>
            <a:off x="1677503" y="3524473"/>
            <a:ext cx="274320" cy="274320"/>
          </a:xfrm>
          <a:prstGeom prst="ellipse">
            <a:avLst/>
          </a:prstGeom>
          <a:solidFill>
            <a:srgbClr val="4A4A4F"/>
          </a:solidFill>
          <a:ln/>
        </p:spPr>
      </p:sp>
      <p:sp>
        <p:nvSpPr>
          <p:cNvPr id="25" name="!!fl_minagish"/>
          <p:cNvSpPr txBox="1"/>
          <p:nvPr/>
        </p:nvSpPr>
        <p:spPr>
          <a:xfrm>
            <a:off x="-2368783" y="3058251"/>
            <a:ext cx="1737360" cy="274320"/>
          </a:xfrm>
          <a:prstGeom prst="rect">
            <a:avLst/>
          </a:prstGeom>
          <a:noFill/>
          <a:ln/>
        </p:spPr>
        <p:txBody>
          <a:bodyPr wrap="square" lIns="0" tIns="0" rIns="0" bIns="0" rtlCol="0" anchor="t"/>
          <a:lstStyle/>
          <a:p>
            <a:pPr algn="r" indent="0" marL="0">
              <a:buNone/>
            </a:pPr>
            <a:r>
              <a:rPr lang="en-US" sz="1300" dirty="0">
                <a:solidFill>
                  <a:schemeClr val="tx1">
                    <a:alpha val="0"/>
                  </a:schemeClr>
                </a:solidFill>
                <a:latin typeface="Arial" pitchFamily="34" charset="0"/>
                <a:ea typeface="Arial" pitchFamily="34" charset="-122"/>
                <a:cs typeface="Arial" pitchFamily="34" charset="-120"/>
              </a:rPr>
              <a:t>Minagish</a:t>
            </a:r>
            <a:endParaRPr lang="en-US" sz="1300" dirty="0"/>
          </a:p>
        </p:txBody>
      </p:sp>
      <p:sp>
        <p:nvSpPr>
          <p:cNvPr id="26" name="!!f_ummgudair"/>
          <p:cNvSpPr/>
          <p:nvPr/>
        </p:nvSpPr>
        <p:spPr>
          <a:xfrm>
            <a:off x="2358508" y="4257024"/>
            <a:ext cx="182880" cy="182880"/>
          </a:xfrm>
          <a:prstGeom prst="ellipse">
            <a:avLst/>
          </a:prstGeom>
          <a:solidFill>
            <a:srgbClr val="4A4A4F"/>
          </a:solidFill>
          <a:ln/>
        </p:spPr>
      </p:sp>
      <p:sp>
        <p:nvSpPr>
          <p:cNvPr id="27" name="!!fl_ummgudair"/>
          <p:cNvSpPr txBox="1"/>
          <p:nvPr/>
        </p:nvSpPr>
        <p:spPr>
          <a:xfrm>
            <a:off x="-1733498" y="4147337"/>
            <a:ext cx="1737360" cy="274320"/>
          </a:xfrm>
          <a:prstGeom prst="rect">
            <a:avLst/>
          </a:prstGeom>
          <a:noFill/>
          <a:ln/>
        </p:spPr>
        <p:txBody>
          <a:bodyPr wrap="square" lIns="0" tIns="0" rIns="0" bIns="0" rtlCol="0" anchor="t"/>
          <a:lstStyle/>
          <a:p>
            <a:pPr algn="r" indent="0" marL="0">
              <a:buNone/>
            </a:pPr>
            <a:r>
              <a:rPr lang="en-US" sz="1300" dirty="0">
                <a:solidFill>
                  <a:schemeClr val="tx1">
                    <a:alpha val="0"/>
                  </a:schemeClr>
                </a:solidFill>
                <a:latin typeface="Arial" pitchFamily="34" charset="0"/>
                <a:ea typeface="Arial" pitchFamily="34" charset="-122"/>
                <a:cs typeface="Arial" pitchFamily="34" charset="-120"/>
              </a:rPr>
              <a:t>Umm Gudair</a:t>
            </a:r>
            <a:endParaRPr lang="en-US" sz="1300" dirty="0"/>
          </a:p>
        </p:txBody>
      </p:sp>
      <p:sp>
        <p:nvSpPr>
          <p:cNvPr id="28" name="!!f_abduliyah"/>
          <p:cNvSpPr/>
          <p:nvPr/>
        </p:nvSpPr>
        <p:spPr>
          <a:xfrm>
            <a:off x="2298950" y="3265440"/>
            <a:ext cx="182880" cy="182880"/>
          </a:xfrm>
          <a:prstGeom prst="ellipse">
            <a:avLst/>
          </a:prstGeom>
          <a:solidFill>
            <a:srgbClr val="4A4A4F"/>
          </a:solidFill>
          <a:ln/>
        </p:spPr>
      </p:sp>
      <p:sp>
        <p:nvSpPr>
          <p:cNvPr id="29" name="!!f_dharif"/>
          <p:cNvSpPr/>
          <p:nvPr/>
        </p:nvSpPr>
        <p:spPr>
          <a:xfrm>
            <a:off x="2636445" y="2705968"/>
            <a:ext cx="182880" cy="182880"/>
          </a:xfrm>
          <a:prstGeom prst="ellipse">
            <a:avLst/>
          </a:prstGeom>
          <a:solidFill>
            <a:srgbClr val="4A4A4F"/>
          </a:solidFill>
          <a:ln/>
        </p:spPr>
      </p:sp>
      <p:sp>
        <p:nvSpPr>
          <p:cNvPr id="30" name="!!f_kramaru"/>
          <p:cNvSpPr/>
          <p:nvPr/>
        </p:nvSpPr>
        <p:spPr>
          <a:xfrm>
            <a:off x="901322" y="1928165"/>
            <a:ext cx="182880" cy="182880"/>
          </a:xfrm>
          <a:prstGeom prst="ellipse">
            <a:avLst/>
          </a:prstGeom>
          <a:solidFill>
            <a:srgbClr val="4A4A4F"/>
          </a:solidFill>
          <a:ln/>
        </p:spPr>
      </p:sp>
      <p:sp>
        <p:nvSpPr>
          <p:cNvPr id="31" name="!!fl_kramaru"/>
          <p:cNvSpPr txBox="1"/>
          <p:nvPr/>
        </p:nvSpPr>
        <p:spPr>
          <a:xfrm>
            <a:off x="-3190684" y="1717914"/>
            <a:ext cx="1737360" cy="274320"/>
          </a:xfrm>
          <a:prstGeom prst="rect">
            <a:avLst/>
          </a:prstGeom>
          <a:noFill/>
          <a:ln/>
        </p:spPr>
        <p:txBody>
          <a:bodyPr wrap="square" lIns="0" tIns="0" rIns="0" bIns="0" rtlCol="0" anchor="t"/>
          <a:lstStyle/>
          <a:p>
            <a:pPr algn="r" indent="0" marL="0">
              <a:buNone/>
            </a:pPr>
            <a:r>
              <a:rPr lang="en-US" sz="1300" dirty="0">
                <a:solidFill>
                  <a:schemeClr val="tx1">
                    <a:alpha val="0"/>
                  </a:schemeClr>
                </a:solidFill>
                <a:latin typeface="Arial" pitchFamily="34" charset="0"/>
                <a:ea typeface="Arial" pitchFamily="34" charset="-122"/>
                <a:cs typeface="Arial" pitchFamily="34" charset="-120"/>
              </a:rPr>
              <a:t>Kra Al-Maru</a:t>
            </a:r>
            <a:endParaRPr lang="en-US" sz="1300" dirty="0"/>
          </a:p>
        </p:txBody>
      </p:sp>
      <p:sp>
        <p:nvSpPr>
          <p:cNvPr id="32" name="!!f_wafra"/>
          <p:cNvSpPr/>
          <p:nvPr/>
        </p:nvSpPr>
        <p:spPr>
          <a:xfrm>
            <a:off x="3144674" y="5516974"/>
            <a:ext cx="182880" cy="182880"/>
          </a:xfrm>
          <a:prstGeom prst="ellipse">
            <a:avLst/>
          </a:prstGeom>
          <a:solidFill>
            <a:srgbClr val="FF9F0A">
              <a:alpha val="0"/>
            </a:srgbClr>
          </a:solidFill>
          <a:ln/>
        </p:spPr>
      </p:sp>
      <p:sp>
        <p:nvSpPr>
          <p:cNvPr id="33" name="!!fl_wafra"/>
          <p:cNvSpPr txBox="1"/>
          <p:nvPr/>
        </p:nvSpPr>
        <p:spPr>
          <a:xfrm>
            <a:off x="3578030" y="5346948"/>
            <a:ext cx="1737360" cy="274320"/>
          </a:xfrm>
          <a:prstGeom prst="rect">
            <a:avLst/>
          </a:prstGeom>
          <a:noFill/>
          <a:ln/>
        </p:spPr>
        <p:txBody>
          <a:bodyPr wrap="square" lIns="0" tIns="0" rIns="0" bIns="0" rtlCol="0" anchor="t"/>
          <a:lstStyle/>
          <a:p>
            <a:pPr algn="l" indent="0" marL="0">
              <a:buNone/>
            </a:pPr>
            <a:r>
              <a:rPr lang="en-US" sz="1300" dirty="0">
                <a:solidFill>
                  <a:schemeClr val="tx1">
                    <a:alpha val="0"/>
                  </a:schemeClr>
                </a:solidFill>
                <a:latin typeface="Arial" pitchFamily="34" charset="0"/>
                <a:ea typeface="Arial" pitchFamily="34" charset="-122"/>
                <a:cs typeface="Arial" pitchFamily="34" charset="-120"/>
              </a:rPr>
              <a:t>Wafra</a:t>
            </a:r>
            <a:endParaRPr lang="en-US" sz="1300" dirty="0"/>
          </a:p>
        </p:txBody>
      </p:sp>
      <p:sp>
        <p:nvSpPr>
          <p:cNvPr id="34" name="!!f_khafji"/>
          <p:cNvSpPr/>
          <p:nvPr/>
        </p:nvSpPr>
        <p:spPr>
          <a:xfrm>
            <a:off x="7180662" y="5725973"/>
            <a:ext cx="274320" cy="274320"/>
          </a:xfrm>
          <a:prstGeom prst="ellipse">
            <a:avLst/>
          </a:prstGeom>
          <a:solidFill>
            <a:srgbClr val="FF9F0A">
              <a:alpha val="0"/>
            </a:srgbClr>
          </a:solidFill>
          <a:ln/>
        </p:spPr>
      </p:sp>
      <p:sp>
        <p:nvSpPr>
          <p:cNvPr id="35" name="!!fl_khafji"/>
          <p:cNvSpPr txBox="1"/>
          <p:nvPr/>
        </p:nvSpPr>
        <p:spPr>
          <a:xfrm>
            <a:off x="7720076" y="5601667"/>
            <a:ext cx="1737360" cy="274320"/>
          </a:xfrm>
          <a:prstGeom prst="rect">
            <a:avLst/>
          </a:prstGeom>
          <a:noFill/>
          <a:ln/>
        </p:spPr>
        <p:txBody>
          <a:bodyPr wrap="square" lIns="0" tIns="0" rIns="0" bIns="0" rtlCol="0" anchor="t"/>
          <a:lstStyle/>
          <a:p>
            <a:pPr algn="l" indent="0" marL="0">
              <a:buNone/>
            </a:pPr>
            <a:r>
              <a:rPr lang="en-US" sz="1300" dirty="0">
                <a:solidFill>
                  <a:schemeClr val="tx1">
                    <a:alpha val="0"/>
                  </a:schemeClr>
                </a:solidFill>
                <a:latin typeface="Arial" pitchFamily="34" charset="0"/>
                <a:ea typeface="Arial" pitchFamily="34" charset="-122"/>
                <a:cs typeface="Arial" pitchFamily="34" charset="-120"/>
              </a:rPr>
              <a:t>Khafji</a:t>
            </a:r>
            <a:endParaRPr lang="en-US" sz="1300" dirty="0"/>
          </a:p>
        </p:txBody>
      </p:sp>
      <p:sp>
        <p:nvSpPr>
          <p:cNvPr id="36" name="!!f_hout"/>
          <p:cNvSpPr/>
          <p:nvPr/>
        </p:nvSpPr>
        <p:spPr>
          <a:xfrm>
            <a:off x="7226382" y="4407127"/>
            <a:ext cx="182880" cy="182880"/>
          </a:xfrm>
          <a:prstGeom prst="ellipse">
            <a:avLst/>
          </a:prstGeom>
          <a:solidFill>
            <a:srgbClr val="FF9F0A">
              <a:alpha val="0"/>
            </a:srgbClr>
          </a:solidFill>
          <a:ln/>
        </p:spPr>
      </p:sp>
      <p:sp>
        <p:nvSpPr>
          <p:cNvPr id="37" name="!!f_dorra"/>
          <p:cNvSpPr/>
          <p:nvPr/>
        </p:nvSpPr>
        <p:spPr>
          <a:xfrm>
            <a:off x="7974768" y="3829226"/>
            <a:ext cx="274320" cy="274320"/>
          </a:xfrm>
          <a:prstGeom prst="ellipse">
            <a:avLst/>
          </a:prstGeom>
          <a:solidFill>
            <a:srgbClr val="64D2FF">
              <a:alpha val="0"/>
            </a:srgbClr>
          </a:solidFill>
          <a:ln/>
        </p:spPr>
      </p:sp>
      <p:sp>
        <p:nvSpPr>
          <p:cNvPr id="38" name="!!fl_dorra"/>
          <p:cNvSpPr txBox="1"/>
          <p:nvPr/>
        </p:nvSpPr>
        <p:spPr>
          <a:xfrm>
            <a:off x="8514183" y="3704920"/>
            <a:ext cx="1737360" cy="274320"/>
          </a:xfrm>
          <a:prstGeom prst="rect">
            <a:avLst/>
          </a:prstGeom>
          <a:noFill/>
          <a:ln/>
        </p:spPr>
        <p:txBody>
          <a:bodyPr wrap="square" lIns="0" tIns="0" rIns="0" bIns="0" rtlCol="0" anchor="t"/>
          <a:lstStyle/>
          <a:p>
            <a:pPr algn="l" indent="0" marL="0">
              <a:buNone/>
            </a:pPr>
            <a:r>
              <a:rPr lang="en-US" sz="1300" dirty="0">
                <a:solidFill>
                  <a:schemeClr val="tx1">
                    <a:alpha val="0"/>
                  </a:schemeClr>
                </a:solidFill>
                <a:latin typeface="Arial" pitchFamily="34" charset="0"/>
                <a:ea typeface="Arial" pitchFamily="34" charset="-122"/>
                <a:cs typeface="Arial" pitchFamily="34" charset="-120"/>
              </a:rPr>
              <a:t>Dorra (gas)</a:t>
            </a:r>
            <a:endParaRPr lang="en-US" sz="1300" dirty="0"/>
          </a:p>
        </p:txBody>
      </p:sp>
      <p:sp>
        <p:nvSpPr>
          <p:cNvPr id="39" name="!!f_nokhatha"/>
          <p:cNvSpPr/>
          <p:nvPr/>
        </p:nvSpPr>
        <p:spPr>
          <a:xfrm>
            <a:off x="6376687" y="1755320"/>
            <a:ext cx="182880" cy="182880"/>
          </a:xfrm>
          <a:prstGeom prst="ellipse">
            <a:avLst/>
          </a:prstGeom>
          <a:solidFill>
            <a:srgbClr val="FF9F0A">
              <a:alpha val="0"/>
            </a:srgbClr>
          </a:solidFill>
          <a:ln/>
        </p:spPr>
      </p:sp>
      <p:sp>
        <p:nvSpPr>
          <p:cNvPr id="40" name="!!fl_nokhatha"/>
          <p:cNvSpPr txBox="1"/>
          <p:nvPr/>
        </p:nvSpPr>
        <p:spPr>
          <a:xfrm>
            <a:off x="6810044" y="1585294"/>
            <a:ext cx="1737360" cy="274320"/>
          </a:xfrm>
          <a:prstGeom prst="rect">
            <a:avLst/>
          </a:prstGeom>
          <a:noFill/>
          <a:ln/>
        </p:spPr>
        <p:txBody>
          <a:bodyPr wrap="square" lIns="0" tIns="0" rIns="0" bIns="0" rtlCol="0" anchor="t"/>
          <a:lstStyle/>
          <a:p>
            <a:pPr algn="l" indent="0" marL="0">
              <a:buNone/>
            </a:pPr>
            <a:r>
              <a:rPr lang="en-US" sz="1300" dirty="0">
                <a:solidFill>
                  <a:schemeClr val="tx1">
                    <a:alpha val="0"/>
                  </a:schemeClr>
                </a:solidFill>
                <a:latin typeface="Arial" pitchFamily="34" charset="0"/>
                <a:ea typeface="Arial" pitchFamily="34" charset="-122"/>
                <a:cs typeface="Arial" pitchFamily="34" charset="-120"/>
              </a:rPr>
              <a:t>Al-Nokhatha (2024)</a:t>
            </a:r>
            <a:endParaRPr lang="en-US" sz="1300" dirty="0"/>
          </a:p>
        </p:txBody>
      </p:sp>
      <p:sp>
        <p:nvSpPr>
          <p:cNvPr id="41" name="!!f_jlaiaa"/>
          <p:cNvSpPr/>
          <p:nvPr/>
        </p:nvSpPr>
        <p:spPr>
          <a:xfrm>
            <a:off x="6321100" y="4448064"/>
            <a:ext cx="182880" cy="182880"/>
          </a:xfrm>
          <a:prstGeom prst="ellipse">
            <a:avLst/>
          </a:prstGeom>
          <a:solidFill>
            <a:srgbClr val="4A4A4F"/>
          </a:solidFill>
          <a:ln/>
        </p:spPr>
      </p:sp>
      <p:sp>
        <p:nvSpPr>
          <p:cNvPr id="42" name="!!f_kwcity"/>
          <p:cNvSpPr/>
          <p:nvPr/>
        </p:nvSpPr>
        <p:spPr>
          <a:xfrm>
            <a:off x="3490110" y="1955456"/>
            <a:ext cx="182880" cy="182880"/>
          </a:xfrm>
          <a:prstGeom prst="ellipse">
            <a:avLst/>
          </a:prstGeom>
          <a:solidFill>
            <a:srgbClr val="000000">
              <a:alpha val="0"/>
            </a:srgbClr>
          </a:solidFill>
          <a:ln w="22225">
            <a:solidFill>
              <a:srgbClr val="F5F5F7"/>
            </a:solidFill>
            <a:prstDash val="solid"/>
          </a:ln>
        </p:spPr>
      </p:sp>
      <p:sp>
        <p:nvSpPr>
          <p:cNvPr id="43" name="!!fl_kwcity"/>
          <p:cNvSpPr txBox="1"/>
          <p:nvPr/>
        </p:nvSpPr>
        <p:spPr>
          <a:xfrm>
            <a:off x="3736998" y="1909736"/>
            <a:ext cx="1783080" cy="310896"/>
          </a:xfrm>
          <a:prstGeom prst="rect">
            <a:avLst/>
          </a:prstGeom>
          <a:noFill/>
          <a:ln/>
        </p:spPr>
        <p:txBody>
          <a:bodyPr wrap="square" lIns="0" tIns="0" rIns="0" bIns="0" rtlCol="0" anchor="t"/>
          <a:lstStyle/>
          <a:p>
            <a:pPr algn="l" indent="0" marL="0">
              <a:buNone/>
            </a:pPr>
            <a:r>
              <a:rPr lang="en-US" sz="1500" dirty="0">
                <a:solidFill>
                  <a:schemeClr val="tx1"/>
                </a:solidFill>
                <a:effectLst>
                  <a:glow rad="76200">
                    <a:srgbClr val="141416">
                      <a:alpha val="85000"/>
                    </a:srgbClr>
                  </a:glow>
                </a:effectLst>
                <a:latin typeface="Arial" pitchFamily="34" charset="0"/>
                <a:ea typeface="Arial" pitchFamily="34" charset="-122"/>
                <a:cs typeface="Arial" pitchFamily="34" charset="-120"/>
              </a:rPr>
              <a:t>Kuwait City</a:t>
            </a:r>
            <a:endParaRPr lang="en-US" sz="1500" dirty="0"/>
          </a:p>
        </p:txBody>
      </p:sp>
      <p:sp>
        <p:nvSpPr>
          <p:cNvPr id="44" name="!!f_ahmadi"/>
          <p:cNvSpPr/>
          <p:nvPr/>
        </p:nvSpPr>
        <p:spPr>
          <a:xfrm rot="2700000">
            <a:off x="4248482" y="3342765"/>
            <a:ext cx="182880" cy="182880"/>
          </a:xfrm>
          <a:prstGeom prst="rect">
            <a:avLst/>
          </a:prstGeom>
          <a:solidFill>
            <a:srgbClr val="F5F5F7"/>
          </a:solidFill>
          <a:ln/>
        </p:spPr>
      </p:sp>
      <p:sp>
        <p:nvSpPr>
          <p:cNvPr id="45" name="!!fl_ahmadi"/>
          <p:cNvSpPr txBox="1"/>
          <p:nvPr/>
        </p:nvSpPr>
        <p:spPr>
          <a:xfrm>
            <a:off x="4559378" y="3205605"/>
            <a:ext cx="1783080" cy="310896"/>
          </a:xfrm>
          <a:prstGeom prst="rect">
            <a:avLst/>
          </a:prstGeom>
          <a:noFill/>
          <a:ln/>
        </p:spPr>
        <p:txBody>
          <a:bodyPr wrap="square" lIns="0" tIns="0" rIns="0" bIns="0" rtlCol="0" anchor="t"/>
          <a:lstStyle/>
          <a:p>
            <a:pPr algn="l" indent="0" marL="0">
              <a:buNone/>
            </a:pPr>
            <a:r>
              <a:rPr lang="en-US" sz="1500" dirty="0">
                <a:solidFill>
                  <a:schemeClr val="tx1"/>
                </a:solidFill>
                <a:effectLst>
                  <a:glow rad="76200">
                    <a:srgbClr val="141416">
                      <a:alpha val="85000"/>
                    </a:srgbClr>
                  </a:glow>
                </a:effectLst>
                <a:latin typeface="Arial" pitchFamily="34" charset="0"/>
                <a:ea typeface="Arial" pitchFamily="34" charset="-122"/>
                <a:cs typeface="Arial" pitchFamily="34" charset="-120"/>
              </a:rPr>
              <a:t>Mina Al-Ahmadi</a:t>
            </a:r>
            <a:endParaRPr lang="en-US" sz="1500" dirty="0"/>
          </a:p>
        </p:txBody>
      </p:sp>
      <p:sp>
        <p:nvSpPr>
          <p:cNvPr id="46" name="!!f_abdullah"/>
          <p:cNvSpPr/>
          <p:nvPr/>
        </p:nvSpPr>
        <p:spPr>
          <a:xfrm rot="2700000">
            <a:off x="4248482" y="3647518"/>
            <a:ext cx="182880" cy="182880"/>
          </a:xfrm>
          <a:prstGeom prst="rect">
            <a:avLst/>
          </a:prstGeom>
          <a:solidFill>
            <a:srgbClr val="F5F5F7"/>
          </a:solidFill>
          <a:ln/>
        </p:spPr>
      </p:sp>
      <p:sp>
        <p:nvSpPr>
          <p:cNvPr id="47" name="!!fl_abdullah"/>
          <p:cNvSpPr txBox="1"/>
          <p:nvPr/>
        </p:nvSpPr>
        <p:spPr>
          <a:xfrm>
            <a:off x="4559378" y="3720670"/>
            <a:ext cx="1783080" cy="310896"/>
          </a:xfrm>
          <a:prstGeom prst="rect">
            <a:avLst/>
          </a:prstGeom>
          <a:noFill/>
          <a:ln/>
        </p:spPr>
        <p:txBody>
          <a:bodyPr wrap="square" lIns="0" tIns="0" rIns="0" bIns="0" rtlCol="0" anchor="t"/>
          <a:lstStyle/>
          <a:p>
            <a:pPr algn="l" indent="0" marL="0">
              <a:buNone/>
            </a:pPr>
            <a:r>
              <a:rPr lang="en-US" sz="1500" dirty="0">
                <a:solidFill>
                  <a:schemeClr val="tx1"/>
                </a:solidFill>
                <a:effectLst>
                  <a:glow rad="76200">
                    <a:srgbClr val="141416">
                      <a:alpha val="85000"/>
                    </a:srgbClr>
                  </a:glow>
                </a:effectLst>
                <a:latin typeface="Arial" pitchFamily="34" charset="0"/>
                <a:ea typeface="Arial" pitchFamily="34" charset="-122"/>
                <a:cs typeface="Arial" pitchFamily="34" charset="-120"/>
              </a:rPr>
              <a:t>Mina Abdullah</a:t>
            </a:r>
            <a:endParaRPr lang="en-US" sz="1500" dirty="0"/>
          </a:p>
        </p:txBody>
      </p:sp>
      <p:sp>
        <p:nvSpPr>
          <p:cNvPr id="48" name="!!f_zour"/>
          <p:cNvSpPr/>
          <p:nvPr/>
        </p:nvSpPr>
        <p:spPr>
          <a:xfrm rot="2700000">
            <a:off x="5173616" y="4861982"/>
            <a:ext cx="182880" cy="182880"/>
          </a:xfrm>
          <a:prstGeom prst="rect">
            <a:avLst/>
          </a:prstGeom>
          <a:solidFill>
            <a:srgbClr val="F5F5F7"/>
          </a:solidFill>
          <a:ln/>
        </p:spPr>
      </p:sp>
      <p:sp>
        <p:nvSpPr>
          <p:cNvPr id="49" name="!!fl_zour"/>
          <p:cNvSpPr txBox="1"/>
          <p:nvPr/>
        </p:nvSpPr>
        <p:spPr>
          <a:xfrm>
            <a:off x="3253376" y="4797974"/>
            <a:ext cx="1783080" cy="310896"/>
          </a:xfrm>
          <a:prstGeom prst="rect">
            <a:avLst/>
          </a:prstGeom>
          <a:noFill/>
          <a:ln/>
        </p:spPr>
        <p:txBody>
          <a:bodyPr wrap="square" lIns="0" tIns="0" rIns="0" bIns="0" rtlCol="0" anchor="t"/>
          <a:lstStyle/>
          <a:p>
            <a:pPr algn="r" indent="0" marL="0">
              <a:buNone/>
            </a:pPr>
            <a:r>
              <a:rPr lang="en-US" sz="1500" dirty="0">
                <a:solidFill>
                  <a:schemeClr val="tx1"/>
                </a:solidFill>
                <a:effectLst>
                  <a:glow rad="76200">
                    <a:srgbClr val="141416">
                      <a:alpha val="85000"/>
                    </a:srgbClr>
                  </a:glow>
                </a:effectLst>
                <a:latin typeface="Arial" pitchFamily="34" charset="0"/>
                <a:ea typeface="Arial" pitchFamily="34" charset="-122"/>
                <a:cs typeface="Arial" pitchFamily="34" charset="-120"/>
              </a:rPr>
              <a:t>Al-Zour</a:t>
            </a:r>
            <a:endParaRPr lang="en-US" sz="1500" dirty="0"/>
          </a:p>
        </p:txBody>
      </p:sp>
      <p:sp>
        <p:nvSpPr>
          <p:cNvPr id="50" name="!!f_ahmaditown"/>
          <p:cNvSpPr/>
          <p:nvPr/>
        </p:nvSpPr>
        <p:spPr>
          <a:xfrm>
            <a:off x="3918927" y="3297280"/>
            <a:ext cx="182880" cy="182880"/>
          </a:xfrm>
          <a:prstGeom prst="ellipse">
            <a:avLst/>
          </a:prstGeom>
          <a:solidFill>
            <a:srgbClr val="000000">
              <a:alpha val="0"/>
            </a:srgbClr>
          </a:solidFill>
          <a:ln w="22225">
            <a:solidFill>
              <a:srgbClr val="F5F5F7"/>
            </a:solidFill>
            <a:prstDash val="solid"/>
          </a:ln>
        </p:spPr>
      </p:sp>
      <p:sp>
        <p:nvSpPr>
          <p:cNvPr id="51" name="!!fl_ahmaditown"/>
          <p:cNvSpPr txBox="1"/>
          <p:nvPr/>
        </p:nvSpPr>
        <p:spPr>
          <a:xfrm>
            <a:off x="3118827" y="2931520"/>
            <a:ext cx="1783080" cy="310896"/>
          </a:xfrm>
          <a:prstGeom prst="rect">
            <a:avLst/>
          </a:prstGeom>
          <a:noFill/>
          <a:ln/>
        </p:spPr>
        <p:txBody>
          <a:bodyPr wrap="square" lIns="0" tIns="0" rIns="0" bIns="0" rtlCol="0" anchor="t"/>
          <a:lstStyle/>
          <a:p>
            <a:pPr algn="ctr" indent="0" marL="0">
              <a:buNone/>
            </a:pPr>
            <a:r>
              <a:rPr lang="en-US" sz="1500" dirty="0">
                <a:solidFill>
                  <a:schemeClr val="tx1"/>
                </a:solidFill>
                <a:effectLst>
                  <a:glow rad="76200">
                    <a:srgbClr val="141416">
                      <a:alpha val="85000"/>
                    </a:srgbClr>
                  </a:glow>
                </a:effectLst>
                <a:latin typeface="Arial" pitchFamily="34" charset="0"/>
                <a:ea typeface="Arial" pitchFamily="34" charset="-122"/>
                <a:cs typeface="Arial" pitchFamily="34" charset="-120"/>
              </a:rPr>
              <a:t>Ahmadi (KOC HQ)</a:t>
            </a:r>
            <a:endParaRPr lang="en-US" sz="1500" dirty="0"/>
          </a:p>
        </p:txBody>
      </p:sp>
      <p:sp>
        <p:nvSpPr>
          <p:cNvPr id="52" name="!!zsw0_bg"/>
          <p:cNvSpPr/>
          <p:nvPr/>
        </p:nvSpPr>
        <p:spPr>
          <a:xfrm>
            <a:off x="548640" y="5449824"/>
            <a:ext cx="1620774" cy="365760"/>
          </a:xfrm>
          <a:prstGeom prst="roundRect">
            <a:avLst>
              <a:gd name="adj" fmla="val 50000"/>
            </a:avLst>
          </a:prstGeom>
          <a:solidFill>
            <a:srgbClr val="FF9F0A"/>
          </a:solidFill>
          <a:ln/>
        </p:spPr>
      </p:sp>
      <p:sp>
        <p:nvSpPr>
          <p:cNvPr id="53" name="!!zsw0_tx"/>
          <p:cNvSpPr txBox="1"/>
          <p:nvPr/>
        </p:nvSpPr>
        <p:spPr>
          <a:xfrm>
            <a:off x="548640" y="5449824"/>
            <a:ext cx="1620774"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South &amp; East</a:t>
            </a:r>
            <a:endParaRPr lang="en-US" sz="1400" dirty="0"/>
          </a:p>
        </p:txBody>
      </p:sp>
      <p:sp>
        <p:nvSpPr>
          <p:cNvPr id="54" name="!!zsw1_bg"/>
          <p:cNvSpPr/>
          <p:nvPr/>
        </p:nvSpPr>
        <p:spPr>
          <a:xfrm>
            <a:off x="2279142" y="5449824"/>
            <a:ext cx="1620774" cy="365760"/>
          </a:xfrm>
          <a:prstGeom prst="roundRect">
            <a:avLst>
              <a:gd name="adj" fmla="val 50000"/>
            </a:avLst>
          </a:prstGeom>
          <a:solidFill>
            <a:srgbClr val="2C2C2E"/>
          </a:solidFill>
          <a:ln/>
        </p:spPr>
      </p:sp>
      <p:sp>
        <p:nvSpPr>
          <p:cNvPr id="55" name="!!zsw1_tx"/>
          <p:cNvSpPr txBox="1"/>
          <p:nvPr/>
        </p:nvSpPr>
        <p:spPr>
          <a:xfrm>
            <a:off x="2279142" y="5449824"/>
            <a:ext cx="1620774" cy="365760"/>
          </a:xfrm>
          <a:prstGeom prst="rect">
            <a:avLst/>
          </a:prstGeom>
          <a:noFill/>
          <a:ln/>
        </p:spPr>
        <p:txBody>
          <a:bodyPr wrap="square" lIns="0" tIns="0" rIns="0" bIns="0" rtlCol="0" anchor="ctr"/>
          <a:lstStyle/>
          <a:p>
            <a:pPr algn="ctr" indent="0" marL="0">
              <a:buNone/>
            </a:pPr>
            <a:r>
              <a:rPr lang="en-US" sz="1400" b="1" dirty="0">
                <a:solidFill>
                  <a:schemeClr val="tx1"/>
                </a:solidFill>
                <a:latin typeface="Arial" pitchFamily="34" charset="0"/>
                <a:ea typeface="Arial" pitchFamily="34" charset="-122"/>
                <a:cs typeface="Arial" pitchFamily="34" charset="-120"/>
              </a:rPr>
              <a:t>North</a:t>
            </a:r>
            <a:endParaRPr lang="en-US" sz="1400" dirty="0"/>
          </a:p>
        </p:txBody>
      </p:sp>
      <p:sp>
        <p:nvSpPr>
          <p:cNvPr id="56" name="!!zsw1_hit">
            <a:hlinkClick r:id="rId4" tooltip="Zoom to North Kuwait" action="ppaction://hlinksldjump" highlightClick="1"/>
          </p:cNvPr>
          <p:cNvSpPr/>
          <p:nvPr/>
        </p:nvSpPr>
        <p:spPr>
          <a:xfrm>
            <a:off x="2279142" y="5449824"/>
            <a:ext cx="1620774" cy="365760"/>
          </a:xfrm>
          <a:prstGeom prst="roundRect">
            <a:avLst>
              <a:gd name="adj" fmla="val 50000"/>
            </a:avLst>
          </a:prstGeom>
          <a:solidFill>
            <a:srgbClr val="000000">
              <a:alpha val="0"/>
            </a:srgbClr>
          </a:solidFill>
          <a:ln/>
        </p:spPr>
      </p:sp>
      <p:sp>
        <p:nvSpPr>
          <p:cNvPr id="57" name="!!zsw2_bg"/>
          <p:cNvSpPr/>
          <p:nvPr/>
        </p:nvSpPr>
        <p:spPr>
          <a:xfrm>
            <a:off x="4009644" y="5449824"/>
            <a:ext cx="1620774" cy="365760"/>
          </a:xfrm>
          <a:prstGeom prst="roundRect">
            <a:avLst>
              <a:gd name="adj" fmla="val 50000"/>
            </a:avLst>
          </a:prstGeom>
          <a:solidFill>
            <a:srgbClr val="2C2C2E"/>
          </a:solidFill>
          <a:ln/>
        </p:spPr>
      </p:sp>
      <p:sp>
        <p:nvSpPr>
          <p:cNvPr id="58" name="!!zsw2_tx"/>
          <p:cNvSpPr txBox="1"/>
          <p:nvPr/>
        </p:nvSpPr>
        <p:spPr>
          <a:xfrm>
            <a:off x="4009644" y="5449824"/>
            <a:ext cx="1620774" cy="365760"/>
          </a:xfrm>
          <a:prstGeom prst="rect">
            <a:avLst/>
          </a:prstGeom>
          <a:noFill/>
          <a:ln/>
        </p:spPr>
        <p:txBody>
          <a:bodyPr wrap="square" lIns="0" tIns="0" rIns="0" bIns="0" rtlCol="0" anchor="ctr"/>
          <a:lstStyle/>
          <a:p>
            <a:pPr algn="ctr" indent="0" marL="0">
              <a:buNone/>
            </a:pPr>
            <a:r>
              <a:rPr lang="en-US" sz="1400" b="1" dirty="0">
                <a:solidFill>
                  <a:schemeClr val="tx1"/>
                </a:solidFill>
                <a:latin typeface="Arial" pitchFamily="34" charset="0"/>
                <a:ea typeface="Arial" pitchFamily="34" charset="-122"/>
                <a:cs typeface="Arial" pitchFamily="34" charset="-120"/>
              </a:rPr>
              <a:t>West</a:t>
            </a:r>
            <a:endParaRPr lang="en-US" sz="1400" dirty="0"/>
          </a:p>
        </p:txBody>
      </p:sp>
      <p:sp>
        <p:nvSpPr>
          <p:cNvPr id="59" name="!!zsw2_hit">
            <a:hlinkClick r:id="rId5" tooltip="Zoom to West Kuwait" action="ppaction://hlinksldjump" highlightClick="1"/>
          </p:cNvPr>
          <p:cNvSpPr/>
          <p:nvPr/>
        </p:nvSpPr>
        <p:spPr>
          <a:xfrm>
            <a:off x="4009644" y="5449824"/>
            <a:ext cx="1620774" cy="365760"/>
          </a:xfrm>
          <a:prstGeom prst="roundRect">
            <a:avLst>
              <a:gd name="adj" fmla="val 50000"/>
            </a:avLst>
          </a:prstGeom>
          <a:solidFill>
            <a:srgbClr val="000000">
              <a:alpha val="0"/>
            </a:srgbClr>
          </a:solidFill>
          <a:ln/>
        </p:spPr>
      </p:sp>
      <p:sp>
        <p:nvSpPr>
          <p:cNvPr id="60" name="!!zsw3_bg"/>
          <p:cNvSpPr/>
          <p:nvPr/>
        </p:nvSpPr>
        <p:spPr>
          <a:xfrm>
            <a:off x="5740146" y="5449824"/>
            <a:ext cx="1620774" cy="365760"/>
          </a:xfrm>
          <a:prstGeom prst="roundRect">
            <a:avLst>
              <a:gd name="adj" fmla="val 50000"/>
            </a:avLst>
          </a:prstGeom>
          <a:solidFill>
            <a:srgbClr val="2C2C2E"/>
          </a:solidFill>
          <a:ln/>
        </p:spPr>
      </p:sp>
      <p:sp>
        <p:nvSpPr>
          <p:cNvPr id="61" name="!!zsw3_tx"/>
          <p:cNvSpPr txBox="1"/>
          <p:nvPr/>
        </p:nvSpPr>
        <p:spPr>
          <a:xfrm>
            <a:off x="5740146" y="5449824"/>
            <a:ext cx="1620774" cy="365760"/>
          </a:xfrm>
          <a:prstGeom prst="rect">
            <a:avLst/>
          </a:prstGeom>
          <a:noFill/>
          <a:ln/>
        </p:spPr>
        <p:txBody>
          <a:bodyPr wrap="square" lIns="0" tIns="0" rIns="0" bIns="0" rtlCol="0" anchor="ctr"/>
          <a:lstStyle/>
          <a:p>
            <a:pPr algn="ctr" indent="0" marL="0">
              <a:buNone/>
            </a:pPr>
            <a:r>
              <a:rPr lang="en-US" sz="1400" b="1" dirty="0">
                <a:solidFill>
                  <a:schemeClr val="tx1"/>
                </a:solidFill>
                <a:latin typeface="Arial" pitchFamily="34" charset="0"/>
                <a:ea typeface="Arial" pitchFamily="34" charset="-122"/>
                <a:cs typeface="Arial" pitchFamily="34" charset="-120"/>
              </a:rPr>
              <a:t>PZ &amp; offshore</a:t>
            </a:r>
            <a:endParaRPr lang="en-US" sz="1400" dirty="0"/>
          </a:p>
        </p:txBody>
      </p:sp>
      <p:sp>
        <p:nvSpPr>
          <p:cNvPr id="62" name="!!zsw3_hit">
            <a:hlinkClick r:id="rId6" tooltip="Zoom to Partitioned Zone &amp; offshore" action="ppaction://hlinksldjump" highlightClick="1"/>
          </p:cNvPr>
          <p:cNvSpPr/>
          <p:nvPr/>
        </p:nvSpPr>
        <p:spPr>
          <a:xfrm>
            <a:off x="5740146" y="5449824"/>
            <a:ext cx="1620774" cy="365760"/>
          </a:xfrm>
          <a:prstGeom prst="roundRect">
            <a:avLst>
              <a:gd name="adj" fmla="val 50000"/>
            </a:avLst>
          </a:prstGeom>
          <a:solidFill>
            <a:srgbClr val="000000">
              <a:alpha val="0"/>
            </a:srgbClr>
          </a:solidFill>
          <a:ln/>
        </p:spPr>
      </p:sp>
      <p:sp>
        <p:nvSpPr>
          <p:cNvPr id="63" name="!!zlist"/>
          <p:cNvSpPr txBox="1"/>
          <p:nvPr/>
        </p:nvSpPr>
        <p:spPr>
          <a:xfrm>
            <a:off x="7726680" y="1801368"/>
            <a:ext cx="3916375" cy="3529584"/>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Greater Burgan</a:t>
            </a:r>
            <a:endParaRPr lang="en-US" sz="1600" dirty="0"/>
          </a:p>
          <a:p>
            <a:pPr indent="0" marL="0">
              <a:buNone/>
            </a:pPr>
            <a:r>
              <a:rPr lang="en-US" sz="1400" dirty="0">
                <a:solidFill>
                  <a:schemeClr val="tx2"/>
                </a:solidFill>
                <a:latin typeface="Arial" pitchFamily="34" charset="0"/>
                <a:ea typeface="Arial" pitchFamily="34" charset="-122"/>
                <a:cs typeface="Arial" pitchFamily="34" charset="-120"/>
              </a:rPr>
              <a:t>1938 · the world’s second-largest oil field</a:t>
            </a:r>
            <a:endParaRPr lang="en-US" sz="1600" dirty="0"/>
          </a:p>
          <a:p>
            <a:pPr indent="0" marL="0">
              <a:spcBef>
                <a:spcPts val="900"/>
              </a:spcBef>
              <a:buNone/>
            </a:pPr>
            <a:r>
              <a:rPr lang="en-US" sz="1600" b="1" dirty="0">
                <a:solidFill>
                  <a:schemeClr val="tx1"/>
                </a:solidFill>
                <a:latin typeface="Arial" pitchFamily="34" charset="0"/>
                <a:ea typeface="Arial" pitchFamily="34" charset="-122"/>
                <a:cs typeface="Arial" pitchFamily="34" charset="-120"/>
              </a:rPr>
              <a:t>Magwa and Ahmadi (Greater Burgan)</a:t>
            </a:r>
            <a:endParaRPr lang="en-US" sz="1600" dirty="0"/>
          </a:p>
          <a:p>
            <a:pPr indent="0" marL="0">
              <a:buNone/>
            </a:pPr>
            <a:r>
              <a:rPr lang="en-US" sz="1400" dirty="0">
                <a:solidFill>
                  <a:schemeClr val="tx2"/>
                </a:solidFill>
                <a:latin typeface="Arial" pitchFamily="34" charset="0"/>
                <a:ea typeface="Arial" pitchFamily="34" charset="-122"/>
                <a:cs typeface="Arial" pitchFamily="34" charset="-120"/>
              </a:rPr>
              <a:t>1950–52 · same Burgan and Wara sandstones</a:t>
            </a:r>
            <a:endParaRPr lang="en-US" sz="1600" dirty="0"/>
          </a:p>
          <a:p>
            <a:pPr indent="0" marL="0">
              <a:spcBef>
                <a:spcPts val="900"/>
              </a:spcBef>
              <a:buNone/>
            </a:pPr>
            <a:r>
              <a:rPr lang="en-US" sz="1600" b="1" dirty="0">
                <a:solidFill>
                  <a:schemeClr val="tx1"/>
                </a:solidFill>
                <a:latin typeface="Arial" pitchFamily="34" charset="0"/>
                <a:ea typeface="Arial" pitchFamily="34" charset="-122"/>
                <a:cs typeface="Arial" pitchFamily="34" charset="-120"/>
              </a:rPr>
              <a:t>Mina Al-Ahmadi · Mina Abdullah</a:t>
            </a:r>
            <a:endParaRPr lang="en-US" sz="1600" dirty="0"/>
          </a:p>
          <a:p>
            <a:pPr indent="0" marL="0">
              <a:buNone/>
            </a:pPr>
            <a:r>
              <a:rPr lang="en-US" sz="1400" dirty="0">
                <a:solidFill>
                  <a:schemeClr val="tx2"/>
                </a:solidFill>
                <a:latin typeface="Arial" pitchFamily="34" charset="0"/>
                <a:ea typeface="Arial" pitchFamily="34" charset="-122"/>
                <a:cs typeface="Arial" pitchFamily="34" charset="-120"/>
              </a:rPr>
              <a:t>refineries and crude export terminals</a:t>
            </a:r>
            <a:endParaRPr lang="en-US" sz="1600" dirty="0"/>
          </a:p>
          <a:p>
            <a:pPr indent="0" marL="0">
              <a:spcBef>
                <a:spcPts val="900"/>
              </a:spcBef>
              <a:buNone/>
            </a:pPr>
            <a:r>
              <a:rPr lang="en-US" sz="1600" b="1" dirty="0">
                <a:solidFill>
                  <a:schemeClr val="tx1"/>
                </a:solidFill>
                <a:latin typeface="Arial" pitchFamily="34" charset="0"/>
                <a:ea typeface="Arial" pitchFamily="34" charset="-122"/>
                <a:cs typeface="Arial" pitchFamily="34" charset="-120"/>
              </a:rPr>
              <a:t>Al-Zour</a:t>
            </a:r>
            <a:endParaRPr lang="en-US" sz="1600" dirty="0"/>
          </a:p>
          <a:p>
            <a:pPr indent="0" marL="0">
              <a:buNone/>
            </a:pPr>
            <a:r>
              <a:rPr lang="en-US" sz="1400" dirty="0">
                <a:solidFill>
                  <a:schemeClr val="tx2"/>
                </a:solidFill>
                <a:latin typeface="Arial" pitchFamily="34" charset="0"/>
                <a:ea typeface="Arial" pitchFamily="34" charset="-122"/>
                <a:cs typeface="Arial" pitchFamily="34" charset="-120"/>
              </a:rPr>
              <a:t>615 kb/d refinery and LNG import terminal</a:t>
            </a:r>
            <a:endParaRPr lang="en-US" sz="1600" dirty="0"/>
          </a:p>
        </p:txBody>
      </p:sp>
      <p:sp>
        <p:nvSpPr>
          <p:cNvPr id="64" name="!!zback_bg"/>
          <p:cNvSpPr/>
          <p:nvPr/>
        </p:nvSpPr>
        <p:spPr>
          <a:xfrm>
            <a:off x="7726680" y="5449824"/>
            <a:ext cx="2103120" cy="365760"/>
          </a:xfrm>
          <a:prstGeom prst="roundRect">
            <a:avLst>
              <a:gd name="adj" fmla="val 50000"/>
            </a:avLst>
          </a:prstGeom>
          <a:solidFill>
            <a:srgbClr val="2C2C2E"/>
          </a:solidFill>
          <a:ln w="15875">
            <a:solidFill>
              <a:srgbClr val="3A3A3C"/>
            </a:solidFill>
            <a:prstDash val="solid"/>
          </a:ln>
        </p:spPr>
      </p:sp>
      <p:pic>
        <p:nvPicPr>
          <p:cNvPr id="65" name="!!zback_ic" descr="Decorative graphic">    </p:cNvPr>
          <p:cNvPicPr>
            <a:picLocks noChangeAspect="1"/>
          </p:cNvPicPr>
          <p:nvPr/>
        </p:nvPicPr>
        <p:blipFill>
          <a:blip r:embed="rId7"/>
          <a:stretch>
            <a:fillRect/>
          </a:stretch>
        </p:blipFill>
        <p:spPr>
          <a:xfrm>
            <a:off x="8121625" y="5541264"/>
            <a:ext cx="182880" cy="182880"/>
          </a:xfrm>
          <a:prstGeom prst="rect">
            <a:avLst/>
          </a:prstGeom>
        </p:spPr>
      </p:pic>
      <p:sp>
        <p:nvSpPr>
          <p:cNvPr id="66" name="!!zback_tx"/>
          <p:cNvSpPr txBox="1"/>
          <p:nvPr/>
        </p:nvSpPr>
        <p:spPr>
          <a:xfrm>
            <a:off x="8377657" y="5449824"/>
            <a:ext cx="1240079" cy="365760"/>
          </a:xfrm>
          <a:prstGeom prst="rect">
            <a:avLst/>
          </a:prstGeom>
          <a:noFill/>
          <a:ln/>
        </p:spPr>
        <p:txBody>
          <a:bodyPr wrap="square" lIns="0" tIns="0" rIns="0" bIns="0" rtlCol="0" anchor="ctr"/>
          <a:lstStyle/>
          <a:p>
            <a:pPr algn="l" indent="0" marL="0">
              <a:buNone/>
            </a:pPr>
            <a:r>
              <a:rPr lang="en-US" sz="1400" b="1" dirty="0">
                <a:solidFill>
                  <a:schemeClr val="tx1"/>
                </a:solidFill>
                <a:latin typeface="Arial" pitchFamily="34" charset="0"/>
                <a:ea typeface="Arial" pitchFamily="34" charset="-122"/>
                <a:cs typeface="Arial" pitchFamily="34" charset="-120"/>
              </a:rPr>
              <a:t>Back to map</a:t>
            </a:r>
            <a:endParaRPr lang="en-US" sz="1400" dirty="0"/>
          </a:p>
        </p:txBody>
      </p:sp>
      <p:sp>
        <p:nvSpPr>
          <p:cNvPr id="67" name="!!zback_hit">
            <a:hlinkClick r:id="rId8" tooltip="Back to map" action="ppaction://hlinksldjump" highlightClick="1"/>
          </p:cNvPr>
          <p:cNvSpPr/>
          <p:nvPr/>
        </p:nvSpPr>
        <p:spPr>
          <a:xfrm>
            <a:off x="7726680" y="5449824"/>
            <a:ext cx="2103120" cy="365760"/>
          </a:xfrm>
          <a:prstGeom prst="roundRect">
            <a:avLst>
              <a:gd name="adj" fmla="val 50000"/>
            </a:avLst>
          </a:prstGeom>
          <a:solidFill>
            <a:srgbClr val="000000">
              <a:alpha val="0"/>
            </a:srgbClr>
          </a:solidFill>
          <a:ln/>
        </p:spPr>
      </p:sp>
      <p:sp>
        <p:nvSpPr>
          <p:cNvPr id="68" name="!!source"/>
          <p:cNvSpPr txBox="1"/>
          <p:nvPr/>
        </p:nvSpPr>
        <p:spPr>
          <a:xfrm>
            <a:off x="548640" y="5943600"/>
            <a:ext cx="9692640" cy="274320"/>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Sources: KPC (n.d.-a), KOC field map; Horn (2014); Naqi et al. (2023); KUNA (2024); Offshore Engineer (2025). Positions approximate.</a:t>
            </a:r>
            <a:endParaRPr lang="en-US" sz="1200" dirty="0"/>
          </a:p>
        </p:txBody>
      </p:sp>
      <p:sp>
        <p:nvSpPr>
          <p:cNvPr id="69" name="!!home_bg"/>
          <p:cNvSpPr/>
          <p:nvPr/>
        </p:nvSpPr>
        <p:spPr>
          <a:xfrm>
            <a:off x="10637215" y="6272784"/>
            <a:ext cx="384048" cy="384048"/>
          </a:xfrm>
          <a:prstGeom prst="roundRect">
            <a:avLst>
              <a:gd name="adj" fmla="val 23810"/>
            </a:avLst>
          </a:prstGeom>
          <a:solidFill>
            <a:srgbClr val="2C2C2E"/>
          </a:solidFill>
          <a:ln/>
        </p:spPr>
      </p:sp>
      <p:pic>
        <p:nvPicPr>
          <p:cNvPr id="70" name="!!home_ic" descr="Decorative graphic">    </p:cNvPr>
          <p:cNvPicPr>
            <a:picLocks noChangeAspect="1"/>
          </p:cNvPicPr>
          <p:nvPr/>
        </p:nvPicPr>
        <p:blipFill>
          <a:blip r:embed="rId9"/>
          <a:stretch>
            <a:fillRect/>
          </a:stretch>
        </p:blipFill>
        <p:spPr>
          <a:xfrm>
            <a:off x="10719511" y="6355080"/>
            <a:ext cx="219456" cy="219456"/>
          </a:xfrm>
          <a:prstGeom prst="rect">
            <a:avLst/>
          </a:prstGeom>
        </p:spPr>
      </p:pic>
      <p:sp>
        <p:nvSpPr>
          <p:cNvPr id="71" name="!!home_hit">
            <a:hlinkClick r:id="rId10" tooltip="Back to contents" action="ppaction://hlinksldjump" highlightClick="1"/>
          </p:cNvPr>
          <p:cNvSpPr/>
          <p:nvPr/>
        </p:nvSpPr>
        <p:spPr>
          <a:xfrm>
            <a:off x="10637215" y="6272784"/>
            <a:ext cx="384048" cy="384048"/>
          </a:xfrm>
          <a:prstGeom prst="roundRect">
            <a:avLst>
              <a:gd name="adj" fmla="val 23810"/>
            </a:avLst>
          </a:prstGeom>
          <a:solidFill>
            <a:srgbClr val="000000">
              <a:alpha val="0"/>
            </a:srgbClr>
          </a:solidFill>
          <a:ln/>
        </p:spPr>
      </p:sp>
      <p:sp>
        <p:nvSpPr>
          <p:cNvPr id="73" name="!!footer"/>
          <p:cNvSpPr txBox="1"/>
          <p:nvPr/>
        </p:nvSpPr>
        <p:spPr>
          <a:xfrm>
            <a:off x="548640" y="6327648"/>
            <a:ext cx="5486400" cy="292608"/>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Kuwait Oil &amp; Gas  ·  EGCH2230</a:t>
            </a:r>
            <a:endParaRPr lang="en-US" sz="1200" dirty="0"/>
          </a:p>
        </p:txBody>
      </p:sp>
      <p:sp>
        <p:nvSpPr>
          <p:cNvPr id="74" name="!!num"/>
          <p:cNvSpPr txBox="1"/>
          <p:nvPr/>
        </p:nvSpPr>
        <p:spPr>
          <a:xfrm>
            <a:off x="11094415" y="6327648"/>
            <a:ext cx="548640" cy="292608"/>
          </a:xfrm>
          <a:prstGeom prst="rect">
            <a:avLst/>
          </a:prstGeom>
          <a:noFill/>
          <a:ln/>
        </p:spPr>
        <p:txBody>
          <a:bodyPr wrap="square" lIns="0" tIns="0" rIns="0" bIns="0" rtlCol="0" anchor="ctr"/>
          <a:lstStyle/>
          <a:p>
            <a:pPr algn="r" indent="0" marL="0">
              <a:buNone/>
            </a:pPr>
            <a:r>
              <a:rPr lang="en-US" sz="1200" dirty="0">
                <a:solidFill>
                  <a:schemeClr val="tx2"/>
                </a:solidFill>
                <a:latin typeface="Arial" pitchFamily="34" charset="0"/>
                <a:ea typeface="Arial" pitchFamily="34" charset="-122"/>
                <a:cs typeface="Arial" pitchFamily="34" charset="-120"/>
              </a:rPr>
              <a:t>16</a:t>
            </a:r>
            <a:endParaRPr lang="en-US" sz="1200" dirty="0"/>
          </a:p>
        </p:txBody>
      </p:sp>
      <p:pic>
        <p:nvPicPr>
          <p:cNvPr id="75" name="!!badge" descr="University of Technology and Applied Sciences, Salalah">    </p:cNvPr>
          <p:cNvPicPr>
            <a:picLocks noChangeAspect="1"/>
          </p:cNvPicPr>
          <p:nvPr/>
        </p:nvPicPr>
        <p:blipFill>
          <a:blip r:embed="rId11"/>
          <a:stretch>
            <a:fillRect/>
          </a:stretch>
        </p:blipFill>
        <p:spPr>
          <a:xfrm>
            <a:off x="9677095" y="274320"/>
            <a:ext cx="1965960" cy="80987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4:dur="1400" advClick="0">
        <p159:morph option="byObject"/>
      </p:transition>
    </mc:Choice>
    <mc:Fallback>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0" presetClass="path" presetSubtype="0" fill="hold" grpId="0" nodeType="afterEffect" repeatCount="indefinite" autoRev="1">
                                  <p:stCondLst>
                                    <p:cond delay="0"/>
                                  </p:stCondLst>
                                  <p:childTnLst>
                                    <p:animMotion origin="layout" path="M 0 0 L 0.0350 -0.0300 E" pathEditMode="relative" ptsTypes="">
                                      <p:cBhvr>
                                        <p:cTn id="5" dur="13000" fill="hold" accel="50000" decel="50000"/>
                                        <p:tgtEl>
                                          <p:spTgt spid="2"/>
                                        </p:tgtEl>
                                        <p:attrNameLst>
                                          <p:attrName>ppt_x</p:attrName>
                                          <p:attrName>ppt_y</p:attrName>
                                        </p:attrNameLst>
                                      </p:cBhvr>
                                      <p:rCtr x="0" y="0"/>
                                    </p:animMotion>
                                  </p:childTnLst>
                                </p:cTn>
                              </p:par>
                              <p:par>
                                <p:cTn id="8" presetID="0" presetClass="path" presetSubtype="0" fill="hold" grpId="0" nodeType="withEffect" repeatCount="indefinite" autoRev="1">
                                  <p:stCondLst>
                                    <p:cond delay="0"/>
                                  </p:stCondLst>
                                  <p:childTnLst>
                                    <p:animMotion origin="layout" path="M 0 0 L -0.0300 0.0250 E" pathEditMode="relative" ptsTypes="">
                                      <p:cBhvr>
                                        <p:cTn id="7" dur="15000" fill="hold" accel="50000" decel="50000"/>
                                        <p:tgtEl>
                                          <p:spTgt spid="3"/>
                                        </p:tgtEl>
                                        <p:attrNameLst>
                                          <p:attrName>ppt_x</p:attrName>
                                          <p:attrName>ppt_y</p:attrName>
                                        </p:attrNameLst>
                                      </p:cBhvr>
                                      <p:rCtr x="0" y="0"/>
                                    </p:animMotion>
                                  </p:childTnLst>
                                </p:cTn>
                              </p:par>
                              <p:par>
                                <p:cTn id="10" presetID="6" presetClass="emph" presetSubtype="0" fill="hold" grpId="0" nodeType="withEffect" repeatCount="indefinite" autoRev="1">
                                  <p:stCondLst>
                                    <p:cond delay="1000"/>
                                  </p:stCondLst>
                                  <p:childTnLst>
                                    <p:animScale>
                                      <p:cBhvr>
                                        <p:cTn id="9" dur="1700" fill="hold" accel="50000" decel="50000"/>
                                        <p:tgtEl>
                                          <p:spTgt spid="11"/>
                                        </p:tgtEl>
                                      </p:cBhvr>
                                      <p:by x="120000" y="12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8.xml><?xml version="1.0" encoding="utf-8"?>
<p:sld xmlns:p14="http://schemas.microsoft.com/office/powerpoint/2010/main" xmlns:a="http://schemas.openxmlformats.org/drawingml/2006/main" xmlns:r="http://schemas.openxmlformats.org/officeDocument/2006/relationships" xmlns:p="http://schemas.openxmlformats.org/presentationml/2006/main" show="0">
  <p:cSld name="Slide 18">
    <p:spTree>
      <p:nvGrpSpPr>
        <p:cNvPr id="1" name=""/>
        <p:cNvGrpSpPr/>
        <p:nvPr/>
      </p:nvGrpSpPr>
      <p:grpSpPr>
        <a:xfrm>
          <a:off x="0" y="0"/>
          <a:ext cx="0" cy="0"/>
          <a:chOff x="0" y="0"/>
          <a:chExt cx="0" cy="0"/>
        </a:xfrm>
      </p:grpSpPr>
      <p:pic>
        <p:nvPicPr>
          <p:cNvPr id="2" name="!!orbA" descr="Decorative background light">    </p:cNvPr>
          <p:cNvPicPr>
            <a:picLocks noChangeAspect="1"/>
          </p:cNvPicPr>
          <p:nvPr/>
        </p:nvPicPr>
        <p:blipFill>
          <a:blip r:embed="rId1"/>
          <a:stretch>
            <a:fillRect/>
          </a:stretch>
        </p:blipFill>
        <p:spPr>
          <a:xfrm>
            <a:off x="-868680" y="-777240"/>
            <a:ext cx="7772400" cy="7772400"/>
          </a:xfrm>
          <a:prstGeom prst="rect">
            <a:avLst/>
          </a:prstGeom>
        </p:spPr>
      </p:pic>
      <p:pic>
        <p:nvPicPr>
          <p:cNvPr id="3" name="!!orbB" descr="Decorative background light">    </p:cNvPr>
          <p:cNvPicPr>
            <a:picLocks noChangeAspect="1"/>
          </p:cNvPicPr>
          <p:nvPr/>
        </p:nvPicPr>
        <p:blipFill>
          <a:blip r:embed="rId2"/>
          <a:stretch>
            <a:fillRect/>
          </a:stretch>
        </p:blipFill>
        <p:spPr>
          <a:xfrm>
            <a:off x="8138160" y="4023360"/>
            <a:ext cx="5486400" cy="5486400"/>
          </a:xfrm>
          <a:prstGeom prst="rect">
            <a:avLst/>
          </a:prstGeom>
        </p:spPr>
      </p:pic>
      <p:sp>
        <p:nvSpPr>
          <p:cNvPr id="4" name="!!kicker"/>
          <p:cNvSpPr/>
          <p:nvPr>
            <p:ph idx="100" type="body" hasCustomPrompt="1"/>
          </p:nvPr>
        </p:nvSpPr>
        <p:spPr>
          <a:xfrm>
            <a:off x="548640" y="384048"/>
            <a:ext cx="8732520" cy="329184"/>
          </a:xfrm>
          <a:prstGeom prst="rect">
            <a:avLst/>
          </a:prstGeom>
          <a:noFill/>
          <a:ln/>
        </p:spPr>
        <p:txBody>
          <a:bodyPr wrap="square" lIns="0" tIns="0" rIns="0" bIns="0" rtlCol="0" anchor="t"/>
          <a:lstStyle/>
          <a:p>
            <a:pPr algn="l" indent="0" marL="0">
              <a:buNone/>
            </a:pPr>
            <a:r>
              <a:rPr lang="en-US" sz="1500" b="1" spc="300" kern="0" dirty="0">
                <a:solidFill>
                  <a:schemeClr val="accent1"/>
                </a:solidFill>
              </a:rPr>
              <a:t>03 — RESERVOIR LOCATIONS  ·  ZOOM</a:t>
            </a:r>
            <a:endParaRPr lang="en-US" sz="1500" dirty="0"/>
          </a:p>
        </p:txBody>
      </p:sp>
      <p:sp>
        <p:nvSpPr>
          <p:cNvPr id="5" name="!!title"/>
          <p:cNvSpPr/>
          <p:nvPr>
            <p:ph idx="101" type="title" hasCustomPrompt="1"/>
          </p:nvPr>
        </p:nvSpPr>
        <p:spPr>
          <a:xfrm>
            <a:off x="548640" y="731520"/>
            <a:ext cx="8732520" cy="786384"/>
          </a:xfrm>
          <a:prstGeom prst="rect">
            <a:avLst/>
          </a:prstGeom>
          <a:noFill/>
          <a:ln/>
        </p:spPr>
        <p:txBody>
          <a:bodyPr wrap="square" lIns="0" tIns="0" rIns="0" bIns="0" rtlCol="0" anchor="t"/>
          <a:lstStyle/>
          <a:p>
            <a:pPr algn="l" indent="0" marL="0">
              <a:buNone/>
            </a:pPr>
            <a:r>
              <a:rPr lang="en-US" sz="3800" b="1" dirty="0">
                <a:solidFill>
                  <a:schemeClr val="tx1"/>
                </a:solidFill>
              </a:rPr>
              <a:t>North Kuwait</a:t>
            </a:r>
            <a:endParaRPr lang="en-US" sz="3800" dirty="0"/>
          </a:p>
        </p:txBody>
      </p:sp>
      <p:pic>
        <p:nvPicPr>
          <p:cNvPr id="6" name="!!map" descr="Zoomed map of a Kuwaiti producing area">    </p:cNvPr>
          <p:cNvPicPr>
            <a:picLocks noChangeAspect="1"/>
          </p:cNvPicPr>
          <p:nvPr/>
        </p:nvPicPr>
        <p:blipFill>
          <a:blip r:embed="rId3"/>
          <a:srcRect l="22937" r="27937" t="4762" b="63333"/>
          <a:stretch/>
        </p:blipFill>
        <p:spPr>
          <a:xfrm>
            <a:off x="548640" y="1783080"/>
            <a:ext cx="6812280" cy="3547872"/>
          </a:xfrm>
          <a:prstGeom prst="rect">
            <a:avLst/>
          </a:prstGeom>
        </p:spPr>
      </p:pic>
      <p:sp>
        <p:nvSpPr>
          <p:cNvPr id="7" name="!!mapframe"/>
          <p:cNvSpPr/>
          <p:nvPr/>
        </p:nvSpPr>
        <p:spPr>
          <a:xfrm>
            <a:off x="548640" y="1783080"/>
            <a:ext cx="6812280" cy="3547872"/>
          </a:xfrm>
          <a:prstGeom prst="rect">
            <a:avLst/>
          </a:prstGeom>
          <a:solidFill>
            <a:srgbClr val="000000">
              <a:alpha val="0"/>
            </a:srgbClr>
          </a:solidFill>
          <a:ln w="12700">
            <a:solidFill>
              <a:srgbClr val="3A3A3C"/>
            </a:solidFill>
            <a:prstDash val="solid"/>
          </a:ln>
        </p:spPr>
      </p:sp>
      <p:sp>
        <p:nvSpPr>
          <p:cNvPr id="8" name="!!c_iraq"/>
          <p:cNvSpPr txBox="1"/>
          <p:nvPr/>
        </p:nvSpPr>
        <p:spPr>
          <a:xfrm>
            <a:off x="-1187110" y="1540013"/>
            <a:ext cx="2194560" cy="274320"/>
          </a:xfrm>
          <a:prstGeom prst="rect">
            <a:avLst/>
          </a:prstGeom>
          <a:noFill/>
          <a:ln/>
        </p:spPr>
        <p:txBody>
          <a:bodyPr wrap="square" lIns="0" tIns="0" rIns="0" bIns="0" rtlCol="0" anchor="t"/>
          <a:lstStyle/>
          <a:p>
            <a:pPr algn="ctr" indent="0" marL="0">
              <a:buNone/>
            </a:pPr>
            <a:r>
              <a:rPr lang="en-US" sz="1300" spc="400" kern="0" dirty="0">
                <a:solidFill>
                  <a:srgbClr val="8E8E93">
                    <a:alpha val="0"/>
                  </a:srgbClr>
                </a:solidFill>
                <a:latin typeface="Arial" pitchFamily="34" charset="0"/>
                <a:ea typeface="Arial" pitchFamily="34" charset="-122"/>
                <a:cs typeface="Arial" pitchFamily="34" charset="-120"/>
              </a:rPr>
              <a:t>IRAQ</a:t>
            </a:r>
            <a:endParaRPr lang="en-US" sz="1300" dirty="0"/>
          </a:p>
        </p:txBody>
      </p:sp>
      <p:sp>
        <p:nvSpPr>
          <p:cNvPr id="9" name="!!c_saudi"/>
          <p:cNvSpPr txBox="1"/>
          <p:nvPr/>
        </p:nvSpPr>
        <p:spPr>
          <a:xfrm>
            <a:off x="-262628" y="11442283"/>
            <a:ext cx="2194560" cy="274320"/>
          </a:xfrm>
          <a:prstGeom prst="rect">
            <a:avLst/>
          </a:prstGeom>
          <a:noFill/>
          <a:ln/>
        </p:spPr>
        <p:txBody>
          <a:bodyPr wrap="square" lIns="0" tIns="0" rIns="0" bIns="0" rtlCol="0" anchor="t"/>
          <a:lstStyle/>
          <a:p>
            <a:pPr algn="ctr" indent="0" marL="0">
              <a:buNone/>
            </a:pPr>
            <a:r>
              <a:rPr lang="en-US" sz="1300" spc="400" kern="0" dirty="0">
                <a:solidFill>
                  <a:srgbClr val="8E8E93">
                    <a:alpha val="0"/>
                  </a:srgbClr>
                </a:solidFill>
                <a:latin typeface="Arial" pitchFamily="34" charset="0"/>
                <a:ea typeface="Arial" pitchFamily="34" charset="-122"/>
                <a:cs typeface="Arial" pitchFamily="34" charset="-120"/>
              </a:rPr>
              <a:t>SAUDI ARABIA</a:t>
            </a:r>
            <a:endParaRPr lang="en-US" sz="1300" dirty="0"/>
          </a:p>
        </p:txBody>
      </p:sp>
      <p:sp>
        <p:nvSpPr>
          <p:cNvPr id="10" name="!!c_gulf"/>
          <p:cNvSpPr txBox="1"/>
          <p:nvPr/>
        </p:nvSpPr>
        <p:spPr>
          <a:xfrm>
            <a:off x="8519954" y="6676485"/>
            <a:ext cx="2194560" cy="274320"/>
          </a:xfrm>
          <a:prstGeom prst="rect">
            <a:avLst/>
          </a:prstGeom>
          <a:noFill/>
          <a:ln/>
        </p:spPr>
        <p:txBody>
          <a:bodyPr wrap="square" lIns="0" tIns="0" rIns="0" bIns="0" rtlCol="0" anchor="t"/>
          <a:lstStyle/>
          <a:p>
            <a:pPr algn="ctr" indent="0" marL="0">
              <a:buNone/>
            </a:pPr>
            <a:r>
              <a:rPr lang="en-US" sz="1300" spc="400" kern="0" dirty="0">
                <a:solidFill>
                  <a:srgbClr val="8E8E93">
                    <a:alpha val="0"/>
                  </a:srgbClr>
                </a:solidFill>
                <a:latin typeface="Arial" pitchFamily="34" charset="0"/>
                <a:ea typeface="Arial" pitchFamily="34" charset="-122"/>
                <a:cs typeface="Arial" pitchFamily="34" charset="-120"/>
              </a:rPr>
              <a:t>ARABIAN GULF</a:t>
            </a:r>
            <a:endParaRPr lang="en-US" sz="1300" dirty="0"/>
          </a:p>
        </p:txBody>
      </p:sp>
      <p:sp>
        <p:nvSpPr>
          <p:cNvPr id="11" name="!!f_burgan"/>
          <p:cNvSpPr/>
          <p:nvPr/>
        </p:nvSpPr>
        <p:spPr>
          <a:xfrm>
            <a:off x="5366128" y="7656121"/>
            <a:ext cx="274320" cy="274320"/>
          </a:xfrm>
          <a:prstGeom prst="ellipse">
            <a:avLst/>
          </a:prstGeom>
          <a:solidFill>
            <a:srgbClr val="FF9F0A">
              <a:alpha val="0"/>
            </a:srgbClr>
          </a:solidFill>
          <a:ln/>
        </p:spPr>
      </p:sp>
      <p:sp>
        <p:nvSpPr>
          <p:cNvPr id="12" name="!!fl_burgan"/>
          <p:cNvSpPr txBox="1"/>
          <p:nvPr/>
        </p:nvSpPr>
        <p:spPr>
          <a:xfrm>
            <a:off x="5269140" y="8238162"/>
            <a:ext cx="1737360" cy="274320"/>
          </a:xfrm>
          <a:prstGeom prst="rect">
            <a:avLst/>
          </a:prstGeom>
          <a:noFill/>
          <a:ln/>
        </p:spPr>
        <p:txBody>
          <a:bodyPr wrap="square" lIns="0" tIns="0" rIns="0" bIns="0" rtlCol="0" anchor="t"/>
          <a:lstStyle/>
          <a:p>
            <a:pPr algn="l" indent="0" marL="0">
              <a:buNone/>
            </a:pPr>
            <a:r>
              <a:rPr lang="en-US" sz="1300" dirty="0">
                <a:solidFill>
                  <a:schemeClr val="tx1">
                    <a:alpha val="0"/>
                  </a:schemeClr>
                </a:solidFill>
                <a:latin typeface="Arial" pitchFamily="34" charset="0"/>
                <a:ea typeface="Arial" pitchFamily="34" charset="-122"/>
                <a:cs typeface="Arial" pitchFamily="34" charset="-120"/>
              </a:rPr>
              <a:t>Greater Burgan</a:t>
            </a:r>
            <a:endParaRPr lang="en-US" sz="1300" dirty="0"/>
          </a:p>
        </p:txBody>
      </p:sp>
      <p:sp>
        <p:nvSpPr>
          <p:cNvPr id="13" name="!!f_raudhatain"/>
          <p:cNvSpPr/>
          <p:nvPr/>
        </p:nvSpPr>
        <p:spPr>
          <a:xfrm>
            <a:off x="4374999" y="3014893"/>
            <a:ext cx="342900" cy="342900"/>
          </a:xfrm>
          <a:prstGeom prst="ellipse">
            <a:avLst/>
          </a:prstGeom>
          <a:solidFill>
            <a:srgbClr val="FF9F0A"/>
          </a:solidFill>
          <a:ln/>
          <a:effectLst>
            <a:outerShdw sx="100000" sy="100000" kx="0" ky="0" algn="bl" rotWithShape="0" blurRad="228600" dist="50800" dir="5400000">
              <a:srgbClr val="FF9F0A">
                <a:alpha val="90000"/>
              </a:srgbClr>
            </a:outerShdw>
          </a:effectLst>
        </p:spPr>
      </p:sp>
      <p:sp>
        <p:nvSpPr>
          <p:cNvPr id="14" name="!!fk_raudhatain"/>
          <p:cNvSpPr/>
          <p:nvPr/>
        </p:nvSpPr>
        <p:spPr>
          <a:xfrm>
            <a:off x="3844004" y="2483899"/>
            <a:ext cx="421467" cy="398052"/>
          </a:xfrm>
          <a:prstGeom prst="line">
            <a:avLst/>
          </a:prstGeom>
          <a:noFill/>
          <a:ln w="12700">
            <a:solidFill>
              <a:srgbClr val="A1A1A6">
                <a:alpha val="0"/>
              </a:srgbClr>
            </a:solidFill>
            <a:prstDash val="solid"/>
          </a:ln>
        </p:spPr>
      </p:sp>
      <p:sp>
        <p:nvSpPr>
          <p:cNvPr id="15" name="!!fl_raudhatain"/>
          <p:cNvSpPr txBox="1"/>
          <p:nvPr/>
        </p:nvSpPr>
        <p:spPr>
          <a:xfrm>
            <a:off x="3494889" y="2729143"/>
            <a:ext cx="1783080" cy="310896"/>
          </a:xfrm>
          <a:prstGeom prst="rect">
            <a:avLst/>
          </a:prstGeom>
          <a:noFill/>
          <a:ln/>
        </p:spPr>
        <p:txBody>
          <a:bodyPr wrap="square" lIns="0" tIns="0" rIns="0" bIns="0" rtlCol="0" anchor="t"/>
          <a:lstStyle/>
          <a:p>
            <a:pPr algn="ctr" indent="0" marL="0">
              <a:buNone/>
            </a:pPr>
            <a:r>
              <a:rPr lang="en-US" sz="1500" b="1" dirty="0">
                <a:solidFill>
                  <a:schemeClr val="tx1"/>
                </a:solidFill>
                <a:effectLst>
                  <a:glow rad="76200">
                    <a:srgbClr val="141416">
                      <a:alpha val="85000"/>
                    </a:srgbClr>
                  </a:glow>
                </a:effectLst>
                <a:latin typeface="Arial" pitchFamily="34" charset="0"/>
                <a:ea typeface="Arial" pitchFamily="34" charset="-122"/>
                <a:cs typeface="Arial" pitchFamily="34" charset="-120"/>
              </a:rPr>
              <a:t>Raudhatain</a:t>
            </a:r>
            <a:endParaRPr lang="en-US" sz="1500" dirty="0"/>
          </a:p>
        </p:txBody>
      </p:sp>
      <p:sp>
        <p:nvSpPr>
          <p:cNvPr id="16" name="!!f_sabriya"/>
          <p:cNvSpPr/>
          <p:nvPr/>
        </p:nvSpPr>
        <p:spPr>
          <a:xfrm>
            <a:off x="4996083" y="3405649"/>
            <a:ext cx="228600" cy="228600"/>
          </a:xfrm>
          <a:prstGeom prst="ellipse">
            <a:avLst/>
          </a:prstGeom>
          <a:solidFill>
            <a:srgbClr val="FF9F0A"/>
          </a:solidFill>
          <a:ln/>
          <a:effectLst>
            <a:outerShdw sx="100000" sy="100000" kx="0" ky="0" algn="bl" rotWithShape="0" blurRad="228600" dist="50800" dir="5400000">
              <a:srgbClr val="FF9F0A">
                <a:alpha val="90000"/>
              </a:srgbClr>
            </a:outerShdw>
          </a:effectLst>
        </p:spPr>
      </p:sp>
      <p:sp>
        <p:nvSpPr>
          <p:cNvPr id="17" name="!!fl_sabriya"/>
          <p:cNvSpPr txBox="1"/>
          <p:nvPr/>
        </p:nvSpPr>
        <p:spPr>
          <a:xfrm>
            <a:off x="5311551" y="3364501"/>
            <a:ext cx="1783080" cy="310896"/>
          </a:xfrm>
          <a:prstGeom prst="rect">
            <a:avLst/>
          </a:prstGeom>
          <a:noFill/>
          <a:ln/>
        </p:spPr>
        <p:txBody>
          <a:bodyPr wrap="square" lIns="0" tIns="0" rIns="0" bIns="0" rtlCol="0" anchor="t"/>
          <a:lstStyle/>
          <a:p>
            <a:pPr algn="l" indent="0" marL="0">
              <a:buNone/>
            </a:pPr>
            <a:r>
              <a:rPr lang="en-US" sz="1500" b="1" dirty="0">
                <a:solidFill>
                  <a:schemeClr val="tx1"/>
                </a:solidFill>
                <a:effectLst>
                  <a:glow rad="76200">
                    <a:srgbClr val="141416">
                      <a:alpha val="85000"/>
                    </a:srgbClr>
                  </a:glow>
                </a:effectLst>
                <a:latin typeface="Arial" pitchFamily="34" charset="0"/>
                <a:ea typeface="Arial" pitchFamily="34" charset="-122"/>
                <a:cs typeface="Arial" pitchFamily="34" charset="-120"/>
              </a:rPr>
              <a:t>Sabriya</a:t>
            </a:r>
            <a:endParaRPr lang="en-US" sz="1500" dirty="0"/>
          </a:p>
        </p:txBody>
      </p:sp>
      <p:sp>
        <p:nvSpPr>
          <p:cNvPr id="18" name="!!f_bahra"/>
          <p:cNvSpPr/>
          <p:nvPr/>
        </p:nvSpPr>
        <p:spPr>
          <a:xfrm>
            <a:off x="5282672" y="4385285"/>
            <a:ext cx="228600" cy="228600"/>
          </a:xfrm>
          <a:prstGeom prst="ellipse">
            <a:avLst/>
          </a:prstGeom>
          <a:solidFill>
            <a:srgbClr val="FF9F0A"/>
          </a:solidFill>
          <a:ln/>
          <a:effectLst>
            <a:outerShdw sx="100000" sy="100000" kx="0" ky="0" algn="bl" rotWithShape="0" blurRad="228600" dist="50800" dir="5400000">
              <a:srgbClr val="FF9F0A">
                <a:alpha val="90000"/>
              </a:srgbClr>
            </a:outerShdw>
          </a:effectLst>
        </p:spPr>
      </p:sp>
      <p:sp>
        <p:nvSpPr>
          <p:cNvPr id="19" name="!!fl_bahra"/>
          <p:cNvSpPr txBox="1"/>
          <p:nvPr/>
        </p:nvSpPr>
        <p:spPr>
          <a:xfrm>
            <a:off x="5579852" y="4344137"/>
            <a:ext cx="1783080" cy="310896"/>
          </a:xfrm>
          <a:prstGeom prst="rect">
            <a:avLst/>
          </a:prstGeom>
          <a:noFill/>
          <a:ln/>
        </p:spPr>
        <p:txBody>
          <a:bodyPr wrap="square" lIns="0" tIns="0" rIns="0" bIns="0" rtlCol="0" anchor="t"/>
          <a:lstStyle/>
          <a:p>
            <a:pPr algn="l" indent="0" marL="0">
              <a:buNone/>
            </a:pPr>
            <a:r>
              <a:rPr lang="en-US" sz="1500" b="1" dirty="0">
                <a:solidFill>
                  <a:schemeClr val="tx1"/>
                </a:solidFill>
                <a:effectLst>
                  <a:glow rad="76200">
                    <a:srgbClr val="141416">
                      <a:alpha val="85000"/>
                    </a:srgbClr>
                  </a:glow>
                </a:effectLst>
                <a:latin typeface="Arial" pitchFamily="34" charset="0"/>
                <a:ea typeface="Arial" pitchFamily="34" charset="-122"/>
                <a:cs typeface="Arial" pitchFamily="34" charset="-120"/>
              </a:rPr>
              <a:t>Bahra</a:t>
            </a:r>
            <a:endParaRPr lang="en-US" sz="1500" dirty="0"/>
          </a:p>
        </p:txBody>
      </p:sp>
      <p:sp>
        <p:nvSpPr>
          <p:cNvPr id="20" name="!!f_ratqa"/>
          <p:cNvSpPr/>
          <p:nvPr/>
        </p:nvSpPr>
        <p:spPr>
          <a:xfrm>
            <a:off x="2957599" y="3093224"/>
            <a:ext cx="228600" cy="228600"/>
          </a:xfrm>
          <a:prstGeom prst="ellipse">
            <a:avLst/>
          </a:prstGeom>
          <a:solidFill>
            <a:srgbClr val="FF9F0A"/>
          </a:solidFill>
          <a:ln/>
          <a:effectLst>
            <a:outerShdw sx="100000" sy="100000" kx="0" ky="0" algn="bl" rotWithShape="0" blurRad="228600" dist="50800" dir="5400000">
              <a:srgbClr val="FF9F0A">
                <a:alpha val="90000"/>
              </a:srgbClr>
            </a:outerShdw>
          </a:effectLst>
        </p:spPr>
      </p:sp>
      <p:sp>
        <p:nvSpPr>
          <p:cNvPr id="21" name="!!fl_ratqa"/>
          <p:cNvSpPr txBox="1"/>
          <p:nvPr/>
        </p:nvSpPr>
        <p:spPr>
          <a:xfrm>
            <a:off x="2180359" y="3362972"/>
            <a:ext cx="1783080" cy="310896"/>
          </a:xfrm>
          <a:prstGeom prst="rect">
            <a:avLst/>
          </a:prstGeom>
          <a:noFill/>
          <a:ln/>
        </p:spPr>
        <p:txBody>
          <a:bodyPr wrap="square" lIns="0" tIns="0" rIns="0" bIns="0" rtlCol="0" anchor="t"/>
          <a:lstStyle/>
          <a:p>
            <a:pPr algn="ctr" indent="0" marL="0">
              <a:buNone/>
            </a:pPr>
            <a:r>
              <a:rPr lang="en-US" sz="1500" b="1" dirty="0">
                <a:solidFill>
                  <a:schemeClr val="tx1"/>
                </a:solidFill>
                <a:effectLst>
                  <a:glow rad="76200">
                    <a:srgbClr val="141416">
                      <a:alpha val="85000"/>
                    </a:srgbClr>
                  </a:glow>
                </a:effectLst>
                <a:latin typeface="Arial" pitchFamily="34" charset="0"/>
                <a:ea typeface="Arial" pitchFamily="34" charset="-122"/>
                <a:cs typeface="Arial" pitchFamily="34" charset="-120"/>
              </a:rPr>
              <a:t>Ratqa (heavy oil)</a:t>
            </a:r>
            <a:endParaRPr lang="en-US" sz="1500" dirty="0"/>
          </a:p>
        </p:txBody>
      </p:sp>
      <p:sp>
        <p:nvSpPr>
          <p:cNvPr id="22" name="!!f_abdali"/>
          <p:cNvSpPr/>
          <p:nvPr/>
        </p:nvSpPr>
        <p:spPr>
          <a:xfrm>
            <a:off x="4640157" y="2267152"/>
            <a:ext cx="228600" cy="228600"/>
          </a:xfrm>
          <a:prstGeom prst="ellipse">
            <a:avLst/>
          </a:prstGeom>
          <a:solidFill>
            <a:srgbClr val="FF9F0A"/>
          </a:solidFill>
          <a:ln/>
          <a:effectLst>
            <a:outerShdw sx="100000" sy="100000" kx="0" ky="0" algn="bl" rotWithShape="0" blurRad="228600" dist="50800" dir="5400000">
              <a:srgbClr val="FF9F0A">
                <a:alpha val="90000"/>
              </a:srgbClr>
            </a:outerShdw>
          </a:effectLst>
        </p:spPr>
      </p:sp>
      <p:sp>
        <p:nvSpPr>
          <p:cNvPr id="23" name="!!fl_abdali"/>
          <p:cNvSpPr txBox="1"/>
          <p:nvPr/>
        </p:nvSpPr>
        <p:spPr>
          <a:xfrm>
            <a:off x="2815929" y="2088844"/>
            <a:ext cx="1783080" cy="310896"/>
          </a:xfrm>
          <a:prstGeom prst="rect">
            <a:avLst/>
          </a:prstGeom>
          <a:noFill/>
          <a:ln/>
        </p:spPr>
        <p:txBody>
          <a:bodyPr wrap="square" lIns="0" tIns="0" rIns="0" bIns="0" rtlCol="0" anchor="t"/>
          <a:lstStyle/>
          <a:p>
            <a:pPr algn="r" indent="0" marL="0">
              <a:buNone/>
            </a:pPr>
            <a:r>
              <a:rPr lang="en-US" sz="1500" b="1" dirty="0">
                <a:solidFill>
                  <a:schemeClr val="tx1"/>
                </a:solidFill>
                <a:effectLst>
                  <a:glow rad="76200">
                    <a:srgbClr val="141416">
                      <a:alpha val="85000"/>
                    </a:srgbClr>
                  </a:glow>
                </a:effectLst>
                <a:latin typeface="Arial" pitchFamily="34" charset="0"/>
                <a:ea typeface="Arial" pitchFamily="34" charset="-122"/>
                <a:cs typeface="Arial" pitchFamily="34" charset="-120"/>
              </a:rPr>
              <a:t>Abdali</a:t>
            </a:r>
            <a:endParaRPr lang="en-US" sz="1500" dirty="0"/>
          </a:p>
        </p:txBody>
      </p:sp>
      <p:sp>
        <p:nvSpPr>
          <p:cNvPr id="24" name="!!f_minagish"/>
          <p:cNvSpPr/>
          <p:nvPr/>
        </p:nvSpPr>
        <p:spPr>
          <a:xfrm>
            <a:off x="3383113" y="7645530"/>
            <a:ext cx="274320" cy="274320"/>
          </a:xfrm>
          <a:prstGeom prst="ellipse">
            <a:avLst/>
          </a:prstGeom>
          <a:solidFill>
            <a:srgbClr val="FF9F0A">
              <a:alpha val="0"/>
            </a:srgbClr>
          </a:solidFill>
          <a:ln/>
        </p:spPr>
      </p:sp>
      <p:sp>
        <p:nvSpPr>
          <p:cNvPr id="25" name="!!fl_minagish"/>
          <p:cNvSpPr txBox="1"/>
          <p:nvPr/>
        </p:nvSpPr>
        <p:spPr>
          <a:xfrm>
            <a:off x="-1350007" y="7080246"/>
            <a:ext cx="1737360" cy="274320"/>
          </a:xfrm>
          <a:prstGeom prst="rect">
            <a:avLst/>
          </a:prstGeom>
          <a:noFill/>
          <a:ln/>
        </p:spPr>
        <p:txBody>
          <a:bodyPr wrap="square" lIns="0" tIns="0" rIns="0" bIns="0" rtlCol="0" anchor="t"/>
          <a:lstStyle/>
          <a:p>
            <a:pPr algn="r" indent="0" marL="0">
              <a:buNone/>
            </a:pPr>
            <a:r>
              <a:rPr lang="en-US" sz="1300" dirty="0">
                <a:solidFill>
                  <a:schemeClr val="tx1">
                    <a:alpha val="0"/>
                  </a:schemeClr>
                </a:solidFill>
                <a:latin typeface="Arial" pitchFamily="34" charset="0"/>
                <a:ea typeface="Arial" pitchFamily="34" charset="-122"/>
                <a:cs typeface="Arial" pitchFamily="34" charset="-120"/>
              </a:rPr>
              <a:t>Minagish</a:t>
            </a:r>
            <a:endParaRPr lang="en-US" sz="1300" dirty="0"/>
          </a:p>
        </p:txBody>
      </p:sp>
      <p:sp>
        <p:nvSpPr>
          <p:cNvPr id="26" name="!!f_ummgudair"/>
          <p:cNvSpPr/>
          <p:nvPr/>
        </p:nvSpPr>
        <p:spPr>
          <a:xfrm>
            <a:off x="4168419" y="8490845"/>
            <a:ext cx="182880" cy="182880"/>
          </a:xfrm>
          <a:prstGeom prst="ellipse">
            <a:avLst/>
          </a:prstGeom>
          <a:solidFill>
            <a:srgbClr val="FF9F0A">
              <a:alpha val="0"/>
            </a:srgbClr>
          </a:solidFill>
          <a:ln/>
        </p:spPr>
      </p:sp>
      <p:sp>
        <p:nvSpPr>
          <p:cNvPr id="27" name="!!fl_ummgudair"/>
          <p:cNvSpPr txBox="1"/>
          <p:nvPr/>
        </p:nvSpPr>
        <p:spPr>
          <a:xfrm>
            <a:off x="-610421" y="8348137"/>
            <a:ext cx="1737360" cy="274320"/>
          </a:xfrm>
          <a:prstGeom prst="rect">
            <a:avLst/>
          </a:prstGeom>
          <a:noFill/>
          <a:ln/>
        </p:spPr>
        <p:txBody>
          <a:bodyPr wrap="square" lIns="0" tIns="0" rIns="0" bIns="0" rtlCol="0" anchor="t"/>
          <a:lstStyle/>
          <a:p>
            <a:pPr algn="r" indent="0" marL="0">
              <a:buNone/>
            </a:pPr>
            <a:r>
              <a:rPr lang="en-US" sz="1300" dirty="0">
                <a:solidFill>
                  <a:schemeClr val="tx1">
                    <a:alpha val="0"/>
                  </a:schemeClr>
                </a:solidFill>
                <a:latin typeface="Arial" pitchFamily="34" charset="0"/>
                <a:ea typeface="Arial" pitchFamily="34" charset="-122"/>
                <a:cs typeface="Arial" pitchFamily="34" charset="-120"/>
              </a:rPr>
              <a:t>Umm Gudair</a:t>
            </a:r>
            <a:endParaRPr lang="en-US" sz="1300" dirty="0"/>
          </a:p>
        </p:txBody>
      </p:sp>
      <p:sp>
        <p:nvSpPr>
          <p:cNvPr id="28" name="!!f_abduliyah"/>
          <p:cNvSpPr/>
          <p:nvPr/>
        </p:nvSpPr>
        <p:spPr>
          <a:xfrm>
            <a:off x="4099083" y="7336463"/>
            <a:ext cx="182880" cy="182880"/>
          </a:xfrm>
          <a:prstGeom prst="ellipse">
            <a:avLst/>
          </a:prstGeom>
          <a:solidFill>
            <a:srgbClr val="FF9F0A">
              <a:alpha val="0"/>
            </a:srgbClr>
          </a:solidFill>
          <a:ln/>
        </p:spPr>
      </p:sp>
      <p:sp>
        <p:nvSpPr>
          <p:cNvPr id="29" name="!!f_dharif"/>
          <p:cNvSpPr/>
          <p:nvPr/>
        </p:nvSpPr>
        <p:spPr>
          <a:xfrm>
            <a:off x="4491988" y="6685137"/>
            <a:ext cx="182880" cy="182880"/>
          </a:xfrm>
          <a:prstGeom prst="ellipse">
            <a:avLst/>
          </a:prstGeom>
          <a:solidFill>
            <a:srgbClr val="FF9F0A">
              <a:alpha val="0"/>
            </a:srgbClr>
          </a:solidFill>
          <a:ln/>
        </p:spPr>
      </p:sp>
      <p:sp>
        <p:nvSpPr>
          <p:cNvPr id="30" name="!!f_kramaru"/>
          <p:cNvSpPr/>
          <p:nvPr/>
        </p:nvSpPr>
        <p:spPr>
          <a:xfrm>
            <a:off x="2471994" y="5779636"/>
            <a:ext cx="182880" cy="182880"/>
          </a:xfrm>
          <a:prstGeom prst="ellipse">
            <a:avLst/>
          </a:prstGeom>
          <a:solidFill>
            <a:srgbClr val="FF9F0A">
              <a:alpha val="0"/>
            </a:srgbClr>
          </a:solidFill>
          <a:ln/>
        </p:spPr>
      </p:sp>
      <p:sp>
        <p:nvSpPr>
          <p:cNvPr id="31" name="!!fl_kramaru"/>
          <p:cNvSpPr txBox="1"/>
          <p:nvPr/>
        </p:nvSpPr>
        <p:spPr>
          <a:xfrm>
            <a:off x="-2306846" y="5519854"/>
            <a:ext cx="1737360" cy="274320"/>
          </a:xfrm>
          <a:prstGeom prst="rect">
            <a:avLst/>
          </a:prstGeom>
          <a:noFill/>
          <a:ln/>
        </p:spPr>
        <p:txBody>
          <a:bodyPr wrap="square" lIns="0" tIns="0" rIns="0" bIns="0" rtlCol="0" anchor="t"/>
          <a:lstStyle/>
          <a:p>
            <a:pPr algn="r" indent="0" marL="0">
              <a:buNone/>
            </a:pPr>
            <a:r>
              <a:rPr lang="en-US" sz="1300" dirty="0">
                <a:solidFill>
                  <a:schemeClr val="tx1">
                    <a:alpha val="0"/>
                  </a:schemeClr>
                </a:solidFill>
                <a:latin typeface="Arial" pitchFamily="34" charset="0"/>
                <a:ea typeface="Arial" pitchFamily="34" charset="-122"/>
                <a:cs typeface="Arial" pitchFamily="34" charset="-120"/>
              </a:rPr>
              <a:t>Kra Al-Maru</a:t>
            </a:r>
            <a:endParaRPr lang="en-US" sz="1300" dirty="0"/>
          </a:p>
        </p:txBody>
      </p:sp>
      <p:sp>
        <p:nvSpPr>
          <p:cNvPr id="32" name="!!f_wafra"/>
          <p:cNvSpPr/>
          <p:nvPr/>
        </p:nvSpPr>
        <p:spPr>
          <a:xfrm>
            <a:off x="5083657" y="9957652"/>
            <a:ext cx="182880" cy="182880"/>
          </a:xfrm>
          <a:prstGeom prst="ellipse">
            <a:avLst/>
          </a:prstGeom>
          <a:solidFill>
            <a:srgbClr val="FF9F0A">
              <a:alpha val="0"/>
            </a:srgbClr>
          </a:solidFill>
          <a:ln/>
        </p:spPr>
      </p:sp>
      <p:sp>
        <p:nvSpPr>
          <p:cNvPr id="33" name="!!fl_wafra"/>
          <p:cNvSpPr txBox="1"/>
          <p:nvPr/>
        </p:nvSpPr>
        <p:spPr>
          <a:xfrm>
            <a:off x="5573148" y="9744700"/>
            <a:ext cx="1737360" cy="274320"/>
          </a:xfrm>
          <a:prstGeom prst="rect">
            <a:avLst/>
          </a:prstGeom>
          <a:noFill/>
          <a:ln/>
        </p:spPr>
        <p:txBody>
          <a:bodyPr wrap="square" lIns="0" tIns="0" rIns="0" bIns="0" rtlCol="0" anchor="t"/>
          <a:lstStyle/>
          <a:p>
            <a:pPr algn="l" indent="0" marL="0">
              <a:buNone/>
            </a:pPr>
            <a:r>
              <a:rPr lang="en-US" sz="1300" dirty="0">
                <a:solidFill>
                  <a:schemeClr val="tx1">
                    <a:alpha val="0"/>
                  </a:schemeClr>
                </a:solidFill>
                <a:latin typeface="Arial" pitchFamily="34" charset="0"/>
                <a:ea typeface="Arial" pitchFamily="34" charset="-122"/>
                <a:cs typeface="Arial" pitchFamily="34" charset="-120"/>
              </a:rPr>
              <a:t>Wafra</a:t>
            </a:r>
            <a:endParaRPr lang="en-US" sz="1300" dirty="0"/>
          </a:p>
        </p:txBody>
      </p:sp>
      <p:sp>
        <p:nvSpPr>
          <p:cNvPr id="34" name="!!f_khafji"/>
          <p:cNvSpPr/>
          <p:nvPr/>
        </p:nvSpPr>
        <p:spPr>
          <a:xfrm>
            <a:off x="9789776" y="10208471"/>
            <a:ext cx="274320" cy="274320"/>
          </a:xfrm>
          <a:prstGeom prst="ellipse">
            <a:avLst/>
          </a:prstGeom>
          <a:solidFill>
            <a:srgbClr val="FF9F0A">
              <a:alpha val="0"/>
            </a:srgbClr>
          </a:solidFill>
          <a:ln/>
        </p:spPr>
      </p:sp>
      <p:sp>
        <p:nvSpPr>
          <p:cNvPr id="35" name="!!fl_khafji"/>
          <p:cNvSpPr txBox="1"/>
          <p:nvPr/>
        </p:nvSpPr>
        <p:spPr>
          <a:xfrm>
            <a:off x="10395232" y="10041238"/>
            <a:ext cx="1737360" cy="274320"/>
          </a:xfrm>
          <a:prstGeom prst="rect">
            <a:avLst/>
          </a:prstGeom>
          <a:noFill/>
          <a:ln/>
        </p:spPr>
        <p:txBody>
          <a:bodyPr wrap="square" lIns="0" tIns="0" rIns="0" bIns="0" rtlCol="0" anchor="t"/>
          <a:lstStyle/>
          <a:p>
            <a:pPr algn="l" indent="0" marL="0">
              <a:buNone/>
            </a:pPr>
            <a:r>
              <a:rPr lang="en-US" sz="1300" dirty="0">
                <a:solidFill>
                  <a:schemeClr val="tx1">
                    <a:alpha val="0"/>
                  </a:schemeClr>
                </a:solidFill>
                <a:latin typeface="Arial" pitchFamily="34" charset="0"/>
                <a:ea typeface="Arial" pitchFamily="34" charset="-122"/>
                <a:cs typeface="Arial" pitchFamily="34" charset="-120"/>
              </a:rPr>
              <a:t>Khafji</a:t>
            </a:r>
            <a:endParaRPr lang="en-US" sz="1300" dirty="0"/>
          </a:p>
        </p:txBody>
      </p:sp>
      <p:sp>
        <p:nvSpPr>
          <p:cNvPr id="36" name="!!f_hout"/>
          <p:cNvSpPr/>
          <p:nvPr/>
        </p:nvSpPr>
        <p:spPr>
          <a:xfrm>
            <a:off x="9835496" y="8665591"/>
            <a:ext cx="182880" cy="182880"/>
          </a:xfrm>
          <a:prstGeom prst="ellipse">
            <a:avLst/>
          </a:prstGeom>
          <a:solidFill>
            <a:srgbClr val="FF9F0A">
              <a:alpha val="0"/>
            </a:srgbClr>
          </a:solidFill>
          <a:ln/>
        </p:spPr>
      </p:sp>
      <p:sp>
        <p:nvSpPr>
          <p:cNvPr id="37" name="!!f_dorra"/>
          <p:cNvSpPr/>
          <p:nvPr/>
        </p:nvSpPr>
        <p:spPr>
          <a:xfrm>
            <a:off x="10714258" y="8000318"/>
            <a:ext cx="274320" cy="274320"/>
          </a:xfrm>
          <a:prstGeom prst="ellipse">
            <a:avLst/>
          </a:prstGeom>
          <a:solidFill>
            <a:srgbClr val="64D2FF">
              <a:alpha val="0"/>
            </a:srgbClr>
          </a:solidFill>
          <a:ln/>
        </p:spPr>
      </p:sp>
      <p:sp>
        <p:nvSpPr>
          <p:cNvPr id="38" name="!!fl_dorra"/>
          <p:cNvSpPr txBox="1"/>
          <p:nvPr/>
        </p:nvSpPr>
        <p:spPr>
          <a:xfrm>
            <a:off x="11319714" y="7833085"/>
            <a:ext cx="1737360" cy="274320"/>
          </a:xfrm>
          <a:prstGeom prst="rect">
            <a:avLst/>
          </a:prstGeom>
          <a:noFill/>
          <a:ln/>
        </p:spPr>
        <p:txBody>
          <a:bodyPr wrap="square" lIns="0" tIns="0" rIns="0" bIns="0" rtlCol="0" anchor="t"/>
          <a:lstStyle/>
          <a:p>
            <a:pPr algn="l" indent="0" marL="0">
              <a:buNone/>
            </a:pPr>
            <a:r>
              <a:rPr lang="en-US" sz="1300" dirty="0">
                <a:solidFill>
                  <a:schemeClr val="tx1">
                    <a:alpha val="0"/>
                  </a:schemeClr>
                </a:solidFill>
                <a:latin typeface="Arial" pitchFamily="34" charset="0"/>
                <a:ea typeface="Arial" pitchFamily="34" charset="-122"/>
                <a:cs typeface="Arial" pitchFamily="34" charset="-120"/>
              </a:rPr>
              <a:t>Dorra (gas)</a:t>
            </a:r>
            <a:endParaRPr lang="en-US" sz="1300" dirty="0"/>
          </a:p>
        </p:txBody>
      </p:sp>
      <p:sp>
        <p:nvSpPr>
          <p:cNvPr id="39" name="!!f_nokhatha"/>
          <p:cNvSpPr/>
          <p:nvPr/>
        </p:nvSpPr>
        <p:spPr>
          <a:xfrm>
            <a:off x="8846300" y="5578413"/>
            <a:ext cx="182880" cy="182880"/>
          </a:xfrm>
          <a:prstGeom prst="ellipse">
            <a:avLst/>
          </a:prstGeom>
          <a:solidFill>
            <a:srgbClr val="FF9F0A">
              <a:alpha val="0"/>
            </a:srgbClr>
          </a:solidFill>
          <a:ln/>
        </p:spPr>
      </p:sp>
      <p:sp>
        <p:nvSpPr>
          <p:cNvPr id="40" name="!!fl_nokhatha"/>
          <p:cNvSpPr txBox="1"/>
          <p:nvPr/>
        </p:nvSpPr>
        <p:spPr>
          <a:xfrm>
            <a:off x="9335791" y="5365461"/>
            <a:ext cx="1737360" cy="274320"/>
          </a:xfrm>
          <a:prstGeom prst="rect">
            <a:avLst/>
          </a:prstGeom>
          <a:noFill/>
          <a:ln/>
        </p:spPr>
        <p:txBody>
          <a:bodyPr wrap="square" lIns="0" tIns="0" rIns="0" bIns="0" rtlCol="0" anchor="t"/>
          <a:lstStyle/>
          <a:p>
            <a:pPr algn="l" indent="0" marL="0">
              <a:buNone/>
            </a:pPr>
            <a:r>
              <a:rPr lang="en-US" sz="1300" dirty="0">
                <a:solidFill>
                  <a:schemeClr val="tx1">
                    <a:alpha val="0"/>
                  </a:schemeClr>
                </a:solidFill>
                <a:latin typeface="Arial" pitchFamily="34" charset="0"/>
                <a:ea typeface="Arial" pitchFamily="34" charset="-122"/>
                <a:cs typeface="Arial" pitchFamily="34" charset="-120"/>
              </a:rPr>
              <a:t>Al-Nokhatha (2024)</a:t>
            </a:r>
            <a:endParaRPr lang="en-US" sz="1300" dirty="0"/>
          </a:p>
        </p:txBody>
      </p:sp>
      <p:sp>
        <p:nvSpPr>
          <p:cNvPr id="41" name="!!f_jlaiaa"/>
          <p:cNvSpPr/>
          <p:nvPr/>
        </p:nvSpPr>
        <p:spPr>
          <a:xfrm>
            <a:off x="8781586" y="8713249"/>
            <a:ext cx="182880" cy="182880"/>
          </a:xfrm>
          <a:prstGeom prst="ellipse">
            <a:avLst/>
          </a:prstGeom>
          <a:solidFill>
            <a:srgbClr val="FF9F0A">
              <a:alpha val="0"/>
            </a:srgbClr>
          </a:solidFill>
          <a:ln/>
        </p:spPr>
      </p:sp>
      <p:sp>
        <p:nvSpPr>
          <p:cNvPr id="42" name="!!f_kwcity"/>
          <p:cNvSpPr/>
          <p:nvPr/>
        </p:nvSpPr>
        <p:spPr>
          <a:xfrm>
            <a:off x="5504094" y="5829696"/>
            <a:ext cx="146304" cy="146304"/>
          </a:xfrm>
          <a:prstGeom prst="ellipse">
            <a:avLst/>
          </a:prstGeom>
          <a:solidFill>
            <a:srgbClr val="000000">
              <a:alpha val="0"/>
            </a:srgbClr>
          </a:solidFill>
          <a:ln w="22225">
            <a:solidFill>
              <a:srgbClr val="F5F5F7">
                <a:alpha val="0"/>
              </a:srgbClr>
            </a:solidFill>
            <a:prstDash val="solid"/>
          </a:ln>
        </p:spPr>
      </p:sp>
      <p:sp>
        <p:nvSpPr>
          <p:cNvPr id="43" name="!!fl_kwcity"/>
          <p:cNvSpPr txBox="1"/>
          <p:nvPr/>
        </p:nvSpPr>
        <p:spPr>
          <a:xfrm>
            <a:off x="5928469" y="5575040"/>
            <a:ext cx="1737360" cy="274320"/>
          </a:xfrm>
          <a:prstGeom prst="rect">
            <a:avLst/>
          </a:prstGeom>
          <a:noFill/>
          <a:ln/>
        </p:spPr>
        <p:txBody>
          <a:bodyPr wrap="square" lIns="0" tIns="0" rIns="0" bIns="0" rtlCol="0" anchor="t"/>
          <a:lstStyle/>
          <a:p>
            <a:pPr algn="l" indent="0" marL="0">
              <a:buNone/>
            </a:pPr>
            <a:r>
              <a:rPr lang="en-US" sz="1300" dirty="0">
                <a:solidFill>
                  <a:schemeClr val="tx1">
                    <a:alpha val="0"/>
                  </a:schemeClr>
                </a:solidFill>
                <a:latin typeface="Arial" pitchFamily="34" charset="0"/>
                <a:ea typeface="Arial" pitchFamily="34" charset="-122"/>
                <a:cs typeface="Arial" pitchFamily="34" charset="-120"/>
              </a:rPr>
              <a:t>Kuwait City</a:t>
            </a:r>
            <a:endParaRPr lang="en-US" sz="1300" dirty="0"/>
          </a:p>
        </p:txBody>
      </p:sp>
      <p:sp>
        <p:nvSpPr>
          <p:cNvPr id="44" name="!!f_ahmadi"/>
          <p:cNvSpPr/>
          <p:nvPr/>
        </p:nvSpPr>
        <p:spPr>
          <a:xfrm rot="2700000">
            <a:off x="6386975" y="7444772"/>
            <a:ext cx="146304" cy="146304"/>
          </a:xfrm>
          <a:prstGeom prst="rect">
            <a:avLst/>
          </a:prstGeom>
          <a:solidFill>
            <a:srgbClr val="F5F5F7">
              <a:alpha val="0"/>
            </a:srgbClr>
          </a:solidFill>
          <a:ln/>
        </p:spPr>
      </p:sp>
      <p:sp>
        <p:nvSpPr>
          <p:cNvPr id="45" name="!!fl_ahmadi"/>
          <p:cNvSpPr txBox="1"/>
          <p:nvPr/>
        </p:nvSpPr>
        <p:spPr>
          <a:xfrm>
            <a:off x="6811349" y="7190117"/>
            <a:ext cx="1737360" cy="274320"/>
          </a:xfrm>
          <a:prstGeom prst="rect">
            <a:avLst/>
          </a:prstGeom>
          <a:noFill/>
          <a:ln/>
        </p:spPr>
        <p:txBody>
          <a:bodyPr wrap="square" lIns="0" tIns="0" rIns="0" bIns="0" rtlCol="0" anchor="t"/>
          <a:lstStyle/>
          <a:p>
            <a:pPr algn="l" indent="0" marL="0">
              <a:buNone/>
            </a:pPr>
            <a:r>
              <a:rPr lang="en-US" sz="1300" dirty="0">
                <a:solidFill>
                  <a:schemeClr val="tx1">
                    <a:alpha val="0"/>
                  </a:schemeClr>
                </a:solidFill>
                <a:latin typeface="Arial" pitchFamily="34" charset="0"/>
                <a:ea typeface="Arial" pitchFamily="34" charset="-122"/>
                <a:cs typeface="Arial" pitchFamily="34" charset="-120"/>
              </a:rPr>
              <a:t>Mina Al-Ahmadi</a:t>
            </a:r>
            <a:endParaRPr lang="en-US" sz="1300" dirty="0"/>
          </a:p>
        </p:txBody>
      </p:sp>
      <p:sp>
        <p:nvSpPr>
          <p:cNvPr id="46" name="!!f_zour"/>
          <p:cNvSpPr/>
          <p:nvPr/>
        </p:nvSpPr>
        <p:spPr>
          <a:xfrm rot="2700000">
            <a:off x="7463997" y="9213413"/>
            <a:ext cx="146304" cy="146304"/>
          </a:xfrm>
          <a:prstGeom prst="rect">
            <a:avLst/>
          </a:prstGeom>
          <a:solidFill>
            <a:srgbClr val="F5F5F7">
              <a:alpha val="0"/>
            </a:srgbClr>
          </a:solidFill>
          <a:ln/>
        </p:spPr>
      </p:sp>
      <p:sp>
        <p:nvSpPr>
          <p:cNvPr id="47" name="!!fl_zour"/>
          <p:cNvSpPr txBox="1"/>
          <p:nvPr/>
        </p:nvSpPr>
        <p:spPr>
          <a:xfrm>
            <a:off x="2573209" y="8958757"/>
            <a:ext cx="1737360" cy="274320"/>
          </a:xfrm>
          <a:prstGeom prst="rect">
            <a:avLst/>
          </a:prstGeom>
          <a:noFill/>
          <a:ln/>
        </p:spPr>
        <p:txBody>
          <a:bodyPr wrap="square" lIns="0" tIns="0" rIns="0" bIns="0" rtlCol="0" anchor="t"/>
          <a:lstStyle/>
          <a:p>
            <a:pPr algn="r" indent="0" marL="0">
              <a:buNone/>
            </a:pPr>
            <a:r>
              <a:rPr lang="en-US" sz="1300" dirty="0">
                <a:solidFill>
                  <a:schemeClr val="tx1">
                    <a:alpha val="0"/>
                  </a:schemeClr>
                </a:solidFill>
                <a:latin typeface="Arial" pitchFamily="34" charset="0"/>
                <a:ea typeface="Arial" pitchFamily="34" charset="-122"/>
                <a:cs typeface="Arial" pitchFamily="34" charset="-120"/>
              </a:rPr>
              <a:t>Al-Zour</a:t>
            </a:r>
            <a:endParaRPr lang="en-US" sz="1300" dirty="0"/>
          </a:p>
        </p:txBody>
      </p:sp>
      <p:sp>
        <p:nvSpPr>
          <p:cNvPr id="48" name="!!f_ummniqa"/>
          <p:cNvSpPr/>
          <p:nvPr/>
        </p:nvSpPr>
        <p:spPr>
          <a:xfrm>
            <a:off x="4996083" y="2516033"/>
            <a:ext cx="228600" cy="228600"/>
          </a:xfrm>
          <a:prstGeom prst="ellipse">
            <a:avLst/>
          </a:prstGeom>
          <a:solidFill>
            <a:srgbClr val="64D2FF"/>
          </a:solidFill>
          <a:ln/>
          <a:effectLst>
            <a:outerShdw sx="100000" sy="100000" kx="0" ky="0" algn="bl" rotWithShape="0" blurRad="228600" dist="50800" dir="5400000">
              <a:srgbClr val="64D2FF">
                <a:alpha val="90000"/>
              </a:srgbClr>
            </a:outerShdw>
          </a:effectLst>
        </p:spPr>
      </p:sp>
      <p:sp>
        <p:nvSpPr>
          <p:cNvPr id="49" name="!!fl_ummniqa"/>
          <p:cNvSpPr txBox="1"/>
          <p:nvPr/>
        </p:nvSpPr>
        <p:spPr>
          <a:xfrm>
            <a:off x="5293263" y="2474885"/>
            <a:ext cx="1783080" cy="310896"/>
          </a:xfrm>
          <a:prstGeom prst="rect">
            <a:avLst/>
          </a:prstGeom>
          <a:noFill/>
          <a:ln/>
        </p:spPr>
        <p:txBody>
          <a:bodyPr wrap="square" lIns="0" tIns="0" rIns="0" bIns="0" rtlCol="0" anchor="t"/>
          <a:lstStyle/>
          <a:p>
            <a:pPr algn="l" indent="0" marL="0">
              <a:buNone/>
            </a:pPr>
            <a:r>
              <a:rPr lang="en-US" sz="1500" b="1" dirty="0">
                <a:solidFill>
                  <a:schemeClr val="tx1"/>
                </a:solidFill>
                <a:effectLst>
                  <a:glow rad="76200">
                    <a:srgbClr val="141416">
                      <a:alpha val="85000"/>
                    </a:srgbClr>
                  </a:glow>
                </a:effectLst>
                <a:latin typeface="Arial" pitchFamily="34" charset="0"/>
                <a:ea typeface="Arial" pitchFamily="34" charset="-122"/>
                <a:cs typeface="Arial" pitchFamily="34" charset="-120"/>
              </a:rPr>
              <a:t>Umm Niqa</a:t>
            </a:r>
            <a:endParaRPr lang="en-US" sz="1500" dirty="0"/>
          </a:p>
        </p:txBody>
      </p:sp>
      <p:sp>
        <p:nvSpPr>
          <p:cNvPr id="50" name="!!zsw0_bg"/>
          <p:cNvSpPr/>
          <p:nvPr/>
        </p:nvSpPr>
        <p:spPr>
          <a:xfrm>
            <a:off x="548640" y="5449824"/>
            <a:ext cx="1620774" cy="365760"/>
          </a:xfrm>
          <a:prstGeom prst="roundRect">
            <a:avLst>
              <a:gd name="adj" fmla="val 50000"/>
            </a:avLst>
          </a:prstGeom>
          <a:solidFill>
            <a:srgbClr val="2C2C2E"/>
          </a:solidFill>
          <a:ln/>
        </p:spPr>
      </p:sp>
      <p:sp>
        <p:nvSpPr>
          <p:cNvPr id="51" name="!!zsw0_tx"/>
          <p:cNvSpPr txBox="1"/>
          <p:nvPr/>
        </p:nvSpPr>
        <p:spPr>
          <a:xfrm>
            <a:off x="548640" y="5449824"/>
            <a:ext cx="1620774" cy="365760"/>
          </a:xfrm>
          <a:prstGeom prst="rect">
            <a:avLst/>
          </a:prstGeom>
          <a:noFill/>
          <a:ln/>
        </p:spPr>
        <p:txBody>
          <a:bodyPr wrap="square" lIns="0" tIns="0" rIns="0" bIns="0" rtlCol="0" anchor="ctr"/>
          <a:lstStyle/>
          <a:p>
            <a:pPr algn="ctr" indent="0" marL="0">
              <a:buNone/>
            </a:pPr>
            <a:r>
              <a:rPr lang="en-US" sz="1400" b="1" dirty="0">
                <a:solidFill>
                  <a:schemeClr val="tx1"/>
                </a:solidFill>
                <a:latin typeface="Arial" pitchFamily="34" charset="0"/>
                <a:ea typeface="Arial" pitchFamily="34" charset="-122"/>
                <a:cs typeface="Arial" pitchFamily="34" charset="-120"/>
              </a:rPr>
              <a:t>South &amp; East</a:t>
            </a:r>
            <a:endParaRPr lang="en-US" sz="1400" dirty="0"/>
          </a:p>
        </p:txBody>
      </p:sp>
      <p:sp>
        <p:nvSpPr>
          <p:cNvPr id="52" name="!!zsw0_hit">
            <a:hlinkClick r:id="rId4" tooltip="Zoom to South &amp; East Kuwait" action="ppaction://hlinksldjump" highlightClick="1"/>
          </p:cNvPr>
          <p:cNvSpPr/>
          <p:nvPr/>
        </p:nvSpPr>
        <p:spPr>
          <a:xfrm>
            <a:off x="548640" y="5449824"/>
            <a:ext cx="1620774" cy="365760"/>
          </a:xfrm>
          <a:prstGeom prst="roundRect">
            <a:avLst>
              <a:gd name="adj" fmla="val 50000"/>
            </a:avLst>
          </a:prstGeom>
          <a:solidFill>
            <a:srgbClr val="000000">
              <a:alpha val="0"/>
            </a:srgbClr>
          </a:solidFill>
          <a:ln/>
        </p:spPr>
      </p:sp>
      <p:sp>
        <p:nvSpPr>
          <p:cNvPr id="53" name="!!zsw1_bg"/>
          <p:cNvSpPr/>
          <p:nvPr/>
        </p:nvSpPr>
        <p:spPr>
          <a:xfrm>
            <a:off x="2279142" y="5449824"/>
            <a:ext cx="1620774" cy="365760"/>
          </a:xfrm>
          <a:prstGeom prst="roundRect">
            <a:avLst>
              <a:gd name="adj" fmla="val 50000"/>
            </a:avLst>
          </a:prstGeom>
          <a:solidFill>
            <a:srgbClr val="FF9F0A"/>
          </a:solidFill>
          <a:ln/>
        </p:spPr>
      </p:sp>
      <p:sp>
        <p:nvSpPr>
          <p:cNvPr id="54" name="!!zsw1_tx"/>
          <p:cNvSpPr txBox="1"/>
          <p:nvPr/>
        </p:nvSpPr>
        <p:spPr>
          <a:xfrm>
            <a:off x="2279142" y="5449824"/>
            <a:ext cx="1620774"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North</a:t>
            </a:r>
            <a:endParaRPr lang="en-US" sz="1400" dirty="0"/>
          </a:p>
        </p:txBody>
      </p:sp>
      <p:sp>
        <p:nvSpPr>
          <p:cNvPr id="55" name="!!zsw2_bg"/>
          <p:cNvSpPr/>
          <p:nvPr/>
        </p:nvSpPr>
        <p:spPr>
          <a:xfrm>
            <a:off x="4009644" y="5449824"/>
            <a:ext cx="1620774" cy="365760"/>
          </a:xfrm>
          <a:prstGeom prst="roundRect">
            <a:avLst>
              <a:gd name="adj" fmla="val 50000"/>
            </a:avLst>
          </a:prstGeom>
          <a:solidFill>
            <a:srgbClr val="2C2C2E"/>
          </a:solidFill>
          <a:ln/>
        </p:spPr>
      </p:sp>
      <p:sp>
        <p:nvSpPr>
          <p:cNvPr id="56" name="!!zsw2_tx"/>
          <p:cNvSpPr txBox="1"/>
          <p:nvPr/>
        </p:nvSpPr>
        <p:spPr>
          <a:xfrm>
            <a:off x="4009644" y="5449824"/>
            <a:ext cx="1620774" cy="365760"/>
          </a:xfrm>
          <a:prstGeom prst="rect">
            <a:avLst/>
          </a:prstGeom>
          <a:noFill/>
          <a:ln/>
        </p:spPr>
        <p:txBody>
          <a:bodyPr wrap="square" lIns="0" tIns="0" rIns="0" bIns="0" rtlCol="0" anchor="ctr"/>
          <a:lstStyle/>
          <a:p>
            <a:pPr algn="ctr" indent="0" marL="0">
              <a:buNone/>
            </a:pPr>
            <a:r>
              <a:rPr lang="en-US" sz="1400" b="1" dirty="0">
                <a:solidFill>
                  <a:schemeClr val="tx1"/>
                </a:solidFill>
                <a:latin typeface="Arial" pitchFamily="34" charset="0"/>
                <a:ea typeface="Arial" pitchFamily="34" charset="-122"/>
                <a:cs typeface="Arial" pitchFamily="34" charset="-120"/>
              </a:rPr>
              <a:t>West</a:t>
            </a:r>
            <a:endParaRPr lang="en-US" sz="1400" dirty="0"/>
          </a:p>
        </p:txBody>
      </p:sp>
      <p:sp>
        <p:nvSpPr>
          <p:cNvPr id="57" name="!!zsw2_hit">
            <a:hlinkClick r:id="rId5" tooltip="Zoom to West Kuwait" action="ppaction://hlinksldjump" highlightClick="1"/>
          </p:cNvPr>
          <p:cNvSpPr/>
          <p:nvPr/>
        </p:nvSpPr>
        <p:spPr>
          <a:xfrm>
            <a:off x="4009644" y="5449824"/>
            <a:ext cx="1620774" cy="365760"/>
          </a:xfrm>
          <a:prstGeom prst="roundRect">
            <a:avLst>
              <a:gd name="adj" fmla="val 50000"/>
            </a:avLst>
          </a:prstGeom>
          <a:solidFill>
            <a:srgbClr val="000000">
              <a:alpha val="0"/>
            </a:srgbClr>
          </a:solidFill>
          <a:ln/>
        </p:spPr>
      </p:sp>
      <p:sp>
        <p:nvSpPr>
          <p:cNvPr id="58" name="!!zsw3_bg"/>
          <p:cNvSpPr/>
          <p:nvPr/>
        </p:nvSpPr>
        <p:spPr>
          <a:xfrm>
            <a:off x="5740146" y="5449824"/>
            <a:ext cx="1620774" cy="365760"/>
          </a:xfrm>
          <a:prstGeom prst="roundRect">
            <a:avLst>
              <a:gd name="adj" fmla="val 50000"/>
            </a:avLst>
          </a:prstGeom>
          <a:solidFill>
            <a:srgbClr val="2C2C2E"/>
          </a:solidFill>
          <a:ln/>
        </p:spPr>
      </p:sp>
      <p:sp>
        <p:nvSpPr>
          <p:cNvPr id="59" name="!!zsw3_tx"/>
          <p:cNvSpPr txBox="1"/>
          <p:nvPr/>
        </p:nvSpPr>
        <p:spPr>
          <a:xfrm>
            <a:off x="5740146" y="5449824"/>
            <a:ext cx="1620774" cy="365760"/>
          </a:xfrm>
          <a:prstGeom prst="rect">
            <a:avLst/>
          </a:prstGeom>
          <a:noFill/>
          <a:ln/>
        </p:spPr>
        <p:txBody>
          <a:bodyPr wrap="square" lIns="0" tIns="0" rIns="0" bIns="0" rtlCol="0" anchor="ctr"/>
          <a:lstStyle/>
          <a:p>
            <a:pPr algn="ctr" indent="0" marL="0">
              <a:buNone/>
            </a:pPr>
            <a:r>
              <a:rPr lang="en-US" sz="1400" b="1" dirty="0">
                <a:solidFill>
                  <a:schemeClr val="tx1"/>
                </a:solidFill>
                <a:latin typeface="Arial" pitchFamily="34" charset="0"/>
                <a:ea typeface="Arial" pitchFamily="34" charset="-122"/>
                <a:cs typeface="Arial" pitchFamily="34" charset="-120"/>
              </a:rPr>
              <a:t>PZ &amp; offshore</a:t>
            </a:r>
            <a:endParaRPr lang="en-US" sz="1400" dirty="0"/>
          </a:p>
        </p:txBody>
      </p:sp>
      <p:sp>
        <p:nvSpPr>
          <p:cNvPr id="60" name="!!zsw3_hit">
            <a:hlinkClick r:id="rId6" tooltip="Zoom to Partitioned Zone &amp; offshore" action="ppaction://hlinksldjump" highlightClick="1"/>
          </p:cNvPr>
          <p:cNvSpPr/>
          <p:nvPr/>
        </p:nvSpPr>
        <p:spPr>
          <a:xfrm>
            <a:off x="5740146" y="5449824"/>
            <a:ext cx="1620774" cy="365760"/>
          </a:xfrm>
          <a:prstGeom prst="roundRect">
            <a:avLst>
              <a:gd name="adj" fmla="val 50000"/>
            </a:avLst>
          </a:prstGeom>
          <a:solidFill>
            <a:srgbClr val="000000">
              <a:alpha val="0"/>
            </a:srgbClr>
          </a:solidFill>
          <a:ln/>
        </p:spPr>
      </p:sp>
      <p:sp>
        <p:nvSpPr>
          <p:cNvPr id="61" name="!!zlist"/>
          <p:cNvSpPr txBox="1"/>
          <p:nvPr/>
        </p:nvSpPr>
        <p:spPr>
          <a:xfrm>
            <a:off x="7726680" y="1801368"/>
            <a:ext cx="3916375" cy="3529584"/>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Raudhatain</a:t>
            </a:r>
            <a:endParaRPr lang="en-US" sz="1600" dirty="0"/>
          </a:p>
          <a:p>
            <a:pPr indent="0" marL="0">
              <a:buNone/>
            </a:pPr>
            <a:r>
              <a:rPr lang="en-US" sz="1400" dirty="0">
                <a:solidFill>
                  <a:schemeClr val="tx2"/>
                </a:solidFill>
                <a:latin typeface="Arial" pitchFamily="34" charset="0"/>
                <a:ea typeface="Arial" pitchFamily="34" charset="-122"/>
                <a:cs typeface="Arial" pitchFamily="34" charset="-120"/>
              </a:rPr>
              <a:t>1955 · Ratawi, Zubair, Burgan, Mauddud</a:t>
            </a:r>
            <a:endParaRPr lang="en-US" sz="1600" dirty="0"/>
          </a:p>
          <a:p>
            <a:pPr indent="0" marL="0">
              <a:spcBef>
                <a:spcPts val="900"/>
              </a:spcBef>
              <a:buNone/>
            </a:pPr>
            <a:r>
              <a:rPr lang="en-US" sz="1600" b="1" dirty="0">
                <a:solidFill>
                  <a:schemeClr val="tx1"/>
                </a:solidFill>
                <a:latin typeface="Arial" pitchFamily="34" charset="0"/>
                <a:ea typeface="Arial" pitchFamily="34" charset="-122"/>
                <a:cs typeface="Arial" pitchFamily="34" charset="-120"/>
              </a:rPr>
              <a:t>Sabriya</a:t>
            </a:r>
            <a:endParaRPr lang="en-US" sz="1600" dirty="0"/>
          </a:p>
          <a:p>
            <a:pPr indent="0" marL="0">
              <a:buNone/>
            </a:pPr>
            <a:r>
              <a:rPr lang="en-US" sz="1400" dirty="0">
                <a:solidFill>
                  <a:schemeClr val="tx2"/>
                </a:solidFill>
                <a:latin typeface="Arial" pitchFamily="34" charset="0"/>
                <a:ea typeface="Arial" pitchFamily="34" charset="-122"/>
                <a:cs typeface="Arial" pitchFamily="34" charset="-120"/>
              </a:rPr>
              <a:t>1956–57 · Mauddud, Burgan; deep Marrat gas</a:t>
            </a:r>
            <a:endParaRPr lang="en-US" sz="1600" dirty="0"/>
          </a:p>
          <a:p>
            <a:pPr indent="0" marL="0">
              <a:spcBef>
                <a:spcPts val="900"/>
              </a:spcBef>
              <a:buNone/>
            </a:pPr>
            <a:r>
              <a:rPr lang="en-US" sz="1600" b="1" dirty="0">
                <a:solidFill>
                  <a:schemeClr val="tx1"/>
                </a:solidFill>
                <a:latin typeface="Arial" pitchFamily="34" charset="0"/>
                <a:ea typeface="Arial" pitchFamily="34" charset="-122"/>
                <a:cs typeface="Arial" pitchFamily="34" charset="-120"/>
              </a:rPr>
              <a:t>Bahra</a:t>
            </a:r>
            <a:endParaRPr lang="en-US" sz="1600" dirty="0"/>
          </a:p>
          <a:p>
            <a:pPr indent="0" marL="0">
              <a:buNone/>
            </a:pPr>
            <a:r>
              <a:rPr lang="en-US" sz="1400" dirty="0">
                <a:solidFill>
                  <a:schemeClr val="tx2"/>
                </a:solidFill>
                <a:latin typeface="Arial" pitchFamily="34" charset="0"/>
                <a:ea typeface="Arial" pitchFamily="34" charset="-122"/>
                <a:cs typeface="Arial" pitchFamily="34" charset="-120"/>
              </a:rPr>
              <a:t>1956 · Mauddud and Zubair</a:t>
            </a:r>
            <a:endParaRPr lang="en-US" sz="1600" dirty="0"/>
          </a:p>
          <a:p>
            <a:pPr indent="0" marL="0">
              <a:spcBef>
                <a:spcPts val="900"/>
              </a:spcBef>
              <a:buNone/>
            </a:pPr>
            <a:r>
              <a:rPr lang="en-US" sz="1600" b="1" dirty="0">
                <a:solidFill>
                  <a:schemeClr val="tx1"/>
                </a:solidFill>
                <a:latin typeface="Arial" pitchFamily="34" charset="0"/>
                <a:ea typeface="Arial" pitchFamily="34" charset="-122"/>
                <a:cs typeface="Arial" pitchFamily="34" charset="-120"/>
              </a:rPr>
              <a:t>Ratqa</a:t>
            </a:r>
            <a:endParaRPr lang="en-US" sz="1600" dirty="0"/>
          </a:p>
          <a:p>
            <a:pPr indent="0" marL="0">
              <a:buNone/>
            </a:pPr>
            <a:r>
              <a:rPr lang="en-US" sz="1400" dirty="0">
                <a:solidFill>
                  <a:schemeClr val="tx2"/>
                </a:solidFill>
                <a:latin typeface="Arial" pitchFamily="34" charset="0"/>
                <a:ea typeface="Arial" pitchFamily="34" charset="-122"/>
                <a:cs typeface="Arial" pitchFamily="34" charset="-120"/>
              </a:rPr>
              <a:t>1977–80 · Lower Fars heavy oil, cyclic steam</a:t>
            </a:r>
            <a:endParaRPr lang="en-US" sz="1600" dirty="0"/>
          </a:p>
          <a:p>
            <a:pPr indent="0" marL="0">
              <a:spcBef>
                <a:spcPts val="900"/>
              </a:spcBef>
              <a:buNone/>
            </a:pPr>
            <a:r>
              <a:rPr lang="en-US" sz="1600" b="1" dirty="0">
                <a:solidFill>
                  <a:schemeClr val="tx1"/>
                </a:solidFill>
                <a:latin typeface="Arial" pitchFamily="34" charset="0"/>
                <a:ea typeface="Arial" pitchFamily="34" charset="-122"/>
                <a:cs typeface="Arial" pitchFamily="34" charset="-120"/>
              </a:rPr>
              <a:t>Abdali</a:t>
            </a:r>
            <a:endParaRPr lang="en-US" sz="1600" dirty="0"/>
          </a:p>
          <a:p>
            <a:pPr indent="0" marL="0">
              <a:buNone/>
            </a:pPr>
            <a:r>
              <a:rPr lang="en-US" sz="1400" dirty="0">
                <a:solidFill>
                  <a:schemeClr val="tx2"/>
                </a:solidFill>
                <a:latin typeface="Arial" pitchFamily="34" charset="0"/>
                <a:ea typeface="Arial" pitchFamily="34" charset="-122"/>
                <a:cs typeface="Arial" pitchFamily="34" charset="-120"/>
              </a:rPr>
              <a:t>1990 · oil, on the Iraqi border</a:t>
            </a:r>
            <a:endParaRPr lang="en-US" sz="1600" dirty="0"/>
          </a:p>
          <a:p>
            <a:pPr indent="0" marL="0">
              <a:spcBef>
                <a:spcPts val="900"/>
              </a:spcBef>
              <a:buNone/>
            </a:pPr>
            <a:r>
              <a:rPr lang="en-US" sz="1600" b="1" dirty="0">
                <a:solidFill>
                  <a:schemeClr val="tx1"/>
                </a:solidFill>
                <a:latin typeface="Arial" pitchFamily="34" charset="0"/>
                <a:ea typeface="Arial" pitchFamily="34" charset="-122"/>
                <a:cs typeface="Arial" pitchFamily="34" charset="-120"/>
              </a:rPr>
              <a:t>Umm Niqa</a:t>
            </a:r>
            <a:endParaRPr lang="en-US" sz="1600" dirty="0"/>
          </a:p>
          <a:p>
            <a:pPr indent="0" marL="0">
              <a:buNone/>
            </a:pPr>
            <a:r>
              <a:rPr lang="en-US" sz="1400" dirty="0">
                <a:solidFill>
                  <a:schemeClr val="tx2"/>
                </a:solidFill>
                <a:latin typeface="Arial" pitchFamily="34" charset="0"/>
                <a:ea typeface="Arial" pitchFamily="34" charset="-122"/>
                <a:cs typeface="Arial" pitchFamily="34" charset="-120"/>
              </a:rPr>
              <a:t>part of the deep Jurassic gas play</a:t>
            </a:r>
            <a:endParaRPr lang="en-US" sz="1600" dirty="0"/>
          </a:p>
        </p:txBody>
      </p:sp>
      <p:sp>
        <p:nvSpPr>
          <p:cNvPr id="62" name="!!zback_bg"/>
          <p:cNvSpPr/>
          <p:nvPr/>
        </p:nvSpPr>
        <p:spPr>
          <a:xfrm>
            <a:off x="7726680" y="5449824"/>
            <a:ext cx="2103120" cy="365760"/>
          </a:xfrm>
          <a:prstGeom prst="roundRect">
            <a:avLst>
              <a:gd name="adj" fmla="val 50000"/>
            </a:avLst>
          </a:prstGeom>
          <a:solidFill>
            <a:srgbClr val="2C2C2E"/>
          </a:solidFill>
          <a:ln w="15875">
            <a:solidFill>
              <a:srgbClr val="3A3A3C"/>
            </a:solidFill>
            <a:prstDash val="solid"/>
          </a:ln>
        </p:spPr>
      </p:sp>
      <p:pic>
        <p:nvPicPr>
          <p:cNvPr id="63" name="!!zback_ic" descr="Decorative graphic">    </p:cNvPr>
          <p:cNvPicPr>
            <a:picLocks noChangeAspect="1"/>
          </p:cNvPicPr>
          <p:nvPr/>
        </p:nvPicPr>
        <p:blipFill>
          <a:blip r:embed="rId7"/>
          <a:stretch>
            <a:fillRect/>
          </a:stretch>
        </p:blipFill>
        <p:spPr>
          <a:xfrm>
            <a:off x="8121625" y="5541264"/>
            <a:ext cx="182880" cy="182880"/>
          </a:xfrm>
          <a:prstGeom prst="rect">
            <a:avLst/>
          </a:prstGeom>
        </p:spPr>
      </p:pic>
      <p:sp>
        <p:nvSpPr>
          <p:cNvPr id="64" name="!!zback_tx"/>
          <p:cNvSpPr txBox="1"/>
          <p:nvPr/>
        </p:nvSpPr>
        <p:spPr>
          <a:xfrm>
            <a:off x="8377657" y="5449824"/>
            <a:ext cx="1240079" cy="365760"/>
          </a:xfrm>
          <a:prstGeom prst="rect">
            <a:avLst/>
          </a:prstGeom>
          <a:noFill/>
          <a:ln/>
        </p:spPr>
        <p:txBody>
          <a:bodyPr wrap="square" lIns="0" tIns="0" rIns="0" bIns="0" rtlCol="0" anchor="ctr"/>
          <a:lstStyle/>
          <a:p>
            <a:pPr algn="l" indent="0" marL="0">
              <a:buNone/>
            </a:pPr>
            <a:r>
              <a:rPr lang="en-US" sz="1400" b="1" dirty="0">
                <a:solidFill>
                  <a:schemeClr val="tx1"/>
                </a:solidFill>
                <a:latin typeface="Arial" pitchFamily="34" charset="0"/>
                <a:ea typeface="Arial" pitchFamily="34" charset="-122"/>
                <a:cs typeface="Arial" pitchFamily="34" charset="-120"/>
              </a:rPr>
              <a:t>Back to map</a:t>
            </a:r>
            <a:endParaRPr lang="en-US" sz="1400" dirty="0"/>
          </a:p>
        </p:txBody>
      </p:sp>
      <p:sp>
        <p:nvSpPr>
          <p:cNvPr id="65" name="!!zback_hit">
            <a:hlinkClick r:id="rId8" tooltip="Back to map" action="ppaction://hlinksldjump" highlightClick="1"/>
          </p:cNvPr>
          <p:cNvSpPr/>
          <p:nvPr/>
        </p:nvSpPr>
        <p:spPr>
          <a:xfrm>
            <a:off x="7726680" y="5449824"/>
            <a:ext cx="2103120" cy="365760"/>
          </a:xfrm>
          <a:prstGeom prst="roundRect">
            <a:avLst>
              <a:gd name="adj" fmla="val 50000"/>
            </a:avLst>
          </a:prstGeom>
          <a:solidFill>
            <a:srgbClr val="000000">
              <a:alpha val="0"/>
            </a:srgbClr>
          </a:solidFill>
          <a:ln/>
        </p:spPr>
      </p:sp>
      <p:sp>
        <p:nvSpPr>
          <p:cNvPr id="66" name="!!source"/>
          <p:cNvSpPr txBox="1"/>
          <p:nvPr/>
        </p:nvSpPr>
        <p:spPr>
          <a:xfrm>
            <a:off x="548640" y="5943600"/>
            <a:ext cx="9692640" cy="274320"/>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Sources: KPC (n.d.-a), KOC field map; Horn (2014); Naqi et al. (2023); KUNA (2024); Offshore Engineer (2025). Positions approximate.</a:t>
            </a:r>
            <a:endParaRPr lang="en-US" sz="1200" dirty="0"/>
          </a:p>
        </p:txBody>
      </p:sp>
      <p:sp>
        <p:nvSpPr>
          <p:cNvPr id="67" name="!!home_bg"/>
          <p:cNvSpPr/>
          <p:nvPr/>
        </p:nvSpPr>
        <p:spPr>
          <a:xfrm>
            <a:off x="10637215" y="6272784"/>
            <a:ext cx="384048" cy="384048"/>
          </a:xfrm>
          <a:prstGeom prst="roundRect">
            <a:avLst>
              <a:gd name="adj" fmla="val 23810"/>
            </a:avLst>
          </a:prstGeom>
          <a:solidFill>
            <a:srgbClr val="2C2C2E"/>
          </a:solidFill>
          <a:ln/>
        </p:spPr>
      </p:sp>
      <p:pic>
        <p:nvPicPr>
          <p:cNvPr id="68" name="!!home_ic" descr="Decorative graphic">    </p:cNvPr>
          <p:cNvPicPr>
            <a:picLocks noChangeAspect="1"/>
          </p:cNvPicPr>
          <p:nvPr/>
        </p:nvPicPr>
        <p:blipFill>
          <a:blip r:embed="rId9"/>
          <a:stretch>
            <a:fillRect/>
          </a:stretch>
        </p:blipFill>
        <p:spPr>
          <a:xfrm>
            <a:off x="10719511" y="6355080"/>
            <a:ext cx="219456" cy="219456"/>
          </a:xfrm>
          <a:prstGeom prst="rect">
            <a:avLst/>
          </a:prstGeom>
        </p:spPr>
      </p:pic>
      <p:sp>
        <p:nvSpPr>
          <p:cNvPr id="69" name="!!home_hit">
            <a:hlinkClick r:id="rId10" tooltip="Back to contents" action="ppaction://hlinksldjump" highlightClick="1"/>
          </p:cNvPr>
          <p:cNvSpPr/>
          <p:nvPr/>
        </p:nvSpPr>
        <p:spPr>
          <a:xfrm>
            <a:off x="10637215" y="6272784"/>
            <a:ext cx="384048" cy="384048"/>
          </a:xfrm>
          <a:prstGeom prst="roundRect">
            <a:avLst>
              <a:gd name="adj" fmla="val 23810"/>
            </a:avLst>
          </a:prstGeom>
          <a:solidFill>
            <a:srgbClr val="000000">
              <a:alpha val="0"/>
            </a:srgbClr>
          </a:solidFill>
          <a:ln/>
        </p:spPr>
      </p:sp>
      <p:sp>
        <p:nvSpPr>
          <p:cNvPr id="71" name="!!footer"/>
          <p:cNvSpPr txBox="1"/>
          <p:nvPr/>
        </p:nvSpPr>
        <p:spPr>
          <a:xfrm>
            <a:off x="548640" y="6327648"/>
            <a:ext cx="5486400" cy="292608"/>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Kuwait Oil &amp; Gas  ·  EGCH2230</a:t>
            </a:r>
            <a:endParaRPr lang="en-US" sz="1200" dirty="0"/>
          </a:p>
        </p:txBody>
      </p:sp>
      <p:sp>
        <p:nvSpPr>
          <p:cNvPr id="72" name="!!num"/>
          <p:cNvSpPr txBox="1"/>
          <p:nvPr/>
        </p:nvSpPr>
        <p:spPr>
          <a:xfrm>
            <a:off x="11094415" y="6327648"/>
            <a:ext cx="548640" cy="292608"/>
          </a:xfrm>
          <a:prstGeom prst="rect">
            <a:avLst/>
          </a:prstGeom>
          <a:noFill/>
          <a:ln/>
        </p:spPr>
        <p:txBody>
          <a:bodyPr wrap="square" lIns="0" tIns="0" rIns="0" bIns="0" rtlCol="0" anchor="ctr"/>
          <a:lstStyle/>
          <a:p>
            <a:pPr algn="r" indent="0" marL="0">
              <a:buNone/>
            </a:pPr>
            <a:r>
              <a:rPr lang="en-US" sz="1200" dirty="0">
                <a:solidFill>
                  <a:schemeClr val="tx2"/>
                </a:solidFill>
                <a:latin typeface="Arial" pitchFamily="34" charset="0"/>
                <a:ea typeface="Arial" pitchFamily="34" charset="-122"/>
                <a:cs typeface="Arial" pitchFamily="34" charset="-120"/>
              </a:rPr>
              <a:t>16</a:t>
            </a:r>
            <a:endParaRPr lang="en-US" sz="1200" dirty="0"/>
          </a:p>
        </p:txBody>
      </p:sp>
      <p:pic>
        <p:nvPicPr>
          <p:cNvPr id="73" name="!!badge" descr="University of Technology and Applied Sciences, Salalah">    </p:cNvPr>
          <p:cNvPicPr>
            <a:picLocks noChangeAspect="1"/>
          </p:cNvPicPr>
          <p:nvPr/>
        </p:nvPicPr>
        <p:blipFill>
          <a:blip r:embed="rId11"/>
          <a:stretch>
            <a:fillRect/>
          </a:stretch>
        </p:blipFill>
        <p:spPr>
          <a:xfrm>
            <a:off x="9677095" y="274320"/>
            <a:ext cx="1965960" cy="80987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4:dur="1400" advClick="0">
        <p159:morph option="byObject"/>
      </p:transition>
    </mc:Choice>
    <mc:Fallback>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0" presetClass="path" presetSubtype="0" fill="hold" grpId="0" nodeType="afterEffect" repeatCount="indefinite" autoRev="1">
                                  <p:stCondLst>
                                    <p:cond delay="0"/>
                                  </p:stCondLst>
                                  <p:childTnLst>
                                    <p:animMotion origin="layout" path="M 0 0 L 0.0350 -0.0300 E" pathEditMode="relative" ptsTypes="">
                                      <p:cBhvr>
                                        <p:cTn id="5" dur="13000" fill="hold" accel="50000" decel="50000"/>
                                        <p:tgtEl>
                                          <p:spTgt spid="2"/>
                                        </p:tgtEl>
                                        <p:attrNameLst>
                                          <p:attrName>ppt_x</p:attrName>
                                          <p:attrName>ppt_y</p:attrName>
                                        </p:attrNameLst>
                                      </p:cBhvr>
                                      <p:rCtr x="0" y="0"/>
                                    </p:animMotion>
                                  </p:childTnLst>
                                </p:cTn>
                              </p:par>
                              <p:par>
                                <p:cTn id="8" presetID="0" presetClass="path" presetSubtype="0" fill="hold" grpId="0" nodeType="withEffect" repeatCount="indefinite" autoRev="1">
                                  <p:stCondLst>
                                    <p:cond delay="0"/>
                                  </p:stCondLst>
                                  <p:childTnLst>
                                    <p:animMotion origin="layout" path="M 0 0 L -0.0300 0.0250 E" pathEditMode="relative" ptsTypes="">
                                      <p:cBhvr>
                                        <p:cTn id="7" dur="15000" fill="hold" accel="50000" decel="50000"/>
                                        <p:tgtEl>
                                          <p:spTgt spid="3"/>
                                        </p:tgtEl>
                                        <p:attrNameLst>
                                          <p:attrName>ppt_x</p:attrName>
                                          <p:attrName>ppt_y</p:attrName>
                                        </p:attrNameLst>
                                      </p:cBhvr>
                                      <p:rCtr x="0" y="0"/>
                                    </p:animMotion>
                                  </p:childTnLst>
                                </p:cTn>
                              </p:par>
                              <p:par>
                                <p:cTn id="10" presetID="6" presetClass="emph" presetSubtype="0" fill="hold" grpId="0" nodeType="withEffect" repeatCount="indefinite" autoRev="1">
                                  <p:stCondLst>
                                    <p:cond delay="1000"/>
                                  </p:stCondLst>
                                  <p:childTnLst>
                                    <p:animScale>
                                      <p:cBhvr>
                                        <p:cTn id="9" dur="1700" fill="hold" accel="50000" decel="50000"/>
                                        <p:tgtEl>
                                          <p:spTgt spid="13"/>
                                        </p:tgtEl>
                                      </p:cBhvr>
                                      <p:by x="120000" y="12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9.xml><?xml version="1.0" encoding="utf-8"?>
<p:sld xmlns:p14="http://schemas.microsoft.com/office/powerpoint/2010/main" xmlns:a="http://schemas.openxmlformats.org/drawingml/2006/main" xmlns:r="http://schemas.openxmlformats.org/officeDocument/2006/relationships" xmlns:p="http://schemas.openxmlformats.org/presentationml/2006/main" show="0">
  <p:cSld name="Slide 19">
    <p:spTree>
      <p:nvGrpSpPr>
        <p:cNvPr id="1" name=""/>
        <p:cNvGrpSpPr/>
        <p:nvPr/>
      </p:nvGrpSpPr>
      <p:grpSpPr>
        <a:xfrm>
          <a:off x="0" y="0"/>
          <a:ext cx="0" cy="0"/>
          <a:chOff x="0" y="0"/>
          <a:chExt cx="0" cy="0"/>
        </a:xfrm>
      </p:grpSpPr>
      <p:pic>
        <p:nvPicPr>
          <p:cNvPr id="2" name="!!orbA" descr="Decorative background light">    </p:cNvPr>
          <p:cNvPicPr>
            <a:picLocks noChangeAspect="1"/>
          </p:cNvPicPr>
          <p:nvPr/>
        </p:nvPicPr>
        <p:blipFill>
          <a:blip r:embed="rId1"/>
          <a:stretch>
            <a:fillRect/>
          </a:stretch>
        </p:blipFill>
        <p:spPr>
          <a:xfrm>
            <a:off x="-1234440" y="228600"/>
            <a:ext cx="7772400" cy="7772400"/>
          </a:xfrm>
          <a:prstGeom prst="rect">
            <a:avLst/>
          </a:prstGeom>
        </p:spPr>
      </p:pic>
      <p:pic>
        <p:nvPicPr>
          <p:cNvPr id="3" name="!!orbB" descr="Decorative background light">    </p:cNvPr>
          <p:cNvPicPr>
            <a:picLocks noChangeAspect="1"/>
          </p:cNvPicPr>
          <p:nvPr/>
        </p:nvPicPr>
        <p:blipFill>
          <a:blip r:embed="rId2"/>
          <a:stretch>
            <a:fillRect/>
          </a:stretch>
        </p:blipFill>
        <p:spPr>
          <a:xfrm>
            <a:off x="8321040" y="3383280"/>
            <a:ext cx="5486400" cy="5486400"/>
          </a:xfrm>
          <a:prstGeom prst="rect">
            <a:avLst/>
          </a:prstGeom>
        </p:spPr>
      </p:pic>
      <p:sp>
        <p:nvSpPr>
          <p:cNvPr id="4" name="!!kicker"/>
          <p:cNvSpPr/>
          <p:nvPr>
            <p:ph idx="100" type="body" hasCustomPrompt="1"/>
          </p:nvPr>
        </p:nvSpPr>
        <p:spPr>
          <a:xfrm>
            <a:off x="548640" y="384048"/>
            <a:ext cx="8732520" cy="329184"/>
          </a:xfrm>
          <a:prstGeom prst="rect">
            <a:avLst/>
          </a:prstGeom>
          <a:noFill/>
          <a:ln/>
        </p:spPr>
        <p:txBody>
          <a:bodyPr wrap="square" lIns="0" tIns="0" rIns="0" bIns="0" rtlCol="0" anchor="t"/>
          <a:lstStyle/>
          <a:p>
            <a:pPr algn="l" indent="0" marL="0">
              <a:buNone/>
            </a:pPr>
            <a:r>
              <a:rPr lang="en-US" sz="1500" b="1" spc="300" kern="0" dirty="0">
                <a:solidFill>
                  <a:schemeClr val="accent1"/>
                </a:solidFill>
              </a:rPr>
              <a:t>03 — RESERVOIR LOCATIONS  ·  ZOOM</a:t>
            </a:r>
            <a:endParaRPr lang="en-US" sz="1500" dirty="0"/>
          </a:p>
        </p:txBody>
      </p:sp>
      <p:sp>
        <p:nvSpPr>
          <p:cNvPr id="5" name="!!title"/>
          <p:cNvSpPr/>
          <p:nvPr>
            <p:ph idx="101" type="title" hasCustomPrompt="1"/>
          </p:nvPr>
        </p:nvSpPr>
        <p:spPr>
          <a:xfrm>
            <a:off x="548640" y="731520"/>
            <a:ext cx="8732520" cy="786384"/>
          </a:xfrm>
          <a:prstGeom prst="rect">
            <a:avLst/>
          </a:prstGeom>
          <a:noFill/>
          <a:ln/>
        </p:spPr>
        <p:txBody>
          <a:bodyPr wrap="square" lIns="0" tIns="0" rIns="0" bIns="0" rtlCol="0" anchor="t"/>
          <a:lstStyle/>
          <a:p>
            <a:pPr algn="l" indent="0" marL="0">
              <a:buNone/>
            </a:pPr>
            <a:r>
              <a:rPr lang="en-US" sz="3800" b="1" dirty="0">
                <a:solidFill>
                  <a:schemeClr val="tx1"/>
                </a:solidFill>
              </a:rPr>
              <a:t>West Kuwait</a:t>
            </a:r>
            <a:endParaRPr lang="en-US" sz="3800" dirty="0"/>
          </a:p>
        </p:txBody>
      </p:sp>
      <p:pic>
        <p:nvPicPr>
          <p:cNvPr id="6" name="!!map" descr="Zoomed map of a Kuwaiti producing area">    </p:cNvPr>
          <p:cNvPicPr>
            <a:picLocks noChangeAspect="1"/>
          </p:cNvPicPr>
          <p:nvPr/>
        </p:nvPicPr>
        <p:blipFill>
          <a:blip r:embed="rId3"/>
          <a:srcRect l="14738" r="28072" t="35714" b="27143"/>
          <a:stretch/>
        </p:blipFill>
        <p:spPr>
          <a:xfrm>
            <a:off x="548640" y="1783080"/>
            <a:ext cx="6812280" cy="3547872"/>
          </a:xfrm>
          <a:prstGeom prst="rect">
            <a:avLst/>
          </a:prstGeom>
        </p:spPr>
      </p:pic>
      <p:sp>
        <p:nvSpPr>
          <p:cNvPr id="7" name="!!mapframe"/>
          <p:cNvSpPr/>
          <p:nvPr/>
        </p:nvSpPr>
        <p:spPr>
          <a:xfrm>
            <a:off x="548640" y="1783080"/>
            <a:ext cx="6812280" cy="3547872"/>
          </a:xfrm>
          <a:prstGeom prst="rect">
            <a:avLst/>
          </a:prstGeom>
          <a:solidFill>
            <a:srgbClr val="000000">
              <a:alpha val="0"/>
            </a:srgbClr>
          </a:solidFill>
          <a:ln w="12700">
            <a:solidFill>
              <a:srgbClr val="3A3A3C"/>
            </a:solidFill>
            <a:prstDash val="solid"/>
          </a:ln>
        </p:spPr>
      </p:sp>
      <p:sp>
        <p:nvSpPr>
          <p:cNvPr id="8" name="!!c_iraq"/>
          <p:cNvSpPr txBox="1"/>
          <p:nvPr/>
        </p:nvSpPr>
        <p:spPr>
          <a:xfrm>
            <a:off x="-120400" y="-1401611"/>
            <a:ext cx="2194560" cy="274320"/>
          </a:xfrm>
          <a:prstGeom prst="rect">
            <a:avLst/>
          </a:prstGeom>
          <a:noFill/>
          <a:ln/>
        </p:spPr>
        <p:txBody>
          <a:bodyPr wrap="square" lIns="0" tIns="0" rIns="0" bIns="0" rtlCol="0" anchor="t"/>
          <a:lstStyle/>
          <a:p>
            <a:pPr algn="ctr" indent="0" marL="0">
              <a:buNone/>
            </a:pPr>
            <a:r>
              <a:rPr lang="en-US" sz="1300" spc="400" kern="0" dirty="0">
                <a:solidFill>
                  <a:srgbClr val="8E8E93">
                    <a:alpha val="0"/>
                  </a:srgbClr>
                </a:solidFill>
                <a:latin typeface="Arial" pitchFamily="34" charset="0"/>
                <a:ea typeface="Arial" pitchFamily="34" charset="-122"/>
                <a:cs typeface="Arial" pitchFamily="34" charset="-120"/>
              </a:rPr>
              <a:t>IRAQ</a:t>
            </a:r>
            <a:endParaRPr lang="en-US" sz="1300" dirty="0"/>
          </a:p>
        </p:txBody>
      </p:sp>
      <p:sp>
        <p:nvSpPr>
          <p:cNvPr id="9" name="!!c_saudi"/>
          <p:cNvSpPr txBox="1"/>
          <p:nvPr/>
        </p:nvSpPr>
        <p:spPr>
          <a:xfrm>
            <a:off x="673707" y="7104185"/>
            <a:ext cx="2194560" cy="274320"/>
          </a:xfrm>
          <a:prstGeom prst="rect">
            <a:avLst/>
          </a:prstGeom>
          <a:noFill/>
          <a:ln/>
        </p:spPr>
        <p:txBody>
          <a:bodyPr wrap="square" lIns="0" tIns="0" rIns="0" bIns="0" rtlCol="0" anchor="t"/>
          <a:lstStyle/>
          <a:p>
            <a:pPr algn="ctr" indent="0" marL="0">
              <a:buNone/>
            </a:pPr>
            <a:r>
              <a:rPr lang="en-US" sz="1300" spc="400" kern="0" dirty="0">
                <a:solidFill>
                  <a:srgbClr val="8E8E93">
                    <a:alpha val="0"/>
                  </a:srgbClr>
                </a:solidFill>
                <a:latin typeface="Arial" pitchFamily="34" charset="0"/>
                <a:ea typeface="Arial" pitchFamily="34" charset="-122"/>
                <a:cs typeface="Arial" pitchFamily="34" charset="-120"/>
              </a:rPr>
              <a:t>SAUDI ARABIA</a:t>
            </a:r>
            <a:endParaRPr lang="en-US" sz="1300" dirty="0"/>
          </a:p>
        </p:txBody>
      </p:sp>
      <p:sp>
        <p:nvSpPr>
          <p:cNvPr id="10" name="!!c_gulf"/>
          <p:cNvSpPr txBox="1"/>
          <p:nvPr/>
        </p:nvSpPr>
        <p:spPr>
          <a:xfrm>
            <a:off x="8217720" y="3010486"/>
            <a:ext cx="2194560" cy="274320"/>
          </a:xfrm>
          <a:prstGeom prst="rect">
            <a:avLst/>
          </a:prstGeom>
          <a:noFill/>
          <a:ln/>
        </p:spPr>
        <p:txBody>
          <a:bodyPr wrap="square" lIns="0" tIns="0" rIns="0" bIns="0" rtlCol="0" anchor="t"/>
          <a:lstStyle/>
          <a:p>
            <a:pPr algn="ctr" indent="0" marL="0">
              <a:buNone/>
            </a:pPr>
            <a:r>
              <a:rPr lang="en-US" sz="1300" spc="400" kern="0" dirty="0">
                <a:solidFill>
                  <a:srgbClr val="8E8E93">
                    <a:alpha val="0"/>
                  </a:srgbClr>
                </a:solidFill>
                <a:latin typeface="Arial" pitchFamily="34" charset="0"/>
                <a:ea typeface="Arial" pitchFamily="34" charset="-122"/>
                <a:cs typeface="Arial" pitchFamily="34" charset="-120"/>
              </a:rPr>
              <a:t>ARABIAN GULF</a:t>
            </a:r>
            <a:endParaRPr lang="en-US" sz="1300" dirty="0"/>
          </a:p>
        </p:txBody>
      </p:sp>
      <p:sp>
        <p:nvSpPr>
          <p:cNvPr id="11" name="!!f_burgan"/>
          <p:cNvSpPr/>
          <p:nvPr/>
        </p:nvSpPr>
        <p:spPr>
          <a:xfrm>
            <a:off x="5644065" y="3851969"/>
            <a:ext cx="274320" cy="274320"/>
          </a:xfrm>
          <a:prstGeom prst="ellipse">
            <a:avLst/>
          </a:prstGeom>
          <a:solidFill>
            <a:srgbClr val="4A4A4F"/>
          </a:solidFill>
          <a:ln/>
        </p:spPr>
      </p:sp>
      <p:sp>
        <p:nvSpPr>
          <p:cNvPr id="12" name="!!fl_burgan"/>
          <p:cNvSpPr txBox="1"/>
          <p:nvPr/>
        </p:nvSpPr>
        <p:spPr>
          <a:xfrm>
            <a:off x="5580098" y="4371270"/>
            <a:ext cx="1737360" cy="274320"/>
          </a:xfrm>
          <a:prstGeom prst="rect">
            <a:avLst/>
          </a:prstGeom>
          <a:noFill/>
          <a:ln/>
        </p:spPr>
        <p:txBody>
          <a:bodyPr wrap="square" lIns="0" tIns="0" rIns="0" bIns="0" rtlCol="0" anchor="t"/>
          <a:lstStyle/>
          <a:p>
            <a:pPr algn="l" indent="0" marL="0">
              <a:buNone/>
            </a:pPr>
            <a:r>
              <a:rPr lang="en-US" sz="1300" dirty="0">
                <a:solidFill>
                  <a:schemeClr val="tx1">
                    <a:alpha val="0"/>
                  </a:schemeClr>
                </a:solidFill>
                <a:latin typeface="Arial" pitchFamily="34" charset="0"/>
                <a:ea typeface="Arial" pitchFamily="34" charset="-122"/>
                <a:cs typeface="Arial" pitchFamily="34" charset="-120"/>
              </a:rPr>
              <a:t>Greater Burgan</a:t>
            </a:r>
            <a:endParaRPr lang="en-US" sz="1300" dirty="0"/>
          </a:p>
        </p:txBody>
      </p:sp>
      <p:sp>
        <p:nvSpPr>
          <p:cNvPr id="13" name="!!f_raudhatain"/>
          <p:cNvSpPr/>
          <p:nvPr/>
        </p:nvSpPr>
        <p:spPr>
          <a:xfrm>
            <a:off x="4822165" y="-105273"/>
            <a:ext cx="274320" cy="274320"/>
          </a:xfrm>
          <a:prstGeom prst="ellipse">
            <a:avLst/>
          </a:prstGeom>
          <a:solidFill>
            <a:srgbClr val="FF9F0A">
              <a:alpha val="0"/>
            </a:srgbClr>
          </a:solidFill>
          <a:ln/>
        </p:spPr>
      </p:sp>
      <p:sp>
        <p:nvSpPr>
          <p:cNvPr id="14" name="!!fl_raudhatain"/>
          <p:cNvSpPr txBox="1"/>
          <p:nvPr/>
        </p:nvSpPr>
        <p:spPr>
          <a:xfrm>
            <a:off x="534526" y="-973749"/>
            <a:ext cx="1737360" cy="274320"/>
          </a:xfrm>
          <a:prstGeom prst="rect">
            <a:avLst/>
          </a:prstGeom>
          <a:noFill/>
          <a:ln/>
        </p:spPr>
        <p:txBody>
          <a:bodyPr wrap="square" lIns="0" tIns="0" rIns="0" bIns="0" rtlCol="0" anchor="t"/>
          <a:lstStyle/>
          <a:p>
            <a:pPr algn="r" indent="0" marL="0">
              <a:buNone/>
            </a:pPr>
            <a:r>
              <a:rPr lang="en-US" sz="1300" dirty="0">
                <a:solidFill>
                  <a:schemeClr val="tx1">
                    <a:alpha val="0"/>
                  </a:schemeClr>
                </a:solidFill>
                <a:latin typeface="Arial" pitchFamily="34" charset="0"/>
                <a:ea typeface="Arial" pitchFamily="34" charset="-122"/>
                <a:cs typeface="Arial" pitchFamily="34" charset="-120"/>
              </a:rPr>
              <a:t>Raudhatain</a:t>
            </a:r>
            <a:endParaRPr lang="en-US" sz="1300" dirty="0"/>
          </a:p>
        </p:txBody>
      </p:sp>
      <p:sp>
        <p:nvSpPr>
          <p:cNvPr id="15" name="!!fk_raudhatain"/>
          <p:cNvSpPr/>
          <p:nvPr/>
        </p:nvSpPr>
        <p:spPr>
          <a:xfrm>
            <a:off x="4355943" y="-571495"/>
            <a:ext cx="362029" cy="341916"/>
          </a:xfrm>
          <a:prstGeom prst="line">
            <a:avLst/>
          </a:prstGeom>
          <a:noFill/>
          <a:ln w="12700">
            <a:solidFill>
              <a:srgbClr val="A1A1A6">
                <a:alpha val="0"/>
              </a:srgbClr>
            </a:solidFill>
            <a:prstDash val="solid"/>
          </a:ln>
        </p:spPr>
      </p:sp>
      <p:sp>
        <p:nvSpPr>
          <p:cNvPr id="16" name="!!f_sabriya"/>
          <p:cNvSpPr/>
          <p:nvPr/>
        </p:nvSpPr>
        <p:spPr>
          <a:xfrm>
            <a:off x="5352290" y="227006"/>
            <a:ext cx="182880" cy="182880"/>
          </a:xfrm>
          <a:prstGeom prst="ellipse">
            <a:avLst/>
          </a:prstGeom>
          <a:solidFill>
            <a:srgbClr val="FF9F0A">
              <a:alpha val="0"/>
            </a:srgbClr>
          </a:solidFill>
          <a:ln/>
        </p:spPr>
      </p:sp>
      <p:sp>
        <p:nvSpPr>
          <p:cNvPr id="17" name="!!fl_sabriya"/>
          <p:cNvSpPr txBox="1"/>
          <p:nvPr/>
        </p:nvSpPr>
        <p:spPr>
          <a:xfrm>
            <a:off x="5785646" y="56980"/>
            <a:ext cx="1737360" cy="274320"/>
          </a:xfrm>
          <a:prstGeom prst="rect">
            <a:avLst/>
          </a:prstGeom>
          <a:noFill/>
          <a:ln/>
        </p:spPr>
        <p:txBody>
          <a:bodyPr wrap="square" lIns="0" tIns="0" rIns="0" bIns="0" rtlCol="0" anchor="t"/>
          <a:lstStyle/>
          <a:p>
            <a:pPr algn="l" indent="0" marL="0">
              <a:buNone/>
            </a:pPr>
            <a:r>
              <a:rPr lang="en-US" sz="1300" dirty="0">
                <a:solidFill>
                  <a:schemeClr val="tx1">
                    <a:alpha val="0"/>
                  </a:schemeClr>
                </a:solidFill>
                <a:latin typeface="Arial" pitchFamily="34" charset="0"/>
                <a:ea typeface="Arial" pitchFamily="34" charset="-122"/>
                <a:cs typeface="Arial" pitchFamily="34" charset="-120"/>
              </a:rPr>
              <a:t>Sabriya</a:t>
            </a:r>
            <a:endParaRPr lang="en-US" sz="1300" dirty="0"/>
          </a:p>
        </p:txBody>
      </p:sp>
      <p:sp>
        <p:nvSpPr>
          <p:cNvPr id="18" name="!!f_bahra"/>
          <p:cNvSpPr/>
          <p:nvPr/>
        </p:nvSpPr>
        <p:spPr>
          <a:xfrm>
            <a:off x="5598463" y="1068488"/>
            <a:ext cx="182880" cy="182880"/>
          </a:xfrm>
          <a:prstGeom prst="ellipse">
            <a:avLst/>
          </a:prstGeom>
          <a:solidFill>
            <a:srgbClr val="FF9F0A">
              <a:alpha val="0"/>
            </a:srgbClr>
          </a:solidFill>
          <a:ln/>
        </p:spPr>
      </p:sp>
      <p:sp>
        <p:nvSpPr>
          <p:cNvPr id="19" name="!!fl_bahra"/>
          <p:cNvSpPr txBox="1"/>
          <p:nvPr/>
        </p:nvSpPr>
        <p:spPr>
          <a:xfrm>
            <a:off x="6031819" y="898463"/>
            <a:ext cx="1737360" cy="274320"/>
          </a:xfrm>
          <a:prstGeom prst="rect">
            <a:avLst/>
          </a:prstGeom>
          <a:noFill/>
          <a:ln/>
        </p:spPr>
        <p:txBody>
          <a:bodyPr wrap="square" lIns="0" tIns="0" rIns="0" bIns="0" rtlCol="0" anchor="t"/>
          <a:lstStyle/>
          <a:p>
            <a:pPr algn="l" indent="0" marL="0">
              <a:buNone/>
            </a:pPr>
            <a:r>
              <a:rPr lang="en-US" sz="1300" dirty="0">
                <a:solidFill>
                  <a:schemeClr val="tx1">
                    <a:alpha val="0"/>
                  </a:schemeClr>
                </a:solidFill>
                <a:latin typeface="Arial" pitchFamily="34" charset="0"/>
                <a:ea typeface="Arial" pitchFamily="34" charset="-122"/>
                <a:cs typeface="Arial" pitchFamily="34" charset="-120"/>
              </a:rPr>
              <a:t>Bahra</a:t>
            </a:r>
            <a:endParaRPr lang="en-US" sz="1300" dirty="0"/>
          </a:p>
        </p:txBody>
      </p:sp>
      <p:sp>
        <p:nvSpPr>
          <p:cNvPr id="20" name="!!f_ratqa"/>
          <p:cNvSpPr/>
          <p:nvPr/>
        </p:nvSpPr>
        <p:spPr>
          <a:xfrm>
            <a:off x="3601285" y="-41359"/>
            <a:ext cx="182880" cy="182880"/>
          </a:xfrm>
          <a:prstGeom prst="ellipse">
            <a:avLst/>
          </a:prstGeom>
          <a:solidFill>
            <a:srgbClr val="FF9F0A">
              <a:alpha val="0"/>
            </a:srgbClr>
          </a:solidFill>
          <a:ln/>
        </p:spPr>
      </p:sp>
      <p:sp>
        <p:nvSpPr>
          <p:cNvPr id="21" name="!!fl_ratqa"/>
          <p:cNvSpPr txBox="1"/>
          <p:nvPr/>
        </p:nvSpPr>
        <p:spPr>
          <a:xfrm>
            <a:off x="-490721" y="-251610"/>
            <a:ext cx="1737360" cy="274320"/>
          </a:xfrm>
          <a:prstGeom prst="rect">
            <a:avLst/>
          </a:prstGeom>
          <a:noFill/>
          <a:ln/>
        </p:spPr>
        <p:txBody>
          <a:bodyPr wrap="square" lIns="0" tIns="0" rIns="0" bIns="0" rtlCol="0" anchor="t"/>
          <a:lstStyle/>
          <a:p>
            <a:pPr algn="r" indent="0" marL="0">
              <a:buNone/>
            </a:pPr>
            <a:r>
              <a:rPr lang="en-US" sz="1300" dirty="0">
                <a:solidFill>
                  <a:schemeClr val="tx1">
                    <a:alpha val="0"/>
                  </a:schemeClr>
                </a:solidFill>
                <a:latin typeface="Arial" pitchFamily="34" charset="0"/>
                <a:ea typeface="Arial" pitchFamily="34" charset="-122"/>
                <a:cs typeface="Arial" pitchFamily="34" charset="-120"/>
              </a:rPr>
              <a:t>Ratqa (heavy oil)</a:t>
            </a:r>
            <a:endParaRPr lang="en-US" sz="1300" dirty="0"/>
          </a:p>
        </p:txBody>
      </p:sp>
      <p:sp>
        <p:nvSpPr>
          <p:cNvPr id="22" name="!!f_abdali"/>
          <p:cNvSpPr/>
          <p:nvPr/>
        </p:nvSpPr>
        <p:spPr>
          <a:xfrm>
            <a:off x="5046559" y="-750933"/>
            <a:ext cx="182880" cy="182880"/>
          </a:xfrm>
          <a:prstGeom prst="ellipse">
            <a:avLst/>
          </a:prstGeom>
          <a:solidFill>
            <a:srgbClr val="FF9F0A">
              <a:alpha val="0"/>
            </a:srgbClr>
          </a:solidFill>
          <a:ln/>
        </p:spPr>
      </p:sp>
      <p:sp>
        <p:nvSpPr>
          <p:cNvPr id="23" name="!!fl_abdali"/>
          <p:cNvSpPr txBox="1"/>
          <p:nvPr/>
        </p:nvSpPr>
        <p:spPr>
          <a:xfrm>
            <a:off x="5459802" y="-1001410"/>
            <a:ext cx="1737360" cy="274320"/>
          </a:xfrm>
          <a:prstGeom prst="rect">
            <a:avLst/>
          </a:prstGeom>
          <a:noFill/>
          <a:ln/>
        </p:spPr>
        <p:txBody>
          <a:bodyPr wrap="square" lIns="0" tIns="0" rIns="0" bIns="0" rtlCol="0" anchor="t"/>
          <a:lstStyle/>
          <a:p>
            <a:pPr algn="l" indent="0" marL="0">
              <a:buNone/>
            </a:pPr>
            <a:r>
              <a:rPr lang="en-US" sz="1300" dirty="0">
                <a:solidFill>
                  <a:schemeClr val="tx1">
                    <a:alpha val="0"/>
                  </a:schemeClr>
                </a:solidFill>
                <a:latin typeface="Arial" pitchFamily="34" charset="0"/>
                <a:ea typeface="Arial" pitchFamily="34" charset="-122"/>
                <a:cs typeface="Arial" pitchFamily="34" charset="-120"/>
              </a:rPr>
              <a:t>Abdali</a:t>
            </a:r>
            <a:endParaRPr lang="en-US" sz="1300" dirty="0"/>
          </a:p>
        </p:txBody>
      </p:sp>
      <p:sp>
        <p:nvSpPr>
          <p:cNvPr id="24" name="!!f_minagish"/>
          <p:cNvSpPr/>
          <p:nvPr/>
        </p:nvSpPr>
        <p:spPr>
          <a:xfrm>
            <a:off x="3906417" y="3808582"/>
            <a:ext cx="342900" cy="342900"/>
          </a:xfrm>
          <a:prstGeom prst="ellipse">
            <a:avLst/>
          </a:prstGeom>
          <a:solidFill>
            <a:srgbClr val="FF9F0A"/>
          </a:solidFill>
          <a:ln/>
          <a:effectLst>
            <a:outerShdw sx="100000" sy="100000" kx="0" ky="0" algn="bl" rotWithShape="0" blurRad="228600" dist="50800" dir="5400000">
              <a:srgbClr val="FF9F0A">
                <a:alpha val="90000"/>
              </a:srgbClr>
            </a:outerShdw>
          </a:effectLst>
        </p:spPr>
      </p:sp>
      <p:sp>
        <p:nvSpPr>
          <p:cNvPr id="25" name="!!fl_minagish"/>
          <p:cNvSpPr txBox="1"/>
          <p:nvPr/>
        </p:nvSpPr>
        <p:spPr>
          <a:xfrm>
            <a:off x="2066187" y="3705712"/>
            <a:ext cx="1783080" cy="310896"/>
          </a:xfrm>
          <a:prstGeom prst="rect">
            <a:avLst/>
          </a:prstGeom>
          <a:noFill/>
          <a:ln/>
        </p:spPr>
        <p:txBody>
          <a:bodyPr wrap="square" lIns="0" tIns="0" rIns="0" bIns="0" rtlCol="0" anchor="t"/>
          <a:lstStyle/>
          <a:p>
            <a:pPr algn="r" indent="0" marL="0">
              <a:buNone/>
            </a:pPr>
            <a:r>
              <a:rPr lang="en-US" sz="1500" b="1" dirty="0">
                <a:solidFill>
                  <a:schemeClr val="tx1"/>
                </a:solidFill>
                <a:effectLst>
                  <a:glow rad="76200">
                    <a:srgbClr val="141416">
                      <a:alpha val="85000"/>
                    </a:srgbClr>
                  </a:glow>
                </a:effectLst>
                <a:latin typeface="Arial" pitchFamily="34" charset="0"/>
                <a:ea typeface="Arial" pitchFamily="34" charset="-122"/>
                <a:cs typeface="Arial" pitchFamily="34" charset="-120"/>
              </a:rPr>
              <a:t>Minagish</a:t>
            </a:r>
            <a:endParaRPr lang="en-US" sz="1500" dirty="0"/>
          </a:p>
        </p:txBody>
      </p:sp>
      <p:sp>
        <p:nvSpPr>
          <p:cNvPr id="26" name="!!f_ummgudair"/>
          <p:cNvSpPr/>
          <p:nvPr/>
        </p:nvSpPr>
        <p:spPr>
          <a:xfrm>
            <a:off x="4598852" y="4552563"/>
            <a:ext cx="228600" cy="228600"/>
          </a:xfrm>
          <a:prstGeom prst="ellipse">
            <a:avLst/>
          </a:prstGeom>
          <a:solidFill>
            <a:srgbClr val="FF9F0A"/>
          </a:solidFill>
          <a:ln/>
          <a:effectLst>
            <a:outerShdw sx="100000" sy="100000" kx="0" ky="0" algn="bl" rotWithShape="0" blurRad="228600" dist="50800" dir="5400000">
              <a:srgbClr val="FF9F0A">
                <a:alpha val="90000"/>
              </a:srgbClr>
            </a:outerShdw>
          </a:effectLst>
        </p:spPr>
      </p:sp>
      <p:sp>
        <p:nvSpPr>
          <p:cNvPr id="27" name="!!fl_ummgudair"/>
          <p:cNvSpPr txBox="1"/>
          <p:nvPr/>
        </p:nvSpPr>
        <p:spPr>
          <a:xfrm>
            <a:off x="4896032" y="4511415"/>
            <a:ext cx="1783080" cy="310896"/>
          </a:xfrm>
          <a:prstGeom prst="rect">
            <a:avLst/>
          </a:prstGeom>
          <a:noFill/>
          <a:ln/>
        </p:spPr>
        <p:txBody>
          <a:bodyPr wrap="square" lIns="0" tIns="0" rIns="0" bIns="0" rtlCol="0" anchor="t"/>
          <a:lstStyle/>
          <a:p>
            <a:pPr algn="l" indent="0" marL="0">
              <a:buNone/>
            </a:pPr>
            <a:r>
              <a:rPr lang="en-US" sz="1500" b="1" dirty="0">
                <a:solidFill>
                  <a:schemeClr val="tx1"/>
                </a:solidFill>
                <a:effectLst>
                  <a:glow rad="76200">
                    <a:srgbClr val="141416">
                      <a:alpha val="85000"/>
                    </a:srgbClr>
                  </a:glow>
                </a:effectLst>
                <a:latin typeface="Arial" pitchFamily="34" charset="0"/>
                <a:ea typeface="Arial" pitchFamily="34" charset="-122"/>
                <a:cs typeface="Arial" pitchFamily="34" charset="-120"/>
              </a:rPr>
              <a:t>Umm Gudair</a:t>
            </a:r>
            <a:endParaRPr lang="en-US" sz="1500" dirty="0"/>
          </a:p>
        </p:txBody>
      </p:sp>
      <p:sp>
        <p:nvSpPr>
          <p:cNvPr id="28" name="!!f_abduliyah"/>
          <p:cNvSpPr/>
          <p:nvPr/>
        </p:nvSpPr>
        <p:spPr>
          <a:xfrm>
            <a:off x="4539294" y="3560978"/>
            <a:ext cx="228600" cy="228600"/>
          </a:xfrm>
          <a:prstGeom prst="ellipse">
            <a:avLst/>
          </a:prstGeom>
          <a:solidFill>
            <a:srgbClr val="FF9F0A"/>
          </a:solidFill>
          <a:ln/>
          <a:effectLst>
            <a:outerShdw sx="100000" sy="100000" kx="0" ky="0" algn="bl" rotWithShape="0" blurRad="228600" dist="50800" dir="5400000">
              <a:srgbClr val="FF9F0A">
                <a:alpha val="90000"/>
              </a:srgbClr>
            </a:outerShdw>
          </a:effectLst>
        </p:spPr>
      </p:sp>
      <p:sp>
        <p:nvSpPr>
          <p:cNvPr id="29" name="!!fl_abduliyah"/>
          <p:cNvSpPr txBox="1"/>
          <p:nvPr/>
        </p:nvSpPr>
        <p:spPr>
          <a:xfrm>
            <a:off x="4836474" y="3519830"/>
            <a:ext cx="1783080" cy="310896"/>
          </a:xfrm>
          <a:prstGeom prst="rect">
            <a:avLst/>
          </a:prstGeom>
          <a:noFill/>
          <a:ln/>
        </p:spPr>
        <p:txBody>
          <a:bodyPr wrap="square" lIns="0" tIns="0" rIns="0" bIns="0" rtlCol="0" anchor="t"/>
          <a:lstStyle/>
          <a:p>
            <a:pPr algn="l" indent="0" marL="0">
              <a:buNone/>
            </a:pPr>
            <a:r>
              <a:rPr lang="en-US" sz="1500" b="1" dirty="0">
                <a:solidFill>
                  <a:schemeClr val="tx1"/>
                </a:solidFill>
                <a:effectLst>
                  <a:glow rad="76200">
                    <a:srgbClr val="141416">
                      <a:alpha val="85000"/>
                    </a:srgbClr>
                  </a:glow>
                </a:effectLst>
                <a:latin typeface="Arial" pitchFamily="34" charset="0"/>
                <a:ea typeface="Arial" pitchFamily="34" charset="-122"/>
                <a:cs typeface="Arial" pitchFamily="34" charset="-120"/>
              </a:rPr>
              <a:t>Abduliyah</a:t>
            </a:r>
            <a:endParaRPr lang="en-US" sz="1500" dirty="0"/>
          </a:p>
        </p:txBody>
      </p:sp>
      <p:sp>
        <p:nvSpPr>
          <p:cNvPr id="30" name="!!f_dharif"/>
          <p:cNvSpPr/>
          <p:nvPr/>
        </p:nvSpPr>
        <p:spPr>
          <a:xfrm>
            <a:off x="4876789" y="3001506"/>
            <a:ext cx="228600" cy="228600"/>
          </a:xfrm>
          <a:prstGeom prst="ellipse">
            <a:avLst/>
          </a:prstGeom>
          <a:solidFill>
            <a:srgbClr val="FF9F0A"/>
          </a:solidFill>
          <a:ln/>
          <a:effectLst>
            <a:outerShdw sx="100000" sy="100000" kx="0" ky="0" algn="bl" rotWithShape="0" blurRad="228600" dist="50800" dir="5400000">
              <a:srgbClr val="FF9F0A">
                <a:alpha val="90000"/>
              </a:srgbClr>
            </a:outerShdw>
          </a:effectLst>
        </p:spPr>
      </p:sp>
      <p:sp>
        <p:nvSpPr>
          <p:cNvPr id="31" name="!!fl_dharif"/>
          <p:cNvSpPr txBox="1"/>
          <p:nvPr/>
        </p:nvSpPr>
        <p:spPr>
          <a:xfrm>
            <a:off x="3025129" y="2960358"/>
            <a:ext cx="1783080" cy="310896"/>
          </a:xfrm>
          <a:prstGeom prst="rect">
            <a:avLst/>
          </a:prstGeom>
          <a:noFill/>
          <a:ln/>
        </p:spPr>
        <p:txBody>
          <a:bodyPr wrap="square" lIns="0" tIns="0" rIns="0" bIns="0" rtlCol="0" anchor="t"/>
          <a:lstStyle/>
          <a:p>
            <a:pPr algn="r" indent="0" marL="0">
              <a:buNone/>
            </a:pPr>
            <a:r>
              <a:rPr lang="en-US" sz="1500" b="1" dirty="0">
                <a:solidFill>
                  <a:schemeClr val="tx1"/>
                </a:solidFill>
                <a:effectLst>
                  <a:glow rad="76200">
                    <a:srgbClr val="141416">
                      <a:alpha val="85000"/>
                    </a:srgbClr>
                  </a:glow>
                </a:effectLst>
                <a:latin typeface="Arial" pitchFamily="34" charset="0"/>
                <a:ea typeface="Arial" pitchFamily="34" charset="-122"/>
                <a:cs typeface="Arial" pitchFamily="34" charset="-120"/>
              </a:rPr>
              <a:t>Dharif</a:t>
            </a:r>
            <a:endParaRPr lang="en-US" sz="1500" dirty="0"/>
          </a:p>
        </p:txBody>
      </p:sp>
      <p:sp>
        <p:nvSpPr>
          <p:cNvPr id="32" name="!!f_kramaru"/>
          <p:cNvSpPr/>
          <p:nvPr/>
        </p:nvSpPr>
        <p:spPr>
          <a:xfrm>
            <a:off x="3141666" y="2223704"/>
            <a:ext cx="228600" cy="228600"/>
          </a:xfrm>
          <a:prstGeom prst="ellipse">
            <a:avLst/>
          </a:prstGeom>
          <a:solidFill>
            <a:srgbClr val="FF9F0A"/>
          </a:solidFill>
          <a:ln/>
          <a:effectLst>
            <a:outerShdw sx="100000" sy="100000" kx="0" ky="0" algn="bl" rotWithShape="0" blurRad="228600" dist="50800" dir="5400000">
              <a:srgbClr val="FF9F0A">
                <a:alpha val="90000"/>
              </a:srgbClr>
            </a:outerShdw>
          </a:effectLst>
        </p:spPr>
      </p:sp>
      <p:sp>
        <p:nvSpPr>
          <p:cNvPr id="33" name="!!fl_kramaru"/>
          <p:cNvSpPr txBox="1"/>
          <p:nvPr/>
        </p:nvSpPr>
        <p:spPr>
          <a:xfrm>
            <a:off x="3438846" y="2182556"/>
            <a:ext cx="1783080" cy="310896"/>
          </a:xfrm>
          <a:prstGeom prst="rect">
            <a:avLst/>
          </a:prstGeom>
          <a:noFill/>
          <a:ln/>
        </p:spPr>
        <p:txBody>
          <a:bodyPr wrap="square" lIns="0" tIns="0" rIns="0" bIns="0" rtlCol="0" anchor="t"/>
          <a:lstStyle/>
          <a:p>
            <a:pPr algn="l" indent="0" marL="0">
              <a:buNone/>
            </a:pPr>
            <a:r>
              <a:rPr lang="en-US" sz="1500" b="1" dirty="0">
                <a:solidFill>
                  <a:schemeClr val="tx1"/>
                </a:solidFill>
                <a:effectLst>
                  <a:glow rad="76200">
                    <a:srgbClr val="141416">
                      <a:alpha val="85000"/>
                    </a:srgbClr>
                  </a:glow>
                </a:effectLst>
                <a:latin typeface="Arial" pitchFamily="34" charset="0"/>
                <a:ea typeface="Arial" pitchFamily="34" charset="-122"/>
                <a:cs typeface="Arial" pitchFamily="34" charset="-120"/>
              </a:rPr>
              <a:t>Kra Al-Maru</a:t>
            </a:r>
            <a:endParaRPr lang="en-US" sz="1500" dirty="0"/>
          </a:p>
        </p:txBody>
      </p:sp>
      <p:sp>
        <p:nvSpPr>
          <p:cNvPr id="34" name="!!f_wafra"/>
          <p:cNvSpPr/>
          <p:nvPr/>
        </p:nvSpPr>
        <p:spPr>
          <a:xfrm>
            <a:off x="5407877" y="5835373"/>
            <a:ext cx="182880" cy="182880"/>
          </a:xfrm>
          <a:prstGeom prst="ellipse">
            <a:avLst/>
          </a:prstGeom>
          <a:solidFill>
            <a:srgbClr val="FF9F0A">
              <a:alpha val="0"/>
            </a:srgbClr>
          </a:solidFill>
          <a:ln/>
        </p:spPr>
      </p:sp>
      <p:sp>
        <p:nvSpPr>
          <p:cNvPr id="35" name="!!fl_wafra"/>
          <p:cNvSpPr txBox="1"/>
          <p:nvPr/>
        </p:nvSpPr>
        <p:spPr>
          <a:xfrm>
            <a:off x="5841234" y="5665347"/>
            <a:ext cx="1737360" cy="274320"/>
          </a:xfrm>
          <a:prstGeom prst="rect">
            <a:avLst/>
          </a:prstGeom>
          <a:noFill/>
          <a:ln/>
        </p:spPr>
        <p:txBody>
          <a:bodyPr wrap="square" lIns="0" tIns="0" rIns="0" bIns="0" rtlCol="0" anchor="t"/>
          <a:lstStyle/>
          <a:p>
            <a:pPr algn="l" indent="0" marL="0">
              <a:buNone/>
            </a:pPr>
            <a:r>
              <a:rPr lang="en-US" sz="1300" dirty="0">
                <a:solidFill>
                  <a:schemeClr val="tx1">
                    <a:alpha val="0"/>
                  </a:schemeClr>
                </a:solidFill>
                <a:latin typeface="Arial" pitchFamily="34" charset="0"/>
                <a:ea typeface="Arial" pitchFamily="34" charset="-122"/>
                <a:cs typeface="Arial" pitchFamily="34" charset="-120"/>
              </a:rPr>
              <a:t>Wafra</a:t>
            </a:r>
            <a:endParaRPr lang="en-US" sz="1300" dirty="0"/>
          </a:p>
        </p:txBody>
      </p:sp>
      <p:sp>
        <p:nvSpPr>
          <p:cNvPr id="36" name="!!f_khafji"/>
          <p:cNvSpPr/>
          <p:nvPr/>
        </p:nvSpPr>
        <p:spPr>
          <a:xfrm>
            <a:off x="9443865" y="6044372"/>
            <a:ext cx="274320" cy="274320"/>
          </a:xfrm>
          <a:prstGeom prst="ellipse">
            <a:avLst/>
          </a:prstGeom>
          <a:solidFill>
            <a:srgbClr val="FF9F0A">
              <a:alpha val="0"/>
            </a:srgbClr>
          </a:solidFill>
          <a:ln/>
        </p:spPr>
      </p:sp>
      <p:sp>
        <p:nvSpPr>
          <p:cNvPr id="37" name="!!fl_khafji"/>
          <p:cNvSpPr txBox="1"/>
          <p:nvPr/>
        </p:nvSpPr>
        <p:spPr>
          <a:xfrm>
            <a:off x="9983280" y="5920066"/>
            <a:ext cx="1737360" cy="274320"/>
          </a:xfrm>
          <a:prstGeom prst="rect">
            <a:avLst/>
          </a:prstGeom>
          <a:noFill/>
          <a:ln/>
        </p:spPr>
        <p:txBody>
          <a:bodyPr wrap="square" lIns="0" tIns="0" rIns="0" bIns="0" rtlCol="0" anchor="t"/>
          <a:lstStyle/>
          <a:p>
            <a:pPr algn="l" indent="0" marL="0">
              <a:buNone/>
            </a:pPr>
            <a:r>
              <a:rPr lang="en-US" sz="1300" dirty="0">
                <a:solidFill>
                  <a:schemeClr val="tx1">
                    <a:alpha val="0"/>
                  </a:schemeClr>
                </a:solidFill>
                <a:latin typeface="Arial" pitchFamily="34" charset="0"/>
                <a:ea typeface="Arial" pitchFamily="34" charset="-122"/>
                <a:cs typeface="Arial" pitchFamily="34" charset="-120"/>
              </a:rPr>
              <a:t>Khafji</a:t>
            </a:r>
            <a:endParaRPr lang="en-US" sz="1300" dirty="0"/>
          </a:p>
        </p:txBody>
      </p:sp>
      <p:sp>
        <p:nvSpPr>
          <p:cNvPr id="38" name="!!f_hout"/>
          <p:cNvSpPr/>
          <p:nvPr/>
        </p:nvSpPr>
        <p:spPr>
          <a:xfrm>
            <a:off x="9489585" y="4725525"/>
            <a:ext cx="182880" cy="182880"/>
          </a:xfrm>
          <a:prstGeom prst="ellipse">
            <a:avLst/>
          </a:prstGeom>
          <a:solidFill>
            <a:srgbClr val="FF9F0A">
              <a:alpha val="0"/>
            </a:srgbClr>
          </a:solidFill>
          <a:ln/>
        </p:spPr>
      </p:sp>
      <p:sp>
        <p:nvSpPr>
          <p:cNvPr id="39" name="!!f_dorra"/>
          <p:cNvSpPr/>
          <p:nvPr/>
        </p:nvSpPr>
        <p:spPr>
          <a:xfrm>
            <a:off x="10237972" y="4147625"/>
            <a:ext cx="274320" cy="274320"/>
          </a:xfrm>
          <a:prstGeom prst="ellipse">
            <a:avLst/>
          </a:prstGeom>
          <a:solidFill>
            <a:srgbClr val="64D2FF">
              <a:alpha val="0"/>
            </a:srgbClr>
          </a:solidFill>
          <a:ln/>
        </p:spPr>
      </p:sp>
      <p:sp>
        <p:nvSpPr>
          <p:cNvPr id="40" name="!!fl_dorra"/>
          <p:cNvSpPr txBox="1"/>
          <p:nvPr/>
        </p:nvSpPr>
        <p:spPr>
          <a:xfrm>
            <a:off x="10777386" y="4023319"/>
            <a:ext cx="1737360" cy="274320"/>
          </a:xfrm>
          <a:prstGeom prst="rect">
            <a:avLst/>
          </a:prstGeom>
          <a:noFill/>
          <a:ln/>
        </p:spPr>
        <p:txBody>
          <a:bodyPr wrap="square" lIns="0" tIns="0" rIns="0" bIns="0" rtlCol="0" anchor="t"/>
          <a:lstStyle/>
          <a:p>
            <a:pPr algn="l" indent="0" marL="0">
              <a:buNone/>
            </a:pPr>
            <a:r>
              <a:rPr lang="en-US" sz="1300" dirty="0">
                <a:solidFill>
                  <a:schemeClr val="tx1">
                    <a:alpha val="0"/>
                  </a:schemeClr>
                </a:solidFill>
                <a:latin typeface="Arial" pitchFamily="34" charset="0"/>
                <a:ea typeface="Arial" pitchFamily="34" charset="-122"/>
                <a:cs typeface="Arial" pitchFamily="34" charset="-120"/>
              </a:rPr>
              <a:t>Dorra (gas)</a:t>
            </a:r>
            <a:endParaRPr lang="en-US" sz="1300" dirty="0"/>
          </a:p>
        </p:txBody>
      </p:sp>
      <p:sp>
        <p:nvSpPr>
          <p:cNvPr id="41" name="!!f_nokhatha"/>
          <p:cNvSpPr/>
          <p:nvPr/>
        </p:nvSpPr>
        <p:spPr>
          <a:xfrm>
            <a:off x="8639891" y="2073719"/>
            <a:ext cx="182880" cy="182880"/>
          </a:xfrm>
          <a:prstGeom prst="ellipse">
            <a:avLst/>
          </a:prstGeom>
          <a:solidFill>
            <a:srgbClr val="FF9F0A">
              <a:alpha val="0"/>
            </a:srgbClr>
          </a:solidFill>
          <a:ln/>
        </p:spPr>
      </p:sp>
      <p:sp>
        <p:nvSpPr>
          <p:cNvPr id="42" name="!!fl_nokhatha"/>
          <p:cNvSpPr txBox="1"/>
          <p:nvPr/>
        </p:nvSpPr>
        <p:spPr>
          <a:xfrm>
            <a:off x="9073248" y="1903693"/>
            <a:ext cx="1737360" cy="274320"/>
          </a:xfrm>
          <a:prstGeom prst="rect">
            <a:avLst/>
          </a:prstGeom>
          <a:noFill/>
          <a:ln/>
        </p:spPr>
        <p:txBody>
          <a:bodyPr wrap="square" lIns="0" tIns="0" rIns="0" bIns="0" rtlCol="0" anchor="t"/>
          <a:lstStyle/>
          <a:p>
            <a:pPr algn="l" indent="0" marL="0">
              <a:buNone/>
            </a:pPr>
            <a:r>
              <a:rPr lang="en-US" sz="1300" dirty="0">
                <a:solidFill>
                  <a:schemeClr val="tx1">
                    <a:alpha val="0"/>
                  </a:schemeClr>
                </a:solidFill>
                <a:latin typeface="Arial" pitchFamily="34" charset="0"/>
                <a:ea typeface="Arial" pitchFamily="34" charset="-122"/>
                <a:cs typeface="Arial" pitchFamily="34" charset="-120"/>
              </a:rPr>
              <a:t>Al-Nokhatha (2024)</a:t>
            </a:r>
            <a:endParaRPr lang="en-US" sz="1300" dirty="0"/>
          </a:p>
        </p:txBody>
      </p:sp>
      <p:sp>
        <p:nvSpPr>
          <p:cNvPr id="43" name="!!f_jlaiaa"/>
          <p:cNvSpPr/>
          <p:nvPr/>
        </p:nvSpPr>
        <p:spPr>
          <a:xfrm>
            <a:off x="8584304" y="4766462"/>
            <a:ext cx="182880" cy="182880"/>
          </a:xfrm>
          <a:prstGeom prst="ellipse">
            <a:avLst/>
          </a:prstGeom>
          <a:solidFill>
            <a:srgbClr val="FF9F0A">
              <a:alpha val="0"/>
            </a:srgbClr>
          </a:solidFill>
          <a:ln/>
        </p:spPr>
      </p:sp>
      <p:sp>
        <p:nvSpPr>
          <p:cNvPr id="44" name="!!f_kwcity"/>
          <p:cNvSpPr/>
          <p:nvPr/>
        </p:nvSpPr>
        <p:spPr>
          <a:xfrm>
            <a:off x="5771602" y="2292143"/>
            <a:ext cx="146304" cy="146304"/>
          </a:xfrm>
          <a:prstGeom prst="ellipse">
            <a:avLst/>
          </a:prstGeom>
          <a:solidFill>
            <a:srgbClr val="000000">
              <a:alpha val="0"/>
            </a:srgbClr>
          </a:solidFill>
          <a:ln w="22225">
            <a:solidFill>
              <a:srgbClr val="4A4A4F"/>
            </a:solidFill>
            <a:prstDash val="solid"/>
          </a:ln>
        </p:spPr>
      </p:sp>
      <p:sp>
        <p:nvSpPr>
          <p:cNvPr id="45" name="!!fl_kwcity"/>
          <p:cNvSpPr txBox="1"/>
          <p:nvPr/>
        </p:nvSpPr>
        <p:spPr>
          <a:xfrm>
            <a:off x="6146445" y="2083717"/>
            <a:ext cx="1737360" cy="274320"/>
          </a:xfrm>
          <a:prstGeom prst="rect">
            <a:avLst/>
          </a:prstGeom>
          <a:noFill/>
          <a:ln/>
        </p:spPr>
        <p:txBody>
          <a:bodyPr wrap="square" lIns="0" tIns="0" rIns="0" bIns="0" rtlCol="0" anchor="t"/>
          <a:lstStyle/>
          <a:p>
            <a:pPr algn="l" indent="0" marL="0">
              <a:buNone/>
            </a:pPr>
            <a:r>
              <a:rPr lang="en-US" sz="1300" dirty="0">
                <a:solidFill>
                  <a:schemeClr val="tx1">
                    <a:alpha val="0"/>
                  </a:schemeClr>
                </a:solidFill>
                <a:latin typeface="Arial" pitchFamily="34" charset="0"/>
                <a:ea typeface="Arial" pitchFamily="34" charset="-122"/>
                <a:cs typeface="Arial" pitchFamily="34" charset="-120"/>
              </a:rPr>
              <a:t>Kuwait City</a:t>
            </a:r>
            <a:endParaRPr lang="en-US" sz="1300" dirty="0"/>
          </a:p>
        </p:txBody>
      </p:sp>
      <p:sp>
        <p:nvSpPr>
          <p:cNvPr id="46" name="!!f_ahmadi"/>
          <p:cNvSpPr/>
          <p:nvPr/>
        </p:nvSpPr>
        <p:spPr>
          <a:xfrm rot="2700000">
            <a:off x="6529974" y="3679452"/>
            <a:ext cx="146304" cy="146304"/>
          </a:xfrm>
          <a:prstGeom prst="rect">
            <a:avLst/>
          </a:prstGeom>
          <a:solidFill>
            <a:srgbClr val="4A4A4F"/>
          </a:solidFill>
          <a:ln/>
        </p:spPr>
      </p:sp>
      <p:sp>
        <p:nvSpPr>
          <p:cNvPr id="47" name="!!fl_ahmadi"/>
          <p:cNvSpPr txBox="1"/>
          <p:nvPr/>
        </p:nvSpPr>
        <p:spPr>
          <a:xfrm>
            <a:off x="6904816" y="3471026"/>
            <a:ext cx="1737360" cy="274320"/>
          </a:xfrm>
          <a:prstGeom prst="rect">
            <a:avLst/>
          </a:prstGeom>
          <a:noFill/>
          <a:ln/>
        </p:spPr>
        <p:txBody>
          <a:bodyPr wrap="square" lIns="0" tIns="0" rIns="0" bIns="0" rtlCol="0" anchor="t"/>
          <a:lstStyle/>
          <a:p>
            <a:pPr algn="l" indent="0" marL="0">
              <a:buNone/>
            </a:pPr>
            <a:r>
              <a:rPr lang="en-US" sz="1300" dirty="0">
                <a:solidFill>
                  <a:schemeClr val="tx1">
                    <a:alpha val="0"/>
                  </a:schemeClr>
                </a:solidFill>
                <a:latin typeface="Arial" pitchFamily="34" charset="0"/>
                <a:ea typeface="Arial" pitchFamily="34" charset="-122"/>
                <a:cs typeface="Arial" pitchFamily="34" charset="-120"/>
              </a:rPr>
              <a:t>Mina Al-Ahmadi</a:t>
            </a:r>
            <a:endParaRPr lang="en-US" sz="1300" dirty="0"/>
          </a:p>
        </p:txBody>
      </p:sp>
      <p:sp>
        <p:nvSpPr>
          <p:cNvPr id="48" name="!!f_abdullah"/>
          <p:cNvSpPr/>
          <p:nvPr/>
        </p:nvSpPr>
        <p:spPr>
          <a:xfrm rot="2700000">
            <a:off x="6529974" y="3984205"/>
            <a:ext cx="146304" cy="146304"/>
          </a:xfrm>
          <a:prstGeom prst="rect">
            <a:avLst/>
          </a:prstGeom>
          <a:solidFill>
            <a:srgbClr val="4A4A4F"/>
          </a:solidFill>
          <a:ln/>
        </p:spPr>
      </p:sp>
      <p:sp>
        <p:nvSpPr>
          <p:cNvPr id="49" name="!!f_zour"/>
          <p:cNvSpPr/>
          <p:nvPr/>
        </p:nvSpPr>
        <p:spPr>
          <a:xfrm rot="2700000">
            <a:off x="7455108" y="5198669"/>
            <a:ext cx="146304" cy="146304"/>
          </a:xfrm>
          <a:prstGeom prst="rect">
            <a:avLst/>
          </a:prstGeom>
          <a:solidFill>
            <a:srgbClr val="F5F5F7">
              <a:alpha val="0"/>
            </a:srgbClr>
          </a:solidFill>
          <a:ln/>
        </p:spPr>
      </p:sp>
      <p:sp>
        <p:nvSpPr>
          <p:cNvPr id="50" name="!!fl_zour"/>
          <p:cNvSpPr txBox="1"/>
          <p:nvPr/>
        </p:nvSpPr>
        <p:spPr>
          <a:xfrm>
            <a:off x="3264363" y="4990243"/>
            <a:ext cx="1737360" cy="274320"/>
          </a:xfrm>
          <a:prstGeom prst="rect">
            <a:avLst/>
          </a:prstGeom>
          <a:noFill/>
          <a:ln/>
        </p:spPr>
        <p:txBody>
          <a:bodyPr wrap="square" lIns="0" tIns="0" rIns="0" bIns="0" rtlCol="0" anchor="t"/>
          <a:lstStyle/>
          <a:p>
            <a:pPr algn="r" indent="0" marL="0">
              <a:buNone/>
            </a:pPr>
            <a:r>
              <a:rPr lang="en-US" sz="1300" dirty="0">
                <a:solidFill>
                  <a:schemeClr val="tx1">
                    <a:alpha val="0"/>
                  </a:schemeClr>
                </a:solidFill>
                <a:latin typeface="Arial" pitchFamily="34" charset="0"/>
                <a:ea typeface="Arial" pitchFamily="34" charset="-122"/>
                <a:cs typeface="Arial" pitchFamily="34" charset="-120"/>
              </a:rPr>
              <a:t>Al-Zour</a:t>
            </a:r>
            <a:endParaRPr lang="en-US" sz="1300" dirty="0"/>
          </a:p>
        </p:txBody>
      </p:sp>
      <p:sp>
        <p:nvSpPr>
          <p:cNvPr id="51" name="!!f_ahmaditown"/>
          <p:cNvSpPr/>
          <p:nvPr/>
        </p:nvSpPr>
        <p:spPr>
          <a:xfrm>
            <a:off x="6200419" y="3633966"/>
            <a:ext cx="146304" cy="146304"/>
          </a:xfrm>
          <a:prstGeom prst="ellipse">
            <a:avLst/>
          </a:prstGeom>
          <a:solidFill>
            <a:srgbClr val="000000">
              <a:alpha val="0"/>
            </a:srgbClr>
          </a:solidFill>
          <a:ln w="22225">
            <a:solidFill>
              <a:srgbClr val="4A4A4F"/>
            </a:solidFill>
            <a:prstDash val="solid"/>
          </a:ln>
        </p:spPr>
      </p:sp>
      <p:sp>
        <p:nvSpPr>
          <p:cNvPr id="52" name="!!zsw0_bg"/>
          <p:cNvSpPr/>
          <p:nvPr/>
        </p:nvSpPr>
        <p:spPr>
          <a:xfrm>
            <a:off x="548640" y="5449824"/>
            <a:ext cx="1620774" cy="365760"/>
          </a:xfrm>
          <a:prstGeom prst="roundRect">
            <a:avLst>
              <a:gd name="adj" fmla="val 50000"/>
            </a:avLst>
          </a:prstGeom>
          <a:solidFill>
            <a:srgbClr val="2C2C2E"/>
          </a:solidFill>
          <a:ln/>
        </p:spPr>
      </p:sp>
      <p:sp>
        <p:nvSpPr>
          <p:cNvPr id="53" name="!!zsw0_tx"/>
          <p:cNvSpPr txBox="1"/>
          <p:nvPr/>
        </p:nvSpPr>
        <p:spPr>
          <a:xfrm>
            <a:off x="548640" y="5449824"/>
            <a:ext cx="1620774" cy="365760"/>
          </a:xfrm>
          <a:prstGeom prst="rect">
            <a:avLst/>
          </a:prstGeom>
          <a:noFill/>
          <a:ln/>
        </p:spPr>
        <p:txBody>
          <a:bodyPr wrap="square" lIns="0" tIns="0" rIns="0" bIns="0" rtlCol="0" anchor="ctr"/>
          <a:lstStyle/>
          <a:p>
            <a:pPr algn="ctr" indent="0" marL="0">
              <a:buNone/>
            </a:pPr>
            <a:r>
              <a:rPr lang="en-US" sz="1400" b="1" dirty="0">
                <a:solidFill>
                  <a:schemeClr val="tx1"/>
                </a:solidFill>
                <a:latin typeface="Arial" pitchFamily="34" charset="0"/>
                <a:ea typeface="Arial" pitchFamily="34" charset="-122"/>
                <a:cs typeface="Arial" pitchFamily="34" charset="-120"/>
              </a:rPr>
              <a:t>South &amp; East</a:t>
            </a:r>
            <a:endParaRPr lang="en-US" sz="1400" dirty="0"/>
          </a:p>
        </p:txBody>
      </p:sp>
      <p:sp>
        <p:nvSpPr>
          <p:cNvPr id="54" name="!!zsw0_hit">
            <a:hlinkClick r:id="rId4" tooltip="Zoom to South &amp; East Kuwait" action="ppaction://hlinksldjump" highlightClick="1"/>
          </p:cNvPr>
          <p:cNvSpPr/>
          <p:nvPr/>
        </p:nvSpPr>
        <p:spPr>
          <a:xfrm>
            <a:off x="548640" y="5449824"/>
            <a:ext cx="1620774" cy="365760"/>
          </a:xfrm>
          <a:prstGeom prst="roundRect">
            <a:avLst>
              <a:gd name="adj" fmla="val 50000"/>
            </a:avLst>
          </a:prstGeom>
          <a:solidFill>
            <a:srgbClr val="000000">
              <a:alpha val="0"/>
            </a:srgbClr>
          </a:solidFill>
          <a:ln/>
        </p:spPr>
      </p:sp>
      <p:sp>
        <p:nvSpPr>
          <p:cNvPr id="55" name="!!zsw1_bg"/>
          <p:cNvSpPr/>
          <p:nvPr/>
        </p:nvSpPr>
        <p:spPr>
          <a:xfrm>
            <a:off x="2279142" y="5449824"/>
            <a:ext cx="1620774" cy="365760"/>
          </a:xfrm>
          <a:prstGeom prst="roundRect">
            <a:avLst>
              <a:gd name="adj" fmla="val 50000"/>
            </a:avLst>
          </a:prstGeom>
          <a:solidFill>
            <a:srgbClr val="2C2C2E"/>
          </a:solidFill>
          <a:ln/>
        </p:spPr>
      </p:sp>
      <p:sp>
        <p:nvSpPr>
          <p:cNvPr id="56" name="!!zsw1_tx"/>
          <p:cNvSpPr txBox="1"/>
          <p:nvPr/>
        </p:nvSpPr>
        <p:spPr>
          <a:xfrm>
            <a:off x="2279142" y="5449824"/>
            <a:ext cx="1620774" cy="365760"/>
          </a:xfrm>
          <a:prstGeom prst="rect">
            <a:avLst/>
          </a:prstGeom>
          <a:noFill/>
          <a:ln/>
        </p:spPr>
        <p:txBody>
          <a:bodyPr wrap="square" lIns="0" tIns="0" rIns="0" bIns="0" rtlCol="0" anchor="ctr"/>
          <a:lstStyle/>
          <a:p>
            <a:pPr algn="ctr" indent="0" marL="0">
              <a:buNone/>
            </a:pPr>
            <a:r>
              <a:rPr lang="en-US" sz="1400" b="1" dirty="0">
                <a:solidFill>
                  <a:schemeClr val="tx1"/>
                </a:solidFill>
                <a:latin typeface="Arial" pitchFamily="34" charset="0"/>
                <a:ea typeface="Arial" pitchFamily="34" charset="-122"/>
                <a:cs typeface="Arial" pitchFamily="34" charset="-120"/>
              </a:rPr>
              <a:t>North</a:t>
            </a:r>
            <a:endParaRPr lang="en-US" sz="1400" dirty="0"/>
          </a:p>
        </p:txBody>
      </p:sp>
      <p:sp>
        <p:nvSpPr>
          <p:cNvPr id="57" name="!!zsw1_hit">
            <a:hlinkClick r:id="rId5" tooltip="Zoom to North Kuwait" action="ppaction://hlinksldjump" highlightClick="1"/>
          </p:cNvPr>
          <p:cNvSpPr/>
          <p:nvPr/>
        </p:nvSpPr>
        <p:spPr>
          <a:xfrm>
            <a:off x="2279142" y="5449824"/>
            <a:ext cx="1620774" cy="365760"/>
          </a:xfrm>
          <a:prstGeom prst="roundRect">
            <a:avLst>
              <a:gd name="adj" fmla="val 50000"/>
            </a:avLst>
          </a:prstGeom>
          <a:solidFill>
            <a:srgbClr val="000000">
              <a:alpha val="0"/>
            </a:srgbClr>
          </a:solidFill>
          <a:ln/>
        </p:spPr>
      </p:sp>
      <p:sp>
        <p:nvSpPr>
          <p:cNvPr id="58" name="!!zsw2_bg"/>
          <p:cNvSpPr/>
          <p:nvPr/>
        </p:nvSpPr>
        <p:spPr>
          <a:xfrm>
            <a:off x="4009644" y="5449824"/>
            <a:ext cx="1620774" cy="365760"/>
          </a:xfrm>
          <a:prstGeom prst="roundRect">
            <a:avLst>
              <a:gd name="adj" fmla="val 50000"/>
            </a:avLst>
          </a:prstGeom>
          <a:solidFill>
            <a:srgbClr val="FF9F0A"/>
          </a:solidFill>
          <a:ln/>
        </p:spPr>
      </p:sp>
      <p:sp>
        <p:nvSpPr>
          <p:cNvPr id="59" name="!!zsw2_tx"/>
          <p:cNvSpPr txBox="1"/>
          <p:nvPr/>
        </p:nvSpPr>
        <p:spPr>
          <a:xfrm>
            <a:off x="4009644" y="5449824"/>
            <a:ext cx="1620774"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West</a:t>
            </a:r>
            <a:endParaRPr lang="en-US" sz="1400" dirty="0"/>
          </a:p>
        </p:txBody>
      </p:sp>
      <p:sp>
        <p:nvSpPr>
          <p:cNvPr id="60" name="!!zsw3_bg"/>
          <p:cNvSpPr/>
          <p:nvPr/>
        </p:nvSpPr>
        <p:spPr>
          <a:xfrm>
            <a:off x="5740146" y="5449824"/>
            <a:ext cx="1620774" cy="365760"/>
          </a:xfrm>
          <a:prstGeom prst="roundRect">
            <a:avLst>
              <a:gd name="adj" fmla="val 50000"/>
            </a:avLst>
          </a:prstGeom>
          <a:solidFill>
            <a:srgbClr val="2C2C2E"/>
          </a:solidFill>
          <a:ln/>
        </p:spPr>
      </p:sp>
      <p:sp>
        <p:nvSpPr>
          <p:cNvPr id="61" name="!!zsw3_tx"/>
          <p:cNvSpPr txBox="1"/>
          <p:nvPr/>
        </p:nvSpPr>
        <p:spPr>
          <a:xfrm>
            <a:off x="5740146" y="5449824"/>
            <a:ext cx="1620774" cy="365760"/>
          </a:xfrm>
          <a:prstGeom prst="rect">
            <a:avLst/>
          </a:prstGeom>
          <a:noFill/>
          <a:ln/>
        </p:spPr>
        <p:txBody>
          <a:bodyPr wrap="square" lIns="0" tIns="0" rIns="0" bIns="0" rtlCol="0" anchor="ctr"/>
          <a:lstStyle/>
          <a:p>
            <a:pPr algn="ctr" indent="0" marL="0">
              <a:buNone/>
            </a:pPr>
            <a:r>
              <a:rPr lang="en-US" sz="1400" b="1" dirty="0">
                <a:solidFill>
                  <a:schemeClr val="tx1"/>
                </a:solidFill>
                <a:latin typeface="Arial" pitchFamily="34" charset="0"/>
                <a:ea typeface="Arial" pitchFamily="34" charset="-122"/>
                <a:cs typeface="Arial" pitchFamily="34" charset="-120"/>
              </a:rPr>
              <a:t>PZ &amp; offshore</a:t>
            </a:r>
            <a:endParaRPr lang="en-US" sz="1400" dirty="0"/>
          </a:p>
        </p:txBody>
      </p:sp>
      <p:sp>
        <p:nvSpPr>
          <p:cNvPr id="62" name="!!zsw3_hit">
            <a:hlinkClick r:id="rId6" tooltip="Zoom to Partitioned Zone &amp; offshore" action="ppaction://hlinksldjump" highlightClick="1"/>
          </p:cNvPr>
          <p:cNvSpPr/>
          <p:nvPr/>
        </p:nvSpPr>
        <p:spPr>
          <a:xfrm>
            <a:off x="5740146" y="5449824"/>
            <a:ext cx="1620774" cy="365760"/>
          </a:xfrm>
          <a:prstGeom prst="roundRect">
            <a:avLst>
              <a:gd name="adj" fmla="val 50000"/>
            </a:avLst>
          </a:prstGeom>
          <a:solidFill>
            <a:srgbClr val="000000">
              <a:alpha val="0"/>
            </a:srgbClr>
          </a:solidFill>
          <a:ln/>
        </p:spPr>
      </p:sp>
      <p:sp>
        <p:nvSpPr>
          <p:cNvPr id="63" name="!!zlist"/>
          <p:cNvSpPr txBox="1"/>
          <p:nvPr/>
        </p:nvSpPr>
        <p:spPr>
          <a:xfrm>
            <a:off x="7726680" y="1801368"/>
            <a:ext cx="3916375" cy="3529584"/>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Minagish</a:t>
            </a:r>
            <a:endParaRPr lang="en-US" sz="1600" dirty="0"/>
          </a:p>
          <a:p>
            <a:pPr indent="0" marL="0">
              <a:buNone/>
            </a:pPr>
            <a:r>
              <a:rPr lang="en-US" sz="1400" dirty="0">
                <a:solidFill>
                  <a:schemeClr val="tx2"/>
                </a:solidFill>
                <a:latin typeface="Arial" pitchFamily="34" charset="0"/>
                <a:ea typeface="Arial" pitchFamily="34" charset="-122"/>
                <a:cs typeface="Arial" pitchFamily="34" charset="-120"/>
              </a:rPr>
              <a:t>1959 · Minagish Oolite, 22–26° API oil</a:t>
            </a:r>
            <a:endParaRPr lang="en-US" sz="1600" dirty="0"/>
          </a:p>
          <a:p>
            <a:pPr indent="0" marL="0">
              <a:spcBef>
                <a:spcPts val="900"/>
              </a:spcBef>
              <a:buNone/>
            </a:pPr>
            <a:r>
              <a:rPr lang="en-US" sz="1600" b="1" dirty="0">
                <a:solidFill>
                  <a:schemeClr val="tx1"/>
                </a:solidFill>
                <a:latin typeface="Arial" pitchFamily="34" charset="0"/>
                <a:ea typeface="Arial" pitchFamily="34" charset="-122"/>
                <a:cs typeface="Arial" pitchFamily="34" charset="-120"/>
              </a:rPr>
              <a:t>Umm Gudair</a:t>
            </a:r>
            <a:endParaRPr lang="en-US" sz="1600" dirty="0"/>
          </a:p>
          <a:p>
            <a:pPr indent="0" marL="0">
              <a:buNone/>
            </a:pPr>
            <a:r>
              <a:rPr lang="en-US" sz="1400" dirty="0">
                <a:solidFill>
                  <a:schemeClr val="tx2"/>
                </a:solidFill>
                <a:latin typeface="Arial" pitchFamily="34" charset="0"/>
                <a:ea typeface="Arial" pitchFamily="34" charset="-122"/>
                <a:cs typeface="Arial" pitchFamily="34" charset="-120"/>
              </a:rPr>
              <a:t>1962 · Minagish Oolite and Ratawi</a:t>
            </a:r>
            <a:endParaRPr lang="en-US" sz="1600" dirty="0"/>
          </a:p>
          <a:p>
            <a:pPr indent="0" marL="0">
              <a:spcBef>
                <a:spcPts val="900"/>
              </a:spcBef>
              <a:buNone/>
            </a:pPr>
            <a:r>
              <a:rPr lang="en-US" sz="1600" b="1" dirty="0">
                <a:solidFill>
                  <a:schemeClr val="tx1"/>
                </a:solidFill>
                <a:latin typeface="Arial" pitchFamily="34" charset="0"/>
                <a:ea typeface="Arial" pitchFamily="34" charset="-122"/>
                <a:cs typeface="Arial" pitchFamily="34" charset="-120"/>
              </a:rPr>
              <a:t>Abduliyah · Dharif</a:t>
            </a:r>
            <a:endParaRPr lang="en-US" sz="1600" dirty="0"/>
          </a:p>
          <a:p>
            <a:pPr indent="0" marL="0">
              <a:buNone/>
            </a:pPr>
            <a:r>
              <a:rPr lang="en-US" sz="1400" dirty="0">
                <a:solidFill>
                  <a:schemeClr val="tx2"/>
                </a:solidFill>
                <a:latin typeface="Arial" pitchFamily="34" charset="0"/>
                <a:ea typeface="Arial" pitchFamily="34" charset="-122"/>
                <a:cs typeface="Arial" pitchFamily="34" charset="-120"/>
              </a:rPr>
              <a:t>smaller West Kuwait oil fields</a:t>
            </a:r>
            <a:endParaRPr lang="en-US" sz="1600" dirty="0"/>
          </a:p>
          <a:p>
            <a:pPr indent="0" marL="0">
              <a:spcBef>
                <a:spcPts val="900"/>
              </a:spcBef>
              <a:buNone/>
            </a:pPr>
            <a:r>
              <a:rPr lang="en-US" sz="1600" b="1" dirty="0">
                <a:solidFill>
                  <a:schemeClr val="tx1"/>
                </a:solidFill>
                <a:latin typeface="Arial" pitchFamily="34" charset="0"/>
                <a:ea typeface="Arial" pitchFamily="34" charset="-122"/>
                <a:cs typeface="Arial" pitchFamily="34" charset="-120"/>
              </a:rPr>
              <a:t>Kra Al-Maru</a:t>
            </a:r>
            <a:endParaRPr lang="en-US" sz="1600" dirty="0"/>
          </a:p>
          <a:p>
            <a:pPr indent="0" marL="0">
              <a:buNone/>
            </a:pPr>
            <a:r>
              <a:rPr lang="en-US" sz="1400" dirty="0">
                <a:solidFill>
                  <a:schemeClr val="tx2"/>
                </a:solidFill>
                <a:latin typeface="Arial" pitchFamily="34" charset="0"/>
                <a:ea typeface="Arial" pitchFamily="34" charset="-122"/>
                <a:cs typeface="Arial" pitchFamily="34" charset="-120"/>
              </a:rPr>
              <a:t>1995 · Ratawi; Jurassic light oil</a:t>
            </a:r>
            <a:endParaRPr lang="en-US" sz="1600" dirty="0"/>
          </a:p>
        </p:txBody>
      </p:sp>
      <p:sp>
        <p:nvSpPr>
          <p:cNvPr id="64" name="!!zback_bg"/>
          <p:cNvSpPr/>
          <p:nvPr/>
        </p:nvSpPr>
        <p:spPr>
          <a:xfrm>
            <a:off x="7726680" y="5449824"/>
            <a:ext cx="2103120" cy="365760"/>
          </a:xfrm>
          <a:prstGeom prst="roundRect">
            <a:avLst>
              <a:gd name="adj" fmla="val 50000"/>
            </a:avLst>
          </a:prstGeom>
          <a:solidFill>
            <a:srgbClr val="2C2C2E"/>
          </a:solidFill>
          <a:ln w="15875">
            <a:solidFill>
              <a:srgbClr val="3A3A3C"/>
            </a:solidFill>
            <a:prstDash val="solid"/>
          </a:ln>
        </p:spPr>
      </p:sp>
      <p:pic>
        <p:nvPicPr>
          <p:cNvPr id="65" name="!!zback_ic" descr="Decorative graphic">    </p:cNvPr>
          <p:cNvPicPr>
            <a:picLocks noChangeAspect="1"/>
          </p:cNvPicPr>
          <p:nvPr/>
        </p:nvPicPr>
        <p:blipFill>
          <a:blip r:embed="rId7"/>
          <a:stretch>
            <a:fillRect/>
          </a:stretch>
        </p:blipFill>
        <p:spPr>
          <a:xfrm>
            <a:off x="8121625" y="5541264"/>
            <a:ext cx="182880" cy="182880"/>
          </a:xfrm>
          <a:prstGeom prst="rect">
            <a:avLst/>
          </a:prstGeom>
        </p:spPr>
      </p:pic>
      <p:sp>
        <p:nvSpPr>
          <p:cNvPr id="66" name="!!zback_tx"/>
          <p:cNvSpPr txBox="1"/>
          <p:nvPr/>
        </p:nvSpPr>
        <p:spPr>
          <a:xfrm>
            <a:off x="8377657" y="5449824"/>
            <a:ext cx="1240079" cy="365760"/>
          </a:xfrm>
          <a:prstGeom prst="rect">
            <a:avLst/>
          </a:prstGeom>
          <a:noFill/>
          <a:ln/>
        </p:spPr>
        <p:txBody>
          <a:bodyPr wrap="square" lIns="0" tIns="0" rIns="0" bIns="0" rtlCol="0" anchor="ctr"/>
          <a:lstStyle/>
          <a:p>
            <a:pPr algn="l" indent="0" marL="0">
              <a:buNone/>
            </a:pPr>
            <a:r>
              <a:rPr lang="en-US" sz="1400" b="1" dirty="0">
                <a:solidFill>
                  <a:schemeClr val="tx1"/>
                </a:solidFill>
                <a:latin typeface="Arial" pitchFamily="34" charset="0"/>
                <a:ea typeface="Arial" pitchFamily="34" charset="-122"/>
                <a:cs typeface="Arial" pitchFamily="34" charset="-120"/>
              </a:rPr>
              <a:t>Back to map</a:t>
            </a:r>
            <a:endParaRPr lang="en-US" sz="1400" dirty="0"/>
          </a:p>
        </p:txBody>
      </p:sp>
      <p:sp>
        <p:nvSpPr>
          <p:cNvPr id="67" name="!!zback_hit">
            <a:hlinkClick r:id="rId8" tooltip="Back to map" action="ppaction://hlinksldjump" highlightClick="1"/>
          </p:cNvPr>
          <p:cNvSpPr/>
          <p:nvPr/>
        </p:nvSpPr>
        <p:spPr>
          <a:xfrm>
            <a:off x="7726680" y="5449824"/>
            <a:ext cx="2103120" cy="365760"/>
          </a:xfrm>
          <a:prstGeom prst="roundRect">
            <a:avLst>
              <a:gd name="adj" fmla="val 50000"/>
            </a:avLst>
          </a:prstGeom>
          <a:solidFill>
            <a:srgbClr val="000000">
              <a:alpha val="0"/>
            </a:srgbClr>
          </a:solidFill>
          <a:ln/>
        </p:spPr>
      </p:sp>
      <p:sp>
        <p:nvSpPr>
          <p:cNvPr id="68" name="!!source"/>
          <p:cNvSpPr txBox="1"/>
          <p:nvPr/>
        </p:nvSpPr>
        <p:spPr>
          <a:xfrm>
            <a:off x="548640" y="5943600"/>
            <a:ext cx="9692640" cy="274320"/>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Sources: KPC (n.d.-a), KOC field map; Horn (2014); Naqi et al. (2023); KUNA (2024); Offshore Engineer (2025). Positions approximate.</a:t>
            </a:r>
            <a:endParaRPr lang="en-US" sz="1200" dirty="0"/>
          </a:p>
        </p:txBody>
      </p:sp>
      <p:sp>
        <p:nvSpPr>
          <p:cNvPr id="69" name="!!home_bg"/>
          <p:cNvSpPr/>
          <p:nvPr/>
        </p:nvSpPr>
        <p:spPr>
          <a:xfrm>
            <a:off x="10637215" y="6272784"/>
            <a:ext cx="384048" cy="384048"/>
          </a:xfrm>
          <a:prstGeom prst="roundRect">
            <a:avLst>
              <a:gd name="adj" fmla="val 23810"/>
            </a:avLst>
          </a:prstGeom>
          <a:solidFill>
            <a:srgbClr val="2C2C2E"/>
          </a:solidFill>
          <a:ln/>
        </p:spPr>
      </p:sp>
      <p:pic>
        <p:nvPicPr>
          <p:cNvPr id="70" name="!!home_ic" descr="Decorative graphic">    </p:cNvPr>
          <p:cNvPicPr>
            <a:picLocks noChangeAspect="1"/>
          </p:cNvPicPr>
          <p:nvPr/>
        </p:nvPicPr>
        <p:blipFill>
          <a:blip r:embed="rId9"/>
          <a:stretch>
            <a:fillRect/>
          </a:stretch>
        </p:blipFill>
        <p:spPr>
          <a:xfrm>
            <a:off x="10719511" y="6355080"/>
            <a:ext cx="219456" cy="219456"/>
          </a:xfrm>
          <a:prstGeom prst="rect">
            <a:avLst/>
          </a:prstGeom>
        </p:spPr>
      </p:pic>
      <p:sp>
        <p:nvSpPr>
          <p:cNvPr id="71" name="!!home_hit">
            <a:hlinkClick r:id="rId10" tooltip="Back to contents" action="ppaction://hlinksldjump" highlightClick="1"/>
          </p:cNvPr>
          <p:cNvSpPr/>
          <p:nvPr/>
        </p:nvSpPr>
        <p:spPr>
          <a:xfrm>
            <a:off x="10637215" y="6272784"/>
            <a:ext cx="384048" cy="384048"/>
          </a:xfrm>
          <a:prstGeom prst="roundRect">
            <a:avLst>
              <a:gd name="adj" fmla="val 23810"/>
            </a:avLst>
          </a:prstGeom>
          <a:solidFill>
            <a:srgbClr val="000000">
              <a:alpha val="0"/>
            </a:srgbClr>
          </a:solidFill>
          <a:ln/>
        </p:spPr>
      </p:sp>
      <p:sp>
        <p:nvSpPr>
          <p:cNvPr id="73" name="!!footer"/>
          <p:cNvSpPr txBox="1"/>
          <p:nvPr/>
        </p:nvSpPr>
        <p:spPr>
          <a:xfrm>
            <a:off x="548640" y="6327648"/>
            <a:ext cx="5486400" cy="292608"/>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Kuwait Oil &amp; Gas  ·  EGCH2230</a:t>
            </a:r>
            <a:endParaRPr lang="en-US" sz="1200" dirty="0"/>
          </a:p>
        </p:txBody>
      </p:sp>
      <p:sp>
        <p:nvSpPr>
          <p:cNvPr id="74" name="!!num"/>
          <p:cNvSpPr txBox="1"/>
          <p:nvPr/>
        </p:nvSpPr>
        <p:spPr>
          <a:xfrm>
            <a:off x="11094415" y="6327648"/>
            <a:ext cx="548640" cy="292608"/>
          </a:xfrm>
          <a:prstGeom prst="rect">
            <a:avLst/>
          </a:prstGeom>
          <a:noFill/>
          <a:ln/>
        </p:spPr>
        <p:txBody>
          <a:bodyPr wrap="square" lIns="0" tIns="0" rIns="0" bIns="0" rtlCol="0" anchor="ctr"/>
          <a:lstStyle/>
          <a:p>
            <a:pPr algn="r" indent="0" marL="0">
              <a:buNone/>
            </a:pPr>
            <a:r>
              <a:rPr lang="en-US" sz="1200" dirty="0">
                <a:solidFill>
                  <a:schemeClr val="tx2"/>
                </a:solidFill>
                <a:latin typeface="Arial" pitchFamily="34" charset="0"/>
                <a:ea typeface="Arial" pitchFamily="34" charset="-122"/>
                <a:cs typeface="Arial" pitchFamily="34" charset="-120"/>
              </a:rPr>
              <a:t>16</a:t>
            </a:r>
            <a:endParaRPr lang="en-US" sz="1200" dirty="0"/>
          </a:p>
        </p:txBody>
      </p:sp>
      <p:pic>
        <p:nvPicPr>
          <p:cNvPr id="75" name="!!badge" descr="University of Technology and Applied Sciences, Salalah">    </p:cNvPr>
          <p:cNvPicPr>
            <a:picLocks noChangeAspect="1"/>
          </p:cNvPicPr>
          <p:nvPr/>
        </p:nvPicPr>
        <p:blipFill>
          <a:blip r:embed="rId11"/>
          <a:stretch>
            <a:fillRect/>
          </a:stretch>
        </p:blipFill>
        <p:spPr>
          <a:xfrm>
            <a:off x="9677095" y="274320"/>
            <a:ext cx="1965960" cy="80987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4:dur="1400" advClick="0">
        <p159:morph option="byObject"/>
      </p:transition>
    </mc:Choice>
    <mc:Fallback>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0" presetClass="path" presetSubtype="0" fill="hold" grpId="0" nodeType="afterEffect" repeatCount="indefinite" autoRev="1">
                                  <p:stCondLst>
                                    <p:cond delay="0"/>
                                  </p:stCondLst>
                                  <p:childTnLst>
                                    <p:animMotion origin="layout" path="M 0 0 L 0.0350 -0.0300 E" pathEditMode="relative" ptsTypes="">
                                      <p:cBhvr>
                                        <p:cTn id="5" dur="13000" fill="hold" accel="50000" decel="50000"/>
                                        <p:tgtEl>
                                          <p:spTgt spid="2"/>
                                        </p:tgtEl>
                                        <p:attrNameLst>
                                          <p:attrName>ppt_x</p:attrName>
                                          <p:attrName>ppt_y</p:attrName>
                                        </p:attrNameLst>
                                      </p:cBhvr>
                                      <p:rCtr x="0" y="0"/>
                                    </p:animMotion>
                                  </p:childTnLst>
                                </p:cTn>
                              </p:par>
                              <p:par>
                                <p:cTn id="8" presetID="0" presetClass="path" presetSubtype="0" fill="hold" grpId="0" nodeType="withEffect" repeatCount="indefinite" autoRev="1">
                                  <p:stCondLst>
                                    <p:cond delay="0"/>
                                  </p:stCondLst>
                                  <p:childTnLst>
                                    <p:animMotion origin="layout" path="M 0 0 L -0.0300 0.0250 E" pathEditMode="relative" ptsTypes="">
                                      <p:cBhvr>
                                        <p:cTn id="7" dur="15000" fill="hold" accel="50000" decel="50000"/>
                                        <p:tgtEl>
                                          <p:spTgt spid="3"/>
                                        </p:tgtEl>
                                        <p:attrNameLst>
                                          <p:attrName>ppt_x</p:attrName>
                                          <p:attrName>ppt_y</p:attrName>
                                        </p:attrNameLst>
                                      </p:cBhvr>
                                      <p:rCtr x="0" y="0"/>
                                    </p:animMotion>
                                  </p:childTnLst>
                                </p:cTn>
                              </p:par>
                              <p:par>
                                <p:cTn id="10" presetID="6" presetClass="emph" presetSubtype="0" fill="hold" grpId="0" nodeType="withEffect" repeatCount="indefinite" autoRev="1">
                                  <p:stCondLst>
                                    <p:cond delay="1000"/>
                                  </p:stCondLst>
                                  <p:childTnLst>
                                    <p:animScale>
                                      <p:cBhvr>
                                        <p:cTn id="9" dur="1700" fill="hold" accel="50000" decel="50000"/>
                                        <p:tgtEl>
                                          <p:spTgt spid="24"/>
                                        </p:tgtEl>
                                      </p:cBhvr>
                                      <p:by x="120000" y="12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20.xml><?xml version="1.0" encoding="utf-8"?>
<p:sld xmlns:p14="http://schemas.microsoft.com/office/powerpoint/2010/main" xmlns:a="http://schemas.openxmlformats.org/drawingml/2006/main" xmlns:r="http://schemas.openxmlformats.org/officeDocument/2006/relationships" xmlns:p="http://schemas.openxmlformats.org/presentationml/2006/main" show="0">
  <p:cSld name="Slide 20">
    <p:spTree>
      <p:nvGrpSpPr>
        <p:cNvPr id="1" name=""/>
        <p:cNvGrpSpPr/>
        <p:nvPr/>
      </p:nvGrpSpPr>
      <p:grpSpPr>
        <a:xfrm>
          <a:off x="0" y="0"/>
          <a:ext cx="0" cy="0"/>
          <a:chOff x="0" y="0"/>
          <a:chExt cx="0" cy="0"/>
        </a:xfrm>
      </p:grpSpPr>
      <p:pic>
        <p:nvPicPr>
          <p:cNvPr id="2" name="!!orbA" descr="Decorative background light">    </p:cNvPr>
          <p:cNvPicPr>
            <a:picLocks noChangeAspect="1"/>
          </p:cNvPicPr>
          <p:nvPr/>
        </p:nvPicPr>
        <p:blipFill>
          <a:blip r:embed="rId1"/>
          <a:stretch>
            <a:fillRect/>
          </a:stretch>
        </p:blipFill>
        <p:spPr>
          <a:xfrm>
            <a:off x="777240" y="685800"/>
            <a:ext cx="7772400" cy="7772400"/>
          </a:xfrm>
          <a:prstGeom prst="rect">
            <a:avLst/>
          </a:prstGeom>
        </p:spPr>
      </p:pic>
      <p:pic>
        <p:nvPicPr>
          <p:cNvPr id="3" name="!!orbB" descr="Decorative background light">    </p:cNvPr>
          <p:cNvPicPr>
            <a:picLocks noChangeAspect="1"/>
          </p:cNvPicPr>
          <p:nvPr/>
        </p:nvPicPr>
        <p:blipFill>
          <a:blip r:embed="rId2"/>
          <a:stretch>
            <a:fillRect/>
          </a:stretch>
        </p:blipFill>
        <p:spPr>
          <a:xfrm>
            <a:off x="7132320" y="3108960"/>
            <a:ext cx="5486400" cy="5486400"/>
          </a:xfrm>
          <a:prstGeom prst="rect">
            <a:avLst/>
          </a:prstGeom>
        </p:spPr>
      </p:pic>
      <p:sp>
        <p:nvSpPr>
          <p:cNvPr id="4" name="!!kicker"/>
          <p:cNvSpPr/>
          <p:nvPr>
            <p:ph idx="100" type="body" hasCustomPrompt="1"/>
          </p:nvPr>
        </p:nvSpPr>
        <p:spPr>
          <a:xfrm>
            <a:off x="548640" y="384048"/>
            <a:ext cx="8732520" cy="329184"/>
          </a:xfrm>
          <a:prstGeom prst="rect">
            <a:avLst/>
          </a:prstGeom>
          <a:noFill/>
          <a:ln/>
        </p:spPr>
        <p:txBody>
          <a:bodyPr wrap="square" lIns="0" tIns="0" rIns="0" bIns="0" rtlCol="0" anchor="t"/>
          <a:lstStyle/>
          <a:p>
            <a:pPr algn="l" indent="0" marL="0">
              <a:buNone/>
            </a:pPr>
            <a:r>
              <a:rPr lang="en-US" sz="1500" b="1" spc="300" kern="0" dirty="0">
                <a:solidFill>
                  <a:schemeClr val="accent1"/>
                </a:solidFill>
              </a:rPr>
              <a:t>03 — RESERVOIR LOCATIONS  ·  ZOOM</a:t>
            </a:r>
            <a:endParaRPr lang="en-US" sz="1500" dirty="0"/>
          </a:p>
        </p:txBody>
      </p:sp>
      <p:sp>
        <p:nvSpPr>
          <p:cNvPr id="5" name="!!title"/>
          <p:cNvSpPr/>
          <p:nvPr>
            <p:ph idx="101" type="title" hasCustomPrompt="1"/>
          </p:nvPr>
        </p:nvSpPr>
        <p:spPr>
          <a:xfrm>
            <a:off x="548640" y="731520"/>
            <a:ext cx="8732520" cy="786384"/>
          </a:xfrm>
          <a:prstGeom prst="rect">
            <a:avLst/>
          </a:prstGeom>
          <a:noFill/>
          <a:ln/>
        </p:spPr>
        <p:txBody>
          <a:bodyPr wrap="square" lIns="0" tIns="0" rIns="0" bIns="0" rtlCol="0" anchor="t"/>
          <a:lstStyle/>
          <a:p>
            <a:pPr algn="l" indent="0" marL="0">
              <a:buNone/>
            </a:pPr>
            <a:r>
              <a:rPr lang="en-US" sz="3800" b="1" dirty="0">
                <a:solidFill>
                  <a:schemeClr val="tx1"/>
                </a:solidFill>
              </a:rPr>
              <a:t>Partitioned Zone &amp; offshore</a:t>
            </a:r>
            <a:endParaRPr lang="en-US" sz="3800" dirty="0"/>
          </a:p>
        </p:txBody>
      </p:sp>
      <p:pic>
        <p:nvPicPr>
          <p:cNvPr id="6" name="!!map" descr="Zoomed map of a Kuwaiti producing area">    </p:cNvPr>
          <p:cNvPicPr>
            <a:picLocks noChangeAspect="1"/>
          </p:cNvPicPr>
          <p:nvPr/>
        </p:nvPicPr>
        <p:blipFill>
          <a:blip r:embed="rId3"/>
          <a:srcRect l="32674" r="-20659" t="33333" b="9524"/>
          <a:stretch/>
        </p:blipFill>
        <p:spPr>
          <a:xfrm>
            <a:off x="548640" y="1783080"/>
            <a:ext cx="6812280" cy="3547872"/>
          </a:xfrm>
          <a:prstGeom prst="rect">
            <a:avLst/>
          </a:prstGeom>
        </p:spPr>
      </p:pic>
      <p:sp>
        <p:nvSpPr>
          <p:cNvPr id="7" name="!!mapframe"/>
          <p:cNvSpPr/>
          <p:nvPr/>
        </p:nvSpPr>
        <p:spPr>
          <a:xfrm>
            <a:off x="548640" y="1783080"/>
            <a:ext cx="6812280" cy="3547872"/>
          </a:xfrm>
          <a:prstGeom prst="rect">
            <a:avLst/>
          </a:prstGeom>
          <a:solidFill>
            <a:srgbClr val="000000">
              <a:alpha val="0"/>
            </a:srgbClr>
          </a:solidFill>
          <a:ln w="12700">
            <a:solidFill>
              <a:srgbClr val="3A3A3C"/>
            </a:solidFill>
            <a:prstDash val="solid"/>
          </a:ln>
        </p:spPr>
      </p:sp>
      <p:sp>
        <p:nvSpPr>
          <p:cNvPr id="8" name="!!c_iraq"/>
          <p:cNvSpPr txBox="1"/>
          <p:nvPr/>
        </p:nvSpPr>
        <p:spPr>
          <a:xfrm>
            <a:off x="-1658981" y="-187147"/>
            <a:ext cx="2194560" cy="274320"/>
          </a:xfrm>
          <a:prstGeom prst="rect">
            <a:avLst/>
          </a:prstGeom>
          <a:noFill/>
          <a:ln/>
        </p:spPr>
        <p:txBody>
          <a:bodyPr wrap="square" lIns="0" tIns="0" rIns="0" bIns="0" rtlCol="0" anchor="t"/>
          <a:lstStyle/>
          <a:p>
            <a:pPr algn="ctr" indent="0" marL="0">
              <a:buNone/>
            </a:pPr>
            <a:r>
              <a:rPr lang="en-US" sz="1300" spc="400" kern="0" dirty="0">
                <a:solidFill>
                  <a:srgbClr val="8E8E93">
                    <a:alpha val="0"/>
                  </a:srgbClr>
                </a:solidFill>
                <a:latin typeface="Arial" pitchFamily="34" charset="0"/>
                <a:ea typeface="Arial" pitchFamily="34" charset="-122"/>
                <a:cs typeface="Arial" pitchFamily="34" charset="-120"/>
              </a:rPr>
              <a:t>IRAQ</a:t>
            </a:r>
            <a:endParaRPr lang="en-US" sz="1300" dirty="0"/>
          </a:p>
        </p:txBody>
      </p:sp>
      <p:sp>
        <p:nvSpPr>
          <p:cNvPr id="9" name="!!c_saudi"/>
          <p:cNvSpPr txBox="1"/>
          <p:nvPr/>
        </p:nvSpPr>
        <p:spPr>
          <a:xfrm>
            <a:off x="-1142812" y="5341620"/>
            <a:ext cx="2194560" cy="274320"/>
          </a:xfrm>
          <a:prstGeom prst="rect">
            <a:avLst/>
          </a:prstGeom>
          <a:noFill/>
          <a:ln/>
        </p:spPr>
        <p:txBody>
          <a:bodyPr wrap="square" lIns="0" tIns="0" rIns="0" bIns="0" rtlCol="0" anchor="t"/>
          <a:lstStyle/>
          <a:p>
            <a:pPr algn="ctr" indent="0" marL="0">
              <a:buNone/>
            </a:pPr>
            <a:r>
              <a:rPr lang="en-US" sz="1300" spc="400" kern="0" dirty="0">
                <a:solidFill>
                  <a:srgbClr val="8E8E93">
                    <a:alpha val="0"/>
                  </a:srgbClr>
                </a:solidFill>
                <a:latin typeface="Arial" pitchFamily="34" charset="0"/>
                <a:ea typeface="Arial" pitchFamily="34" charset="-122"/>
                <a:cs typeface="Arial" pitchFamily="34" charset="-120"/>
              </a:rPr>
              <a:t>SAUDI ARABIA</a:t>
            </a:r>
            <a:endParaRPr lang="en-US" sz="1300" dirty="0"/>
          </a:p>
        </p:txBody>
      </p:sp>
      <p:sp>
        <p:nvSpPr>
          <p:cNvPr id="10" name="!!c_gulf"/>
          <p:cNvSpPr txBox="1"/>
          <p:nvPr/>
        </p:nvSpPr>
        <p:spPr>
          <a:xfrm>
            <a:off x="3760796" y="2680716"/>
            <a:ext cx="2194560" cy="274320"/>
          </a:xfrm>
          <a:prstGeom prst="rect">
            <a:avLst/>
          </a:prstGeom>
          <a:noFill/>
          <a:ln/>
        </p:spPr>
        <p:txBody>
          <a:bodyPr wrap="square" lIns="0" tIns="0" rIns="0" bIns="0" rtlCol="0" anchor="t"/>
          <a:lstStyle/>
          <a:p>
            <a:pPr algn="ctr" indent="0" marL="0">
              <a:buNone/>
            </a:pPr>
            <a:r>
              <a:rPr lang="en-US" sz="1300" spc="400" kern="0" dirty="0">
                <a:solidFill>
                  <a:srgbClr val="8E8E93">
                    <a:alpha val="0"/>
                  </a:srgbClr>
                </a:solidFill>
                <a:latin typeface="Arial" pitchFamily="34" charset="0"/>
                <a:ea typeface="Arial" pitchFamily="34" charset="-122"/>
                <a:cs typeface="Arial" pitchFamily="34" charset="-120"/>
              </a:rPr>
              <a:t>ARABIAN GULF</a:t>
            </a:r>
            <a:endParaRPr lang="en-US" sz="1300" dirty="0"/>
          </a:p>
        </p:txBody>
      </p:sp>
      <p:sp>
        <p:nvSpPr>
          <p:cNvPr id="11" name="!!f_burgan"/>
          <p:cNvSpPr/>
          <p:nvPr/>
        </p:nvSpPr>
        <p:spPr>
          <a:xfrm>
            <a:off x="2423963" y="3227680"/>
            <a:ext cx="274320" cy="274320"/>
          </a:xfrm>
          <a:prstGeom prst="ellipse">
            <a:avLst/>
          </a:prstGeom>
          <a:solidFill>
            <a:srgbClr val="4A4A4F"/>
          </a:solidFill>
          <a:ln/>
        </p:spPr>
      </p:sp>
      <p:sp>
        <p:nvSpPr>
          <p:cNvPr id="12" name="!!fl_burgan"/>
          <p:cNvSpPr txBox="1"/>
          <p:nvPr/>
        </p:nvSpPr>
        <p:spPr>
          <a:xfrm>
            <a:off x="2430390" y="3613232"/>
            <a:ext cx="1737360" cy="274320"/>
          </a:xfrm>
          <a:prstGeom prst="rect">
            <a:avLst/>
          </a:prstGeom>
          <a:noFill/>
          <a:ln/>
        </p:spPr>
        <p:txBody>
          <a:bodyPr wrap="square" lIns="0" tIns="0" rIns="0" bIns="0" rtlCol="0" anchor="t"/>
          <a:lstStyle/>
          <a:p>
            <a:pPr algn="l" indent="0" marL="0">
              <a:buNone/>
            </a:pPr>
            <a:r>
              <a:rPr lang="en-US" sz="1300" dirty="0">
                <a:solidFill>
                  <a:schemeClr val="tx1">
                    <a:alpha val="0"/>
                  </a:schemeClr>
                </a:solidFill>
                <a:latin typeface="Arial" pitchFamily="34" charset="0"/>
                <a:ea typeface="Arial" pitchFamily="34" charset="-122"/>
                <a:cs typeface="Arial" pitchFamily="34" charset="-120"/>
              </a:rPr>
              <a:t>Greater Burgan</a:t>
            </a:r>
            <a:endParaRPr lang="en-US" sz="1300" dirty="0"/>
          </a:p>
        </p:txBody>
      </p:sp>
      <p:sp>
        <p:nvSpPr>
          <p:cNvPr id="13" name="!!f_raudhatain"/>
          <p:cNvSpPr/>
          <p:nvPr/>
        </p:nvSpPr>
        <p:spPr>
          <a:xfrm>
            <a:off x="1889728" y="655472"/>
            <a:ext cx="274320" cy="274320"/>
          </a:xfrm>
          <a:prstGeom prst="ellipse">
            <a:avLst/>
          </a:prstGeom>
          <a:solidFill>
            <a:srgbClr val="FF9F0A">
              <a:alpha val="0"/>
            </a:srgbClr>
          </a:solidFill>
          <a:ln/>
        </p:spPr>
      </p:sp>
      <p:sp>
        <p:nvSpPr>
          <p:cNvPr id="14" name="!!fl_raudhatain"/>
          <p:cNvSpPr txBox="1"/>
          <p:nvPr/>
        </p:nvSpPr>
        <p:spPr>
          <a:xfrm>
            <a:off x="-849231" y="138969"/>
            <a:ext cx="1737360" cy="274320"/>
          </a:xfrm>
          <a:prstGeom prst="rect">
            <a:avLst/>
          </a:prstGeom>
          <a:noFill/>
          <a:ln/>
        </p:spPr>
        <p:txBody>
          <a:bodyPr wrap="square" lIns="0" tIns="0" rIns="0" bIns="0" rtlCol="0" anchor="t"/>
          <a:lstStyle/>
          <a:p>
            <a:pPr algn="r" indent="0" marL="0">
              <a:buNone/>
            </a:pPr>
            <a:r>
              <a:rPr lang="en-US" sz="1300" dirty="0">
                <a:solidFill>
                  <a:schemeClr val="tx1">
                    <a:alpha val="0"/>
                  </a:schemeClr>
                </a:solidFill>
                <a:latin typeface="Arial" pitchFamily="34" charset="0"/>
                <a:ea typeface="Arial" pitchFamily="34" charset="-122"/>
                <a:cs typeface="Arial" pitchFamily="34" charset="-120"/>
              </a:rPr>
              <a:t>Raudhatain</a:t>
            </a:r>
            <a:endParaRPr lang="en-US" sz="1300" dirty="0"/>
          </a:p>
        </p:txBody>
      </p:sp>
      <p:sp>
        <p:nvSpPr>
          <p:cNvPr id="15" name="!!fk_raudhatain"/>
          <p:cNvSpPr/>
          <p:nvPr/>
        </p:nvSpPr>
        <p:spPr>
          <a:xfrm>
            <a:off x="1634690" y="400434"/>
            <a:ext cx="235319" cy="222246"/>
          </a:xfrm>
          <a:prstGeom prst="line">
            <a:avLst/>
          </a:prstGeom>
          <a:noFill/>
          <a:ln w="12700">
            <a:solidFill>
              <a:srgbClr val="A1A1A6">
                <a:alpha val="0"/>
              </a:srgbClr>
            </a:solidFill>
            <a:prstDash val="solid"/>
          </a:ln>
        </p:spPr>
      </p:sp>
      <p:sp>
        <p:nvSpPr>
          <p:cNvPr id="16" name="!!f_sabriya"/>
          <p:cNvSpPr/>
          <p:nvPr/>
        </p:nvSpPr>
        <p:spPr>
          <a:xfrm>
            <a:off x="2250311" y="887456"/>
            <a:ext cx="182880" cy="182880"/>
          </a:xfrm>
          <a:prstGeom prst="ellipse">
            <a:avLst/>
          </a:prstGeom>
          <a:solidFill>
            <a:srgbClr val="FF9F0A">
              <a:alpha val="0"/>
            </a:srgbClr>
          </a:solidFill>
          <a:ln/>
        </p:spPr>
      </p:sp>
      <p:sp>
        <p:nvSpPr>
          <p:cNvPr id="17" name="!!fl_sabriya"/>
          <p:cNvSpPr txBox="1"/>
          <p:nvPr/>
        </p:nvSpPr>
        <p:spPr>
          <a:xfrm>
            <a:off x="2563997" y="808943"/>
            <a:ext cx="1737360" cy="274320"/>
          </a:xfrm>
          <a:prstGeom prst="rect">
            <a:avLst/>
          </a:prstGeom>
          <a:noFill/>
          <a:ln/>
        </p:spPr>
        <p:txBody>
          <a:bodyPr wrap="square" lIns="0" tIns="0" rIns="0" bIns="0" rtlCol="0" anchor="t"/>
          <a:lstStyle/>
          <a:p>
            <a:pPr algn="l" indent="0" marL="0">
              <a:buNone/>
            </a:pPr>
            <a:r>
              <a:rPr lang="en-US" sz="1300" dirty="0">
                <a:solidFill>
                  <a:schemeClr val="tx1">
                    <a:alpha val="0"/>
                  </a:schemeClr>
                </a:solidFill>
                <a:latin typeface="Arial" pitchFamily="34" charset="0"/>
                <a:ea typeface="Arial" pitchFamily="34" charset="-122"/>
                <a:cs typeface="Arial" pitchFamily="34" charset="-120"/>
              </a:rPr>
              <a:t>Sabriya</a:t>
            </a:r>
            <a:endParaRPr lang="en-US" sz="1300" dirty="0"/>
          </a:p>
        </p:txBody>
      </p:sp>
      <p:sp>
        <p:nvSpPr>
          <p:cNvPr id="18" name="!!f_bahra"/>
          <p:cNvSpPr/>
          <p:nvPr/>
        </p:nvSpPr>
        <p:spPr>
          <a:xfrm>
            <a:off x="2410323" y="1434419"/>
            <a:ext cx="182880" cy="182880"/>
          </a:xfrm>
          <a:prstGeom prst="ellipse">
            <a:avLst/>
          </a:prstGeom>
          <a:solidFill>
            <a:srgbClr val="FF9F0A">
              <a:alpha val="0"/>
            </a:srgbClr>
          </a:solidFill>
          <a:ln/>
        </p:spPr>
      </p:sp>
      <p:sp>
        <p:nvSpPr>
          <p:cNvPr id="19" name="!!fl_bahra"/>
          <p:cNvSpPr txBox="1"/>
          <p:nvPr/>
        </p:nvSpPr>
        <p:spPr>
          <a:xfrm>
            <a:off x="2724009" y="1355907"/>
            <a:ext cx="1737360" cy="274320"/>
          </a:xfrm>
          <a:prstGeom prst="rect">
            <a:avLst/>
          </a:prstGeom>
          <a:noFill/>
          <a:ln/>
        </p:spPr>
        <p:txBody>
          <a:bodyPr wrap="square" lIns="0" tIns="0" rIns="0" bIns="0" rtlCol="0" anchor="t"/>
          <a:lstStyle/>
          <a:p>
            <a:pPr algn="l" indent="0" marL="0">
              <a:buNone/>
            </a:pPr>
            <a:r>
              <a:rPr lang="en-US" sz="1300" dirty="0">
                <a:solidFill>
                  <a:schemeClr val="tx1">
                    <a:alpha val="0"/>
                  </a:schemeClr>
                </a:solidFill>
                <a:latin typeface="Arial" pitchFamily="34" charset="0"/>
                <a:ea typeface="Arial" pitchFamily="34" charset="-122"/>
                <a:cs typeface="Arial" pitchFamily="34" charset="-120"/>
              </a:rPr>
              <a:t>Bahra</a:t>
            </a:r>
            <a:endParaRPr lang="en-US" sz="1300" dirty="0"/>
          </a:p>
        </p:txBody>
      </p:sp>
      <p:sp>
        <p:nvSpPr>
          <p:cNvPr id="20" name="!!f_ratqa"/>
          <p:cNvSpPr/>
          <p:nvPr/>
        </p:nvSpPr>
        <p:spPr>
          <a:xfrm>
            <a:off x="1112158" y="713019"/>
            <a:ext cx="182880" cy="182880"/>
          </a:xfrm>
          <a:prstGeom prst="ellipse">
            <a:avLst/>
          </a:prstGeom>
          <a:solidFill>
            <a:srgbClr val="FF9F0A">
              <a:alpha val="0"/>
            </a:srgbClr>
          </a:solidFill>
          <a:ln/>
        </p:spPr>
      </p:sp>
      <p:sp>
        <p:nvSpPr>
          <p:cNvPr id="21" name="!!fl_ratqa"/>
          <p:cNvSpPr txBox="1"/>
          <p:nvPr/>
        </p:nvSpPr>
        <p:spPr>
          <a:xfrm>
            <a:off x="-1515642" y="608360"/>
            <a:ext cx="1737360" cy="274320"/>
          </a:xfrm>
          <a:prstGeom prst="rect">
            <a:avLst/>
          </a:prstGeom>
          <a:noFill/>
          <a:ln/>
        </p:spPr>
        <p:txBody>
          <a:bodyPr wrap="square" lIns="0" tIns="0" rIns="0" bIns="0" rtlCol="0" anchor="t"/>
          <a:lstStyle/>
          <a:p>
            <a:pPr algn="r" indent="0" marL="0">
              <a:buNone/>
            </a:pPr>
            <a:r>
              <a:rPr lang="en-US" sz="1300" dirty="0">
                <a:solidFill>
                  <a:schemeClr val="tx1">
                    <a:alpha val="0"/>
                  </a:schemeClr>
                </a:solidFill>
                <a:latin typeface="Arial" pitchFamily="34" charset="0"/>
                <a:ea typeface="Arial" pitchFamily="34" charset="-122"/>
                <a:cs typeface="Arial" pitchFamily="34" charset="-120"/>
              </a:rPr>
              <a:t>Ratqa (heavy oil)</a:t>
            </a:r>
            <a:endParaRPr lang="en-US" sz="1300" dirty="0"/>
          </a:p>
        </p:txBody>
      </p:sp>
      <p:sp>
        <p:nvSpPr>
          <p:cNvPr id="22" name="!!f_abdali"/>
          <p:cNvSpPr/>
          <p:nvPr/>
        </p:nvSpPr>
        <p:spPr>
          <a:xfrm>
            <a:off x="2051586" y="251795"/>
            <a:ext cx="182880" cy="182880"/>
          </a:xfrm>
          <a:prstGeom prst="ellipse">
            <a:avLst/>
          </a:prstGeom>
          <a:solidFill>
            <a:srgbClr val="FF9F0A">
              <a:alpha val="0"/>
            </a:srgbClr>
          </a:solidFill>
          <a:ln/>
        </p:spPr>
      </p:sp>
      <p:sp>
        <p:nvSpPr>
          <p:cNvPr id="23" name="!!fl_abdali"/>
          <p:cNvSpPr txBox="1"/>
          <p:nvPr/>
        </p:nvSpPr>
        <p:spPr>
          <a:xfrm>
            <a:off x="2352198" y="120990"/>
            <a:ext cx="1737360" cy="274320"/>
          </a:xfrm>
          <a:prstGeom prst="rect">
            <a:avLst/>
          </a:prstGeom>
          <a:noFill/>
          <a:ln/>
        </p:spPr>
        <p:txBody>
          <a:bodyPr wrap="square" lIns="0" tIns="0" rIns="0" bIns="0" rtlCol="0" anchor="t"/>
          <a:lstStyle/>
          <a:p>
            <a:pPr algn="l" indent="0" marL="0">
              <a:buNone/>
            </a:pPr>
            <a:r>
              <a:rPr lang="en-US" sz="1300" dirty="0">
                <a:solidFill>
                  <a:schemeClr val="tx1">
                    <a:alpha val="0"/>
                  </a:schemeClr>
                </a:solidFill>
                <a:latin typeface="Arial" pitchFamily="34" charset="0"/>
                <a:ea typeface="Arial" pitchFamily="34" charset="-122"/>
                <a:cs typeface="Arial" pitchFamily="34" charset="-120"/>
              </a:rPr>
              <a:t>Abdali</a:t>
            </a:r>
            <a:endParaRPr lang="en-US" sz="1300" dirty="0"/>
          </a:p>
        </p:txBody>
      </p:sp>
      <p:sp>
        <p:nvSpPr>
          <p:cNvPr id="24" name="!!f_minagish"/>
          <p:cNvSpPr/>
          <p:nvPr/>
        </p:nvSpPr>
        <p:spPr>
          <a:xfrm>
            <a:off x="1316780" y="3221766"/>
            <a:ext cx="274320" cy="274320"/>
          </a:xfrm>
          <a:prstGeom prst="ellipse">
            <a:avLst/>
          </a:prstGeom>
          <a:solidFill>
            <a:srgbClr val="4A4A4F"/>
          </a:solidFill>
          <a:ln/>
        </p:spPr>
      </p:sp>
      <p:sp>
        <p:nvSpPr>
          <p:cNvPr id="25" name="!!fl_minagish"/>
          <p:cNvSpPr txBox="1"/>
          <p:nvPr/>
        </p:nvSpPr>
        <p:spPr>
          <a:xfrm>
            <a:off x="-1265300" y="2966728"/>
            <a:ext cx="1737360" cy="274320"/>
          </a:xfrm>
          <a:prstGeom prst="rect">
            <a:avLst/>
          </a:prstGeom>
          <a:noFill/>
          <a:ln/>
        </p:spPr>
        <p:txBody>
          <a:bodyPr wrap="square" lIns="0" tIns="0" rIns="0" bIns="0" rtlCol="0" anchor="t"/>
          <a:lstStyle/>
          <a:p>
            <a:pPr algn="r" indent="0" marL="0">
              <a:buNone/>
            </a:pPr>
            <a:r>
              <a:rPr lang="en-US" sz="1300" dirty="0">
                <a:solidFill>
                  <a:schemeClr val="tx1">
                    <a:alpha val="0"/>
                  </a:schemeClr>
                </a:solidFill>
                <a:latin typeface="Arial" pitchFamily="34" charset="0"/>
                <a:ea typeface="Arial" pitchFamily="34" charset="-122"/>
                <a:cs typeface="Arial" pitchFamily="34" charset="-120"/>
              </a:rPr>
              <a:t>Minagish</a:t>
            </a:r>
            <a:endParaRPr lang="en-US" sz="1300" dirty="0"/>
          </a:p>
        </p:txBody>
      </p:sp>
      <p:sp>
        <p:nvSpPr>
          <p:cNvPr id="26" name="!!f_ummgudair"/>
          <p:cNvSpPr/>
          <p:nvPr/>
        </p:nvSpPr>
        <p:spPr>
          <a:xfrm>
            <a:off x="1775435" y="3713927"/>
            <a:ext cx="182880" cy="182880"/>
          </a:xfrm>
          <a:prstGeom prst="ellipse">
            <a:avLst/>
          </a:prstGeom>
          <a:solidFill>
            <a:srgbClr val="4A4A4F"/>
          </a:solidFill>
          <a:ln/>
        </p:spPr>
      </p:sp>
      <p:sp>
        <p:nvSpPr>
          <p:cNvPr id="27" name="!!fl_ummgudair"/>
          <p:cNvSpPr txBox="1"/>
          <p:nvPr/>
        </p:nvSpPr>
        <p:spPr>
          <a:xfrm>
            <a:off x="-852365" y="3674634"/>
            <a:ext cx="1737360" cy="274320"/>
          </a:xfrm>
          <a:prstGeom prst="rect">
            <a:avLst/>
          </a:prstGeom>
          <a:noFill/>
          <a:ln/>
        </p:spPr>
        <p:txBody>
          <a:bodyPr wrap="square" lIns="0" tIns="0" rIns="0" bIns="0" rtlCol="0" anchor="t"/>
          <a:lstStyle/>
          <a:p>
            <a:pPr algn="r" indent="0" marL="0">
              <a:buNone/>
            </a:pPr>
            <a:r>
              <a:rPr lang="en-US" sz="1300" dirty="0">
                <a:solidFill>
                  <a:schemeClr val="tx1">
                    <a:alpha val="0"/>
                  </a:schemeClr>
                </a:solidFill>
                <a:latin typeface="Arial" pitchFamily="34" charset="0"/>
                <a:ea typeface="Arial" pitchFamily="34" charset="-122"/>
                <a:cs typeface="Arial" pitchFamily="34" charset="-120"/>
              </a:rPr>
              <a:t>Umm Gudair</a:t>
            </a:r>
            <a:endParaRPr lang="en-US" sz="1300" dirty="0"/>
          </a:p>
        </p:txBody>
      </p:sp>
      <p:sp>
        <p:nvSpPr>
          <p:cNvPr id="28" name="!!f_abduliyah"/>
          <p:cNvSpPr/>
          <p:nvPr/>
        </p:nvSpPr>
        <p:spPr>
          <a:xfrm>
            <a:off x="1736722" y="3069397"/>
            <a:ext cx="182880" cy="182880"/>
          </a:xfrm>
          <a:prstGeom prst="ellipse">
            <a:avLst/>
          </a:prstGeom>
          <a:solidFill>
            <a:srgbClr val="4A4A4F"/>
          </a:solidFill>
          <a:ln/>
        </p:spPr>
      </p:sp>
      <p:sp>
        <p:nvSpPr>
          <p:cNvPr id="29" name="!!f_dharif"/>
          <p:cNvSpPr/>
          <p:nvPr/>
        </p:nvSpPr>
        <p:spPr>
          <a:xfrm>
            <a:off x="1956094" y="2705740"/>
            <a:ext cx="182880" cy="182880"/>
          </a:xfrm>
          <a:prstGeom prst="ellipse">
            <a:avLst/>
          </a:prstGeom>
          <a:solidFill>
            <a:srgbClr val="4A4A4F"/>
          </a:solidFill>
          <a:ln/>
        </p:spPr>
      </p:sp>
      <p:sp>
        <p:nvSpPr>
          <p:cNvPr id="30" name="!!f_kramaru"/>
          <p:cNvSpPr/>
          <p:nvPr/>
        </p:nvSpPr>
        <p:spPr>
          <a:xfrm>
            <a:off x="828265" y="2200168"/>
            <a:ext cx="182880" cy="182880"/>
          </a:xfrm>
          <a:prstGeom prst="ellipse">
            <a:avLst/>
          </a:prstGeom>
          <a:solidFill>
            <a:srgbClr val="4A4A4F"/>
          </a:solidFill>
          <a:ln/>
        </p:spPr>
      </p:sp>
      <p:sp>
        <p:nvSpPr>
          <p:cNvPr id="31" name="!!fl_kramaru"/>
          <p:cNvSpPr txBox="1"/>
          <p:nvPr/>
        </p:nvSpPr>
        <p:spPr>
          <a:xfrm>
            <a:off x="-1799535" y="2095509"/>
            <a:ext cx="1737360" cy="274320"/>
          </a:xfrm>
          <a:prstGeom prst="rect">
            <a:avLst/>
          </a:prstGeom>
          <a:noFill/>
          <a:ln/>
        </p:spPr>
        <p:txBody>
          <a:bodyPr wrap="square" lIns="0" tIns="0" rIns="0" bIns="0" rtlCol="0" anchor="t"/>
          <a:lstStyle/>
          <a:p>
            <a:pPr algn="r" indent="0" marL="0">
              <a:buNone/>
            </a:pPr>
            <a:r>
              <a:rPr lang="en-US" sz="1300" dirty="0">
                <a:solidFill>
                  <a:schemeClr val="tx1">
                    <a:alpha val="0"/>
                  </a:schemeClr>
                </a:solidFill>
                <a:latin typeface="Arial" pitchFamily="34" charset="0"/>
                <a:ea typeface="Arial" pitchFamily="34" charset="-122"/>
                <a:cs typeface="Arial" pitchFamily="34" charset="-120"/>
              </a:rPr>
              <a:t>Kra Al-Maru</a:t>
            </a:r>
            <a:endParaRPr lang="en-US" sz="1300" dirty="0"/>
          </a:p>
        </p:txBody>
      </p:sp>
      <p:sp>
        <p:nvSpPr>
          <p:cNvPr id="32" name="!!f_wafra"/>
          <p:cNvSpPr/>
          <p:nvPr/>
        </p:nvSpPr>
        <p:spPr>
          <a:xfrm>
            <a:off x="2263583" y="4510034"/>
            <a:ext cx="228600" cy="228600"/>
          </a:xfrm>
          <a:prstGeom prst="ellipse">
            <a:avLst/>
          </a:prstGeom>
          <a:solidFill>
            <a:srgbClr val="FF9F0A"/>
          </a:solidFill>
          <a:ln/>
          <a:effectLst>
            <a:outerShdw sx="100000" sy="100000" kx="0" ky="0" algn="bl" rotWithShape="0" blurRad="228600" dist="50800" dir="5400000">
              <a:srgbClr val="FF9F0A">
                <a:alpha val="90000"/>
              </a:srgbClr>
            </a:outerShdw>
          </a:effectLst>
        </p:spPr>
      </p:sp>
      <p:sp>
        <p:nvSpPr>
          <p:cNvPr id="33" name="!!fl_wafra"/>
          <p:cNvSpPr txBox="1"/>
          <p:nvPr/>
        </p:nvSpPr>
        <p:spPr>
          <a:xfrm>
            <a:off x="2560763" y="4468886"/>
            <a:ext cx="1783080" cy="310896"/>
          </a:xfrm>
          <a:prstGeom prst="rect">
            <a:avLst/>
          </a:prstGeom>
          <a:noFill/>
          <a:ln/>
        </p:spPr>
        <p:txBody>
          <a:bodyPr wrap="square" lIns="0" tIns="0" rIns="0" bIns="0" rtlCol="0" anchor="t"/>
          <a:lstStyle/>
          <a:p>
            <a:pPr algn="l" indent="0" marL="0">
              <a:buNone/>
            </a:pPr>
            <a:r>
              <a:rPr lang="en-US" sz="1500" b="1" dirty="0">
                <a:solidFill>
                  <a:schemeClr val="tx1"/>
                </a:solidFill>
                <a:effectLst>
                  <a:glow rad="76200">
                    <a:srgbClr val="141416">
                      <a:alpha val="85000"/>
                    </a:srgbClr>
                  </a:glow>
                </a:effectLst>
                <a:latin typeface="Arial" pitchFamily="34" charset="0"/>
                <a:ea typeface="Arial" pitchFamily="34" charset="-122"/>
                <a:cs typeface="Arial" pitchFamily="34" charset="-120"/>
              </a:rPr>
              <a:t>Wafra</a:t>
            </a:r>
            <a:endParaRPr lang="en-US" sz="1500" dirty="0"/>
          </a:p>
        </p:txBody>
      </p:sp>
      <p:sp>
        <p:nvSpPr>
          <p:cNvPr id="34" name="!!f_khafji"/>
          <p:cNvSpPr/>
          <p:nvPr/>
        </p:nvSpPr>
        <p:spPr>
          <a:xfrm>
            <a:off x="4859543" y="4618452"/>
            <a:ext cx="342900" cy="342900"/>
          </a:xfrm>
          <a:prstGeom prst="ellipse">
            <a:avLst/>
          </a:prstGeom>
          <a:solidFill>
            <a:srgbClr val="FF9F0A"/>
          </a:solidFill>
          <a:ln/>
          <a:effectLst>
            <a:outerShdw sx="100000" sy="100000" kx="0" ky="0" algn="bl" rotWithShape="0" blurRad="228600" dist="50800" dir="5400000">
              <a:srgbClr val="FF9F0A">
                <a:alpha val="90000"/>
              </a:srgbClr>
            </a:outerShdw>
          </a:effectLst>
        </p:spPr>
      </p:sp>
      <p:sp>
        <p:nvSpPr>
          <p:cNvPr id="35" name="!!fl_khafji"/>
          <p:cNvSpPr txBox="1"/>
          <p:nvPr/>
        </p:nvSpPr>
        <p:spPr>
          <a:xfrm>
            <a:off x="5250449" y="4634454"/>
            <a:ext cx="1783080" cy="310896"/>
          </a:xfrm>
          <a:prstGeom prst="rect">
            <a:avLst/>
          </a:prstGeom>
          <a:noFill/>
          <a:ln/>
        </p:spPr>
        <p:txBody>
          <a:bodyPr wrap="square" lIns="0" tIns="0" rIns="0" bIns="0" rtlCol="0" anchor="t"/>
          <a:lstStyle/>
          <a:p>
            <a:pPr algn="l" indent="0" marL="0">
              <a:buNone/>
            </a:pPr>
            <a:r>
              <a:rPr lang="en-US" sz="1500" b="1" dirty="0">
                <a:solidFill>
                  <a:schemeClr val="tx1"/>
                </a:solidFill>
                <a:effectLst>
                  <a:glow rad="76200">
                    <a:srgbClr val="141416">
                      <a:alpha val="85000"/>
                    </a:srgbClr>
                  </a:glow>
                </a:effectLst>
                <a:latin typeface="Arial" pitchFamily="34" charset="0"/>
                <a:ea typeface="Arial" pitchFamily="34" charset="-122"/>
                <a:cs typeface="Arial" pitchFamily="34" charset="-120"/>
              </a:rPr>
              <a:t>Khafji</a:t>
            </a:r>
            <a:endParaRPr lang="en-US" sz="1500" dirty="0"/>
          </a:p>
        </p:txBody>
      </p:sp>
      <p:sp>
        <p:nvSpPr>
          <p:cNvPr id="36" name="!!f_hout"/>
          <p:cNvSpPr/>
          <p:nvPr/>
        </p:nvSpPr>
        <p:spPr>
          <a:xfrm>
            <a:off x="4916693" y="3788634"/>
            <a:ext cx="228600" cy="228600"/>
          </a:xfrm>
          <a:prstGeom prst="ellipse">
            <a:avLst/>
          </a:prstGeom>
          <a:solidFill>
            <a:srgbClr val="FF9F0A"/>
          </a:solidFill>
          <a:ln/>
          <a:effectLst>
            <a:outerShdw sx="100000" sy="100000" kx="0" ky="0" algn="bl" rotWithShape="0" blurRad="228600" dist="50800" dir="5400000">
              <a:srgbClr val="FF9F0A">
                <a:alpha val="90000"/>
              </a:srgbClr>
            </a:outerShdw>
          </a:effectLst>
        </p:spPr>
      </p:sp>
      <p:sp>
        <p:nvSpPr>
          <p:cNvPr id="37" name="!!fl_hout"/>
          <p:cNvSpPr txBox="1"/>
          <p:nvPr/>
        </p:nvSpPr>
        <p:spPr>
          <a:xfrm>
            <a:off x="5213873" y="3747486"/>
            <a:ext cx="1783080" cy="310896"/>
          </a:xfrm>
          <a:prstGeom prst="rect">
            <a:avLst/>
          </a:prstGeom>
          <a:noFill/>
          <a:ln/>
        </p:spPr>
        <p:txBody>
          <a:bodyPr wrap="square" lIns="0" tIns="0" rIns="0" bIns="0" rtlCol="0" anchor="t"/>
          <a:lstStyle/>
          <a:p>
            <a:pPr algn="l" indent="0" marL="0">
              <a:buNone/>
            </a:pPr>
            <a:r>
              <a:rPr lang="en-US" sz="1500" b="1" dirty="0">
                <a:solidFill>
                  <a:schemeClr val="tx1"/>
                </a:solidFill>
                <a:effectLst>
                  <a:glow rad="76200">
                    <a:srgbClr val="141416">
                      <a:alpha val="85000"/>
                    </a:srgbClr>
                  </a:glow>
                </a:effectLst>
                <a:latin typeface="Arial" pitchFamily="34" charset="0"/>
                <a:ea typeface="Arial" pitchFamily="34" charset="-122"/>
                <a:cs typeface="Arial" pitchFamily="34" charset="-120"/>
              </a:rPr>
              <a:t>Hout</a:t>
            </a:r>
            <a:endParaRPr lang="en-US" sz="1500" dirty="0"/>
          </a:p>
        </p:txBody>
      </p:sp>
      <p:sp>
        <p:nvSpPr>
          <p:cNvPr id="38" name="!!f_dorra"/>
          <p:cNvSpPr/>
          <p:nvPr/>
        </p:nvSpPr>
        <p:spPr>
          <a:xfrm>
            <a:off x="5375712" y="3385566"/>
            <a:ext cx="342900" cy="342900"/>
          </a:xfrm>
          <a:prstGeom prst="ellipse">
            <a:avLst/>
          </a:prstGeom>
          <a:solidFill>
            <a:srgbClr val="64D2FF"/>
          </a:solidFill>
          <a:ln/>
          <a:effectLst>
            <a:outerShdw sx="100000" sy="100000" kx="0" ky="0" algn="bl" rotWithShape="0" blurRad="228600" dist="50800" dir="5400000">
              <a:srgbClr val="64D2FF">
                <a:alpha val="90000"/>
              </a:srgbClr>
            </a:outerShdw>
          </a:effectLst>
        </p:spPr>
      </p:sp>
      <p:sp>
        <p:nvSpPr>
          <p:cNvPr id="39" name="!!fl_dorra"/>
          <p:cNvSpPr txBox="1"/>
          <p:nvPr/>
        </p:nvSpPr>
        <p:spPr>
          <a:xfrm>
            <a:off x="3535482" y="3401568"/>
            <a:ext cx="1783080" cy="310896"/>
          </a:xfrm>
          <a:prstGeom prst="rect">
            <a:avLst/>
          </a:prstGeom>
          <a:noFill/>
          <a:ln/>
        </p:spPr>
        <p:txBody>
          <a:bodyPr wrap="square" lIns="0" tIns="0" rIns="0" bIns="0" rtlCol="0" anchor="t"/>
          <a:lstStyle/>
          <a:p>
            <a:pPr algn="r" indent="0" marL="0">
              <a:buNone/>
            </a:pPr>
            <a:r>
              <a:rPr lang="en-US" sz="1500" b="1" dirty="0">
                <a:solidFill>
                  <a:schemeClr val="tx1"/>
                </a:solidFill>
                <a:effectLst>
                  <a:glow rad="76200">
                    <a:srgbClr val="141416">
                      <a:alpha val="85000"/>
                    </a:srgbClr>
                  </a:glow>
                </a:effectLst>
                <a:latin typeface="Arial" pitchFamily="34" charset="0"/>
                <a:ea typeface="Arial" pitchFamily="34" charset="-122"/>
                <a:cs typeface="Arial" pitchFamily="34" charset="-120"/>
              </a:rPr>
              <a:t>Dorra (gas)</a:t>
            </a:r>
            <a:endParaRPr lang="en-US" sz="1500" dirty="0"/>
          </a:p>
        </p:txBody>
      </p:sp>
      <p:sp>
        <p:nvSpPr>
          <p:cNvPr id="40" name="!!f_nokhatha"/>
          <p:cNvSpPr/>
          <p:nvPr/>
        </p:nvSpPr>
        <p:spPr>
          <a:xfrm>
            <a:off x="4364392" y="2064959"/>
            <a:ext cx="228600" cy="228600"/>
          </a:xfrm>
          <a:prstGeom prst="ellipse">
            <a:avLst/>
          </a:prstGeom>
          <a:solidFill>
            <a:srgbClr val="FF9F0A"/>
          </a:solidFill>
          <a:ln/>
          <a:effectLst>
            <a:outerShdw sx="100000" sy="100000" kx="0" ky="0" algn="bl" rotWithShape="0" blurRad="228600" dist="50800" dir="5400000">
              <a:srgbClr val="FF9F0A">
                <a:alpha val="90000"/>
              </a:srgbClr>
            </a:outerShdw>
          </a:effectLst>
        </p:spPr>
      </p:sp>
      <p:sp>
        <p:nvSpPr>
          <p:cNvPr id="41" name="!!fl_nokhatha"/>
          <p:cNvSpPr txBox="1"/>
          <p:nvPr/>
        </p:nvSpPr>
        <p:spPr>
          <a:xfrm>
            <a:off x="4661572" y="2023811"/>
            <a:ext cx="1783080" cy="310896"/>
          </a:xfrm>
          <a:prstGeom prst="rect">
            <a:avLst/>
          </a:prstGeom>
          <a:noFill/>
          <a:ln/>
        </p:spPr>
        <p:txBody>
          <a:bodyPr wrap="square" lIns="0" tIns="0" rIns="0" bIns="0" rtlCol="0" anchor="t"/>
          <a:lstStyle/>
          <a:p>
            <a:pPr algn="l" indent="0" marL="0">
              <a:buNone/>
            </a:pPr>
            <a:r>
              <a:rPr lang="en-US" sz="1500" b="1" dirty="0">
                <a:solidFill>
                  <a:schemeClr val="tx1"/>
                </a:solidFill>
                <a:effectLst>
                  <a:glow rad="76200">
                    <a:srgbClr val="141416">
                      <a:alpha val="85000"/>
                    </a:srgbClr>
                  </a:glow>
                </a:effectLst>
                <a:latin typeface="Arial" pitchFamily="34" charset="0"/>
                <a:ea typeface="Arial" pitchFamily="34" charset="-122"/>
                <a:cs typeface="Arial" pitchFamily="34" charset="-120"/>
              </a:rPr>
              <a:t>Al-Nokhatha</a:t>
            </a:r>
            <a:endParaRPr lang="en-US" sz="1500" dirty="0"/>
          </a:p>
        </p:txBody>
      </p:sp>
      <p:sp>
        <p:nvSpPr>
          <p:cNvPr id="42" name="!!f_jlaiaa"/>
          <p:cNvSpPr/>
          <p:nvPr/>
        </p:nvSpPr>
        <p:spPr>
          <a:xfrm>
            <a:off x="4328260" y="3815243"/>
            <a:ext cx="228600" cy="228600"/>
          </a:xfrm>
          <a:prstGeom prst="ellipse">
            <a:avLst/>
          </a:prstGeom>
          <a:solidFill>
            <a:srgbClr val="FF9F0A"/>
          </a:solidFill>
          <a:ln/>
          <a:effectLst>
            <a:outerShdw sx="100000" sy="100000" kx="0" ky="0" algn="bl" rotWithShape="0" blurRad="228600" dist="50800" dir="5400000">
              <a:srgbClr val="FF9F0A">
                <a:alpha val="90000"/>
              </a:srgbClr>
            </a:outerShdw>
          </a:effectLst>
        </p:spPr>
      </p:sp>
      <p:sp>
        <p:nvSpPr>
          <p:cNvPr id="43" name="!!fl_jlaiaa"/>
          <p:cNvSpPr txBox="1"/>
          <p:nvPr/>
        </p:nvSpPr>
        <p:spPr>
          <a:xfrm>
            <a:off x="2504032" y="3774095"/>
            <a:ext cx="1783080" cy="310896"/>
          </a:xfrm>
          <a:prstGeom prst="rect">
            <a:avLst/>
          </a:prstGeom>
          <a:noFill/>
          <a:ln/>
        </p:spPr>
        <p:txBody>
          <a:bodyPr wrap="square" lIns="0" tIns="0" rIns="0" bIns="0" rtlCol="0" anchor="t"/>
          <a:lstStyle/>
          <a:p>
            <a:pPr algn="r" indent="0" marL="0">
              <a:buNone/>
            </a:pPr>
            <a:r>
              <a:rPr lang="en-US" sz="1500" b="1" dirty="0">
                <a:solidFill>
                  <a:schemeClr val="tx1"/>
                </a:solidFill>
                <a:effectLst>
                  <a:glow rad="76200">
                    <a:srgbClr val="141416">
                      <a:alpha val="85000"/>
                    </a:srgbClr>
                  </a:glow>
                </a:effectLst>
                <a:latin typeface="Arial" pitchFamily="34" charset="0"/>
                <a:ea typeface="Arial" pitchFamily="34" charset="-122"/>
                <a:cs typeface="Arial" pitchFamily="34" charset="-120"/>
              </a:rPr>
              <a:t>Al-Jlaiaa</a:t>
            </a:r>
            <a:endParaRPr lang="en-US" sz="1500" dirty="0"/>
          </a:p>
        </p:txBody>
      </p:sp>
      <p:sp>
        <p:nvSpPr>
          <p:cNvPr id="44" name="!!f_kwcity"/>
          <p:cNvSpPr/>
          <p:nvPr/>
        </p:nvSpPr>
        <p:spPr>
          <a:xfrm>
            <a:off x="2529264" y="2236196"/>
            <a:ext cx="146304" cy="146304"/>
          </a:xfrm>
          <a:prstGeom prst="ellipse">
            <a:avLst/>
          </a:prstGeom>
          <a:solidFill>
            <a:srgbClr val="000000">
              <a:alpha val="0"/>
            </a:srgbClr>
          </a:solidFill>
          <a:ln w="22225">
            <a:solidFill>
              <a:srgbClr val="4A4A4F"/>
            </a:solidFill>
            <a:prstDash val="solid"/>
          </a:ln>
        </p:spPr>
      </p:sp>
      <p:sp>
        <p:nvSpPr>
          <p:cNvPr id="45" name="!!fl_kwcity"/>
          <p:cNvSpPr txBox="1"/>
          <p:nvPr/>
        </p:nvSpPr>
        <p:spPr>
          <a:xfrm>
            <a:off x="2798515" y="2126322"/>
            <a:ext cx="1737360" cy="274320"/>
          </a:xfrm>
          <a:prstGeom prst="rect">
            <a:avLst/>
          </a:prstGeom>
          <a:noFill/>
          <a:ln/>
        </p:spPr>
        <p:txBody>
          <a:bodyPr wrap="square" lIns="0" tIns="0" rIns="0" bIns="0" rtlCol="0" anchor="t"/>
          <a:lstStyle/>
          <a:p>
            <a:pPr algn="l" indent="0" marL="0">
              <a:buNone/>
            </a:pPr>
            <a:r>
              <a:rPr lang="en-US" sz="1300" dirty="0">
                <a:solidFill>
                  <a:schemeClr val="tx1">
                    <a:alpha val="0"/>
                  </a:schemeClr>
                </a:solidFill>
                <a:latin typeface="Arial" pitchFamily="34" charset="0"/>
                <a:ea typeface="Arial" pitchFamily="34" charset="-122"/>
                <a:cs typeface="Arial" pitchFamily="34" charset="-120"/>
              </a:rPr>
              <a:t>Kuwait City</a:t>
            </a:r>
            <a:endParaRPr lang="en-US" sz="1300" dirty="0"/>
          </a:p>
        </p:txBody>
      </p:sp>
      <p:sp>
        <p:nvSpPr>
          <p:cNvPr id="46" name="!!f_ahmadi"/>
          <p:cNvSpPr/>
          <p:nvPr/>
        </p:nvSpPr>
        <p:spPr>
          <a:xfrm rot="2700000">
            <a:off x="3022206" y="3137946"/>
            <a:ext cx="146304" cy="146304"/>
          </a:xfrm>
          <a:prstGeom prst="rect">
            <a:avLst/>
          </a:prstGeom>
          <a:solidFill>
            <a:srgbClr val="4A4A4F"/>
          </a:solidFill>
          <a:ln/>
        </p:spPr>
      </p:sp>
      <p:sp>
        <p:nvSpPr>
          <p:cNvPr id="47" name="!!fl_ahmadi"/>
          <p:cNvSpPr txBox="1"/>
          <p:nvPr/>
        </p:nvSpPr>
        <p:spPr>
          <a:xfrm>
            <a:off x="3291457" y="3028073"/>
            <a:ext cx="1737360" cy="274320"/>
          </a:xfrm>
          <a:prstGeom prst="rect">
            <a:avLst/>
          </a:prstGeom>
          <a:noFill/>
          <a:ln/>
        </p:spPr>
        <p:txBody>
          <a:bodyPr wrap="square" lIns="0" tIns="0" rIns="0" bIns="0" rtlCol="0" anchor="t"/>
          <a:lstStyle/>
          <a:p>
            <a:pPr algn="l" indent="0" marL="0">
              <a:buNone/>
            </a:pPr>
            <a:r>
              <a:rPr lang="en-US" sz="1300" dirty="0">
                <a:solidFill>
                  <a:schemeClr val="tx1">
                    <a:alpha val="0"/>
                  </a:schemeClr>
                </a:solidFill>
                <a:latin typeface="Arial" pitchFamily="34" charset="0"/>
                <a:ea typeface="Arial" pitchFamily="34" charset="-122"/>
                <a:cs typeface="Arial" pitchFamily="34" charset="-120"/>
              </a:rPr>
              <a:t>Mina Al-Ahmadi</a:t>
            </a:r>
            <a:endParaRPr lang="en-US" sz="1300" dirty="0"/>
          </a:p>
        </p:txBody>
      </p:sp>
      <p:sp>
        <p:nvSpPr>
          <p:cNvPr id="48" name="!!f_abdullah"/>
          <p:cNvSpPr/>
          <p:nvPr/>
        </p:nvSpPr>
        <p:spPr>
          <a:xfrm rot="2700000">
            <a:off x="3022206" y="3336036"/>
            <a:ext cx="146304" cy="146304"/>
          </a:xfrm>
          <a:prstGeom prst="rect">
            <a:avLst/>
          </a:prstGeom>
          <a:solidFill>
            <a:srgbClr val="4A4A4F"/>
          </a:solidFill>
          <a:ln/>
        </p:spPr>
      </p:sp>
      <p:sp>
        <p:nvSpPr>
          <p:cNvPr id="49" name="!!f_zour"/>
          <p:cNvSpPr/>
          <p:nvPr/>
        </p:nvSpPr>
        <p:spPr>
          <a:xfrm rot="2700000">
            <a:off x="3605255" y="4107150"/>
            <a:ext cx="182880" cy="182880"/>
          </a:xfrm>
          <a:prstGeom prst="rect">
            <a:avLst/>
          </a:prstGeom>
          <a:solidFill>
            <a:srgbClr val="F5F5F7"/>
          </a:solidFill>
          <a:ln/>
        </p:spPr>
      </p:sp>
      <p:sp>
        <p:nvSpPr>
          <p:cNvPr id="50" name="!!fl_zour"/>
          <p:cNvSpPr txBox="1"/>
          <p:nvPr/>
        </p:nvSpPr>
        <p:spPr>
          <a:xfrm>
            <a:off x="1685015" y="4043142"/>
            <a:ext cx="1783080" cy="310896"/>
          </a:xfrm>
          <a:prstGeom prst="rect">
            <a:avLst/>
          </a:prstGeom>
          <a:noFill/>
          <a:ln/>
        </p:spPr>
        <p:txBody>
          <a:bodyPr wrap="square" lIns="0" tIns="0" rIns="0" bIns="0" rtlCol="0" anchor="t"/>
          <a:lstStyle/>
          <a:p>
            <a:pPr algn="r" indent="0" marL="0">
              <a:buNone/>
            </a:pPr>
            <a:r>
              <a:rPr lang="en-US" sz="1500" dirty="0">
                <a:solidFill>
                  <a:schemeClr val="tx1"/>
                </a:solidFill>
                <a:effectLst>
                  <a:glow rad="76200">
                    <a:srgbClr val="141416">
                      <a:alpha val="85000"/>
                    </a:srgbClr>
                  </a:glow>
                </a:effectLst>
                <a:latin typeface="Arial" pitchFamily="34" charset="0"/>
                <a:ea typeface="Arial" pitchFamily="34" charset="-122"/>
                <a:cs typeface="Arial" pitchFamily="34" charset="-120"/>
              </a:rPr>
              <a:t>Al-Zour</a:t>
            </a:r>
            <a:endParaRPr lang="en-US" sz="1500" dirty="0"/>
          </a:p>
        </p:txBody>
      </p:sp>
      <p:sp>
        <p:nvSpPr>
          <p:cNvPr id="51" name="!!f_ahmaditown"/>
          <p:cNvSpPr/>
          <p:nvPr/>
        </p:nvSpPr>
        <p:spPr>
          <a:xfrm>
            <a:off x="2807996" y="3108381"/>
            <a:ext cx="146304" cy="146304"/>
          </a:xfrm>
          <a:prstGeom prst="ellipse">
            <a:avLst/>
          </a:prstGeom>
          <a:solidFill>
            <a:srgbClr val="000000">
              <a:alpha val="0"/>
            </a:srgbClr>
          </a:solidFill>
          <a:ln w="22225">
            <a:solidFill>
              <a:srgbClr val="4A4A4F"/>
            </a:solidFill>
            <a:prstDash val="solid"/>
          </a:ln>
        </p:spPr>
      </p:sp>
      <p:sp>
        <p:nvSpPr>
          <p:cNvPr id="52" name="!!zsw0_bg"/>
          <p:cNvSpPr/>
          <p:nvPr/>
        </p:nvSpPr>
        <p:spPr>
          <a:xfrm>
            <a:off x="548640" y="5449824"/>
            <a:ext cx="1620774" cy="365760"/>
          </a:xfrm>
          <a:prstGeom prst="roundRect">
            <a:avLst>
              <a:gd name="adj" fmla="val 50000"/>
            </a:avLst>
          </a:prstGeom>
          <a:solidFill>
            <a:srgbClr val="2C2C2E"/>
          </a:solidFill>
          <a:ln/>
        </p:spPr>
      </p:sp>
      <p:sp>
        <p:nvSpPr>
          <p:cNvPr id="53" name="!!zsw0_tx"/>
          <p:cNvSpPr txBox="1"/>
          <p:nvPr/>
        </p:nvSpPr>
        <p:spPr>
          <a:xfrm>
            <a:off x="548640" y="5449824"/>
            <a:ext cx="1620774" cy="365760"/>
          </a:xfrm>
          <a:prstGeom prst="rect">
            <a:avLst/>
          </a:prstGeom>
          <a:noFill/>
          <a:ln/>
        </p:spPr>
        <p:txBody>
          <a:bodyPr wrap="square" lIns="0" tIns="0" rIns="0" bIns="0" rtlCol="0" anchor="ctr"/>
          <a:lstStyle/>
          <a:p>
            <a:pPr algn="ctr" indent="0" marL="0">
              <a:buNone/>
            </a:pPr>
            <a:r>
              <a:rPr lang="en-US" sz="1400" b="1" dirty="0">
                <a:solidFill>
                  <a:schemeClr val="tx1"/>
                </a:solidFill>
                <a:latin typeface="Arial" pitchFamily="34" charset="0"/>
                <a:ea typeface="Arial" pitchFamily="34" charset="-122"/>
                <a:cs typeface="Arial" pitchFamily="34" charset="-120"/>
              </a:rPr>
              <a:t>South &amp; East</a:t>
            </a:r>
            <a:endParaRPr lang="en-US" sz="1400" dirty="0"/>
          </a:p>
        </p:txBody>
      </p:sp>
      <p:sp>
        <p:nvSpPr>
          <p:cNvPr id="54" name="!!zsw0_hit">
            <a:hlinkClick r:id="rId4" tooltip="Zoom to South &amp; East Kuwait" action="ppaction://hlinksldjump" highlightClick="1"/>
          </p:cNvPr>
          <p:cNvSpPr/>
          <p:nvPr/>
        </p:nvSpPr>
        <p:spPr>
          <a:xfrm>
            <a:off x="548640" y="5449824"/>
            <a:ext cx="1620774" cy="365760"/>
          </a:xfrm>
          <a:prstGeom prst="roundRect">
            <a:avLst>
              <a:gd name="adj" fmla="val 50000"/>
            </a:avLst>
          </a:prstGeom>
          <a:solidFill>
            <a:srgbClr val="000000">
              <a:alpha val="0"/>
            </a:srgbClr>
          </a:solidFill>
          <a:ln/>
        </p:spPr>
      </p:sp>
      <p:sp>
        <p:nvSpPr>
          <p:cNvPr id="55" name="!!zsw1_bg"/>
          <p:cNvSpPr/>
          <p:nvPr/>
        </p:nvSpPr>
        <p:spPr>
          <a:xfrm>
            <a:off x="2279142" y="5449824"/>
            <a:ext cx="1620774" cy="365760"/>
          </a:xfrm>
          <a:prstGeom prst="roundRect">
            <a:avLst>
              <a:gd name="adj" fmla="val 50000"/>
            </a:avLst>
          </a:prstGeom>
          <a:solidFill>
            <a:srgbClr val="2C2C2E"/>
          </a:solidFill>
          <a:ln/>
        </p:spPr>
      </p:sp>
      <p:sp>
        <p:nvSpPr>
          <p:cNvPr id="56" name="!!zsw1_tx"/>
          <p:cNvSpPr txBox="1"/>
          <p:nvPr/>
        </p:nvSpPr>
        <p:spPr>
          <a:xfrm>
            <a:off x="2279142" y="5449824"/>
            <a:ext cx="1620774" cy="365760"/>
          </a:xfrm>
          <a:prstGeom prst="rect">
            <a:avLst/>
          </a:prstGeom>
          <a:noFill/>
          <a:ln/>
        </p:spPr>
        <p:txBody>
          <a:bodyPr wrap="square" lIns="0" tIns="0" rIns="0" bIns="0" rtlCol="0" anchor="ctr"/>
          <a:lstStyle/>
          <a:p>
            <a:pPr algn="ctr" indent="0" marL="0">
              <a:buNone/>
            </a:pPr>
            <a:r>
              <a:rPr lang="en-US" sz="1400" b="1" dirty="0">
                <a:solidFill>
                  <a:schemeClr val="tx1"/>
                </a:solidFill>
                <a:latin typeface="Arial" pitchFamily="34" charset="0"/>
                <a:ea typeface="Arial" pitchFamily="34" charset="-122"/>
                <a:cs typeface="Arial" pitchFamily="34" charset="-120"/>
              </a:rPr>
              <a:t>North</a:t>
            </a:r>
            <a:endParaRPr lang="en-US" sz="1400" dirty="0"/>
          </a:p>
        </p:txBody>
      </p:sp>
      <p:sp>
        <p:nvSpPr>
          <p:cNvPr id="57" name="!!zsw1_hit">
            <a:hlinkClick r:id="rId5" tooltip="Zoom to North Kuwait" action="ppaction://hlinksldjump" highlightClick="1"/>
          </p:cNvPr>
          <p:cNvSpPr/>
          <p:nvPr/>
        </p:nvSpPr>
        <p:spPr>
          <a:xfrm>
            <a:off x="2279142" y="5449824"/>
            <a:ext cx="1620774" cy="365760"/>
          </a:xfrm>
          <a:prstGeom prst="roundRect">
            <a:avLst>
              <a:gd name="adj" fmla="val 50000"/>
            </a:avLst>
          </a:prstGeom>
          <a:solidFill>
            <a:srgbClr val="000000">
              <a:alpha val="0"/>
            </a:srgbClr>
          </a:solidFill>
          <a:ln/>
        </p:spPr>
      </p:sp>
      <p:sp>
        <p:nvSpPr>
          <p:cNvPr id="58" name="!!zsw2_bg"/>
          <p:cNvSpPr/>
          <p:nvPr/>
        </p:nvSpPr>
        <p:spPr>
          <a:xfrm>
            <a:off x="4009644" y="5449824"/>
            <a:ext cx="1620774" cy="365760"/>
          </a:xfrm>
          <a:prstGeom prst="roundRect">
            <a:avLst>
              <a:gd name="adj" fmla="val 50000"/>
            </a:avLst>
          </a:prstGeom>
          <a:solidFill>
            <a:srgbClr val="2C2C2E"/>
          </a:solidFill>
          <a:ln/>
        </p:spPr>
      </p:sp>
      <p:sp>
        <p:nvSpPr>
          <p:cNvPr id="59" name="!!zsw2_tx"/>
          <p:cNvSpPr txBox="1"/>
          <p:nvPr/>
        </p:nvSpPr>
        <p:spPr>
          <a:xfrm>
            <a:off x="4009644" y="5449824"/>
            <a:ext cx="1620774" cy="365760"/>
          </a:xfrm>
          <a:prstGeom prst="rect">
            <a:avLst/>
          </a:prstGeom>
          <a:noFill/>
          <a:ln/>
        </p:spPr>
        <p:txBody>
          <a:bodyPr wrap="square" lIns="0" tIns="0" rIns="0" bIns="0" rtlCol="0" anchor="ctr"/>
          <a:lstStyle/>
          <a:p>
            <a:pPr algn="ctr" indent="0" marL="0">
              <a:buNone/>
            </a:pPr>
            <a:r>
              <a:rPr lang="en-US" sz="1400" b="1" dirty="0">
                <a:solidFill>
                  <a:schemeClr val="tx1"/>
                </a:solidFill>
                <a:latin typeface="Arial" pitchFamily="34" charset="0"/>
                <a:ea typeface="Arial" pitchFamily="34" charset="-122"/>
                <a:cs typeface="Arial" pitchFamily="34" charset="-120"/>
              </a:rPr>
              <a:t>West</a:t>
            </a:r>
            <a:endParaRPr lang="en-US" sz="1400" dirty="0"/>
          </a:p>
        </p:txBody>
      </p:sp>
      <p:sp>
        <p:nvSpPr>
          <p:cNvPr id="60" name="!!zsw2_hit">
            <a:hlinkClick r:id="rId6" tooltip="Zoom to West Kuwait" action="ppaction://hlinksldjump" highlightClick="1"/>
          </p:cNvPr>
          <p:cNvSpPr/>
          <p:nvPr/>
        </p:nvSpPr>
        <p:spPr>
          <a:xfrm>
            <a:off x="4009644" y="5449824"/>
            <a:ext cx="1620774" cy="365760"/>
          </a:xfrm>
          <a:prstGeom prst="roundRect">
            <a:avLst>
              <a:gd name="adj" fmla="val 50000"/>
            </a:avLst>
          </a:prstGeom>
          <a:solidFill>
            <a:srgbClr val="000000">
              <a:alpha val="0"/>
            </a:srgbClr>
          </a:solidFill>
          <a:ln/>
        </p:spPr>
      </p:sp>
      <p:sp>
        <p:nvSpPr>
          <p:cNvPr id="61" name="!!zsw3_bg"/>
          <p:cNvSpPr/>
          <p:nvPr/>
        </p:nvSpPr>
        <p:spPr>
          <a:xfrm>
            <a:off x="5740146" y="5449824"/>
            <a:ext cx="1620774" cy="365760"/>
          </a:xfrm>
          <a:prstGeom prst="roundRect">
            <a:avLst>
              <a:gd name="adj" fmla="val 50000"/>
            </a:avLst>
          </a:prstGeom>
          <a:solidFill>
            <a:srgbClr val="FF9F0A"/>
          </a:solidFill>
          <a:ln/>
        </p:spPr>
      </p:sp>
      <p:sp>
        <p:nvSpPr>
          <p:cNvPr id="62" name="!!zsw3_tx"/>
          <p:cNvSpPr txBox="1"/>
          <p:nvPr/>
        </p:nvSpPr>
        <p:spPr>
          <a:xfrm>
            <a:off x="5740146" y="5449824"/>
            <a:ext cx="1620774"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PZ &amp; offshore</a:t>
            </a:r>
            <a:endParaRPr lang="en-US" sz="1400" dirty="0"/>
          </a:p>
        </p:txBody>
      </p:sp>
      <p:sp>
        <p:nvSpPr>
          <p:cNvPr id="63" name="!!zlist"/>
          <p:cNvSpPr txBox="1"/>
          <p:nvPr/>
        </p:nvSpPr>
        <p:spPr>
          <a:xfrm>
            <a:off x="7726680" y="1801368"/>
            <a:ext cx="3916375" cy="3529584"/>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Wafra</a:t>
            </a:r>
            <a:endParaRPr lang="en-US" sz="1600" dirty="0"/>
          </a:p>
          <a:p>
            <a:pPr indent="0" marL="0">
              <a:buNone/>
            </a:pPr>
            <a:r>
              <a:rPr lang="en-US" sz="1400" dirty="0">
                <a:solidFill>
                  <a:schemeClr val="tx2"/>
                </a:solidFill>
                <a:latin typeface="Arial" pitchFamily="34" charset="0"/>
                <a:ea typeface="Arial" pitchFamily="34" charset="-122"/>
                <a:cs typeface="Arial" pitchFamily="34" charset="-120"/>
              </a:rPr>
              <a:t>1953 · onshore, shared with Saudi Arabia</a:t>
            </a:r>
            <a:endParaRPr lang="en-US" sz="1600" dirty="0"/>
          </a:p>
          <a:p>
            <a:pPr indent="0" marL="0">
              <a:spcBef>
                <a:spcPts val="900"/>
              </a:spcBef>
              <a:buNone/>
            </a:pPr>
            <a:r>
              <a:rPr lang="en-US" sz="1600" b="1" dirty="0">
                <a:solidFill>
                  <a:schemeClr val="tx1"/>
                </a:solidFill>
                <a:latin typeface="Arial" pitchFamily="34" charset="0"/>
                <a:ea typeface="Arial" pitchFamily="34" charset="-122"/>
                <a:cs typeface="Arial" pitchFamily="34" charset="-120"/>
              </a:rPr>
              <a:t>Khafji</a:t>
            </a:r>
            <a:endParaRPr lang="en-US" sz="1600" dirty="0"/>
          </a:p>
          <a:p>
            <a:pPr indent="0" marL="0">
              <a:buNone/>
            </a:pPr>
            <a:r>
              <a:rPr lang="en-US" sz="1400" dirty="0">
                <a:solidFill>
                  <a:schemeClr val="tx2"/>
                </a:solidFill>
                <a:latin typeface="Arial" pitchFamily="34" charset="0"/>
                <a:ea typeface="Arial" pitchFamily="34" charset="-122"/>
                <a:cs typeface="Arial" pitchFamily="34" charset="-120"/>
              </a:rPr>
              <a:t>1959–60 · offshore, shared, medium-sour</a:t>
            </a:r>
            <a:endParaRPr lang="en-US" sz="1600" dirty="0"/>
          </a:p>
          <a:p>
            <a:pPr indent="0" marL="0">
              <a:spcBef>
                <a:spcPts val="900"/>
              </a:spcBef>
              <a:buNone/>
            </a:pPr>
            <a:r>
              <a:rPr lang="en-US" sz="1600" b="1" dirty="0">
                <a:solidFill>
                  <a:schemeClr val="tx1"/>
                </a:solidFill>
                <a:latin typeface="Arial" pitchFamily="34" charset="0"/>
                <a:ea typeface="Arial" pitchFamily="34" charset="-122"/>
                <a:cs typeface="Arial" pitchFamily="34" charset="-120"/>
              </a:rPr>
              <a:t>Hout</a:t>
            </a:r>
            <a:endParaRPr lang="en-US" sz="1600" dirty="0"/>
          </a:p>
          <a:p>
            <a:pPr indent="0" marL="0">
              <a:buNone/>
            </a:pPr>
            <a:r>
              <a:rPr lang="en-US" sz="1400" dirty="0">
                <a:solidFill>
                  <a:schemeClr val="tx2"/>
                </a:solidFill>
                <a:latin typeface="Arial" pitchFamily="34" charset="0"/>
                <a:ea typeface="Arial" pitchFamily="34" charset="-122"/>
                <a:cs typeface="Arial" pitchFamily="34" charset="-120"/>
              </a:rPr>
              <a:t>1963 · offshore, shared</a:t>
            </a:r>
            <a:endParaRPr lang="en-US" sz="1600" dirty="0"/>
          </a:p>
          <a:p>
            <a:pPr indent="0" marL="0">
              <a:spcBef>
                <a:spcPts val="900"/>
              </a:spcBef>
              <a:buNone/>
            </a:pPr>
            <a:r>
              <a:rPr lang="en-US" sz="1600" b="1" dirty="0">
                <a:solidFill>
                  <a:schemeClr val="tx1"/>
                </a:solidFill>
                <a:latin typeface="Arial" pitchFamily="34" charset="0"/>
                <a:ea typeface="Arial" pitchFamily="34" charset="-122"/>
                <a:cs typeface="Arial" pitchFamily="34" charset="-120"/>
              </a:rPr>
              <a:t>Dorra</a:t>
            </a:r>
            <a:endParaRPr lang="en-US" sz="1600" dirty="0"/>
          </a:p>
          <a:p>
            <a:pPr indent="0" marL="0">
              <a:buNone/>
            </a:pPr>
            <a:r>
              <a:rPr lang="en-US" sz="1400" dirty="0">
                <a:solidFill>
                  <a:schemeClr val="tx2"/>
                </a:solidFill>
                <a:latin typeface="Arial" pitchFamily="34" charset="0"/>
                <a:ea typeface="Arial" pitchFamily="34" charset="-122"/>
                <a:cs typeface="Arial" pitchFamily="34" charset="-120"/>
              </a:rPr>
              <a:t>1967 · gas field; Iran claims part of it</a:t>
            </a:r>
            <a:endParaRPr lang="en-US" sz="1600" dirty="0"/>
          </a:p>
          <a:p>
            <a:pPr indent="0" marL="0">
              <a:spcBef>
                <a:spcPts val="900"/>
              </a:spcBef>
              <a:buNone/>
            </a:pPr>
            <a:r>
              <a:rPr lang="en-US" sz="1600" b="1" dirty="0">
                <a:solidFill>
                  <a:schemeClr val="tx1"/>
                </a:solidFill>
                <a:latin typeface="Arial" pitchFamily="34" charset="0"/>
                <a:ea typeface="Arial" pitchFamily="34" charset="-122"/>
                <a:cs typeface="Arial" pitchFamily="34" charset="-120"/>
              </a:rPr>
              <a:t>Al-Nokhatha</a:t>
            </a:r>
            <a:endParaRPr lang="en-US" sz="1600" dirty="0"/>
          </a:p>
          <a:p>
            <a:pPr indent="0" marL="0">
              <a:buNone/>
            </a:pPr>
            <a:r>
              <a:rPr lang="en-US" sz="1400" dirty="0">
                <a:solidFill>
                  <a:schemeClr val="tx2"/>
                </a:solidFill>
                <a:latin typeface="Arial" pitchFamily="34" charset="0"/>
                <a:ea typeface="Arial" pitchFamily="34" charset="-122"/>
                <a:cs typeface="Arial" pitchFamily="34" charset="-120"/>
              </a:rPr>
              <a:t>2024 · offshore find, ≈ 3.2 bn boe</a:t>
            </a:r>
            <a:endParaRPr lang="en-US" sz="1600" dirty="0"/>
          </a:p>
          <a:p>
            <a:pPr indent="0" marL="0">
              <a:spcBef>
                <a:spcPts val="900"/>
              </a:spcBef>
              <a:buNone/>
            </a:pPr>
            <a:r>
              <a:rPr lang="en-US" sz="1600" b="1" dirty="0">
                <a:solidFill>
                  <a:schemeClr val="tx1"/>
                </a:solidFill>
                <a:latin typeface="Arial" pitchFamily="34" charset="0"/>
                <a:ea typeface="Arial" pitchFamily="34" charset="-122"/>
                <a:cs typeface="Arial" pitchFamily="34" charset="-120"/>
              </a:rPr>
              <a:t>Al-Jlaiaa</a:t>
            </a:r>
            <a:endParaRPr lang="en-US" sz="1600" dirty="0"/>
          </a:p>
          <a:p>
            <a:pPr indent="0" marL="0">
              <a:buNone/>
            </a:pPr>
            <a:r>
              <a:rPr lang="en-US" sz="1400" dirty="0">
                <a:solidFill>
                  <a:schemeClr val="tx2"/>
                </a:solidFill>
                <a:latin typeface="Arial" pitchFamily="34" charset="0"/>
                <a:ea typeface="Arial" pitchFamily="34" charset="-122"/>
                <a:cs typeface="Arial" pitchFamily="34" charset="-120"/>
              </a:rPr>
              <a:t>2025 · offshore find in Kuwaiti waters</a:t>
            </a:r>
            <a:endParaRPr lang="en-US" sz="1600" dirty="0"/>
          </a:p>
        </p:txBody>
      </p:sp>
      <p:sp>
        <p:nvSpPr>
          <p:cNvPr id="64" name="!!zback_bg"/>
          <p:cNvSpPr/>
          <p:nvPr/>
        </p:nvSpPr>
        <p:spPr>
          <a:xfrm>
            <a:off x="7726680" y="5449824"/>
            <a:ext cx="2103120" cy="365760"/>
          </a:xfrm>
          <a:prstGeom prst="roundRect">
            <a:avLst>
              <a:gd name="adj" fmla="val 50000"/>
            </a:avLst>
          </a:prstGeom>
          <a:solidFill>
            <a:srgbClr val="2C2C2E"/>
          </a:solidFill>
          <a:ln w="15875">
            <a:solidFill>
              <a:srgbClr val="3A3A3C"/>
            </a:solidFill>
            <a:prstDash val="solid"/>
          </a:ln>
        </p:spPr>
      </p:sp>
      <p:pic>
        <p:nvPicPr>
          <p:cNvPr id="65" name="!!zback_ic" descr="Decorative graphic">    </p:cNvPr>
          <p:cNvPicPr>
            <a:picLocks noChangeAspect="1"/>
          </p:cNvPicPr>
          <p:nvPr/>
        </p:nvPicPr>
        <p:blipFill>
          <a:blip r:embed="rId7"/>
          <a:stretch>
            <a:fillRect/>
          </a:stretch>
        </p:blipFill>
        <p:spPr>
          <a:xfrm>
            <a:off x="8121625" y="5541264"/>
            <a:ext cx="182880" cy="182880"/>
          </a:xfrm>
          <a:prstGeom prst="rect">
            <a:avLst/>
          </a:prstGeom>
        </p:spPr>
      </p:pic>
      <p:sp>
        <p:nvSpPr>
          <p:cNvPr id="66" name="!!zback_tx"/>
          <p:cNvSpPr txBox="1"/>
          <p:nvPr/>
        </p:nvSpPr>
        <p:spPr>
          <a:xfrm>
            <a:off x="8377657" y="5449824"/>
            <a:ext cx="1240079" cy="365760"/>
          </a:xfrm>
          <a:prstGeom prst="rect">
            <a:avLst/>
          </a:prstGeom>
          <a:noFill/>
          <a:ln/>
        </p:spPr>
        <p:txBody>
          <a:bodyPr wrap="square" lIns="0" tIns="0" rIns="0" bIns="0" rtlCol="0" anchor="ctr"/>
          <a:lstStyle/>
          <a:p>
            <a:pPr algn="l" indent="0" marL="0">
              <a:buNone/>
            </a:pPr>
            <a:r>
              <a:rPr lang="en-US" sz="1400" b="1" dirty="0">
                <a:solidFill>
                  <a:schemeClr val="tx1"/>
                </a:solidFill>
                <a:latin typeface="Arial" pitchFamily="34" charset="0"/>
                <a:ea typeface="Arial" pitchFamily="34" charset="-122"/>
                <a:cs typeface="Arial" pitchFamily="34" charset="-120"/>
              </a:rPr>
              <a:t>Back to map</a:t>
            </a:r>
            <a:endParaRPr lang="en-US" sz="1400" dirty="0"/>
          </a:p>
        </p:txBody>
      </p:sp>
      <p:sp>
        <p:nvSpPr>
          <p:cNvPr id="67" name="!!zback_hit">
            <a:hlinkClick r:id="rId8" tooltip="Back to map" action="ppaction://hlinksldjump" highlightClick="1"/>
          </p:cNvPr>
          <p:cNvSpPr/>
          <p:nvPr/>
        </p:nvSpPr>
        <p:spPr>
          <a:xfrm>
            <a:off x="7726680" y="5449824"/>
            <a:ext cx="2103120" cy="365760"/>
          </a:xfrm>
          <a:prstGeom prst="roundRect">
            <a:avLst>
              <a:gd name="adj" fmla="val 50000"/>
            </a:avLst>
          </a:prstGeom>
          <a:solidFill>
            <a:srgbClr val="000000">
              <a:alpha val="0"/>
            </a:srgbClr>
          </a:solidFill>
          <a:ln/>
        </p:spPr>
      </p:sp>
      <p:sp>
        <p:nvSpPr>
          <p:cNvPr id="68" name="!!source"/>
          <p:cNvSpPr txBox="1"/>
          <p:nvPr/>
        </p:nvSpPr>
        <p:spPr>
          <a:xfrm>
            <a:off x="548640" y="5943600"/>
            <a:ext cx="9692640" cy="274320"/>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Sources: KPC (n.d.-a), KOC field map; Horn (2014); Naqi et al. (2023); KUNA (2024); Offshore Engineer (2025). Positions approximate.</a:t>
            </a:r>
            <a:endParaRPr lang="en-US" sz="1200" dirty="0"/>
          </a:p>
        </p:txBody>
      </p:sp>
      <p:sp>
        <p:nvSpPr>
          <p:cNvPr id="69" name="!!home_bg"/>
          <p:cNvSpPr/>
          <p:nvPr/>
        </p:nvSpPr>
        <p:spPr>
          <a:xfrm>
            <a:off x="10637215" y="6272784"/>
            <a:ext cx="384048" cy="384048"/>
          </a:xfrm>
          <a:prstGeom prst="roundRect">
            <a:avLst>
              <a:gd name="adj" fmla="val 23810"/>
            </a:avLst>
          </a:prstGeom>
          <a:solidFill>
            <a:srgbClr val="2C2C2E"/>
          </a:solidFill>
          <a:ln/>
        </p:spPr>
      </p:sp>
      <p:pic>
        <p:nvPicPr>
          <p:cNvPr id="70" name="!!home_ic" descr="Decorative graphic">    </p:cNvPr>
          <p:cNvPicPr>
            <a:picLocks noChangeAspect="1"/>
          </p:cNvPicPr>
          <p:nvPr/>
        </p:nvPicPr>
        <p:blipFill>
          <a:blip r:embed="rId9"/>
          <a:stretch>
            <a:fillRect/>
          </a:stretch>
        </p:blipFill>
        <p:spPr>
          <a:xfrm>
            <a:off x="10719511" y="6355080"/>
            <a:ext cx="219456" cy="219456"/>
          </a:xfrm>
          <a:prstGeom prst="rect">
            <a:avLst/>
          </a:prstGeom>
        </p:spPr>
      </p:pic>
      <p:sp>
        <p:nvSpPr>
          <p:cNvPr id="71" name="!!home_hit">
            <a:hlinkClick r:id="rId10" tooltip="Back to contents" action="ppaction://hlinksldjump" highlightClick="1"/>
          </p:cNvPr>
          <p:cNvSpPr/>
          <p:nvPr/>
        </p:nvSpPr>
        <p:spPr>
          <a:xfrm>
            <a:off x="10637215" y="6272784"/>
            <a:ext cx="384048" cy="384048"/>
          </a:xfrm>
          <a:prstGeom prst="roundRect">
            <a:avLst>
              <a:gd name="adj" fmla="val 23810"/>
            </a:avLst>
          </a:prstGeom>
          <a:solidFill>
            <a:srgbClr val="000000">
              <a:alpha val="0"/>
            </a:srgbClr>
          </a:solidFill>
          <a:ln/>
        </p:spPr>
      </p:sp>
      <p:sp>
        <p:nvSpPr>
          <p:cNvPr id="73" name="!!footer"/>
          <p:cNvSpPr txBox="1"/>
          <p:nvPr/>
        </p:nvSpPr>
        <p:spPr>
          <a:xfrm>
            <a:off x="548640" y="6327648"/>
            <a:ext cx="5486400" cy="292608"/>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Kuwait Oil &amp; Gas  ·  EGCH2230</a:t>
            </a:r>
            <a:endParaRPr lang="en-US" sz="1200" dirty="0"/>
          </a:p>
        </p:txBody>
      </p:sp>
      <p:sp>
        <p:nvSpPr>
          <p:cNvPr id="74" name="!!num"/>
          <p:cNvSpPr txBox="1"/>
          <p:nvPr/>
        </p:nvSpPr>
        <p:spPr>
          <a:xfrm>
            <a:off x="11094415" y="6327648"/>
            <a:ext cx="548640" cy="292608"/>
          </a:xfrm>
          <a:prstGeom prst="rect">
            <a:avLst/>
          </a:prstGeom>
          <a:noFill/>
          <a:ln/>
        </p:spPr>
        <p:txBody>
          <a:bodyPr wrap="square" lIns="0" tIns="0" rIns="0" bIns="0" rtlCol="0" anchor="ctr"/>
          <a:lstStyle/>
          <a:p>
            <a:pPr algn="r" indent="0" marL="0">
              <a:buNone/>
            </a:pPr>
            <a:r>
              <a:rPr lang="en-US" sz="1200" dirty="0">
                <a:solidFill>
                  <a:schemeClr val="tx2"/>
                </a:solidFill>
                <a:latin typeface="Arial" pitchFamily="34" charset="0"/>
                <a:ea typeface="Arial" pitchFamily="34" charset="-122"/>
                <a:cs typeface="Arial" pitchFamily="34" charset="-120"/>
              </a:rPr>
              <a:t>16</a:t>
            </a:r>
            <a:endParaRPr lang="en-US" sz="1200" dirty="0"/>
          </a:p>
        </p:txBody>
      </p:sp>
      <p:pic>
        <p:nvPicPr>
          <p:cNvPr id="75" name="!!badge" descr="University of Technology and Applied Sciences, Salalah">    </p:cNvPr>
          <p:cNvPicPr>
            <a:picLocks noChangeAspect="1"/>
          </p:cNvPicPr>
          <p:nvPr/>
        </p:nvPicPr>
        <p:blipFill>
          <a:blip r:embed="rId11"/>
          <a:stretch>
            <a:fillRect/>
          </a:stretch>
        </p:blipFill>
        <p:spPr>
          <a:xfrm>
            <a:off x="9677095" y="274320"/>
            <a:ext cx="1965960" cy="80987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4:dur="1400" advClick="0">
        <p159:morph option="byObject"/>
      </p:transition>
    </mc:Choice>
    <mc:Fallback>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0" presetClass="path" presetSubtype="0" fill="hold" grpId="0" nodeType="afterEffect" repeatCount="indefinite" autoRev="1">
                                  <p:stCondLst>
                                    <p:cond delay="0"/>
                                  </p:stCondLst>
                                  <p:childTnLst>
                                    <p:animMotion origin="layout" path="M 0 0 L 0.0350 -0.0300 E" pathEditMode="relative" ptsTypes="">
                                      <p:cBhvr>
                                        <p:cTn id="5" dur="13000" fill="hold" accel="50000" decel="50000"/>
                                        <p:tgtEl>
                                          <p:spTgt spid="2"/>
                                        </p:tgtEl>
                                        <p:attrNameLst>
                                          <p:attrName>ppt_x</p:attrName>
                                          <p:attrName>ppt_y</p:attrName>
                                        </p:attrNameLst>
                                      </p:cBhvr>
                                      <p:rCtr x="0" y="0"/>
                                    </p:animMotion>
                                  </p:childTnLst>
                                </p:cTn>
                              </p:par>
                              <p:par>
                                <p:cTn id="8" presetID="0" presetClass="path" presetSubtype="0" fill="hold" grpId="0" nodeType="withEffect" repeatCount="indefinite" autoRev="1">
                                  <p:stCondLst>
                                    <p:cond delay="0"/>
                                  </p:stCondLst>
                                  <p:childTnLst>
                                    <p:animMotion origin="layout" path="M 0 0 L -0.0300 0.0250 E" pathEditMode="relative" ptsTypes="">
                                      <p:cBhvr>
                                        <p:cTn id="7" dur="15000" fill="hold" accel="50000" decel="50000"/>
                                        <p:tgtEl>
                                          <p:spTgt spid="3"/>
                                        </p:tgtEl>
                                        <p:attrNameLst>
                                          <p:attrName>ppt_x</p:attrName>
                                          <p:attrName>ppt_y</p:attrName>
                                        </p:attrNameLst>
                                      </p:cBhvr>
                                      <p:rCtr x="0" y="0"/>
                                    </p:animMotion>
                                  </p:childTnLst>
                                </p:cTn>
                              </p:par>
                              <p:par>
                                <p:cTn id="10" presetID="6" presetClass="emph" presetSubtype="0" fill="hold" grpId="0" nodeType="withEffect" repeatCount="indefinite" autoRev="1">
                                  <p:stCondLst>
                                    <p:cond delay="1000"/>
                                  </p:stCondLst>
                                  <p:childTnLst>
                                    <p:animScale>
                                      <p:cBhvr>
                                        <p:cTn id="9" dur="1700" fill="hold" accel="50000" decel="50000"/>
                                        <p:tgtEl>
                                          <p:spTgt spid="34"/>
                                        </p:tgtEl>
                                      </p:cBhvr>
                                      <p:by x="120000" y="120000"/>
                                    </p:animScale>
                                  </p:childTnLst>
                                </p:cTn>
                              </p:par>
                              <p:par>
                                <p:cTn id="12" presetID="6" presetClass="emph" presetSubtype="0" fill="hold" grpId="0" nodeType="withEffect" repeatCount="indefinite" autoRev="1">
                                  <p:stCondLst>
                                    <p:cond delay="1000"/>
                                  </p:stCondLst>
                                  <p:childTnLst>
                                    <p:animScale>
                                      <p:cBhvr>
                                        <p:cTn id="11" dur="1700" fill="hold" accel="50000" decel="50000"/>
                                        <p:tgtEl>
                                          <p:spTgt spid="38"/>
                                        </p:tgtEl>
                                      </p:cBhvr>
                                      <p:by x="120000" y="12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8" grpId="0" animBg="1"/>
    </p:bldLst>
  </p:timing>
</p:sld>
</file>

<file path=ppt/slides/slide21.xml><?xml version="1.0" encoding="utf-8"?>
<p:sld xmlns:p14="http://schemas.microsoft.com/office/powerpoint/2010/main" xmlns:a="http://schemas.openxmlformats.org/drawingml/2006/main" xmlns:r="http://schemas.openxmlformats.org/officeDocument/2006/relationships" xmlns:p="http://schemas.openxmlformats.org/presentationml/2006/main" show="0">
  <p:cSld name="Slide 21">
    <p:spTree>
      <p:nvGrpSpPr>
        <p:cNvPr id="1" name=""/>
        <p:cNvGrpSpPr/>
        <p:nvPr/>
      </p:nvGrpSpPr>
      <p:grpSpPr>
        <a:xfrm>
          <a:off x="0" y="0"/>
          <a:ext cx="0" cy="0"/>
          <a:chOff x="0" y="0"/>
          <a:chExt cx="0" cy="0"/>
        </a:xfrm>
      </p:grpSpPr>
      <p:pic>
        <p:nvPicPr>
          <p:cNvPr id="2" name="!!orbA" descr="Decorative background light">    </p:cNvPr>
          <p:cNvPicPr>
            <a:picLocks noChangeAspect="1"/>
          </p:cNvPicPr>
          <p:nvPr/>
        </p:nvPicPr>
        <p:blipFill>
          <a:blip r:embed="rId1"/>
          <a:stretch>
            <a:fillRect/>
          </a:stretch>
        </p:blipFill>
        <p:spPr>
          <a:xfrm>
            <a:off x="-320040" y="-45720"/>
            <a:ext cx="7772400" cy="7772400"/>
          </a:xfrm>
          <a:prstGeom prst="rect">
            <a:avLst/>
          </a:prstGeom>
        </p:spPr>
      </p:pic>
      <p:pic>
        <p:nvPicPr>
          <p:cNvPr id="3" name="!!orbB" descr="Decorative background light">    </p:cNvPr>
          <p:cNvPicPr>
            <a:picLocks noChangeAspect="1"/>
          </p:cNvPicPr>
          <p:nvPr/>
        </p:nvPicPr>
        <p:blipFill>
          <a:blip r:embed="rId2"/>
          <a:stretch>
            <a:fillRect/>
          </a:stretch>
        </p:blipFill>
        <p:spPr>
          <a:xfrm>
            <a:off x="7772400" y="3566160"/>
            <a:ext cx="5486400" cy="5486400"/>
          </a:xfrm>
          <a:prstGeom prst="rect">
            <a:avLst/>
          </a:prstGeom>
        </p:spPr>
      </p:pic>
      <p:sp>
        <p:nvSpPr>
          <p:cNvPr id="4" name="!!kicker"/>
          <p:cNvSpPr/>
          <p:nvPr>
            <p:ph idx="100" type="body" hasCustomPrompt="1"/>
          </p:nvPr>
        </p:nvSpPr>
        <p:spPr>
          <a:xfrm>
            <a:off x="548640" y="384048"/>
            <a:ext cx="8732520" cy="329184"/>
          </a:xfrm>
          <a:prstGeom prst="rect">
            <a:avLst/>
          </a:prstGeom>
          <a:noFill/>
          <a:ln/>
        </p:spPr>
        <p:txBody>
          <a:bodyPr wrap="square" lIns="0" tIns="0" rIns="0" bIns="0" rtlCol="0" anchor="t"/>
          <a:lstStyle/>
          <a:p>
            <a:pPr algn="l" indent="0" marL="0">
              <a:buNone/>
            </a:pPr>
            <a:r>
              <a:rPr lang="en-US" sz="1500" b="1" spc="300" kern="0" dirty="0">
                <a:solidFill>
                  <a:schemeClr val="accent1"/>
                </a:solidFill>
              </a:rPr>
              <a:t>03 — RESERVOIR LOCATIONS</a:t>
            </a:r>
            <a:endParaRPr lang="en-US" sz="1500" dirty="0"/>
          </a:p>
        </p:txBody>
      </p:sp>
      <p:sp>
        <p:nvSpPr>
          <p:cNvPr id="5" name="!!title"/>
          <p:cNvSpPr/>
          <p:nvPr>
            <p:ph idx="101" type="title" hasCustomPrompt="1"/>
          </p:nvPr>
        </p:nvSpPr>
        <p:spPr>
          <a:xfrm>
            <a:off x="548640" y="731520"/>
            <a:ext cx="8732520" cy="786384"/>
          </a:xfrm>
          <a:prstGeom prst="rect">
            <a:avLst/>
          </a:prstGeom>
          <a:noFill/>
          <a:ln/>
        </p:spPr>
        <p:txBody>
          <a:bodyPr wrap="square" lIns="0" tIns="0" rIns="0" bIns="0" rtlCol="0" anchor="t"/>
          <a:lstStyle/>
          <a:p>
            <a:pPr algn="l" indent="0" marL="0">
              <a:buNone/>
            </a:pPr>
            <a:r>
              <a:rPr lang="en-US" sz="3800" b="1" dirty="0">
                <a:solidFill>
                  <a:schemeClr val="tx1"/>
                </a:solidFill>
              </a:rPr>
              <a:t>Kuwait’s oil and gas map</a:t>
            </a:r>
            <a:endParaRPr lang="en-US" sz="3800" dirty="0"/>
          </a:p>
        </p:txBody>
      </p:sp>
      <p:pic>
        <p:nvPicPr>
          <p:cNvPr id="6" name="!!map" descr="Map of Kuwait with its main oil and gas fields">    </p:cNvPr>
          <p:cNvPicPr>
            <a:picLocks noChangeAspect="1"/>
          </p:cNvPicPr>
          <p:nvPr/>
        </p:nvPicPr>
        <p:blipFill>
          <a:blip r:embed="rId3"/>
          <a:stretch>
            <a:fillRect/>
          </a:stretch>
        </p:blipFill>
        <p:spPr>
          <a:xfrm>
            <a:off x="914400" y="1600200"/>
            <a:ext cx="5415461" cy="4343400"/>
          </a:xfrm>
          <a:prstGeom prst="rect">
            <a:avLst/>
          </a:prstGeom>
        </p:spPr>
      </p:pic>
      <p:sp>
        <p:nvSpPr>
          <p:cNvPr id="7" name="!!f_burgan"/>
          <p:cNvSpPr/>
          <p:nvPr/>
        </p:nvSpPr>
        <p:spPr>
          <a:xfrm>
            <a:off x="3954311" y="4017373"/>
            <a:ext cx="274320" cy="274320"/>
          </a:xfrm>
          <a:prstGeom prst="ellipse">
            <a:avLst/>
          </a:prstGeom>
          <a:solidFill>
            <a:srgbClr val="FF9F0A"/>
          </a:solidFill>
          <a:ln/>
          <a:effectLst>
            <a:outerShdw sx="100000" sy="100000" kx="0" ky="0" algn="bl" rotWithShape="0" blurRad="228600" dist="50800" dir="5400000">
              <a:srgbClr val="FF9F0A">
                <a:alpha val="90000"/>
              </a:srgbClr>
            </a:outerShdw>
          </a:effectLst>
        </p:spPr>
      </p:sp>
      <p:sp>
        <p:nvSpPr>
          <p:cNvPr id="8" name="!!fl_burgan"/>
          <p:cNvSpPr txBox="1"/>
          <p:nvPr/>
        </p:nvSpPr>
        <p:spPr>
          <a:xfrm>
            <a:off x="4000031" y="4328269"/>
            <a:ext cx="1737360" cy="274320"/>
          </a:xfrm>
          <a:prstGeom prst="rect">
            <a:avLst/>
          </a:prstGeom>
          <a:noFill/>
          <a:ln/>
        </p:spPr>
        <p:txBody>
          <a:bodyPr wrap="square" lIns="0" tIns="0" rIns="0" bIns="0" rtlCol="0" anchor="t"/>
          <a:lstStyle/>
          <a:p>
            <a:pPr algn="l" indent="0" marL="0">
              <a:buNone/>
            </a:pPr>
            <a:r>
              <a:rPr lang="en-US" sz="1300" b="1" dirty="0">
                <a:solidFill>
                  <a:schemeClr val="tx1"/>
                </a:solidFill>
                <a:effectLst>
                  <a:glow rad="76200">
                    <a:srgbClr val="141416">
                      <a:alpha val="85000"/>
                    </a:srgbClr>
                  </a:glow>
                </a:effectLst>
                <a:latin typeface="Arial" pitchFamily="34" charset="0"/>
                <a:ea typeface="Arial" pitchFamily="34" charset="-122"/>
                <a:cs typeface="Arial" pitchFamily="34" charset="-120"/>
              </a:rPr>
              <a:t>Greater Burgan</a:t>
            </a:r>
            <a:endParaRPr lang="en-US" sz="1300" dirty="0"/>
          </a:p>
        </p:txBody>
      </p:sp>
      <p:sp>
        <p:nvSpPr>
          <p:cNvPr id="9" name="!!f_raudhatain"/>
          <p:cNvSpPr/>
          <p:nvPr/>
        </p:nvSpPr>
        <p:spPr>
          <a:xfrm>
            <a:off x="3580644" y="2217964"/>
            <a:ext cx="274320" cy="274320"/>
          </a:xfrm>
          <a:prstGeom prst="ellipse">
            <a:avLst/>
          </a:prstGeom>
          <a:solidFill>
            <a:srgbClr val="FF9F0A"/>
          </a:solidFill>
          <a:ln/>
          <a:effectLst>
            <a:outerShdw sx="100000" sy="100000" kx="0" ky="0" algn="bl" rotWithShape="0" blurRad="228600" dist="50800" dir="5400000">
              <a:srgbClr val="FF9F0A">
                <a:alpha val="90000"/>
              </a:srgbClr>
            </a:outerShdw>
          </a:effectLst>
        </p:spPr>
      </p:sp>
      <p:sp>
        <p:nvSpPr>
          <p:cNvPr id="10" name="!!fl_raudhatain"/>
          <p:cNvSpPr txBox="1"/>
          <p:nvPr/>
        </p:nvSpPr>
        <p:spPr>
          <a:xfrm>
            <a:off x="1706124" y="1897924"/>
            <a:ext cx="1737360" cy="274320"/>
          </a:xfrm>
          <a:prstGeom prst="rect">
            <a:avLst/>
          </a:prstGeom>
          <a:noFill/>
          <a:ln/>
        </p:spPr>
        <p:txBody>
          <a:bodyPr wrap="square" lIns="0" tIns="0" rIns="0" bIns="0" rtlCol="0" anchor="t"/>
          <a:lstStyle/>
          <a:p>
            <a:pPr algn="r" indent="0" marL="0">
              <a:buNone/>
            </a:pPr>
            <a:r>
              <a:rPr lang="en-US" sz="1300" b="1" dirty="0">
                <a:solidFill>
                  <a:schemeClr val="tx1"/>
                </a:solidFill>
                <a:effectLst>
                  <a:glow rad="76200">
                    <a:srgbClr val="141416">
                      <a:alpha val="85000"/>
                    </a:srgbClr>
                  </a:glow>
                </a:effectLst>
                <a:latin typeface="Arial" pitchFamily="34" charset="0"/>
                <a:ea typeface="Arial" pitchFamily="34" charset="-122"/>
                <a:cs typeface="Arial" pitchFamily="34" charset="-120"/>
              </a:rPr>
              <a:t>Raudhatain</a:t>
            </a:r>
            <a:endParaRPr lang="en-US" sz="1300" dirty="0"/>
          </a:p>
        </p:txBody>
      </p:sp>
      <p:sp>
        <p:nvSpPr>
          <p:cNvPr id="11" name="!!fk_raudhatain"/>
          <p:cNvSpPr/>
          <p:nvPr/>
        </p:nvSpPr>
        <p:spPr>
          <a:xfrm>
            <a:off x="3443484" y="2080804"/>
            <a:ext cx="164592" cy="155448"/>
          </a:xfrm>
          <a:prstGeom prst="line">
            <a:avLst/>
          </a:prstGeom>
          <a:noFill/>
          <a:ln w="12700">
            <a:solidFill>
              <a:srgbClr val="A1A1A6"/>
            </a:solidFill>
            <a:prstDash val="solid"/>
          </a:ln>
        </p:spPr>
      </p:sp>
      <p:sp>
        <p:nvSpPr>
          <p:cNvPr id="12" name="!!f_sabriya"/>
          <p:cNvSpPr/>
          <p:nvPr/>
        </p:nvSpPr>
        <p:spPr>
          <a:xfrm>
            <a:off x="3846593" y="2393986"/>
            <a:ext cx="182880" cy="182880"/>
          </a:xfrm>
          <a:prstGeom prst="ellipse">
            <a:avLst/>
          </a:prstGeom>
          <a:solidFill>
            <a:srgbClr val="FF9F0A"/>
          </a:solidFill>
          <a:ln/>
          <a:effectLst>
            <a:outerShdw sx="100000" sy="100000" kx="0" ky="0" algn="bl" rotWithShape="0" blurRad="127000" dist="50800" dir="5400000">
              <a:srgbClr val="FF9F0A">
                <a:alpha val="90000"/>
              </a:srgbClr>
            </a:outerShdw>
          </a:effectLst>
        </p:spPr>
      </p:sp>
      <p:sp>
        <p:nvSpPr>
          <p:cNvPr id="13" name="!!fl_sabriya"/>
          <p:cNvSpPr txBox="1"/>
          <p:nvPr/>
        </p:nvSpPr>
        <p:spPr>
          <a:xfrm>
            <a:off x="4093481" y="2366554"/>
            <a:ext cx="1737360" cy="274320"/>
          </a:xfrm>
          <a:prstGeom prst="rect">
            <a:avLst/>
          </a:prstGeom>
          <a:noFill/>
          <a:ln/>
        </p:spPr>
        <p:txBody>
          <a:bodyPr wrap="square" lIns="0" tIns="0" rIns="0" bIns="0" rtlCol="0" anchor="t"/>
          <a:lstStyle/>
          <a:p>
            <a:pPr algn="l" indent="0" marL="0">
              <a:buNone/>
            </a:pPr>
            <a:r>
              <a:rPr lang="en-US" sz="1300" b="1" dirty="0">
                <a:solidFill>
                  <a:schemeClr val="tx1"/>
                </a:solidFill>
                <a:effectLst>
                  <a:glow rad="76200">
                    <a:srgbClr val="141416">
                      <a:alpha val="85000"/>
                    </a:srgbClr>
                  </a:glow>
                </a:effectLst>
                <a:latin typeface="Arial" pitchFamily="34" charset="0"/>
                <a:ea typeface="Arial" pitchFamily="34" charset="-122"/>
                <a:cs typeface="Arial" pitchFamily="34" charset="-120"/>
              </a:rPr>
              <a:t>Sabriya</a:t>
            </a:r>
            <a:endParaRPr lang="en-US" sz="1300" dirty="0"/>
          </a:p>
        </p:txBody>
      </p:sp>
      <p:sp>
        <p:nvSpPr>
          <p:cNvPr id="14" name="!!f_bahra"/>
          <p:cNvSpPr/>
          <p:nvPr/>
        </p:nvSpPr>
        <p:spPr>
          <a:xfrm>
            <a:off x="3958512" y="2776619"/>
            <a:ext cx="182880" cy="182880"/>
          </a:xfrm>
          <a:prstGeom prst="ellipse">
            <a:avLst/>
          </a:prstGeom>
          <a:solidFill>
            <a:srgbClr val="FF9F0A"/>
          </a:solidFill>
          <a:ln/>
          <a:effectLst>
            <a:outerShdw sx="100000" sy="100000" kx="0" ky="0" algn="bl" rotWithShape="0" blurRad="127000" dist="50800" dir="5400000">
              <a:srgbClr val="FF9F0A">
                <a:alpha val="90000"/>
              </a:srgbClr>
            </a:outerShdw>
          </a:effectLst>
        </p:spPr>
      </p:sp>
      <p:sp>
        <p:nvSpPr>
          <p:cNvPr id="15" name="!!fl_bahra"/>
          <p:cNvSpPr txBox="1"/>
          <p:nvPr/>
        </p:nvSpPr>
        <p:spPr>
          <a:xfrm>
            <a:off x="4205400" y="2749187"/>
            <a:ext cx="1737360" cy="274320"/>
          </a:xfrm>
          <a:prstGeom prst="rect">
            <a:avLst/>
          </a:prstGeom>
          <a:noFill/>
          <a:ln/>
        </p:spPr>
        <p:txBody>
          <a:bodyPr wrap="square" lIns="0" tIns="0" rIns="0" bIns="0" rtlCol="0" anchor="t"/>
          <a:lstStyle/>
          <a:p>
            <a:pPr algn="l" indent="0" marL="0">
              <a:buNone/>
            </a:pPr>
            <a:r>
              <a:rPr lang="en-US" sz="1300" b="1" dirty="0">
                <a:solidFill>
                  <a:schemeClr val="tx1"/>
                </a:solidFill>
                <a:effectLst>
                  <a:glow rad="76200">
                    <a:srgbClr val="141416">
                      <a:alpha val="85000"/>
                    </a:srgbClr>
                  </a:glow>
                </a:effectLst>
                <a:latin typeface="Arial" pitchFamily="34" charset="0"/>
                <a:ea typeface="Arial" pitchFamily="34" charset="-122"/>
                <a:cs typeface="Arial" pitchFamily="34" charset="-120"/>
              </a:rPr>
              <a:t>Bahra</a:t>
            </a:r>
            <a:endParaRPr lang="en-US" sz="1300" dirty="0"/>
          </a:p>
        </p:txBody>
      </p:sp>
      <p:sp>
        <p:nvSpPr>
          <p:cNvPr id="16" name="!!f_ratqa"/>
          <p:cNvSpPr/>
          <p:nvPr/>
        </p:nvSpPr>
        <p:spPr>
          <a:xfrm>
            <a:off x="3050520" y="2271957"/>
            <a:ext cx="182880" cy="182880"/>
          </a:xfrm>
          <a:prstGeom prst="ellipse">
            <a:avLst/>
          </a:prstGeom>
          <a:solidFill>
            <a:srgbClr val="FF9F0A"/>
          </a:solidFill>
          <a:ln/>
          <a:effectLst>
            <a:outerShdw sx="100000" sy="100000" kx="0" ky="0" algn="bl" rotWithShape="0" blurRad="127000" dist="50800" dir="5400000">
              <a:srgbClr val="FF9F0A">
                <a:alpha val="90000"/>
              </a:srgbClr>
            </a:outerShdw>
          </a:effectLst>
        </p:spPr>
      </p:sp>
      <p:sp>
        <p:nvSpPr>
          <p:cNvPr id="17" name="!!fl_ratqa"/>
          <p:cNvSpPr txBox="1"/>
          <p:nvPr/>
        </p:nvSpPr>
        <p:spPr>
          <a:xfrm>
            <a:off x="1240008" y="2226237"/>
            <a:ext cx="1737360" cy="274320"/>
          </a:xfrm>
          <a:prstGeom prst="rect">
            <a:avLst/>
          </a:prstGeom>
          <a:noFill/>
          <a:ln/>
        </p:spPr>
        <p:txBody>
          <a:bodyPr wrap="square" lIns="0" tIns="0" rIns="0" bIns="0" rtlCol="0" anchor="t"/>
          <a:lstStyle/>
          <a:p>
            <a:pPr algn="r" indent="0" marL="0">
              <a:buNone/>
            </a:pPr>
            <a:r>
              <a:rPr lang="en-US" sz="1300" b="1" dirty="0">
                <a:solidFill>
                  <a:schemeClr val="tx1"/>
                </a:solidFill>
                <a:effectLst>
                  <a:glow rad="76200">
                    <a:srgbClr val="141416">
                      <a:alpha val="85000"/>
                    </a:srgbClr>
                  </a:glow>
                </a:effectLst>
                <a:latin typeface="Arial" pitchFamily="34" charset="0"/>
                <a:ea typeface="Arial" pitchFamily="34" charset="-122"/>
                <a:cs typeface="Arial" pitchFamily="34" charset="-120"/>
              </a:rPr>
              <a:t>Ratqa (heavy oil)</a:t>
            </a:r>
            <a:endParaRPr lang="en-US" sz="1300" dirty="0"/>
          </a:p>
        </p:txBody>
      </p:sp>
      <p:sp>
        <p:nvSpPr>
          <p:cNvPr id="18" name="!!f_abdali"/>
          <p:cNvSpPr/>
          <p:nvPr/>
        </p:nvSpPr>
        <p:spPr>
          <a:xfrm>
            <a:off x="3707596" y="1949305"/>
            <a:ext cx="182880" cy="182880"/>
          </a:xfrm>
          <a:prstGeom prst="ellipse">
            <a:avLst/>
          </a:prstGeom>
          <a:solidFill>
            <a:srgbClr val="FF9F0A"/>
          </a:solidFill>
          <a:ln/>
          <a:effectLst>
            <a:outerShdw sx="100000" sy="100000" kx="0" ky="0" algn="bl" rotWithShape="0" blurRad="127000" dist="50800" dir="5400000">
              <a:srgbClr val="FF9F0A">
                <a:alpha val="90000"/>
              </a:srgbClr>
            </a:outerShdw>
          </a:effectLst>
        </p:spPr>
      </p:sp>
      <p:sp>
        <p:nvSpPr>
          <p:cNvPr id="19" name="!!fl_abdali"/>
          <p:cNvSpPr txBox="1"/>
          <p:nvPr/>
        </p:nvSpPr>
        <p:spPr>
          <a:xfrm>
            <a:off x="3945340" y="1885297"/>
            <a:ext cx="1737360" cy="274320"/>
          </a:xfrm>
          <a:prstGeom prst="rect">
            <a:avLst/>
          </a:prstGeom>
          <a:noFill/>
          <a:ln/>
        </p:spPr>
        <p:txBody>
          <a:bodyPr wrap="square" lIns="0" tIns="0" rIns="0" bIns="0" rtlCol="0" anchor="t"/>
          <a:lstStyle/>
          <a:p>
            <a:pPr algn="l" indent="0" marL="0">
              <a:buNone/>
            </a:pPr>
            <a:r>
              <a:rPr lang="en-US" sz="1300" b="1" dirty="0">
                <a:solidFill>
                  <a:schemeClr val="tx1"/>
                </a:solidFill>
                <a:effectLst>
                  <a:glow rad="76200">
                    <a:srgbClr val="141416">
                      <a:alpha val="85000"/>
                    </a:srgbClr>
                  </a:glow>
                </a:effectLst>
                <a:latin typeface="Arial" pitchFamily="34" charset="0"/>
                <a:ea typeface="Arial" pitchFamily="34" charset="-122"/>
                <a:cs typeface="Arial" pitchFamily="34" charset="-120"/>
              </a:rPr>
              <a:t>Abdali</a:t>
            </a:r>
            <a:endParaRPr lang="en-US" sz="1300" dirty="0"/>
          </a:p>
        </p:txBody>
      </p:sp>
      <p:sp>
        <p:nvSpPr>
          <p:cNvPr id="20" name="!!f_minagish"/>
          <p:cNvSpPr/>
          <p:nvPr/>
        </p:nvSpPr>
        <p:spPr>
          <a:xfrm>
            <a:off x="3179900" y="4013236"/>
            <a:ext cx="274320" cy="274320"/>
          </a:xfrm>
          <a:prstGeom prst="ellipse">
            <a:avLst/>
          </a:prstGeom>
          <a:solidFill>
            <a:srgbClr val="FF9F0A"/>
          </a:solidFill>
          <a:ln/>
          <a:effectLst>
            <a:outerShdw sx="100000" sy="100000" kx="0" ky="0" algn="bl" rotWithShape="0" blurRad="228600" dist="50800" dir="5400000">
              <a:srgbClr val="FF9F0A">
                <a:alpha val="90000"/>
              </a:srgbClr>
            </a:outerShdw>
          </a:effectLst>
        </p:spPr>
      </p:sp>
      <p:sp>
        <p:nvSpPr>
          <p:cNvPr id="21" name="!!fl_minagish"/>
          <p:cNvSpPr txBox="1"/>
          <p:nvPr/>
        </p:nvSpPr>
        <p:spPr>
          <a:xfrm>
            <a:off x="1415108" y="3876076"/>
            <a:ext cx="1737360" cy="274320"/>
          </a:xfrm>
          <a:prstGeom prst="rect">
            <a:avLst/>
          </a:prstGeom>
          <a:noFill/>
          <a:ln/>
        </p:spPr>
        <p:txBody>
          <a:bodyPr wrap="square" lIns="0" tIns="0" rIns="0" bIns="0" rtlCol="0" anchor="t"/>
          <a:lstStyle/>
          <a:p>
            <a:pPr algn="r" indent="0" marL="0">
              <a:buNone/>
            </a:pPr>
            <a:r>
              <a:rPr lang="en-US" sz="1300" b="1" dirty="0">
                <a:solidFill>
                  <a:schemeClr val="tx1"/>
                </a:solidFill>
                <a:effectLst>
                  <a:glow rad="76200">
                    <a:srgbClr val="141416">
                      <a:alpha val="85000"/>
                    </a:srgbClr>
                  </a:glow>
                </a:effectLst>
                <a:latin typeface="Arial" pitchFamily="34" charset="0"/>
                <a:ea typeface="Arial" pitchFamily="34" charset="-122"/>
                <a:cs typeface="Arial" pitchFamily="34" charset="-120"/>
              </a:rPr>
              <a:t>Minagish</a:t>
            </a:r>
            <a:endParaRPr lang="en-US" sz="1300" dirty="0"/>
          </a:p>
        </p:txBody>
      </p:sp>
      <p:sp>
        <p:nvSpPr>
          <p:cNvPr id="22" name="!!f_ummgudair"/>
          <p:cNvSpPr/>
          <p:nvPr/>
        </p:nvSpPr>
        <p:spPr>
          <a:xfrm>
            <a:off x="3514444" y="4371267"/>
            <a:ext cx="182880" cy="182880"/>
          </a:xfrm>
          <a:prstGeom prst="ellipse">
            <a:avLst/>
          </a:prstGeom>
          <a:solidFill>
            <a:srgbClr val="FF9F0A"/>
          </a:solidFill>
          <a:ln/>
          <a:effectLst>
            <a:outerShdw sx="100000" sy="100000" kx="0" ky="0" algn="bl" rotWithShape="0" blurRad="127000" dist="50800" dir="5400000">
              <a:srgbClr val="FF9F0A">
                <a:alpha val="90000"/>
              </a:srgbClr>
            </a:outerShdw>
          </a:effectLst>
        </p:spPr>
      </p:sp>
      <p:sp>
        <p:nvSpPr>
          <p:cNvPr id="23" name="!!fl_ummgudair"/>
          <p:cNvSpPr txBox="1"/>
          <p:nvPr/>
        </p:nvSpPr>
        <p:spPr>
          <a:xfrm>
            <a:off x="1703932" y="4371267"/>
            <a:ext cx="1737360" cy="274320"/>
          </a:xfrm>
          <a:prstGeom prst="rect">
            <a:avLst/>
          </a:prstGeom>
          <a:noFill/>
          <a:ln/>
        </p:spPr>
        <p:txBody>
          <a:bodyPr wrap="square" lIns="0" tIns="0" rIns="0" bIns="0" rtlCol="0" anchor="t"/>
          <a:lstStyle/>
          <a:p>
            <a:pPr algn="r" indent="0" marL="0">
              <a:buNone/>
            </a:pPr>
            <a:r>
              <a:rPr lang="en-US" sz="1300" b="1" dirty="0">
                <a:solidFill>
                  <a:schemeClr val="tx1"/>
                </a:solidFill>
                <a:effectLst>
                  <a:glow rad="76200">
                    <a:srgbClr val="141416">
                      <a:alpha val="85000"/>
                    </a:srgbClr>
                  </a:glow>
                </a:effectLst>
                <a:latin typeface="Arial" pitchFamily="34" charset="0"/>
                <a:ea typeface="Arial" pitchFamily="34" charset="-122"/>
                <a:cs typeface="Arial" pitchFamily="34" charset="-120"/>
              </a:rPr>
              <a:t>Umm Gudair</a:t>
            </a:r>
            <a:endParaRPr lang="en-US" sz="1300" dirty="0"/>
          </a:p>
        </p:txBody>
      </p:sp>
      <p:sp>
        <p:nvSpPr>
          <p:cNvPr id="24" name="!!f_abduliyah"/>
          <p:cNvSpPr/>
          <p:nvPr/>
        </p:nvSpPr>
        <p:spPr>
          <a:xfrm>
            <a:off x="3487367" y="3920381"/>
            <a:ext cx="182880" cy="182880"/>
          </a:xfrm>
          <a:prstGeom prst="ellipse">
            <a:avLst/>
          </a:prstGeom>
          <a:solidFill>
            <a:srgbClr val="FF9F0A"/>
          </a:solidFill>
          <a:ln/>
          <a:effectLst>
            <a:outerShdw sx="100000" sy="100000" kx="0" ky="0" algn="bl" rotWithShape="0" blurRad="127000" dist="50800" dir="5400000">
              <a:srgbClr val="FF9F0A">
                <a:alpha val="90000"/>
              </a:srgbClr>
            </a:outerShdw>
          </a:effectLst>
        </p:spPr>
      </p:sp>
      <p:sp>
        <p:nvSpPr>
          <p:cNvPr id="25" name="!!f_dharif"/>
          <p:cNvSpPr/>
          <p:nvPr/>
        </p:nvSpPr>
        <p:spPr>
          <a:xfrm>
            <a:off x="3640805" y="3665982"/>
            <a:ext cx="182880" cy="182880"/>
          </a:xfrm>
          <a:prstGeom prst="ellipse">
            <a:avLst/>
          </a:prstGeom>
          <a:solidFill>
            <a:srgbClr val="FF9F0A"/>
          </a:solidFill>
          <a:ln/>
          <a:effectLst>
            <a:outerShdw sx="100000" sy="100000" kx="0" ky="0" algn="bl" rotWithShape="0" blurRad="127000" dist="50800" dir="5400000">
              <a:srgbClr val="FF9F0A">
                <a:alpha val="90000"/>
              </a:srgbClr>
            </a:outerShdw>
          </a:effectLst>
        </p:spPr>
      </p:sp>
      <p:sp>
        <p:nvSpPr>
          <p:cNvPr id="26" name="!!f_kramaru"/>
          <p:cNvSpPr/>
          <p:nvPr/>
        </p:nvSpPr>
        <p:spPr>
          <a:xfrm>
            <a:off x="2851953" y="3312305"/>
            <a:ext cx="182880" cy="182880"/>
          </a:xfrm>
          <a:prstGeom prst="ellipse">
            <a:avLst/>
          </a:prstGeom>
          <a:solidFill>
            <a:srgbClr val="FF9F0A"/>
          </a:solidFill>
          <a:ln/>
          <a:effectLst>
            <a:outerShdw sx="100000" sy="100000" kx="0" ky="0" algn="bl" rotWithShape="0" blurRad="127000" dist="50800" dir="5400000">
              <a:srgbClr val="FF9F0A">
                <a:alpha val="90000"/>
              </a:srgbClr>
            </a:outerShdw>
          </a:effectLst>
        </p:spPr>
      </p:sp>
      <p:sp>
        <p:nvSpPr>
          <p:cNvPr id="27" name="!!fl_kramaru"/>
          <p:cNvSpPr txBox="1"/>
          <p:nvPr/>
        </p:nvSpPr>
        <p:spPr>
          <a:xfrm>
            <a:off x="1041441" y="3266585"/>
            <a:ext cx="1737360" cy="274320"/>
          </a:xfrm>
          <a:prstGeom prst="rect">
            <a:avLst/>
          </a:prstGeom>
          <a:noFill/>
          <a:ln/>
        </p:spPr>
        <p:txBody>
          <a:bodyPr wrap="square" lIns="0" tIns="0" rIns="0" bIns="0" rtlCol="0" anchor="t"/>
          <a:lstStyle/>
          <a:p>
            <a:pPr algn="r" indent="0" marL="0">
              <a:buNone/>
            </a:pPr>
            <a:r>
              <a:rPr lang="en-US" sz="1300" b="1" dirty="0">
                <a:solidFill>
                  <a:schemeClr val="tx1"/>
                </a:solidFill>
                <a:effectLst>
                  <a:glow rad="76200">
                    <a:srgbClr val="141416">
                      <a:alpha val="85000"/>
                    </a:srgbClr>
                  </a:glow>
                </a:effectLst>
                <a:latin typeface="Arial" pitchFamily="34" charset="0"/>
                <a:ea typeface="Arial" pitchFamily="34" charset="-122"/>
                <a:cs typeface="Arial" pitchFamily="34" charset="-120"/>
              </a:rPr>
              <a:t>Kra Al-Maru</a:t>
            </a:r>
            <a:endParaRPr lang="en-US" sz="1300" dirty="0"/>
          </a:p>
        </p:txBody>
      </p:sp>
      <p:sp>
        <p:nvSpPr>
          <p:cNvPr id="28" name="!!f_wafra"/>
          <p:cNvSpPr/>
          <p:nvPr/>
        </p:nvSpPr>
        <p:spPr>
          <a:xfrm>
            <a:off x="3871865" y="4944183"/>
            <a:ext cx="182880" cy="182880"/>
          </a:xfrm>
          <a:prstGeom prst="ellipse">
            <a:avLst/>
          </a:prstGeom>
          <a:solidFill>
            <a:srgbClr val="FF9F0A"/>
          </a:solidFill>
          <a:ln/>
          <a:effectLst>
            <a:outerShdw sx="100000" sy="100000" kx="0" ky="0" algn="bl" rotWithShape="0" blurRad="127000" dist="50800" dir="5400000">
              <a:srgbClr val="FF9F0A">
                <a:alpha val="90000"/>
              </a:srgbClr>
            </a:outerShdw>
          </a:effectLst>
        </p:spPr>
      </p:sp>
      <p:sp>
        <p:nvSpPr>
          <p:cNvPr id="29" name="!!fl_wafra"/>
          <p:cNvSpPr txBox="1"/>
          <p:nvPr/>
        </p:nvSpPr>
        <p:spPr>
          <a:xfrm>
            <a:off x="4118753" y="4916751"/>
            <a:ext cx="1737360" cy="274320"/>
          </a:xfrm>
          <a:prstGeom prst="rect">
            <a:avLst/>
          </a:prstGeom>
          <a:noFill/>
          <a:ln/>
        </p:spPr>
        <p:txBody>
          <a:bodyPr wrap="square" lIns="0" tIns="0" rIns="0" bIns="0" rtlCol="0" anchor="t"/>
          <a:lstStyle/>
          <a:p>
            <a:pPr algn="l" indent="0" marL="0">
              <a:buNone/>
            </a:pPr>
            <a:r>
              <a:rPr lang="en-US" sz="1300" b="1" dirty="0">
                <a:solidFill>
                  <a:schemeClr val="tx1"/>
                </a:solidFill>
                <a:effectLst>
                  <a:glow rad="76200">
                    <a:srgbClr val="141416">
                      <a:alpha val="85000"/>
                    </a:srgbClr>
                  </a:glow>
                </a:effectLst>
                <a:latin typeface="Arial" pitchFamily="34" charset="0"/>
                <a:ea typeface="Arial" pitchFamily="34" charset="-122"/>
                <a:cs typeface="Arial" pitchFamily="34" charset="-120"/>
              </a:rPr>
              <a:t>Wafra</a:t>
            </a:r>
            <a:endParaRPr lang="en-US" sz="1300" dirty="0"/>
          </a:p>
        </p:txBody>
      </p:sp>
      <p:sp>
        <p:nvSpPr>
          <p:cNvPr id="30" name="!!f_khafji"/>
          <p:cNvSpPr/>
          <p:nvPr/>
        </p:nvSpPr>
        <p:spPr>
          <a:xfrm>
            <a:off x="5681843" y="5014287"/>
            <a:ext cx="274320" cy="274320"/>
          </a:xfrm>
          <a:prstGeom prst="ellipse">
            <a:avLst/>
          </a:prstGeom>
          <a:solidFill>
            <a:srgbClr val="FF9F0A"/>
          </a:solidFill>
          <a:ln/>
          <a:effectLst>
            <a:outerShdw sx="100000" sy="100000" kx="0" ky="0" algn="bl" rotWithShape="0" blurRad="228600" dist="50800" dir="5400000">
              <a:srgbClr val="FF9F0A">
                <a:alpha val="90000"/>
              </a:srgbClr>
            </a:outerShdw>
          </a:effectLst>
        </p:spPr>
      </p:sp>
      <p:sp>
        <p:nvSpPr>
          <p:cNvPr id="31" name="!!fl_khafji"/>
          <p:cNvSpPr txBox="1"/>
          <p:nvPr/>
        </p:nvSpPr>
        <p:spPr>
          <a:xfrm>
            <a:off x="6001883" y="5032575"/>
            <a:ext cx="1737360" cy="274320"/>
          </a:xfrm>
          <a:prstGeom prst="rect">
            <a:avLst/>
          </a:prstGeom>
          <a:noFill/>
          <a:ln/>
        </p:spPr>
        <p:txBody>
          <a:bodyPr wrap="square" lIns="0" tIns="0" rIns="0" bIns="0" rtlCol="0" anchor="t"/>
          <a:lstStyle/>
          <a:p>
            <a:pPr algn="l" indent="0" marL="0">
              <a:buNone/>
            </a:pPr>
            <a:r>
              <a:rPr lang="en-US" sz="1300" b="1" dirty="0">
                <a:solidFill>
                  <a:schemeClr val="tx1"/>
                </a:solidFill>
                <a:effectLst>
                  <a:glow rad="76200">
                    <a:srgbClr val="141416">
                      <a:alpha val="85000"/>
                    </a:srgbClr>
                  </a:glow>
                </a:effectLst>
                <a:latin typeface="Arial" pitchFamily="34" charset="0"/>
                <a:ea typeface="Arial" pitchFamily="34" charset="-122"/>
                <a:cs typeface="Arial" pitchFamily="34" charset="-120"/>
              </a:rPr>
              <a:t>Khafji</a:t>
            </a:r>
            <a:endParaRPr lang="en-US" sz="1300" dirty="0"/>
          </a:p>
        </p:txBody>
      </p:sp>
      <p:sp>
        <p:nvSpPr>
          <p:cNvPr id="32" name="!!f_hout"/>
          <p:cNvSpPr/>
          <p:nvPr/>
        </p:nvSpPr>
        <p:spPr>
          <a:xfrm>
            <a:off x="5727563" y="4439521"/>
            <a:ext cx="182880" cy="182880"/>
          </a:xfrm>
          <a:prstGeom prst="ellipse">
            <a:avLst/>
          </a:prstGeom>
          <a:solidFill>
            <a:srgbClr val="FF9F0A"/>
          </a:solidFill>
          <a:ln/>
          <a:effectLst>
            <a:outerShdw sx="100000" sy="100000" kx="0" ky="0" algn="bl" rotWithShape="0" blurRad="127000" dist="50800" dir="5400000">
              <a:srgbClr val="FF9F0A">
                <a:alpha val="90000"/>
              </a:srgbClr>
            </a:outerShdw>
          </a:effectLst>
        </p:spPr>
      </p:sp>
      <p:sp>
        <p:nvSpPr>
          <p:cNvPr id="33" name="!!f_dorra"/>
          <p:cNvSpPr/>
          <p:nvPr/>
        </p:nvSpPr>
        <p:spPr>
          <a:xfrm>
            <a:off x="6042874" y="4151811"/>
            <a:ext cx="274320" cy="274320"/>
          </a:xfrm>
          <a:prstGeom prst="ellipse">
            <a:avLst/>
          </a:prstGeom>
          <a:solidFill>
            <a:srgbClr val="64D2FF"/>
          </a:solidFill>
          <a:ln/>
          <a:effectLst>
            <a:outerShdw sx="100000" sy="100000" kx="0" ky="0" algn="bl" rotWithShape="0" blurRad="228600" dist="50800" dir="5400000">
              <a:srgbClr val="64D2FF">
                <a:alpha val="90000"/>
              </a:srgbClr>
            </a:outerShdw>
          </a:effectLst>
        </p:spPr>
      </p:sp>
      <p:sp>
        <p:nvSpPr>
          <p:cNvPr id="34" name="!!fl_dorra"/>
          <p:cNvSpPr txBox="1"/>
          <p:nvPr/>
        </p:nvSpPr>
        <p:spPr>
          <a:xfrm>
            <a:off x="6362914" y="4170099"/>
            <a:ext cx="1737360" cy="274320"/>
          </a:xfrm>
          <a:prstGeom prst="rect">
            <a:avLst/>
          </a:prstGeom>
          <a:noFill/>
          <a:ln/>
        </p:spPr>
        <p:txBody>
          <a:bodyPr wrap="square" lIns="0" tIns="0" rIns="0" bIns="0" rtlCol="0" anchor="t"/>
          <a:lstStyle/>
          <a:p>
            <a:pPr algn="l" indent="0" marL="0">
              <a:buNone/>
            </a:pPr>
            <a:r>
              <a:rPr lang="en-US" sz="1300" b="1" dirty="0">
                <a:solidFill>
                  <a:schemeClr val="tx1"/>
                </a:solidFill>
                <a:effectLst>
                  <a:glow rad="76200">
                    <a:srgbClr val="141416">
                      <a:alpha val="85000"/>
                    </a:srgbClr>
                  </a:glow>
                </a:effectLst>
                <a:latin typeface="Arial" pitchFamily="34" charset="0"/>
                <a:ea typeface="Arial" pitchFamily="34" charset="-122"/>
                <a:cs typeface="Arial" pitchFamily="34" charset="-120"/>
              </a:rPr>
              <a:t>Dorra (gas)</a:t>
            </a:r>
            <a:endParaRPr lang="en-US" sz="1300" dirty="0"/>
          </a:p>
        </p:txBody>
      </p:sp>
      <p:sp>
        <p:nvSpPr>
          <p:cNvPr id="35" name="!!f_nokhatha"/>
          <p:cNvSpPr/>
          <p:nvPr/>
        </p:nvSpPr>
        <p:spPr>
          <a:xfrm>
            <a:off x="5341260" y="3233710"/>
            <a:ext cx="182880" cy="182880"/>
          </a:xfrm>
          <a:prstGeom prst="ellipse">
            <a:avLst/>
          </a:prstGeom>
          <a:solidFill>
            <a:srgbClr val="FF9F0A"/>
          </a:solidFill>
          <a:ln/>
          <a:effectLst>
            <a:outerShdw sx="100000" sy="100000" kx="0" ky="0" algn="bl" rotWithShape="0" blurRad="127000" dist="50800" dir="5400000">
              <a:srgbClr val="FF9F0A">
                <a:alpha val="90000"/>
              </a:srgbClr>
            </a:outerShdw>
          </a:effectLst>
        </p:spPr>
      </p:sp>
      <p:sp>
        <p:nvSpPr>
          <p:cNvPr id="36" name="!!fl_nokhatha"/>
          <p:cNvSpPr txBox="1"/>
          <p:nvPr/>
        </p:nvSpPr>
        <p:spPr>
          <a:xfrm>
            <a:off x="5588148" y="3206278"/>
            <a:ext cx="1737360" cy="274320"/>
          </a:xfrm>
          <a:prstGeom prst="rect">
            <a:avLst/>
          </a:prstGeom>
          <a:noFill/>
          <a:ln/>
        </p:spPr>
        <p:txBody>
          <a:bodyPr wrap="square" lIns="0" tIns="0" rIns="0" bIns="0" rtlCol="0" anchor="t"/>
          <a:lstStyle/>
          <a:p>
            <a:pPr algn="l" indent="0" marL="0">
              <a:buNone/>
            </a:pPr>
            <a:r>
              <a:rPr lang="en-US" sz="1300" b="1" dirty="0">
                <a:solidFill>
                  <a:schemeClr val="tx1"/>
                </a:solidFill>
                <a:effectLst>
                  <a:glow rad="76200">
                    <a:srgbClr val="141416">
                      <a:alpha val="85000"/>
                    </a:srgbClr>
                  </a:glow>
                </a:effectLst>
                <a:latin typeface="Arial" pitchFamily="34" charset="0"/>
                <a:ea typeface="Arial" pitchFamily="34" charset="-122"/>
                <a:cs typeface="Arial" pitchFamily="34" charset="-120"/>
              </a:rPr>
              <a:t>Al-Nokhatha (2024)</a:t>
            </a:r>
            <a:endParaRPr lang="en-US" sz="1300" dirty="0"/>
          </a:p>
        </p:txBody>
      </p:sp>
      <p:sp>
        <p:nvSpPr>
          <p:cNvPr id="37" name="!!f_jlaiaa"/>
          <p:cNvSpPr/>
          <p:nvPr/>
        </p:nvSpPr>
        <p:spPr>
          <a:xfrm>
            <a:off x="5315988" y="4458135"/>
            <a:ext cx="182880" cy="182880"/>
          </a:xfrm>
          <a:prstGeom prst="ellipse">
            <a:avLst/>
          </a:prstGeom>
          <a:solidFill>
            <a:srgbClr val="FF9F0A"/>
          </a:solidFill>
          <a:ln/>
          <a:effectLst>
            <a:outerShdw sx="100000" sy="100000" kx="0" ky="0" algn="bl" rotWithShape="0" blurRad="127000" dist="50800" dir="5400000">
              <a:srgbClr val="FF9F0A">
                <a:alpha val="90000"/>
              </a:srgbClr>
            </a:outerShdw>
          </a:effectLst>
        </p:spPr>
      </p:sp>
      <p:sp>
        <p:nvSpPr>
          <p:cNvPr id="38" name="!!f_kwcity"/>
          <p:cNvSpPr/>
          <p:nvPr/>
        </p:nvSpPr>
        <p:spPr>
          <a:xfrm>
            <a:off x="4047201" y="3343003"/>
            <a:ext cx="146304" cy="146304"/>
          </a:xfrm>
          <a:prstGeom prst="ellipse">
            <a:avLst/>
          </a:prstGeom>
          <a:solidFill>
            <a:srgbClr val="000000">
              <a:alpha val="0"/>
            </a:srgbClr>
          </a:solidFill>
          <a:ln w="22225">
            <a:solidFill>
              <a:srgbClr val="F5F5F7"/>
            </a:solidFill>
            <a:prstDash val="solid"/>
          </a:ln>
        </p:spPr>
      </p:sp>
      <p:sp>
        <p:nvSpPr>
          <p:cNvPr id="39" name="!!fl_kwcity"/>
          <p:cNvSpPr txBox="1"/>
          <p:nvPr/>
        </p:nvSpPr>
        <p:spPr>
          <a:xfrm>
            <a:off x="4257513" y="3288139"/>
            <a:ext cx="1737360" cy="274320"/>
          </a:xfrm>
          <a:prstGeom prst="rect">
            <a:avLst/>
          </a:prstGeom>
          <a:noFill/>
          <a:ln/>
        </p:spPr>
        <p:txBody>
          <a:bodyPr wrap="square" lIns="0" tIns="0" rIns="0" bIns="0" rtlCol="0" anchor="t"/>
          <a:lstStyle/>
          <a:p>
            <a:pPr algn="l" indent="0" marL="0">
              <a:buNone/>
            </a:pPr>
            <a:r>
              <a:rPr lang="en-US" sz="1300" dirty="0">
                <a:solidFill>
                  <a:schemeClr val="tx2"/>
                </a:solidFill>
                <a:effectLst>
                  <a:glow rad="76200">
                    <a:srgbClr val="141416">
                      <a:alpha val="85000"/>
                    </a:srgbClr>
                  </a:glow>
                </a:effectLst>
                <a:latin typeface="Arial" pitchFamily="34" charset="0"/>
                <a:ea typeface="Arial" pitchFamily="34" charset="-122"/>
                <a:cs typeface="Arial" pitchFamily="34" charset="-120"/>
              </a:rPr>
              <a:t>Kuwait City</a:t>
            </a:r>
            <a:endParaRPr lang="en-US" sz="1300" dirty="0"/>
          </a:p>
        </p:txBody>
      </p:sp>
      <p:sp>
        <p:nvSpPr>
          <p:cNvPr id="40" name="!!f_ahmadi"/>
          <p:cNvSpPr/>
          <p:nvPr/>
        </p:nvSpPr>
        <p:spPr>
          <a:xfrm rot="2700000">
            <a:off x="4391986" y="3973830"/>
            <a:ext cx="146304" cy="146304"/>
          </a:xfrm>
          <a:prstGeom prst="rect">
            <a:avLst/>
          </a:prstGeom>
          <a:solidFill>
            <a:srgbClr val="F5F5F7"/>
          </a:solidFill>
          <a:ln/>
        </p:spPr>
      </p:sp>
      <p:sp>
        <p:nvSpPr>
          <p:cNvPr id="41" name="!!fl_ahmadi"/>
          <p:cNvSpPr txBox="1"/>
          <p:nvPr/>
        </p:nvSpPr>
        <p:spPr>
          <a:xfrm>
            <a:off x="4602298" y="3918966"/>
            <a:ext cx="1737360" cy="274320"/>
          </a:xfrm>
          <a:prstGeom prst="rect">
            <a:avLst/>
          </a:prstGeom>
          <a:noFill/>
          <a:ln/>
        </p:spPr>
        <p:txBody>
          <a:bodyPr wrap="square" lIns="0" tIns="0" rIns="0" bIns="0" rtlCol="0" anchor="t"/>
          <a:lstStyle/>
          <a:p>
            <a:pPr algn="l" indent="0" marL="0">
              <a:buNone/>
            </a:pPr>
            <a:r>
              <a:rPr lang="en-US" sz="1300" dirty="0">
                <a:solidFill>
                  <a:schemeClr val="tx2"/>
                </a:solidFill>
                <a:effectLst>
                  <a:glow rad="76200">
                    <a:srgbClr val="141416">
                      <a:alpha val="85000"/>
                    </a:srgbClr>
                  </a:glow>
                </a:effectLst>
                <a:latin typeface="Arial" pitchFamily="34" charset="0"/>
                <a:ea typeface="Arial" pitchFamily="34" charset="-122"/>
                <a:cs typeface="Arial" pitchFamily="34" charset="-120"/>
              </a:rPr>
              <a:t>Mina Al-Ahmadi</a:t>
            </a:r>
            <a:endParaRPr lang="en-US" sz="1300" dirty="0"/>
          </a:p>
        </p:txBody>
      </p:sp>
      <p:sp>
        <p:nvSpPr>
          <p:cNvPr id="42" name="!!f_zour"/>
          <p:cNvSpPr/>
          <p:nvPr/>
        </p:nvSpPr>
        <p:spPr>
          <a:xfrm rot="2700000">
            <a:off x="4812586" y="4664637"/>
            <a:ext cx="146304" cy="146304"/>
          </a:xfrm>
          <a:prstGeom prst="rect">
            <a:avLst/>
          </a:prstGeom>
          <a:solidFill>
            <a:srgbClr val="F5F5F7"/>
          </a:solidFill>
          <a:ln/>
        </p:spPr>
      </p:sp>
      <p:sp>
        <p:nvSpPr>
          <p:cNvPr id="43" name="!!fl_zour"/>
          <p:cNvSpPr txBox="1"/>
          <p:nvPr/>
        </p:nvSpPr>
        <p:spPr>
          <a:xfrm>
            <a:off x="2947210" y="4609773"/>
            <a:ext cx="1737360" cy="274320"/>
          </a:xfrm>
          <a:prstGeom prst="rect">
            <a:avLst/>
          </a:prstGeom>
          <a:noFill/>
          <a:ln/>
        </p:spPr>
        <p:txBody>
          <a:bodyPr wrap="square" lIns="0" tIns="0" rIns="0" bIns="0" rtlCol="0" anchor="t"/>
          <a:lstStyle/>
          <a:p>
            <a:pPr algn="r" indent="0" marL="0">
              <a:buNone/>
            </a:pPr>
            <a:r>
              <a:rPr lang="en-US" sz="1300" dirty="0">
                <a:solidFill>
                  <a:schemeClr val="tx2"/>
                </a:solidFill>
                <a:effectLst>
                  <a:glow rad="76200">
                    <a:srgbClr val="141416">
                      <a:alpha val="85000"/>
                    </a:srgbClr>
                  </a:glow>
                </a:effectLst>
                <a:latin typeface="Arial" pitchFamily="34" charset="0"/>
                <a:ea typeface="Arial" pitchFamily="34" charset="-122"/>
                <a:cs typeface="Arial" pitchFamily="34" charset="-120"/>
              </a:rPr>
              <a:t>Al-Zour</a:t>
            </a:r>
            <a:endParaRPr lang="en-US" sz="1300" dirty="0"/>
          </a:p>
        </p:txBody>
      </p:sp>
      <p:sp>
        <p:nvSpPr>
          <p:cNvPr id="44" name="!!c_iraq"/>
          <p:cNvSpPr txBox="1"/>
          <p:nvPr/>
        </p:nvSpPr>
        <p:spPr>
          <a:xfrm>
            <a:off x="809955" y="1628503"/>
            <a:ext cx="2194560" cy="274320"/>
          </a:xfrm>
          <a:prstGeom prst="rect">
            <a:avLst/>
          </a:prstGeom>
          <a:noFill/>
          <a:ln/>
        </p:spPr>
        <p:txBody>
          <a:bodyPr wrap="square" lIns="0" tIns="0" rIns="0" bIns="0" rtlCol="0" anchor="t"/>
          <a:lstStyle/>
          <a:p>
            <a:pPr algn="ctr" indent="0" marL="0">
              <a:buNone/>
            </a:pPr>
            <a:r>
              <a:rPr lang="en-US" sz="1300" spc="400" kern="0" dirty="0">
                <a:solidFill>
                  <a:srgbClr val="8E8E93"/>
                </a:solidFill>
                <a:latin typeface="Arial" pitchFamily="34" charset="0"/>
                <a:ea typeface="Arial" pitchFamily="34" charset="-122"/>
                <a:cs typeface="Arial" pitchFamily="34" charset="-120"/>
              </a:rPr>
              <a:t>IRAQ</a:t>
            </a:r>
            <a:endParaRPr lang="en-US" sz="1300" dirty="0"/>
          </a:p>
        </p:txBody>
      </p:sp>
      <p:sp>
        <p:nvSpPr>
          <p:cNvPr id="45" name="!!c_saudi"/>
          <p:cNvSpPr txBox="1"/>
          <p:nvPr/>
        </p:nvSpPr>
        <p:spPr>
          <a:xfrm>
            <a:off x="1170985" y="5496197"/>
            <a:ext cx="2194560" cy="274320"/>
          </a:xfrm>
          <a:prstGeom prst="rect">
            <a:avLst/>
          </a:prstGeom>
          <a:noFill/>
          <a:ln/>
        </p:spPr>
        <p:txBody>
          <a:bodyPr wrap="square" lIns="0" tIns="0" rIns="0" bIns="0" rtlCol="0" anchor="t"/>
          <a:lstStyle/>
          <a:p>
            <a:pPr algn="ctr" indent="0" marL="0">
              <a:buNone/>
            </a:pPr>
            <a:r>
              <a:rPr lang="en-US" sz="1300" spc="400" kern="0" dirty="0">
                <a:solidFill>
                  <a:srgbClr val="8E8E93"/>
                </a:solidFill>
                <a:latin typeface="Arial" pitchFamily="34" charset="0"/>
                <a:ea typeface="Arial" pitchFamily="34" charset="-122"/>
                <a:cs typeface="Arial" pitchFamily="34" charset="-120"/>
              </a:rPr>
              <a:t>SAUDI ARABIA</a:t>
            </a:r>
            <a:endParaRPr lang="en-US" sz="1300" dirty="0"/>
          </a:p>
        </p:txBody>
      </p:sp>
      <p:sp>
        <p:nvSpPr>
          <p:cNvPr id="46" name="!!c_gulf"/>
          <p:cNvSpPr txBox="1"/>
          <p:nvPr/>
        </p:nvSpPr>
        <p:spPr>
          <a:xfrm>
            <a:off x="4600778" y="3634740"/>
            <a:ext cx="2194560" cy="274320"/>
          </a:xfrm>
          <a:prstGeom prst="rect">
            <a:avLst/>
          </a:prstGeom>
          <a:noFill/>
          <a:ln/>
        </p:spPr>
        <p:txBody>
          <a:bodyPr wrap="square" lIns="0" tIns="0" rIns="0" bIns="0" rtlCol="0" anchor="t"/>
          <a:lstStyle/>
          <a:p>
            <a:pPr algn="ctr" indent="0" marL="0">
              <a:buNone/>
            </a:pPr>
            <a:r>
              <a:rPr lang="en-US" sz="1300" spc="400" kern="0" dirty="0">
                <a:solidFill>
                  <a:srgbClr val="8E8E93"/>
                </a:solidFill>
                <a:latin typeface="Arial" pitchFamily="34" charset="0"/>
                <a:ea typeface="Arial" pitchFamily="34" charset="-122"/>
                <a:cs typeface="Arial" pitchFamily="34" charset="-120"/>
              </a:rPr>
              <a:t>ARABIAN GULF</a:t>
            </a:r>
            <a:endParaRPr lang="en-US" sz="1300" dirty="0"/>
          </a:p>
        </p:txBody>
      </p:sp>
      <p:sp>
        <p:nvSpPr>
          <p:cNvPr id="47" name="!!maph00">
            <a:hlinkClick r:id="rId4" tooltip="Zoom into South &amp; East Kuwait" action="ppaction://hlinksldjump" highlightClick="1"/>
          </p:cNvPr>
          <p:cNvSpPr/>
          <p:nvPr/>
        </p:nvSpPr>
        <p:spPr>
          <a:xfrm>
            <a:off x="3712388" y="3151414"/>
            <a:ext cx="1083092" cy="1551214"/>
          </a:xfrm>
          <a:prstGeom prst="rect">
            <a:avLst/>
          </a:prstGeom>
          <a:solidFill>
            <a:srgbClr val="000000">
              <a:alpha val="0"/>
            </a:srgbClr>
          </a:solidFill>
          <a:ln/>
        </p:spPr>
      </p:sp>
      <p:sp>
        <p:nvSpPr>
          <p:cNvPr id="48" name="!!maph10">
            <a:hlinkClick r:id="rId5" tooltip="Zoom into North Kuwait" action="ppaction://hlinksldjump" highlightClick="1"/>
          </p:cNvPr>
          <p:cNvSpPr/>
          <p:nvPr/>
        </p:nvSpPr>
        <p:spPr>
          <a:xfrm>
            <a:off x="1636462" y="1600200"/>
            <a:ext cx="3068761" cy="1551214"/>
          </a:xfrm>
          <a:prstGeom prst="rect">
            <a:avLst/>
          </a:prstGeom>
          <a:solidFill>
            <a:srgbClr val="000000">
              <a:alpha val="0"/>
            </a:srgbClr>
          </a:solidFill>
          <a:ln/>
        </p:spPr>
      </p:sp>
      <p:sp>
        <p:nvSpPr>
          <p:cNvPr id="49" name="!!maph20">
            <a:hlinkClick r:id="rId6" tooltip="Zoom into West Kuwait" action="ppaction://hlinksldjump" highlightClick="1"/>
          </p:cNvPr>
          <p:cNvSpPr/>
          <p:nvPr/>
        </p:nvSpPr>
        <p:spPr>
          <a:xfrm>
            <a:off x="1636462" y="3151414"/>
            <a:ext cx="2075927" cy="2171700"/>
          </a:xfrm>
          <a:prstGeom prst="rect">
            <a:avLst/>
          </a:prstGeom>
          <a:solidFill>
            <a:srgbClr val="000000">
              <a:alpha val="0"/>
            </a:srgbClr>
          </a:solidFill>
          <a:ln/>
        </p:spPr>
      </p:sp>
      <p:sp>
        <p:nvSpPr>
          <p:cNvPr id="50" name="!!maph30">
            <a:hlinkClick r:id="rId7" tooltip="Zoom into Partitioned Zone &amp; offshore" action="ppaction://hlinksldjump" highlightClick="1"/>
          </p:cNvPr>
          <p:cNvSpPr/>
          <p:nvPr/>
        </p:nvSpPr>
        <p:spPr>
          <a:xfrm>
            <a:off x="3712388" y="4702629"/>
            <a:ext cx="1534381" cy="723900"/>
          </a:xfrm>
          <a:prstGeom prst="rect">
            <a:avLst/>
          </a:prstGeom>
          <a:solidFill>
            <a:srgbClr val="000000">
              <a:alpha val="0"/>
            </a:srgbClr>
          </a:solidFill>
          <a:ln/>
        </p:spPr>
      </p:sp>
      <p:sp>
        <p:nvSpPr>
          <p:cNvPr id="51" name="!!maph31">
            <a:hlinkClick r:id="rId8" tooltip="Zoom into Partitioned Zone &amp; offshore" action="ppaction://hlinksldjump" highlightClick="1"/>
          </p:cNvPr>
          <p:cNvSpPr/>
          <p:nvPr/>
        </p:nvSpPr>
        <p:spPr>
          <a:xfrm>
            <a:off x="4795481" y="2903220"/>
            <a:ext cx="2527215" cy="2523309"/>
          </a:xfrm>
          <a:prstGeom prst="rect">
            <a:avLst/>
          </a:prstGeom>
          <a:solidFill>
            <a:srgbClr val="000000">
              <a:alpha val="0"/>
            </a:srgbClr>
          </a:solidFill>
          <a:ln/>
        </p:spPr>
      </p:sp>
      <p:sp>
        <p:nvSpPr>
          <p:cNvPr id="52" name="!!legend"/>
          <p:cNvSpPr txBox="1"/>
          <p:nvPr/>
        </p:nvSpPr>
        <p:spPr>
          <a:xfrm>
            <a:off x="7726680" y="1783080"/>
            <a:ext cx="3916375" cy="320040"/>
          </a:xfrm>
          <a:prstGeom prst="rect">
            <a:avLst/>
          </a:prstGeom>
          <a:noFill/>
          <a:ln/>
        </p:spPr>
        <p:txBody>
          <a:bodyPr wrap="square" lIns="0" tIns="0" rIns="0" bIns="0" rtlCol="0" anchor="t"/>
          <a:lstStyle/>
          <a:p>
            <a:pPr indent="0" marL="0">
              <a:buNone/>
            </a:pPr>
            <a:r>
              <a:rPr lang="en-US" sz="1500" dirty="0">
                <a:solidFill>
                  <a:schemeClr val="accent1"/>
                </a:solidFill>
                <a:latin typeface="Arial" pitchFamily="34" charset="0"/>
                <a:ea typeface="Arial" pitchFamily="34" charset="-122"/>
                <a:cs typeface="Arial" pitchFamily="34" charset="-120"/>
              </a:rPr>
              <a:t>●  </a:t>
            </a:r>
            <a:pPr indent="0" marL="0">
              <a:buNone/>
            </a:pPr>
            <a:r>
              <a:rPr lang="en-US" sz="1500" dirty="0">
                <a:solidFill>
                  <a:schemeClr val="tx2"/>
                </a:solidFill>
                <a:latin typeface="Arial" pitchFamily="34" charset="0"/>
                <a:ea typeface="Arial" pitchFamily="34" charset="-122"/>
                <a:cs typeface="Arial" pitchFamily="34" charset="-120"/>
              </a:rPr>
              <a:t>Oil   </a:t>
            </a:r>
            <a:pPr indent="0" marL="0">
              <a:buNone/>
            </a:pPr>
            <a:r>
              <a:rPr lang="en-US" sz="1500" dirty="0">
                <a:solidFill>
                  <a:schemeClr val="accent2"/>
                </a:solidFill>
                <a:latin typeface="Arial" pitchFamily="34" charset="0"/>
                <a:ea typeface="Arial" pitchFamily="34" charset="-122"/>
                <a:cs typeface="Arial" pitchFamily="34" charset="-120"/>
              </a:rPr>
              <a:t>●  </a:t>
            </a:r>
            <a:pPr indent="0" marL="0">
              <a:buNone/>
            </a:pPr>
            <a:r>
              <a:rPr lang="en-US" sz="1500" dirty="0">
                <a:solidFill>
                  <a:schemeClr val="tx2"/>
                </a:solidFill>
                <a:latin typeface="Arial" pitchFamily="34" charset="0"/>
                <a:ea typeface="Arial" pitchFamily="34" charset="-122"/>
                <a:cs typeface="Arial" pitchFamily="34" charset="-120"/>
              </a:rPr>
              <a:t>Gas   </a:t>
            </a:r>
            <a:pPr indent="0" marL="0">
              <a:buNone/>
            </a:pPr>
            <a:r>
              <a:rPr lang="en-US" sz="1500" dirty="0">
                <a:solidFill>
                  <a:schemeClr val="tx1"/>
                </a:solidFill>
                <a:latin typeface="Arial" pitchFamily="34" charset="0"/>
                <a:ea typeface="Arial" pitchFamily="34" charset="-122"/>
                <a:cs typeface="Arial" pitchFamily="34" charset="-120"/>
              </a:rPr>
              <a:t>◆  </a:t>
            </a:r>
            <a:pPr indent="0" marL="0">
              <a:buNone/>
            </a:pPr>
            <a:r>
              <a:rPr lang="en-US" sz="1500" dirty="0">
                <a:solidFill>
                  <a:schemeClr val="tx2"/>
                </a:solidFill>
                <a:latin typeface="Arial" pitchFamily="34" charset="0"/>
                <a:ea typeface="Arial" pitchFamily="34" charset="-122"/>
                <a:cs typeface="Arial" pitchFamily="34" charset="-120"/>
              </a:rPr>
              <a:t>Refinery / port   </a:t>
            </a:r>
            <a:pPr indent="0" marL="0">
              <a:buNone/>
            </a:pPr>
            <a:r>
              <a:rPr lang="en-US" sz="1500" dirty="0">
                <a:solidFill>
                  <a:schemeClr val="tx1"/>
                </a:solidFill>
                <a:latin typeface="Arial" pitchFamily="34" charset="0"/>
                <a:ea typeface="Arial" pitchFamily="34" charset="-122"/>
                <a:cs typeface="Arial" pitchFamily="34" charset="-120"/>
              </a:rPr>
              <a:t>○  </a:t>
            </a:r>
            <a:pPr indent="0" marL="0">
              <a:buNone/>
            </a:pPr>
            <a:r>
              <a:rPr lang="en-US" sz="1500" dirty="0">
                <a:solidFill>
                  <a:schemeClr val="tx2"/>
                </a:solidFill>
                <a:latin typeface="Arial" pitchFamily="34" charset="0"/>
                <a:ea typeface="Arial" pitchFamily="34" charset="-122"/>
                <a:cs typeface="Arial" pitchFamily="34" charset="-120"/>
              </a:rPr>
              <a:t>Town</a:t>
            </a:r>
            <a:endParaRPr lang="en-US" sz="1500" dirty="0"/>
          </a:p>
        </p:txBody>
      </p:sp>
      <p:sp>
        <p:nvSpPr>
          <p:cNvPr id="53" name="!!hint"/>
          <p:cNvSpPr txBox="1"/>
          <p:nvPr/>
        </p:nvSpPr>
        <p:spPr>
          <a:xfrm>
            <a:off x="7726680" y="2176272"/>
            <a:ext cx="3916375" cy="292608"/>
          </a:xfrm>
          <a:prstGeom prst="rect">
            <a:avLst/>
          </a:prstGeom>
          <a:noFill/>
          <a:ln/>
        </p:spPr>
        <p:txBody>
          <a:bodyPr wrap="square" lIns="0" tIns="0" rIns="0" bIns="0" rtlCol="0" anchor="t"/>
          <a:lstStyle/>
          <a:p>
            <a:pPr indent="0" marL="0">
              <a:buNone/>
            </a:pPr>
            <a:r>
              <a:rPr lang="en-US" sz="1400" i="1" dirty="0">
                <a:solidFill>
                  <a:schemeClr val="tx2"/>
                </a:solidFill>
                <a:latin typeface="Arial" pitchFamily="34" charset="0"/>
                <a:ea typeface="Arial" pitchFamily="34" charset="-122"/>
                <a:cs typeface="Arial" pitchFamily="34" charset="-120"/>
              </a:rPr>
              <a:t>Click an area to zoom in and see every field</a:t>
            </a:r>
            <a:endParaRPr lang="en-US" sz="1400" dirty="0"/>
          </a:p>
        </p:txBody>
      </p:sp>
      <p:sp>
        <p:nvSpPr>
          <p:cNvPr id="54" name="!!pill0"/>
          <p:cNvSpPr/>
          <p:nvPr/>
        </p:nvSpPr>
        <p:spPr>
          <a:xfrm>
            <a:off x="7726680" y="2606040"/>
            <a:ext cx="3916375" cy="493776"/>
          </a:xfrm>
          <a:prstGeom prst="roundRect">
            <a:avLst>
              <a:gd name="adj" fmla="val 50000"/>
            </a:avLst>
          </a:prstGeom>
          <a:solidFill>
            <a:srgbClr val="1C1C1E"/>
          </a:solidFill>
          <a:ln w="9525">
            <a:solidFill>
              <a:srgbClr val="FFFFFF">
                <a:alpha val="10000"/>
              </a:srgbClr>
            </a:solidFill>
            <a:prstDash val="solid"/>
          </a:ln>
        </p:spPr>
      </p:sp>
      <p:sp>
        <p:nvSpPr>
          <p:cNvPr id="55" name="!!pilld0"/>
          <p:cNvSpPr/>
          <p:nvPr/>
        </p:nvSpPr>
        <p:spPr>
          <a:xfrm>
            <a:off x="7927848" y="2761488"/>
            <a:ext cx="182880" cy="182880"/>
          </a:xfrm>
          <a:prstGeom prst="ellipse">
            <a:avLst/>
          </a:prstGeom>
          <a:solidFill>
            <a:srgbClr val="FF9F0A"/>
          </a:solidFill>
          <a:ln/>
        </p:spPr>
      </p:sp>
      <p:sp>
        <p:nvSpPr>
          <p:cNvPr id="56" name="!!pillt0"/>
          <p:cNvSpPr txBox="1"/>
          <p:nvPr/>
        </p:nvSpPr>
        <p:spPr>
          <a:xfrm>
            <a:off x="8257032" y="2606040"/>
            <a:ext cx="3001975" cy="493776"/>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South &amp; East Kuwait</a:t>
            </a:r>
            <a:endParaRPr lang="en-US" sz="1700" dirty="0"/>
          </a:p>
        </p:txBody>
      </p:sp>
      <p:pic>
        <p:nvPicPr>
          <p:cNvPr id="57" name="!!pilla0" descr="Decorative graphic">    </p:cNvPr>
          <p:cNvPicPr>
            <a:picLocks noChangeAspect="1"/>
          </p:cNvPicPr>
          <p:nvPr/>
        </p:nvPicPr>
        <p:blipFill>
          <a:blip r:embed="rId9"/>
          <a:stretch>
            <a:fillRect/>
          </a:stretch>
        </p:blipFill>
        <p:spPr>
          <a:xfrm>
            <a:off x="11231575" y="2734056"/>
            <a:ext cx="237744" cy="237744"/>
          </a:xfrm>
          <a:prstGeom prst="rect">
            <a:avLst/>
          </a:prstGeom>
        </p:spPr>
      </p:pic>
      <p:sp>
        <p:nvSpPr>
          <p:cNvPr id="58" name="!!pillh0">
            <a:hlinkClick r:id="rId10" tooltip="Zoom into South &amp; East Kuwait" action="ppaction://hlinksldjump" highlightClick="1"/>
          </p:cNvPr>
          <p:cNvSpPr/>
          <p:nvPr/>
        </p:nvSpPr>
        <p:spPr>
          <a:xfrm>
            <a:off x="7726680" y="2606040"/>
            <a:ext cx="3916375" cy="493776"/>
          </a:xfrm>
          <a:prstGeom prst="roundRect">
            <a:avLst>
              <a:gd name="adj" fmla="val 50000"/>
            </a:avLst>
          </a:prstGeom>
          <a:solidFill>
            <a:srgbClr val="000000">
              <a:alpha val="0"/>
            </a:srgbClr>
          </a:solidFill>
          <a:ln/>
        </p:spPr>
      </p:sp>
      <p:sp>
        <p:nvSpPr>
          <p:cNvPr id="59" name="!!pill1"/>
          <p:cNvSpPr/>
          <p:nvPr/>
        </p:nvSpPr>
        <p:spPr>
          <a:xfrm>
            <a:off x="7726680" y="3209544"/>
            <a:ext cx="3916375" cy="493776"/>
          </a:xfrm>
          <a:prstGeom prst="roundRect">
            <a:avLst>
              <a:gd name="adj" fmla="val 50000"/>
            </a:avLst>
          </a:prstGeom>
          <a:solidFill>
            <a:srgbClr val="1C1C1E"/>
          </a:solidFill>
          <a:ln w="9525">
            <a:solidFill>
              <a:srgbClr val="FFFFFF">
                <a:alpha val="10000"/>
              </a:srgbClr>
            </a:solidFill>
            <a:prstDash val="solid"/>
          </a:ln>
        </p:spPr>
      </p:sp>
      <p:sp>
        <p:nvSpPr>
          <p:cNvPr id="60" name="!!pilld1"/>
          <p:cNvSpPr/>
          <p:nvPr/>
        </p:nvSpPr>
        <p:spPr>
          <a:xfrm>
            <a:off x="7927848" y="3364992"/>
            <a:ext cx="182880" cy="182880"/>
          </a:xfrm>
          <a:prstGeom prst="ellipse">
            <a:avLst/>
          </a:prstGeom>
          <a:solidFill>
            <a:srgbClr val="FF9F0A"/>
          </a:solidFill>
          <a:ln/>
        </p:spPr>
      </p:sp>
      <p:sp>
        <p:nvSpPr>
          <p:cNvPr id="61" name="!!pillt1"/>
          <p:cNvSpPr txBox="1"/>
          <p:nvPr/>
        </p:nvSpPr>
        <p:spPr>
          <a:xfrm>
            <a:off x="8257032" y="3209544"/>
            <a:ext cx="3001975" cy="493776"/>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North Kuwait</a:t>
            </a:r>
            <a:endParaRPr lang="en-US" sz="1700" dirty="0"/>
          </a:p>
        </p:txBody>
      </p:sp>
      <p:pic>
        <p:nvPicPr>
          <p:cNvPr id="62" name="!!pilla1" descr="Decorative graphic">    </p:cNvPr>
          <p:cNvPicPr>
            <a:picLocks noChangeAspect="1"/>
          </p:cNvPicPr>
          <p:nvPr/>
        </p:nvPicPr>
        <p:blipFill>
          <a:blip r:embed="rId11"/>
          <a:stretch>
            <a:fillRect/>
          </a:stretch>
        </p:blipFill>
        <p:spPr>
          <a:xfrm>
            <a:off x="11231575" y="3337560"/>
            <a:ext cx="237744" cy="237744"/>
          </a:xfrm>
          <a:prstGeom prst="rect">
            <a:avLst/>
          </a:prstGeom>
        </p:spPr>
      </p:pic>
      <p:sp>
        <p:nvSpPr>
          <p:cNvPr id="63" name="!!pillh1">
            <a:hlinkClick r:id="rId12" tooltip="Zoom into North Kuwait" action="ppaction://hlinksldjump" highlightClick="1"/>
          </p:cNvPr>
          <p:cNvSpPr/>
          <p:nvPr/>
        </p:nvSpPr>
        <p:spPr>
          <a:xfrm>
            <a:off x="7726680" y="3209544"/>
            <a:ext cx="3916375" cy="493776"/>
          </a:xfrm>
          <a:prstGeom prst="roundRect">
            <a:avLst>
              <a:gd name="adj" fmla="val 50000"/>
            </a:avLst>
          </a:prstGeom>
          <a:solidFill>
            <a:srgbClr val="000000">
              <a:alpha val="0"/>
            </a:srgbClr>
          </a:solidFill>
          <a:ln/>
        </p:spPr>
      </p:sp>
      <p:sp>
        <p:nvSpPr>
          <p:cNvPr id="64" name="!!pill2"/>
          <p:cNvSpPr/>
          <p:nvPr/>
        </p:nvSpPr>
        <p:spPr>
          <a:xfrm>
            <a:off x="7726680" y="3813048"/>
            <a:ext cx="3916375" cy="493776"/>
          </a:xfrm>
          <a:prstGeom prst="roundRect">
            <a:avLst>
              <a:gd name="adj" fmla="val 50000"/>
            </a:avLst>
          </a:prstGeom>
          <a:solidFill>
            <a:srgbClr val="1C1C1E"/>
          </a:solidFill>
          <a:ln w="9525">
            <a:solidFill>
              <a:srgbClr val="FFFFFF">
                <a:alpha val="10000"/>
              </a:srgbClr>
            </a:solidFill>
            <a:prstDash val="solid"/>
          </a:ln>
        </p:spPr>
      </p:sp>
      <p:sp>
        <p:nvSpPr>
          <p:cNvPr id="65" name="!!pilld2"/>
          <p:cNvSpPr/>
          <p:nvPr/>
        </p:nvSpPr>
        <p:spPr>
          <a:xfrm>
            <a:off x="7927848" y="3968496"/>
            <a:ext cx="182880" cy="182880"/>
          </a:xfrm>
          <a:prstGeom prst="ellipse">
            <a:avLst/>
          </a:prstGeom>
          <a:solidFill>
            <a:srgbClr val="FF9F0A"/>
          </a:solidFill>
          <a:ln/>
        </p:spPr>
      </p:sp>
      <p:sp>
        <p:nvSpPr>
          <p:cNvPr id="66" name="!!pillt2"/>
          <p:cNvSpPr txBox="1"/>
          <p:nvPr/>
        </p:nvSpPr>
        <p:spPr>
          <a:xfrm>
            <a:off x="8257032" y="3813048"/>
            <a:ext cx="3001975" cy="493776"/>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West Kuwait</a:t>
            </a:r>
            <a:endParaRPr lang="en-US" sz="1700" dirty="0"/>
          </a:p>
        </p:txBody>
      </p:sp>
      <p:pic>
        <p:nvPicPr>
          <p:cNvPr id="67" name="!!pilla2" descr="Decorative graphic">    </p:cNvPr>
          <p:cNvPicPr>
            <a:picLocks noChangeAspect="1"/>
          </p:cNvPicPr>
          <p:nvPr/>
        </p:nvPicPr>
        <p:blipFill>
          <a:blip r:embed="rId13"/>
          <a:stretch>
            <a:fillRect/>
          </a:stretch>
        </p:blipFill>
        <p:spPr>
          <a:xfrm>
            <a:off x="11231575" y="3941064"/>
            <a:ext cx="237744" cy="237744"/>
          </a:xfrm>
          <a:prstGeom prst="rect">
            <a:avLst/>
          </a:prstGeom>
        </p:spPr>
      </p:pic>
      <p:sp>
        <p:nvSpPr>
          <p:cNvPr id="68" name="!!pillh2">
            <a:hlinkClick r:id="rId14" tooltip="Zoom into West Kuwait" action="ppaction://hlinksldjump" highlightClick="1"/>
          </p:cNvPr>
          <p:cNvSpPr/>
          <p:nvPr/>
        </p:nvSpPr>
        <p:spPr>
          <a:xfrm>
            <a:off x="7726680" y="3813048"/>
            <a:ext cx="3916375" cy="493776"/>
          </a:xfrm>
          <a:prstGeom prst="roundRect">
            <a:avLst>
              <a:gd name="adj" fmla="val 50000"/>
            </a:avLst>
          </a:prstGeom>
          <a:solidFill>
            <a:srgbClr val="000000">
              <a:alpha val="0"/>
            </a:srgbClr>
          </a:solidFill>
          <a:ln/>
        </p:spPr>
      </p:sp>
      <p:sp>
        <p:nvSpPr>
          <p:cNvPr id="69" name="!!pill3"/>
          <p:cNvSpPr/>
          <p:nvPr/>
        </p:nvSpPr>
        <p:spPr>
          <a:xfrm>
            <a:off x="7726680" y="4416552"/>
            <a:ext cx="3916375" cy="493776"/>
          </a:xfrm>
          <a:prstGeom prst="roundRect">
            <a:avLst>
              <a:gd name="adj" fmla="val 50000"/>
            </a:avLst>
          </a:prstGeom>
          <a:solidFill>
            <a:srgbClr val="1C1C1E"/>
          </a:solidFill>
          <a:ln w="9525">
            <a:solidFill>
              <a:srgbClr val="FFFFFF">
                <a:alpha val="10000"/>
              </a:srgbClr>
            </a:solidFill>
            <a:prstDash val="solid"/>
          </a:ln>
        </p:spPr>
      </p:sp>
      <p:sp>
        <p:nvSpPr>
          <p:cNvPr id="70" name="!!pilld3"/>
          <p:cNvSpPr/>
          <p:nvPr/>
        </p:nvSpPr>
        <p:spPr>
          <a:xfrm>
            <a:off x="7927848" y="4572000"/>
            <a:ext cx="182880" cy="182880"/>
          </a:xfrm>
          <a:prstGeom prst="ellipse">
            <a:avLst/>
          </a:prstGeom>
          <a:solidFill>
            <a:srgbClr val="FF9F0A"/>
          </a:solidFill>
          <a:ln/>
        </p:spPr>
      </p:sp>
      <p:sp>
        <p:nvSpPr>
          <p:cNvPr id="71" name="!!pillt3"/>
          <p:cNvSpPr txBox="1"/>
          <p:nvPr/>
        </p:nvSpPr>
        <p:spPr>
          <a:xfrm>
            <a:off x="8257032" y="4416552"/>
            <a:ext cx="3001975" cy="493776"/>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Partitioned Zone &amp; offshore</a:t>
            </a:r>
            <a:endParaRPr lang="en-US" sz="1700" dirty="0"/>
          </a:p>
        </p:txBody>
      </p:sp>
      <p:pic>
        <p:nvPicPr>
          <p:cNvPr id="72" name="!!pilla3" descr="Decorative graphic">    </p:cNvPr>
          <p:cNvPicPr>
            <a:picLocks noChangeAspect="1"/>
          </p:cNvPicPr>
          <p:nvPr/>
        </p:nvPicPr>
        <p:blipFill>
          <a:blip r:embed="rId15"/>
          <a:stretch>
            <a:fillRect/>
          </a:stretch>
        </p:blipFill>
        <p:spPr>
          <a:xfrm>
            <a:off x="11231575" y="4544568"/>
            <a:ext cx="237744" cy="237744"/>
          </a:xfrm>
          <a:prstGeom prst="rect">
            <a:avLst/>
          </a:prstGeom>
        </p:spPr>
      </p:pic>
      <p:sp>
        <p:nvSpPr>
          <p:cNvPr id="73" name="!!pillh3">
            <a:hlinkClick r:id="rId16" tooltip="Zoom into Partitioned Zone &amp; offshore" action="ppaction://hlinksldjump" highlightClick="1"/>
          </p:cNvPr>
          <p:cNvSpPr/>
          <p:nvPr/>
        </p:nvSpPr>
        <p:spPr>
          <a:xfrm>
            <a:off x="7726680" y="4416552"/>
            <a:ext cx="3916375" cy="493776"/>
          </a:xfrm>
          <a:prstGeom prst="roundRect">
            <a:avLst>
              <a:gd name="adj" fmla="val 50000"/>
            </a:avLst>
          </a:prstGeom>
          <a:solidFill>
            <a:srgbClr val="000000">
              <a:alpha val="0"/>
            </a:srgbClr>
          </a:solidFill>
          <a:ln/>
        </p:spPr>
      </p:sp>
      <p:sp>
        <p:nvSpPr>
          <p:cNvPr id="74" name="hub_next_bg"/>
          <p:cNvSpPr/>
          <p:nvPr/>
        </p:nvSpPr>
        <p:spPr>
          <a:xfrm>
            <a:off x="7726680" y="5120640"/>
            <a:ext cx="2011680" cy="438912"/>
          </a:xfrm>
          <a:prstGeom prst="roundRect">
            <a:avLst>
              <a:gd name="adj" fmla="val 50000"/>
            </a:avLst>
          </a:prstGeom>
          <a:solidFill>
            <a:srgbClr val="FF9F0A"/>
          </a:solidFill>
          <a:ln/>
        </p:spPr>
      </p:sp>
      <p:pic>
        <p:nvPicPr>
          <p:cNvPr id="75" name="hub_next_ic" descr="Decorative graphic">    </p:cNvPr>
          <p:cNvPicPr>
            <a:picLocks noChangeAspect="1"/>
          </p:cNvPicPr>
          <p:nvPr/>
        </p:nvPicPr>
        <p:blipFill>
          <a:blip r:embed="rId17"/>
          <a:stretch>
            <a:fillRect/>
          </a:stretch>
        </p:blipFill>
        <p:spPr>
          <a:xfrm>
            <a:off x="9072086" y="5230368"/>
            <a:ext cx="219456" cy="219456"/>
          </a:xfrm>
          <a:prstGeom prst="rect">
            <a:avLst/>
          </a:prstGeom>
        </p:spPr>
      </p:pic>
      <p:sp>
        <p:nvSpPr>
          <p:cNvPr id="76" name="hub_next_tx"/>
          <p:cNvSpPr txBox="1"/>
          <p:nvPr/>
        </p:nvSpPr>
        <p:spPr>
          <a:xfrm>
            <a:off x="7990618" y="5120640"/>
            <a:ext cx="1008317" cy="438912"/>
          </a:xfrm>
          <a:prstGeom prst="rect">
            <a:avLst/>
          </a:prstGeom>
          <a:noFill/>
          <a:ln/>
        </p:spPr>
        <p:txBody>
          <a:bodyPr wrap="square" lIns="0" tIns="0" rIns="0" bIns="0" rtlCol="0" anchor="ctr"/>
          <a:lstStyle/>
          <a:p>
            <a:pPr algn="r" indent="0" marL="0">
              <a:buNone/>
            </a:pPr>
            <a:r>
              <a:rPr lang="en-US" sz="1500" b="1" dirty="0">
                <a:solidFill>
                  <a:schemeClr val="bg1"/>
                </a:solidFill>
                <a:latin typeface="Arial" pitchFamily="34" charset="0"/>
                <a:ea typeface="Arial" pitchFamily="34" charset="-122"/>
                <a:cs typeface="Arial" pitchFamily="34" charset="-120"/>
              </a:rPr>
              <a:t>Continue</a:t>
            </a:r>
            <a:endParaRPr lang="en-US" sz="1500" dirty="0"/>
          </a:p>
        </p:txBody>
      </p:sp>
      <p:sp>
        <p:nvSpPr>
          <p:cNvPr id="77" name="hub_next_hit">
            <a:hlinkClick r:id="rId18" tooltip="Continue" action="ppaction://hlinksldjump" highlightClick="1"/>
          </p:cNvPr>
          <p:cNvSpPr/>
          <p:nvPr/>
        </p:nvSpPr>
        <p:spPr>
          <a:xfrm>
            <a:off x="7726680" y="5120640"/>
            <a:ext cx="2011680" cy="438912"/>
          </a:xfrm>
          <a:prstGeom prst="roundRect">
            <a:avLst>
              <a:gd name="adj" fmla="val 50000"/>
            </a:avLst>
          </a:prstGeom>
          <a:solidFill>
            <a:srgbClr val="000000">
              <a:alpha val="0"/>
            </a:srgbClr>
          </a:solidFill>
          <a:ln/>
        </p:spPr>
      </p:sp>
      <p:sp>
        <p:nvSpPr>
          <p:cNvPr id="78" name="!!source"/>
          <p:cNvSpPr txBox="1"/>
          <p:nvPr/>
        </p:nvSpPr>
        <p:spPr>
          <a:xfrm>
            <a:off x="548640" y="5943600"/>
            <a:ext cx="9692640" cy="274320"/>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Sources: KPC (n.d.-a); Horn (2014); Naqi et al. (2023); EIA (2023a). Field positions approximate. Base map: Natural Earth (n.d.).</a:t>
            </a:r>
            <a:endParaRPr lang="en-US" sz="1200" dirty="0"/>
          </a:p>
        </p:txBody>
      </p:sp>
      <p:sp>
        <p:nvSpPr>
          <p:cNvPr id="79" name="!!home_bg"/>
          <p:cNvSpPr/>
          <p:nvPr/>
        </p:nvSpPr>
        <p:spPr>
          <a:xfrm>
            <a:off x="10637215" y="6272784"/>
            <a:ext cx="384048" cy="384048"/>
          </a:xfrm>
          <a:prstGeom prst="roundRect">
            <a:avLst>
              <a:gd name="adj" fmla="val 23810"/>
            </a:avLst>
          </a:prstGeom>
          <a:solidFill>
            <a:srgbClr val="2C2C2E"/>
          </a:solidFill>
          <a:ln/>
        </p:spPr>
      </p:sp>
      <p:pic>
        <p:nvPicPr>
          <p:cNvPr id="80" name="!!home_ic" descr="Decorative graphic">    </p:cNvPr>
          <p:cNvPicPr>
            <a:picLocks noChangeAspect="1"/>
          </p:cNvPicPr>
          <p:nvPr/>
        </p:nvPicPr>
        <p:blipFill>
          <a:blip r:embed="rId19"/>
          <a:stretch>
            <a:fillRect/>
          </a:stretch>
        </p:blipFill>
        <p:spPr>
          <a:xfrm>
            <a:off x="10719511" y="6355080"/>
            <a:ext cx="219456" cy="219456"/>
          </a:xfrm>
          <a:prstGeom prst="rect">
            <a:avLst/>
          </a:prstGeom>
        </p:spPr>
      </p:pic>
      <p:sp>
        <p:nvSpPr>
          <p:cNvPr id="81" name="!!home_hit">
            <a:hlinkClick r:id="rId20" tooltip="Back to contents" action="ppaction://hlinksldjump" highlightClick="1"/>
          </p:cNvPr>
          <p:cNvSpPr/>
          <p:nvPr/>
        </p:nvSpPr>
        <p:spPr>
          <a:xfrm>
            <a:off x="10637215" y="6272784"/>
            <a:ext cx="384048" cy="384048"/>
          </a:xfrm>
          <a:prstGeom prst="roundRect">
            <a:avLst>
              <a:gd name="adj" fmla="val 23810"/>
            </a:avLst>
          </a:prstGeom>
          <a:solidFill>
            <a:srgbClr val="000000">
              <a:alpha val="0"/>
            </a:srgbClr>
          </a:solidFill>
          <a:ln/>
        </p:spPr>
      </p:sp>
      <p:sp>
        <p:nvSpPr>
          <p:cNvPr id="83" name="!!footer"/>
          <p:cNvSpPr txBox="1"/>
          <p:nvPr/>
        </p:nvSpPr>
        <p:spPr>
          <a:xfrm>
            <a:off x="548640" y="6327648"/>
            <a:ext cx="5486400" cy="292608"/>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Kuwait Oil &amp; Gas  ·  EGCH2230</a:t>
            </a:r>
            <a:endParaRPr lang="en-US" sz="1200" dirty="0"/>
          </a:p>
        </p:txBody>
      </p:sp>
      <p:sp>
        <p:nvSpPr>
          <p:cNvPr id="84" name="!!num"/>
          <p:cNvSpPr txBox="1"/>
          <p:nvPr/>
        </p:nvSpPr>
        <p:spPr>
          <a:xfrm>
            <a:off x="11094415" y="6327648"/>
            <a:ext cx="548640" cy="292608"/>
          </a:xfrm>
          <a:prstGeom prst="rect">
            <a:avLst/>
          </a:prstGeom>
          <a:noFill/>
          <a:ln/>
        </p:spPr>
        <p:txBody>
          <a:bodyPr wrap="square" lIns="0" tIns="0" rIns="0" bIns="0" rtlCol="0" anchor="ctr"/>
          <a:lstStyle/>
          <a:p>
            <a:pPr algn="r" indent="0" marL="0">
              <a:buNone/>
            </a:pPr>
            <a:r>
              <a:rPr lang="en-US" sz="1200" dirty="0">
                <a:solidFill>
                  <a:schemeClr val="tx2"/>
                </a:solidFill>
                <a:latin typeface="Arial" pitchFamily="34" charset="0"/>
                <a:ea typeface="Arial" pitchFamily="34" charset="-122"/>
                <a:cs typeface="Arial" pitchFamily="34" charset="-120"/>
              </a:rPr>
              <a:t>16</a:t>
            </a:r>
            <a:endParaRPr lang="en-US" sz="1200" dirty="0"/>
          </a:p>
        </p:txBody>
      </p:sp>
      <p:pic>
        <p:nvPicPr>
          <p:cNvPr id="85" name="!!badge" descr="University of Technology and Applied Sciences, Salalah">    </p:cNvPr>
          <p:cNvPicPr>
            <a:picLocks noChangeAspect="1"/>
          </p:cNvPicPr>
          <p:nvPr/>
        </p:nvPicPr>
        <p:blipFill>
          <a:blip r:embed="rId21"/>
          <a:stretch>
            <a:fillRect/>
          </a:stretch>
        </p:blipFill>
        <p:spPr>
          <a:xfrm>
            <a:off x="9677095" y="274320"/>
            <a:ext cx="1965960" cy="80987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4:dur="1400" advClick="0">
        <p159:morph option="byObject"/>
      </p:transition>
    </mc:Choice>
    <mc:Fallback>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0" presetClass="path" presetSubtype="0" fill="hold" grpId="0" nodeType="afterEffect" repeatCount="indefinite" autoRev="1">
                                  <p:stCondLst>
                                    <p:cond delay="0"/>
                                  </p:stCondLst>
                                  <p:childTnLst>
                                    <p:animMotion origin="layout" path="M 0 0 L 0.0350 -0.0300 E" pathEditMode="relative" ptsTypes="">
                                      <p:cBhvr>
                                        <p:cTn id="5" dur="13000" fill="hold" accel="50000" decel="50000"/>
                                        <p:tgtEl>
                                          <p:spTgt spid="2"/>
                                        </p:tgtEl>
                                        <p:attrNameLst>
                                          <p:attrName>ppt_x</p:attrName>
                                          <p:attrName>ppt_y</p:attrName>
                                        </p:attrNameLst>
                                      </p:cBhvr>
                                      <p:rCtr x="0" y="0"/>
                                    </p:animMotion>
                                  </p:childTnLst>
                                </p:cTn>
                              </p:par>
                              <p:par>
                                <p:cTn id="8" presetID="0" presetClass="path" presetSubtype="0" fill="hold" grpId="0" nodeType="withEffect" repeatCount="indefinite" autoRev="1">
                                  <p:stCondLst>
                                    <p:cond delay="0"/>
                                  </p:stCondLst>
                                  <p:childTnLst>
                                    <p:animMotion origin="layout" path="M 0 0 L -0.0300 0.0250 E" pathEditMode="relative" ptsTypes="">
                                      <p:cBhvr>
                                        <p:cTn id="7" dur="15000" fill="hold" accel="50000" decel="50000"/>
                                        <p:tgtEl>
                                          <p:spTgt spid="3"/>
                                        </p:tgtEl>
                                        <p:attrNameLst>
                                          <p:attrName>ppt_x</p:attrName>
                                          <p:attrName>ppt_y</p:attrName>
                                        </p:attrNameLst>
                                      </p:cBhvr>
                                      <p:rCtr x="0" y="0"/>
                                    </p:animMotion>
                                  </p:childTnLst>
                                </p:cTn>
                              </p:par>
                              <p:par>
                                <p:cTn id="10" presetID="6" presetClass="emph" presetSubtype="0" fill="hold" grpId="0" nodeType="withEffect" repeatCount="indefinite" autoRev="1">
                                  <p:stCondLst>
                                    <p:cond delay="300"/>
                                  </p:stCondLst>
                                  <p:childTnLst>
                                    <p:animScale>
                                      <p:cBhvr>
                                        <p:cTn id="9" dur="1700" fill="hold" accel="50000" decel="50000"/>
                                        <p:tgtEl>
                                          <p:spTgt spid="7"/>
                                        </p:tgtEl>
                                      </p:cBhvr>
                                      <p:by x="122000" y="122000"/>
                                    </p:animScale>
                                  </p:childTnLst>
                                </p:cTn>
                              </p:par>
                              <p:par>
                                <p:cTn id="12" presetID="6" presetClass="emph" presetSubtype="0" fill="hold" grpId="0" nodeType="withEffect" repeatCount="indefinite" autoRev="1">
                                  <p:stCondLst>
                                    <p:cond delay="620"/>
                                  </p:stCondLst>
                                  <p:childTnLst>
                                    <p:animScale>
                                      <p:cBhvr>
                                        <p:cTn id="11" dur="1700" fill="hold" accel="50000" decel="50000"/>
                                        <p:tgtEl>
                                          <p:spTgt spid="9"/>
                                        </p:tgtEl>
                                      </p:cBhvr>
                                      <p:by x="122000" y="122000"/>
                                    </p:animScale>
                                  </p:childTnLst>
                                </p:cTn>
                              </p:par>
                              <p:par>
                                <p:cTn id="14" presetID="6" presetClass="emph" presetSubtype="0" fill="hold" grpId="0" nodeType="withEffect" repeatCount="indefinite" autoRev="1">
                                  <p:stCondLst>
                                    <p:cond delay="940"/>
                                  </p:stCondLst>
                                  <p:childTnLst>
                                    <p:animScale>
                                      <p:cBhvr>
                                        <p:cTn id="13" dur="1700" fill="hold" accel="50000" decel="50000"/>
                                        <p:tgtEl>
                                          <p:spTgt spid="20"/>
                                        </p:tgtEl>
                                      </p:cBhvr>
                                      <p:by x="122000" y="122000"/>
                                    </p:animScale>
                                  </p:childTnLst>
                                </p:cTn>
                              </p:par>
                              <p:par>
                                <p:cTn id="16" presetID="6" presetClass="emph" presetSubtype="0" fill="hold" grpId="0" nodeType="withEffect" repeatCount="indefinite" autoRev="1">
                                  <p:stCondLst>
                                    <p:cond delay="1260"/>
                                  </p:stCondLst>
                                  <p:childTnLst>
                                    <p:animScale>
                                      <p:cBhvr>
                                        <p:cTn id="15" dur="1700" fill="hold" accel="50000" decel="50000"/>
                                        <p:tgtEl>
                                          <p:spTgt spid="30"/>
                                        </p:tgtEl>
                                      </p:cBhvr>
                                      <p:by x="122000" y="122000"/>
                                    </p:animScale>
                                  </p:childTnLst>
                                </p:cTn>
                              </p:par>
                              <p:par>
                                <p:cTn id="18" presetID="6" presetClass="emph" presetSubtype="0" fill="hold" grpId="0" nodeType="withEffect" repeatCount="indefinite" autoRev="1">
                                  <p:stCondLst>
                                    <p:cond delay="1580"/>
                                  </p:stCondLst>
                                  <p:childTnLst>
                                    <p:animScale>
                                      <p:cBhvr>
                                        <p:cTn id="17" dur="1700" fill="hold" accel="50000" decel="50000"/>
                                        <p:tgtEl>
                                          <p:spTgt spid="33"/>
                                        </p:tgtEl>
                                      </p:cBhvr>
                                      <p:by x="122000" y="12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20" grpId="0" animBg="1"/>
      <p:bldP spid="30" grpId="0" animBg="1"/>
      <p:bldP spid="33" grpId="0" animBg="1"/>
    </p:bldLst>
  </p:timing>
</p:sld>
</file>

<file path=ppt/slides/slide22.xml><?xml version="1.0" encoding="utf-8"?>
<p:sld xmlns:p14="http://schemas.microsoft.com/office/powerpoint/2010/main"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orbA" descr="Decorative background light">    </p:cNvPr>
          <p:cNvPicPr>
            <a:picLocks noChangeAspect="1"/>
          </p:cNvPicPr>
          <p:nvPr/>
        </p:nvPicPr>
        <p:blipFill>
          <a:blip r:embed="rId1"/>
          <a:stretch>
            <a:fillRect/>
          </a:stretch>
        </p:blipFill>
        <p:spPr>
          <a:xfrm>
            <a:off x="-685800" y="320040"/>
            <a:ext cx="6858000" cy="6858000"/>
          </a:xfrm>
          <a:prstGeom prst="rect">
            <a:avLst/>
          </a:prstGeom>
        </p:spPr>
      </p:pic>
      <p:pic>
        <p:nvPicPr>
          <p:cNvPr id="3" name="!!orbB" descr="Decorative background light">    </p:cNvPr>
          <p:cNvPicPr>
            <a:picLocks noChangeAspect="1"/>
          </p:cNvPicPr>
          <p:nvPr/>
        </p:nvPicPr>
        <p:blipFill>
          <a:blip r:embed="rId2"/>
          <a:stretch>
            <a:fillRect/>
          </a:stretch>
        </p:blipFill>
        <p:spPr>
          <a:xfrm>
            <a:off x="7315200" y="-914400"/>
            <a:ext cx="5486400" cy="5486400"/>
          </a:xfrm>
          <a:prstGeom prst="rect">
            <a:avLst/>
          </a:prstGeom>
        </p:spPr>
      </p:pic>
      <p:sp>
        <p:nvSpPr>
          <p:cNvPr id="4" name="!!kicker"/>
          <p:cNvSpPr/>
          <p:nvPr>
            <p:ph idx="100" type="body" hasCustomPrompt="1"/>
          </p:nvPr>
        </p:nvSpPr>
        <p:spPr>
          <a:xfrm>
            <a:off x="548640" y="384048"/>
            <a:ext cx="8732520" cy="329184"/>
          </a:xfrm>
          <a:prstGeom prst="rect">
            <a:avLst/>
          </a:prstGeom>
          <a:noFill/>
          <a:ln/>
        </p:spPr>
        <p:txBody>
          <a:bodyPr wrap="square" lIns="0" tIns="0" rIns="0" bIns="0" rtlCol="0" anchor="t"/>
          <a:lstStyle/>
          <a:p>
            <a:pPr algn="l" indent="0" marL="0">
              <a:buNone/>
            </a:pPr>
            <a:r>
              <a:rPr lang="en-US" sz="1500" b="1" spc="300" kern="0" dirty="0">
                <a:solidFill>
                  <a:schemeClr val="accent1"/>
                </a:solidFill>
              </a:rPr>
              <a:t>03 — RESERVOIR LOCATIONS</a:t>
            </a:r>
            <a:endParaRPr lang="en-US" sz="1500" dirty="0"/>
          </a:p>
        </p:txBody>
      </p:sp>
      <p:sp>
        <p:nvSpPr>
          <p:cNvPr id="5" name="!!title"/>
          <p:cNvSpPr/>
          <p:nvPr>
            <p:ph idx="101" type="title" hasCustomPrompt="1"/>
          </p:nvPr>
        </p:nvSpPr>
        <p:spPr>
          <a:xfrm>
            <a:off x="548640" y="731520"/>
            <a:ext cx="8732520" cy="786384"/>
          </a:xfrm>
          <a:prstGeom prst="rect">
            <a:avLst/>
          </a:prstGeom>
          <a:noFill/>
          <a:ln/>
        </p:spPr>
        <p:txBody>
          <a:bodyPr wrap="square" lIns="0" tIns="0" rIns="0" bIns="0" rtlCol="0" anchor="t"/>
          <a:lstStyle/>
          <a:p>
            <a:pPr algn="l" indent="0" marL="0">
              <a:buNone/>
            </a:pPr>
            <a:r>
              <a:rPr lang="en-US" sz="3800" b="1" dirty="0">
                <a:solidFill>
                  <a:schemeClr val="tx1"/>
                </a:solidFill>
              </a:rPr>
              <a:t>Four producing areas</a:t>
            </a:r>
            <a:endParaRPr lang="en-US" sz="3800" dirty="0"/>
          </a:p>
        </p:txBody>
      </p:sp>
      <p:pic>
        <p:nvPicPr>
          <p:cNvPr id="6" name="!!map" descr="Map of Kuwait with its main oil and gas fields">    </p:cNvPr>
          <p:cNvPicPr>
            <a:picLocks noChangeAspect="1"/>
          </p:cNvPicPr>
          <p:nvPr/>
        </p:nvPicPr>
        <p:blipFill>
          <a:blip r:embed="rId3"/>
          <a:stretch>
            <a:fillRect/>
          </a:stretch>
        </p:blipFill>
        <p:spPr>
          <a:xfrm>
            <a:off x="274320" y="1783080"/>
            <a:ext cx="4902418" cy="3931920"/>
          </a:xfrm>
          <a:prstGeom prst="rect">
            <a:avLst/>
          </a:prstGeom>
        </p:spPr>
      </p:pic>
      <p:sp>
        <p:nvSpPr>
          <p:cNvPr id="7" name="!!f_burgan"/>
          <p:cNvSpPr/>
          <p:nvPr/>
        </p:nvSpPr>
        <p:spPr>
          <a:xfrm>
            <a:off x="3030390" y="3975408"/>
            <a:ext cx="240030" cy="240030"/>
          </a:xfrm>
          <a:prstGeom prst="ellipse">
            <a:avLst/>
          </a:prstGeom>
          <a:solidFill>
            <a:srgbClr val="FF9F0A"/>
          </a:solidFill>
          <a:ln/>
          <a:effectLst>
            <a:outerShdw sx="100000" sy="100000" kx="0" ky="0" algn="bl" rotWithShape="0" blurRad="127000" dist="50800" dir="5400000">
              <a:srgbClr val="FF9F0A">
                <a:alpha val="90000"/>
              </a:srgbClr>
            </a:outerShdw>
          </a:effectLst>
        </p:spPr>
      </p:sp>
      <p:sp>
        <p:nvSpPr>
          <p:cNvPr id="8" name="!!f_raudhatain"/>
          <p:cNvSpPr/>
          <p:nvPr/>
        </p:nvSpPr>
        <p:spPr>
          <a:xfrm>
            <a:off x="2692123" y="2346470"/>
            <a:ext cx="240030" cy="240030"/>
          </a:xfrm>
          <a:prstGeom prst="ellipse">
            <a:avLst/>
          </a:prstGeom>
          <a:solidFill>
            <a:srgbClr val="FF9F0A"/>
          </a:solidFill>
          <a:ln/>
          <a:effectLst>
            <a:outerShdw sx="100000" sy="100000" kx="0" ky="0" algn="bl" rotWithShape="0" blurRad="127000" dist="50800" dir="5400000">
              <a:srgbClr val="FF9F0A">
                <a:alpha val="90000"/>
              </a:srgbClr>
            </a:outerShdw>
          </a:effectLst>
        </p:spPr>
      </p:sp>
      <p:sp>
        <p:nvSpPr>
          <p:cNvPr id="9" name="!!f_sabriya"/>
          <p:cNvSpPr/>
          <p:nvPr/>
        </p:nvSpPr>
        <p:spPr>
          <a:xfrm>
            <a:off x="2931493" y="2504433"/>
            <a:ext cx="160020" cy="160020"/>
          </a:xfrm>
          <a:prstGeom prst="ellipse">
            <a:avLst/>
          </a:prstGeom>
          <a:solidFill>
            <a:srgbClr val="FF9F0A"/>
          </a:solidFill>
          <a:ln/>
          <a:effectLst>
            <a:outerShdw sx="100000" sy="100000" kx="0" ky="0" algn="bl" rotWithShape="0" blurRad="127000" dist="50800" dir="5400000">
              <a:srgbClr val="FF9F0A">
                <a:alpha val="90000"/>
              </a:srgbClr>
            </a:outerShdw>
          </a:effectLst>
        </p:spPr>
      </p:sp>
      <p:sp>
        <p:nvSpPr>
          <p:cNvPr id="10" name="!!f_bahra"/>
          <p:cNvSpPr/>
          <p:nvPr/>
        </p:nvSpPr>
        <p:spPr>
          <a:xfrm>
            <a:off x="3032810" y="2850816"/>
            <a:ext cx="160020" cy="160020"/>
          </a:xfrm>
          <a:prstGeom prst="ellipse">
            <a:avLst/>
          </a:prstGeom>
          <a:solidFill>
            <a:srgbClr val="FF9F0A"/>
          </a:solidFill>
          <a:ln/>
          <a:effectLst>
            <a:outerShdw sx="100000" sy="100000" kx="0" ky="0" algn="bl" rotWithShape="0" blurRad="127000" dist="50800" dir="5400000">
              <a:srgbClr val="FF9F0A">
                <a:alpha val="90000"/>
              </a:srgbClr>
            </a:outerShdw>
          </a:effectLst>
        </p:spPr>
      </p:sp>
      <p:sp>
        <p:nvSpPr>
          <p:cNvPr id="11" name="!!f_ratqa"/>
          <p:cNvSpPr/>
          <p:nvPr/>
        </p:nvSpPr>
        <p:spPr>
          <a:xfrm>
            <a:off x="2210838" y="2393965"/>
            <a:ext cx="160020" cy="160020"/>
          </a:xfrm>
          <a:prstGeom prst="ellipse">
            <a:avLst/>
          </a:prstGeom>
          <a:solidFill>
            <a:srgbClr val="FF9F0A"/>
          </a:solidFill>
          <a:ln/>
          <a:effectLst>
            <a:outerShdw sx="100000" sy="100000" kx="0" ky="0" algn="bl" rotWithShape="0" blurRad="127000" dist="50800" dir="5400000">
              <a:srgbClr val="FF9F0A">
                <a:alpha val="90000"/>
              </a:srgbClr>
            </a:outerShdw>
          </a:effectLst>
        </p:spPr>
      </p:sp>
      <p:sp>
        <p:nvSpPr>
          <p:cNvPr id="12" name="!!f_abdali"/>
          <p:cNvSpPr/>
          <p:nvPr/>
        </p:nvSpPr>
        <p:spPr>
          <a:xfrm>
            <a:off x="2805665" y="2101879"/>
            <a:ext cx="160020" cy="160020"/>
          </a:xfrm>
          <a:prstGeom prst="ellipse">
            <a:avLst/>
          </a:prstGeom>
          <a:solidFill>
            <a:srgbClr val="FF9F0A"/>
          </a:solidFill>
          <a:ln/>
          <a:effectLst>
            <a:outerShdw sx="100000" sy="100000" kx="0" ky="0" algn="bl" rotWithShape="0" blurRad="127000" dist="50800" dir="5400000">
              <a:srgbClr val="FF9F0A">
                <a:alpha val="90000"/>
              </a:srgbClr>
            </a:outerShdw>
          </a:effectLst>
        </p:spPr>
      </p:sp>
      <p:sp>
        <p:nvSpPr>
          <p:cNvPr id="13" name="!!f_minagish"/>
          <p:cNvSpPr/>
          <p:nvPr/>
        </p:nvSpPr>
        <p:spPr>
          <a:xfrm>
            <a:off x="2329344" y="3971664"/>
            <a:ext cx="240030" cy="240030"/>
          </a:xfrm>
          <a:prstGeom prst="ellipse">
            <a:avLst/>
          </a:prstGeom>
          <a:solidFill>
            <a:srgbClr val="FF9F0A"/>
          </a:solidFill>
          <a:ln/>
          <a:effectLst>
            <a:outerShdw sx="100000" sy="100000" kx="0" ky="0" algn="bl" rotWithShape="0" blurRad="127000" dist="50800" dir="5400000">
              <a:srgbClr val="FF9F0A">
                <a:alpha val="90000"/>
              </a:srgbClr>
            </a:outerShdw>
          </a:effectLst>
        </p:spPr>
      </p:sp>
      <p:sp>
        <p:nvSpPr>
          <p:cNvPr id="14" name="!!f_ummgudair"/>
          <p:cNvSpPr/>
          <p:nvPr/>
        </p:nvSpPr>
        <p:spPr>
          <a:xfrm>
            <a:off x="2630812" y="4294393"/>
            <a:ext cx="160020" cy="160020"/>
          </a:xfrm>
          <a:prstGeom prst="ellipse">
            <a:avLst/>
          </a:prstGeom>
          <a:solidFill>
            <a:srgbClr val="FF9F0A"/>
          </a:solidFill>
          <a:ln/>
          <a:effectLst>
            <a:outerShdw sx="100000" sy="100000" kx="0" ky="0" algn="bl" rotWithShape="0" blurRad="127000" dist="50800" dir="5400000">
              <a:srgbClr val="FF9F0A">
                <a:alpha val="90000"/>
              </a:srgbClr>
            </a:outerShdw>
          </a:effectLst>
        </p:spPr>
      </p:sp>
      <p:sp>
        <p:nvSpPr>
          <p:cNvPr id="15" name="!!f_abduliyah"/>
          <p:cNvSpPr/>
          <p:nvPr/>
        </p:nvSpPr>
        <p:spPr>
          <a:xfrm>
            <a:off x="2606300" y="3886222"/>
            <a:ext cx="160020" cy="160020"/>
          </a:xfrm>
          <a:prstGeom prst="ellipse">
            <a:avLst/>
          </a:prstGeom>
          <a:solidFill>
            <a:srgbClr val="FF9F0A"/>
          </a:solidFill>
          <a:ln/>
          <a:effectLst>
            <a:outerShdw sx="100000" sy="100000" kx="0" ky="0" algn="bl" rotWithShape="0" blurRad="127000" dist="50800" dir="5400000">
              <a:srgbClr val="FF9F0A">
                <a:alpha val="90000"/>
              </a:srgbClr>
            </a:outerShdw>
          </a:effectLst>
        </p:spPr>
      </p:sp>
      <p:sp>
        <p:nvSpPr>
          <p:cNvPr id="16" name="!!f_dharif"/>
          <p:cNvSpPr/>
          <p:nvPr/>
        </p:nvSpPr>
        <p:spPr>
          <a:xfrm>
            <a:off x="2745201" y="3655924"/>
            <a:ext cx="160020" cy="160020"/>
          </a:xfrm>
          <a:prstGeom prst="ellipse">
            <a:avLst/>
          </a:prstGeom>
          <a:solidFill>
            <a:srgbClr val="FF9F0A"/>
          </a:solidFill>
          <a:ln/>
          <a:effectLst>
            <a:outerShdw sx="100000" sy="100000" kx="0" ky="0" algn="bl" rotWithShape="0" blurRad="127000" dist="50800" dir="5400000">
              <a:srgbClr val="FF9F0A">
                <a:alpha val="90000"/>
              </a:srgbClr>
            </a:outerShdw>
          </a:effectLst>
        </p:spPr>
      </p:sp>
      <p:sp>
        <p:nvSpPr>
          <p:cNvPr id="17" name="!!f_kramaru"/>
          <p:cNvSpPr/>
          <p:nvPr/>
        </p:nvSpPr>
        <p:spPr>
          <a:xfrm>
            <a:off x="2031083" y="3335753"/>
            <a:ext cx="160020" cy="160020"/>
          </a:xfrm>
          <a:prstGeom prst="ellipse">
            <a:avLst/>
          </a:prstGeom>
          <a:solidFill>
            <a:srgbClr val="FF9F0A"/>
          </a:solidFill>
          <a:ln/>
          <a:effectLst>
            <a:outerShdw sx="100000" sy="100000" kx="0" ky="0" algn="bl" rotWithShape="0" blurRad="127000" dist="50800" dir="5400000">
              <a:srgbClr val="FF9F0A">
                <a:alpha val="90000"/>
              </a:srgbClr>
            </a:outerShdw>
          </a:effectLst>
        </p:spPr>
      </p:sp>
      <p:sp>
        <p:nvSpPr>
          <p:cNvPr id="18" name="!!f_wafra"/>
          <p:cNvSpPr/>
          <p:nvPr/>
        </p:nvSpPr>
        <p:spPr>
          <a:xfrm>
            <a:off x="2954371" y="4813031"/>
            <a:ext cx="160020" cy="160020"/>
          </a:xfrm>
          <a:prstGeom prst="ellipse">
            <a:avLst/>
          </a:prstGeom>
          <a:solidFill>
            <a:srgbClr val="FF9F0A"/>
          </a:solidFill>
          <a:ln/>
          <a:effectLst>
            <a:outerShdw sx="100000" sy="100000" kx="0" ky="0" algn="bl" rotWithShape="0" blurRad="127000" dist="50800" dir="5400000">
              <a:srgbClr val="FF9F0A">
                <a:alpha val="90000"/>
              </a:srgbClr>
            </a:outerShdw>
          </a:effectLst>
        </p:spPr>
      </p:sp>
      <p:sp>
        <p:nvSpPr>
          <p:cNvPr id="19" name="!!f_khafji"/>
          <p:cNvSpPr/>
          <p:nvPr/>
        </p:nvSpPr>
        <p:spPr>
          <a:xfrm>
            <a:off x="4594261" y="4877878"/>
            <a:ext cx="240030" cy="240030"/>
          </a:xfrm>
          <a:prstGeom prst="ellipse">
            <a:avLst/>
          </a:prstGeom>
          <a:solidFill>
            <a:srgbClr val="FF9F0A"/>
          </a:solidFill>
          <a:ln/>
          <a:effectLst>
            <a:outerShdw sx="100000" sy="100000" kx="0" ky="0" algn="bl" rotWithShape="0" blurRad="127000" dist="50800" dir="5400000">
              <a:srgbClr val="FF9F0A">
                <a:alpha val="90000"/>
              </a:srgbClr>
            </a:outerShdw>
          </a:effectLst>
        </p:spPr>
      </p:sp>
      <p:sp>
        <p:nvSpPr>
          <p:cNvPr id="20" name="!!f_hout"/>
          <p:cNvSpPr/>
          <p:nvPr/>
        </p:nvSpPr>
        <p:spPr>
          <a:xfrm>
            <a:off x="4634266" y="4356180"/>
            <a:ext cx="160020" cy="160020"/>
          </a:xfrm>
          <a:prstGeom prst="ellipse">
            <a:avLst/>
          </a:prstGeom>
          <a:solidFill>
            <a:srgbClr val="FF9F0A"/>
          </a:solidFill>
          <a:ln/>
          <a:effectLst>
            <a:outerShdw sx="100000" sy="100000" kx="0" ky="0" algn="bl" rotWithShape="0" blurRad="127000" dist="50800" dir="5400000">
              <a:srgbClr val="FF9F0A">
                <a:alpha val="90000"/>
              </a:srgbClr>
            </a:outerShdw>
          </a:effectLst>
        </p:spPr>
      </p:sp>
      <p:sp>
        <p:nvSpPr>
          <p:cNvPr id="21" name="!!f_dorra"/>
          <p:cNvSpPr/>
          <p:nvPr/>
        </p:nvSpPr>
        <p:spPr>
          <a:xfrm>
            <a:off x="4921089" y="4097111"/>
            <a:ext cx="240030" cy="240030"/>
          </a:xfrm>
          <a:prstGeom prst="ellipse">
            <a:avLst/>
          </a:prstGeom>
          <a:solidFill>
            <a:srgbClr val="64D2FF"/>
          </a:solidFill>
          <a:ln/>
          <a:effectLst>
            <a:outerShdw sx="100000" sy="100000" kx="0" ky="0" algn="bl" rotWithShape="0" blurRad="127000" dist="50800" dir="5400000">
              <a:srgbClr val="64D2FF">
                <a:alpha val="90000"/>
              </a:srgbClr>
            </a:outerShdw>
          </a:effectLst>
        </p:spPr>
      </p:sp>
      <p:sp>
        <p:nvSpPr>
          <p:cNvPr id="22" name="!!f_nokhatha"/>
          <p:cNvSpPr/>
          <p:nvPr/>
        </p:nvSpPr>
        <p:spPr>
          <a:xfrm>
            <a:off x="4284561" y="3264604"/>
            <a:ext cx="160020" cy="160020"/>
          </a:xfrm>
          <a:prstGeom prst="ellipse">
            <a:avLst/>
          </a:prstGeom>
          <a:solidFill>
            <a:srgbClr val="FF9F0A"/>
          </a:solidFill>
          <a:ln/>
          <a:effectLst>
            <a:outerShdw sx="100000" sy="100000" kx="0" ky="0" algn="bl" rotWithShape="0" blurRad="127000" dist="50800" dir="5400000">
              <a:srgbClr val="FF9F0A">
                <a:alpha val="90000"/>
              </a:srgbClr>
            </a:outerShdw>
          </a:effectLst>
        </p:spPr>
      </p:sp>
      <p:sp>
        <p:nvSpPr>
          <p:cNvPr id="23" name="!!f_jlaiaa"/>
          <p:cNvSpPr/>
          <p:nvPr/>
        </p:nvSpPr>
        <p:spPr>
          <a:xfrm>
            <a:off x="4261683" y="4373031"/>
            <a:ext cx="160020" cy="160020"/>
          </a:xfrm>
          <a:prstGeom prst="ellipse">
            <a:avLst/>
          </a:prstGeom>
          <a:solidFill>
            <a:srgbClr val="FF9F0A"/>
          </a:solidFill>
          <a:ln/>
          <a:effectLst>
            <a:outerShdw sx="100000" sy="100000" kx="0" ky="0" algn="bl" rotWithShape="0" blurRad="127000" dist="50800" dir="5400000">
              <a:srgbClr val="FF9F0A">
                <a:alpha val="90000"/>
              </a:srgbClr>
            </a:outerShdw>
          </a:effectLst>
        </p:spPr>
      </p:sp>
      <p:sp>
        <p:nvSpPr>
          <p:cNvPr id="24" name="!!f_kwcity"/>
          <p:cNvSpPr/>
          <p:nvPr/>
        </p:nvSpPr>
        <p:spPr>
          <a:xfrm>
            <a:off x="3112543" y="3362989"/>
            <a:ext cx="128016" cy="128016"/>
          </a:xfrm>
          <a:prstGeom prst="ellipse">
            <a:avLst/>
          </a:prstGeom>
          <a:solidFill>
            <a:srgbClr val="000000">
              <a:alpha val="0"/>
            </a:srgbClr>
          </a:solidFill>
          <a:ln w="22225">
            <a:solidFill>
              <a:srgbClr val="F5F5F7"/>
            </a:solidFill>
            <a:prstDash val="solid"/>
          </a:ln>
        </p:spPr>
      </p:sp>
      <p:sp>
        <p:nvSpPr>
          <p:cNvPr id="25" name="!!f_ahmadi"/>
          <p:cNvSpPr/>
          <p:nvPr/>
        </p:nvSpPr>
        <p:spPr>
          <a:xfrm rot="2700000">
            <a:off x="3424664" y="3934054"/>
            <a:ext cx="128016" cy="128016"/>
          </a:xfrm>
          <a:prstGeom prst="rect">
            <a:avLst/>
          </a:prstGeom>
          <a:solidFill>
            <a:srgbClr val="F5F5F7"/>
          </a:solidFill>
          <a:ln/>
        </p:spPr>
      </p:sp>
      <p:sp>
        <p:nvSpPr>
          <p:cNvPr id="26" name="!!f_zour"/>
          <p:cNvSpPr/>
          <p:nvPr/>
        </p:nvSpPr>
        <p:spPr>
          <a:xfrm rot="2700000">
            <a:off x="3805418" y="4559416"/>
            <a:ext cx="128016" cy="128016"/>
          </a:xfrm>
          <a:prstGeom prst="rect">
            <a:avLst/>
          </a:prstGeom>
          <a:solidFill>
            <a:srgbClr val="F5F5F7"/>
          </a:solidFill>
          <a:ln/>
        </p:spPr>
      </p:sp>
      <p:sp>
        <p:nvSpPr>
          <p:cNvPr id="27" name="regions_s_1"/>
          <p:cNvSpPr/>
          <p:nvPr/>
        </p:nvSpPr>
        <p:spPr>
          <a:xfrm>
            <a:off x="5532120" y="1783080"/>
            <a:ext cx="6110935" cy="932688"/>
          </a:xfrm>
          <a:prstGeom prst="roundRect">
            <a:avLst>
              <a:gd name="adj" fmla="val 13725"/>
            </a:avLst>
          </a:prstGeom>
          <a:solidFill>
            <a:srgbClr val="1C1C1E"/>
          </a:solidFill>
          <a:ln w="9525">
            <a:solidFill>
              <a:srgbClr val="FFFFFF">
                <a:alpha val="10000"/>
              </a:srgbClr>
            </a:solidFill>
            <a:prstDash val="solid"/>
          </a:ln>
        </p:spPr>
      </p:sp>
      <p:sp>
        <p:nvSpPr>
          <p:cNvPr id="28" name="regions_s_2"/>
          <p:cNvSpPr/>
          <p:nvPr/>
        </p:nvSpPr>
        <p:spPr>
          <a:xfrm>
            <a:off x="5760720" y="1938528"/>
            <a:ext cx="182880" cy="182880"/>
          </a:xfrm>
          <a:prstGeom prst="ellipse">
            <a:avLst/>
          </a:prstGeom>
          <a:solidFill>
            <a:srgbClr val="FF9F0A"/>
          </a:solidFill>
          <a:ln/>
        </p:spPr>
      </p:sp>
      <p:sp>
        <p:nvSpPr>
          <p:cNvPr id="29" name="regions_t_3"/>
          <p:cNvSpPr txBox="1"/>
          <p:nvPr/>
        </p:nvSpPr>
        <p:spPr>
          <a:xfrm>
            <a:off x="6062472" y="1874520"/>
            <a:ext cx="5013655" cy="310896"/>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South &amp; East Kuwait</a:t>
            </a:r>
            <a:endParaRPr lang="en-US" sz="1800" dirty="0"/>
          </a:p>
        </p:txBody>
      </p:sp>
      <p:sp>
        <p:nvSpPr>
          <p:cNvPr id="30" name="regions_t_4"/>
          <p:cNvSpPr txBox="1"/>
          <p:nvPr/>
        </p:nvSpPr>
        <p:spPr>
          <a:xfrm>
            <a:off x="6062472" y="2176272"/>
            <a:ext cx="5379415" cy="246888"/>
          </a:xfrm>
          <a:prstGeom prst="rect">
            <a:avLst/>
          </a:prstGeom>
          <a:noFill/>
          <a:ln/>
        </p:spPr>
        <p:txBody>
          <a:bodyPr wrap="square" lIns="0" tIns="0" rIns="0" bIns="0" rtlCol="0" anchor="t"/>
          <a:lstStyle/>
          <a:p>
            <a:pPr indent="0" marL="0">
              <a:buNone/>
            </a:pPr>
            <a:r>
              <a:rPr lang="en-US" sz="1500" dirty="0">
                <a:solidFill>
                  <a:schemeClr val="tx1"/>
                </a:solidFill>
                <a:latin typeface="Arial" pitchFamily="34" charset="0"/>
                <a:ea typeface="Arial" pitchFamily="34" charset="-122"/>
                <a:cs typeface="Arial" pitchFamily="34" charset="-120"/>
              </a:rPr>
              <a:t>Greater Burgan (Burgan, Magwa, Ahmadi); Al-Zour</a:t>
            </a:r>
            <a:endParaRPr lang="en-US" sz="1500" dirty="0"/>
          </a:p>
        </p:txBody>
      </p:sp>
      <p:sp>
        <p:nvSpPr>
          <p:cNvPr id="31" name="regions_t_5"/>
          <p:cNvSpPr txBox="1"/>
          <p:nvPr/>
        </p:nvSpPr>
        <p:spPr>
          <a:xfrm>
            <a:off x="6062472" y="2423160"/>
            <a:ext cx="5379415" cy="22860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World’s second-largest oil field; Burgan and Wara sandstones</a:t>
            </a:r>
            <a:endParaRPr lang="en-US" sz="1400" dirty="0"/>
          </a:p>
        </p:txBody>
      </p:sp>
      <p:pic>
        <p:nvPicPr>
          <p:cNvPr id="32" name="regions_i_6" descr="Decorative graphic">    </p:cNvPr>
          <p:cNvPicPr>
            <a:picLocks noChangeAspect="1"/>
          </p:cNvPicPr>
          <p:nvPr/>
        </p:nvPicPr>
        <p:blipFill>
          <a:blip r:embed="rId4"/>
          <a:stretch>
            <a:fillRect/>
          </a:stretch>
        </p:blipFill>
        <p:spPr>
          <a:xfrm>
            <a:off x="11231575" y="1901952"/>
            <a:ext cx="237744" cy="237744"/>
          </a:xfrm>
          <a:prstGeom prst="rect">
            <a:avLst/>
          </a:prstGeom>
        </p:spPr>
      </p:pic>
      <p:sp>
        <p:nvSpPr>
          <p:cNvPr id="33" name="regions_s_7">
            <a:hlinkClick r:id="rId5" tooltip="Zoom into South &amp; East Kuwait" action="ppaction://hlinksldjump" highlightClick="1"/>
          </p:cNvPr>
          <p:cNvSpPr/>
          <p:nvPr/>
        </p:nvSpPr>
        <p:spPr>
          <a:xfrm>
            <a:off x="5532120" y="1783080"/>
            <a:ext cx="6110935" cy="932688"/>
          </a:xfrm>
          <a:prstGeom prst="roundRect">
            <a:avLst>
              <a:gd name="adj" fmla="val 13725"/>
            </a:avLst>
          </a:prstGeom>
          <a:solidFill>
            <a:srgbClr val="000000">
              <a:alpha val="0"/>
            </a:srgbClr>
          </a:solidFill>
          <a:ln/>
        </p:spPr>
      </p:sp>
      <p:sp>
        <p:nvSpPr>
          <p:cNvPr id="34" name="regions_s_8"/>
          <p:cNvSpPr/>
          <p:nvPr/>
        </p:nvSpPr>
        <p:spPr>
          <a:xfrm>
            <a:off x="5532120" y="2825496"/>
            <a:ext cx="6110935" cy="932688"/>
          </a:xfrm>
          <a:prstGeom prst="roundRect">
            <a:avLst>
              <a:gd name="adj" fmla="val 13725"/>
            </a:avLst>
          </a:prstGeom>
          <a:solidFill>
            <a:srgbClr val="1C1C1E"/>
          </a:solidFill>
          <a:ln w="9525">
            <a:solidFill>
              <a:srgbClr val="FFFFFF">
                <a:alpha val="10000"/>
              </a:srgbClr>
            </a:solidFill>
            <a:prstDash val="solid"/>
          </a:ln>
        </p:spPr>
      </p:sp>
      <p:sp>
        <p:nvSpPr>
          <p:cNvPr id="35" name="regions_s_9"/>
          <p:cNvSpPr/>
          <p:nvPr/>
        </p:nvSpPr>
        <p:spPr>
          <a:xfrm>
            <a:off x="5760720" y="2980944"/>
            <a:ext cx="182880" cy="182880"/>
          </a:xfrm>
          <a:prstGeom prst="ellipse">
            <a:avLst/>
          </a:prstGeom>
          <a:solidFill>
            <a:srgbClr val="FF9F0A"/>
          </a:solidFill>
          <a:ln/>
        </p:spPr>
      </p:sp>
      <p:sp>
        <p:nvSpPr>
          <p:cNvPr id="36" name="regions_t_10"/>
          <p:cNvSpPr txBox="1"/>
          <p:nvPr/>
        </p:nvSpPr>
        <p:spPr>
          <a:xfrm>
            <a:off x="6062472" y="2916936"/>
            <a:ext cx="5013655" cy="310896"/>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North Kuwait</a:t>
            </a:r>
            <a:endParaRPr lang="en-US" sz="1800" dirty="0"/>
          </a:p>
        </p:txBody>
      </p:sp>
      <p:sp>
        <p:nvSpPr>
          <p:cNvPr id="37" name="regions_t_11"/>
          <p:cNvSpPr txBox="1"/>
          <p:nvPr/>
        </p:nvSpPr>
        <p:spPr>
          <a:xfrm>
            <a:off x="6062472" y="3218688"/>
            <a:ext cx="5379415" cy="246888"/>
          </a:xfrm>
          <a:prstGeom prst="rect">
            <a:avLst/>
          </a:prstGeom>
          <a:noFill/>
          <a:ln/>
        </p:spPr>
        <p:txBody>
          <a:bodyPr wrap="square" lIns="0" tIns="0" rIns="0" bIns="0" rtlCol="0" anchor="t"/>
          <a:lstStyle/>
          <a:p>
            <a:pPr indent="0" marL="0">
              <a:buNone/>
            </a:pPr>
            <a:r>
              <a:rPr lang="en-US" sz="1500" dirty="0">
                <a:solidFill>
                  <a:schemeClr val="tx1"/>
                </a:solidFill>
                <a:latin typeface="Arial" pitchFamily="34" charset="0"/>
                <a:ea typeface="Arial" pitchFamily="34" charset="-122"/>
                <a:cs typeface="Arial" pitchFamily="34" charset="-120"/>
              </a:rPr>
              <a:t>Raudhatain, Sabriya, Bahra, Ratqa, Abdali, Umm Niqa</a:t>
            </a:r>
            <a:endParaRPr lang="en-US" sz="1500" dirty="0"/>
          </a:p>
        </p:txBody>
      </p:sp>
      <p:sp>
        <p:nvSpPr>
          <p:cNvPr id="38" name="regions_t_12"/>
          <p:cNvSpPr txBox="1"/>
          <p:nvPr/>
        </p:nvSpPr>
        <p:spPr>
          <a:xfrm>
            <a:off x="6062472" y="3465576"/>
            <a:ext cx="5379415" cy="22860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Cretaceous oil, deep Jurassic gas and Lower Fars heavy oil</a:t>
            </a:r>
            <a:endParaRPr lang="en-US" sz="1400" dirty="0"/>
          </a:p>
        </p:txBody>
      </p:sp>
      <p:pic>
        <p:nvPicPr>
          <p:cNvPr id="39" name="regions_i_13" descr="Decorative graphic">    </p:cNvPr>
          <p:cNvPicPr>
            <a:picLocks noChangeAspect="1"/>
          </p:cNvPicPr>
          <p:nvPr/>
        </p:nvPicPr>
        <p:blipFill>
          <a:blip r:embed="rId6"/>
          <a:stretch>
            <a:fillRect/>
          </a:stretch>
        </p:blipFill>
        <p:spPr>
          <a:xfrm>
            <a:off x="11231575" y="2944368"/>
            <a:ext cx="237744" cy="237744"/>
          </a:xfrm>
          <a:prstGeom prst="rect">
            <a:avLst/>
          </a:prstGeom>
        </p:spPr>
      </p:pic>
      <p:sp>
        <p:nvSpPr>
          <p:cNvPr id="40" name="regions_s_14">
            <a:hlinkClick r:id="rId7" tooltip="Zoom into North Kuwait" action="ppaction://hlinksldjump" highlightClick="1"/>
          </p:cNvPr>
          <p:cNvSpPr/>
          <p:nvPr/>
        </p:nvSpPr>
        <p:spPr>
          <a:xfrm>
            <a:off x="5532120" y="2825496"/>
            <a:ext cx="6110935" cy="932688"/>
          </a:xfrm>
          <a:prstGeom prst="roundRect">
            <a:avLst>
              <a:gd name="adj" fmla="val 13725"/>
            </a:avLst>
          </a:prstGeom>
          <a:solidFill>
            <a:srgbClr val="000000">
              <a:alpha val="0"/>
            </a:srgbClr>
          </a:solidFill>
          <a:ln/>
        </p:spPr>
      </p:sp>
      <p:sp>
        <p:nvSpPr>
          <p:cNvPr id="41" name="regions_s_15"/>
          <p:cNvSpPr/>
          <p:nvPr/>
        </p:nvSpPr>
        <p:spPr>
          <a:xfrm>
            <a:off x="5532120" y="3867912"/>
            <a:ext cx="6110935" cy="932688"/>
          </a:xfrm>
          <a:prstGeom prst="roundRect">
            <a:avLst>
              <a:gd name="adj" fmla="val 13725"/>
            </a:avLst>
          </a:prstGeom>
          <a:solidFill>
            <a:srgbClr val="1C1C1E"/>
          </a:solidFill>
          <a:ln w="9525">
            <a:solidFill>
              <a:srgbClr val="FFFFFF">
                <a:alpha val="10000"/>
              </a:srgbClr>
            </a:solidFill>
            <a:prstDash val="solid"/>
          </a:ln>
        </p:spPr>
      </p:sp>
      <p:sp>
        <p:nvSpPr>
          <p:cNvPr id="42" name="regions_s_16"/>
          <p:cNvSpPr/>
          <p:nvPr/>
        </p:nvSpPr>
        <p:spPr>
          <a:xfrm>
            <a:off x="5760720" y="4023360"/>
            <a:ext cx="182880" cy="182880"/>
          </a:xfrm>
          <a:prstGeom prst="ellipse">
            <a:avLst/>
          </a:prstGeom>
          <a:solidFill>
            <a:srgbClr val="FF9F0A"/>
          </a:solidFill>
          <a:ln/>
        </p:spPr>
      </p:sp>
      <p:sp>
        <p:nvSpPr>
          <p:cNvPr id="43" name="regions_t_17"/>
          <p:cNvSpPr txBox="1"/>
          <p:nvPr/>
        </p:nvSpPr>
        <p:spPr>
          <a:xfrm>
            <a:off x="6062472" y="3959352"/>
            <a:ext cx="5013655" cy="310896"/>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West Kuwait</a:t>
            </a:r>
            <a:endParaRPr lang="en-US" sz="1800" dirty="0"/>
          </a:p>
        </p:txBody>
      </p:sp>
      <p:sp>
        <p:nvSpPr>
          <p:cNvPr id="44" name="regions_t_18"/>
          <p:cNvSpPr txBox="1"/>
          <p:nvPr/>
        </p:nvSpPr>
        <p:spPr>
          <a:xfrm>
            <a:off x="6062472" y="4261104"/>
            <a:ext cx="5379415" cy="246888"/>
          </a:xfrm>
          <a:prstGeom prst="rect">
            <a:avLst/>
          </a:prstGeom>
          <a:noFill/>
          <a:ln/>
        </p:spPr>
        <p:txBody>
          <a:bodyPr wrap="square" lIns="0" tIns="0" rIns="0" bIns="0" rtlCol="0" anchor="t"/>
          <a:lstStyle/>
          <a:p>
            <a:pPr indent="0" marL="0">
              <a:buNone/>
            </a:pPr>
            <a:r>
              <a:rPr lang="en-US" sz="1500" dirty="0">
                <a:solidFill>
                  <a:schemeClr val="tx1"/>
                </a:solidFill>
                <a:latin typeface="Arial" pitchFamily="34" charset="0"/>
                <a:ea typeface="Arial" pitchFamily="34" charset="-122"/>
                <a:cs typeface="Arial" pitchFamily="34" charset="-120"/>
              </a:rPr>
              <a:t>Minagish, Umm Gudair, Abduliyah, Dharif, Kra Al-Maru</a:t>
            </a:r>
            <a:endParaRPr lang="en-US" sz="1500" dirty="0"/>
          </a:p>
        </p:txBody>
      </p:sp>
      <p:sp>
        <p:nvSpPr>
          <p:cNvPr id="45" name="regions_t_19"/>
          <p:cNvSpPr txBox="1"/>
          <p:nvPr/>
        </p:nvSpPr>
        <p:spPr>
          <a:xfrm>
            <a:off x="6062472" y="4507992"/>
            <a:ext cx="5379415" cy="22860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Minagish Oolite and Ratawi reservoirs; 22–26° API oil</a:t>
            </a:r>
            <a:endParaRPr lang="en-US" sz="1400" dirty="0"/>
          </a:p>
        </p:txBody>
      </p:sp>
      <p:pic>
        <p:nvPicPr>
          <p:cNvPr id="46" name="regions_i_20" descr="Decorative graphic">    </p:cNvPr>
          <p:cNvPicPr>
            <a:picLocks noChangeAspect="1"/>
          </p:cNvPicPr>
          <p:nvPr/>
        </p:nvPicPr>
        <p:blipFill>
          <a:blip r:embed="rId8"/>
          <a:stretch>
            <a:fillRect/>
          </a:stretch>
        </p:blipFill>
        <p:spPr>
          <a:xfrm>
            <a:off x="11231575" y="3986784"/>
            <a:ext cx="237744" cy="237744"/>
          </a:xfrm>
          <a:prstGeom prst="rect">
            <a:avLst/>
          </a:prstGeom>
        </p:spPr>
      </p:pic>
      <p:sp>
        <p:nvSpPr>
          <p:cNvPr id="47" name="regions_s_21">
            <a:hlinkClick r:id="rId9" tooltip="Zoom into West Kuwait" action="ppaction://hlinksldjump" highlightClick="1"/>
          </p:cNvPr>
          <p:cNvSpPr/>
          <p:nvPr/>
        </p:nvSpPr>
        <p:spPr>
          <a:xfrm>
            <a:off x="5532120" y="3867912"/>
            <a:ext cx="6110935" cy="932688"/>
          </a:xfrm>
          <a:prstGeom prst="roundRect">
            <a:avLst>
              <a:gd name="adj" fmla="val 13725"/>
            </a:avLst>
          </a:prstGeom>
          <a:solidFill>
            <a:srgbClr val="000000">
              <a:alpha val="0"/>
            </a:srgbClr>
          </a:solidFill>
          <a:ln/>
        </p:spPr>
      </p:sp>
      <p:sp>
        <p:nvSpPr>
          <p:cNvPr id="48" name="regions_s_22"/>
          <p:cNvSpPr/>
          <p:nvPr/>
        </p:nvSpPr>
        <p:spPr>
          <a:xfrm>
            <a:off x="5532120" y="4910328"/>
            <a:ext cx="6110935" cy="932688"/>
          </a:xfrm>
          <a:prstGeom prst="roundRect">
            <a:avLst>
              <a:gd name="adj" fmla="val 13725"/>
            </a:avLst>
          </a:prstGeom>
          <a:solidFill>
            <a:srgbClr val="1C1C1E"/>
          </a:solidFill>
          <a:ln w="9525">
            <a:solidFill>
              <a:srgbClr val="FFFFFF">
                <a:alpha val="10000"/>
              </a:srgbClr>
            </a:solidFill>
            <a:prstDash val="solid"/>
          </a:ln>
        </p:spPr>
      </p:sp>
      <p:sp>
        <p:nvSpPr>
          <p:cNvPr id="49" name="regions_s_23"/>
          <p:cNvSpPr/>
          <p:nvPr/>
        </p:nvSpPr>
        <p:spPr>
          <a:xfrm>
            <a:off x="5760720" y="5065776"/>
            <a:ext cx="182880" cy="182880"/>
          </a:xfrm>
          <a:prstGeom prst="ellipse">
            <a:avLst/>
          </a:prstGeom>
          <a:solidFill>
            <a:srgbClr val="FF9F0A"/>
          </a:solidFill>
          <a:ln/>
        </p:spPr>
      </p:sp>
      <p:sp>
        <p:nvSpPr>
          <p:cNvPr id="50" name="regions_t_24"/>
          <p:cNvSpPr txBox="1"/>
          <p:nvPr/>
        </p:nvSpPr>
        <p:spPr>
          <a:xfrm>
            <a:off x="6062472" y="5001768"/>
            <a:ext cx="5013655" cy="310896"/>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Partitioned Zone &amp; offshore</a:t>
            </a:r>
            <a:endParaRPr lang="en-US" sz="1800" dirty="0"/>
          </a:p>
        </p:txBody>
      </p:sp>
      <p:sp>
        <p:nvSpPr>
          <p:cNvPr id="51" name="regions_t_25"/>
          <p:cNvSpPr txBox="1"/>
          <p:nvPr/>
        </p:nvSpPr>
        <p:spPr>
          <a:xfrm>
            <a:off x="6062472" y="5303520"/>
            <a:ext cx="5379415" cy="246888"/>
          </a:xfrm>
          <a:prstGeom prst="rect">
            <a:avLst/>
          </a:prstGeom>
          <a:noFill/>
          <a:ln/>
        </p:spPr>
        <p:txBody>
          <a:bodyPr wrap="square" lIns="0" tIns="0" rIns="0" bIns="0" rtlCol="0" anchor="t"/>
          <a:lstStyle/>
          <a:p>
            <a:pPr indent="0" marL="0">
              <a:buNone/>
            </a:pPr>
            <a:r>
              <a:rPr lang="en-US" sz="1500" dirty="0">
                <a:solidFill>
                  <a:schemeClr val="tx1"/>
                </a:solidFill>
                <a:latin typeface="Arial" pitchFamily="34" charset="0"/>
                <a:ea typeface="Arial" pitchFamily="34" charset="-122"/>
                <a:cs typeface="Arial" pitchFamily="34" charset="-120"/>
              </a:rPr>
              <a:t>Wafra, Khafji, Hout, Dorra gas; new: Al-Nokhatha, Al-Jlaiaa</a:t>
            </a:r>
            <a:endParaRPr lang="en-US" sz="1500" dirty="0"/>
          </a:p>
        </p:txBody>
      </p:sp>
      <p:sp>
        <p:nvSpPr>
          <p:cNvPr id="52" name="regions_t_26"/>
          <p:cNvSpPr txBox="1"/>
          <p:nvPr/>
        </p:nvSpPr>
        <p:spPr>
          <a:xfrm>
            <a:off x="6062472" y="5550408"/>
            <a:ext cx="5379415" cy="22860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Shared 50:50 with Saudi Arabia; offshore finds since 2024</a:t>
            </a:r>
            <a:endParaRPr lang="en-US" sz="1400" dirty="0"/>
          </a:p>
        </p:txBody>
      </p:sp>
      <p:pic>
        <p:nvPicPr>
          <p:cNvPr id="53" name="regions_i_27" descr="Decorative graphic">    </p:cNvPr>
          <p:cNvPicPr>
            <a:picLocks noChangeAspect="1"/>
          </p:cNvPicPr>
          <p:nvPr/>
        </p:nvPicPr>
        <p:blipFill>
          <a:blip r:embed="rId10"/>
          <a:stretch>
            <a:fillRect/>
          </a:stretch>
        </p:blipFill>
        <p:spPr>
          <a:xfrm>
            <a:off x="11231575" y="5029200"/>
            <a:ext cx="237744" cy="237744"/>
          </a:xfrm>
          <a:prstGeom prst="rect">
            <a:avLst/>
          </a:prstGeom>
        </p:spPr>
      </p:pic>
      <p:sp>
        <p:nvSpPr>
          <p:cNvPr id="54" name="regions_s_28">
            <a:hlinkClick r:id="rId11" tooltip="Zoom into Partitioned Zone &amp; offshore" action="ppaction://hlinksldjump" highlightClick="1"/>
          </p:cNvPr>
          <p:cNvSpPr/>
          <p:nvPr/>
        </p:nvSpPr>
        <p:spPr>
          <a:xfrm>
            <a:off x="5532120" y="4910328"/>
            <a:ext cx="6110935" cy="932688"/>
          </a:xfrm>
          <a:prstGeom prst="roundRect">
            <a:avLst>
              <a:gd name="adj" fmla="val 13725"/>
            </a:avLst>
          </a:prstGeom>
          <a:solidFill>
            <a:srgbClr val="000000">
              <a:alpha val="0"/>
            </a:srgbClr>
          </a:solidFill>
          <a:ln/>
        </p:spPr>
      </p:sp>
      <p:sp>
        <p:nvSpPr>
          <p:cNvPr id="55" name="!!source"/>
          <p:cNvSpPr txBox="1"/>
          <p:nvPr/>
        </p:nvSpPr>
        <p:spPr>
          <a:xfrm>
            <a:off x="548640" y="5943600"/>
            <a:ext cx="9692640" cy="274320"/>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Sources: KPC (n.d.-a); Naqi et al. (2023); EIA (2013, 2023a); S&amp;P Global (2018a); KUNA (2024). Click a card to zoom in.</a:t>
            </a:r>
            <a:endParaRPr lang="en-US" sz="1200" dirty="0"/>
          </a:p>
        </p:txBody>
      </p:sp>
      <p:sp>
        <p:nvSpPr>
          <p:cNvPr id="56" name="!!home_bg"/>
          <p:cNvSpPr/>
          <p:nvPr/>
        </p:nvSpPr>
        <p:spPr>
          <a:xfrm>
            <a:off x="10637215" y="6272784"/>
            <a:ext cx="384048" cy="384048"/>
          </a:xfrm>
          <a:prstGeom prst="roundRect">
            <a:avLst>
              <a:gd name="adj" fmla="val 23810"/>
            </a:avLst>
          </a:prstGeom>
          <a:solidFill>
            <a:srgbClr val="2C2C2E"/>
          </a:solidFill>
          <a:ln/>
        </p:spPr>
      </p:sp>
      <p:pic>
        <p:nvPicPr>
          <p:cNvPr id="57" name="!!home_ic" descr="Decorative graphic">    </p:cNvPr>
          <p:cNvPicPr>
            <a:picLocks noChangeAspect="1"/>
          </p:cNvPicPr>
          <p:nvPr/>
        </p:nvPicPr>
        <p:blipFill>
          <a:blip r:embed="rId12"/>
          <a:stretch>
            <a:fillRect/>
          </a:stretch>
        </p:blipFill>
        <p:spPr>
          <a:xfrm>
            <a:off x="10719511" y="6355080"/>
            <a:ext cx="219456" cy="219456"/>
          </a:xfrm>
          <a:prstGeom prst="rect">
            <a:avLst/>
          </a:prstGeom>
        </p:spPr>
      </p:pic>
      <p:sp>
        <p:nvSpPr>
          <p:cNvPr id="58" name="!!home_hit">
            <a:hlinkClick r:id="rId13" tooltip="Back to contents" action="ppaction://hlinksldjump" highlightClick="1"/>
          </p:cNvPr>
          <p:cNvSpPr/>
          <p:nvPr/>
        </p:nvSpPr>
        <p:spPr>
          <a:xfrm>
            <a:off x="10637215" y="6272784"/>
            <a:ext cx="384048" cy="384048"/>
          </a:xfrm>
          <a:prstGeom prst="roundRect">
            <a:avLst>
              <a:gd name="adj" fmla="val 23810"/>
            </a:avLst>
          </a:prstGeom>
          <a:solidFill>
            <a:srgbClr val="000000">
              <a:alpha val="0"/>
            </a:srgbClr>
          </a:solidFill>
          <a:ln/>
        </p:spPr>
      </p:sp>
      <p:sp>
        <p:nvSpPr>
          <p:cNvPr id="60" name="!!footer"/>
          <p:cNvSpPr txBox="1"/>
          <p:nvPr/>
        </p:nvSpPr>
        <p:spPr>
          <a:xfrm>
            <a:off x="548640" y="6327648"/>
            <a:ext cx="5486400" cy="292608"/>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Kuwait Oil &amp; Gas  ·  EGCH2230</a:t>
            </a:r>
            <a:endParaRPr lang="en-US" sz="1200" dirty="0"/>
          </a:p>
        </p:txBody>
      </p:sp>
      <p:sp>
        <p:nvSpPr>
          <p:cNvPr id="61" name="!!num"/>
          <p:cNvSpPr txBox="1"/>
          <p:nvPr/>
        </p:nvSpPr>
        <p:spPr>
          <a:xfrm>
            <a:off x="11094415" y="6327648"/>
            <a:ext cx="548640" cy="292608"/>
          </a:xfrm>
          <a:prstGeom prst="rect">
            <a:avLst/>
          </a:prstGeom>
          <a:noFill/>
          <a:ln/>
        </p:spPr>
        <p:txBody>
          <a:bodyPr wrap="square" lIns="0" tIns="0" rIns="0" bIns="0" rtlCol="0" anchor="ctr"/>
          <a:lstStyle/>
          <a:p>
            <a:pPr algn="r" indent="0" marL="0">
              <a:buNone/>
            </a:pPr>
            <a:r>
              <a:rPr lang="en-US" sz="1200" dirty="0">
                <a:solidFill>
                  <a:schemeClr val="tx2"/>
                </a:solidFill>
                <a:latin typeface="Arial" pitchFamily="34" charset="0"/>
                <a:ea typeface="Arial" pitchFamily="34" charset="-122"/>
                <a:cs typeface="Arial" pitchFamily="34" charset="-120"/>
              </a:rPr>
              <a:t>17</a:t>
            </a:r>
            <a:endParaRPr lang="en-US" sz="1200" dirty="0"/>
          </a:p>
        </p:txBody>
      </p:sp>
      <p:pic>
        <p:nvPicPr>
          <p:cNvPr id="62" name="!!badge" descr="University of Technology and Applied Sciences, Salalah">    </p:cNvPr>
          <p:cNvPicPr>
            <a:picLocks noChangeAspect="1"/>
          </p:cNvPicPr>
          <p:nvPr/>
        </p:nvPicPr>
        <p:blipFill>
          <a:blip r:embed="rId14"/>
          <a:stretch>
            <a:fillRect/>
          </a:stretch>
        </p:blipFill>
        <p:spPr>
          <a:xfrm>
            <a:off x="9677095" y="274320"/>
            <a:ext cx="1965960" cy="80987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0" presetClass="path" presetSubtype="0" fill="hold" grpId="0" nodeType="afterEffect" repeatCount="indefinite" autoRev="1">
                                  <p:stCondLst>
                                    <p:cond delay="0"/>
                                  </p:stCondLst>
                                  <p:childTnLst>
                                    <p:animMotion origin="layout" path="M 0 0 L 0.0350 -0.0300 E" pathEditMode="relative" ptsTypes="">
                                      <p:cBhvr>
                                        <p:cTn id="5" dur="13000" fill="hold" accel="50000" decel="50000"/>
                                        <p:tgtEl>
                                          <p:spTgt spid="2"/>
                                        </p:tgtEl>
                                        <p:attrNameLst>
                                          <p:attrName>ppt_x</p:attrName>
                                          <p:attrName>ppt_y</p:attrName>
                                        </p:attrNameLst>
                                      </p:cBhvr>
                                      <p:rCtr x="0" y="0"/>
                                    </p:animMotion>
                                  </p:childTnLst>
                                </p:cTn>
                              </p:par>
                              <p:par>
                                <p:cTn id="8" presetID="0" presetClass="path" presetSubtype="0" fill="hold" grpId="0" nodeType="withEffect" repeatCount="indefinite" autoRev="1">
                                  <p:stCondLst>
                                    <p:cond delay="0"/>
                                  </p:stCondLst>
                                  <p:childTnLst>
                                    <p:animMotion origin="layout" path="M 0 0 L -0.0300 0.0250 E" pathEditMode="relative" ptsTypes="">
                                      <p:cBhvr>
                                        <p:cTn id="7" dur="15000" fill="hold" accel="50000" decel="50000"/>
                                        <p:tgtEl>
                                          <p:spTgt spid="3"/>
                                        </p:tgtEl>
                                        <p:attrNameLst>
                                          <p:attrName>ppt_x</p:attrName>
                                          <p:attrName>ppt_y</p:attrName>
                                        </p:attrNameLst>
                                      </p:cBhvr>
                                      <p:rCtr x="0" y="0"/>
                                    </p:animMotion>
                                  </p:childTnLst>
                                </p:cTn>
                              </p:par>
                              <p:par>
                                <p:cTn id="13" presetID="53" presetClass="entr" presetSubtype="16" fill="hold" grpId="0" nodeType="withEffect">
                                  <p:stCondLst>
                                    <p:cond delay="400"/>
                                  </p:stCondLst>
                                  <p:childTnLst>
                                    <p:set>
                                      <p:cBhvr>
                                        <p:cTn id="9" dur="1" fill="hold">
                                          <p:stCondLst>
                                            <p:cond delay="0"/>
                                          </p:stCondLst>
                                        </p:cTn>
                                        <p:tgtEl>
                                          <p:spTgt spid="27"/>
                                        </p:tgtEl>
                                        <p:attrNameLst>
                                          <p:attrName>style.visibility</p:attrName>
                                        </p:attrNameLst>
                                      </p:cBhvr>
                                      <p:to>
                                        <p:strVal val="visible"/>
                                      </p:to>
                                    </p:set>
                                    <p:anim calcmode="lin" valueType="num">
                                      <p:cBhvr>
                                        <p:cTn id="10" dur="900" fill="hold" decel="100000"/>
                                        <p:tgtEl>
                                          <p:spTgt spid="27"/>
                                        </p:tgtEl>
                                        <p:attrNameLst>
                                          <p:attrName>ppt_w</p:attrName>
                                        </p:attrNameLst>
                                      </p:cBhvr>
                                      <p:tavLst>
                                        <p:tav tm="0">
                                          <p:val>
                                            <p:strVal val="#ppt_w*0.960"/>
                                          </p:val>
                                        </p:tav>
                                        <p:tav tm="100000">
                                          <p:val>
                                            <p:strVal val="#ppt_w"/>
                                          </p:val>
                                        </p:tav>
                                      </p:tavLst>
                                    </p:anim>
                                    <p:anim calcmode="lin" valueType="num">
                                      <p:cBhvr>
                                        <p:cTn id="11" dur="900" fill="hold" decel="100000"/>
                                        <p:tgtEl>
                                          <p:spTgt spid="27"/>
                                        </p:tgtEl>
                                        <p:attrNameLst>
                                          <p:attrName>ppt_h</p:attrName>
                                        </p:attrNameLst>
                                      </p:cBhvr>
                                      <p:tavLst>
                                        <p:tav tm="0">
                                          <p:val>
                                            <p:strVal val="#ppt_h*0.960"/>
                                          </p:val>
                                        </p:tav>
                                        <p:tav tm="100000">
                                          <p:val>
                                            <p:strVal val="#ppt_h"/>
                                          </p:val>
                                        </p:tav>
                                      </p:tavLst>
                                    </p:anim>
                                    <p:animEffect transition="in" filter="fade">
                                      <p:cBhvr>
                                        <p:cTn id="12" dur="630" decel="100000"/>
                                        <p:tgtEl>
                                          <p:spTgt spid="27"/>
                                        </p:tgtEl>
                                      </p:cBhvr>
                                    </p:animEffect>
                                  </p:childTnLst>
                                </p:cTn>
                              </p:par>
                              <p:par>
                                <p:cTn id="18" presetID="53" presetClass="entr" presetSubtype="16" fill="hold" grpId="0" nodeType="withEffect">
                                  <p:stCondLst>
                                    <p:cond delay="460"/>
                                  </p:stCondLst>
                                  <p:childTnLst>
                                    <p:set>
                                      <p:cBhvr>
                                        <p:cTn id="14" dur="1" fill="hold">
                                          <p:stCondLst>
                                            <p:cond delay="0"/>
                                          </p:stCondLst>
                                        </p:cTn>
                                        <p:tgtEl>
                                          <p:spTgt spid="28"/>
                                        </p:tgtEl>
                                        <p:attrNameLst>
                                          <p:attrName>style.visibility</p:attrName>
                                        </p:attrNameLst>
                                      </p:cBhvr>
                                      <p:to>
                                        <p:strVal val="visible"/>
                                      </p:to>
                                    </p:set>
                                    <p:anim calcmode="lin" valueType="num">
                                      <p:cBhvr>
                                        <p:cTn id="15" dur="700" fill="hold" decel="100000"/>
                                        <p:tgtEl>
                                          <p:spTgt spid="28"/>
                                        </p:tgtEl>
                                        <p:attrNameLst>
                                          <p:attrName>ppt_w</p:attrName>
                                        </p:attrNameLst>
                                      </p:cBhvr>
                                      <p:tavLst>
                                        <p:tav tm="0">
                                          <p:val>
                                            <p:strVal val="#ppt_w*0.700"/>
                                          </p:val>
                                        </p:tav>
                                        <p:tav tm="100000">
                                          <p:val>
                                            <p:strVal val="#ppt_w"/>
                                          </p:val>
                                        </p:tav>
                                      </p:tavLst>
                                    </p:anim>
                                    <p:anim calcmode="lin" valueType="num">
                                      <p:cBhvr>
                                        <p:cTn id="16" dur="700" fill="hold" decel="100000"/>
                                        <p:tgtEl>
                                          <p:spTgt spid="28"/>
                                        </p:tgtEl>
                                        <p:attrNameLst>
                                          <p:attrName>ppt_h</p:attrName>
                                        </p:attrNameLst>
                                      </p:cBhvr>
                                      <p:tavLst>
                                        <p:tav tm="0">
                                          <p:val>
                                            <p:strVal val="#ppt_h*0.700"/>
                                          </p:val>
                                        </p:tav>
                                        <p:tav tm="100000">
                                          <p:val>
                                            <p:strVal val="#ppt_h"/>
                                          </p:val>
                                        </p:tav>
                                      </p:tavLst>
                                    </p:anim>
                                    <p:animEffect transition="in" filter="fade">
                                      <p:cBhvr>
                                        <p:cTn id="17" dur="489" decel="100000"/>
                                        <p:tgtEl>
                                          <p:spTgt spid="28"/>
                                        </p:tgtEl>
                                      </p:cBhvr>
                                    </p:animEffect>
                                  </p:childTnLst>
                                </p:cTn>
                              </p:par>
                              <p:par>
                                <p:cTn id="23" presetID="42" presetClass="entr" presetSubtype="0" fill="hold" grpId="0" nodeType="withEffect">
                                  <p:stCondLst>
                                    <p:cond delay="500"/>
                                  </p:stCondLst>
                                  <p:childTnLst>
                                    <p:set>
                                      <p:cBhvr>
                                        <p:cTn id="19" dur="1" fill="hold">
                                          <p:stCondLst>
                                            <p:cond delay="0"/>
                                          </p:stCondLst>
                                        </p:cTn>
                                        <p:tgtEl>
                                          <p:spTgt spid="29"/>
                                        </p:tgtEl>
                                        <p:attrNameLst>
                                          <p:attrName>style.visibility</p:attrName>
                                        </p:attrNameLst>
                                      </p:cBhvr>
                                      <p:to>
                                        <p:strVal val="visible"/>
                                      </p:to>
                                    </p:set>
                                    <p:animEffect transition="in" filter="fade">
                                      <p:cBhvr>
                                        <p:cTn id="20" dur="640" decel="100000"/>
                                        <p:tgtEl>
                                          <p:spTgt spid="29"/>
                                        </p:tgtEl>
                                      </p:cBhvr>
                                    </p:animEffect>
                                    <p:anim calcmode="lin" valueType="num">
                                      <p:cBhvr>
                                        <p:cTn id="21" dur="800" fill="hold" decel="100000"/>
                                        <p:tgtEl>
                                          <p:spTgt spid="29"/>
                                        </p:tgtEl>
                                        <p:attrNameLst>
                                          <p:attrName>ppt_x</p:attrName>
                                        </p:attrNameLst>
                                      </p:cBhvr>
                                      <p:tavLst>
                                        <p:tav tm="0">
                                          <p:val>
                                            <p:strVal val="#ppt_x"/>
                                          </p:val>
                                        </p:tav>
                                        <p:tav tm="100000">
                                          <p:val>
                                            <p:strVal val="#ppt_x"/>
                                          </p:val>
                                        </p:tav>
                                      </p:tavLst>
                                    </p:anim>
                                    <p:anim calcmode="lin" valueType="num">
                                      <p:cBhvr>
                                        <p:cTn id="22" dur="800" fill="hold" decel="100000"/>
                                        <p:tgtEl>
                                          <p:spTgt spid="29"/>
                                        </p:tgtEl>
                                        <p:attrNameLst>
                                          <p:attrName>ppt_y</p:attrName>
                                        </p:attrNameLst>
                                      </p:cBhvr>
                                      <p:tavLst>
                                        <p:tav tm="0">
                                          <p:val>
                                            <p:strVal val="#ppt_y+0.0250"/>
                                          </p:val>
                                        </p:tav>
                                        <p:tav tm="100000">
                                          <p:val>
                                            <p:strVal val="#ppt_y"/>
                                          </p:val>
                                        </p:tav>
                                      </p:tavLst>
                                    </p:anim>
                                  </p:childTnLst>
                                </p:cTn>
                              </p:par>
                              <p:par>
                                <p:cTn id="28" presetID="42" presetClass="entr" presetSubtype="0" fill="hold" grpId="0" nodeType="withEffect">
                                  <p:stCondLst>
                                    <p:cond delay="580"/>
                                  </p:stCondLst>
                                  <p:childTnLst>
                                    <p:set>
                                      <p:cBhvr>
                                        <p:cTn id="24" dur="1" fill="hold">
                                          <p:stCondLst>
                                            <p:cond delay="0"/>
                                          </p:stCondLst>
                                        </p:cTn>
                                        <p:tgtEl>
                                          <p:spTgt spid="30"/>
                                        </p:tgtEl>
                                        <p:attrNameLst>
                                          <p:attrName>style.visibility</p:attrName>
                                        </p:attrNameLst>
                                      </p:cBhvr>
                                      <p:to>
                                        <p:strVal val="visible"/>
                                      </p:to>
                                    </p:set>
                                    <p:animEffect transition="in" filter="fade">
                                      <p:cBhvr>
                                        <p:cTn id="25" dur="640" decel="100000"/>
                                        <p:tgtEl>
                                          <p:spTgt spid="30"/>
                                        </p:tgtEl>
                                      </p:cBhvr>
                                    </p:animEffect>
                                    <p:anim calcmode="lin" valueType="num">
                                      <p:cBhvr>
                                        <p:cTn id="26" dur="800" fill="hold" decel="100000"/>
                                        <p:tgtEl>
                                          <p:spTgt spid="30"/>
                                        </p:tgtEl>
                                        <p:attrNameLst>
                                          <p:attrName>ppt_x</p:attrName>
                                        </p:attrNameLst>
                                      </p:cBhvr>
                                      <p:tavLst>
                                        <p:tav tm="0">
                                          <p:val>
                                            <p:strVal val="#ppt_x"/>
                                          </p:val>
                                        </p:tav>
                                        <p:tav tm="100000">
                                          <p:val>
                                            <p:strVal val="#ppt_x"/>
                                          </p:val>
                                        </p:tav>
                                      </p:tavLst>
                                    </p:anim>
                                    <p:anim calcmode="lin" valueType="num">
                                      <p:cBhvr>
                                        <p:cTn id="27" dur="800" fill="hold" decel="100000"/>
                                        <p:tgtEl>
                                          <p:spTgt spid="30"/>
                                        </p:tgtEl>
                                        <p:attrNameLst>
                                          <p:attrName>ppt_y</p:attrName>
                                        </p:attrNameLst>
                                      </p:cBhvr>
                                      <p:tavLst>
                                        <p:tav tm="0">
                                          <p:val>
                                            <p:strVal val="#ppt_y+0.0250"/>
                                          </p:val>
                                        </p:tav>
                                        <p:tav tm="100000">
                                          <p:val>
                                            <p:strVal val="#ppt_y"/>
                                          </p:val>
                                        </p:tav>
                                      </p:tavLst>
                                    </p:anim>
                                  </p:childTnLst>
                                </p:cTn>
                              </p:par>
                              <p:par>
                                <p:cTn id="33" presetID="53" presetClass="entr" presetSubtype="16" fill="hold" grpId="0" nodeType="withEffect">
                                  <p:stCondLst>
                                    <p:cond delay="600"/>
                                  </p:stCondLst>
                                  <p:childTnLst>
                                    <p:set>
                                      <p:cBhvr>
                                        <p:cTn id="29" dur="1" fill="hold">
                                          <p:stCondLst>
                                            <p:cond delay="0"/>
                                          </p:stCondLst>
                                        </p:cTn>
                                        <p:tgtEl>
                                          <p:spTgt spid="34"/>
                                        </p:tgtEl>
                                        <p:attrNameLst>
                                          <p:attrName>style.visibility</p:attrName>
                                        </p:attrNameLst>
                                      </p:cBhvr>
                                      <p:to>
                                        <p:strVal val="visible"/>
                                      </p:to>
                                    </p:set>
                                    <p:anim calcmode="lin" valueType="num">
                                      <p:cBhvr>
                                        <p:cTn id="30" dur="900" fill="hold" decel="100000"/>
                                        <p:tgtEl>
                                          <p:spTgt spid="34"/>
                                        </p:tgtEl>
                                        <p:attrNameLst>
                                          <p:attrName>ppt_w</p:attrName>
                                        </p:attrNameLst>
                                      </p:cBhvr>
                                      <p:tavLst>
                                        <p:tav tm="0">
                                          <p:val>
                                            <p:strVal val="#ppt_w*0.960"/>
                                          </p:val>
                                        </p:tav>
                                        <p:tav tm="100000">
                                          <p:val>
                                            <p:strVal val="#ppt_w"/>
                                          </p:val>
                                        </p:tav>
                                      </p:tavLst>
                                    </p:anim>
                                    <p:anim calcmode="lin" valueType="num">
                                      <p:cBhvr>
                                        <p:cTn id="31" dur="900" fill="hold" decel="100000"/>
                                        <p:tgtEl>
                                          <p:spTgt spid="34"/>
                                        </p:tgtEl>
                                        <p:attrNameLst>
                                          <p:attrName>ppt_h</p:attrName>
                                        </p:attrNameLst>
                                      </p:cBhvr>
                                      <p:tavLst>
                                        <p:tav tm="0">
                                          <p:val>
                                            <p:strVal val="#ppt_h*0.960"/>
                                          </p:val>
                                        </p:tav>
                                        <p:tav tm="100000">
                                          <p:val>
                                            <p:strVal val="#ppt_h"/>
                                          </p:val>
                                        </p:tav>
                                      </p:tavLst>
                                    </p:anim>
                                    <p:animEffect transition="in" filter="fade">
                                      <p:cBhvr>
                                        <p:cTn id="32" dur="630" decel="100000"/>
                                        <p:tgtEl>
                                          <p:spTgt spid="34"/>
                                        </p:tgtEl>
                                      </p:cBhvr>
                                    </p:animEffect>
                                  </p:childTnLst>
                                </p:cTn>
                              </p:par>
                              <p:par>
                                <p:cTn id="38" presetID="42" presetClass="entr" presetSubtype="0" fill="hold" grpId="0" nodeType="withEffect">
                                  <p:stCondLst>
                                    <p:cond delay="66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640" decel="100000"/>
                                        <p:tgtEl>
                                          <p:spTgt spid="31"/>
                                        </p:tgtEl>
                                      </p:cBhvr>
                                    </p:animEffect>
                                    <p:anim calcmode="lin" valueType="num">
                                      <p:cBhvr>
                                        <p:cTn id="36" dur="800" fill="hold" decel="100000"/>
                                        <p:tgtEl>
                                          <p:spTgt spid="31"/>
                                        </p:tgtEl>
                                        <p:attrNameLst>
                                          <p:attrName>ppt_x</p:attrName>
                                        </p:attrNameLst>
                                      </p:cBhvr>
                                      <p:tavLst>
                                        <p:tav tm="0">
                                          <p:val>
                                            <p:strVal val="#ppt_x"/>
                                          </p:val>
                                        </p:tav>
                                        <p:tav tm="100000">
                                          <p:val>
                                            <p:strVal val="#ppt_x"/>
                                          </p:val>
                                        </p:tav>
                                      </p:tavLst>
                                    </p:anim>
                                    <p:anim calcmode="lin" valueType="num">
                                      <p:cBhvr>
                                        <p:cTn id="37" dur="800" fill="hold" decel="100000"/>
                                        <p:tgtEl>
                                          <p:spTgt spid="31"/>
                                        </p:tgtEl>
                                        <p:attrNameLst>
                                          <p:attrName>ppt_y</p:attrName>
                                        </p:attrNameLst>
                                      </p:cBhvr>
                                      <p:tavLst>
                                        <p:tav tm="0">
                                          <p:val>
                                            <p:strVal val="#ppt_y+0.0250"/>
                                          </p:val>
                                        </p:tav>
                                        <p:tav tm="100000">
                                          <p:val>
                                            <p:strVal val="#ppt_y"/>
                                          </p:val>
                                        </p:tav>
                                      </p:tavLst>
                                    </p:anim>
                                  </p:childTnLst>
                                </p:cTn>
                              </p:par>
                              <p:par>
                                <p:cTn id="43" presetID="53" presetClass="entr" presetSubtype="16" fill="hold" grpId="0" nodeType="withEffect">
                                  <p:stCondLst>
                                    <p:cond delay="660"/>
                                  </p:stCondLst>
                                  <p:childTnLst>
                                    <p:set>
                                      <p:cBhvr>
                                        <p:cTn id="39" dur="1" fill="hold">
                                          <p:stCondLst>
                                            <p:cond delay="0"/>
                                          </p:stCondLst>
                                        </p:cTn>
                                        <p:tgtEl>
                                          <p:spTgt spid="35"/>
                                        </p:tgtEl>
                                        <p:attrNameLst>
                                          <p:attrName>style.visibility</p:attrName>
                                        </p:attrNameLst>
                                      </p:cBhvr>
                                      <p:to>
                                        <p:strVal val="visible"/>
                                      </p:to>
                                    </p:set>
                                    <p:anim calcmode="lin" valueType="num">
                                      <p:cBhvr>
                                        <p:cTn id="40" dur="700" fill="hold" decel="100000"/>
                                        <p:tgtEl>
                                          <p:spTgt spid="35"/>
                                        </p:tgtEl>
                                        <p:attrNameLst>
                                          <p:attrName>ppt_w</p:attrName>
                                        </p:attrNameLst>
                                      </p:cBhvr>
                                      <p:tavLst>
                                        <p:tav tm="0">
                                          <p:val>
                                            <p:strVal val="#ppt_w*0.700"/>
                                          </p:val>
                                        </p:tav>
                                        <p:tav tm="100000">
                                          <p:val>
                                            <p:strVal val="#ppt_w"/>
                                          </p:val>
                                        </p:tav>
                                      </p:tavLst>
                                    </p:anim>
                                    <p:anim calcmode="lin" valueType="num">
                                      <p:cBhvr>
                                        <p:cTn id="41" dur="700" fill="hold" decel="100000"/>
                                        <p:tgtEl>
                                          <p:spTgt spid="35"/>
                                        </p:tgtEl>
                                        <p:attrNameLst>
                                          <p:attrName>ppt_h</p:attrName>
                                        </p:attrNameLst>
                                      </p:cBhvr>
                                      <p:tavLst>
                                        <p:tav tm="0">
                                          <p:val>
                                            <p:strVal val="#ppt_h*0.700"/>
                                          </p:val>
                                        </p:tav>
                                        <p:tav tm="100000">
                                          <p:val>
                                            <p:strVal val="#ppt_h"/>
                                          </p:val>
                                        </p:tav>
                                      </p:tavLst>
                                    </p:anim>
                                    <p:animEffect transition="in" filter="fade">
                                      <p:cBhvr>
                                        <p:cTn id="42" dur="489" decel="100000"/>
                                        <p:tgtEl>
                                          <p:spTgt spid="35"/>
                                        </p:tgtEl>
                                      </p:cBhvr>
                                    </p:animEffect>
                                  </p:childTnLst>
                                </p:cTn>
                              </p:par>
                              <p:par>
                                <p:cTn id="47" presetID="2" presetClass="entr" presetSubtype="0" fill="hold" grpId="0" nodeType="withEffect">
                                  <p:stCondLst>
                                    <p:cond delay="700"/>
                                  </p:stCondLst>
                                  <p:childTnLst>
                                    <p:set>
                                      <p:cBhvr>
                                        <p:cTn id="44" dur="1" fill="hold">
                                          <p:stCondLst>
                                            <p:cond delay="0"/>
                                          </p:stCondLst>
                                        </p:cTn>
                                        <p:tgtEl>
                                          <p:spTgt spid="32"/>
                                        </p:tgtEl>
                                        <p:attrNameLst>
                                          <p:attrName>style.visibility</p:attrName>
                                        </p:attrNameLst>
                                      </p:cBhvr>
                                      <p:to>
                                        <p:strVal val="visible"/>
                                      </p:to>
                                    </p:set>
                                    <p:animEffect transition="in" filter="fade">
                                      <p:cBhvr>
                                        <p:cTn id="45" dur="350" decel="100000"/>
                                        <p:tgtEl>
                                          <p:spTgt spid="32"/>
                                        </p:tgtEl>
                                      </p:cBhvr>
                                    </p:animEffect>
                                    <p:animMotion origin="layout" path="M -0.0100 0.0000 L 0 0 E" pathEditMode="relative" ptsTypes="">
                                      <p:cBhvr>
                                        <p:cTn id="46" dur="700" fill="hold" decel="100000"/>
                                        <p:tgtEl>
                                          <p:spTgt spid="32"/>
                                        </p:tgtEl>
                                        <p:attrNameLst>
                                          <p:attrName>ppt_x</p:attrName>
                                          <p:attrName>ppt_y</p:attrName>
                                        </p:attrNameLst>
                                      </p:cBhvr>
                                      <p:rCtr x="0" y="0"/>
                                    </p:animMotion>
                                  </p:childTnLst>
                                </p:cTn>
                              </p:par>
                              <p:par>
                                <p:cTn id="52" presetID="42" presetClass="entr" presetSubtype="0" fill="hold" grpId="0" nodeType="withEffect">
                                  <p:stCondLst>
                                    <p:cond delay="700"/>
                                  </p:stCondLst>
                                  <p:childTnLst>
                                    <p:set>
                                      <p:cBhvr>
                                        <p:cTn id="48" dur="1" fill="hold">
                                          <p:stCondLst>
                                            <p:cond delay="0"/>
                                          </p:stCondLst>
                                        </p:cTn>
                                        <p:tgtEl>
                                          <p:spTgt spid="36"/>
                                        </p:tgtEl>
                                        <p:attrNameLst>
                                          <p:attrName>style.visibility</p:attrName>
                                        </p:attrNameLst>
                                      </p:cBhvr>
                                      <p:to>
                                        <p:strVal val="visible"/>
                                      </p:to>
                                    </p:set>
                                    <p:animEffect transition="in" filter="fade">
                                      <p:cBhvr>
                                        <p:cTn id="49" dur="640" decel="100000"/>
                                        <p:tgtEl>
                                          <p:spTgt spid="36"/>
                                        </p:tgtEl>
                                      </p:cBhvr>
                                    </p:animEffect>
                                    <p:anim calcmode="lin" valueType="num">
                                      <p:cBhvr>
                                        <p:cTn id="50" dur="800" fill="hold" decel="100000"/>
                                        <p:tgtEl>
                                          <p:spTgt spid="36"/>
                                        </p:tgtEl>
                                        <p:attrNameLst>
                                          <p:attrName>ppt_x</p:attrName>
                                        </p:attrNameLst>
                                      </p:cBhvr>
                                      <p:tavLst>
                                        <p:tav tm="0">
                                          <p:val>
                                            <p:strVal val="#ppt_x"/>
                                          </p:val>
                                        </p:tav>
                                        <p:tav tm="100000">
                                          <p:val>
                                            <p:strVal val="#ppt_x"/>
                                          </p:val>
                                        </p:tav>
                                      </p:tavLst>
                                    </p:anim>
                                    <p:anim calcmode="lin" valueType="num">
                                      <p:cBhvr>
                                        <p:cTn id="51" dur="800" fill="hold" decel="100000"/>
                                        <p:tgtEl>
                                          <p:spTgt spid="36"/>
                                        </p:tgtEl>
                                        <p:attrNameLst>
                                          <p:attrName>ppt_y</p:attrName>
                                        </p:attrNameLst>
                                      </p:cBhvr>
                                      <p:tavLst>
                                        <p:tav tm="0">
                                          <p:val>
                                            <p:strVal val="#ppt_y+0.0250"/>
                                          </p:val>
                                        </p:tav>
                                        <p:tav tm="100000">
                                          <p:val>
                                            <p:strVal val="#ppt_y"/>
                                          </p:val>
                                        </p:tav>
                                      </p:tavLst>
                                    </p:anim>
                                  </p:childTnLst>
                                </p:cTn>
                              </p:par>
                              <p:par>
                                <p:cTn id="57" presetID="42" presetClass="entr" presetSubtype="0" fill="hold" grpId="0" nodeType="withEffect">
                                  <p:stCondLst>
                                    <p:cond delay="780"/>
                                  </p:stCondLst>
                                  <p:childTnLst>
                                    <p:set>
                                      <p:cBhvr>
                                        <p:cTn id="53" dur="1" fill="hold">
                                          <p:stCondLst>
                                            <p:cond delay="0"/>
                                          </p:stCondLst>
                                        </p:cTn>
                                        <p:tgtEl>
                                          <p:spTgt spid="37"/>
                                        </p:tgtEl>
                                        <p:attrNameLst>
                                          <p:attrName>style.visibility</p:attrName>
                                        </p:attrNameLst>
                                      </p:cBhvr>
                                      <p:to>
                                        <p:strVal val="visible"/>
                                      </p:to>
                                    </p:set>
                                    <p:animEffect transition="in" filter="fade">
                                      <p:cBhvr>
                                        <p:cTn id="54" dur="640" decel="100000"/>
                                        <p:tgtEl>
                                          <p:spTgt spid="37"/>
                                        </p:tgtEl>
                                      </p:cBhvr>
                                    </p:animEffect>
                                    <p:anim calcmode="lin" valueType="num">
                                      <p:cBhvr>
                                        <p:cTn id="55" dur="800" fill="hold" decel="100000"/>
                                        <p:tgtEl>
                                          <p:spTgt spid="37"/>
                                        </p:tgtEl>
                                        <p:attrNameLst>
                                          <p:attrName>ppt_x</p:attrName>
                                        </p:attrNameLst>
                                      </p:cBhvr>
                                      <p:tavLst>
                                        <p:tav tm="0">
                                          <p:val>
                                            <p:strVal val="#ppt_x"/>
                                          </p:val>
                                        </p:tav>
                                        <p:tav tm="100000">
                                          <p:val>
                                            <p:strVal val="#ppt_x"/>
                                          </p:val>
                                        </p:tav>
                                      </p:tavLst>
                                    </p:anim>
                                    <p:anim calcmode="lin" valueType="num">
                                      <p:cBhvr>
                                        <p:cTn id="56" dur="800" fill="hold" decel="100000"/>
                                        <p:tgtEl>
                                          <p:spTgt spid="37"/>
                                        </p:tgtEl>
                                        <p:attrNameLst>
                                          <p:attrName>ppt_y</p:attrName>
                                        </p:attrNameLst>
                                      </p:cBhvr>
                                      <p:tavLst>
                                        <p:tav tm="0">
                                          <p:val>
                                            <p:strVal val="#ppt_y+0.0250"/>
                                          </p:val>
                                        </p:tav>
                                        <p:tav tm="100000">
                                          <p:val>
                                            <p:strVal val="#ppt_y"/>
                                          </p:val>
                                        </p:tav>
                                      </p:tavLst>
                                    </p:anim>
                                  </p:childTnLst>
                                </p:cTn>
                              </p:par>
                              <p:par>
                                <p:cTn id="62" presetID="53" presetClass="entr" presetSubtype="16" fill="hold" grpId="0" nodeType="withEffect">
                                  <p:stCondLst>
                                    <p:cond delay="800"/>
                                  </p:stCondLst>
                                  <p:childTnLst>
                                    <p:set>
                                      <p:cBhvr>
                                        <p:cTn id="58" dur="1" fill="hold">
                                          <p:stCondLst>
                                            <p:cond delay="0"/>
                                          </p:stCondLst>
                                        </p:cTn>
                                        <p:tgtEl>
                                          <p:spTgt spid="41"/>
                                        </p:tgtEl>
                                        <p:attrNameLst>
                                          <p:attrName>style.visibility</p:attrName>
                                        </p:attrNameLst>
                                      </p:cBhvr>
                                      <p:to>
                                        <p:strVal val="visible"/>
                                      </p:to>
                                    </p:set>
                                    <p:anim calcmode="lin" valueType="num">
                                      <p:cBhvr>
                                        <p:cTn id="59" dur="900" fill="hold" decel="100000"/>
                                        <p:tgtEl>
                                          <p:spTgt spid="41"/>
                                        </p:tgtEl>
                                        <p:attrNameLst>
                                          <p:attrName>ppt_w</p:attrName>
                                        </p:attrNameLst>
                                      </p:cBhvr>
                                      <p:tavLst>
                                        <p:tav tm="0">
                                          <p:val>
                                            <p:strVal val="#ppt_w*0.960"/>
                                          </p:val>
                                        </p:tav>
                                        <p:tav tm="100000">
                                          <p:val>
                                            <p:strVal val="#ppt_w"/>
                                          </p:val>
                                        </p:tav>
                                      </p:tavLst>
                                    </p:anim>
                                    <p:anim calcmode="lin" valueType="num">
                                      <p:cBhvr>
                                        <p:cTn id="60" dur="900" fill="hold" decel="100000"/>
                                        <p:tgtEl>
                                          <p:spTgt spid="41"/>
                                        </p:tgtEl>
                                        <p:attrNameLst>
                                          <p:attrName>ppt_h</p:attrName>
                                        </p:attrNameLst>
                                      </p:cBhvr>
                                      <p:tavLst>
                                        <p:tav tm="0">
                                          <p:val>
                                            <p:strVal val="#ppt_h*0.960"/>
                                          </p:val>
                                        </p:tav>
                                        <p:tav tm="100000">
                                          <p:val>
                                            <p:strVal val="#ppt_h"/>
                                          </p:val>
                                        </p:tav>
                                      </p:tavLst>
                                    </p:anim>
                                    <p:animEffect transition="in" filter="fade">
                                      <p:cBhvr>
                                        <p:cTn id="61" dur="630" decel="100000"/>
                                        <p:tgtEl>
                                          <p:spTgt spid="41"/>
                                        </p:tgtEl>
                                      </p:cBhvr>
                                    </p:animEffect>
                                  </p:childTnLst>
                                </p:cTn>
                              </p:par>
                              <p:par>
                                <p:cTn id="67" presetID="42" presetClass="entr" presetSubtype="0" fill="hold" grpId="0" nodeType="withEffect">
                                  <p:stCondLst>
                                    <p:cond delay="860"/>
                                  </p:stCondLst>
                                  <p:childTnLst>
                                    <p:set>
                                      <p:cBhvr>
                                        <p:cTn id="63" dur="1" fill="hold">
                                          <p:stCondLst>
                                            <p:cond delay="0"/>
                                          </p:stCondLst>
                                        </p:cTn>
                                        <p:tgtEl>
                                          <p:spTgt spid="38"/>
                                        </p:tgtEl>
                                        <p:attrNameLst>
                                          <p:attrName>style.visibility</p:attrName>
                                        </p:attrNameLst>
                                      </p:cBhvr>
                                      <p:to>
                                        <p:strVal val="visible"/>
                                      </p:to>
                                    </p:set>
                                    <p:animEffect transition="in" filter="fade">
                                      <p:cBhvr>
                                        <p:cTn id="64" dur="640" decel="100000"/>
                                        <p:tgtEl>
                                          <p:spTgt spid="38"/>
                                        </p:tgtEl>
                                      </p:cBhvr>
                                    </p:animEffect>
                                    <p:anim calcmode="lin" valueType="num">
                                      <p:cBhvr>
                                        <p:cTn id="65" dur="800" fill="hold" decel="100000"/>
                                        <p:tgtEl>
                                          <p:spTgt spid="38"/>
                                        </p:tgtEl>
                                        <p:attrNameLst>
                                          <p:attrName>ppt_x</p:attrName>
                                        </p:attrNameLst>
                                      </p:cBhvr>
                                      <p:tavLst>
                                        <p:tav tm="0">
                                          <p:val>
                                            <p:strVal val="#ppt_x"/>
                                          </p:val>
                                        </p:tav>
                                        <p:tav tm="100000">
                                          <p:val>
                                            <p:strVal val="#ppt_x"/>
                                          </p:val>
                                        </p:tav>
                                      </p:tavLst>
                                    </p:anim>
                                    <p:anim calcmode="lin" valueType="num">
                                      <p:cBhvr>
                                        <p:cTn id="66" dur="800" fill="hold" decel="100000"/>
                                        <p:tgtEl>
                                          <p:spTgt spid="38"/>
                                        </p:tgtEl>
                                        <p:attrNameLst>
                                          <p:attrName>ppt_y</p:attrName>
                                        </p:attrNameLst>
                                      </p:cBhvr>
                                      <p:tavLst>
                                        <p:tav tm="0">
                                          <p:val>
                                            <p:strVal val="#ppt_y+0.0250"/>
                                          </p:val>
                                        </p:tav>
                                        <p:tav tm="100000">
                                          <p:val>
                                            <p:strVal val="#ppt_y"/>
                                          </p:val>
                                        </p:tav>
                                      </p:tavLst>
                                    </p:anim>
                                  </p:childTnLst>
                                </p:cTn>
                              </p:par>
                              <p:par>
                                <p:cTn id="72" presetID="53" presetClass="entr" presetSubtype="16" fill="hold" grpId="0" nodeType="withEffect">
                                  <p:stCondLst>
                                    <p:cond delay="860"/>
                                  </p:stCondLst>
                                  <p:childTnLst>
                                    <p:set>
                                      <p:cBhvr>
                                        <p:cTn id="68" dur="1" fill="hold">
                                          <p:stCondLst>
                                            <p:cond delay="0"/>
                                          </p:stCondLst>
                                        </p:cTn>
                                        <p:tgtEl>
                                          <p:spTgt spid="42"/>
                                        </p:tgtEl>
                                        <p:attrNameLst>
                                          <p:attrName>style.visibility</p:attrName>
                                        </p:attrNameLst>
                                      </p:cBhvr>
                                      <p:to>
                                        <p:strVal val="visible"/>
                                      </p:to>
                                    </p:set>
                                    <p:anim calcmode="lin" valueType="num">
                                      <p:cBhvr>
                                        <p:cTn id="69" dur="700" fill="hold" decel="100000"/>
                                        <p:tgtEl>
                                          <p:spTgt spid="42"/>
                                        </p:tgtEl>
                                        <p:attrNameLst>
                                          <p:attrName>ppt_w</p:attrName>
                                        </p:attrNameLst>
                                      </p:cBhvr>
                                      <p:tavLst>
                                        <p:tav tm="0">
                                          <p:val>
                                            <p:strVal val="#ppt_w*0.700"/>
                                          </p:val>
                                        </p:tav>
                                        <p:tav tm="100000">
                                          <p:val>
                                            <p:strVal val="#ppt_w"/>
                                          </p:val>
                                        </p:tav>
                                      </p:tavLst>
                                    </p:anim>
                                    <p:anim calcmode="lin" valueType="num">
                                      <p:cBhvr>
                                        <p:cTn id="70" dur="700" fill="hold" decel="100000"/>
                                        <p:tgtEl>
                                          <p:spTgt spid="42"/>
                                        </p:tgtEl>
                                        <p:attrNameLst>
                                          <p:attrName>ppt_h</p:attrName>
                                        </p:attrNameLst>
                                      </p:cBhvr>
                                      <p:tavLst>
                                        <p:tav tm="0">
                                          <p:val>
                                            <p:strVal val="#ppt_h*0.700"/>
                                          </p:val>
                                        </p:tav>
                                        <p:tav tm="100000">
                                          <p:val>
                                            <p:strVal val="#ppt_h"/>
                                          </p:val>
                                        </p:tav>
                                      </p:tavLst>
                                    </p:anim>
                                    <p:animEffect transition="in" filter="fade">
                                      <p:cBhvr>
                                        <p:cTn id="71" dur="489" decel="100000"/>
                                        <p:tgtEl>
                                          <p:spTgt spid="42"/>
                                        </p:tgtEl>
                                      </p:cBhvr>
                                    </p:animEffect>
                                  </p:childTnLst>
                                </p:cTn>
                              </p:par>
                              <p:par>
                                <p:cTn id="76" presetID="2" presetClass="entr" presetSubtype="0" fill="hold" grpId="0" nodeType="withEffect">
                                  <p:stCondLst>
                                    <p:cond delay="900"/>
                                  </p:stCondLst>
                                  <p:childTnLst>
                                    <p:set>
                                      <p:cBhvr>
                                        <p:cTn id="73" dur="1" fill="hold">
                                          <p:stCondLst>
                                            <p:cond delay="0"/>
                                          </p:stCondLst>
                                        </p:cTn>
                                        <p:tgtEl>
                                          <p:spTgt spid="39"/>
                                        </p:tgtEl>
                                        <p:attrNameLst>
                                          <p:attrName>style.visibility</p:attrName>
                                        </p:attrNameLst>
                                      </p:cBhvr>
                                      <p:to>
                                        <p:strVal val="visible"/>
                                      </p:to>
                                    </p:set>
                                    <p:animEffect transition="in" filter="fade">
                                      <p:cBhvr>
                                        <p:cTn id="74" dur="350" decel="100000"/>
                                        <p:tgtEl>
                                          <p:spTgt spid="39"/>
                                        </p:tgtEl>
                                      </p:cBhvr>
                                    </p:animEffect>
                                    <p:animMotion origin="layout" path="M -0.0100 0.0000 L 0 0 E" pathEditMode="relative" ptsTypes="">
                                      <p:cBhvr>
                                        <p:cTn id="75" dur="700" fill="hold" decel="100000"/>
                                        <p:tgtEl>
                                          <p:spTgt spid="39"/>
                                        </p:tgtEl>
                                        <p:attrNameLst>
                                          <p:attrName>ppt_x</p:attrName>
                                          <p:attrName>ppt_y</p:attrName>
                                        </p:attrNameLst>
                                      </p:cBhvr>
                                      <p:rCtr x="0" y="0"/>
                                    </p:animMotion>
                                  </p:childTnLst>
                                </p:cTn>
                              </p:par>
                              <p:par>
                                <p:cTn id="81" presetID="42" presetClass="entr" presetSubtype="0" fill="hold" grpId="0" nodeType="withEffect">
                                  <p:stCondLst>
                                    <p:cond delay="900"/>
                                  </p:stCondLst>
                                  <p:childTnLst>
                                    <p:set>
                                      <p:cBhvr>
                                        <p:cTn id="77" dur="1" fill="hold">
                                          <p:stCondLst>
                                            <p:cond delay="0"/>
                                          </p:stCondLst>
                                        </p:cTn>
                                        <p:tgtEl>
                                          <p:spTgt spid="43"/>
                                        </p:tgtEl>
                                        <p:attrNameLst>
                                          <p:attrName>style.visibility</p:attrName>
                                        </p:attrNameLst>
                                      </p:cBhvr>
                                      <p:to>
                                        <p:strVal val="visible"/>
                                      </p:to>
                                    </p:set>
                                    <p:animEffect transition="in" filter="fade">
                                      <p:cBhvr>
                                        <p:cTn id="78" dur="640" decel="100000"/>
                                        <p:tgtEl>
                                          <p:spTgt spid="43"/>
                                        </p:tgtEl>
                                      </p:cBhvr>
                                    </p:animEffect>
                                    <p:anim calcmode="lin" valueType="num">
                                      <p:cBhvr>
                                        <p:cTn id="79" dur="800" fill="hold" decel="100000"/>
                                        <p:tgtEl>
                                          <p:spTgt spid="43"/>
                                        </p:tgtEl>
                                        <p:attrNameLst>
                                          <p:attrName>ppt_x</p:attrName>
                                        </p:attrNameLst>
                                      </p:cBhvr>
                                      <p:tavLst>
                                        <p:tav tm="0">
                                          <p:val>
                                            <p:strVal val="#ppt_x"/>
                                          </p:val>
                                        </p:tav>
                                        <p:tav tm="100000">
                                          <p:val>
                                            <p:strVal val="#ppt_x"/>
                                          </p:val>
                                        </p:tav>
                                      </p:tavLst>
                                    </p:anim>
                                    <p:anim calcmode="lin" valueType="num">
                                      <p:cBhvr>
                                        <p:cTn id="80" dur="800" fill="hold" decel="100000"/>
                                        <p:tgtEl>
                                          <p:spTgt spid="43"/>
                                        </p:tgtEl>
                                        <p:attrNameLst>
                                          <p:attrName>ppt_y</p:attrName>
                                        </p:attrNameLst>
                                      </p:cBhvr>
                                      <p:tavLst>
                                        <p:tav tm="0">
                                          <p:val>
                                            <p:strVal val="#ppt_y+0.0250"/>
                                          </p:val>
                                        </p:tav>
                                        <p:tav tm="100000">
                                          <p:val>
                                            <p:strVal val="#ppt_y"/>
                                          </p:val>
                                        </p:tav>
                                      </p:tavLst>
                                    </p:anim>
                                  </p:childTnLst>
                                </p:cTn>
                              </p:par>
                              <p:par>
                                <p:cTn id="86" presetID="42" presetClass="entr" presetSubtype="0" fill="hold" grpId="0" nodeType="withEffect">
                                  <p:stCondLst>
                                    <p:cond delay="980"/>
                                  </p:stCondLst>
                                  <p:childTnLst>
                                    <p:set>
                                      <p:cBhvr>
                                        <p:cTn id="82" dur="1" fill="hold">
                                          <p:stCondLst>
                                            <p:cond delay="0"/>
                                          </p:stCondLst>
                                        </p:cTn>
                                        <p:tgtEl>
                                          <p:spTgt spid="44"/>
                                        </p:tgtEl>
                                        <p:attrNameLst>
                                          <p:attrName>style.visibility</p:attrName>
                                        </p:attrNameLst>
                                      </p:cBhvr>
                                      <p:to>
                                        <p:strVal val="visible"/>
                                      </p:to>
                                    </p:set>
                                    <p:animEffect transition="in" filter="fade">
                                      <p:cBhvr>
                                        <p:cTn id="83" dur="640" decel="100000"/>
                                        <p:tgtEl>
                                          <p:spTgt spid="44"/>
                                        </p:tgtEl>
                                      </p:cBhvr>
                                    </p:animEffect>
                                    <p:anim calcmode="lin" valueType="num">
                                      <p:cBhvr>
                                        <p:cTn id="84" dur="800" fill="hold" decel="100000"/>
                                        <p:tgtEl>
                                          <p:spTgt spid="44"/>
                                        </p:tgtEl>
                                        <p:attrNameLst>
                                          <p:attrName>ppt_x</p:attrName>
                                        </p:attrNameLst>
                                      </p:cBhvr>
                                      <p:tavLst>
                                        <p:tav tm="0">
                                          <p:val>
                                            <p:strVal val="#ppt_x"/>
                                          </p:val>
                                        </p:tav>
                                        <p:tav tm="100000">
                                          <p:val>
                                            <p:strVal val="#ppt_x"/>
                                          </p:val>
                                        </p:tav>
                                      </p:tavLst>
                                    </p:anim>
                                    <p:anim calcmode="lin" valueType="num">
                                      <p:cBhvr>
                                        <p:cTn id="85" dur="800" fill="hold" decel="100000"/>
                                        <p:tgtEl>
                                          <p:spTgt spid="44"/>
                                        </p:tgtEl>
                                        <p:attrNameLst>
                                          <p:attrName>ppt_y</p:attrName>
                                        </p:attrNameLst>
                                      </p:cBhvr>
                                      <p:tavLst>
                                        <p:tav tm="0">
                                          <p:val>
                                            <p:strVal val="#ppt_y+0.0250"/>
                                          </p:val>
                                        </p:tav>
                                        <p:tav tm="100000">
                                          <p:val>
                                            <p:strVal val="#ppt_y"/>
                                          </p:val>
                                        </p:tav>
                                      </p:tavLst>
                                    </p:anim>
                                  </p:childTnLst>
                                </p:cTn>
                              </p:par>
                              <p:par>
                                <p:cTn id="91" presetID="53" presetClass="entr" presetSubtype="16" fill="hold" grpId="0" nodeType="withEffect">
                                  <p:stCondLst>
                                    <p:cond delay="1000"/>
                                  </p:stCondLst>
                                  <p:childTnLst>
                                    <p:set>
                                      <p:cBhvr>
                                        <p:cTn id="87" dur="1" fill="hold">
                                          <p:stCondLst>
                                            <p:cond delay="0"/>
                                          </p:stCondLst>
                                        </p:cTn>
                                        <p:tgtEl>
                                          <p:spTgt spid="48"/>
                                        </p:tgtEl>
                                        <p:attrNameLst>
                                          <p:attrName>style.visibility</p:attrName>
                                        </p:attrNameLst>
                                      </p:cBhvr>
                                      <p:to>
                                        <p:strVal val="visible"/>
                                      </p:to>
                                    </p:set>
                                    <p:anim calcmode="lin" valueType="num">
                                      <p:cBhvr>
                                        <p:cTn id="88" dur="900" fill="hold" decel="100000"/>
                                        <p:tgtEl>
                                          <p:spTgt spid="48"/>
                                        </p:tgtEl>
                                        <p:attrNameLst>
                                          <p:attrName>ppt_w</p:attrName>
                                        </p:attrNameLst>
                                      </p:cBhvr>
                                      <p:tavLst>
                                        <p:tav tm="0">
                                          <p:val>
                                            <p:strVal val="#ppt_w*0.960"/>
                                          </p:val>
                                        </p:tav>
                                        <p:tav tm="100000">
                                          <p:val>
                                            <p:strVal val="#ppt_w"/>
                                          </p:val>
                                        </p:tav>
                                      </p:tavLst>
                                    </p:anim>
                                    <p:anim calcmode="lin" valueType="num">
                                      <p:cBhvr>
                                        <p:cTn id="89" dur="900" fill="hold" decel="100000"/>
                                        <p:tgtEl>
                                          <p:spTgt spid="48"/>
                                        </p:tgtEl>
                                        <p:attrNameLst>
                                          <p:attrName>ppt_h</p:attrName>
                                        </p:attrNameLst>
                                      </p:cBhvr>
                                      <p:tavLst>
                                        <p:tav tm="0">
                                          <p:val>
                                            <p:strVal val="#ppt_h*0.960"/>
                                          </p:val>
                                        </p:tav>
                                        <p:tav tm="100000">
                                          <p:val>
                                            <p:strVal val="#ppt_h"/>
                                          </p:val>
                                        </p:tav>
                                      </p:tavLst>
                                    </p:anim>
                                    <p:animEffect transition="in" filter="fade">
                                      <p:cBhvr>
                                        <p:cTn id="90" dur="630" decel="100000"/>
                                        <p:tgtEl>
                                          <p:spTgt spid="48"/>
                                        </p:tgtEl>
                                      </p:cBhvr>
                                    </p:animEffect>
                                  </p:childTnLst>
                                </p:cTn>
                              </p:par>
                              <p:par>
                                <p:cTn id="96" presetID="42" presetClass="entr" presetSubtype="0" fill="hold" grpId="0" nodeType="withEffect">
                                  <p:stCondLst>
                                    <p:cond delay="1060"/>
                                  </p:stCondLst>
                                  <p:childTnLst>
                                    <p:set>
                                      <p:cBhvr>
                                        <p:cTn id="92" dur="1" fill="hold">
                                          <p:stCondLst>
                                            <p:cond delay="0"/>
                                          </p:stCondLst>
                                        </p:cTn>
                                        <p:tgtEl>
                                          <p:spTgt spid="45"/>
                                        </p:tgtEl>
                                        <p:attrNameLst>
                                          <p:attrName>style.visibility</p:attrName>
                                        </p:attrNameLst>
                                      </p:cBhvr>
                                      <p:to>
                                        <p:strVal val="visible"/>
                                      </p:to>
                                    </p:set>
                                    <p:animEffect transition="in" filter="fade">
                                      <p:cBhvr>
                                        <p:cTn id="93" dur="640" decel="100000"/>
                                        <p:tgtEl>
                                          <p:spTgt spid="45"/>
                                        </p:tgtEl>
                                      </p:cBhvr>
                                    </p:animEffect>
                                    <p:anim calcmode="lin" valueType="num">
                                      <p:cBhvr>
                                        <p:cTn id="94" dur="800" fill="hold" decel="100000"/>
                                        <p:tgtEl>
                                          <p:spTgt spid="45"/>
                                        </p:tgtEl>
                                        <p:attrNameLst>
                                          <p:attrName>ppt_x</p:attrName>
                                        </p:attrNameLst>
                                      </p:cBhvr>
                                      <p:tavLst>
                                        <p:tav tm="0">
                                          <p:val>
                                            <p:strVal val="#ppt_x"/>
                                          </p:val>
                                        </p:tav>
                                        <p:tav tm="100000">
                                          <p:val>
                                            <p:strVal val="#ppt_x"/>
                                          </p:val>
                                        </p:tav>
                                      </p:tavLst>
                                    </p:anim>
                                    <p:anim calcmode="lin" valueType="num">
                                      <p:cBhvr>
                                        <p:cTn id="95" dur="800" fill="hold" decel="100000"/>
                                        <p:tgtEl>
                                          <p:spTgt spid="45"/>
                                        </p:tgtEl>
                                        <p:attrNameLst>
                                          <p:attrName>ppt_y</p:attrName>
                                        </p:attrNameLst>
                                      </p:cBhvr>
                                      <p:tavLst>
                                        <p:tav tm="0">
                                          <p:val>
                                            <p:strVal val="#ppt_y+0.0250"/>
                                          </p:val>
                                        </p:tav>
                                        <p:tav tm="100000">
                                          <p:val>
                                            <p:strVal val="#ppt_y"/>
                                          </p:val>
                                        </p:tav>
                                      </p:tavLst>
                                    </p:anim>
                                  </p:childTnLst>
                                </p:cTn>
                              </p:par>
                              <p:par>
                                <p:cTn id="101" presetID="53" presetClass="entr" presetSubtype="16" fill="hold" grpId="0" nodeType="withEffect">
                                  <p:stCondLst>
                                    <p:cond delay="1060"/>
                                  </p:stCondLst>
                                  <p:childTnLst>
                                    <p:set>
                                      <p:cBhvr>
                                        <p:cTn id="97" dur="1" fill="hold">
                                          <p:stCondLst>
                                            <p:cond delay="0"/>
                                          </p:stCondLst>
                                        </p:cTn>
                                        <p:tgtEl>
                                          <p:spTgt spid="49"/>
                                        </p:tgtEl>
                                        <p:attrNameLst>
                                          <p:attrName>style.visibility</p:attrName>
                                        </p:attrNameLst>
                                      </p:cBhvr>
                                      <p:to>
                                        <p:strVal val="visible"/>
                                      </p:to>
                                    </p:set>
                                    <p:anim calcmode="lin" valueType="num">
                                      <p:cBhvr>
                                        <p:cTn id="98" dur="700" fill="hold" decel="100000"/>
                                        <p:tgtEl>
                                          <p:spTgt spid="49"/>
                                        </p:tgtEl>
                                        <p:attrNameLst>
                                          <p:attrName>ppt_w</p:attrName>
                                        </p:attrNameLst>
                                      </p:cBhvr>
                                      <p:tavLst>
                                        <p:tav tm="0">
                                          <p:val>
                                            <p:strVal val="#ppt_w*0.700"/>
                                          </p:val>
                                        </p:tav>
                                        <p:tav tm="100000">
                                          <p:val>
                                            <p:strVal val="#ppt_w"/>
                                          </p:val>
                                        </p:tav>
                                      </p:tavLst>
                                    </p:anim>
                                    <p:anim calcmode="lin" valueType="num">
                                      <p:cBhvr>
                                        <p:cTn id="99" dur="700" fill="hold" decel="100000"/>
                                        <p:tgtEl>
                                          <p:spTgt spid="49"/>
                                        </p:tgtEl>
                                        <p:attrNameLst>
                                          <p:attrName>ppt_h</p:attrName>
                                        </p:attrNameLst>
                                      </p:cBhvr>
                                      <p:tavLst>
                                        <p:tav tm="0">
                                          <p:val>
                                            <p:strVal val="#ppt_h*0.700"/>
                                          </p:val>
                                        </p:tav>
                                        <p:tav tm="100000">
                                          <p:val>
                                            <p:strVal val="#ppt_h"/>
                                          </p:val>
                                        </p:tav>
                                      </p:tavLst>
                                    </p:anim>
                                    <p:animEffect transition="in" filter="fade">
                                      <p:cBhvr>
                                        <p:cTn id="100" dur="489" decel="100000"/>
                                        <p:tgtEl>
                                          <p:spTgt spid="49"/>
                                        </p:tgtEl>
                                      </p:cBhvr>
                                    </p:animEffect>
                                  </p:childTnLst>
                                </p:cTn>
                              </p:par>
                              <p:par>
                                <p:cTn id="105" presetID="2" presetClass="entr" presetSubtype="0" fill="hold" grpId="0" nodeType="withEffect">
                                  <p:stCondLst>
                                    <p:cond delay="1100"/>
                                  </p:stCondLst>
                                  <p:childTnLst>
                                    <p:set>
                                      <p:cBhvr>
                                        <p:cTn id="102" dur="1" fill="hold">
                                          <p:stCondLst>
                                            <p:cond delay="0"/>
                                          </p:stCondLst>
                                        </p:cTn>
                                        <p:tgtEl>
                                          <p:spTgt spid="46"/>
                                        </p:tgtEl>
                                        <p:attrNameLst>
                                          <p:attrName>style.visibility</p:attrName>
                                        </p:attrNameLst>
                                      </p:cBhvr>
                                      <p:to>
                                        <p:strVal val="visible"/>
                                      </p:to>
                                    </p:set>
                                    <p:animEffect transition="in" filter="fade">
                                      <p:cBhvr>
                                        <p:cTn id="103" dur="350" decel="100000"/>
                                        <p:tgtEl>
                                          <p:spTgt spid="46"/>
                                        </p:tgtEl>
                                      </p:cBhvr>
                                    </p:animEffect>
                                    <p:animMotion origin="layout" path="M -0.0100 0.0000 L 0 0 E" pathEditMode="relative" ptsTypes="">
                                      <p:cBhvr>
                                        <p:cTn id="104" dur="700" fill="hold" decel="100000"/>
                                        <p:tgtEl>
                                          <p:spTgt spid="46"/>
                                        </p:tgtEl>
                                        <p:attrNameLst>
                                          <p:attrName>ppt_x</p:attrName>
                                          <p:attrName>ppt_y</p:attrName>
                                        </p:attrNameLst>
                                      </p:cBhvr>
                                      <p:rCtr x="0" y="0"/>
                                    </p:animMotion>
                                  </p:childTnLst>
                                </p:cTn>
                              </p:par>
                              <p:par>
                                <p:cTn id="110" presetID="42" presetClass="entr" presetSubtype="0" fill="hold" grpId="0" nodeType="withEffect">
                                  <p:stCondLst>
                                    <p:cond delay="1100"/>
                                  </p:stCondLst>
                                  <p:childTnLst>
                                    <p:set>
                                      <p:cBhvr>
                                        <p:cTn id="106" dur="1" fill="hold">
                                          <p:stCondLst>
                                            <p:cond delay="0"/>
                                          </p:stCondLst>
                                        </p:cTn>
                                        <p:tgtEl>
                                          <p:spTgt spid="50"/>
                                        </p:tgtEl>
                                        <p:attrNameLst>
                                          <p:attrName>style.visibility</p:attrName>
                                        </p:attrNameLst>
                                      </p:cBhvr>
                                      <p:to>
                                        <p:strVal val="visible"/>
                                      </p:to>
                                    </p:set>
                                    <p:animEffect transition="in" filter="fade">
                                      <p:cBhvr>
                                        <p:cTn id="107" dur="640" decel="100000"/>
                                        <p:tgtEl>
                                          <p:spTgt spid="50"/>
                                        </p:tgtEl>
                                      </p:cBhvr>
                                    </p:animEffect>
                                    <p:anim calcmode="lin" valueType="num">
                                      <p:cBhvr>
                                        <p:cTn id="108" dur="800" fill="hold" decel="100000"/>
                                        <p:tgtEl>
                                          <p:spTgt spid="50"/>
                                        </p:tgtEl>
                                        <p:attrNameLst>
                                          <p:attrName>ppt_x</p:attrName>
                                        </p:attrNameLst>
                                      </p:cBhvr>
                                      <p:tavLst>
                                        <p:tav tm="0">
                                          <p:val>
                                            <p:strVal val="#ppt_x"/>
                                          </p:val>
                                        </p:tav>
                                        <p:tav tm="100000">
                                          <p:val>
                                            <p:strVal val="#ppt_x"/>
                                          </p:val>
                                        </p:tav>
                                      </p:tavLst>
                                    </p:anim>
                                    <p:anim calcmode="lin" valueType="num">
                                      <p:cBhvr>
                                        <p:cTn id="109" dur="800" fill="hold" decel="100000"/>
                                        <p:tgtEl>
                                          <p:spTgt spid="50"/>
                                        </p:tgtEl>
                                        <p:attrNameLst>
                                          <p:attrName>ppt_y</p:attrName>
                                        </p:attrNameLst>
                                      </p:cBhvr>
                                      <p:tavLst>
                                        <p:tav tm="0">
                                          <p:val>
                                            <p:strVal val="#ppt_y+0.0250"/>
                                          </p:val>
                                        </p:tav>
                                        <p:tav tm="100000">
                                          <p:val>
                                            <p:strVal val="#ppt_y"/>
                                          </p:val>
                                        </p:tav>
                                      </p:tavLst>
                                    </p:anim>
                                  </p:childTnLst>
                                </p:cTn>
                              </p:par>
                              <p:par>
                                <p:cTn id="115" presetID="42" presetClass="entr" presetSubtype="0" fill="hold" grpId="0" nodeType="withEffect">
                                  <p:stCondLst>
                                    <p:cond delay="1180"/>
                                  </p:stCondLst>
                                  <p:childTnLst>
                                    <p:set>
                                      <p:cBhvr>
                                        <p:cTn id="111" dur="1" fill="hold">
                                          <p:stCondLst>
                                            <p:cond delay="0"/>
                                          </p:stCondLst>
                                        </p:cTn>
                                        <p:tgtEl>
                                          <p:spTgt spid="51"/>
                                        </p:tgtEl>
                                        <p:attrNameLst>
                                          <p:attrName>style.visibility</p:attrName>
                                        </p:attrNameLst>
                                      </p:cBhvr>
                                      <p:to>
                                        <p:strVal val="visible"/>
                                      </p:to>
                                    </p:set>
                                    <p:animEffect transition="in" filter="fade">
                                      <p:cBhvr>
                                        <p:cTn id="112" dur="640" decel="100000"/>
                                        <p:tgtEl>
                                          <p:spTgt spid="51"/>
                                        </p:tgtEl>
                                      </p:cBhvr>
                                    </p:animEffect>
                                    <p:anim calcmode="lin" valueType="num">
                                      <p:cBhvr>
                                        <p:cTn id="113" dur="800" fill="hold" decel="100000"/>
                                        <p:tgtEl>
                                          <p:spTgt spid="51"/>
                                        </p:tgtEl>
                                        <p:attrNameLst>
                                          <p:attrName>ppt_x</p:attrName>
                                        </p:attrNameLst>
                                      </p:cBhvr>
                                      <p:tavLst>
                                        <p:tav tm="0">
                                          <p:val>
                                            <p:strVal val="#ppt_x"/>
                                          </p:val>
                                        </p:tav>
                                        <p:tav tm="100000">
                                          <p:val>
                                            <p:strVal val="#ppt_x"/>
                                          </p:val>
                                        </p:tav>
                                      </p:tavLst>
                                    </p:anim>
                                    <p:anim calcmode="lin" valueType="num">
                                      <p:cBhvr>
                                        <p:cTn id="114" dur="800" fill="hold" decel="100000"/>
                                        <p:tgtEl>
                                          <p:spTgt spid="51"/>
                                        </p:tgtEl>
                                        <p:attrNameLst>
                                          <p:attrName>ppt_y</p:attrName>
                                        </p:attrNameLst>
                                      </p:cBhvr>
                                      <p:tavLst>
                                        <p:tav tm="0">
                                          <p:val>
                                            <p:strVal val="#ppt_y+0.0250"/>
                                          </p:val>
                                        </p:tav>
                                        <p:tav tm="100000">
                                          <p:val>
                                            <p:strVal val="#ppt_y"/>
                                          </p:val>
                                        </p:tav>
                                      </p:tavLst>
                                    </p:anim>
                                  </p:childTnLst>
                                </p:cTn>
                              </p:par>
                              <p:par>
                                <p:cTn id="120" presetID="42" presetClass="entr" presetSubtype="0" fill="hold" grpId="0" nodeType="withEffect">
                                  <p:stCondLst>
                                    <p:cond delay="1260"/>
                                  </p:stCondLst>
                                  <p:childTnLst>
                                    <p:set>
                                      <p:cBhvr>
                                        <p:cTn id="116" dur="1" fill="hold">
                                          <p:stCondLst>
                                            <p:cond delay="0"/>
                                          </p:stCondLst>
                                        </p:cTn>
                                        <p:tgtEl>
                                          <p:spTgt spid="52"/>
                                        </p:tgtEl>
                                        <p:attrNameLst>
                                          <p:attrName>style.visibility</p:attrName>
                                        </p:attrNameLst>
                                      </p:cBhvr>
                                      <p:to>
                                        <p:strVal val="visible"/>
                                      </p:to>
                                    </p:set>
                                    <p:animEffect transition="in" filter="fade">
                                      <p:cBhvr>
                                        <p:cTn id="117" dur="640" decel="100000"/>
                                        <p:tgtEl>
                                          <p:spTgt spid="52"/>
                                        </p:tgtEl>
                                      </p:cBhvr>
                                    </p:animEffect>
                                    <p:anim calcmode="lin" valueType="num">
                                      <p:cBhvr>
                                        <p:cTn id="118" dur="800" fill="hold" decel="100000"/>
                                        <p:tgtEl>
                                          <p:spTgt spid="52"/>
                                        </p:tgtEl>
                                        <p:attrNameLst>
                                          <p:attrName>ppt_x</p:attrName>
                                        </p:attrNameLst>
                                      </p:cBhvr>
                                      <p:tavLst>
                                        <p:tav tm="0">
                                          <p:val>
                                            <p:strVal val="#ppt_x"/>
                                          </p:val>
                                        </p:tav>
                                        <p:tav tm="100000">
                                          <p:val>
                                            <p:strVal val="#ppt_x"/>
                                          </p:val>
                                        </p:tav>
                                      </p:tavLst>
                                    </p:anim>
                                    <p:anim calcmode="lin" valueType="num">
                                      <p:cBhvr>
                                        <p:cTn id="119" dur="800" fill="hold" decel="100000"/>
                                        <p:tgtEl>
                                          <p:spTgt spid="52"/>
                                        </p:tgtEl>
                                        <p:attrNameLst>
                                          <p:attrName>ppt_y</p:attrName>
                                        </p:attrNameLst>
                                      </p:cBhvr>
                                      <p:tavLst>
                                        <p:tav tm="0">
                                          <p:val>
                                            <p:strVal val="#ppt_y+0.0250"/>
                                          </p:val>
                                        </p:tav>
                                        <p:tav tm="100000">
                                          <p:val>
                                            <p:strVal val="#ppt_y"/>
                                          </p:val>
                                        </p:tav>
                                      </p:tavLst>
                                    </p:anim>
                                  </p:childTnLst>
                                </p:cTn>
                              </p:par>
                              <p:par>
                                <p:cTn id="124" presetID="2" presetClass="entr" presetSubtype="0" fill="hold" grpId="0" nodeType="withEffect">
                                  <p:stCondLst>
                                    <p:cond delay="1300"/>
                                  </p:stCondLst>
                                  <p:childTnLst>
                                    <p:set>
                                      <p:cBhvr>
                                        <p:cTn id="121" dur="1" fill="hold">
                                          <p:stCondLst>
                                            <p:cond delay="0"/>
                                          </p:stCondLst>
                                        </p:cTn>
                                        <p:tgtEl>
                                          <p:spTgt spid="53"/>
                                        </p:tgtEl>
                                        <p:attrNameLst>
                                          <p:attrName>style.visibility</p:attrName>
                                        </p:attrNameLst>
                                      </p:cBhvr>
                                      <p:to>
                                        <p:strVal val="visible"/>
                                      </p:to>
                                    </p:set>
                                    <p:animEffect transition="in" filter="fade">
                                      <p:cBhvr>
                                        <p:cTn id="122" dur="350" decel="100000"/>
                                        <p:tgtEl>
                                          <p:spTgt spid="53"/>
                                        </p:tgtEl>
                                      </p:cBhvr>
                                    </p:animEffect>
                                    <p:animMotion origin="layout" path="M -0.0100 0.0000 L 0 0 E" pathEditMode="relative" ptsTypes="">
                                      <p:cBhvr>
                                        <p:cTn id="123" dur="700" fill="hold" decel="100000"/>
                                        <p:tgtEl>
                                          <p:spTgt spid="53"/>
                                        </p:tgtEl>
                                        <p:attrNameLst>
                                          <p:attrName>ppt_x</p:attrName>
                                          <p:attrName>ppt_y</p:attrName>
                                        </p:attrNameLst>
                                      </p:cBhvr>
                                      <p:rCtr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4" grpId="0" animBg="1"/>
      <p:bldP spid="31" grpId="0" animBg="1"/>
      <p:bldP spid="35" grpId="0" animBg="1"/>
      <p:bldP spid="36" grpId="0" animBg="1"/>
      <p:bldP spid="37" grpId="0" animBg="1"/>
      <p:bldP spid="41" grpId="0" animBg="1"/>
      <p:bldP spid="38" grpId="0" animBg="1"/>
      <p:bldP spid="42" grpId="0" animBg="1"/>
      <p:bldP spid="43" grpId="0" animBg="1"/>
      <p:bldP spid="44" grpId="0" animBg="1"/>
      <p:bldP spid="48" grpId="0" animBg="1"/>
      <p:bldP spid="45" grpId="0" animBg="1"/>
      <p:bldP spid="49" grpId="0" animBg="1"/>
      <p:bldP spid="50" grpId="0" animBg="1"/>
      <p:bldP spid="51" grpId="0" animBg="1"/>
      <p:bldP spid="52" grpId="0" animBg="1"/>
    </p:bldLst>
  </p:timing>
</p:sld>
</file>

<file path=ppt/slides/slide23.xml><?xml version="1.0" encoding="utf-8"?>
<p:sld xmlns:p14="http://schemas.microsoft.com/office/powerpoint/2010/main"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orbA" descr="Decorative background light">    </p:cNvPr>
          <p:cNvPicPr>
            <a:picLocks noChangeAspect="1"/>
          </p:cNvPicPr>
          <p:nvPr/>
        </p:nvPicPr>
        <p:blipFill>
          <a:blip r:embed="rId1"/>
          <a:stretch>
            <a:fillRect/>
          </a:stretch>
        </p:blipFill>
        <p:spPr>
          <a:xfrm>
            <a:off x="-1737360" y="365760"/>
            <a:ext cx="6400800" cy="6400800"/>
          </a:xfrm>
          <a:prstGeom prst="rect">
            <a:avLst/>
          </a:prstGeom>
        </p:spPr>
      </p:pic>
      <p:pic>
        <p:nvPicPr>
          <p:cNvPr id="3" name="!!orbB" descr="Decorative background light">    </p:cNvPr>
          <p:cNvPicPr>
            <a:picLocks noChangeAspect="1"/>
          </p:cNvPicPr>
          <p:nvPr/>
        </p:nvPicPr>
        <p:blipFill>
          <a:blip r:embed="rId2"/>
          <a:stretch>
            <a:fillRect/>
          </a:stretch>
        </p:blipFill>
        <p:spPr>
          <a:xfrm>
            <a:off x="7863840" y="3383280"/>
            <a:ext cx="5486400" cy="5486400"/>
          </a:xfrm>
          <a:prstGeom prst="rect">
            <a:avLst/>
          </a:prstGeom>
        </p:spPr>
      </p:pic>
      <p:sp>
        <p:nvSpPr>
          <p:cNvPr id="4" name="!!kicker"/>
          <p:cNvSpPr/>
          <p:nvPr>
            <p:ph idx="100" type="body" hasCustomPrompt="1"/>
          </p:nvPr>
        </p:nvSpPr>
        <p:spPr>
          <a:xfrm>
            <a:off x="548640" y="384048"/>
            <a:ext cx="8732520" cy="329184"/>
          </a:xfrm>
          <a:prstGeom prst="rect">
            <a:avLst/>
          </a:prstGeom>
          <a:noFill/>
          <a:ln/>
        </p:spPr>
        <p:txBody>
          <a:bodyPr wrap="square" lIns="0" tIns="0" rIns="0" bIns="0" rtlCol="0" anchor="t"/>
          <a:lstStyle/>
          <a:p>
            <a:pPr algn="l" indent="0" marL="0">
              <a:buNone/>
            </a:pPr>
            <a:r>
              <a:rPr lang="en-US" sz="1500" b="1" spc="300" kern="0" dirty="0">
                <a:solidFill>
                  <a:schemeClr val="accent1"/>
                </a:solidFill>
              </a:rPr>
              <a:t>03 — RESERVOIR LOCATIONS</a:t>
            </a:r>
            <a:endParaRPr lang="en-US" sz="1500" dirty="0"/>
          </a:p>
        </p:txBody>
      </p:sp>
      <p:sp>
        <p:nvSpPr>
          <p:cNvPr id="5" name="!!title"/>
          <p:cNvSpPr/>
          <p:nvPr>
            <p:ph idx="101" type="title" hasCustomPrompt="1"/>
          </p:nvPr>
        </p:nvSpPr>
        <p:spPr>
          <a:xfrm>
            <a:off x="548640" y="731520"/>
            <a:ext cx="8732520" cy="786384"/>
          </a:xfrm>
          <a:prstGeom prst="rect">
            <a:avLst/>
          </a:prstGeom>
          <a:noFill/>
          <a:ln/>
        </p:spPr>
        <p:txBody>
          <a:bodyPr wrap="square" lIns="0" tIns="0" rIns="0" bIns="0" rtlCol="0" anchor="t"/>
          <a:lstStyle/>
          <a:p>
            <a:pPr algn="l" indent="0" marL="0">
              <a:buNone/>
            </a:pPr>
            <a:r>
              <a:rPr lang="en-US" sz="3800" b="1" dirty="0">
                <a:solidFill>
                  <a:schemeClr val="tx1"/>
                </a:solidFill>
              </a:rPr>
              <a:t>Reservoirs from shallow to deep</a:t>
            </a:r>
            <a:endParaRPr lang="en-US" sz="3800" dirty="0"/>
          </a:p>
        </p:txBody>
      </p:sp>
      <p:pic>
        <p:nvPicPr>
          <p:cNvPr id="6" name="strata_i_1" descr="Decorative graphic">    </p:cNvPr>
          <p:cNvPicPr>
            <a:picLocks noChangeAspect="1"/>
          </p:cNvPicPr>
          <p:nvPr/>
        </p:nvPicPr>
        <p:blipFill>
          <a:blip r:embed="rId3"/>
          <a:stretch>
            <a:fillRect/>
          </a:stretch>
        </p:blipFill>
        <p:spPr>
          <a:xfrm>
            <a:off x="548640" y="1783080"/>
            <a:ext cx="274320" cy="4023360"/>
          </a:xfrm>
          <a:prstGeom prst="rect">
            <a:avLst/>
          </a:prstGeom>
        </p:spPr>
      </p:pic>
      <p:sp>
        <p:nvSpPr>
          <p:cNvPr id="7" name="strata_s_2"/>
          <p:cNvSpPr/>
          <p:nvPr/>
        </p:nvSpPr>
        <p:spPr>
          <a:xfrm>
            <a:off x="1051560" y="1783080"/>
            <a:ext cx="1417320" cy="429768"/>
          </a:xfrm>
          <a:prstGeom prst="rect">
            <a:avLst/>
          </a:prstGeom>
          <a:solidFill>
            <a:srgbClr val="A88A5C"/>
          </a:solidFill>
          <a:ln/>
        </p:spPr>
      </p:sp>
      <p:sp>
        <p:nvSpPr>
          <p:cNvPr id="8" name="strata_t_3"/>
          <p:cNvSpPr txBox="1"/>
          <p:nvPr/>
        </p:nvSpPr>
        <p:spPr>
          <a:xfrm>
            <a:off x="2697480" y="1842516"/>
            <a:ext cx="4572000" cy="310896"/>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Lower Fars  </a:t>
            </a:r>
            <a:pPr indent="0" marL="0">
              <a:buNone/>
            </a:pPr>
            <a:r>
              <a:rPr lang="en-US" sz="1500" dirty="0">
                <a:solidFill>
                  <a:schemeClr val="tx2"/>
                </a:solidFill>
                <a:latin typeface="Arial" pitchFamily="34" charset="0"/>
                <a:ea typeface="Arial" pitchFamily="34" charset="-122"/>
                <a:cs typeface="Arial" pitchFamily="34" charset="-120"/>
              </a:rPr>
              <a:t>Miocene sandstone</a:t>
            </a:r>
            <a:endParaRPr lang="en-US" sz="1500" dirty="0"/>
          </a:p>
        </p:txBody>
      </p:sp>
      <p:sp>
        <p:nvSpPr>
          <p:cNvPr id="9" name="strata_s_4"/>
          <p:cNvSpPr/>
          <p:nvPr/>
        </p:nvSpPr>
        <p:spPr>
          <a:xfrm>
            <a:off x="1051560" y="2240280"/>
            <a:ext cx="1417320" cy="338328"/>
          </a:xfrm>
          <a:prstGeom prst="rect">
            <a:avLst/>
          </a:prstGeom>
          <a:solidFill>
            <a:srgbClr val="5F7180"/>
          </a:solidFill>
          <a:ln/>
        </p:spPr>
      </p:sp>
      <p:sp>
        <p:nvSpPr>
          <p:cNvPr id="10" name="strata_t_5"/>
          <p:cNvSpPr txBox="1"/>
          <p:nvPr/>
        </p:nvSpPr>
        <p:spPr>
          <a:xfrm>
            <a:off x="2697480" y="2253996"/>
            <a:ext cx="4572000" cy="310896"/>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Mishrif  </a:t>
            </a:r>
            <a:pPr indent="0" marL="0">
              <a:buNone/>
            </a:pPr>
            <a:r>
              <a:rPr lang="en-US" sz="1500" dirty="0">
                <a:solidFill>
                  <a:schemeClr val="tx2"/>
                </a:solidFill>
                <a:latin typeface="Arial" pitchFamily="34" charset="0"/>
                <a:ea typeface="Arial" pitchFamily="34" charset="-122"/>
                <a:cs typeface="Arial" pitchFamily="34" charset="-120"/>
              </a:rPr>
              <a:t>Mid-Cretaceous carbonate</a:t>
            </a:r>
            <a:endParaRPr lang="en-US" sz="1500" dirty="0"/>
          </a:p>
        </p:txBody>
      </p:sp>
      <p:sp>
        <p:nvSpPr>
          <p:cNvPr id="11" name="strata_s_6"/>
          <p:cNvSpPr/>
          <p:nvPr/>
        </p:nvSpPr>
        <p:spPr>
          <a:xfrm>
            <a:off x="1051560" y="2606040"/>
            <a:ext cx="1417320" cy="301752"/>
          </a:xfrm>
          <a:prstGeom prst="rect">
            <a:avLst/>
          </a:prstGeom>
          <a:solidFill>
            <a:srgbClr val="A88A5C"/>
          </a:solidFill>
          <a:ln/>
        </p:spPr>
      </p:sp>
      <p:sp>
        <p:nvSpPr>
          <p:cNvPr id="12" name="strata_t_7"/>
          <p:cNvSpPr txBox="1"/>
          <p:nvPr/>
        </p:nvSpPr>
        <p:spPr>
          <a:xfrm>
            <a:off x="2697480" y="2601468"/>
            <a:ext cx="4572000" cy="310896"/>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Wara  </a:t>
            </a:r>
            <a:pPr indent="0" marL="0">
              <a:buNone/>
            </a:pPr>
            <a:r>
              <a:rPr lang="en-US" sz="1500" dirty="0">
                <a:solidFill>
                  <a:schemeClr val="tx2"/>
                </a:solidFill>
                <a:latin typeface="Arial" pitchFamily="34" charset="0"/>
                <a:ea typeface="Arial" pitchFamily="34" charset="-122"/>
                <a:cs typeface="Arial" pitchFamily="34" charset="-120"/>
              </a:rPr>
              <a:t>Mid-Cretaceous sandstone</a:t>
            </a:r>
            <a:endParaRPr lang="en-US" sz="1500" dirty="0"/>
          </a:p>
        </p:txBody>
      </p:sp>
      <p:sp>
        <p:nvSpPr>
          <p:cNvPr id="13" name="strata_s_8"/>
          <p:cNvSpPr/>
          <p:nvPr/>
        </p:nvSpPr>
        <p:spPr>
          <a:xfrm>
            <a:off x="1051560" y="2935224"/>
            <a:ext cx="1417320" cy="338328"/>
          </a:xfrm>
          <a:prstGeom prst="rect">
            <a:avLst/>
          </a:prstGeom>
          <a:solidFill>
            <a:srgbClr val="5F7180"/>
          </a:solidFill>
          <a:ln/>
        </p:spPr>
      </p:sp>
      <p:sp>
        <p:nvSpPr>
          <p:cNvPr id="14" name="strata_t_9"/>
          <p:cNvSpPr txBox="1"/>
          <p:nvPr/>
        </p:nvSpPr>
        <p:spPr>
          <a:xfrm>
            <a:off x="2697480" y="2948940"/>
            <a:ext cx="4572000" cy="310896"/>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Mauddud  </a:t>
            </a:r>
            <a:pPr indent="0" marL="0">
              <a:buNone/>
            </a:pPr>
            <a:r>
              <a:rPr lang="en-US" sz="1500" dirty="0">
                <a:solidFill>
                  <a:schemeClr val="tx2"/>
                </a:solidFill>
                <a:latin typeface="Arial" pitchFamily="34" charset="0"/>
                <a:ea typeface="Arial" pitchFamily="34" charset="-122"/>
                <a:cs typeface="Arial" pitchFamily="34" charset="-120"/>
              </a:rPr>
              <a:t>Mid-Cretaceous carbonate</a:t>
            </a:r>
            <a:endParaRPr lang="en-US" sz="1500" dirty="0"/>
          </a:p>
        </p:txBody>
      </p:sp>
      <p:sp>
        <p:nvSpPr>
          <p:cNvPr id="15" name="strata_s_10"/>
          <p:cNvSpPr/>
          <p:nvPr/>
        </p:nvSpPr>
        <p:spPr>
          <a:xfrm>
            <a:off x="1051560" y="3300984"/>
            <a:ext cx="1417320" cy="576072"/>
          </a:xfrm>
          <a:prstGeom prst="rect">
            <a:avLst/>
          </a:prstGeom>
          <a:solidFill>
            <a:srgbClr val="A88A5C"/>
          </a:solidFill>
          <a:ln/>
        </p:spPr>
      </p:sp>
      <p:sp>
        <p:nvSpPr>
          <p:cNvPr id="16" name="strata_t_11"/>
          <p:cNvSpPr txBox="1"/>
          <p:nvPr/>
        </p:nvSpPr>
        <p:spPr>
          <a:xfrm>
            <a:off x="2697480" y="3433572"/>
            <a:ext cx="4572000" cy="310896"/>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Burgan  </a:t>
            </a:r>
            <a:pPr indent="0" marL="0">
              <a:buNone/>
            </a:pPr>
            <a:r>
              <a:rPr lang="en-US" sz="1500" dirty="0">
                <a:solidFill>
                  <a:schemeClr val="tx2"/>
                </a:solidFill>
                <a:latin typeface="Arial" pitchFamily="34" charset="0"/>
                <a:ea typeface="Arial" pitchFamily="34" charset="-122"/>
                <a:cs typeface="Arial" pitchFamily="34" charset="-120"/>
              </a:rPr>
              <a:t>Mid-Cretaceous (Albian) sandstone</a:t>
            </a:r>
            <a:endParaRPr lang="en-US" sz="1500" dirty="0"/>
          </a:p>
        </p:txBody>
      </p:sp>
      <p:sp>
        <p:nvSpPr>
          <p:cNvPr id="17" name="strata_s_12"/>
          <p:cNvSpPr/>
          <p:nvPr/>
        </p:nvSpPr>
        <p:spPr>
          <a:xfrm>
            <a:off x="1051560" y="3904488"/>
            <a:ext cx="1417320" cy="356616"/>
          </a:xfrm>
          <a:prstGeom prst="rect">
            <a:avLst/>
          </a:prstGeom>
          <a:solidFill>
            <a:srgbClr val="A88A5C"/>
          </a:solidFill>
          <a:ln/>
        </p:spPr>
      </p:sp>
      <p:sp>
        <p:nvSpPr>
          <p:cNvPr id="18" name="strata_t_13"/>
          <p:cNvSpPr txBox="1"/>
          <p:nvPr/>
        </p:nvSpPr>
        <p:spPr>
          <a:xfrm>
            <a:off x="2697480" y="3927348"/>
            <a:ext cx="4572000" cy="310896"/>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Zubair  </a:t>
            </a:r>
            <a:pPr indent="0" marL="0">
              <a:buNone/>
            </a:pPr>
            <a:r>
              <a:rPr lang="en-US" sz="1500" dirty="0">
                <a:solidFill>
                  <a:schemeClr val="tx2"/>
                </a:solidFill>
                <a:latin typeface="Arial" pitchFamily="34" charset="0"/>
                <a:ea typeface="Arial" pitchFamily="34" charset="-122"/>
                <a:cs typeface="Arial" pitchFamily="34" charset="-120"/>
              </a:rPr>
              <a:t>Early Cretaceous sandstone</a:t>
            </a:r>
            <a:endParaRPr lang="en-US" sz="1500" dirty="0"/>
          </a:p>
        </p:txBody>
      </p:sp>
      <p:sp>
        <p:nvSpPr>
          <p:cNvPr id="19" name="strata_s_14"/>
          <p:cNvSpPr/>
          <p:nvPr/>
        </p:nvSpPr>
        <p:spPr>
          <a:xfrm>
            <a:off x="1051560" y="4288536"/>
            <a:ext cx="1417320" cy="301752"/>
          </a:xfrm>
          <a:prstGeom prst="rect">
            <a:avLst/>
          </a:prstGeom>
          <a:solidFill>
            <a:srgbClr val="5F7180"/>
          </a:solidFill>
          <a:ln/>
        </p:spPr>
      </p:sp>
      <p:sp>
        <p:nvSpPr>
          <p:cNvPr id="20" name="strata_t_15"/>
          <p:cNvSpPr txBox="1"/>
          <p:nvPr/>
        </p:nvSpPr>
        <p:spPr>
          <a:xfrm>
            <a:off x="2697480" y="4283964"/>
            <a:ext cx="4572000" cy="310896"/>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Ratawi  </a:t>
            </a:r>
            <a:pPr indent="0" marL="0">
              <a:buNone/>
            </a:pPr>
            <a:r>
              <a:rPr lang="en-US" sz="1500" dirty="0">
                <a:solidFill>
                  <a:schemeClr val="tx2"/>
                </a:solidFill>
                <a:latin typeface="Arial" pitchFamily="34" charset="0"/>
                <a:ea typeface="Arial" pitchFamily="34" charset="-122"/>
                <a:cs typeface="Arial" pitchFamily="34" charset="-120"/>
              </a:rPr>
              <a:t>Early Cretaceous limestone and shale</a:t>
            </a:r>
            <a:endParaRPr lang="en-US" sz="1500" dirty="0"/>
          </a:p>
        </p:txBody>
      </p:sp>
      <p:sp>
        <p:nvSpPr>
          <p:cNvPr id="21" name="strata_s_16"/>
          <p:cNvSpPr/>
          <p:nvPr/>
        </p:nvSpPr>
        <p:spPr>
          <a:xfrm>
            <a:off x="1051560" y="4617720"/>
            <a:ext cx="1417320" cy="356616"/>
          </a:xfrm>
          <a:prstGeom prst="rect">
            <a:avLst/>
          </a:prstGeom>
          <a:solidFill>
            <a:srgbClr val="5F7180"/>
          </a:solidFill>
          <a:ln/>
        </p:spPr>
      </p:sp>
      <p:sp>
        <p:nvSpPr>
          <p:cNvPr id="22" name="strata_t_17"/>
          <p:cNvSpPr txBox="1"/>
          <p:nvPr/>
        </p:nvSpPr>
        <p:spPr>
          <a:xfrm>
            <a:off x="2697480" y="4640580"/>
            <a:ext cx="4572000" cy="310896"/>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Minagish  </a:t>
            </a:r>
            <a:pPr indent="0" marL="0">
              <a:buNone/>
            </a:pPr>
            <a:r>
              <a:rPr lang="en-US" sz="1500" dirty="0">
                <a:solidFill>
                  <a:schemeClr val="tx2"/>
                </a:solidFill>
                <a:latin typeface="Arial" pitchFamily="34" charset="0"/>
                <a:ea typeface="Arial" pitchFamily="34" charset="-122"/>
                <a:cs typeface="Arial" pitchFamily="34" charset="-120"/>
              </a:rPr>
              <a:t>Early Cretaceous oolitic limestone</a:t>
            </a:r>
            <a:endParaRPr lang="en-US" sz="1500" dirty="0"/>
          </a:p>
        </p:txBody>
      </p:sp>
      <p:sp>
        <p:nvSpPr>
          <p:cNvPr id="23" name="strata_s_18"/>
          <p:cNvSpPr/>
          <p:nvPr/>
        </p:nvSpPr>
        <p:spPr>
          <a:xfrm>
            <a:off x="1051560" y="5001768"/>
            <a:ext cx="1417320" cy="374904"/>
          </a:xfrm>
          <a:prstGeom prst="rect">
            <a:avLst/>
          </a:prstGeom>
          <a:solidFill>
            <a:srgbClr val="46535F"/>
          </a:solidFill>
          <a:ln/>
        </p:spPr>
      </p:sp>
      <p:sp>
        <p:nvSpPr>
          <p:cNvPr id="24" name="strata_t_19"/>
          <p:cNvSpPr txBox="1"/>
          <p:nvPr/>
        </p:nvSpPr>
        <p:spPr>
          <a:xfrm>
            <a:off x="2697480" y="5033772"/>
            <a:ext cx="4572000" cy="310896"/>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Najmah / Sargelu  </a:t>
            </a:r>
            <a:pPr indent="0" marL="0">
              <a:buNone/>
            </a:pPr>
            <a:r>
              <a:rPr lang="en-US" sz="1500" dirty="0">
                <a:solidFill>
                  <a:schemeClr val="tx2"/>
                </a:solidFill>
                <a:latin typeface="Arial" pitchFamily="34" charset="0"/>
                <a:ea typeface="Arial" pitchFamily="34" charset="-122"/>
                <a:cs typeface="Arial" pitchFamily="34" charset="-120"/>
              </a:rPr>
              <a:t>Middle–Late Jurassic carbonates</a:t>
            </a:r>
            <a:endParaRPr lang="en-US" sz="1500" dirty="0"/>
          </a:p>
        </p:txBody>
      </p:sp>
      <p:sp>
        <p:nvSpPr>
          <p:cNvPr id="25" name="strata_s_20"/>
          <p:cNvSpPr/>
          <p:nvPr/>
        </p:nvSpPr>
        <p:spPr>
          <a:xfrm>
            <a:off x="1051560" y="5404104"/>
            <a:ext cx="1417320" cy="374904"/>
          </a:xfrm>
          <a:prstGeom prst="rect">
            <a:avLst/>
          </a:prstGeom>
          <a:solidFill>
            <a:srgbClr val="46535F"/>
          </a:solidFill>
          <a:ln/>
        </p:spPr>
      </p:sp>
      <p:sp>
        <p:nvSpPr>
          <p:cNvPr id="26" name="strata_t_21"/>
          <p:cNvSpPr txBox="1"/>
          <p:nvPr/>
        </p:nvSpPr>
        <p:spPr>
          <a:xfrm>
            <a:off x="2697480" y="5436108"/>
            <a:ext cx="4572000" cy="310896"/>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Marrat  </a:t>
            </a:r>
            <a:pPr indent="0" marL="0">
              <a:buNone/>
            </a:pPr>
            <a:r>
              <a:rPr lang="en-US" sz="1500" dirty="0">
                <a:solidFill>
                  <a:schemeClr val="tx2"/>
                </a:solidFill>
                <a:latin typeface="Arial" pitchFamily="34" charset="0"/>
                <a:ea typeface="Arial" pitchFamily="34" charset="-122"/>
                <a:cs typeface="Arial" pitchFamily="34" charset="-120"/>
              </a:rPr>
              <a:t>Early Jurassic carbonate</a:t>
            </a:r>
            <a:endParaRPr lang="en-US" sz="1500" dirty="0"/>
          </a:p>
        </p:txBody>
      </p:sp>
      <p:sp>
        <p:nvSpPr>
          <p:cNvPr id="27" name="strata_s_22"/>
          <p:cNvSpPr/>
          <p:nvPr/>
        </p:nvSpPr>
        <p:spPr>
          <a:xfrm>
            <a:off x="7360920" y="1819656"/>
            <a:ext cx="45720" cy="356616"/>
          </a:xfrm>
          <a:prstGeom prst="rect">
            <a:avLst/>
          </a:prstGeom>
          <a:solidFill>
            <a:srgbClr val="FF9F0A"/>
          </a:solidFill>
          <a:ln/>
        </p:spPr>
      </p:sp>
      <p:sp>
        <p:nvSpPr>
          <p:cNvPr id="28" name="strata_t_23"/>
          <p:cNvSpPr txBox="1"/>
          <p:nvPr/>
        </p:nvSpPr>
        <p:spPr>
          <a:xfrm>
            <a:off x="7635240" y="1764792"/>
            <a:ext cx="4007815" cy="86868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Heavy oil</a:t>
            </a:r>
            <a:endParaRPr lang="en-US" sz="1800" dirty="0"/>
          </a:p>
          <a:p>
            <a:pPr indent="0" marL="0">
              <a:buNone/>
            </a:pPr>
            <a:r>
              <a:rPr lang="en-US" sz="1400" dirty="0">
                <a:solidFill>
                  <a:schemeClr val="tx2"/>
                </a:solidFill>
                <a:latin typeface="Arial" pitchFamily="34" charset="0"/>
                <a:ea typeface="Arial" pitchFamily="34" charset="-122"/>
                <a:cs typeface="Arial" pitchFamily="34" charset="-120"/>
              </a:rPr>
              <a:t>Shallow Lower Fars sands, Ratqa, North Kuwait</a:t>
            </a:r>
            <a:endParaRPr lang="en-US" sz="1800" dirty="0"/>
          </a:p>
        </p:txBody>
      </p:sp>
      <p:sp>
        <p:nvSpPr>
          <p:cNvPr id="29" name="strata_s_24"/>
          <p:cNvSpPr/>
          <p:nvPr/>
        </p:nvSpPr>
        <p:spPr>
          <a:xfrm>
            <a:off x="7360920" y="2276856"/>
            <a:ext cx="45720" cy="2660904"/>
          </a:xfrm>
          <a:prstGeom prst="rect">
            <a:avLst/>
          </a:prstGeom>
          <a:solidFill>
            <a:srgbClr val="FF9F0A"/>
          </a:solidFill>
          <a:ln/>
        </p:spPr>
      </p:sp>
      <p:sp>
        <p:nvSpPr>
          <p:cNvPr id="30" name="strata_t_25"/>
          <p:cNvSpPr txBox="1"/>
          <p:nvPr/>
        </p:nvSpPr>
        <p:spPr>
          <a:xfrm>
            <a:off x="7635240" y="2875788"/>
            <a:ext cx="4007815" cy="1463040"/>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Kuwait Export Crude</a:t>
            </a:r>
            <a:endParaRPr lang="en-US" sz="1800" dirty="0"/>
          </a:p>
          <a:p>
            <a:pPr indent="0" marL="0">
              <a:buNone/>
            </a:pPr>
            <a:r>
              <a:rPr lang="en-US" sz="1400" dirty="0">
                <a:solidFill>
                  <a:schemeClr val="tx2"/>
                </a:solidFill>
                <a:latin typeface="Arial" pitchFamily="34" charset="0"/>
                <a:ea typeface="Arial" pitchFamily="34" charset="-122"/>
                <a:cs typeface="Arial" pitchFamily="34" charset="-120"/>
              </a:rPr>
              <a:t>Cretaceous sandstones and carbonates of the Burgan, Raudhatain, Sabriya, Minagish and Umm Gudair fields</a:t>
            </a:r>
            <a:endParaRPr lang="en-US" sz="1800" dirty="0"/>
          </a:p>
        </p:txBody>
      </p:sp>
      <p:sp>
        <p:nvSpPr>
          <p:cNvPr id="31" name="strata_s_26"/>
          <p:cNvSpPr/>
          <p:nvPr/>
        </p:nvSpPr>
        <p:spPr>
          <a:xfrm>
            <a:off x="7360920" y="5038344"/>
            <a:ext cx="45720" cy="704088"/>
          </a:xfrm>
          <a:prstGeom prst="rect">
            <a:avLst/>
          </a:prstGeom>
          <a:solidFill>
            <a:srgbClr val="64D2FF"/>
          </a:solidFill>
          <a:ln/>
        </p:spPr>
      </p:sp>
      <p:sp>
        <p:nvSpPr>
          <p:cNvPr id="32" name="strata_t_27"/>
          <p:cNvSpPr txBox="1"/>
          <p:nvPr/>
        </p:nvSpPr>
        <p:spPr>
          <a:xfrm>
            <a:off x="7635240" y="4937760"/>
            <a:ext cx="4007815" cy="868680"/>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Super-light oil &amp; sour gas</a:t>
            </a:r>
            <a:endParaRPr lang="en-US" sz="1800" dirty="0"/>
          </a:p>
          <a:p>
            <a:pPr indent="0" marL="0">
              <a:buNone/>
            </a:pPr>
            <a:r>
              <a:rPr lang="en-US" sz="1400" dirty="0">
                <a:solidFill>
                  <a:schemeClr val="tx2"/>
                </a:solidFill>
                <a:latin typeface="Arial" pitchFamily="34" charset="0"/>
                <a:ea typeface="Arial" pitchFamily="34" charset="-122"/>
                <a:cs typeface="Arial" pitchFamily="34" charset="-120"/>
              </a:rPr>
              <a:t>Deep Jurassic carbonates of North Kuwait, high pressure and temperature</a:t>
            </a:r>
            <a:endParaRPr lang="en-US" sz="1800" dirty="0"/>
          </a:p>
        </p:txBody>
      </p:sp>
      <p:sp>
        <p:nvSpPr>
          <p:cNvPr id="33" name="!!source"/>
          <p:cNvSpPr txBox="1"/>
          <p:nvPr/>
        </p:nvSpPr>
        <p:spPr>
          <a:xfrm>
            <a:off x="548640" y="5943600"/>
            <a:ext cx="9692640" cy="274320"/>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Sources: Naqi et al. (2023); S&amp;P Global (2018b); MEES (2025a). Simplified, not to scale.</a:t>
            </a:r>
            <a:endParaRPr lang="en-US" sz="1200" dirty="0"/>
          </a:p>
        </p:txBody>
      </p:sp>
      <p:sp>
        <p:nvSpPr>
          <p:cNvPr id="34" name="!!home_bg"/>
          <p:cNvSpPr/>
          <p:nvPr/>
        </p:nvSpPr>
        <p:spPr>
          <a:xfrm>
            <a:off x="10637215" y="6272784"/>
            <a:ext cx="384048" cy="384048"/>
          </a:xfrm>
          <a:prstGeom prst="roundRect">
            <a:avLst>
              <a:gd name="adj" fmla="val 23810"/>
            </a:avLst>
          </a:prstGeom>
          <a:solidFill>
            <a:srgbClr val="2C2C2E"/>
          </a:solidFill>
          <a:ln/>
        </p:spPr>
      </p:sp>
      <p:pic>
        <p:nvPicPr>
          <p:cNvPr id="35" name="!!home_ic" descr="Decorative graphic">    </p:cNvPr>
          <p:cNvPicPr>
            <a:picLocks noChangeAspect="1"/>
          </p:cNvPicPr>
          <p:nvPr/>
        </p:nvPicPr>
        <p:blipFill>
          <a:blip r:embed="rId4"/>
          <a:stretch>
            <a:fillRect/>
          </a:stretch>
        </p:blipFill>
        <p:spPr>
          <a:xfrm>
            <a:off x="10719511" y="6355080"/>
            <a:ext cx="219456" cy="219456"/>
          </a:xfrm>
          <a:prstGeom prst="rect">
            <a:avLst/>
          </a:prstGeom>
        </p:spPr>
      </p:pic>
      <p:sp>
        <p:nvSpPr>
          <p:cNvPr id="36" name="!!home_hit">
            <a:hlinkClick r:id="rId5" tooltip="Back to contents" action="ppaction://hlinksldjump" highlightClick="1"/>
          </p:cNvPr>
          <p:cNvSpPr/>
          <p:nvPr/>
        </p:nvSpPr>
        <p:spPr>
          <a:xfrm>
            <a:off x="10637215" y="6272784"/>
            <a:ext cx="384048" cy="384048"/>
          </a:xfrm>
          <a:prstGeom prst="roundRect">
            <a:avLst>
              <a:gd name="adj" fmla="val 23810"/>
            </a:avLst>
          </a:prstGeom>
          <a:solidFill>
            <a:srgbClr val="000000">
              <a:alpha val="0"/>
            </a:srgbClr>
          </a:solidFill>
          <a:ln/>
        </p:spPr>
      </p:sp>
      <p:sp>
        <p:nvSpPr>
          <p:cNvPr id="38" name="!!footer"/>
          <p:cNvSpPr txBox="1"/>
          <p:nvPr/>
        </p:nvSpPr>
        <p:spPr>
          <a:xfrm>
            <a:off x="548640" y="6327648"/>
            <a:ext cx="5486400" cy="292608"/>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Kuwait Oil &amp; Gas  ·  EGCH2230</a:t>
            </a:r>
            <a:endParaRPr lang="en-US" sz="1200" dirty="0"/>
          </a:p>
        </p:txBody>
      </p:sp>
      <p:sp>
        <p:nvSpPr>
          <p:cNvPr id="39" name="!!num"/>
          <p:cNvSpPr txBox="1"/>
          <p:nvPr/>
        </p:nvSpPr>
        <p:spPr>
          <a:xfrm>
            <a:off x="11094415" y="6327648"/>
            <a:ext cx="548640" cy="292608"/>
          </a:xfrm>
          <a:prstGeom prst="rect">
            <a:avLst/>
          </a:prstGeom>
          <a:noFill/>
          <a:ln/>
        </p:spPr>
        <p:txBody>
          <a:bodyPr wrap="square" lIns="0" tIns="0" rIns="0" bIns="0" rtlCol="0" anchor="ctr"/>
          <a:lstStyle/>
          <a:p>
            <a:pPr algn="r" indent="0" marL="0">
              <a:buNone/>
            </a:pPr>
            <a:r>
              <a:rPr lang="en-US" sz="1200" dirty="0">
                <a:solidFill>
                  <a:schemeClr val="tx2"/>
                </a:solidFill>
                <a:latin typeface="Arial" pitchFamily="34" charset="0"/>
                <a:ea typeface="Arial" pitchFamily="34" charset="-122"/>
                <a:cs typeface="Arial" pitchFamily="34" charset="-120"/>
              </a:rPr>
              <a:t>18</a:t>
            </a:r>
            <a:endParaRPr lang="en-US" sz="1200" dirty="0"/>
          </a:p>
        </p:txBody>
      </p:sp>
      <p:pic>
        <p:nvPicPr>
          <p:cNvPr id="40" name="!!badge" descr="University of Technology and Applied Sciences, Salalah">    </p:cNvPr>
          <p:cNvPicPr>
            <a:picLocks noChangeAspect="1"/>
          </p:cNvPicPr>
          <p:nvPr/>
        </p:nvPicPr>
        <p:blipFill>
          <a:blip r:embed="rId6"/>
          <a:stretch>
            <a:fillRect/>
          </a:stretch>
        </p:blipFill>
        <p:spPr>
          <a:xfrm>
            <a:off x="9677095" y="274320"/>
            <a:ext cx="1965960" cy="80987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0" presetClass="path" presetSubtype="0" fill="hold" grpId="0" nodeType="afterEffect" repeatCount="indefinite" autoRev="1">
                                  <p:stCondLst>
                                    <p:cond delay="0"/>
                                  </p:stCondLst>
                                  <p:childTnLst>
                                    <p:animMotion origin="layout" path="M 0 0 L 0.0350 -0.0300 E" pathEditMode="relative" ptsTypes="">
                                      <p:cBhvr>
                                        <p:cTn id="5" dur="13000" fill="hold" accel="50000" decel="50000"/>
                                        <p:tgtEl>
                                          <p:spTgt spid="2"/>
                                        </p:tgtEl>
                                        <p:attrNameLst>
                                          <p:attrName>ppt_x</p:attrName>
                                          <p:attrName>ppt_y</p:attrName>
                                        </p:attrNameLst>
                                      </p:cBhvr>
                                      <p:rCtr x="0" y="0"/>
                                    </p:animMotion>
                                  </p:childTnLst>
                                </p:cTn>
                              </p:par>
                              <p:par>
                                <p:cTn id="8" presetID="0" presetClass="path" presetSubtype="0" fill="hold" grpId="0" nodeType="withEffect" repeatCount="indefinite" autoRev="1">
                                  <p:stCondLst>
                                    <p:cond delay="0"/>
                                  </p:stCondLst>
                                  <p:childTnLst>
                                    <p:animMotion origin="layout" path="M 0 0 L -0.0300 0.0250 E" pathEditMode="relative" ptsTypes="">
                                      <p:cBhvr>
                                        <p:cTn id="7" dur="15000" fill="hold" accel="50000" decel="50000"/>
                                        <p:tgtEl>
                                          <p:spTgt spid="3"/>
                                        </p:tgtEl>
                                        <p:attrNameLst>
                                          <p:attrName>ppt_x</p:attrName>
                                          <p:attrName>ppt_y</p:attrName>
                                        </p:attrNameLst>
                                      </p:cBhvr>
                                      <p:rCtr x="0" y="0"/>
                                    </p:animMotion>
                                  </p:childTnLst>
                                </p:cTn>
                              </p:par>
                              <p:par>
                                <p:cTn id="11" presetID="22" presetClass="entr" presetSubtype="8" fill="hold" grpId="0" nodeType="withEffect">
                                  <p:stCondLst>
                                    <p:cond delay="250"/>
                                  </p:stCondLst>
                                  <p:childTnLst>
                                    <p:set>
                                      <p:cBhvr>
                                        <p:cTn id="9" dur="1" fill="hold">
                                          <p:stCondLst>
                                            <p:cond delay="0"/>
                                          </p:stCondLst>
                                        </p:cTn>
                                        <p:tgtEl>
                                          <p:spTgt spid="25"/>
                                        </p:tgtEl>
                                        <p:attrNameLst>
                                          <p:attrName>style.visibility</p:attrName>
                                        </p:attrNameLst>
                                      </p:cBhvr>
                                      <p:to>
                                        <p:strVal val="visible"/>
                                      </p:to>
                                    </p:set>
                                    <p:animEffect transition="in" filter="wipe(left)">
                                      <p:cBhvr>
                                        <p:cTn id="10" dur="600" decel="100000"/>
                                        <p:tgtEl>
                                          <p:spTgt spid="25"/>
                                        </p:tgtEl>
                                      </p:cBhvr>
                                    </p:animEffect>
                                  </p:childTnLst>
                                </p:cTn>
                              </p:par>
                              <p:par>
                                <p:cTn id="14" presetID="22" presetClass="entr" presetSubtype="8" fill="hold" grpId="0" nodeType="withEffect">
                                  <p:stCondLst>
                                    <p:cond delay="370"/>
                                  </p:stCondLst>
                                  <p:childTnLst>
                                    <p:set>
                                      <p:cBhvr>
                                        <p:cTn id="12" dur="1" fill="hold">
                                          <p:stCondLst>
                                            <p:cond delay="0"/>
                                          </p:stCondLst>
                                        </p:cTn>
                                        <p:tgtEl>
                                          <p:spTgt spid="23"/>
                                        </p:tgtEl>
                                        <p:attrNameLst>
                                          <p:attrName>style.visibility</p:attrName>
                                        </p:attrNameLst>
                                      </p:cBhvr>
                                      <p:to>
                                        <p:strVal val="visible"/>
                                      </p:to>
                                    </p:set>
                                    <p:animEffect transition="in" filter="wipe(left)">
                                      <p:cBhvr>
                                        <p:cTn id="13" dur="600" decel="100000"/>
                                        <p:tgtEl>
                                          <p:spTgt spid="23"/>
                                        </p:tgtEl>
                                      </p:cBhvr>
                                    </p:animEffect>
                                  </p:childTnLst>
                                </p:cTn>
                              </p:par>
                              <p:par>
                                <p:cTn id="17" presetID="10" presetClass="entr" presetSubtype="0" fill="hold" grpId="0" nodeType="withEffect">
                                  <p:stCondLst>
                                    <p:cond delay="45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600" decel="100000"/>
                                        <p:tgtEl>
                                          <p:spTgt spid="26"/>
                                        </p:tgtEl>
                                      </p:cBhvr>
                                    </p:animEffect>
                                  </p:childTnLst>
                                </p:cTn>
                              </p:par>
                              <p:par>
                                <p:cTn id="20" presetID="22" presetClass="entr" presetSubtype="8" fill="hold" grpId="0" nodeType="withEffect">
                                  <p:stCondLst>
                                    <p:cond delay="490"/>
                                  </p:stCondLst>
                                  <p:childTnLst>
                                    <p:set>
                                      <p:cBhvr>
                                        <p:cTn id="18" dur="1" fill="hold">
                                          <p:stCondLst>
                                            <p:cond delay="0"/>
                                          </p:stCondLst>
                                        </p:cTn>
                                        <p:tgtEl>
                                          <p:spTgt spid="21"/>
                                        </p:tgtEl>
                                        <p:attrNameLst>
                                          <p:attrName>style.visibility</p:attrName>
                                        </p:attrNameLst>
                                      </p:cBhvr>
                                      <p:to>
                                        <p:strVal val="visible"/>
                                      </p:to>
                                    </p:set>
                                    <p:animEffect transition="in" filter="wipe(left)">
                                      <p:cBhvr>
                                        <p:cTn id="19" dur="600" decel="100000"/>
                                        <p:tgtEl>
                                          <p:spTgt spid="21"/>
                                        </p:tgtEl>
                                      </p:cBhvr>
                                    </p:animEffect>
                                  </p:childTnLst>
                                </p:cTn>
                              </p:par>
                              <p:par>
                                <p:cTn id="23" presetID="10" presetClass="entr" presetSubtype="0" fill="hold" grpId="0" nodeType="withEffect">
                                  <p:stCondLst>
                                    <p:cond delay="57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600" decel="100000"/>
                                        <p:tgtEl>
                                          <p:spTgt spid="24"/>
                                        </p:tgtEl>
                                      </p:cBhvr>
                                    </p:animEffect>
                                  </p:childTnLst>
                                </p:cTn>
                              </p:par>
                              <p:par>
                                <p:cTn id="26" presetID="22" presetClass="entr" presetSubtype="8" fill="hold" grpId="0" nodeType="withEffect">
                                  <p:stCondLst>
                                    <p:cond delay="610"/>
                                  </p:stCondLst>
                                  <p:childTnLst>
                                    <p:set>
                                      <p:cBhvr>
                                        <p:cTn id="24" dur="1" fill="hold">
                                          <p:stCondLst>
                                            <p:cond delay="0"/>
                                          </p:stCondLst>
                                        </p:cTn>
                                        <p:tgtEl>
                                          <p:spTgt spid="19"/>
                                        </p:tgtEl>
                                        <p:attrNameLst>
                                          <p:attrName>style.visibility</p:attrName>
                                        </p:attrNameLst>
                                      </p:cBhvr>
                                      <p:to>
                                        <p:strVal val="visible"/>
                                      </p:to>
                                    </p:set>
                                    <p:animEffect transition="in" filter="wipe(left)">
                                      <p:cBhvr>
                                        <p:cTn id="25" dur="600" decel="100000"/>
                                        <p:tgtEl>
                                          <p:spTgt spid="19"/>
                                        </p:tgtEl>
                                      </p:cBhvr>
                                    </p:animEffect>
                                  </p:childTnLst>
                                </p:cTn>
                              </p:par>
                              <p:par>
                                <p:cTn id="29" presetID="10" presetClass="entr" presetSubtype="0" fill="hold" grpId="0" nodeType="withEffect">
                                  <p:stCondLst>
                                    <p:cond delay="69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600" decel="100000"/>
                                        <p:tgtEl>
                                          <p:spTgt spid="22"/>
                                        </p:tgtEl>
                                      </p:cBhvr>
                                    </p:animEffect>
                                  </p:childTnLst>
                                </p:cTn>
                              </p:par>
                              <p:par>
                                <p:cTn id="32" presetID="22" presetClass="entr" presetSubtype="8" fill="hold" grpId="0" nodeType="withEffect">
                                  <p:stCondLst>
                                    <p:cond delay="730"/>
                                  </p:stCondLst>
                                  <p:childTnLst>
                                    <p:set>
                                      <p:cBhvr>
                                        <p:cTn id="30" dur="1" fill="hold">
                                          <p:stCondLst>
                                            <p:cond delay="0"/>
                                          </p:stCondLst>
                                        </p:cTn>
                                        <p:tgtEl>
                                          <p:spTgt spid="17"/>
                                        </p:tgtEl>
                                        <p:attrNameLst>
                                          <p:attrName>style.visibility</p:attrName>
                                        </p:attrNameLst>
                                      </p:cBhvr>
                                      <p:to>
                                        <p:strVal val="visible"/>
                                      </p:to>
                                    </p:set>
                                    <p:animEffect transition="in" filter="wipe(left)">
                                      <p:cBhvr>
                                        <p:cTn id="31" dur="600" decel="100000"/>
                                        <p:tgtEl>
                                          <p:spTgt spid="17"/>
                                        </p:tgtEl>
                                      </p:cBhvr>
                                    </p:animEffect>
                                  </p:childTnLst>
                                </p:cTn>
                              </p:par>
                              <p:par>
                                <p:cTn id="35" presetID="10" presetClass="entr" presetSubtype="0" fill="hold" grpId="0" nodeType="withEffect">
                                  <p:stCondLst>
                                    <p:cond delay="81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600" decel="100000"/>
                                        <p:tgtEl>
                                          <p:spTgt spid="20"/>
                                        </p:tgtEl>
                                      </p:cBhvr>
                                    </p:animEffect>
                                  </p:childTnLst>
                                </p:cTn>
                              </p:par>
                              <p:par>
                                <p:cTn id="38" presetID="22" presetClass="entr" presetSubtype="8" fill="hold" grpId="0" nodeType="withEffect">
                                  <p:stCondLst>
                                    <p:cond delay="850"/>
                                  </p:stCondLst>
                                  <p:childTnLst>
                                    <p:set>
                                      <p:cBhvr>
                                        <p:cTn id="36" dur="1" fill="hold">
                                          <p:stCondLst>
                                            <p:cond delay="0"/>
                                          </p:stCondLst>
                                        </p:cTn>
                                        <p:tgtEl>
                                          <p:spTgt spid="15"/>
                                        </p:tgtEl>
                                        <p:attrNameLst>
                                          <p:attrName>style.visibility</p:attrName>
                                        </p:attrNameLst>
                                      </p:cBhvr>
                                      <p:to>
                                        <p:strVal val="visible"/>
                                      </p:to>
                                    </p:set>
                                    <p:animEffect transition="in" filter="wipe(left)">
                                      <p:cBhvr>
                                        <p:cTn id="37" dur="600" decel="100000"/>
                                        <p:tgtEl>
                                          <p:spTgt spid="15"/>
                                        </p:tgtEl>
                                      </p:cBhvr>
                                    </p:animEffect>
                                  </p:childTnLst>
                                </p:cTn>
                              </p:par>
                              <p:par>
                                <p:cTn id="41" presetID="10" presetClass="entr" presetSubtype="0" fill="hold" grpId="0" nodeType="withEffect">
                                  <p:stCondLst>
                                    <p:cond delay="93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600" decel="100000"/>
                                        <p:tgtEl>
                                          <p:spTgt spid="18"/>
                                        </p:tgtEl>
                                      </p:cBhvr>
                                    </p:animEffect>
                                  </p:childTnLst>
                                </p:cTn>
                              </p:par>
                              <p:par>
                                <p:cTn id="44" presetID="22" presetClass="entr" presetSubtype="8" fill="hold" grpId="0" nodeType="withEffect">
                                  <p:stCondLst>
                                    <p:cond delay="970"/>
                                  </p:stCondLst>
                                  <p:childTnLst>
                                    <p:set>
                                      <p:cBhvr>
                                        <p:cTn id="42" dur="1" fill="hold">
                                          <p:stCondLst>
                                            <p:cond delay="0"/>
                                          </p:stCondLst>
                                        </p:cTn>
                                        <p:tgtEl>
                                          <p:spTgt spid="13"/>
                                        </p:tgtEl>
                                        <p:attrNameLst>
                                          <p:attrName>style.visibility</p:attrName>
                                        </p:attrNameLst>
                                      </p:cBhvr>
                                      <p:to>
                                        <p:strVal val="visible"/>
                                      </p:to>
                                    </p:set>
                                    <p:animEffect transition="in" filter="wipe(left)">
                                      <p:cBhvr>
                                        <p:cTn id="43" dur="600" decel="100000"/>
                                        <p:tgtEl>
                                          <p:spTgt spid="13"/>
                                        </p:tgtEl>
                                      </p:cBhvr>
                                    </p:animEffect>
                                  </p:childTnLst>
                                </p:cTn>
                              </p:par>
                              <p:par>
                                <p:cTn id="47" presetID="10" presetClass="entr" presetSubtype="0" fill="hold" grpId="0" nodeType="withEffect">
                                  <p:stCondLst>
                                    <p:cond delay="105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600" decel="100000"/>
                                        <p:tgtEl>
                                          <p:spTgt spid="16"/>
                                        </p:tgtEl>
                                      </p:cBhvr>
                                    </p:animEffect>
                                  </p:childTnLst>
                                </p:cTn>
                              </p:par>
                              <p:par>
                                <p:cTn id="50" presetID="22" presetClass="entr" presetSubtype="8" fill="hold" grpId="0" nodeType="withEffect">
                                  <p:stCondLst>
                                    <p:cond delay="1090"/>
                                  </p:stCondLst>
                                  <p:childTnLst>
                                    <p:set>
                                      <p:cBhvr>
                                        <p:cTn id="48" dur="1" fill="hold">
                                          <p:stCondLst>
                                            <p:cond delay="0"/>
                                          </p:stCondLst>
                                        </p:cTn>
                                        <p:tgtEl>
                                          <p:spTgt spid="11"/>
                                        </p:tgtEl>
                                        <p:attrNameLst>
                                          <p:attrName>style.visibility</p:attrName>
                                        </p:attrNameLst>
                                      </p:cBhvr>
                                      <p:to>
                                        <p:strVal val="visible"/>
                                      </p:to>
                                    </p:set>
                                    <p:animEffect transition="in" filter="wipe(left)">
                                      <p:cBhvr>
                                        <p:cTn id="49" dur="600" decel="100000"/>
                                        <p:tgtEl>
                                          <p:spTgt spid="11"/>
                                        </p:tgtEl>
                                      </p:cBhvr>
                                    </p:animEffect>
                                  </p:childTnLst>
                                </p:cTn>
                              </p:par>
                              <p:par>
                                <p:cTn id="53" presetID="10" presetClass="entr" presetSubtype="0" fill="hold" grpId="0" nodeType="withEffect">
                                  <p:stCondLst>
                                    <p:cond delay="117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600" decel="100000"/>
                                        <p:tgtEl>
                                          <p:spTgt spid="14"/>
                                        </p:tgtEl>
                                      </p:cBhvr>
                                    </p:animEffect>
                                  </p:childTnLst>
                                </p:cTn>
                              </p:par>
                              <p:par>
                                <p:cTn id="56" presetID="22" presetClass="entr" presetSubtype="8" fill="hold" grpId="0" nodeType="withEffect">
                                  <p:stCondLst>
                                    <p:cond delay="1210"/>
                                  </p:stCondLst>
                                  <p:childTnLst>
                                    <p:set>
                                      <p:cBhvr>
                                        <p:cTn id="54" dur="1" fill="hold">
                                          <p:stCondLst>
                                            <p:cond delay="0"/>
                                          </p:stCondLst>
                                        </p:cTn>
                                        <p:tgtEl>
                                          <p:spTgt spid="9"/>
                                        </p:tgtEl>
                                        <p:attrNameLst>
                                          <p:attrName>style.visibility</p:attrName>
                                        </p:attrNameLst>
                                      </p:cBhvr>
                                      <p:to>
                                        <p:strVal val="visible"/>
                                      </p:to>
                                    </p:set>
                                    <p:animEffect transition="in" filter="wipe(left)">
                                      <p:cBhvr>
                                        <p:cTn id="55" dur="600" decel="100000"/>
                                        <p:tgtEl>
                                          <p:spTgt spid="9"/>
                                        </p:tgtEl>
                                      </p:cBhvr>
                                    </p:animEffect>
                                  </p:childTnLst>
                                </p:cTn>
                              </p:par>
                              <p:par>
                                <p:cTn id="59" presetID="10" presetClass="entr" presetSubtype="0" fill="hold" grpId="0" nodeType="withEffect">
                                  <p:stCondLst>
                                    <p:cond delay="129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600" decel="100000"/>
                                        <p:tgtEl>
                                          <p:spTgt spid="12"/>
                                        </p:tgtEl>
                                      </p:cBhvr>
                                    </p:animEffect>
                                  </p:childTnLst>
                                </p:cTn>
                              </p:par>
                              <p:par>
                                <p:cTn id="62" presetID="22" presetClass="entr" presetSubtype="8" fill="hold" grpId="0" nodeType="withEffect">
                                  <p:stCondLst>
                                    <p:cond delay="1330"/>
                                  </p:stCondLst>
                                  <p:childTnLst>
                                    <p:set>
                                      <p:cBhvr>
                                        <p:cTn id="60" dur="1" fill="hold">
                                          <p:stCondLst>
                                            <p:cond delay="0"/>
                                          </p:stCondLst>
                                        </p:cTn>
                                        <p:tgtEl>
                                          <p:spTgt spid="7"/>
                                        </p:tgtEl>
                                        <p:attrNameLst>
                                          <p:attrName>style.visibility</p:attrName>
                                        </p:attrNameLst>
                                      </p:cBhvr>
                                      <p:to>
                                        <p:strVal val="visible"/>
                                      </p:to>
                                    </p:set>
                                    <p:animEffect transition="in" filter="wipe(left)">
                                      <p:cBhvr>
                                        <p:cTn id="61" dur="600" decel="100000"/>
                                        <p:tgtEl>
                                          <p:spTgt spid="7"/>
                                        </p:tgtEl>
                                      </p:cBhvr>
                                    </p:animEffect>
                                  </p:childTnLst>
                                </p:cTn>
                              </p:par>
                              <p:par>
                                <p:cTn id="65" presetID="10" presetClass="entr" presetSubtype="0" fill="hold" grpId="0" nodeType="withEffect">
                                  <p:stCondLst>
                                    <p:cond delay="1410"/>
                                  </p:stCondLst>
                                  <p:childTnLst>
                                    <p:set>
                                      <p:cBhvr>
                                        <p:cTn id="63" dur="1" fill="hold">
                                          <p:stCondLst>
                                            <p:cond delay="0"/>
                                          </p:stCondLst>
                                        </p:cTn>
                                        <p:tgtEl>
                                          <p:spTgt spid="10"/>
                                        </p:tgtEl>
                                        <p:attrNameLst>
                                          <p:attrName>style.visibility</p:attrName>
                                        </p:attrNameLst>
                                      </p:cBhvr>
                                      <p:to>
                                        <p:strVal val="visible"/>
                                      </p:to>
                                    </p:set>
                                    <p:animEffect transition="in" filter="fade">
                                      <p:cBhvr>
                                        <p:cTn id="64" dur="600" decel="100000"/>
                                        <p:tgtEl>
                                          <p:spTgt spid="10"/>
                                        </p:tgtEl>
                                      </p:cBhvr>
                                    </p:animEffect>
                                  </p:childTnLst>
                                </p:cTn>
                              </p:par>
                              <p:par>
                                <p:cTn id="68" presetID="22" presetClass="entr" presetSubtype="1" fill="hold" grpId="0" nodeType="withEffect">
                                  <p:stCondLst>
                                    <p:cond delay="1500"/>
                                  </p:stCondLst>
                                  <p:childTnLst>
                                    <p:set>
                                      <p:cBhvr>
                                        <p:cTn id="66" dur="1" fill="hold">
                                          <p:stCondLst>
                                            <p:cond delay="0"/>
                                          </p:stCondLst>
                                        </p:cTn>
                                        <p:tgtEl>
                                          <p:spTgt spid="6"/>
                                        </p:tgtEl>
                                        <p:attrNameLst>
                                          <p:attrName>style.visibility</p:attrName>
                                        </p:attrNameLst>
                                      </p:cBhvr>
                                      <p:to>
                                        <p:strVal val="visible"/>
                                      </p:to>
                                    </p:set>
                                    <p:animEffect transition="in" filter="wipe(up)">
                                      <p:cBhvr>
                                        <p:cTn id="67" dur="800" decel="100000"/>
                                        <p:tgtEl>
                                          <p:spTgt spid="6"/>
                                        </p:tgtEl>
                                      </p:cBhvr>
                                    </p:animEffect>
                                  </p:childTnLst>
                                </p:cTn>
                              </p:par>
                              <p:par>
                                <p:cTn id="71" presetID="10" presetClass="entr" presetSubtype="0" fill="hold" grpId="0" nodeType="withEffect">
                                  <p:stCondLst>
                                    <p:cond delay="1530"/>
                                  </p:stCondLst>
                                  <p:childTnLst>
                                    <p:set>
                                      <p:cBhvr>
                                        <p:cTn id="69" dur="1" fill="hold">
                                          <p:stCondLst>
                                            <p:cond delay="0"/>
                                          </p:stCondLst>
                                        </p:cTn>
                                        <p:tgtEl>
                                          <p:spTgt spid="8"/>
                                        </p:tgtEl>
                                        <p:attrNameLst>
                                          <p:attrName>style.visibility</p:attrName>
                                        </p:attrNameLst>
                                      </p:cBhvr>
                                      <p:to>
                                        <p:strVal val="visible"/>
                                      </p:to>
                                    </p:set>
                                    <p:animEffect transition="in" filter="fade">
                                      <p:cBhvr>
                                        <p:cTn id="70" dur="600" decel="100000"/>
                                        <p:tgtEl>
                                          <p:spTgt spid="8"/>
                                        </p:tgtEl>
                                      </p:cBhvr>
                                    </p:animEffect>
                                  </p:childTnLst>
                                </p:cTn>
                              </p:par>
                              <p:par>
                                <p:cTn id="74" presetID="22" presetClass="entr" presetSubtype="1" fill="hold" grpId="0" nodeType="withEffect">
                                  <p:stCondLst>
                                    <p:cond delay="2100"/>
                                  </p:stCondLst>
                                  <p:childTnLst>
                                    <p:set>
                                      <p:cBhvr>
                                        <p:cTn id="72" dur="1" fill="hold">
                                          <p:stCondLst>
                                            <p:cond delay="0"/>
                                          </p:stCondLst>
                                        </p:cTn>
                                        <p:tgtEl>
                                          <p:spTgt spid="27"/>
                                        </p:tgtEl>
                                        <p:attrNameLst>
                                          <p:attrName>style.visibility</p:attrName>
                                        </p:attrNameLst>
                                      </p:cBhvr>
                                      <p:to>
                                        <p:strVal val="visible"/>
                                      </p:to>
                                    </p:set>
                                    <p:animEffect transition="in" filter="wipe(up)">
                                      <p:cBhvr>
                                        <p:cTn id="73" dur="600" decel="100000"/>
                                        <p:tgtEl>
                                          <p:spTgt spid="27"/>
                                        </p:tgtEl>
                                      </p:cBhvr>
                                    </p:animEffect>
                                  </p:childTnLst>
                                </p:cTn>
                              </p:par>
                              <p:par>
                                <p:cTn id="79" presetID="42" presetClass="entr" presetSubtype="0" fill="hold" grpId="0" nodeType="withEffect">
                                  <p:stCondLst>
                                    <p:cond delay="220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560" decel="100000"/>
                                        <p:tgtEl>
                                          <p:spTgt spid="28"/>
                                        </p:tgtEl>
                                      </p:cBhvr>
                                    </p:animEffect>
                                    <p:anim calcmode="lin" valueType="num">
                                      <p:cBhvr>
                                        <p:cTn id="77" dur="700" fill="hold" decel="100000"/>
                                        <p:tgtEl>
                                          <p:spTgt spid="28"/>
                                        </p:tgtEl>
                                        <p:attrNameLst>
                                          <p:attrName>ppt_x</p:attrName>
                                        </p:attrNameLst>
                                      </p:cBhvr>
                                      <p:tavLst>
                                        <p:tav tm="0">
                                          <p:val>
                                            <p:strVal val="#ppt_x"/>
                                          </p:val>
                                        </p:tav>
                                        <p:tav tm="100000">
                                          <p:val>
                                            <p:strVal val="#ppt_x"/>
                                          </p:val>
                                        </p:tav>
                                      </p:tavLst>
                                    </p:anim>
                                    <p:anim calcmode="lin" valueType="num">
                                      <p:cBhvr>
                                        <p:cTn id="78" dur="700" fill="hold" decel="100000"/>
                                        <p:tgtEl>
                                          <p:spTgt spid="28"/>
                                        </p:tgtEl>
                                        <p:attrNameLst>
                                          <p:attrName>ppt_y</p:attrName>
                                        </p:attrNameLst>
                                      </p:cBhvr>
                                      <p:tavLst>
                                        <p:tav tm="0">
                                          <p:val>
                                            <p:strVal val="#ppt_y+0.0250"/>
                                          </p:val>
                                        </p:tav>
                                        <p:tav tm="100000">
                                          <p:val>
                                            <p:strVal val="#ppt_y"/>
                                          </p:val>
                                        </p:tav>
                                      </p:tavLst>
                                    </p:anim>
                                  </p:childTnLst>
                                </p:cTn>
                              </p:par>
                              <p:par>
                                <p:cTn id="82" presetID="22" presetClass="entr" presetSubtype="1" fill="hold" grpId="0" nodeType="withEffect">
                                  <p:stCondLst>
                                    <p:cond delay="2280"/>
                                  </p:stCondLst>
                                  <p:childTnLst>
                                    <p:set>
                                      <p:cBhvr>
                                        <p:cTn id="80" dur="1" fill="hold">
                                          <p:stCondLst>
                                            <p:cond delay="0"/>
                                          </p:stCondLst>
                                        </p:cTn>
                                        <p:tgtEl>
                                          <p:spTgt spid="29"/>
                                        </p:tgtEl>
                                        <p:attrNameLst>
                                          <p:attrName>style.visibility</p:attrName>
                                        </p:attrNameLst>
                                      </p:cBhvr>
                                      <p:to>
                                        <p:strVal val="visible"/>
                                      </p:to>
                                    </p:set>
                                    <p:animEffect transition="in" filter="wipe(up)">
                                      <p:cBhvr>
                                        <p:cTn id="81" dur="600" decel="100000"/>
                                        <p:tgtEl>
                                          <p:spTgt spid="29"/>
                                        </p:tgtEl>
                                      </p:cBhvr>
                                    </p:animEffect>
                                  </p:childTnLst>
                                </p:cTn>
                              </p:par>
                              <p:par>
                                <p:cTn id="87" presetID="42" presetClass="entr" presetSubtype="0" fill="hold" grpId="0" nodeType="withEffect">
                                  <p:stCondLst>
                                    <p:cond delay="2380"/>
                                  </p:stCondLst>
                                  <p:childTnLst>
                                    <p:set>
                                      <p:cBhvr>
                                        <p:cTn id="83" dur="1" fill="hold">
                                          <p:stCondLst>
                                            <p:cond delay="0"/>
                                          </p:stCondLst>
                                        </p:cTn>
                                        <p:tgtEl>
                                          <p:spTgt spid="30"/>
                                        </p:tgtEl>
                                        <p:attrNameLst>
                                          <p:attrName>style.visibility</p:attrName>
                                        </p:attrNameLst>
                                      </p:cBhvr>
                                      <p:to>
                                        <p:strVal val="visible"/>
                                      </p:to>
                                    </p:set>
                                    <p:animEffect transition="in" filter="fade">
                                      <p:cBhvr>
                                        <p:cTn id="84" dur="560" decel="100000"/>
                                        <p:tgtEl>
                                          <p:spTgt spid="30"/>
                                        </p:tgtEl>
                                      </p:cBhvr>
                                    </p:animEffect>
                                    <p:anim calcmode="lin" valueType="num">
                                      <p:cBhvr>
                                        <p:cTn id="85" dur="700" fill="hold" decel="100000"/>
                                        <p:tgtEl>
                                          <p:spTgt spid="30"/>
                                        </p:tgtEl>
                                        <p:attrNameLst>
                                          <p:attrName>ppt_x</p:attrName>
                                        </p:attrNameLst>
                                      </p:cBhvr>
                                      <p:tavLst>
                                        <p:tav tm="0">
                                          <p:val>
                                            <p:strVal val="#ppt_x"/>
                                          </p:val>
                                        </p:tav>
                                        <p:tav tm="100000">
                                          <p:val>
                                            <p:strVal val="#ppt_x"/>
                                          </p:val>
                                        </p:tav>
                                      </p:tavLst>
                                    </p:anim>
                                    <p:anim calcmode="lin" valueType="num">
                                      <p:cBhvr>
                                        <p:cTn id="86" dur="700" fill="hold" decel="100000"/>
                                        <p:tgtEl>
                                          <p:spTgt spid="30"/>
                                        </p:tgtEl>
                                        <p:attrNameLst>
                                          <p:attrName>ppt_y</p:attrName>
                                        </p:attrNameLst>
                                      </p:cBhvr>
                                      <p:tavLst>
                                        <p:tav tm="0">
                                          <p:val>
                                            <p:strVal val="#ppt_y+0.0250"/>
                                          </p:val>
                                        </p:tav>
                                        <p:tav tm="100000">
                                          <p:val>
                                            <p:strVal val="#ppt_y"/>
                                          </p:val>
                                        </p:tav>
                                      </p:tavLst>
                                    </p:anim>
                                  </p:childTnLst>
                                </p:cTn>
                              </p:par>
                              <p:par>
                                <p:cTn id="90" presetID="22" presetClass="entr" presetSubtype="1" fill="hold" grpId="0" nodeType="withEffect">
                                  <p:stCondLst>
                                    <p:cond delay="2460"/>
                                  </p:stCondLst>
                                  <p:childTnLst>
                                    <p:set>
                                      <p:cBhvr>
                                        <p:cTn id="88" dur="1" fill="hold">
                                          <p:stCondLst>
                                            <p:cond delay="0"/>
                                          </p:stCondLst>
                                        </p:cTn>
                                        <p:tgtEl>
                                          <p:spTgt spid="31"/>
                                        </p:tgtEl>
                                        <p:attrNameLst>
                                          <p:attrName>style.visibility</p:attrName>
                                        </p:attrNameLst>
                                      </p:cBhvr>
                                      <p:to>
                                        <p:strVal val="visible"/>
                                      </p:to>
                                    </p:set>
                                    <p:animEffect transition="in" filter="wipe(up)">
                                      <p:cBhvr>
                                        <p:cTn id="89" dur="600" decel="100000"/>
                                        <p:tgtEl>
                                          <p:spTgt spid="31"/>
                                        </p:tgtEl>
                                      </p:cBhvr>
                                    </p:animEffect>
                                  </p:childTnLst>
                                </p:cTn>
                              </p:par>
                              <p:par>
                                <p:cTn id="95" presetID="42" presetClass="entr" presetSubtype="0" fill="hold" grpId="0" nodeType="withEffect">
                                  <p:stCondLst>
                                    <p:cond delay="2560"/>
                                  </p:stCondLst>
                                  <p:childTnLst>
                                    <p:set>
                                      <p:cBhvr>
                                        <p:cTn id="91" dur="1" fill="hold">
                                          <p:stCondLst>
                                            <p:cond delay="0"/>
                                          </p:stCondLst>
                                        </p:cTn>
                                        <p:tgtEl>
                                          <p:spTgt spid="32"/>
                                        </p:tgtEl>
                                        <p:attrNameLst>
                                          <p:attrName>style.visibility</p:attrName>
                                        </p:attrNameLst>
                                      </p:cBhvr>
                                      <p:to>
                                        <p:strVal val="visible"/>
                                      </p:to>
                                    </p:set>
                                    <p:animEffect transition="in" filter="fade">
                                      <p:cBhvr>
                                        <p:cTn id="92" dur="560" decel="100000"/>
                                        <p:tgtEl>
                                          <p:spTgt spid="32"/>
                                        </p:tgtEl>
                                      </p:cBhvr>
                                    </p:animEffect>
                                    <p:anim calcmode="lin" valueType="num">
                                      <p:cBhvr>
                                        <p:cTn id="93" dur="700" fill="hold" decel="100000"/>
                                        <p:tgtEl>
                                          <p:spTgt spid="32"/>
                                        </p:tgtEl>
                                        <p:attrNameLst>
                                          <p:attrName>ppt_x</p:attrName>
                                        </p:attrNameLst>
                                      </p:cBhvr>
                                      <p:tavLst>
                                        <p:tav tm="0">
                                          <p:val>
                                            <p:strVal val="#ppt_x"/>
                                          </p:val>
                                        </p:tav>
                                        <p:tav tm="100000">
                                          <p:val>
                                            <p:strVal val="#ppt_x"/>
                                          </p:val>
                                        </p:tav>
                                      </p:tavLst>
                                    </p:anim>
                                    <p:anim calcmode="lin" valueType="num">
                                      <p:cBhvr>
                                        <p:cTn id="94" dur="700" fill="hold" decel="100000"/>
                                        <p:tgtEl>
                                          <p:spTgt spid="32"/>
                                        </p:tgtEl>
                                        <p:attrNameLst>
                                          <p:attrName>ppt_y</p:attrName>
                                        </p:attrNameLst>
                                      </p:cBhvr>
                                      <p:tavLst>
                                        <p:tav tm="0">
                                          <p:val>
                                            <p:strVal val="#ppt_y+0.0250"/>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3" grpId="0" animBg="1"/>
      <p:bldP spid="26" grpId="0" animBg="1"/>
      <p:bldP spid="21" grpId="0" animBg="1"/>
      <p:bldP spid="24" grpId="0" animBg="1"/>
      <p:bldP spid="19" grpId="0" animBg="1"/>
      <p:bldP spid="22" grpId="0" animBg="1"/>
      <p:bldP spid="17" grpId="0" animBg="1"/>
      <p:bldP spid="20" grpId="0" animBg="1"/>
      <p:bldP spid="15" grpId="0" animBg="1"/>
      <p:bldP spid="18" grpId="0" animBg="1"/>
      <p:bldP spid="13" grpId="0" animBg="1"/>
      <p:bldP spid="16" grpId="0" animBg="1"/>
      <p:bldP spid="11" grpId="0" animBg="1"/>
      <p:bldP spid="14" grpId="0" animBg="1"/>
      <p:bldP spid="9" grpId="0" animBg="1"/>
      <p:bldP spid="12" grpId="0" animBg="1"/>
      <p:bldP spid="7" grpId="0" animBg="1"/>
      <p:bldP spid="10" grpId="0" animBg="1"/>
      <p:bldP spid="8" grpId="0" animBg="1"/>
      <p:bldP spid="27" grpId="0" animBg="1"/>
      <p:bldP spid="28" grpId="0" animBg="1"/>
      <p:bldP spid="29" grpId="0" animBg="1"/>
      <p:bldP spid="30" grpId="0" animBg="1"/>
      <p:bldP spid="31" grpId="0" animBg="1"/>
      <p:bldP spid="32" grpId="0" animBg="1"/>
    </p:bldLst>
  </p:timing>
</p:sld>
</file>

<file path=ppt/slides/slide24.xml><?xml version="1.0" encoding="utf-8"?>
<p:sld xmlns:p14="http://schemas.microsoft.com/office/powerpoint/2010/main"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orbA" descr="Decorative background light">    </p:cNvPr>
          <p:cNvPicPr>
            <a:picLocks noChangeAspect="1"/>
          </p:cNvPicPr>
          <p:nvPr/>
        </p:nvPicPr>
        <p:blipFill>
          <a:blip r:embed="rId1"/>
          <a:stretch>
            <a:fillRect/>
          </a:stretch>
        </p:blipFill>
        <p:spPr>
          <a:xfrm>
            <a:off x="-1234440" y="-594360"/>
            <a:ext cx="7772400" cy="7772400"/>
          </a:xfrm>
          <a:prstGeom prst="rect">
            <a:avLst/>
          </a:prstGeom>
        </p:spPr>
      </p:pic>
      <p:pic>
        <p:nvPicPr>
          <p:cNvPr id="3" name="!!orbB" descr="Decorative background light">    </p:cNvPr>
          <p:cNvPicPr>
            <a:picLocks noChangeAspect="1"/>
          </p:cNvPicPr>
          <p:nvPr/>
        </p:nvPicPr>
        <p:blipFill>
          <a:blip r:embed="rId2"/>
          <a:stretch>
            <a:fillRect/>
          </a:stretch>
        </p:blipFill>
        <p:spPr>
          <a:xfrm>
            <a:off x="8686800" y="-1920240"/>
            <a:ext cx="5486400" cy="5486400"/>
          </a:xfrm>
          <a:prstGeom prst="rect">
            <a:avLst/>
          </a:prstGeom>
        </p:spPr>
      </p:pic>
      <p:pic>
        <p:nvPicPr>
          <p:cNvPr id="4" name="!!drop" descr="Oil drop illustration">    </p:cNvPr>
          <p:cNvPicPr>
            <a:picLocks noChangeAspect="1"/>
          </p:cNvPicPr>
          <p:nvPr/>
        </p:nvPicPr>
        <p:blipFill>
          <a:blip r:embed="rId3"/>
          <a:stretch>
            <a:fillRect/>
          </a:stretch>
        </p:blipFill>
        <p:spPr>
          <a:xfrm>
            <a:off x="914400" y="1051560"/>
            <a:ext cx="3474720" cy="4389120"/>
          </a:xfrm>
          <a:prstGeom prst="rect">
            <a:avLst/>
          </a:prstGeom>
        </p:spPr>
      </p:pic>
      <p:sp>
        <p:nvSpPr>
          <p:cNvPr id="5" name="!!kicker"/>
          <p:cNvSpPr txBox="1"/>
          <p:nvPr/>
        </p:nvSpPr>
        <p:spPr>
          <a:xfrm>
            <a:off x="4846320" y="1371600"/>
            <a:ext cx="4114800" cy="1554480"/>
          </a:xfrm>
          <a:prstGeom prst="rect">
            <a:avLst/>
          </a:prstGeom>
          <a:noFill/>
          <a:ln/>
        </p:spPr>
        <p:txBody>
          <a:bodyPr wrap="square" lIns="0" tIns="0" rIns="0" bIns="0" rtlCol="0" anchor="t"/>
          <a:lstStyle/>
          <a:p>
            <a:pPr indent="0" marL="0">
              <a:buNone/>
            </a:pPr>
            <a:r>
              <a:rPr lang="en-US" sz="12000" b="1" dirty="0">
                <a:solidFill>
                  <a:schemeClr val="accent1"/>
                </a:solidFill>
                <a:latin typeface="Arial" pitchFamily="34" charset="0"/>
                <a:ea typeface="Arial" pitchFamily="34" charset="-122"/>
                <a:cs typeface="Arial" pitchFamily="34" charset="-120"/>
              </a:rPr>
              <a:t>04</a:t>
            </a:r>
            <a:endParaRPr lang="en-US" sz="12000" dirty="0"/>
          </a:p>
        </p:txBody>
      </p:sp>
      <p:sp>
        <p:nvSpPr>
          <p:cNvPr id="6" name="!!title"/>
          <p:cNvSpPr txBox="1"/>
          <p:nvPr/>
        </p:nvSpPr>
        <p:spPr>
          <a:xfrm>
            <a:off x="4846320" y="2971800"/>
            <a:ext cx="6766560" cy="914400"/>
          </a:xfrm>
          <a:prstGeom prst="rect">
            <a:avLst/>
          </a:prstGeom>
          <a:noFill/>
          <a:ln/>
        </p:spPr>
        <p:txBody>
          <a:bodyPr wrap="square" lIns="0" tIns="0" rIns="0" bIns="0" rtlCol="0" anchor="t"/>
          <a:lstStyle/>
          <a:p>
            <a:pPr indent="0" marL="0">
              <a:buNone/>
            </a:pPr>
            <a:r>
              <a:rPr lang="en-US" sz="5000" b="1" dirty="0">
                <a:solidFill>
                  <a:schemeClr val="tx1"/>
                </a:solidFill>
                <a:latin typeface="Arial" pitchFamily="34" charset="0"/>
                <a:ea typeface="Arial" pitchFamily="34" charset="-122"/>
                <a:cs typeface="Arial" pitchFamily="34" charset="-120"/>
              </a:rPr>
              <a:t>Exports &amp; Costs</a:t>
            </a:r>
            <a:endParaRPr lang="en-US" sz="5000" dirty="0"/>
          </a:p>
        </p:txBody>
      </p:sp>
      <p:sp>
        <p:nvSpPr>
          <p:cNvPr id="7" name="sec4_t_1"/>
          <p:cNvSpPr txBox="1"/>
          <p:nvPr/>
        </p:nvSpPr>
        <p:spPr>
          <a:xfrm>
            <a:off x="4846320" y="3931920"/>
            <a:ext cx="6400800" cy="822960"/>
          </a:xfrm>
          <a:prstGeom prst="rect">
            <a:avLst/>
          </a:prstGeom>
          <a:noFill/>
          <a:ln/>
        </p:spPr>
        <p:txBody>
          <a:bodyPr wrap="square" lIns="0" tIns="0" rIns="0" bIns="0" rtlCol="0" anchor="t"/>
          <a:lstStyle/>
          <a:p>
            <a:pPr indent="0" marL="0">
              <a:buNone/>
            </a:pPr>
            <a:r>
              <a:rPr lang="en-US" sz="2200" dirty="0">
                <a:solidFill>
                  <a:schemeClr val="tx2"/>
                </a:solidFill>
                <a:latin typeface="Arial" pitchFamily="34" charset="0"/>
                <a:ea typeface="Arial" pitchFamily="34" charset="-122"/>
                <a:cs typeface="Arial" pitchFamily="34" charset="-120"/>
              </a:rPr>
              <a:t>Who buys Kuwait’s oil, and what it costs</a:t>
            </a:r>
            <a:endParaRPr lang="en-US" sz="2200" dirty="0"/>
          </a:p>
        </p:txBody>
      </p:sp>
      <p:sp>
        <p:nvSpPr>
          <p:cNvPr id="8" name="sec4_s_2"/>
          <p:cNvSpPr/>
          <p:nvPr/>
        </p:nvSpPr>
        <p:spPr>
          <a:xfrm>
            <a:off x="4864608" y="5029200"/>
            <a:ext cx="128016" cy="128016"/>
          </a:xfrm>
          <a:prstGeom prst="ellipse">
            <a:avLst/>
          </a:prstGeom>
          <a:solidFill>
            <a:srgbClr val="3A3A3C"/>
          </a:solidFill>
          <a:ln/>
        </p:spPr>
      </p:sp>
      <p:sp>
        <p:nvSpPr>
          <p:cNvPr id="9" name="sec4_s_3"/>
          <p:cNvSpPr/>
          <p:nvPr/>
        </p:nvSpPr>
        <p:spPr>
          <a:xfrm>
            <a:off x="5157216" y="5029200"/>
            <a:ext cx="128016" cy="128016"/>
          </a:xfrm>
          <a:prstGeom prst="ellipse">
            <a:avLst/>
          </a:prstGeom>
          <a:solidFill>
            <a:srgbClr val="3A3A3C"/>
          </a:solidFill>
          <a:ln/>
        </p:spPr>
      </p:sp>
      <p:sp>
        <p:nvSpPr>
          <p:cNvPr id="10" name="sec4_s_4"/>
          <p:cNvSpPr/>
          <p:nvPr/>
        </p:nvSpPr>
        <p:spPr>
          <a:xfrm>
            <a:off x="5449824" y="5029200"/>
            <a:ext cx="128016" cy="128016"/>
          </a:xfrm>
          <a:prstGeom prst="ellipse">
            <a:avLst/>
          </a:prstGeom>
          <a:solidFill>
            <a:srgbClr val="3A3A3C"/>
          </a:solidFill>
          <a:ln/>
        </p:spPr>
      </p:sp>
      <p:sp>
        <p:nvSpPr>
          <p:cNvPr id="11" name="sec4_s_5"/>
          <p:cNvSpPr/>
          <p:nvPr/>
        </p:nvSpPr>
        <p:spPr>
          <a:xfrm>
            <a:off x="5742432" y="5029200"/>
            <a:ext cx="128016" cy="128016"/>
          </a:xfrm>
          <a:prstGeom prst="ellipse">
            <a:avLst/>
          </a:prstGeom>
          <a:solidFill>
            <a:srgbClr val="FF9F0A"/>
          </a:solidFill>
          <a:ln/>
        </p:spPr>
      </p:sp>
      <p:sp>
        <p:nvSpPr>
          <p:cNvPr id="12" name="sec4_s_6"/>
          <p:cNvSpPr/>
          <p:nvPr/>
        </p:nvSpPr>
        <p:spPr>
          <a:xfrm>
            <a:off x="6035040" y="5029200"/>
            <a:ext cx="128016" cy="128016"/>
          </a:xfrm>
          <a:prstGeom prst="ellipse">
            <a:avLst/>
          </a:prstGeom>
          <a:solidFill>
            <a:srgbClr val="3A3A3C"/>
          </a:solidFill>
          <a:ln/>
        </p:spPr>
      </p:sp>
      <p:sp>
        <p:nvSpPr>
          <p:cNvPr id="13" name="!!home_bg"/>
          <p:cNvSpPr/>
          <p:nvPr/>
        </p:nvSpPr>
        <p:spPr>
          <a:xfrm>
            <a:off x="10637215" y="6272784"/>
            <a:ext cx="384048" cy="384048"/>
          </a:xfrm>
          <a:prstGeom prst="roundRect">
            <a:avLst>
              <a:gd name="adj" fmla="val 23810"/>
            </a:avLst>
          </a:prstGeom>
          <a:solidFill>
            <a:srgbClr val="2C2C2E"/>
          </a:solidFill>
          <a:ln/>
        </p:spPr>
      </p:sp>
      <p:pic>
        <p:nvPicPr>
          <p:cNvPr id="14" name="!!home_ic" descr="Decorative graphic">    </p:cNvPr>
          <p:cNvPicPr>
            <a:picLocks noChangeAspect="1"/>
          </p:cNvPicPr>
          <p:nvPr/>
        </p:nvPicPr>
        <p:blipFill>
          <a:blip r:embed="rId4"/>
          <a:stretch>
            <a:fillRect/>
          </a:stretch>
        </p:blipFill>
        <p:spPr>
          <a:xfrm>
            <a:off x="10719511" y="6355080"/>
            <a:ext cx="219456" cy="219456"/>
          </a:xfrm>
          <a:prstGeom prst="rect">
            <a:avLst/>
          </a:prstGeom>
        </p:spPr>
      </p:pic>
      <p:sp>
        <p:nvSpPr>
          <p:cNvPr id="15" name="!!home_hit">
            <a:hlinkClick r:id="rId5" tooltip="Back to contents" action="ppaction://hlinksldjump" highlightClick="1"/>
          </p:cNvPr>
          <p:cNvSpPr/>
          <p:nvPr/>
        </p:nvSpPr>
        <p:spPr>
          <a:xfrm>
            <a:off x="10637215" y="6272784"/>
            <a:ext cx="384048" cy="384048"/>
          </a:xfrm>
          <a:prstGeom prst="roundRect">
            <a:avLst>
              <a:gd name="adj" fmla="val 23810"/>
            </a:avLst>
          </a:prstGeom>
          <a:solidFill>
            <a:srgbClr val="000000">
              <a:alpha val="0"/>
            </a:srgbClr>
          </a:solidFill>
          <a:ln/>
        </p:spPr>
      </p:sp>
      <p:sp>
        <p:nvSpPr>
          <p:cNvPr id="17" name="!!footer"/>
          <p:cNvSpPr txBox="1"/>
          <p:nvPr/>
        </p:nvSpPr>
        <p:spPr>
          <a:xfrm>
            <a:off x="548640" y="6327648"/>
            <a:ext cx="5486400" cy="292608"/>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Kuwait Oil &amp; Gas  ·  EGCH2230</a:t>
            </a:r>
            <a:endParaRPr lang="en-US" sz="1200" dirty="0"/>
          </a:p>
        </p:txBody>
      </p:sp>
      <p:sp>
        <p:nvSpPr>
          <p:cNvPr id="18" name="!!num"/>
          <p:cNvSpPr txBox="1"/>
          <p:nvPr/>
        </p:nvSpPr>
        <p:spPr>
          <a:xfrm>
            <a:off x="11094415" y="6327648"/>
            <a:ext cx="548640" cy="292608"/>
          </a:xfrm>
          <a:prstGeom prst="rect">
            <a:avLst/>
          </a:prstGeom>
          <a:noFill/>
          <a:ln/>
        </p:spPr>
        <p:txBody>
          <a:bodyPr wrap="square" lIns="0" tIns="0" rIns="0" bIns="0" rtlCol="0" anchor="ctr"/>
          <a:lstStyle/>
          <a:p>
            <a:pPr algn="r" indent="0" marL="0">
              <a:buNone/>
            </a:pPr>
            <a:r>
              <a:rPr lang="en-US" sz="1200" dirty="0">
                <a:solidFill>
                  <a:schemeClr val="tx2"/>
                </a:solidFill>
                <a:latin typeface="Arial" pitchFamily="34" charset="0"/>
                <a:ea typeface="Arial" pitchFamily="34" charset="-122"/>
                <a:cs typeface="Arial" pitchFamily="34" charset="-120"/>
              </a:rPr>
              <a:t>19</a:t>
            </a:r>
            <a:endParaRPr lang="en-US" sz="1200" dirty="0"/>
          </a:p>
        </p:txBody>
      </p:sp>
      <p:pic>
        <p:nvPicPr>
          <p:cNvPr id="19" name="!!badge" descr="University of Technology and Applied Sciences, Salalah">    </p:cNvPr>
          <p:cNvPicPr>
            <a:picLocks noChangeAspect="1"/>
          </p:cNvPicPr>
          <p:nvPr/>
        </p:nvPicPr>
        <p:blipFill>
          <a:blip r:embed="rId6"/>
          <a:stretch>
            <a:fillRect/>
          </a:stretch>
        </p:blipFill>
        <p:spPr>
          <a:xfrm>
            <a:off x="9677095" y="274320"/>
            <a:ext cx="1965960" cy="80987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0" presetClass="path" presetSubtype="0" fill="hold" grpId="0" nodeType="afterEffect" repeatCount="indefinite" autoRev="1">
                                  <p:stCondLst>
                                    <p:cond delay="0"/>
                                  </p:stCondLst>
                                  <p:childTnLst>
                                    <p:animMotion origin="layout" path="M 0 0 L 0.0350 -0.0300 E" pathEditMode="relative" ptsTypes="">
                                      <p:cBhvr>
                                        <p:cTn id="5" dur="13000" fill="hold" accel="50000" decel="50000"/>
                                        <p:tgtEl>
                                          <p:spTgt spid="2"/>
                                        </p:tgtEl>
                                        <p:attrNameLst>
                                          <p:attrName>ppt_x</p:attrName>
                                          <p:attrName>ppt_y</p:attrName>
                                        </p:attrNameLst>
                                      </p:cBhvr>
                                      <p:rCtr x="0" y="0"/>
                                    </p:animMotion>
                                  </p:childTnLst>
                                </p:cTn>
                              </p:par>
                              <p:par>
                                <p:cTn id="8" presetID="0" presetClass="path" presetSubtype="0" fill="hold" grpId="0" nodeType="withEffect" repeatCount="indefinite" autoRev="1">
                                  <p:stCondLst>
                                    <p:cond delay="0"/>
                                  </p:stCondLst>
                                  <p:childTnLst>
                                    <p:animMotion origin="layout" path="M 0 0 L -0.0300 0.0250 E" pathEditMode="relative" ptsTypes="">
                                      <p:cBhvr>
                                        <p:cTn id="7" dur="15000" fill="hold" accel="50000" decel="50000"/>
                                        <p:tgtEl>
                                          <p:spTgt spid="3"/>
                                        </p:tgtEl>
                                        <p:attrNameLst>
                                          <p:attrName>ppt_x</p:attrName>
                                          <p:attrName>ppt_y</p:attrName>
                                        </p:attrNameLst>
                                      </p:cBhvr>
                                      <p:rCtr x="0" y="0"/>
                                    </p:animMotion>
                                  </p:childTnLst>
                                </p:cTn>
                              </p:par>
                              <p:par>
                                <p:cTn id="13" presetID="53" presetClass="entr" presetSubtype="16"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p:cTn id="10" dur="1600" fill="hold" decel="100000"/>
                                        <p:tgtEl>
                                          <p:spTgt spid="4"/>
                                        </p:tgtEl>
                                        <p:attrNameLst>
                                          <p:attrName>ppt_w</p:attrName>
                                        </p:attrNameLst>
                                      </p:cBhvr>
                                      <p:tavLst>
                                        <p:tav tm="0">
                                          <p:val>
                                            <p:strVal val="#ppt_w*0.880"/>
                                          </p:val>
                                        </p:tav>
                                        <p:tav tm="100000">
                                          <p:val>
                                            <p:strVal val="#ppt_w"/>
                                          </p:val>
                                        </p:tav>
                                      </p:tavLst>
                                    </p:anim>
                                    <p:anim calcmode="lin" valueType="num">
                                      <p:cBhvr>
                                        <p:cTn id="11" dur="1600" fill="hold" decel="100000"/>
                                        <p:tgtEl>
                                          <p:spTgt spid="4"/>
                                        </p:tgtEl>
                                        <p:attrNameLst>
                                          <p:attrName>ppt_h</p:attrName>
                                        </p:attrNameLst>
                                      </p:cBhvr>
                                      <p:tavLst>
                                        <p:tav tm="0">
                                          <p:val>
                                            <p:strVal val="#ppt_h*0.880"/>
                                          </p:val>
                                        </p:tav>
                                        <p:tav tm="100000">
                                          <p:val>
                                            <p:strVal val="#ppt_h"/>
                                          </p:val>
                                        </p:tav>
                                      </p:tavLst>
                                    </p:anim>
                                    <p:animEffect transition="in" filter="fade">
                                      <p:cBhvr>
                                        <p:cTn id="12" dur="1120" decel="100000"/>
                                        <p:tgtEl>
                                          <p:spTgt spid="4"/>
                                        </p:tgtEl>
                                      </p:cBhvr>
                                    </p:animEffect>
                                  </p:childTnLst>
                                </p:cTn>
                              </p:par>
                              <p:par>
                                <p:cTn id="18" presetID="42" presetClass="entr" presetSubtype="0" fill="hold" grpId="0" nodeType="withEffect">
                                  <p:stCondLst>
                                    <p:cond delay="70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720" decel="100000"/>
                                        <p:tgtEl>
                                          <p:spTgt spid="7"/>
                                        </p:tgtEl>
                                      </p:cBhvr>
                                    </p:animEffect>
                                    <p:anim calcmode="lin" valueType="num">
                                      <p:cBhvr>
                                        <p:cTn id="16" dur="900" fill="hold" decel="100000"/>
                                        <p:tgtEl>
                                          <p:spTgt spid="7"/>
                                        </p:tgtEl>
                                        <p:attrNameLst>
                                          <p:attrName>ppt_x</p:attrName>
                                        </p:attrNameLst>
                                      </p:cBhvr>
                                      <p:tavLst>
                                        <p:tav tm="0">
                                          <p:val>
                                            <p:strVal val="#ppt_x"/>
                                          </p:val>
                                        </p:tav>
                                        <p:tav tm="100000">
                                          <p:val>
                                            <p:strVal val="#ppt_x"/>
                                          </p:val>
                                        </p:tav>
                                      </p:tavLst>
                                    </p:anim>
                                    <p:anim calcmode="lin" valueType="num">
                                      <p:cBhvr>
                                        <p:cTn id="17" dur="900" fill="hold" decel="100000"/>
                                        <p:tgtEl>
                                          <p:spTgt spid="7"/>
                                        </p:tgtEl>
                                        <p:attrNameLst>
                                          <p:attrName>ppt_y</p:attrName>
                                        </p:attrNameLst>
                                      </p:cBhvr>
                                      <p:tavLst>
                                        <p:tav tm="0">
                                          <p:val>
                                            <p:strVal val="#ppt_y+0.0250"/>
                                          </p:val>
                                        </p:tav>
                                        <p:tav tm="100000">
                                          <p:val>
                                            <p:strVal val="#ppt_y"/>
                                          </p:val>
                                        </p:tav>
                                      </p:tavLst>
                                    </p:anim>
                                  </p:childTnLst>
                                </p:cTn>
                              </p:par>
                              <p:par>
                                <p:cTn id="21" presetID="10" presetClass="entr" presetSubtype="0" fill="hold" grpId="0" nodeType="withEffect">
                                  <p:stCondLst>
                                    <p:cond delay="90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600" decel="100000"/>
                                        <p:tgtEl>
                                          <p:spTgt spid="8"/>
                                        </p:tgtEl>
                                      </p:cBhvr>
                                    </p:animEffect>
                                  </p:childTnLst>
                                </p:cTn>
                              </p:par>
                              <p:par>
                                <p:cTn id="24" presetID="10" presetClass="entr" presetSubtype="0" fill="hold" grpId="0" nodeType="withEffect">
                                  <p:stCondLst>
                                    <p:cond delay="98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600" decel="100000"/>
                                        <p:tgtEl>
                                          <p:spTgt spid="9"/>
                                        </p:tgtEl>
                                      </p:cBhvr>
                                    </p:animEffect>
                                  </p:childTnLst>
                                </p:cTn>
                              </p:par>
                              <p:par>
                                <p:cTn id="27" presetID="10" presetClass="entr" presetSubtype="0" fill="hold" grpId="0" nodeType="withEffect">
                                  <p:stCondLst>
                                    <p:cond delay="106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600" decel="100000"/>
                                        <p:tgtEl>
                                          <p:spTgt spid="10"/>
                                        </p:tgtEl>
                                      </p:cBhvr>
                                    </p:animEffect>
                                  </p:childTnLst>
                                </p:cTn>
                              </p:par>
                              <p:par>
                                <p:cTn id="30" presetID="10" presetClass="entr" presetSubtype="0" fill="hold" grpId="0" nodeType="withEffect">
                                  <p:stCondLst>
                                    <p:cond delay="114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600" decel="100000"/>
                                        <p:tgtEl>
                                          <p:spTgt spid="11"/>
                                        </p:tgtEl>
                                      </p:cBhvr>
                                    </p:animEffect>
                                  </p:childTnLst>
                                </p:cTn>
                              </p:par>
                              <p:par>
                                <p:cTn id="33" presetID="10" presetClass="entr" presetSubtype="0" fill="hold" grpId="0" nodeType="withEffect">
                                  <p:stCondLst>
                                    <p:cond delay="122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600" decel="100000"/>
                                        <p:tgtEl>
                                          <p:spTgt spid="12"/>
                                        </p:tgtEl>
                                      </p:cBhvr>
                                    </p:animEffect>
                                  </p:childTnLst>
                                </p:cTn>
                              </p:par>
                              <p:par>
                                <p:cTn id="35" presetID="0" presetClass="path" presetSubtype="0" fill="hold" grpId="1" nodeType="withEffect" repeatCount="indefinite" autoRev="1">
                                  <p:stCondLst>
                                    <p:cond delay="1600"/>
                                  </p:stCondLst>
                                  <p:childTnLst>
                                    <p:animMotion origin="layout" path="M 0 0 L 0.0000 -0.0160 E" pathEditMode="relative" ptsTypes="">
                                      <p:cBhvr>
                                        <p:cTn id="34" dur="3800" fill="hold" accel="50000" decel="50000"/>
                                        <p:tgtEl>
                                          <p:spTgt spid="4"/>
                                        </p:tgtEl>
                                        <p:attrNameLst>
                                          <p:attrName>ppt_x</p:attrName>
                                          <p:attrName>ppt_y</p:attrName>
                                        </p:attrNameLst>
                                      </p:cBhvr>
                                      <p:rCtr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Lst>
  </p:timing>
</p:sld>
</file>

<file path=ppt/slides/slide25.xml><?xml version="1.0" encoding="utf-8"?>
<p:sld xmlns:p14="http://schemas.microsoft.com/office/powerpoint/2010/main"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orbA" descr="Decorative background light">    </p:cNvPr>
          <p:cNvPicPr>
            <a:picLocks noChangeAspect="1"/>
          </p:cNvPicPr>
          <p:nvPr/>
        </p:nvPicPr>
        <p:blipFill>
          <a:blip r:embed="rId1"/>
          <a:stretch>
            <a:fillRect/>
          </a:stretch>
        </p:blipFill>
        <p:spPr>
          <a:xfrm>
            <a:off x="-1417320" y="228600"/>
            <a:ext cx="6858000" cy="6858000"/>
          </a:xfrm>
          <a:prstGeom prst="rect">
            <a:avLst/>
          </a:prstGeom>
        </p:spPr>
      </p:pic>
      <p:pic>
        <p:nvPicPr>
          <p:cNvPr id="3" name="!!orbB" descr="Decorative background light">    </p:cNvPr>
          <p:cNvPicPr>
            <a:picLocks noChangeAspect="1"/>
          </p:cNvPicPr>
          <p:nvPr/>
        </p:nvPicPr>
        <p:blipFill>
          <a:blip r:embed="rId2"/>
          <a:stretch>
            <a:fillRect/>
          </a:stretch>
        </p:blipFill>
        <p:spPr>
          <a:xfrm>
            <a:off x="5943600" y="182880"/>
            <a:ext cx="7315200" cy="7315200"/>
          </a:xfrm>
          <a:prstGeom prst="rect">
            <a:avLst/>
          </a:prstGeom>
        </p:spPr>
      </p:pic>
      <p:sp>
        <p:nvSpPr>
          <p:cNvPr id="4" name="!!kicker"/>
          <p:cNvSpPr/>
          <p:nvPr>
            <p:ph idx="100" type="body" hasCustomPrompt="1"/>
          </p:nvPr>
        </p:nvSpPr>
        <p:spPr>
          <a:xfrm>
            <a:off x="548640" y="384048"/>
            <a:ext cx="8732520" cy="329184"/>
          </a:xfrm>
          <a:prstGeom prst="rect">
            <a:avLst/>
          </a:prstGeom>
          <a:noFill/>
          <a:ln/>
        </p:spPr>
        <p:txBody>
          <a:bodyPr wrap="square" lIns="0" tIns="0" rIns="0" bIns="0" rtlCol="0" anchor="t"/>
          <a:lstStyle/>
          <a:p>
            <a:pPr algn="l" indent="0" marL="0">
              <a:buNone/>
            </a:pPr>
            <a:r>
              <a:rPr lang="en-US" sz="1500" b="1" spc="300" kern="0" dirty="0">
                <a:solidFill>
                  <a:schemeClr val="accent1"/>
                </a:solidFill>
              </a:rPr>
              <a:t>04 — EXPORTS &amp; COSTS</a:t>
            </a:r>
            <a:endParaRPr lang="en-US" sz="1500" dirty="0"/>
          </a:p>
        </p:txBody>
      </p:sp>
      <p:sp>
        <p:nvSpPr>
          <p:cNvPr id="5" name="!!title"/>
          <p:cNvSpPr/>
          <p:nvPr>
            <p:ph idx="101" type="title" hasCustomPrompt="1"/>
          </p:nvPr>
        </p:nvSpPr>
        <p:spPr>
          <a:xfrm>
            <a:off x="548640" y="731520"/>
            <a:ext cx="8732520" cy="786384"/>
          </a:xfrm>
          <a:prstGeom prst="rect">
            <a:avLst/>
          </a:prstGeom>
          <a:noFill/>
          <a:ln/>
        </p:spPr>
        <p:txBody>
          <a:bodyPr wrap="square" lIns="0" tIns="0" rIns="0" bIns="0" rtlCol="0" anchor="t"/>
          <a:lstStyle/>
          <a:p>
            <a:pPr algn="l" indent="0" marL="0">
              <a:buNone/>
            </a:pPr>
            <a:r>
              <a:rPr lang="en-US" sz="3800" b="1" dirty="0">
                <a:solidFill>
                  <a:schemeClr val="tx1"/>
                </a:solidFill>
              </a:rPr>
              <a:t>Nine in ten barrels sail to Asia</a:t>
            </a:r>
            <a:endParaRPr lang="en-US" sz="3800" dirty="0"/>
          </a:p>
        </p:txBody>
      </p:sp>
      <p:sp>
        <p:nvSpPr>
          <p:cNvPr id="6" name="destinations_t_1"/>
          <p:cNvSpPr txBox="1"/>
          <p:nvPr/>
        </p:nvSpPr>
        <p:spPr>
          <a:xfrm>
            <a:off x="548640" y="1783080"/>
            <a:ext cx="3566160" cy="1417320"/>
          </a:xfrm>
          <a:prstGeom prst="rect">
            <a:avLst/>
          </a:prstGeom>
          <a:noFill/>
          <a:ln/>
        </p:spPr>
        <p:txBody>
          <a:bodyPr wrap="square" lIns="0" tIns="0" rIns="0" bIns="0" rtlCol="0" anchor="t"/>
          <a:lstStyle/>
          <a:p>
            <a:pPr indent="0" marL="0">
              <a:buNone/>
            </a:pPr>
            <a:r>
              <a:rPr lang="en-US" sz="11000" b="1" dirty="0">
                <a:solidFill>
                  <a:schemeClr val="accent1"/>
                </a:solidFill>
                <a:latin typeface="Arial" pitchFamily="34" charset="0"/>
                <a:ea typeface="Arial" pitchFamily="34" charset="-122"/>
                <a:cs typeface="Arial" pitchFamily="34" charset="-120"/>
              </a:rPr>
              <a:t>93%</a:t>
            </a:r>
            <a:endParaRPr lang="en-US" sz="11000" dirty="0"/>
          </a:p>
        </p:txBody>
      </p:sp>
      <p:sp>
        <p:nvSpPr>
          <p:cNvPr id="7" name="destinations_t_2"/>
          <p:cNvSpPr txBox="1"/>
          <p:nvPr/>
        </p:nvSpPr>
        <p:spPr>
          <a:xfrm>
            <a:off x="548640" y="3291840"/>
            <a:ext cx="3566160" cy="96012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of crude exports by volume went to Asia-Pacific in 2024</a:t>
            </a:r>
            <a:endParaRPr lang="en-US" sz="2000" dirty="0"/>
          </a:p>
        </p:txBody>
      </p:sp>
      <p:sp>
        <p:nvSpPr>
          <p:cNvPr id="8" name="destinations_t_3"/>
          <p:cNvSpPr txBox="1"/>
          <p:nvPr/>
        </p:nvSpPr>
        <p:spPr>
          <a:xfrm>
            <a:off x="548640" y="4343400"/>
            <a:ext cx="3566160" cy="914400"/>
          </a:xfrm>
          <a:prstGeom prst="rect">
            <a:avLst/>
          </a:prstGeom>
          <a:noFill/>
          <a:ln/>
        </p:spPr>
        <p:txBody>
          <a:bodyPr wrap="square" lIns="0" tIns="0" rIns="0" bIns="0" rtlCol="0" anchor="t"/>
          <a:lstStyle/>
          <a:p>
            <a:pPr indent="0" marL="0">
              <a:buNone/>
            </a:pPr>
            <a:r>
              <a:rPr lang="en-US" sz="1600" dirty="0">
                <a:solidFill>
                  <a:schemeClr val="tx2"/>
                </a:solidFill>
                <a:latin typeface="Arial" pitchFamily="34" charset="0"/>
                <a:ea typeface="Arial" pitchFamily="34" charset="-122"/>
                <a:cs typeface="Arial" pitchFamily="34" charset="-120"/>
              </a:rPr>
              <a:t>OPEC as a whole sent about 72% to Asia. China alone took 27% of the volume and a third of the value.</a:t>
            </a:r>
            <a:endParaRPr lang="en-US" sz="1600" dirty="0"/>
          </a:p>
        </p:txBody>
      </p:sp>
      <p:pic>
        <p:nvPicPr>
          <p:cNvPr id="9" name="fm_map" descr="Map of the Gulf and Asia with Kuwait crude export routes">    </p:cNvPr>
          <p:cNvPicPr>
            <a:picLocks noChangeAspect="1"/>
          </p:cNvPicPr>
          <p:nvPr/>
        </p:nvPicPr>
        <p:blipFill>
          <a:blip r:embed="rId3"/>
          <a:stretch>
            <a:fillRect/>
          </a:stretch>
        </p:blipFill>
        <p:spPr>
          <a:xfrm>
            <a:off x="4343400" y="2011680"/>
            <a:ext cx="7315200" cy="3559347"/>
          </a:xfrm>
          <a:prstGeom prst="rect">
            <a:avLst/>
          </a:prstGeom>
        </p:spPr>
      </p:pic>
      <p:sp>
        <p:nvSpPr>
          <p:cNvPr id="10" name="fm_trunk"/>
          <p:cNvSpPr/>
          <p:nvPr/>
        </p:nvSpPr>
        <p:spPr>
          <a:xfrm>
            <a:off x="5032248" y="3341244"/>
            <a:ext cx="902885" cy="553923"/>
          </a:xfrm>
          <a:custGeom>
            <a:avLst/>
            <a:gdLst/>
            <a:ahLst/>
            <a:cxnLst/>
            <a:rect l="l" t="t" r="r" b="b"/>
            <a:pathLst>
              <a:path w="902885" h="553923">
                <a:moveTo>
                  <a:pt x="0" y="0"/>
                </a:moveTo>
                <a:cubicBezTo>
                  <a:pt x="27432" y="18168"/>
                  <a:pt x="105551" y="76625"/>
                  <a:pt x="164592" y="109005"/>
                </a:cubicBezTo>
                <a:cubicBezTo>
                  <a:pt x="223633" y="141385"/>
                  <a:pt x="288770" y="180068"/>
                  <a:pt x="354245" y="194281"/>
                </a:cubicBezTo>
                <a:cubicBezTo>
                  <a:pt x="419721" y="208494"/>
                  <a:pt x="501001" y="171417"/>
                  <a:pt x="557445" y="194281"/>
                </a:cubicBezTo>
                <a:cubicBezTo>
                  <a:pt x="613890" y="217145"/>
                  <a:pt x="635339" y="271524"/>
                  <a:pt x="692912" y="331464"/>
                </a:cubicBezTo>
                <a:cubicBezTo>
                  <a:pt x="750485" y="391405"/>
                  <a:pt x="867890" y="516847"/>
                  <a:pt x="902885" y="553923"/>
                </a:cubicBezTo>
              </a:path>
            </a:pathLst>
          </a:custGeom>
          <a:ln w="107950" cap="rnd">
            <a:solidFill>
              <a:srgbClr val="FF9F0A"/>
            </a:solidFill>
            <a:prstDash val="solid"/>
            <a:round/>
          </a:ln>
        </p:spPr>
      </p:sp>
      <p:sp>
        <p:nvSpPr>
          <p:cNvPr id="11" name="fm_east"/>
          <p:cNvSpPr/>
          <p:nvPr/>
        </p:nvSpPr>
        <p:spPr>
          <a:xfrm>
            <a:off x="5935133" y="3895168"/>
            <a:ext cx="3386667" cy="1526317"/>
          </a:xfrm>
          <a:custGeom>
            <a:avLst/>
            <a:gdLst/>
            <a:ahLst/>
            <a:cxnLst/>
            <a:rect l="l" t="t" r="r" b="b"/>
            <a:pathLst>
              <a:path w="3386667" h="1526317">
                <a:moveTo>
                  <a:pt x="0" y="0"/>
                </a:moveTo>
                <a:cubicBezTo>
                  <a:pt x="56444" y="75389"/>
                  <a:pt x="203200" y="294140"/>
                  <a:pt x="338667" y="452334"/>
                </a:cubicBezTo>
                <a:cubicBezTo>
                  <a:pt x="474133" y="610527"/>
                  <a:pt x="653627" y="824335"/>
                  <a:pt x="812800" y="949159"/>
                </a:cubicBezTo>
                <a:cubicBezTo>
                  <a:pt x="971973" y="1073984"/>
                  <a:pt x="1130018" y="1165439"/>
                  <a:pt x="1293707" y="1201280"/>
                </a:cubicBezTo>
                <a:cubicBezTo>
                  <a:pt x="1457396" y="1237120"/>
                  <a:pt x="1621084" y="1169147"/>
                  <a:pt x="1794933" y="1164203"/>
                </a:cubicBezTo>
                <a:cubicBezTo>
                  <a:pt x="1968782" y="1159260"/>
                  <a:pt x="2205849" y="1141957"/>
                  <a:pt x="2336800" y="1171618"/>
                </a:cubicBezTo>
                <a:cubicBezTo>
                  <a:pt x="2467751" y="1201280"/>
                  <a:pt x="2490329" y="1289027"/>
                  <a:pt x="2580640" y="1342171"/>
                </a:cubicBezTo>
                <a:cubicBezTo>
                  <a:pt x="2670951" y="1395314"/>
                  <a:pt x="2788356" y="1526317"/>
                  <a:pt x="2878667" y="1490477"/>
                </a:cubicBezTo>
                <a:cubicBezTo>
                  <a:pt x="2968978" y="1454636"/>
                  <a:pt x="3037840" y="1263074"/>
                  <a:pt x="3122507" y="1127127"/>
                </a:cubicBezTo>
                <a:cubicBezTo>
                  <a:pt x="3207173" y="991179"/>
                  <a:pt x="3342640" y="750182"/>
                  <a:pt x="3386667" y="674793"/>
                </a:cubicBezTo>
              </a:path>
            </a:pathLst>
          </a:custGeom>
          <a:ln w="95880" cap="rnd">
            <a:solidFill>
              <a:srgbClr val="FF9F0A"/>
            </a:solidFill>
            <a:prstDash val="solid"/>
            <a:round/>
          </a:ln>
        </p:spPr>
      </p:sp>
      <p:sp>
        <p:nvSpPr>
          <p:cNvPr id="12" name="fm_b0"/>
          <p:cNvSpPr/>
          <p:nvPr/>
        </p:nvSpPr>
        <p:spPr>
          <a:xfrm>
            <a:off x="5935133" y="3895168"/>
            <a:ext cx="765387" cy="196506"/>
          </a:xfrm>
          <a:custGeom>
            <a:avLst/>
            <a:gdLst/>
            <a:ahLst/>
            <a:cxnLst/>
            <a:rect l="l" t="t" r="r" b="b"/>
            <a:pathLst>
              <a:path w="765387" h="196506">
                <a:moveTo>
                  <a:pt x="0" y="0"/>
                </a:moveTo>
                <a:cubicBezTo>
                  <a:pt x="59831" y="19774"/>
                  <a:pt x="231422" y="85894"/>
                  <a:pt x="358987" y="118645"/>
                </a:cubicBezTo>
                <a:cubicBezTo>
                  <a:pt x="486551" y="151396"/>
                  <a:pt x="697653" y="183529"/>
                  <a:pt x="765387" y="196506"/>
                </a:cubicBezTo>
              </a:path>
            </a:pathLst>
          </a:custGeom>
          <a:ln w="15875" cap="rnd">
            <a:solidFill>
              <a:srgbClr val="FF9F0A"/>
            </a:solidFill>
            <a:prstDash val="solid"/>
            <a:round/>
          </a:ln>
        </p:spPr>
      </p:sp>
      <p:sp>
        <p:nvSpPr>
          <p:cNvPr id="13" name="fm_b1"/>
          <p:cNvSpPr/>
          <p:nvPr/>
        </p:nvSpPr>
        <p:spPr>
          <a:xfrm>
            <a:off x="9321800" y="3821015"/>
            <a:ext cx="596053" cy="748946"/>
          </a:xfrm>
          <a:custGeom>
            <a:avLst/>
            <a:gdLst/>
            <a:ahLst/>
            <a:cxnLst/>
            <a:rect l="l" t="t" r="r" b="b"/>
            <a:pathLst>
              <a:path w="596053" h="748946">
                <a:moveTo>
                  <a:pt x="0" y="748946"/>
                </a:moveTo>
                <a:cubicBezTo>
                  <a:pt x="55316" y="680972"/>
                  <a:pt x="232551" y="465928"/>
                  <a:pt x="331893" y="341104"/>
                </a:cubicBezTo>
                <a:cubicBezTo>
                  <a:pt x="431236" y="216280"/>
                  <a:pt x="552027" y="56851"/>
                  <a:pt x="596053" y="0"/>
                </a:cubicBezTo>
              </a:path>
            </a:pathLst>
          </a:custGeom>
          <a:ln w="15875" cap="rnd">
            <a:solidFill>
              <a:srgbClr val="FF9F0A"/>
            </a:solidFill>
            <a:prstDash val="solid"/>
            <a:round/>
          </a:ln>
        </p:spPr>
      </p:sp>
      <p:sp>
        <p:nvSpPr>
          <p:cNvPr id="14" name="fm_b2"/>
          <p:cNvSpPr/>
          <p:nvPr/>
        </p:nvSpPr>
        <p:spPr>
          <a:xfrm>
            <a:off x="9321800" y="3279697"/>
            <a:ext cx="866987" cy="1290263"/>
          </a:xfrm>
          <a:custGeom>
            <a:avLst/>
            <a:gdLst/>
            <a:ahLst/>
            <a:cxnLst/>
            <a:rect l="l" t="t" r="r" b="b"/>
            <a:pathLst>
              <a:path w="866987" h="1290263">
                <a:moveTo>
                  <a:pt x="0" y="1290263"/>
                </a:moveTo>
                <a:cubicBezTo>
                  <a:pt x="68862" y="1229705"/>
                  <a:pt x="279964" y="1041851"/>
                  <a:pt x="413173" y="926913"/>
                </a:cubicBezTo>
                <a:cubicBezTo>
                  <a:pt x="546382" y="811976"/>
                  <a:pt x="731520" y="719285"/>
                  <a:pt x="799253" y="600640"/>
                </a:cubicBezTo>
                <a:cubicBezTo>
                  <a:pt x="866987" y="481995"/>
                  <a:pt x="836507" y="315151"/>
                  <a:pt x="819573" y="215044"/>
                </a:cubicBezTo>
                <a:cubicBezTo>
                  <a:pt x="802640" y="114937"/>
                  <a:pt x="717973" y="35841"/>
                  <a:pt x="697653" y="0"/>
                </a:cubicBezTo>
              </a:path>
            </a:pathLst>
          </a:custGeom>
          <a:ln w="38033" cap="rnd">
            <a:solidFill>
              <a:srgbClr val="FF9F0A"/>
            </a:solidFill>
            <a:prstDash val="solid"/>
            <a:round/>
          </a:ln>
        </p:spPr>
      </p:sp>
      <p:sp>
        <p:nvSpPr>
          <p:cNvPr id="15" name="fm_b3"/>
          <p:cNvSpPr/>
          <p:nvPr/>
        </p:nvSpPr>
        <p:spPr>
          <a:xfrm>
            <a:off x="9321800" y="2901517"/>
            <a:ext cx="1198880" cy="1668444"/>
          </a:xfrm>
          <a:custGeom>
            <a:avLst/>
            <a:gdLst/>
            <a:ahLst/>
            <a:cxnLst/>
            <a:rect l="l" t="t" r="r" b="b"/>
            <a:pathLst>
              <a:path w="1198880" h="1668444">
                <a:moveTo>
                  <a:pt x="0" y="1668444"/>
                </a:moveTo>
                <a:cubicBezTo>
                  <a:pt x="73378" y="1610357"/>
                  <a:pt x="287867" y="1429918"/>
                  <a:pt x="440267" y="1319925"/>
                </a:cubicBezTo>
                <a:cubicBezTo>
                  <a:pt x="592667" y="1209931"/>
                  <a:pt x="817316" y="1148137"/>
                  <a:pt x="914400" y="1008482"/>
                </a:cubicBezTo>
                <a:cubicBezTo>
                  <a:pt x="1011484" y="868827"/>
                  <a:pt x="975360" y="650075"/>
                  <a:pt x="1022773" y="481995"/>
                </a:cubicBezTo>
                <a:cubicBezTo>
                  <a:pt x="1070187" y="313915"/>
                  <a:pt x="1169529" y="80332"/>
                  <a:pt x="1198880" y="0"/>
                </a:cubicBezTo>
              </a:path>
            </a:pathLst>
          </a:custGeom>
          <a:ln w="26304" cap="rnd">
            <a:solidFill>
              <a:srgbClr val="FF9F0A"/>
            </a:solidFill>
            <a:prstDash val="solid"/>
            <a:round/>
          </a:ln>
        </p:spPr>
      </p:sp>
      <p:sp>
        <p:nvSpPr>
          <p:cNvPr id="16" name="fm_b4"/>
          <p:cNvSpPr/>
          <p:nvPr/>
        </p:nvSpPr>
        <p:spPr>
          <a:xfrm>
            <a:off x="9321800" y="2879271"/>
            <a:ext cx="1916853" cy="1690690"/>
          </a:xfrm>
          <a:custGeom>
            <a:avLst/>
            <a:gdLst/>
            <a:ahLst/>
            <a:cxnLst/>
            <a:rect l="l" t="t" r="r" b="b"/>
            <a:pathLst>
              <a:path w="1916853" h="1690690">
                <a:moveTo>
                  <a:pt x="0" y="1690690"/>
                </a:moveTo>
                <a:cubicBezTo>
                  <a:pt x="77893" y="1637547"/>
                  <a:pt x="296898" y="1475646"/>
                  <a:pt x="467360" y="1371832"/>
                </a:cubicBezTo>
                <a:cubicBezTo>
                  <a:pt x="637822" y="1268017"/>
                  <a:pt x="894080" y="1193864"/>
                  <a:pt x="1022773" y="1067804"/>
                </a:cubicBezTo>
                <a:cubicBezTo>
                  <a:pt x="1151467" y="941744"/>
                  <a:pt x="1153724" y="750182"/>
                  <a:pt x="1239520" y="615470"/>
                </a:cubicBezTo>
                <a:cubicBezTo>
                  <a:pt x="1325316" y="480759"/>
                  <a:pt x="1424658" y="362114"/>
                  <a:pt x="1537547" y="259536"/>
                </a:cubicBezTo>
                <a:cubicBezTo>
                  <a:pt x="1650436" y="156957"/>
                  <a:pt x="1853636" y="43256"/>
                  <a:pt x="1916853" y="0"/>
                </a:cubicBezTo>
              </a:path>
            </a:pathLst>
          </a:custGeom>
          <a:ln w="19244" cap="rnd">
            <a:solidFill>
              <a:srgbClr val="FF9F0A"/>
            </a:solidFill>
            <a:prstDash val="solid"/>
            <a:round/>
          </a:ln>
        </p:spPr>
      </p:sp>
      <p:sp>
        <p:nvSpPr>
          <p:cNvPr id="17" name="fm_d0"/>
          <p:cNvSpPr/>
          <p:nvPr/>
        </p:nvSpPr>
        <p:spPr>
          <a:xfrm>
            <a:off x="6599936" y="3991090"/>
            <a:ext cx="201168" cy="201168"/>
          </a:xfrm>
          <a:prstGeom prst="ellipse">
            <a:avLst/>
          </a:prstGeom>
          <a:solidFill>
            <a:srgbClr val="F5F5F7"/>
          </a:solidFill>
          <a:ln w="31750">
            <a:solidFill>
              <a:srgbClr val="FF9F0A"/>
            </a:solidFill>
            <a:prstDash val="solid"/>
          </a:ln>
          <a:effectLst>
            <a:outerShdw sx="100000" sy="100000" kx="0" ky="0" algn="bl" rotWithShape="0" blurRad="152400" dist="50800" dir="5400000">
              <a:srgbClr val="FF9F0A">
                <a:alpha val="90000"/>
              </a:srgbClr>
            </a:outerShdw>
          </a:effectLst>
        </p:spPr>
      </p:sp>
      <p:sp>
        <p:nvSpPr>
          <p:cNvPr id="18" name="fm_l0"/>
          <p:cNvSpPr txBox="1"/>
          <p:nvPr/>
        </p:nvSpPr>
        <p:spPr>
          <a:xfrm>
            <a:off x="6883400" y="3936226"/>
            <a:ext cx="1600200" cy="310896"/>
          </a:xfrm>
          <a:prstGeom prst="rect">
            <a:avLst/>
          </a:prstGeom>
          <a:noFill/>
          <a:ln/>
        </p:spPr>
        <p:txBody>
          <a:bodyPr wrap="square" lIns="0" tIns="0" rIns="0" bIns="0" rtlCol="0" anchor="t"/>
          <a:lstStyle/>
          <a:p>
            <a:pPr algn="l" indent="0" marL="0">
              <a:buNone/>
            </a:pPr>
            <a:r>
              <a:rPr lang="en-US" sz="1500" b="1" dirty="0">
                <a:solidFill>
                  <a:schemeClr val="tx1"/>
                </a:solidFill>
                <a:latin typeface="Arial" pitchFamily="34" charset="0"/>
                <a:ea typeface="Arial" pitchFamily="34" charset="-122"/>
                <a:cs typeface="Arial" pitchFamily="34" charset="-120"/>
              </a:rPr>
              <a:t>India </a:t>
            </a:r>
            <a:pPr algn="l" indent="0" marL="0">
              <a:buNone/>
            </a:pPr>
            <a:r>
              <a:rPr lang="en-US" sz="1500" b="1" dirty="0">
                <a:solidFill>
                  <a:schemeClr val="accent1"/>
                </a:solidFill>
                <a:latin typeface="Arial" pitchFamily="34" charset="0"/>
                <a:ea typeface="Arial" pitchFamily="34" charset="-122"/>
                <a:cs typeface="Arial" pitchFamily="34" charset="-120"/>
              </a:rPr>
              <a:t>11%</a:t>
            </a:r>
            <a:endParaRPr lang="en-US" sz="1500" dirty="0"/>
          </a:p>
        </p:txBody>
      </p:sp>
      <p:sp>
        <p:nvSpPr>
          <p:cNvPr id="19" name="fm_d1"/>
          <p:cNvSpPr/>
          <p:nvPr/>
        </p:nvSpPr>
        <p:spPr>
          <a:xfrm>
            <a:off x="9817269" y="3720431"/>
            <a:ext cx="201168" cy="201168"/>
          </a:xfrm>
          <a:prstGeom prst="ellipse">
            <a:avLst/>
          </a:prstGeom>
          <a:solidFill>
            <a:srgbClr val="F5F5F7"/>
          </a:solidFill>
          <a:ln w="31750">
            <a:solidFill>
              <a:srgbClr val="FF9F0A"/>
            </a:solidFill>
            <a:prstDash val="solid"/>
          </a:ln>
          <a:effectLst>
            <a:outerShdw sx="100000" sy="100000" kx="0" ky="0" algn="bl" rotWithShape="0" blurRad="152400" dist="50800" dir="5400000">
              <a:srgbClr val="FF9F0A">
                <a:alpha val="90000"/>
              </a:srgbClr>
            </a:outerShdw>
          </a:effectLst>
        </p:spPr>
      </p:sp>
      <p:sp>
        <p:nvSpPr>
          <p:cNvPr id="20" name="fm_l1"/>
          <p:cNvSpPr txBox="1"/>
          <p:nvPr/>
        </p:nvSpPr>
        <p:spPr>
          <a:xfrm>
            <a:off x="8098197" y="3665567"/>
            <a:ext cx="1600200" cy="310896"/>
          </a:xfrm>
          <a:prstGeom prst="rect">
            <a:avLst/>
          </a:prstGeom>
          <a:noFill/>
          <a:ln/>
        </p:spPr>
        <p:txBody>
          <a:bodyPr wrap="square" lIns="0" tIns="0" rIns="0" bIns="0" rtlCol="0" anchor="t"/>
          <a:lstStyle/>
          <a:p>
            <a:pPr algn="r" indent="0" marL="0">
              <a:buNone/>
            </a:pPr>
            <a:r>
              <a:rPr lang="en-US" sz="1500" b="1" dirty="0">
                <a:solidFill>
                  <a:schemeClr val="tx1"/>
                </a:solidFill>
                <a:latin typeface="Arial" pitchFamily="34" charset="0"/>
                <a:ea typeface="Arial" pitchFamily="34" charset="-122"/>
                <a:cs typeface="Arial" pitchFamily="34" charset="-120"/>
              </a:rPr>
              <a:t>Taiwan </a:t>
            </a:r>
            <a:pPr algn="r" indent="0" marL="0">
              <a:buNone/>
            </a:pPr>
            <a:r>
              <a:rPr lang="en-US" sz="1500" b="1" dirty="0">
                <a:solidFill>
                  <a:schemeClr val="accent1"/>
                </a:solidFill>
                <a:latin typeface="Arial" pitchFamily="34" charset="0"/>
                <a:ea typeface="Arial" pitchFamily="34" charset="-122"/>
                <a:cs typeface="Arial" pitchFamily="34" charset="-120"/>
              </a:rPr>
              <a:t>11%</a:t>
            </a:r>
            <a:endParaRPr lang="en-US" sz="1500" dirty="0"/>
          </a:p>
        </p:txBody>
      </p:sp>
      <p:sp>
        <p:nvSpPr>
          <p:cNvPr id="21" name="fm_d2"/>
          <p:cNvSpPr/>
          <p:nvPr/>
        </p:nvSpPr>
        <p:spPr>
          <a:xfrm>
            <a:off x="9918869" y="3179113"/>
            <a:ext cx="201168" cy="201168"/>
          </a:xfrm>
          <a:prstGeom prst="ellipse">
            <a:avLst/>
          </a:prstGeom>
          <a:solidFill>
            <a:srgbClr val="F5F5F7"/>
          </a:solidFill>
          <a:ln w="31750">
            <a:solidFill>
              <a:srgbClr val="FF9F0A"/>
            </a:solidFill>
            <a:prstDash val="solid"/>
          </a:ln>
          <a:effectLst>
            <a:outerShdw sx="100000" sy="100000" kx="0" ky="0" algn="bl" rotWithShape="0" blurRad="152400" dist="50800" dir="5400000">
              <a:srgbClr val="FF9F0A">
                <a:alpha val="90000"/>
              </a:srgbClr>
            </a:outerShdw>
          </a:effectLst>
        </p:spPr>
      </p:sp>
      <p:sp>
        <p:nvSpPr>
          <p:cNvPr id="22" name="fm_l2"/>
          <p:cNvSpPr txBox="1"/>
          <p:nvPr/>
        </p:nvSpPr>
        <p:spPr>
          <a:xfrm>
            <a:off x="8199797" y="3124249"/>
            <a:ext cx="1600200" cy="310896"/>
          </a:xfrm>
          <a:prstGeom prst="rect">
            <a:avLst/>
          </a:prstGeom>
          <a:noFill/>
          <a:ln/>
        </p:spPr>
        <p:txBody>
          <a:bodyPr wrap="square" lIns="0" tIns="0" rIns="0" bIns="0" rtlCol="0" anchor="t"/>
          <a:lstStyle/>
          <a:p>
            <a:pPr algn="r" indent="0" marL="0">
              <a:buNone/>
            </a:pPr>
            <a:r>
              <a:rPr lang="en-US" sz="1500" b="1" dirty="0">
                <a:solidFill>
                  <a:schemeClr val="tx1"/>
                </a:solidFill>
                <a:latin typeface="Arial" pitchFamily="34" charset="0"/>
                <a:ea typeface="Arial" pitchFamily="34" charset="-122"/>
                <a:cs typeface="Arial" pitchFamily="34" charset="-120"/>
              </a:rPr>
              <a:t>China </a:t>
            </a:r>
            <a:pPr algn="r" indent="0" marL="0">
              <a:buNone/>
            </a:pPr>
            <a:r>
              <a:rPr lang="en-US" sz="1500" b="1" dirty="0">
                <a:solidFill>
                  <a:schemeClr val="accent1"/>
                </a:solidFill>
                <a:latin typeface="Arial" pitchFamily="34" charset="0"/>
                <a:ea typeface="Arial" pitchFamily="34" charset="-122"/>
                <a:cs typeface="Arial" pitchFamily="34" charset="-120"/>
              </a:rPr>
              <a:t>33%</a:t>
            </a:r>
            <a:endParaRPr lang="en-US" sz="1500" dirty="0"/>
          </a:p>
        </p:txBody>
      </p:sp>
      <p:sp>
        <p:nvSpPr>
          <p:cNvPr id="23" name="fm_d3"/>
          <p:cNvSpPr/>
          <p:nvPr/>
        </p:nvSpPr>
        <p:spPr>
          <a:xfrm>
            <a:off x="10420096" y="2800933"/>
            <a:ext cx="201168" cy="201168"/>
          </a:xfrm>
          <a:prstGeom prst="ellipse">
            <a:avLst/>
          </a:prstGeom>
          <a:solidFill>
            <a:srgbClr val="F5F5F7"/>
          </a:solidFill>
          <a:ln w="31750">
            <a:solidFill>
              <a:srgbClr val="FF9F0A"/>
            </a:solidFill>
            <a:prstDash val="solid"/>
          </a:ln>
          <a:effectLst>
            <a:outerShdw sx="100000" sy="100000" kx="0" ky="0" algn="bl" rotWithShape="0" blurRad="152400" dist="50800" dir="5400000">
              <a:srgbClr val="FF9F0A">
                <a:alpha val="90000"/>
              </a:srgbClr>
            </a:outerShdw>
          </a:effectLst>
        </p:spPr>
      </p:sp>
      <p:sp>
        <p:nvSpPr>
          <p:cNvPr id="24" name="fm_l3"/>
          <p:cNvSpPr txBox="1"/>
          <p:nvPr/>
        </p:nvSpPr>
        <p:spPr>
          <a:xfrm>
            <a:off x="8701024" y="2746069"/>
            <a:ext cx="1600200" cy="310896"/>
          </a:xfrm>
          <a:prstGeom prst="rect">
            <a:avLst/>
          </a:prstGeom>
          <a:noFill/>
          <a:ln/>
        </p:spPr>
        <p:txBody>
          <a:bodyPr wrap="square" lIns="0" tIns="0" rIns="0" bIns="0" rtlCol="0" anchor="t"/>
          <a:lstStyle/>
          <a:p>
            <a:pPr algn="r" indent="0" marL="0">
              <a:buNone/>
            </a:pPr>
            <a:r>
              <a:rPr lang="en-US" sz="1500" b="1" dirty="0">
                <a:solidFill>
                  <a:schemeClr val="tx1"/>
                </a:solidFill>
                <a:latin typeface="Arial" pitchFamily="34" charset="0"/>
                <a:ea typeface="Arial" pitchFamily="34" charset="-122"/>
                <a:cs typeface="Arial" pitchFamily="34" charset="-120"/>
              </a:rPr>
              <a:t>S. Korea </a:t>
            </a:r>
            <a:pPr algn="r" indent="0" marL="0">
              <a:buNone/>
            </a:pPr>
            <a:r>
              <a:rPr lang="en-US" sz="1500" b="1" dirty="0">
                <a:solidFill>
                  <a:schemeClr val="accent1"/>
                </a:solidFill>
                <a:latin typeface="Arial" pitchFamily="34" charset="0"/>
                <a:ea typeface="Arial" pitchFamily="34" charset="-122"/>
                <a:cs typeface="Arial" pitchFamily="34" charset="-120"/>
              </a:rPr>
              <a:t>23%</a:t>
            </a:r>
            <a:endParaRPr lang="en-US" sz="1500" dirty="0"/>
          </a:p>
        </p:txBody>
      </p:sp>
      <p:sp>
        <p:nvSpPr>
          <p:cNvPr id="25" name="fm_d4"/>
          <p:cNvSpPr/>
          <p:nvPr/>
        </p:nvSpPr>
        <p:spPr>
          <a:xfrm>
            <a:off x="11138069" y="2778687"/>
            <a:ext cx="201168" cy="201168"/>
          </a:xfrm>
          <a:prstGeom prst="ellipse">
            <a:avLst/>
          </a:prstGeom>
          <a:solidFill>
            <a:srgbClr val="F5F5F7"/>
          </a:solidFill>
          <a:ln w="31750">
            <a:solidFill>
              <a:srgbClr val="FF9F0A"/>
            </a:solidFill>
            <a:prstDash val="solid"/>
          </a:ln>
          <a:effectLst>
            <a:outerShdw sx="100000" sy="100000" kx="0" ky="0" algn="bl" rotWithShape="0" blurRad="152400" dist="50800" dir="5400000">
              <a:srgbClr val="FF9F0A">
                <a:alpha val="90000"/>
              </a:srgbClr>
            </a:outerShdw>
          </a:effectLst>
        </p:spPr>
      </p:sp>
      <p:sp>
        <p:nvSpPr>
          <p:cNvPr id="26" name="fm_l4"/>
          <p:cNvSpPr txBox="1"/>
          <p:nvPr/>
        </p:nvSpPr>
        <p:spPr>
          <a:xfrm>
            <a:off x="10042855" y="2403783"/>
            <a:ext cx="1600200" cy="310896"/>
          </a:xfrm>
          <a:prstGeom prst="rect">
            <a:avLst/>
          </a:prstGeom>
          <a:noFill/>
          <a:ln/>
        </p:spPr>
        <p:txBody>
          <a:bodyPr wrap="square" lIns="0" tIns="0" rIns="0" bIns="0" rtlCol="0" anchor="t"/>
          <a:lstStyle/>
          <a:p>
            <a:pPr algn="r" indent="0" marL="0">
              <a:buNone/>
            </a:pPr>
            <a:r>
              <a:rPr lang="en-US" sz="1500" b="1" dirty="0">
                <a:solidFill>
                  <a:schemeClr val="tx1"/>
                </a:solidFill>
                <a:latin typeface="Arial" pitchFamily="34" charset="0"/>
                <a:ea typeface="Arial" pitchFamily="34" charset="-122"/>
                <a:cs typeface="Arial" pitchFamily="34" charset="-120"/>
              </a:rPr>
              <a:t>Japan </a:t>
            </a:r>
            <a:pPr algn="r" indent="0" marL="0">
              <a:buNone/>
            </a:pPr>
            <a:r>
              <a:rPr lang="en-US" sz="1500" b="1" dirty="0">
                <a:solidFill>
                  <a:schemeClr val="accent1"/>
                </a:solidFill>
                <a:latin typeface="Arial" pitchFamily="34" charset="0"/>
                <a:ea typeface="Arial" pitchFamily="34" charset="-122"/>
                <a:cs typeface="Arial" pitchFamily="34" charset="-120"/>
              </a:rPr>
              <a:t>17%</a:t>
            </a:r>
            <a:endParaRPr lang="en-US" sz="1500" dirty="0"/>
          </a:p>
        </p:txBody>
      </p:sp>
      <p:sp>
        <p:nvSpPr>
          <p:cNvPr id="27" name="fm_hz"/>
          <p:cNvSpPr/>
          <p:nvPr/>
        </p:nvSpPr>
        <p:spPr>
          <a:xfrm>
            <a:off x="5525685" y="3471518"/>
            <a:ext cx="128016" cy="128016"/>
          </a:xfrm>
          <a:prstGeom prst="ellipse">
            <a:avLst/>
          </a:prstGeom>
          <a:solidFill>
            <a:srgbClr val="FF453A"/>
          </a:solidFill>
          <a:ln/>
        </p:spPr>
      </p:sp>
      <p:sp>
        <p:nvSpPr>
          <p:cNvPr id="28" name="fm_hzl"/>
          <p:cNvSpPr txBox="1"/>
          <p:nvPr/>
        </p:nvSpPr>
        <p:spPr>
          <a:xfrm>
            <a:off x="5681133" y="3078326"/>
            <a:ext cx="1645920" cy="274320"/>
          </a:xfrm>
          <a:prstGeom prst="rect">
            <a:avLst/>
          </a:prstGeom>
          <a:noFill/>
          <a:ln/>
        </p:spPr>
        <p:txBody>
          <a:bodyPr wrap="square" lIns="0" tIns="0" rIns="0" bIns="0" rtlCol="0" anchor="t"/>
          <a:lstStyle/>
          <a:p>
            <a:pPr indent="0" marL="0">
              <a:buNone/>
            </a:pPr>
            <a:r>
              <a:rPr lang="en-US" sz="1300" dirty="0">
                <a:solidFill>
                  <a:schemeClr val="accent4"/>
                </a:solidFill>
                <a:latin typeface="Arial" pitchFamily="34" charset="0"/>
                <a:ea typeface="Arial" pitchFamily="34" charset="-122"/>
                <a:cs typeface="Arial" pitchFamily="34" charset="-120"/>
              </a:rPr>
              <a:t>Strait of Hormuz</a:t>
            </a:r>
            <a:endParaRPr lang="en-US" sz="1300" dirty="0"/>
          </a:p>
        </p:txBody>
      </p:sp>
      <p:sp>
        <p:nvSpPr>
          <p:cNvPr id="29" name="fm_tk0"/>
          <p:cNvSpPr/>
          <p:nvPr/>
        </p:nvSpPr>
        <p:spPr>
          <a:xfrm>
            <a:off x="4968240" y="3277236"/>
            <a:ext cx="128016" cy="128016"/>
          </a:xfrm>
          <a:prstGeom prst="ellipse">
            <a:avLst/>
          </a:prstGeom>
          <a:solidFill>
            <a:srgbClr val="FFFFFF"/>
          </a:solidFill>
          <a:ln/>
          <a:effectLst>
            <a:outerShdw sx="100000" sy="100000" kx="0" ky="0" algn="bl" rotWithShape="0" blurRad="127000" dist="50800" dir="5400000">
              <a:srgbClr val="FFD60A">
                <a:alpha val="100000"/>
              </a:srgbClr>
            </a:outerShdw>
          </a:effectLst>
        </p:spPr>
      </p:sp>
      <p:sp>
        <p:nvSpPr>
          <p:cNvPr id="30" name="fm_tk2"/>
          <p:cNvSpPr/>
          <p:nvPr/>
        </p:nvSpPr>
        <p:spPr>
          <a:xfrm>
            <a:off x="4968240" y="3277236"/>
            <a:ext cx="128016" cy="128016"/>
          </a:xfrm>
          <a:prstGeom prst="ellipse">
            <a:avLst/>
          </a:prstGeom>
          <a:solidFill>
            <a:srgbClr val="FFFFFF"/>
          </a:solidFill>
          <a:ln/>
          <a:effectLst>
            <a:outerShdw sx="100000" sy="100000" kx="0" ky="0" algn="bl" rotWithShape="0" blurRad="127000" dist="50800" dir="5400000">
              <a:srgbClr val="FFD60A">
                <a:alpha val="100000"/>
              </a:srgbClr>
            </a:outerShdw>
          </a:effectLst>
        </p:spPr>
      </p:sp>
      <p:sp>
        <p:nvSpPr>
          <p:cNvPr id="31" name="fm_tk1"/>
          <p:cNvSpPr/>
          <p:nvPr/>
        </p:nvSpPr>
        <p:spPr>
          <a:xfrm>
            <a:off x="4968240" y="3277236"/>
            <a:ext cx="128016" cy="128016"/>
          </a:xfrm>
          <a:prstGeom prst="ellipse">
            <a:avLst/>
          </a:prstGeom>
          <a:solidFill>
            <a:srgbClr val="FFFFFF"/>
          </a:solidFill>
          <a:ln/>
          <a:effectLst>
            <a:outerShdw sx="100000" sy="100000" kx="0" ky="0" algn="bl" rotWithShape="0" blurRad="127000" dist="50800" dir="5400000">
              <a:srgbClr val="FFD60A">
                <a:alpha val="100000"/>
              </a:srgbClr>
            </a:outerShdw>
          </a:effectLst>
        </p:spPr>
      </p:sp>
      <p:sp>
        <p:nvSpPr>
          <p:cNvPr id="32" name="fm_kw"/>
          <p:cNvSpPr/>
          <p:nvPr/>
        </p:nvSpPr>
        <p:spPr>
          <a:xfrm>
            <a:off x="4895088" y="3204084"/>
            <a:ext cx="274320" cy="274320"/>
          </a:xfrm>
          <a:prstGeom prst="ellipse">
            <a:avLst/>
          </a:prstGeom>
          <a:solidFill>
            <a:srgbClr val="FF9F0A"/>
          </a:solidFill>
          <a:ln/>
          <a:effectLst>
            <a:outerShdw sx="100000" sy="100000" kx="0" ky="0" algn="bl" rotWithShape="0" blurRad="228600" dist="50800" dir="5400000">
              <a:srgbClr val="FF9F0A">
                <a:alpha val="95000"/>
              </a:srgbClr>
            </a:outerShdw>
          </a:effectLst>
        </p:spPr>
      </p:sp>
      <p:sp>
        <p:nvSpPr>
          <p:cNvPr id="33" name="fm_kwl"/>
          <p:cNvSpPr txBox="1"/>
          <p:nvPr/>
        </p:nvSpPr>
        <p:spPr>
          <a:xfrm>
            <a:off x="3706368" y="2957196"/>
            <a:ext cx="1188720" cy="292608"/>
          </a:xfrm>
          <a:prstGeom prst="rect">
            <a:avLst/>
          </a:prstGeom>
          <a:noFill/>
          <a:ln/>
        </p:spPr>
        <p:txBody>
          <a:bodyPr wrap="square" lIns="0" tIns="0" rIns="0" bIns="0" rtlCol="0" anchor="t"/>
          <a:lstStyle/>
          <a:p>
            <a:pPr algn="r" indent="0" marL="0">
              <a:buNone/>
            </a:pPr>
            <a:r>
              <a:rPr lang="en-US" sz="1500" b="1" dirty="0">
                <a:solidFill>
                  <a:schemeClr val="tx1"/>
                </a:solidFill>
                <a:latin typeface="Arial" pitchFamily="34" charset="0"/>
                <a:ea typeface="Arial" pitchFamily="34" charset="-122"/>
                <a:cs typeface="Arial" pitchFamily="34" charset="-120"/>
              </a:rPr>
              <a:t>Kuwait</a:t>
            </a:r>
            <a:endParaRPr lang="en-US" sz="1500" dirty="0"/>
          </a:p>
        </p:txBody>
      </p:sp>
      <p:sp>
        <p:nvSpPr>
          <p:cNvPr id="34" name="fm_lg"/>
          <p:cNvSpPr txBox="1"/>
          <p:nvPr/>
        </p:nvSpPr>
        <p:spPr>
          <a:xfrm>
            <a:off x="4343400" y="5596128"/>
            <a:ext cx="5943600" cy="274320"/>
          </a:xfrm>
          <a:prstGeom prst="rect">
            <a:avLst/>
          </a:prstGeom>
          <a:noFill/>
          <a:ln/>
        </p:spPr>
        <p:txBody>
          <a:bodyPr wrap="square" lIns="0" tIns="0" rIns="0" bIns="0" rtlCol="0" anchor="t"/>
          <a:lstStyle/>
          <a:p>
            <a:pPr indent="0" marL="0">
              <a:buNone/>
            </a:pPr>
            <a:r>
              <a:rPr lang="en-US" sz="1300" dirty="0">
                <a:solidFill>
                  <a:schemeClr val="tx2"/>
                </a:solidFill>
                <a:latin typeface="Arial" pitchFamily="34" charset="0"/>
                <a:ea typeface="Arial" pitchFamily="34" charset="-122"/>
                <a:cs typeface="Arial" pitchFamily="34" charset="-120"/>
              </a:rPr>
              <a:t>Labels and line widths: share of 2024 crude export value (OEC)</a:t>
            </a:r>
            <a:endParaRPr lang="en-US" sz="1300" dirty="0"/>
          </a:p>
        </p:txBody>
      </p:sp>
      <p:sp>
        <p:nvSpPr>
          <p:cNvPr id="35" name="!!source"/>
          <p:cNvSpPr txBox="1"/>
          <p:nvPr/>
        </p:nvSpPr>
        <p:spPr>
          <a:xfrm>
            <a:off x="548640" y="5943600"/>
            <a:ext cx="9692640" cy="274320"/>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Sources: Energy Institute (2025), by volume; OEC (n.d.), 2024 data by value; OPEC (2025b). Routes stylised; map: Natural Earth (n.d.).</a:t>
            </a:r>
            <a:endParaRPr lang="en-US" sz="1200" dirty="0"/>
          </a:p>
        </p:txBody>
      </p:sp>
      <p:sp>
        <p:nvSpPr>
          <p:cNvPr id="36" name="!!home_bg"/>
          <p:cNvSpPr/>
          <p:nvPr/>
        </p:nvSpPr>
        <p:spPr>
          <a:xfrm>
            <a:off x="10637215" y="6272784"/>
            <a:ext cx="384048" cy="384048"/>
          </a:xfrm>
          <a:prstGeom prst="roundRect">
            <a:avLst>
              <a:gd name="adj" fmla="val 23810"/>
            </a:avLst>
          </a:prstGeom>
          <a:solidFill>
            <a:srgbClr val="2C2C2E"/>
          </a:solidFill>
          <a:ln/>
        </p:spPr>
      </p:sp>
      <p:pic>
        <p:nvPicPr>
          <p:cNvPr id="37" name="!!home_ic" descr="Decorative graphic">    </p:cNvPr>
          <p:cNvPicPr>
            <a:picLocks noChangeAspect="1"/>
          </p:cNvPicPr>
          <p:nvPr/>
        </p:nvPicPr>
        <p:blipFill>
          <a:blip r:embed="rId4"/>
          <a:stretch>
            <a:fillRect/>
          </a:stretch>
        </p:blipFill>
        <p:spPr>
          <a:xfrm>
            <a:off x="10719511" y="6355080"/>
            <a:ext cx="219456" cy="219456"/>
          </a:xfrm>
          <a:prstGeom prst="rect">
            <a:avLst/>
          </a:prstGeom>
        </p:spPr>
      </p:pic>
      <p:sp>
        <p:nvSpPr>
          <p:cNvPr id="38" name="!!home_hit">
            <a:hlinkClick r:id="rId5" tooltip="Back to contents" action="ppaction://hlinksldjump" highlightClick="1"/>
          </p:cNvPr>
          <p:cNvSpPr/>
          <p:nvPr/>
        </p:nvSpPr>
        <p:spPr>
          <a:xfrm>
            <a:off x="10637215" y="6272784"/>
            <a:ext cx="384048" cy="384048"/>
          </a:xfrm>
          <a:prstGeom prst="roundRect">
            <a:avLst>
              <a:gd name="adj" fmla="val 23810"/>
            </a:avLst>
          </a:prstGeom>
          <a:solidFill>
            <a:srgbClr val="000000">
              <a:alpha val="0"/>
            </a:srgbClr>
          </a:solidFill>
          <a:ln/>
        </p:spPr>
      </p:sp>
      <p:sp>
        <p:nvSpPr>
          <p:cNvPr id="40" name="!!footer"/>
          <p:cNvSpPr txBox="1"/>
          <p:nvPr/>
        </p:nvSpPr>
        <p:spPr>
          <a:xfrm>
            <a:off x="548640" y="6327648"/>
            <a:ext cx="5486400" cy="292608"/>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Kuwait Oil &amp; Gas  ·  EGCH2230</a:t>
            </a:r>
            <a:endParaRPr lang="en-US" sz="1200" dirty="0"/>
          </a:p>
        </p:txBody>
      </p:sp>
      <p:sp>
        <p:nvSpPr>
          <p:cNvPr id="41" name="!!num"/>
          <p:cNvSpPr txBox="1"/>
          <p:nvPr/>
        </p:nvSpPr>
        <p:spPr>
          <a:xfrm>
            <a:off x="11094415" y="6327648"/>
            <a:ext cx="548640" cy="292608"/>
          </a:xfrm>
          <a:prstGeom prst="rect">
            <a:avLst/>
          </a:prstGeom>
          <a:noFill/>
          <a:ln/>
        </p:spPr>
        <p:txBody>
          <a:bodyPr wrap="square" lIns="0" tIns="0" rIns="0" bIns="0" rtlCol="0" anchor="ctr"/>
          <a:lstStyle/>
          <a:p>
            <a:pPr algn="r" indent="0" marL="0">
              <a:buNone/>
            </a:pPr>
            <a:r>
              <a:rPr lang="en-US" sz="1200" dirty="0">
                <a:solidFill>
                  <a:schemeClr val="tx2"/>
                </a:solidFill>
                <a:latin typeface="Arial" pitchFamily="34" charset="0"/>
                <a:ea typeface="Arial" pitchFamily="34" charset="-122"/>
                <a:cs typeface="Arial" pitchFamily="34" charset="-120"/>
              </a:rPr>
              <a:t>20</a:t>
            </a:r>
            <a:endParaRPr lang="en-US" sz="1200" dirty="0"/>
          </a:p>
        </p:txBody>
      </p:sp>
      <p:pic>
        <p:nvPicPr>
          <p:cNvPr id="42" name="!!badge" descr="University of Technology and Applied Sciences, Salalah">    </p:cNvPr>
          <p:cNvPicPr>
            <a:picLocks noChangeAspect="1"/>
          </p:cNvPicPr>
          <p:nvPr/>
        </p:nvPicPr>
        <p:blipFill>
          <a:blip r:embed="rId6"/>
          <a:stretch>
            <a:fillRect/>
          </a:stretch>
        </p:blipFill>
        <p:spPr>
          <a:xfrm>
            <a:off x="9677095" y="274320"/>
            <a:ext cx="1965960" cy="80987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0" presetClass="path" presetSubtype="0" fill="hold" grpId="0" nodeType="afterEffect" repeatCount="indefinite" autoRev="1">
                                  <p:stCondLst>
                                    <p:cond delay="0"/>
                                  </p:stCondLst>
                                  <p:childTnLst>
                                    <p:animMotion origin="layout" path="M 0 0 L 0.0350 -0.0300 E" pathEditMode="relative" ptsTypes="">
                                      <p:cBhvr>
                                        <p:cTn id="5" dur="13000" fill="hold" accel="50000" decel="50000"/>
                                        <p:tgtEl>
                                          <p:spTgt spid="2"/>
                                        </p:tgtEl>
                                        <p:attrNameLst>
                                          <p:attrName>ppt_x</p:attrName>
                                          <p:attrName>ppt_y</p:attrName>
                                        </p:attrNameLst>
                                      </p:cBhvr>
                                      <p:rCtr x="0" y="0"/>
                                    </p:animMotion>
                                  </p:childTnLst>
                                </p:cTn>
                              </p:par>
                              <p:par>
                                <p:cTn id="8" presetID="0" presetClass="path" presetSubtype="0" fill="hold" grpId="0" nodeType="withEffect" repeatCount="indefinite" autoRev="1">
                                  <p:stCondLst>
                                    <p:cond delay="0"/>
                                  </p:stCondLst>
                                  <p:childTnLst>
                                    <p:animMotion origin="layout" path="M 0 0 L -0.0300 0.0250 E" pathEditMode="relative" ptsTypes="">
                                      <p:cBhvr>
                                        <p:cTn id="7" dur="15000" fill="hold" accel="50000" decel="50000"/>
                                        <p:tgtEl>
                                          <p:spTgt spid="3"/>
                                        </p:tgtEl>
                                        <p:attrNameLst>
                                          <p:attrName>ppt_x</p:attrName>
                                          <p:attrName>ppt_y</p:attrName>
                                        </p:attrNameLst>
                                      </p:cBhvr>
                                      <p:rCtr x="0" y="0"/>
                                    </p:animMotion>
                                  </p:childTnLst>
                                </p:cTn>
                              </p:par>
                              <p:par>
                                <p:cTn id="13" presetID="53" presetClass="entr" presetSubtype="16" fill="hold" grpId="0" nodeType="withEffect">
                                  <p:stCondLst>
                                    <p:cond delay="250"/>
                                  </p:stCondLst>
                                  <p:childTnLst>
                                    <p:set>
                                      <p:cBhvr>
                                        <p:cTn id="9" dur="1" fill="hold">
                                          <p:stCondLst>
                                            <p:cond delay="0"/>
                                          </p:stCondLst>
                                        </p:cTn>
                                        <p:tgtEl>
                                          <p:spTgt spid="6"/>
                                        </p:tgtEl>
                                        <p:attrNameLst>
                                          <p:attrName>style.visibility</p:attrName>
                                        </p:attrNameLst>
                                      </p:cBhvr>
                                      <p:to>
                                        <p:strVal val="visible"/>
                                      </p:to>
                                    </p:set>
                                    <p:anim calcmode="lin" valueType="num">
                                      <p:cBhvr>
                                        <p:cTn id="10" dur="1300" fill="hold" decel="100000"/>
                                        <p:tgtEl>
                                          <p:spTgt spid="6"/>
                                        </p:tgtEl>
                                        <p:attrNameLst>
                                          <p:attrName>ppt_w</p:attrName>
                                        </p:attrNameLst>
                                      </p:cBhvr>
                                      <p:tavLst>
                                        <p:tav tm="0">
                                          <p:val>
                                            <p:strVal val="#ppt_w*0.880"/>
                                          </p:val>
                                        </p:tav>
                                        <p:tav tm="100000">
                                          <p:val>
                                            <p:strVal val="#ppt_w"/>
                                          </p:val>
                                        </p:tav>
                                      </p:tavLst>
                                    </p:anim>
                                    <p:anim calcmode="lin" valueType="num">
                                      <p:cBhvr>
                                        <p:cTn id="11" dur="1300" fill="hold" decel="100000"/>
                                        <p:tgtEl>
                                          <p:spTgt spid="6"/>
                                        </p:tgtEl>
                                        <p:attrNameLst>
                                          <p:attrName>ppt_h</p:attrName>
                                        </p:attrNameLst>
                                      </p:cBhvr>
                                      <p:tavLst>
                                        <p:tav tm="0">
                                          <p:val>
                                            <p:strVal val="#ppt_h*0.880"/>
                                          </p:val>
                                        </p:tav>
                                        <p:tav tm="100000">
                                          <p:val>
                                            <p:strVal val="#ppt_h"/>
                                          </p:val>
                                        </p:tav>
                                      </p:tavLst>
                                    </p:anim>
                                    <p:animEffect transition="in" filter="fade">
                                      <p:cBhvr>
                                        <p:cTn id="12" dur="909" decel="100000"/>
                                        <p:tgtEl>
                                          <p:spTgt spid="6"/>
                                        </p:tgtEl>
                                      </p:cBhvr>
                                    </p:animEffect>
                                  </p:childTnLst>
                                </p:cTn>
                              </p:par>
                              <p:par>
                                <p:cTn id="16" presetID="10" presetClass="entr" presetSubtype="0" fill="hold" grpId="0" nodeType="withEffect">
                                  <p:stCondLst>
                                    <p:cond delay="30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1200" decel="100000"/>
                                        <p:tgtEl>
                                          <p:spTgt spid="9"/>
                                        </p:tgtEl>
                                      </p:cBhvr>
                                    </p:animEffect>
                                  </p:childTnLst>
                                </p:cTn>
                              </p:par>
                              <p:par>
                                <p:cTn id="21" presetID="42" presetClass="entr" presetSubtype="0" fill="hold" grpId="0" nodeType="withEffect">
                                  <p:stCondLst>
                                    <p:cond delay="60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40" decel="100000"/>
                                        <p:tgtEl>
                                          <p:spTgt spid="7"/>
                                        </p:tgtEl>
                                      </p:cBhvr>
                                    </p:animEffect>
                                    <p:anim calcmode="lin" valueType="num">
                                      <p:cBhvr>
                                        <p:cTn id="19" dur="800" fill="hold" decel="100000"/>
                                        <p:tgtEl>
                                          <p:spTgt spid="7"/>
                                        </p:tgtEl>
                                        <p:attrNameLst>
                                          <p:attrName>ppt_x</p:attrName>
                                        </p:attrNameLst>
                                      </p:cBhvr>
                                      <p:tavLst>
                                        <p:tav tm="0">
                                          <p:val>
                                            <p:strVal val="#ppt_x"/>
                                          </p:val>
                                        </p:tav>
                                        <p:tav tm="100000">
                                          <p:val>
                                            <p:strVal val="#ppt_x"/>
                                          </p:val>
                                        </p:tav>
                                      </p:tavLst>
                                    </p:anim>
                                    <p:anim calcmode="lin" valueType="num">
                                      <p:cBhvr>
                                        <p:cTn id="20" dur="800" fill="hold" decel="100000"/>
                                        <p:tgtEl>
                                          <p:spTgt spid="7"/>
                                        </p:tgtEl>
                                        <p:attrNameLst>
                                          <p:attrName>ppt_y</p:attrName>
                                        </p:attrNameLst>
                                      </p:cBhvr>
                                      <p:tavLst>
                                        <p:tav tm="0">
                                          <p:val>
                                            <p:strVal val="#ppt_y+0.0250"/>
                                          </p:val>
                                        </p:tav>
                                        <p:tav tm="100000">
                                          <p:val>
                                            <p:strVal val="#ppt_y"/>
                                          </p:val>
                                        </p:tav>
                                      </p:tavLst>
                                    </p:anim>
                                  </p:childTnLst>
                                </p:cTn>
                              </p:par>
                              <p:par>
                                <p:cTn id="26" presetID="53" presetClass="entr" presetSubtype="16" fill="hold" grpId="0" nodeType="withEffect">
                                  <p:stCondLst>
                                    <p:cond delay="600"/>
                                  </p:stCondLst>
                                  <p:childTnLst>
                                    <p:set>
                                      <p:cBhvr>
                                        <p:cTn id="22" dur="1" fill="hold">
                                          <p:stCondLst>
                                            <p:cond delay="0"/>
                                          </p:stCondLst>
                                        </p:cTn>
                                        <p:tgtEl>
                                          <p:spTgt spid="32"/>
                                        </p:tgtEl>
                                        <p:attrNameLst>
                                          <p:attrName>style.visibility</p:attrName>
                                        </p:attrNameLst>
                                      </p:cBhvr>
                                      <p:to>
                                        <p:strVal val="visible"/>
                                      </p:to>
                                    </p:set>
                                    <p:anim calcmode="lin" valueType="num">
                                      <p:cBhvr>
                                        <p:cTn id="23" dur="700" fill="hold" decel="100000"/>
                                        <p:tgtEl>
                                          <p:spTgt spid="32"/>
                                        </p:tgtEl>
                                        <p:attrNameLst>
                                          <p:attrName>ppt_w</p:attrName>
                                        </p:attrNameLst>
                                      </p:cBhvr>
                                      <p:tavLst>
                                        <p:tav tm="0">
                                          <p:val>
                                            <p:strVal val="#ppt_w*2.000"/>
                                          </p:val>
                                        </p:tav>
                                        <p:tav tm="100000">
                                          <p:val>
                                            <p:strVal val="#ppt_w"/>
                                          </p:val>
                                        </p:tav>
                                      </p:tavLst>
                                    </p:anim>
                                    <p:anim calcmode="lin" valueType="num">
                                      <p:cBhvr>
                                        <p:cTn id="24" dur="700" fill="hold" decel="100000"/>
                                        <p:tgtEl>
                                          <p:spTgt spid="32"/>
                                        </p:tgtEl>
                                        <p:attrNameLst>
                                          <p:attrName>ppt_h</p:attrName>
                                        </p:attrNameLst>
                                      </p:cBhvr>
                                      <p:tavLst>
                                        <p:tav tm="0">
                                          <p:val>
                                            <p:strVal val="#ppt_h*2.000"/>
                                          </p:val>
                                        </p:tav>
                                        <p:tav tm="100000">
                                          <p:val>
                                            <p:strVal val="#ppt_h"/>
                                          </p:val>
                                        </p:tav>
                                      </p:tavLst>
                                    </p:anim>
                                    <p:animEffect transition="in" filter="fade">
                                      <p:cBhvr>
                                        <p:cTn id="25" dur="489" decel="100000"/>
                                        <p:tgtEl>
                                          <p:spTgt spid="32"/>
                                        </p:tgtEl>
                                      </p:cBhvr>
                                    </p:animEffect>
                                  </p:childTnLst>
                                </p:cTn>
                              </p:par>
                              <p:par>
                                <p:cTn id="29" presetID="10" presetClass="entr" presetSubtype="0" fill="hold" grpId="0" nodeType="withEffect">
                                  <p:stCondLst>
                                    <p:cond delay="700"/>
                                  </p:stCondLst>
                                  <p:childTnLst>
                                    <p:set>
                                      <p:cBhvr>
                                        <p:cTn id="27" dur="1" fill="hold">
                                          <p:stCondLst>
                                            <p:cond delay="0"/>
                                          </p:stCondLst>
                                        </p:cTn>
                                        <p:tgtEl>
                                          <p:spTgt spid="33"/>
                                        </p:tgtEl>
                                        <p:attrNameLst>
                                          <p:attrName>style.visibility</p:attrName>
                                        </p:attrNameLst>
                                      </p:cBhvr>
                                      <p:to>
                                        <p:strVal val="visible"/>
                                      </p:to>
                                    </p:set>
                                    <p:animEffect transition="in" filter="fade">
                                      <p:cBhvr>
                                        <p:cTn id="28" dur="700" decel="100000"/>
                                        <p:tgtEl>
                                          <p:spTgt spid="33"/>
                                        </p:tgtEl>
                                      </p:cBhvr>
                                    </p:animEffect>
                                  </p:childTnLst>
                                </p:cTn>
                              </p:par>
                              <p:par>
                                <p:cTn id="32" presetID="22" presetClass="entr" presetSubtype="8" fill="hold" grpId="0" nodeType="withEffect">
                                  <p:stCondLst>
                                    <p:cond delay="750"/>
                                  </p:stCondLst>
                                  <p:childTnLst>
                                    <p:set>
                                      <p:cBhvr>
                                        <p:cTn id="30" dur="1" fill="hold">
                                          <p:stCondLst>
                                            <p:cond delay="0"/>
                                          </p:stCondLst>
                                        </p:cTn>
                                        <p:tgtEl>
                                          <p:spTgt spid="10"/>
                                        </p:tgtEl>
                                        <p:attrNameLst>
                                          <p:attrName>style.visibility</p:attrName>
                                        </p:attrNameLst>
                                      </p:cBhvr>
                                      <p:to>
                                        <p:strVal val="visible"/>
                                      </p:to>
                                    </p:set>
                                    <p:animEffect transition="in" filter="wipe(left)">
                                      <p:cBhvr>
                                        <p:cTn id="31" dur="700" decel="100000"/>
                                        <p:tgtEl>
                                          <p:spTgt spid="10"/>
                                        </p:tgtEl>
                                      </p:cBhvr>
                                    </p:animEffect>
                                  </p:childTnLst>
                                </p:cTn>
                              </p:par>
                              <p:par>
                                <p:cTn id="37" presetID="42" presetClass="entr" presetSubtype="0" fill="hold" grpId="0" nodeType="withEffect">
                                  <p:stCondLst>
                                    <p:cond delay="80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640" decel="100000"/>
                                        <p:tgtEl>
                                          <p:spTgt spid="8"/>
                                        </p:tgtEl>
                                      </p:cBhvr>
                                    </p:animEffect>
                                    <p:anim calcmode="lin" valueType="num">
                                      <p:cBhvr>
                                        <p:cTn id="35" dur="800" fill="hold" decel="100000"/>
                                        <p:tgtEl>
                                          <p:spTgt spid="8"/>
                                        </p:tgtEl>
                                        <p:attrNameLst>
                                          <p:attrName>ppt_x</p:attrName>
                                        </p:attrNameLst>
                                      </p:cBhvr>
                                      <p:tavLst>
                                        <p:tav tm="0">
                                          <p:val>
                                            <p:strVal val="#ppt_x"/>
                                          </p:val>
                                        </p:tav>
                                        <p:tav tm="100000">
                                          <p:val>
                                            <p:strVal val="#ppt_x"/>
                                          </p:val>
                                        </p:tav>
                                      </p:tavLst>
                                    </p:anim>
                                    <p:anim calcmode="lin" valueType="num">
                                      <p:cBhvr>
                                        <p:cTn id="36" dur="800" fill="hold" decel="100000"/>
                                        <p:tgtEl>
                                          <p:spTgt spid="8"/>
                                        </p:tgtEl>
                                        <p:attrNameLst>
                                          <p:attrName>ppt_y</p:attrName>
                                        </p:attrNameLst>
                                      </p:cBhvr>
                                      <p:tavLst>
                                        <p:tav tm="0">
                                          <p:val>
                                            <p:strVal val="#ppt_y+0.0250"/>
                                          </p:val>
                                        </p:tav>
                                        <p:tav tm="100000">
                                          <p:val>
                                            <p:strVal val="#ppt_y"/>
                                          </p:val>
                                        </p:tav>
                                      </p:tavLst>
                                    </p:anim>
                                  </p:childTnLst>
                                </p:cTn>
                              </p:par>
                              <p:par>
                                <p:cTn id="40" presetID="22" presetClass="entr" presetSubtype="8" fill="hold" grpId="0" nodeType="withEffect">
                                  <p:stCondLst>
                                    <p:cond delay="1100"/>
                                  </p:stCondLst>
                                  <p:childTnLst>
                                    <p:set>
                                      <p:cBhvr>
                                        <p:cTn id="38" dur="1" fill="hold">
                                          <p:stCondLst>
                                            <p:cond delay="0"/>
                                          </p:stCondLst>
                                        </p:cTn>
                                        <p:tgtEl>
                                          <p:spTgt spid="11"/>
                                        </p:tgtEl>
                                        <p:attrNameLst>
                                          <p:attrName>style.visibility</p:attrName>
                                        </p:attrNameLst>
                                      </p:cBhvr>
                                      <p:to>
                                        <p:strVal val="visible"/>
                                      </p:to>
                                    </p:set>
                                    <p:animEffect transition="in" filter="wipe(left)">
                                      <p:cBhvr>
                                        <p:cTn id="39" dur="900" decel="100000"/>
                                        <p:tgtEl>
                                          <p:spTgt spid="11"/>
                                        </p:tgtEl>
                                      </p:cBhvr>
                                    </p:animEffect>
                                  </p:childTnLst>
                                </p:cTn>
                              </p:par>
                              <p:par>
                                <p:cTn id="43" presetID="22" presetClass="entr" presetSubtype="8" fill="hold" grpId="0" nodeType="withEffect">
                                  <p:stCondLst>
                                    <p:cond delay="1150"/>
                                  </p:stCondLst>
                                  <p:childTnLst>
                                    <p:set>
                                      <p:cBhvr>
                                        <p:cTn id="41" dur="1" fill="hold">
                                          <p:stCondLst>
                                            <p:cond delay="0"/>
                                          </p:stCondLst>
                                        </p:cTn>
                                        <p:tgtEl>
                                          <p:spTgt spid="12"/>
                                        </p:tgtEl>
                                        <p:attrNameLst>
                                          <p:attrName>style.visibility</p:attrName>
                                        </p:attrNameLst>
                                      </p:cBhvr>
                                      <p:to>
                                        <p:strVal val="visible"/>
                                      </p:to>
                                    </p:set>
                                    <p:animEffect transition="in" filter="wipe(left)">
                                      <p:cBhvr>
                                        <p:cTn id="42" dur="900" decel="100000"/>
                                        <p:tgtEl>
                                          <p:spTgt spid="12"/>
                                        </p:tgtEl>
                                      </p:cBhvr>
                                    </p:animEffect>
                                  </p:childTnLst>
                                </p:cTn>
                              </p:par>
                              <p:par>
                                <p:cTn id="48" presetID="53" presetClass="entr" presetSubtype="16" fill="hold" grpId="0" nodeType="withEffect">
                                  <p:stCondLst>
                                    <p:cond delay="1200"/>
                                  </p:stCondLst>
                                  <p:childTnLst>
                                    <p:set>
                                      <p:cBhvr>
                                        <p:cTn id="44" dur="1" fill="hold">
                                          <p:stCondLst>
                                            <p:cond delay="0"/>
                                          </p:stCondLst>
                                        </p:cTn>
                                        <p:tgtEl>
                                          <p:spTgt spid="27"/>
                                        </p:tgtEl>
                                        <p:attrNameLst>
                                          <p:attrName>style.visibility</p:attrName>
                                        </p:attrNameLst>
                                      </p:cBhvr>
                                      <p:to>
                                        <p:strVal val="visible"/>
                                      </p:to>
                                    </p:set>
                                    <p:anim calcmode="lin" valueType="num">
                                      <p:cBhvr>
                                        <p:cTn id="45" dur="600" fill="hold" decel="100000"/>
                                        <p:tgtEl>
                                          <p:spTgt spid="27"/>
                                        </p:tgtEl>
                                        <p:attrNameLst>
                                          <p:attrName>ppt_w</p:attrName>
                                        </p:attrNameLst>
                                      </p:cBhvr>
                                      <p:tavLst>
                                        <p:tav tm="0">
                                          <p:val>
                                            <p:strVal val="#ppt_w*2.000"/>
                                          </p:val>
                                        </p:tav>
                                        <p:tav tm="100000">
                                          <p:val>
                                            <p:strVal val="#ppt_w"/>
                                          </p:val>
                                        </p:tav>
                                      </p:tavLst>
                                    </p:anim>
                                    <p:anim calcmode="lin" valueType="num">
                                      <p:cBhvr>
                                        <p:cTn id="46" dur="600" fill="hold" decel="100000"/>
                                        <p:tgtEl>
                                          <p:spTgt spid="27"/>
                                        </p:tgtEl>
                                        <p:attrNameLst>
                                          <p:attrName>ppt_h</p:attrName>
                                        </p:attrNameLst>
                                      </p:cBhvr>
                                      <p:tavLst>
                                        <p:tav tm="0">
                                          <p:val>
                                            <p:strVal val="#ppt_h*2.000"/>
                                          </p:val>
                                        </p:tav>
                                        <p:tav tm="100000">
                                          <p:val>
                                            <p:strVal val="#ppt_h"/>
                                          </p:val>
                                        </p:tav>
                                      </p:tavLst>
                                    </p:anim>
                                    <p:animEffect transition="in" filter="fade">
                                      <p:cBhvr>
                                        <p:cTn id="47" dur="420" decel="100000"/>
                                        <p:tgtEl>
                                          <p:spTgt spid="27"/>
                                        </p:tgtEl>
                                      </p:cBhvr>
                                    </p:animEffect>
                                  </p:childTnLst>
                                </p:cTn>
                              </p:par>
                              <p:par>
                                <p:cTn id="51" presetID="10" presetClass="entr" presetSubtype="0" fill="hold" grpId="0" nodeType="withEffect">
                                  <p:stCondLst>
                                    <p:cond delay="130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700" decel="100000"/>
                                        <p:tgtEl>
                                          <p:spTgt spid="28"/>
                                        </p:tgtEl>
                                      </p:cBhvr>
                                    </p:animEffect>
                                  </p:childTnLst>
                                </p:cTn>
                              </p:par>
                              <p:par>
                                <p:cTn id="53" presetID="6" presetClass="emph" presetSubtype="0" fill="hold" grpId="1" nodeType="withEffect" repeatCount="indefinite" autoRev="1">
                                  <p:stCondLst>
                                    <p:cond delay="1500"/>
                                  </p:stCondLst>
                                  <p:childTnLst>
                                    <p:animScale>
                                      <p:cBhvr>
                                        <p:cTn id="52" dur="1700" fill="hold" accel="50000" decel="50000"/>
                                        <p:tgtEl>
                                          <p:spTgt spid="32"/>
                                        </p:tgtEl>
                                      </p:cBhvr>
                                      <p:by x="112000" y="112000"/>
                                    </p:animScale>
                                  </p:childTnLst>
                                </p:cTn>
                              </p:par>
                              <p:par>
                                <p:cTn id="58" presetID="53" presetClass="entr" presetSubtype="16" fill="hold" grpId="0" nodeType="withEffect">
                                  <p:stCondLst>
                                    <p:cond delay="1850"/>
                                  </p:stCondLst>
                                  <p:childTnLst>
                                    <p:set>
                                      <p:cBhvr>
                                        <p:cTn id="54" dur="1" fill="hold">
                                          <p:stCondLst>
                                            <p:cond delay="0"/>
                                          </p:stCondLst>
                                        </p:cTn>
                                        <p:tgtEl>
                                          <p:spTgt spid="17"/>
                                        </p:tgtEl>
                                        <p:attrNameLst>
                                          <p:attrName>style.visibility</p:attrName>
                                        </p:attrNameLst>
                                      </p:cBhvr>
                                      <p:to>
                                        <p:strVal val="visible"/>
                                      </p:to>
                                    </p:set>
                                    <p:anim calcmode="lin" valueType="num">
                                      <p:cBhvr>
                                        <p:cTn id="55" dur="600" fill="hold" decel="100000"/>
                                        <p:tgtEl>
                                          <p:spTgt spid="17"/>
                                        </p:tgtEl>
                                        <p:attrNameLst>
                                          <p:attrName>ppt_w</p:attrName>
                                        </p:attrNameLst>
                                      </p:cBhvr>
                                      <p:tavLst>
                                        <p:tav tm="0">
                                          <p:val>
                                            <p:strVal val="#ppt_w*1.800"/>
                                          </p:val>
                                        </p:tav>
                                        <p:tav tm="100000">
                                          <p:val>
                                            <p:strVal val="#ppt_w"/>
                                          </p:val>
                                        </p:tav>
                                      </p:tavLst>
                                    </p:anim>
                                    <p:anim calcmode="lin" valueType="num">
                                      <p:cBhvr>
                                        <p:cTn id="56" dur="600" fill="hold" decel="100000"/>
                                        <p:tgtEl>
                                          <p:spTgt spid="17"/>
                                        </p:tgtEl>
                                        <p:attrNameLst>
                                          <p:attrName>ppt_h</p:attrName>
                                        </p:attrNameLst>
                                      </p:cBhvr>
                                      <p:tavLst>
                                        <p:tav tm="0">
                                          <p:val>
                                            <p:strVal val="#ppt_h*1.800"/>
                                          </p:val>
                                        </p:tav>
                                        <p:tav tm="100000">
                                          <p:val>
                                            <p:strVal val="#ppt_h"/>
                                          </p:val>
                                        </p:tav>
                                      </p:tavLst>
                                    </p:anim>
                                    <p:animEffect transition="in" filter="fade">
                                      <p:cBhvr>
                                        <p:cTn id="57" dur="420" decel="100000"/>
                                        <p:tgtEl>
                                          <p:spTgt spid="17"/>
                                        </p:tgtEl>
                                      </p:cBhvr>
                                    </p:animEffect>
                                  </p:childTnLst>
                                </p:cTn>
                              </p:par>
                              <p:par>
                                <p:cTn id="61" presetID="22" presetClass="entr" presetSubtype="8" fill="hold" grpId="0" nodeType="withEffect">
                                  <p:stCondLst>
                                    <p:cond delay="1910"/>
                                  </p:stCondLst>
                                  <p:childTnLst>
                                    <p:set>
                                      <p:cBhvr>
                                        <p:cTn id="59" dur="1" fill="hold">
                                          <p:stCondLst>
                                            <p:cond delay="0"/>
                                          </p:stCondLst>
                                        </p:cTn>
                                        <p:tgtEl>
                                          <p:spTgt spid="13"/>
                                        </p:tgtEl>
                                        <p:attrNameLst>
                                          <p:attrName>style.visibility</p:attrName>
                                        </p:attrNameLst>
                                      </p:cBhvr>
                                      <p:to>
                                        <p:strVal val="visible"/>
                                      </p:to>
                                    </p:set>
                                    <p:animEffect transition="in" filter="wipe(left)">
                                      <p:cBhvr>
                                        <p:cTn id="60" dur="800" decel="100000"/>
                                        <p:tgtEl>
                                          <p:spTgt spid="13"/>
                                        </p:tgtEl>
                                      </p:cBhvr>
                                    </p:animEffect>
                                  </p:childTnLst>
                                </p:cTn>
                              </p:par>
                              <p:par>
                                <p:cTn id="64" presetID="22" presetClass="entr" presetSubtype="8" fill="hold" grpId="0" nodeType="withEffect">
                                  <p:stCondLst>
                                    <p:cond delay="1970"/>
                                  </p:stCondLst>
                                  <p:childTnLst>
                                    <p:set>
                                      <p:cBhvr>
                                        <p:cTn id="62" dur="1" fill="hold">
                                          <p:stCondLst>
                                            <p:cond delay="0"/>
                                          </p:stCondLst>
                                        </p:cTn>
                                        <p:tgtEl>
                                          <p:spTgt spid="14"/>
                                        </p:tgtEl>
                                        <p:attrNameLst>
                                          <p:attrName>style.visibility</p:attrName>
                                        </p:attrNameLst>
                                      </p:cBhvr>
                                      <p:to>
                                        <p:strVal val="visible"/>
                                      </p:to>
                                    </p:set>
                                    <p:animEffect transition="in" filter="wipe(left)">
                                      <p:cBhvr>
                                        <p:cTn id="63" dur="800" decel="100000"/>
                                        <p:tgtEl>
                                          <p:spTgt spid="14"/>
                                        </p:tgtEl>
                                      </p:cBhvr>
                                    </p:animEffect>
                                  </p:childTnLst>
                                </p:cTn>
                              </p:par>
                              <p:par>
                                <p:cTn id="67" presetID="10" presetClass="entr" presetSubtype="0" fill="hold" grpId="0" nodeType="withEffect">
                                  <p:stCondLst>
                                    <p:cond delay="200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00" decel="100000"/>
                                        <p:tgtEl>
                                          <p:spTgt spid="18"/>
                                        </p:tgtEl>
                                      </p:cBhvr>
                                    </p:animEffect>
                                  </p:childTnLst>
                                </p:cTn>
                              </p:par>
                              <p:par>
                                <p:cTn id="70" presetID="22" presetClass="entr" presetSubtype="8" fill="hold" grpId="0" nodeType="withEffect">
                                  <p:stCondLst>
                                    <p:cond delay="2030"/>
                                  </p:stCondLst>
                                  <p:childTnLst>
                                    <p:set>
                                      <p:cBhvr>
                                        <p:cTn id="68" dur="1" fill="hold">
                                          <p:stCondLst>
                                            <p:cond delay="0"/>
                                          </p:stCondLst>
                                        </p:cTn>
                                        <p:tgtEl>
                                          <p:spTgt spid="15"/>
                                        </p:tgtEl>
                                        <p:attrNameLst>
                                          <p:attrName>style.visibility</p:attrName>
                                        </p:attrNameLst>
                                      </p:cBhvr>
                                      <p:to>
                                        <p:strVal val="visible"/>
                                      </p:to>
                                    </p:set>
                                    <p:animEffect transition="in" filter="wipe(left)">
                                      <p:cBhvr>
                                        <p:cTn id="69" dur="800" decel="100000"/>
                                        <p:tgtEl>
                                          <p:spTgt spid="15"/>
                                        </p:tgtEl>
                                      </p:cBhvr>
                                    </p:animEffect>
                                  </p:childTnLst>
                                </p:cTn>
                              </p:par>
                              <p:par>
                                <p:cTn id="73" presetID="22" presetClass="entr" presetSubtype="8" fill="hold" grpId="0" nodeType="withEffect">
                                  <p:stCondLst>
                                    <p:cond delay="2090"/>
                                  </p:stCondLst>
                                  <p:childTnLst>
                                    <p:set>
                                      <p:cBhvr>
                                        <p:cTn id="71" dur="1" fill="hold">
                                          <p:stCondLst>
                                            <p:cond delay="0"/>
                                          </p:stCondLst>
                                        </p:cTn>
                                        <p:tgtEl>
                                          <p:spTgt spid="16"/>
                                        </p:tgtEl>
                                        <p:attrNameLst>
                                          <p:attrName>style.visibility</p:attrName>
                                        </p:attrNameLst>
                                      </p:cBhvr>
                                      <p:to>
                                        <p:strVal val="visible"/>
                                      </p:to>
                                    </p:set>
                                    <p:animEffect transition="in" filter="wipe(left)">
                                      <p:cBhvr>
                                        <p:cTn id="72" dur="800" decel="100000"/>
                                        <p:tgtEl>
                                          <p:spTgt spid="16"/>
                                        </p:tgtEl>
                                      </p:cBhvr>
                                    </p:animEffect>
                                  </p:childTnLst>
                                </p:cTn>
                              </p:par>
                              <p:par>
                                <p:cTn id="76" presetID="10" presetClass="entr" presetSubtype="0" fill="hold" grpId="0" nodeType="withEffect">
                                  <p:stCondLst>
                                    <p:cond delay="2300"/>
                                  </p:stCondLst>
                                  <p:childTnLst>
                                    <p:set>
                                      <p:cBhvr>
                                        <p:cTn id="74" dur="1" fill="hold">
                                          <p:stCondLst>
                                            <p:cond delay="0"/>
                                          </p:stCondLst>
                                        </p:cTn>
                                        <p:tgtEl>
                                          <p:spTgt spid="34"/>
                                        </p:tgtEl>
                                        <p:attrNameLst>
                                          <p:attrName>style.visibility</p:attrName>
                                        </p:attrNameLst>
                                      </p:cBhvr>
                                      <p:to>
                                        <p:strVal val="visible"/>
                                      </p:to>
                                    </p:set>
                                    <p:animEffect transition="in" filter="fade">
                                      <p:cBhvr>
                                        <p:cTn id="75" dur="700" decel="100000"/>
                                        <p:tgtEl>
                                          <p:spTgt spid="34"/>
                                        </p:tgtEl>
                                      </p:cBhvr>
                                    </p:animEffect>
                                  </p:childTnLst>
                                </p:cTn>
                              </p:par>
                              <p:par>
                                <p:cTn id="81" presetID="53" presetClass="entr" presetSubtype="16" fill="hold" grpId="0" nodeType="withEffect">
                                  <p:stCondLst>
                                    <p:cond delay="2410"/>
                                  </p:stCondLst>
                                  <p:childTnLst>
                                    <p:set>
                                      <p:cBhvr>
                                        <p:cTn id="77" dur="1" fill="hold">
                                          <p:stCondLst>
                                            <p:cond delay="0"/>
                                          </p:stCondLst>
                                        </p:cTn>
                                        <p:tgtEl>
                                          <p:spTgt spid="19"/>
                                        </p:tgtEl>
                                        <p:attrNameLst>
                                          <p:attrName>style.visibility</p:attrName>
                                        </p:attrNameLst>
                                      </p:cBhvr>
                                      <p:to>
                                        <p:strVal val="visible"/>
                                      </p:to>
                                    </p:set>
                                    <p:anim calcmode="lin" valueType="num">
                                      <p:cBhvr>
                                        <p:cTn id="78" dur="600" fill="hold" decel="100000"/>
                                        <p:tgtEl>
                                          <p:spTgt spid="19"/>
                                        </p:tgtEl>
                                        <p:attrNameLst>
                                          <p:attrName>ppt_w</p:attrName>
                                        </p:attrNameLst>
                                      </p:cBhvr>
                                      <p:tavLst>
                                        <p:tav tm="0">
                                          <p:val>
                                            <p:strVal val="#ppt_w*1.800"/>
                                          </p:val>
                                        </p:tav>
                                        <p:tav tm="100000">
                                          <p:val>
                                            <p:strVal val="#ppt_w"/>
                                          </p:val>
                                        </p:tav>
                                      </p:tavLst>
                                    </p:anim>
                                    <p:anim calcmode="lin" valueType="num">
                                      <p:cBhvr>
                                        <p:cTn id="79" dur="600" fill="hold" decel="100000"/>
                                        <p:tgtEl>
                                          <p:spTgt spid="19"/>
                                        </p:tgtEl>
                                        <p:attrNameLst>
                                          <p:attrName>ppt_h</p:attrName>
                                        </p:attrNameLst>
                                      </p:cBhvr>
                                      <p:tavLst>
                                        <p:tav tm="0">
                                          <p:val>
                                            <p:strVal val="#ppt_h*1.800"/>
                                          </p:val>
                                        </p:tav>
                                        <p:tav tm="100000">
                                          <p:val>
                                            <p:strVal val="#ppt_h"/>
                                          </p:val>
                                        </p:tav>
                                      </p:tavLst>
                                    </p:anim>
                                    <p:animEffect transition="in" filter="fade">
                                      <p:cBhvr>
                                        <p:cTn id="80" dur="420" decel="100000"/>
                                        <p:tgtEl>
                                          <p:spTgt spid="19"/>
                                        </p:tgtEl>
                                      </p:cBhvr>
                                    </p:animEffect>
                                  </p:childTnLst>
                                </p:cTn>
                              </p:par>
                              <p:par>
                                <p:cTn id="86" presetID="53" presetClass="entr" presetSubtype="16" fill="hold" grpId="0" nodeType="withEffect">
                                  <p:stCondLst>
                                    <p:cond delay="2470"/>
                                  </p:stCondLst>
                                  <p:childTnLst>
                                    <p:set>
                                      <p:cBhvr>
                                        <p:cTn id="82" dur="1" fill="hold">
                                          <p:stCondLst>
                                            <p:cond delay="0"/>
                                          </p:stCondLst>
                                        </p:cTn>
                                        <p:tgtEl>
                                          <p:spTgt spid="21"/>
                                        </p:tgtEl>
                                        <p:attrNameLst>
                                          <p:attrName>style.visibility</p:attrName>
                                        </p:attrNameLst>
                                      </p:cBhvr>
                                      <p:to>
                                        <p:strVal val="visible"/>
                                      </p:to>
                                    </p:set>
                                    <p:anim calcmode="lin" valueType="num">
                                      <p:cBhvr>
                                        <p:cTn id="83" dur="600" fill="hold" decel="100000"/>
                                        <p:tgtEl>
                                          <p:spTgt spid="21"/>
                                        </p:tgtEl>
                                        <p:attrNameLst>
                                          <p:attrName>ppt_w</p:attrName>
                                        </p:attrNameLst>
                                      </p:cBhvr>
                                      <p:tavLst>
                                        <p:tav tm="0">
                                          <p:val>
                                            <p:strVal val="#ppt_w*1.800"/>
                                          </p:val>
                                        </p:tav>
                                        <p:tav tm="100000">
                                          <p:val>
                                            <p:strVal val="#ppt_w"/>
                                          </p:val>
                                        </p:tav>
                                      </p:tavLst>
                                    </p:anim>
                                    <p:anim calcmode="lin" valueType="num">
                                      <p:cBhvr>
                                        <p:cTn id="84" dur="600" fill="hold" decel="100000"/>
                                        <p:tgtEl>
                                          <p:spTgt spid="21"/>
                                        </p:tgtEl>
                                        <p:attrNameLst>
                                          <p:attrName>ppt_h</p:attrName>
                                        </p:attrNameLst>
                                      </p:cBhvr>
                                      <p:tavLst>
                                        <p:tav tm="0">
                                          <p:val>
                                            <p:strVal val="#ppt_h*1.800"/>
                                          </p:val>
                                        </p:tav>
                                        <p:tav tm="100000">
                                          <p:val>
                                            <p:strVal val="#ppt_h"/>
                                          </p:val>
                                        </p:tav>
                                      </p:tavLst>
                                    </p:anim>
                                    <p:animEffect transition="in" filter="fade">
                                      <p:cBhvr>
                                        <p:cTn id="85" dur="420" decel="100000"/>
                                        <p:tgtEl>
                                          <p:spTgt spid="21"/>
                                        </p:tgtEl>
                                      </p:cBhvr>
                                    </p:animEffect>
                                  </p:childTnLst>
                                </p:cTn>
                              </p:par>
                              <p:par>
                                <p:cTn id="91" presetID="53" presetClass="entr" presetSubtype="16" fill="hold" grpId="0" nodeType="withEffect">
                                  <p:stCondLst>
                                    <p:cond delay="2530"/>
                                  </p:stCondLst>
                                  <p:childTnLst>
                                    <p:set>
                                      <p:cBhvr>
                                        <p:cTn id="87" dur="1" fill="hold">
                                          <p:stCondLst>
                                            <p:cond delay="0"/>
                                          </p:stCondLst>
                                        </p:cTn>
                                        <p:tgtEl>
                                          <p:spTgt spid="23"/>
                                        </p:tgtEl>
                                        <p:attrNameLst>
                                          <p:attrName>style.visibility</p:attrName>
                                        </p:attrNameLst>
                                      </p:cBhvr>
                                      <p:to>
                                        <p:strVal val="visible"/>
                                      </p:to>
                                    </p:set>
                                    <p:anim calcmode="lin" valueType="num">
                                      <p:cBhvr>
                                        <p:cTn id="88" dur="600" fill="hold" decel="100000"/>
                                        <p:tgtEl>
                                          <p:spTgt spid="23"/>
                                        </p:tgtEl>
                                        <p:attrNameLst>
                                          <p:attrName>ppt_w</p:attrName>
                                        </p:attrNameLst>
                                      </p:cBhvr>
                                      <p:tavLst>
                                        <p:tav tm="0">
                                          <p:val>
                                            <p:strVal val="#ppt_w*1.800"/>
                                          </p:val>
                                        </p:tav>
                                        <p:tav tm="100000">
                                          <p:val>
                                            <p:strVal val="#ppt_w"/>
                                          </p:val>
                                        </p:tav>
                                      </p:tavLst>
                                    </p:anim>
                                    <p:anim calcmode="lin" valueType="num">
                                      <p:cBhvr>
                                        <p:cTn id="89" dur="600" fill="hold" decel="100000"/>
                                        <p:tgtEl>
                                          <p:spTgt spid="23"/>
                                        </p:tgtEl>
                                        <p:attrNameLst>
                                          <p:attrName>ppt_h</p:attrName>
                                        </p:attrNameLst>
                                      </p:cBhvr>
                                      <p:tavLst>
                                        <p:tav tm="0">
                                          <p:val>
                                            <p:strVal val="#ppt_h*1.800"/>
                                          </p:val>
                                        </p:tav>
                                        <p:tav tm="100000">
                                          <p:val>
                                            <p:strVal val="#ppt_h"/>
                                          </p:val>
                                        </p:tav>
                                      </p:tavLst>
                                    </p:anim>
                                    <p:animEffect transition="in" filter="fade">
                                      <p:cBhvr>
                                        <p:cTn id="90" dur="420" decel="100000"/>
                                        <p:tgtEl>
                                          <p:spTgt spid="23"/>
                                        </p:tgtEl>
                                      </p:cBhvr>
                                    </p:animEffect>
                                  </p:childTnLst>
                                </p:cTn>
                              </p:par>
                              <p:par>
                                <p:cTn id="94" presetID="10" presetClass="entr" presetSubtype="0" fill="hold" grpId="0" nodeType="withEffect">
                                  <p:stCondLst>
                                    <p:cond delay="2560"/>
                                  </p:stCondLst>
                                  <p:childTnLst>
                                    <p:set>
                                      <p:cBhvr>
                                        <p:cTn id="92" dur="1" fill="hold">
                                          <p:stCondLst>
                                            <p:cond delay="0"/>
                                          </p:stCondLst>
                                        </p:cTn>
                                        <p:tgtEl>
                                          <p:spTgt spid="20"/>
                                        </p:tgtEl>
                                        <p:attrNameLst>
                                          <p:attrName>style.visibility</p:attrName>
                                        </p:attrNameLst>
                                      </p:cBhvr>
                                      <p:to>
                                        <p:strVal val="visible"/>
                                      </p:to>
                                    </p:set>
                                    <p:animEffect transition="in" filter="fade">
                                      <p:cBhvr>
                                        <p:cTn id="93" dur="500" decel="100000"/>
                                        <p:tgtEl>
                                          <p:spTgt spid="20"/>
                                        </p:tgtEl>
                                      </p:cBhvr>
                                    </p:animEffect>
                                  </p:childTnLst>
                                </p:cTn>
                              </p:par>
                              <p:par>
                                <p:cTn id="99" presetID="53" presetClass="entr" presetSubtype="16" fill="hold" grpId="0" nodeType="withEffect">
                                  <p:stCondLst>
                                    <p:cond delay="2590"/>
                                  </p:stCondLst>
                                  <p:childTnLst>
                                    <p:set>
                                      <p:cBhvr>
                                        <p:cTn id="95" dur="1" fill="hold">
                                          <p:stCondLst>
                                            <p:cond delay="0"/>
                                          </p:stCondLst>
                                        </p:cTn>
                                        <p:tgtEl>
                                          <p:spTgt spid="25"/>
                                        </p:tgtEl>
                                        <p:attrNameLst>
                                          <p:attrName>style.visibility</p:attrName>
                                        </p:attrNameLst>
                                      </p:cBhvr>
                                      <p:to>
                                        <p:strVal val="visible"/>
                                      </p:to>
                                    </p:set>
                                    <p:anim calcmode="lin" valueType="num">
                                      <p:cBhvr>
                                        <p:cTn id="96" dur="600" fill="hold" decel="100000"/>
                                        <p:tgtEl>
                                          <p:spTgt spid="25"/>
                                        </p:tgtEl>
                                        <p:attrNameLst>
                                          <p:attrName>ppt_w</p:attrName>
                                        </p:attrNameLst>
                                      </p:cBhvr>
                                      <p:tavLst>
                                        <p:tav tm="0">
                                          <p:val>
                                            <p:strVal val="#ppt_w*1.800"/>
                                          </p:val>
                                        </p:tav>
                                        <p:tav tm="100000">
                                          <p:val>
                                            <p:strVal val="#ppt_w"/>
                                          </p:val>
                                        </p:tav>
                                      </p:tavLst>
                                    </p:anim>
                                    <p:anim calcmode="lin" valueType="num">
                                      <p:cBhvr>
                                        <p:cTn id="97" dur="600" fill="hold" decel="100000"/>
                                        <p:tgtEl>
                                          <p:spTgt spid="25"/>
                                        </p:tgtEl>
                                        <p:attrNameLst>
                                          <p:attrName>ppt_h</p:attrName>
                                        </p:attrNameLst>
                                      </p:cBhvr>
                                      <p:tavLst>
                                        <p:tav tm="0">
                                          <p:val>
                                            <p:strVal val="#ppt_h*1.800"/>
                                          </p:val>
                                        </p:tav>
                                        <p:tav tm="100000">
                                          <p:val>
                                            <p:strVal val="#ppt_h"/>
                                          </p:val>
                                        </p:tav>
                                      </p:tavLst>
                                    </p:anim>
                                    <p:animEffect transition="in" filter="fade">
                                      <p:cBhvr>
                                        <p:cTn id="98" dur="420" decel="100000"/>
                                        <p:tgtEl>
                                          <p:spTgt spid="25"/>
                                        </p:tgtEl>
                                      </p:cBhvr>
                                    </p:animEffect>
                                  </p:childTnLst>
                                </p:cTn>
                              </p:par>
                              <p:par>
                                <p:cTn id="102" presetID="10" presetClass="entr" presetSubtype="0" fill="hold" grpId="0" nodeType="withEffect">
                                  <p:stCondLst>
                                    <p:cond delay="2620"/>
                                  </p:stCondLst>
                                  <p:childTnLst>
                                    <p:set>
                                      <p:cBhvr>
                                        <p:cTn id="100" dur="1" fill="hold">
                                          <p:stCondLst>
                                            <p:cond delay="0"/>
                                          </p:stCondLst>
                                        </p:cTn>
                                        <p:tgtEl>
                                          <p:spTgt spid="22"/>
                                        </p:tgtEl>
                                        <p:attrNameLst>
                                          <p:attrName>style.visibility</p:attrName>
                                        </p:attrNameLst>
                                      </p:cBhvr>
                                      <p:to>
                                        <p:strVal val="visible"/>
                                      </p:to>
                                    </p:set>
                                    <p:animEffect transition="in" filter="fade">
                                      <p:cBhvr>
                                        <p:cTn id="101" dur="500" decel="100000"/>
                                        <p:tgtEl>
                                          <p:spTgt spid="22"/>
                                        </p:tgtEl>
                                      </p:cBhvr>
                                    </p:animEffect>
                                  </p:childTnLst>
                                </p:cTn>
                              </p:par>
                              <p:par>
                                <p:cTn id="105" presetID="10" presetClass="entr" presetSubtype="0" fill="hold" grpId="0" nodeType="withEffect">
                                  <p:stCondLst>
                                    <p:cond delay="2680"/>
                                  </p:stCondLst>
                                  <p:childTnLst>
                                    <p:set>
                                      <p:cBhvr>
                                        <p:cTn id="103" dur="1" fill="hold">
                                          <p:stCondLst>
                                            <p:cond delay="0"/>
                                          </p:stCondLst>
                                        </p:cTn>
                                        <p:tgtEl>
                                          <p:spTgt spid="24"/>
                                        </p:tgtEl>
                                        <p:attrNameLst>
                                          <p:attrName>style.visibility</p:attrName>
                                        </p:attrNameLst>
                                      </p:cBhvr>
                                      <p:to>
                                        <p:strVal val="visible"/>
                                      </p:to>
                                    </p:set>
                                    <p:animEffect transition="in" filter="fade">
                                      <p:cBhvr>
                                        <p:cTn id="104" dur="500" decel="100000"/>
                                        <p:tgtEl>
                                          <p:spTgt spid="24"/>
                                        </p:tgtEl>
                                      </p:cBhvr>
                                    </p:animEffect>
                                  </p:childTnLst>
                                </p:cTn>
                              </p:par>
                              <p:par>
                                <p:cTn id="108" presetID="10" presetClass="entr" presetSubtype="0" fill="hold" grpId="0" nodeType="withEffect">
                                  <p:stCondLst>
                                    <p:cond delay="2740"/>
                                  </p:stCondLst>
                                  <p:childTnLst>
                                    <p:set>
                                      <p:cBhvr>
                                        <p:cTn id="106" dur="1" fill="hold">
                                          <p:stCondLst>
                                            <p:cond delay="0"/>
                                          </p:stCondLst>
                                        </p:cTn>
                                        <p:tgtEl>
                                          <p:spTgt spid="26"/>
                                        </p:tgtEl>
                                        <p:attrNameLst>
                                          <p:attrName>style.visibility</p:attrName>
                                        </p:attrNameLst>
                                      </p:cBhvr>
                                      <p:to>
                                        <p:strVal val="visible"/>
                                      </p:to>
                                    </p:set>
                                    <p:animEffect transition="in" filter="fade">
                                      <p:cBhvr>
                                        <p:cTn id="107" dur="500" decel="100000"/>
                                        <p:tgtEl>
                                          <p:spTgt spid="26"/>
                                        </p:tgtEl>
                                      </p:cBhvr>
                                    </p:animEffect>
                                  </p:childTnLst>
                                </p:cTn>
                              </p:par>
                              <p:par>
                                <p:cTn id="110" presetID="1" presetClass="entr" presetSubtype="0" fill="hold" grpId="0" nodeType="withEffect">
                                  <p:stCondLst>
                                    <p:cond delay="3300"/>
                                  </p:stCondLst>
                                  <p:childTnLst>
                                    <p:set>
                                      <p:cBhvr>
                                        <p:cTn id="109" dur="1" fill="hold">
                                          <p:stCondLst>
                                            <p:cond delay="0"/>
                                          </p:stCondLst>
                                        </p:cTn>
                                        <p:tgtEl>
                                          <p:spTgt spid="29"/>
                                        </p:tgtEl>
                                        <p:attrNameLst>
                                          <p:attrName>style.visibility</p:attrName>
                                        </p:attrNameLst>
                                      </p:cBhvr>
                                      <p:to>
                                        <p:strVal val="visible"/>
                                      </p:to>
                                    </p:set>
                                  </p:childTnLst>
                                </p:cTn>
                              </p:par>
                              <p:par>
                                <p:cTn id="116" presetID="0" presetClass="path" presetSubtype="0" fill="hold" grpId="1" nodeType="withEffect" repeatCount="indefinite">
                                  <p:stCondLst>
                                    <p:cond delay="3300"/>
                                  </p:stCondLst>
                                  <p:childTnLst>
                                    <p:set>
                                      <p:cBhvr>
                                        <p:cTn id="111" dur="1" fill="hold">
                                          <p:stCondLst>
                                            <p:cond delay="0"/>
                                          </p:stCondLst>
                                        </p:cTn>
                                        <p:tgtEl>
                                          <p:spTgt spid="29"/>
                                        </p:tgtEl>
                                        <p:attrNameLst>
                                          <p:attrName>style.visibility</p:attrName>
                                        </p:attrNameLst>
                                      </p:cBhvr>
                                      <p:to>
                                        <p:strVal val="visible"/>
                                      </p:to>
                                    </p:set>
                                    <p:animEffect transition="in" filter="fade">
                                      <p:cBhvr>
                                        <p:cTn id="112" dur="500"/>
                                        <p:tgtEl>
                                          <p:spTgt spid="29"/>
                                        </p:tgtEl>
                                      </p:cBhvr>
                                    </p:animEffect>
                                    <p:animMotion origin="layout" path="M 0 0 L 0.0024 0.0029 L 0.0058 0.0072 L 0.0097 0.0118 L 0.0135 0.0159 L 0.0172 0.0195 L 0.0211 0.0231 L 0.0250 0.0262 L 0.0291 0.0283 L 0.0333 0.0287 L 0.0377 0.0279 L 0.0419 0.0272 L 0.0457 0.0283 L 0.0487 0.0316 L 0.0512 0.0363 L 0.0538 0.0420 L 0.0568 0.0483 L 0.0611 0.0563 L 0.0661 0.0658 L 0.0708 0.0747 L 0.0741 0.0808 L 0.0788 0.0925 L 0.0855 0.1092 L 0.0935 0.1282 L 0.1018 0.1467 L 0.1108 0.1652 L 0.1206 0.1848 L 0.1307 0.2034 L 0.1407 0.2192 L 0.1505 0.2319 L 0.1603 0.2424 L 0.1702 0.2505 L 0.1802 0.2559 L 0.1903 0.2574 L 0.2004 0.2555 L 0.2107 0.2524 L 0.2213 0.2505 L 0.2327 0.2498 L 0.2448 0.2492 L 0.2563 0.2495 L 0.2657 0.2516 L 0.2723 0.2562 L 0.2770 0.2628 L 0.2810 0.2699 L 0.2857 0.2765 L 0.2916 0.2839 L 0.2980 0.2922 L 0.3043 0.2980 L 0.3102 0.2981 L 0.3154 0.2904 L 0.3203 0.2771 L 0.3252 0.2610 L 0.3302 0.2451 L 0.3360 0.2280 L 0.3423 0.2088 L 0.3479 0.1913 L 0.3518 0.1792 L 0.3580 0.1695 L 0.3668 0.1556 L 0.3766 0.1403 L 0.3857 0.1262 L 0.3945 0.1141 L 0.4036 0.1026 L 0.4116 0.0910 L 0.4174 0.0786 L 0.4202 0.0646 L 0.4208 0.0495 L 0.4202 0.0349 L 0.4191 0.0224 L 0.4172 0.0121 L 0.4142 0.0032 L 0.4111 -0.0039 L 0.4091 -0.0090 E" pathEditMode="relative" ptsTypes="">
                                      <p:cBhvr>
                                        <p:cTn id="113" dur="7000" fill="hold" accel="15000" decel="15000"/>
                                        <p:tgtEl>
                                          <p:spTgt spid="29"/>
                                        </p:tgtEl>
                                        <p:attrNameLst>
                                          <p:attrName>ppt_x</p:attrName>
                                          <p:attrName>ppt_y</p:attrName>
                                        </p:attrNameLst>
                                      </p:cBhvr>
                                      <p:rCtr x="0" y="0"/>
                                    </p:animMotion>
                                    <p:animEffect transition="out" filter="fade">
                                      <p:cBhvr>
                                        <p:cTn id="114" dur="500">
                                          <p:stCondLst>
                                            <p:cond delay="6500"/>
                                          </p:stCondLst>
                                        </p:cTn>
                                        <p:tgtEl>
                                          <p:spTgt spid="29"/>
                                        </p:tgtEl>
                                      </p:cBhvr>
                                    </p:animEffect>
                                    <p:set>
                                      <p:cBhvr>
                                        <p:cTn id="115" dur="1" fill="hold">
                                          <p:stCondLst>
                                            <p:cond delay="6999"/>
                                          </p:stCondLst>
                                        </p:cTn>
                                        <p:tgtEl>
                                          <p:spTgt spid="29"/>
                                        </p:tgtEl>
                                        <p:attrNameLst>
                                          <p:attrName>style.visibility</p:attrName>
                                        </p:attrNameLst>
                                      </p:cBhvr>
                                      <p:to>
                                        <p:strVal val="hidden"/>
                                      </p:to>
                                    </p:set>
                                  </p:childTnLst>
                                </p:cTn>
                              </p:par>
                              <p:par>
                                <p:cTn id="118" presetID="1" presetClass="entr" presetSubtype="0" fill="hold" grpId="0" nodeType="withEffect">
                                  <p:stCondLst>
                                    <p:cond delay="4500"/>
                                  </p:stCondLst>
                                  <p:childTnLst>
                                    <p:set>
                                      <p:cBhvr>
                                        <p:cTn id="117" dur="1" fill="hold">
                                          <p:stCondLst>
                                            <p:cond delay="0"/>
                                          </p:stCondLst>
                                        </p:cTn>
                                        <p:tgtEl>
                                          <p:spTgt spid="30"/>
                                        </p:tgtEl>
                                        <p:attrNameLst>
                                          <p:attrName>style.visibility</p:attrName>
                                        </p:attrNameLst>
                                      </p:cBhvr>
                                      <p:to>
                                        <p:strVal val="visible"/>
                                      </p:to>
                                    </p:set>
                                  </p:childTnLst>
                                </p:cTn>
                              </p:par>
                              <p:par>
                                <p:cTn id="124" presetID="0" presetClass="path" presetSubtype="0" fill="hold" grpId="1" nodeType="withEffect" repeatCount="indefinite">
                                  <p:stCondLst>
                                    <p:cond delay="4500"/>
                                  </p:stCondLst>
                                  <p:childTnLst>
                                    <p:set>
                                      <p:cBhvr>
                                        <p:cTn id="119" dur="1" fill="hold">
                                          <p:stCondLst>
                                            <p:cond delay="0"/>
                                          </p:stCondLst>
                                        </p:cTn>
                                        <p:tgtEl>
                                          <p:spTgt spid="30"/>
                                        </p:tgtEl>
                                        <p:attrNameLst>
                                          <p:attrName>style.visibility</p:attrName>
                                        </p:attrNameLst>
                                      </p:cBhvr>
                                      <p:to>
                                        <p:strVal val="visible"/>
                                      </p:to>
                                    </p:set>
                                    <p:animEffect transition="in" filter="fade">
                                      <p:cBhvr>
                                        <p:cTn id="120" dur="500"/>
                                        <p:tgtEl>
                                          <p:spTgt spid="30"/>
                                        </p:tgtEl>
                                      </p:cBhvr>
                                    </p:animEffect>
                                    <p:animMotion origin="layout" path="M 0 0 L 0.0024 0.0029 L 0.0058 0.0072 L 0.0097 0.0118 L 0.0135 0.0159 L 0.0172 0.0195 L 0.0211 0.0231 L 0.0250 0.0262 L 0.0291 0.0283 L 0.0333 0.0287 L 0.0377 0.0279 L 0.0419 0.0272 L 0.0457 0.0283 L 0.0487 0.0316 L 0.0512 0.0363 L 0.0538 0.0420 L 0.0568 0.0483 L 0.0611 0.0563 L 0.0661 0.0658 L 0.0708 0.0747 L 0.0741 0.0808 L 0.0793 0.0840 L 0.0867 0.0887 L 0.0952 0.0938 L 0.1035 0.0981 L 0.1123 0.1016 L 0.1220 0.1048 L 0.1308 0.1075 L 0.1368 0.1094 E" pathEditMode="relative" ptsTypes="">
                                      <p:cBhvr>
                                        <p:cTn id="121" dur="7000" fill="hold" accel="15000" decel="15000"/>
                                        <p:tgtEl>
                                          <p:spTgt spid="30"/>
                                        </p:tgtEl>
                                        <p:attrNameLst>
                                          <p:attrName>ppt_x</p:attrName>
                                          <p:attrName>ppt_y</p:attrName>
                                        </p:attrNameLst>
                                      </p:cBhvr>
                                      <p:rCtr x="0" y="0"/>
                                    </p:animMotion>
                                    <p:animEffect transition="out" filter="fade">
                                      <p:cBhvr>
                                        <p:cTn id="122" dur="500">
                                          <p:stCondLst>
                                            <p:cond delay="6500"/>
                                          </p:stCondLst>
                                        </p:cTn>
                                        <p:tgtEl>
                                          <p:spTgt spid="30"/>
                                        </p:tgtEl>
                                      </p:cBhvr>
                                    </p:animEffect>
                                    <p:set>
                                      <p:cBhvr>
                                        <p:cTn id="123" dur="1" fill="hold">
                                          <p:stCondLst>
                                            <p:cond delay="6999"/>
                                          </p:stCondLst>
                                        </p:cTn>
                                        <p:tgtEl>
                                          <p:spTgt spid="30"/>
                                        </p:tgtEl>
                                        <p:attrNameLst>
                                          <p:attrName>style.visibility</p:attrName>
                                        </p:attrNameLst>
                                      </p:cBhvr>
                                      <p:to>
                                        <p:strVal val="hidden"/>
                                      </p:to>
                                    </p:set>
                                  </p:childTnLst>
                                </p:cTn>
                              </p:par>
                              <p:par>
                                <p:cTn id="126" presetID="1" presetClass="entr" presetSubtype="0" fill="hold" grpId="0" nodeType="withEffect">
                                  <p:stCondLst>
                                    <p:cond delay="6800"/>
                                  </p:stCondLst>
                                  <p:childTnLst>
                                    <p:set>
                                      <p:cBhvr>
                                        <p:cTn id="125" dur="1" fill="hold">
                                          <p:stCondLst>
                                            <p:cond delay="0"/>
                                          </p:stCondLst>
                                        </p:cTn>
                                        <p:tgtEl>
                                          <p:spTgt spid="31"/>
                                        </p:tgtEl>
                                        <p:attrNameLst>
                                          <p:attrName>style.visibility</p:attrName>
                                        </p:attrNameLst>
                                      </p:cBhvr>
                                      <p:to>
                                        <p:strVal val="visible"/>
                                      </p:to>
                                    </p:set>
                                  </p:childTnLst>
                                </p:cTn>
                              </p:par>
                              <p:par>
                                <p:cTn id="132" presetID="0" presetClass="path" presetSubtype="0" fill="hold" grpId="1" nodeType="withEffect" repeatCount="indefinite">
                                  <p:stCondLst>
                                    <p:cond delay="6800"/>
                                  </p:stCondLst>
                                  <p:childTnLst>
                                    <p:set>
                                      <p:cBhvr>
                                        <p:cTn id="127" dur="1" fill="hold">
                                          <p:stCondLst>
                                            <p:cond delay="0"/>
                                          </p:stCondLst>
                                        </p:cTn>
                                        <p:tgtEl>
                                          <p:spTgt spid="31"/>
                                        </p:tgtEl>
                                        <p:attrNameLst>
                                          <p:attrName>style.visibility</p:attrName>
                                        </p:attrNameLst>
                                      </p:cBhvr>
                                      <p:to>
                                        <p:strVal val="visible"/>
                                      </p:to>
                                    </p:set>
                                    <p:animEffect transition="in" filter="fade">
                                      <p:cBhvr>
                                        <p:cTn id="128" dur="500"/>
                                        <p:tgtEl>
                                          <p:spTgt spid="31"/>
                                        </p:tgtEl>
                                      </p:cBhvr>
                                    </p:animEffect>
                                    <p:animMotion origin="layout" path="M 0 0 L 0.0024 0.0029 L 0.0058 0.0072 L 0.0097 0.0118 L 0.0135 0.0159 L 0.0172 0.0195 L 0.0211 0.0231 L 0.0250 0.0262 L 0.0291 0.0283 L 0.0333 0.0287 L 0.0377 0.0279 L 0.0419 0.0272 L 0.0457 0.0283 L 0.0487 0.0316 L 0.0512 0.0363 L 0.0538 0.0420 L 0.0568 0.0483 L 0.0611 0.0563 L 0.0661 0.0658 L 0.0708 0.0747 L 0.0741 0.0808 L 0.0788 0.0925 L 0.0855 0.1092 L 0.0935 0.1282 L 0.1018 0.1467 L 0.1108 0.1652 L 0.1206 0.1848 L 0.1307 0.2034 L 0.1407 0.2192 L 0.1505 0.2319 L 0.1603 0.2424 L 0.1702 0.2505 L 0.1802 0.2559 L 0.1903 0.2574 L 0.2004 0.2555 L 0.2107 0.2524 L 0.2213 0.2505 L 0.2327 0.2498 L 0.2448 0.2492 L 0.2563 0.2495 L 0.2657 0.2516 L 0.2723 0.2562 L 0.2770 0.2628 L 0.2810 0.2699 L 0.2857 0.2765 L 0.2916 0.2839 L 0.2980 0.2922 L 0.3043 0.2980 L 0.3102 0.2981 L 0.3154 0.2904 L 0.3203 0.2771 L 0.3252 0.2610 L 0.3302 0.2451 L 0.3360 0.2280 L 0.3423 0.2088 L 0.3479 0.1913 L 0.3518 0.1792 L 0.3583 0.1699 L 0.3675 0.1566 L 0.3779 0.1419 L 0.3880 0.1283 L 0.3982 0.1173 L 0.4091 0.1073 L 0.4192 0.0964 L 0.4268 0.0829 L 0.4310 0.0658 L 0.4328 0.0461 L 0.4338 0.0256 L 0.4357 0.0062 L 0.4393 -0.0135 L 0.4435 -0.0338 L 0.4475 -0.0516 L 0.4502 -0.0641 E" pathEditMode="relative" ptsTypes="">
                                      <p:cBhvr>
                                        <p:cTn id="129" dur="7000" fill="hold" accel="15000" decel="15000"/>
                                        <p:tgtEl>
                                          <p:spTgt spid="31"/>
                                        </p:tgtEl>
                                        <p:attrNameLst>
                                          <p:attrName>ppt_x</p:attrName>
                                          <p:attrName>ppt_y</p:attrName>
                                        </p:attrNameLst>
                                      </p:cBhvr>
                                      <p:rCtr x="0" y="0"/>
                                    </p:animMotion>
                                    <p:animEffect transition="out" filter="fade">
                                      <p:cBhvr>
                                        <p:cTn id="130" dur="500">
                                          <p:stCondLst>
                                            <p:cond delay="6500"/>
                                          </p:stCondLst>
                                        </p:cTn>
                                        <p:tgtEl>
                                          <p:spTgt spid="31"/>
                                        </p:tgtEl>
                                      </p:cBhvr>
                                    </p:animEffect>
                                    <p:set>
                                      <p:cBhvr>
                                        <p:cTn id="131" dur="1" fill="hold">
                                          <p:stCondLst>
                                            <p:cond delay="6999"/>
                                          </p:stCondLst>
                                        </p:cTn>
                                        <p:tgtEl>
                                          <p:spTgt spid="3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32" grpId="0" animBg="1"/>
      <p:bldP spid="33" grpId="0" animBg="1"/>
      <p:bldP spid="10" grpId="0" animBg="1"/>
      <p:bldP spid="8" grpId="0" animBg="1"/>
      <p:bldP spid="11" grpId="0" animBg="1"/>
      <p:bldP spid="12" grpId="0" animBg="1"/>
      <p:bldP spid="27" grpId="0" animBg="1"/>
      <p:bldP spid="28" grpId="0" animBg="1"/>
      <p:bldP spid="32" grpId="1" animBg="1"/>
      <p:bldP spid="17" grpId="0" animBg="1"/>
      <p:bldP spid="13" grpId="0" animBg="1"/>
      <p:bldP spid="14" grpId="0" animBg="1"/>
      <p:bldP spid="18" grpId="0" animBg="1"/>
      <p:bldP spid="15" grpId="0" animBg="1"/>
      <p:bldP spid="16" grpId="0" animBg="1"/>
      <p:bldP spid="34" grpId="0" animBg="1"/>
      <p:bldP spid="19" grpId="0" animBg="1"/>
      <p:bldP spid="21" grpId="0" animBg="1"/>
      <p:bldP spid="23" grpId="0" animBg="1"/>
      <p:bldP spid="20" grpId="0" animBg="1"/>
      <p:bldP spid="25" grpId="0" animBg="1"/>
      <p:bldP spid="22" grpId="0" animBg="1"/>
      <p:bldP spid="24" grpId="0" animBg="1"/>
      <p:bldP spid="26" grpId="0" animBg="1"/>
      <p:bldP spid="29" grpId="0" animBg="1"/>
      <p:bldP spid="29" grpId="1" animBg="1"/>
      <p:bldP spid="30" grpId="0" animBg="1"/>
      <p:bldP spid="30" grpId="1" animBg="1"/>
      <p:bldP spid="31" grpId="0" animBg="1"/>
      <p:bldP spid="31" grpId="1" animBg="1"/>
    </p:bldLst>
  </p:timing>
</p:sld>
</file>

<file path=ppt/slides/slide26.xml><?xml version="1.0" encoding="utf-8"?>
<p:sld xmlns:p14="http://schemas.microsoft.com/office/powerpoint/2010/main"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orbA" descr="Decorative background light">    </p:cNvPr>
          <p:cNvPicPr>
            <a:picLocks noChangeAspect="1"/>
          </p:cNvPicPr>
          <p:nvPr/>
        </p:nvPicPr>
        <p:blipFill>
          <a:blip r:embed="rId1"/>
          <a:stretch>
            <a:fillRect/>
          </a:stretch>
        </p:blipFill>
        <p:spPr>
          <a:xfrm>
            <a:off x="0" y="-822960"/>
            <a:ext cx="8229600" cy="8229600"/>
          </a:xfrm>
          <a:prstGeom prst="rect">
            <a:avLst/>
          </a:prstGeom>
        </p:spPr>
      </p:pic>
      <p:pic>
        <p:nvPicPr>
          <p:cNvPr id="3" name="!!orbB" descr="Decorative background light">    </p:cNvPr>
          <p:cNvPicPr>
            <a:picLocks noChangeAspect="1"/>
          </p:cNvPicPr>
          <p:nvPr/>
        </p:nvPicPr>
        <p:blipFill>
          <a:blip r:embed="rId2"/>
          <a:stretch>
            <a:fillRect/>
          </a:stretch>
        </p:blipFill>
        <p:spPr>
          <a:xfrm>
            <a:off x="7772400" y="914400"/>
            <a:ext cx="5486400" cy="5486400"/>
          </a:xfrm>
          <a:prstGeom prst="rect">
            <a:avLst/>
          </a:prstGeom>
        </p:spPr>
      </p:pic>
      <p:sp>
        <p:nvSpPr>
          <p:cNvPr id="4" name="!!kicker"/>
          <p:cNvSpPr/>
          <p:nvPr>
            <p:ph idx="100" type="body" hasCustomPrompt="1"/>
          </p:nvPr>
        </p:nvSpPr>
        <p:spPr>
          <a:xfrm>
            <a:off x="548640" y="384048"/>
            <a:ext cx="8732520" cy="329184"/>
          </a:xfrm>
          <a:prstGeom prst="rect">
            <a:avLst/>
          </a:prstGeom>
          <a:noFill/>
          <a:ln/>
        </p:spPr>
        <p:txBody>
          <a:bodyPr wrap="square" lIns="0" tIns="0" rIns="0" bIns="0" rtlCol="0" anchor="t"/>
          <a:lstStyle/>
          <a:p>
            <a:pPr algn="l" indent="0" marL="0">
              <a:buNone/>
            </a:pPr>
            <a:r>
              <a:rPr lang="en-US" sz="1500" b="1" spc="300" kern="0" dirty="0">
                <a:solidFill>
                  <a:schemeClr val="accent1"/>
                </a:solidFill>
              </a:rPr>
              <a:t>04 — EXPORTS &amp; COSTS</a:t>
            </a:r>
            <a:endParaRPr lang="en-US" sz="1500" dirty="0"/>
          </a:p>
        </p:txBody>
      </p:sp>
      <p:sp>
        <p:nvSpPr>
          <p:cNvPr id="5" name="!!title"/>
          <p:cNvSpPr/>
          <p:nvPr>
            <p:ph idx="101" type="title" hasCustomPrompt="1"/>
          </p:nvPr>
        </p:nvSpPr>
        <p:spPr>
          <a:xfrm>
            <a:off x="548640" y="731520"/>
            <a:ext cx="8732520" cy="786384"/>
          </a:xfrm>
          <a:prstGeom prst="rect">
            <a:avLst/>
          </a:prstGeom>
          <a:noFill/>
          <a:ln/>
        </p:spPr>
        <p:txBody>
          <a:bodyPr wrap="square" lIns="0" tIns="0" rIns="0" bIns="0" rtlCol="0" anchor="t"/>
          <a:lstStyle/>
          <a:p>
            <a:pPr algn="l" indent="0" marL="0">
              <a:buNone/>
            </a:pPr>
            <a:r>
              <a:rPr lang="en-US" sz="3800" b="1" dirty="0">
                <a:solidFill>
                  <a:schemeClr val="tx1"/>
                </a:solidFill>
              </a:rPr>
              <a:t>Exporting fuels, not just crude</a:t>
            </a:r>
            <a:endParaRPr lang="en-US" sz="3800" dirty="0"/>
          </a:p>
        </p:txBody>
      </p:sp>
      <p:graphicFrame>
        <p:nvGraphicFramePr>
          <p:cNvPr id="6" name="crudeproducts_lines" descr=""/>
          <p:cNvGraphicFramePr/>
          <p:nvPr/>
        </p:nvGraphicFramePr>
        <p:xfrm>
          <a:off x="457200" y="2103120"/>
          <a:ext cx="7680960" cy="3749040"/>
        </p:xfrm>
        <a:graphic xmlns:a="http://schemas.openxmlformats.org/drawingml/2006/main">
          <a:graphicData uri="http://schemas.openxmlformats.org/drawingml/2006/chart">
            <c:chart xmlns:c="http://schemas.openxmlformats.org/drawingml/2006/chart" r:id="rId3"/>
          </a:graphicData>
        </a:graphic>
      </p:graphicFrame>
      <p:sp>
        <p:nvSpPr>
          <p:cNvPr id="7" name="crudeproducts_t_1"/>
          <p:cNvSpPr txBox="1"/>
          <p:nvPr/>
        </p:nvSpPr>
        <p:spPr>
          <a:xfrm>
            <a:off x="1226515" y="2353937"/>
            <a:ext cx="1828800" cy="320040"/>
          </a:xfrm>
          <a:prstGeom prst="rect">
            <a:avLst/>
          </a:prstGeom>
          <a:noFill/>
          <a:ln/>
        </p:spPr>
        <p:txBody>
          <a:bodyPr wrap="square" lIns="0" tIns="0" rIns="0" bIns="0" rtlCol="0" anchor="t"/>
          <a:lstStyle/>
          <a:p>
            <a:pPr indent="0" marL="0">
              <a:buNone/>
            </a:pPr>
            <a:r>
              <a:rPr lang="en-US" sz="1700" b="1" dirty="0">
                <a:solidFill>
                  <a:schemeClr val="accent1"/>
                </a:solidFill>
                <a:latin typeface="Arial" pitchFamily="34" charset="0"/>
                <a:ea typeface="Arial" pitchFamily="34" charset="-122"/>
                <a:cs typeface="Arial" pitchFamily="34" charset="-120"/>
              </a:rPr>
              <a:t>Crude oil</a:t>
            </a:r>
            <a:endParaRPr lang="en-US" sz="1700" dirty="0"/>
          </a:p>
        </p:txBody>
      </p:sp>
      <p:sp>
        <p:nvSpPr>
          <p:cNvPr id="8" name="crudeproducts_t_2"/>
          <p:cNvSpPr txBox="1"/>
          <p:nvPr/>
        </p:nvSpPr>
        <p:spPr>
          <a:xfrm>
            <a:off x="1226515" y="4728095"/>
            <a:ext cx="3474720" cy="320040"/>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Refined products (incl. LPG)</a:t>
            </a:r>
            <a:endParaRPr lang="en-US" sz="1700" dirty="0"/>
          </a:p>
        </p:txBody>
      </p:sp>
      <p:sp>
        <p:nvSpPr>
          <p:cNvPr id="9" name="crudeproducts_t_3"/>
          <p:cNvSpPr txBox="1"/>
          <p:nvPr/>
        </p:nvSpPr>
        <p:spPr>
          <a:xfrm>
            <a:off x="548640" y="1554480"/>
            <a:ext cx="4114800" cy="27432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Exports, kb/d (thousand barrels per day)</a:t>
            </a:r>
            <a:endParaRPr lang="en-US" sz="1400" dirty="0"/>
          </a:p>
        </p:txBody>
      </p:sp>
      <p:sp>
        <p:nvSpPr>
          <p:cNvPr id="10" name="crudeproducts_s_4"/>
          <p:cNvSpPr/>
          <p:nvPr/>
        </p:nvSpPr>
        <p:spPr>
          <a:xfrm>
            <a:off x="6437376" y="3576280"/>
            <a:ext cx="585216" cy="585216"/>
          </a:xfrm>
          <a:prstGeom prst="ellipse">
            <a:avLst/>
          </a:prstGeom>
          <a:solidFill>
            <a:srgbClr val="0B0B0F">
              <a:alpha val="0"/>
            </a:srgbClr>
          </a:solidFill>
          <a:ln w="31750">
            <a:solidFill>
              <a:srgbClr val="FFD60A"/>
            </a:solidFill>
            <a:prstDash val="solid"/>
          </a:ln>
          <a:effectLst>
            <a:outerShdw sx="100000" sy="100000" kx="0" ky="0" algn="bl" rotWithShape="0" blurRad="177800" dist="50800" dir="5400000">
              <a:srgbClr val="FFD60A">
                <a:alpha val="70000"/>
              </a:srgbClr>
            </a:outerShdw>
          </a:effectLst>
        </p:spPr>
      </p:sp>
      <p:sp>
        <p:nvSpPr>
          <p:cNvPr id="11" name="crudeproducts_t_5"/>
          <p:cNvSpPr txBox="1"/>
          <p:nvPr/>
        </p:nvSpPr>
        <p:spPr>
          <a:xfrm>
            <a:off x="8549640" y="1828800"/>
            <a:ext cx="3108960" cy="1097280"/>
          </a:xfrm>
          <a:prstGeom prst="rect">
            <a:avLst/>
          </a:prstGeom>
          <a:noFill/>
          <a:ln/>
        </p:spPr>
        <p:txBody>
          <a:bodyPr wrap="square" lIns="0" tIns="0" rIns="0" bIns="0" rtlCol="0" anchor="t"/>
          <a:lstStyle/>
          <a:p>
            <a:pPr indent="0" marL="0">
              <a:buNone/>
            </a:pPr>
            <a:r>
              <a:rPr lang="en-US" sz="8000" b="1" dirty="0">
                <a:solidFill>
                  <a:schemeClr val="accent3"/>
                </a:solidFill>
                <a:latin typeface="Arial" pitchFamily="34" charset="0"/>
                <a:ea typeface="Arial" pitchFamily="34" charset="-122"/>
                <a:cs typeface="Arial" pitchFamily="34" charset="-120"/>
              </a:rPr>
              <a:t>2024</a:t>
            </a:r>
            <a:endParaRPr lang="en-US" sz="8000" dirty="0"/>
          </a:p>
        </p:txBody>
      </p:sp>
      <p:sp>
        <p:nvSpPr>
          <p:cNvPr id="12" name="crudeproducts_t_6"/>
          <p:cNvSpPr txBox="1"/>
          <p:nvPr/>
        </p:nvSpPr>
        <p:spPr>
          <a:xfrm>
            <a:off x="8549640" y="2971800"/>
            <a:ext cx="3108960" cy="118872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the first year product exports (1,196 kb/d) beat crude exports (1,176 kb/d)</a:t>
            </a:r>
            <a:endParaRPr lang="en-US" sz="1800" dirty="0"/>
          </a:p>
        </p:txBody>
      </p:sp>
      <p:sp>
        <p:nvSpPr>
          <p:cNvPr id="13" name="crudeproducts_t_7"/>
          <p:cNvSpPr txBox="1"/>
          <p:nvPr/>
        </p:nvSpPr>
        <p:spPr>
          <a:xfrm>
            <a:off x="8549640" y="3977640"/>
            <a:ext cx="3108960" cy="1280160"/>
          </a:xfrm>
          <a:prstGeom prst="rect">
            <a:avLst/>
          </a:prstGeom>
          <a:noFill/>
          <a:ln/>
        </p:spPr>
        <p:txBody>
          <a:bodyPr wrap="square" lIns="0" tIns="0" rIns="0" bIns="0" rtlCol="0" anchor="t"/>
          <a:lstStyle/>
          <a:p>
            <a:pPr indent="0" marL="0">
              <a:buNone/>
            </a:pPr>
            <a:r>
              <a:rPr lang="en-US" sz="1500" dirty="0">
                <a:solidFill>
                  <a:schemeClr val="tx2"/>
                </a:solidFill>
                <a:latin typeface="Arial" pitchFamily="34" charset="0"/>
                <a:ea typeface="Arial" pitchFamily="34" charset="-122"/>
                <a:cs typeface="Arial" pitchFamily="34" charset="-120"/>
              </a:rPr>
              <a:t>Al-Zour ran at full capacity, so crude went to Kuwaiti refineries instead of tankers. Crude led again in 2025.</a:t>
            </a:r>
            <a:endParaRPr lang="en-US" sz="1500" dirty="0"/>
          </a:p>
        </p:txBody>
      </p:sp>
      <p:sp>
        <p:nvSpPr>
          <p:cNvPr id="14" name="!!source"/>
          <p:cNvSpPr txBox="1"/>
          <p:nvPr/>
        </p:nvSpPr>
        <p:spPr>
          <a:xfrm>
            <a:off x="548640" y="5943600"/>
            <a:ext cx="9692640" cy="274320"/>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Sources: JODI (2026), annual averages of monthly data; MEES (2026); EIA (2023b).</a:t>
            </a:r>
            <a:endParaRPr lang="en-US" sz="1200" dirty="0"/>
          </a:p>
        </p:txBody>
      </p:sp>
      <p:sp>
        <p:nvSpPr>
          <p:cNvPr id="15" name="!!home_bg"/>
          <p:cNvSpPr/>
          <p:nvPr/>
        </p:nvSpPr>
        <p:spPr>
          <a:xfrm>
            <a:off x="10637215" y="6272784"/>
            <a:ext cx="384048" cy="384048"/>
          </a:xfrm>
          <a:prstGeom prst="roundRect">
            <a:avLst>
              <a:gd name="adj" fmla="val 23810"/>
            </a:avLst>
          </a:prstGeom>
          <a:solidFill>
            <a:srgbClr val="2C2C2E"/>
          </a:solidFill>
          <a:ln/>
        </p:spPr>
      </p:sp>
      <p:pic>
        <p:nvPicPr>
          <p:cNvPr id="16" name="!!home_ic" descr="Decorative graphic">    </p:cNvPr>
          <p:cNvPicPr>
            <a:picLocks noChangeAspect="1"/>
          </p:cNvPicPr>
          <p:nvPr/>
        </p:nvPicPr>
        <p:blipFill>
          <a:blip r:embed="rId4"/>
          <a:stretch>
            <a:fillRect/>
          </a:stretch>
        </p:blipFill>
        <p:spPr>
          <a:xfrm>
            <a:off x="10719511" y="6355080"/>
            <a:ext cx="219456" cy="219456"/>
          </a:xfrm>
          <a:prstGeom prst="rect">
            <a:avLst/>
          </a:prstGeom>
        </p:spPr>
      </p:pic>
      <p:sp>
        <p:nvSpPr>
          <p:cNvPr id="17" name="!!home_hit">
            <a:hlinkClick r:id="rId5" tooltip="Back to contents" action="ppaction://hlinksldjump" highlightClick="1"/>
          </p:cNvPr>
          <p:cNvSpPr/>
          <p:nvPr/>
        </p:nvSpPr>
        <p:spPr>
          <a:xfrm>
            <a:off x="10637215" y="6272784"/>
            <a:ext cx="384048" cy="384048"/>
          </a:xfrm>
          <a:prstGeom prst="roundRect">
            <a:avLst>
              <a:gd name="adj" fmla="val 23810"/>
            </a:avLst>
          </a:prstGeom>
          <a:solidFill>
            <a:srgbClr val="000000">
              <a:alpha val="0"/>
            </a:srgbClr>
          </a:solidFill>
          <a:ln/>
        </p:spPr>
      </p:sp>
      <p:sp>
        <p:nvSpPr>
          <p:cNvPr id="19" name="!!footer"/>
          <p:cNvSpPr txBox="1"/>
          <p:nvPr/>
        </p:nvSpPr>
        <p:spPr>
          <a:xfrm>
            <a:off x="548640" y="6327648"/>
            <a:ext cx="5486400" cy="292608"/>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Kuwait Oil &amp; Gas  ·  EGCH2230</a:t>
            </a:r>
            <a:endParaRPr lang="en-US" sz="1200" dirty="0"/>
          </a:p>
        </p:txBody>
      </p:sp>
      <p:sp>
        <p:nvSpPr>
          <p:cNvPr id="20" name="!!num"/>
          <p:cNvSpPr txBox="1"/>
          <p:nvPr/>
        </p:nvSpPr>
        <p:spPr>
          <a:xfrm>
            <a:off x="11094415" y="6327648"/>
            <a:ext cx="548640" cy="292608"/>
          </a:xfrm>
          <a:prstGeom prst="rect">
            <a:avLst/>
          </a:prstGeom>
          <a:noFill/>
          <a:ln/>
        </p:spPr>
        <p:txBody>
          <a:bodyPr wrap="square" lIns="0" tIns="0" rIns="0" bIns="0" rtlCol="0" anchor="ctr"/>
          <a:lstStyle/>
          <a:p>
            <a:pPr algn="r" indent="0" marL="0">
              <a:buNone/>
            </a:pPr>
            <a:r>
              <a:rPr lang="en-US" sz="1200" dirty="0">
                <a:solidFill>
                  <a:schemeClr val="tx2"/>
                </a:solidFill>
                <a:latin typeface="Arial" pitchFamily="34" charset="0"/>
                <a:ea typeface="Arial" pitchFamily="34" charset="-122"/>
                <a:cs typeface="Arial" pitchFamily="34" charset="-120"/>
              </a:rPr>
              <a:t>21</a:t>
            </a:r>
            <a:endParaRPr lang="en-US" sz="1200" dirty="0"/>
          </a:p>
        </p:txBody>
      </p:sp>
      <p:pic>
        <p:nvPicPr>
          <p:cNvPr id="21" name="!!badge" descr="University of Technology and Applied Sciences, Salalah">    </p:cNvPr>
          <p:cNvPicPr>
            <a:picLocks noChangeAspect="1"/>
          </p:cNvPicPr>
          <p:nvPr/>
        </p:nvPicPr>
        <p:blipFill>
          <a:blip r:embed="rId6"/>
          <a:stretch>
            <a:fillRect/>
          </a:stretch>
        </p:blipFill>
        <p:spPr>
          <a:xfrm>
            <a:off x="9677095" y="274320"/>
            <a:ext cx="1965960" cy="80987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0" presetClass="path" presetSubtype="0" fill="hold" grpId="0" nodeType="afterEffect" repeatCount="indefinite" autoRev="1">
                                  <p:stCondLst>
                                    <p:cond delay="0"/>
                                  </p:stCondLst>
                                  <p:childTnLst>
                                    <p:animMotion origin="layout" path="M 0 0 L 0.0350 -0.0300 E" pathEditMode="relative" ptsTypes="">
                                      <p:cBhvr>
                                        <p:cTn id="5" dur="13000" fill="hold" accel="50000" decel="50000"/>
                                        <p:tgtEl>
                                          <p:spTgt spid="2"/>
                                        </p:tgtEl>
                                        <p:attrNameLst>
                                          <p:attrName>ppt_x</p:attrName>
                                          <p:attrName>ppt_y</p:attrName>
                                        </p:attrNameLst>
                                      </p:cBhvr>
                                      <p:rCtr x="0" y="0"/>
                                    </p:animMotion>
                                  </p:childTnLst>
                                </p:cTn>
                              </p:par>
                              <p:par>
                                <p:cTn id="8" presetID="0" presetClass="path" presetSubtype="0" fill="hold" grpId="0" nodeType="withEffect" repeatCount="indefinite" autoRev="1">
                                  <p:stCondLst>
                                    <p:cond delay="0"/>
                                  </p:stCondLst>
                                  <p:childTnLst>
                                    <p:animMotion origin="layout" path="M 0 0 L -0.0300 0.0250 E" pathEditMode="relative" ptsTypes="">
                                      <p:cBhvr>
                                        <p:cTn id="7" dur="15000" fill="hold" accel="50000" decel="50000"/>
                                        <p:tgtEl>
                                          <p:spTgt spid="3"/>
                                        </p:tgtEl>
                                        <p:attrNameLst>
                                          <p:attrName>ppt_x</p:attrName>
                                          <p:attrName>ppt_y</p:attrName>
                                        </p:attrNameLst>
                                      </p:cBhvr>
                                      <p:rCtr x="0" y="0"/>
                                    </p:animMotion>
                                  </p:childTnLst>
                                </p:cTn>
                              </p:par>
                              <p:par>
                                <p:cTn id="11" presetID="22" presetClass="entr" presetSubtype="8" fill="hold" grpId="0" nodeType="withEffect">
                                  <p:stCondLst>
                                    <p:cond delay="25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1900" decel="100000"/>
                                        <p:tgtEl>
                                          <p:spTgt spid="6"/>
                                        </p:tgtEl>
                                      </p:cBhvr>
                                    </p:animEffect>
                                  </p:childTnLst>
                                </p:cTn>
                              </p:par>
                              <p:par>
                                <p:cTn id="14" presetID="10" presetClass="entr" presetSubtype="0" fill="hold" grpId="0" nodeType="withEffect">
                                  <p:stCondLst>
                                    <p:cond delay="30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700" decel="100000"/>
                                        <p:tgtEl>
                                          <p:spTgt spid="9"/>
                                        </p:tgtEl>
                                      </p:cBhvr>
                                    </p:animEffect>
                                  </p:childTnLst>
                                </p:cTn>
                              </p:par>
                              <p:par>
                                <p:cTn id="17" presetID="10" presetClass="entr" presetSubtype="0" fill="hold" grpId="0" nodeType="withEffect">
                                  <p:stCondLst>
                                    <p:cond delay="50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700" decel="100000"/>
                                        <p:tgtEl>
                                          <p:spTgt spid="7"/>
                                        </p:tgtEl>
                                      </p:cBhvr>
                                    </p:animEffect>
                                  </p:childTnLst>
                                </p:cTn>
                              </p:par>
                              <p:par>
                                <p:cTn id="20" presetID="10" presetClass="entr" presetSubtype="0" fill="hold" grpId="0" nodeType="withEffect">
                                  <p:stCondLst>
                                    <p:cond delay="60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700" decel="100000"/>
                                        <p:tgtEl>
                                          <p:spTgt spid="8"/>
                                        </p:tgtEl>
                                      </p:cBhvr>
                                    </p:animEffect>
                                  </p:childTnLst>
                                </p:cTn>
                              </p:par>
                              <p:par>
                                <p:cTn id="25" presetID="53" presetClass="entr" presetSubtype="16" fill="hold" grpId="0" nodeType="withEffect">
                                  <p:stCondLst>
                                    <p:cond delay="1336"/>
                                  </p:stCondLst>
                                  <p:childTnLst>
                                    <p:set>
                                      <p:cBhvr>
                                        <p:cTn id="21" dur="1" fill="hold">
                                          <p:stCondLst>
                                            <p:cond delay="0"/>
                                          </p:stCondLst>
                                        </p:cTn>
                                        <p:tgtEl>
                                          <p:spTgt spid="10"/>
                                        </p:tgtEl>
                                        <p:attrNameLst>
                                          <p:attrName>style.visibility</p:attrName>
                                        </p:attrNameLst>
                                      </p:cBhvr>
                                      <p:to>
                                        <p:strVal val="visible"/>
                                      </p:to>
                                    </p:set>
                                    <p:anim calcmode="lin" valueType="num">
                                      <p:cBhvr>
                                        <p:cTn id="22" dur="700" fill="hold" decel="100000"/>
                                        <p:tgtEl>
                                          <p:spTgt spid="10"/>
                                        </p:tgtEl>
                                        <p:attrNameLst>
                                          <p:attrName>ppt_w</p:attrName>
                                        </p:attrNameLst>
                                      </p:cBhvr>
                                      <p:tavLst>
                                        <p:tav tm="0">
                                          <p:val>
                                            <p:strVal val="#ppt_w*1.800"/>
                                          </p:val>
                                        </p:tav>
                                        <p:tav tm="100000">
                                          <p:val>
                                            <p:strVal val="#ppt_w"/>
                                          </p:val>
                                        </p:tav>
                                      </p:tavLst>
                                    </p:anim>
                                    <p:anim calcmode="lin" valueType="num">
                                      <p:cBhvr>
                                        <p:cTn id="23" dur="700" fill="hold" decel="100000"/>
                                        <p:tgtEl>
                                          <p:spTgt spid="10"/>
                                        </p:tgtEl>
                                        <p:attrNameLst>
                                          <p:attrName>ppt_h</p:attrName>
                                        </p:attrNameLst>
                                      </p:cBhvr>
                                      <p:tavLst>
                                        <p:tav tm="0">
                                          <p:val>
                                            <p:strVal val="#ppt_h*1.800"/>
                                          </p:val>
                                        </p:tav>
                                        <p:tav tm="100000">
                                          <p:val>
                                            <p:strVal val="#ppt_h"/>
                                          </p:val>
                                        </p:tav>
                                      </p:tavLst>
                                    </p:anim>
                                    <p:animEffect transition="in" filter="fade">
                                      <p:cBhvr>
                                        <p:cTn id="24" dur="489" decel="100000"/>
                                        <p:tgtEl>
                                          <p:spTgt spid="10"/>
                                        </p:tgtEl>
                                      </p:cBhvr>
                                    </p:animEffect>
                                  </p:childTnLst>
                                </p:cTn>
                              </p:par>
                              <p:par>
                                <p:cTn id="30" presetID="53" presetClass="entr" presetSubtype="16" fill="hold" grpId="0" nodeType="withEffect">
                                  <p:stCondLst>
                                    <p:cond delay="1750"/>
                                  </p:stCondLst>
                                  <p:childTnLst>
                                    <p:set>
                                      <p:cBhvr>
                                        <p:cTn id="26" dur="1" fill="hold">
                                          <p:stCondLst>
                                            <p:cond delay="0"/>
                                          </p:stCondLst>
                                        </p:cTn>
                                        <p:tgtEl>
                                          <p:spTgt spid="11"/>
                                        </p:tgtEl>
                                        <p:attrNameLst>
                                          <p:attrName>style.visibility</p:attrName>
                                        </p:attrNameLst>
                                      </p:cBhvr>
                                      <p:to>
                                        <p:strVal val="visible"/>
                                      </p:to>
                                    </p:set>
                                    <p:anim calcmode="lin" valueType="num">
                                      <p:cBhvr>
                                        <p:cTn id="27" dur="1000" fill="hold" decel="100000"/>
                                        <p:tgtEl>
                                          <p:spTgt spid="11"/>
                                        </p:tgtEl>
                                        <p:attrNameLst>
                                          <p:attrName>ppt_w</p:attrName>
                                        </p:attrNameLst>
                                      </p:cBhvr>
                                      <p:tavLst>
                                        <p:tav tm="0">
                                          <p:val>
                                            <p:strVal val="#ppt_w*0.880"/>
                                          </p:val>
                                        </p:tav>
                                        <p:tav tm="100000">
                                          <p:val>
                                            <p:strVal val="#ppt_w"/>
                                          </p:val>
                                        </p:tav>
                                      </p:tavLst>
                                    </p:anim>
                                    <p:anim calcmode="lin" valueType="num">
                                      <p:cBhvr>
                                        <p:cTn id="28" dur="1000" fill="hold" decel="100000"/>
                                        <p:tgtEl>
                                          <p:spTgt spid="11"/>
                                        </p:tgtEl>
                                        <p:attrNameLst>
                                          <p:attrName>ppt_h</p:attrName>
                                        </p:attrNameLst>
                                      </p:cBhvr>
                                      <p:tavLst>
                                        <p:tav tm="0">
                                          <p:val>
                                            <p:strVal val="#ppt_h*0.880"/>
                                          </p:val>
                                        </p:tav>
                                        <p:tav tm="100000">
                                          <p:val>
                                            <p:strVal val="#ppt_h"/>
                                          </p:val>
                                        </p:tav>
                                      </p:tavLst>
                                    </p:anim>
                                    <p:animEffect transition="in" filter="fade">
                                      <p:cBhvr>
                                        <p:cTn id="29" dur="700" decel="100000"/>
                                        <p:tgtEl>
                                          <p:spTgt spid="11"/>
                                        </p:tgtEl>
                                      </p:cBhvr>
                                    </p:animEffect>
                                  </p:childTnLst>
                                </p:cTn>
                              </p:par>
                              <p:par>
                                <p:cTn id="35" presetID="42" presetClass="entr" presetSubtype="0" fill="hold" grpId="0" nodeType="withEffect">
                                  <p:stCondLst>
                                    <p:cond delay="200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640" decel="100000"/>
                                        <p:tgtEl>
                                          <p:spTgt spid="12"/>
                                        </p:tgtEl>
                                      </p:cBhvr>
                                    </p:animEffect>
                                    <p:anim calcmode="lin" valueType="num">
                                      <p:cBhvr>
                                        <p:cTn id="33" dur="800" fill="hold" decel="100000"/>
                                        <p:tgtEl>
                                          <p:spTgt spid="12"/>
                                        </p:tgtEl>
                                        <p:attrNameLst>
                                          <p:attrName>ppt_x</p:attrName>
                                        </p:attrNameLst>
                                      </p:cBhvr>
                                      <p:tavLst>
                                        <p:tav tm="0">
                                          <p:val>
                                            <p:strVal val="#ppt_x"/>
                                          </p:val>
                                        </p:tav>
                                        <p:tav tm="100000">
                                          <p:val>
                                            <p:strVal val="#ppt_x"/>
                                          </p:val>
                                        </p:tav>
                                      </p:tavLst>
                                    </p:anim>
                                    <p:anim calcmode="lin" valueType="num">
                                      <p:cBhvr>
                                        <p:cTn id="34" dur="800" fill="hold" decel="100000"/>
                                        <p:tgtEl>
                                          <p:spTgt spid="12"/>
                                        </p:tgtEl>
                                        <p:attrNameLst>
                                          <p:attrName>ppt_y</p:attrName>
                                        </p:attrNameLst>
                                      </p:cBhvr>
                                      <p:tavLst>
                                        <p:tav tm="0">
                                          <p:val>
                                            <p:strVal val="#ppt_y+0.0250"/>
                                          </p:val>
                                        </p:tav>
                                        <p:tav tm="100000">
                                          <p:val>
                                            <p:strVal val="#ppt_y"/>
                                          </p:val>
                                        </p:tav>
                                      </p:tavLst>
                                    </p:anim>
                                  </p:childTnLst>
                                </p:cTn>
                              </p:par>
                              <p:par>
                                <p:cTn id="40" presetID="42" presetClass="entr" presetSubtype="0" fill="hold" grpId="0" nodeType="withEffect">
                                  <p:stCondLst>
                                    <p:cond delay="220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640" decel="100000"/>
                                        <p:tgtEl>
                                          <p:spTgt spid="13"/>
                                        </p:tgtEl>
                                      </p:cBhvr>
                                    </p:animEffect>
                                    <p:anim calcmode="lin" valueType="num">
                                      <p:cBhvr>
                                        <p:cTn id="38" dur="800" fill="hold" decel="100000"/>
                                        <p:tgtEl>
                                          <p:spTgt spid="13"/>
                                        </p:tgtEl>
                                        <p:attrNameLst>
                                          <p:attrName>ppt_x</p:attrName>
                                        </p:attrNameLst>
                                      </p:cBhvr>
                                      <p:tavLst>
                                        <p:tav tm="0">
                                          <p:val>
                                            <p:strVal val="#ppt_x"/>
                                          </p:val>
                                        </p:tav>
                                        <p:tav tm="100000">
                                          <p:val>
                                            <p:strVal val="#ppt_x"/>
                                          </p:val>
                                        </p:tav>
                                      </p:tavLst>
                                    </p:anim>
                                    <p:anim calcmode="lin" valueType="num">
                                      <p:cBhvr>
                                        <p:cTn id="39" dur="800" fill="hold" decel="100000"/>
                                        <p:tgtEl>
                                          <p:spTgt spid="13"/>
                                        </p:tgtEl>
                                        <p:attrNameLst>
                                          <p:attrName>ppt_y</p:attrName>
                                        </p:attrNameLst>
                                      </p:cBhvr>
                                      <p:tavLst>
                                        <p:tav tm="0">
                                          <p:val>
                                            <p:strVal val="#ppt_y+0.0250"/>
                                          </p:val>
                                        </p:tav>
                                        <p:tav tm="100000">
                                          <p:val>
                                            <p:strVal val="#ppt_y"/>
                                          </p:val>
                                        </p:tav>
                                      </p:tavLst>
                                    </p:anim>
                                  </p:childTnLst>
                                </p:cTn>
                              </p:par>
                              <p:par>
                                <p:cTn id="42" presetID="6" presetClass="emph" presetSubtype="0" fill="hold" grpId="1" nodeType="withEffect" repeatCount="indefinite" autoRev="1">
                                  <p:stCondLst>
                                    <p:cond delay="3200"/>
                                  </p:stCondLst>
                                  <p:childTnLst>
                                    <p:animScale>
                                      <p:cBhvr>
                                        <p:cTn id="41" dur="1500" fill="hold" accel="50000" decel="50000"/>
                                        <p:tgtEl>
                                          <p:spTgt spid="10"/>
                                        </p:tgtEl>
                                      </p:cBhvr>
                                      <p:by x="115000" y="11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P spid="9" grpId="0" animBg="1"/>
      <p:bldP spid="7" grpId="0" animBg="1"/>
      <p:bldP spid="8" grpId="0" animBg="1"/>
      <p:bldP spid="10" grpId="0" animBg="1"/>
      <p:bldP spid="11" grpId="0" animBg="1"/>
      <p:bldP spid="12" grpId="0" animBg="1"/>
      <p:bldP spid="13" grpId="0" animBg="1"/>
      <p:bldP spid="10" grpId="1" animBg="1"/>
    </p:bldLst>
  </p:timing>
</p:sld>
</file>

<file path=ppt/slides/slide27.xml><?xml version="1.0" encoding="utf-8"?>
<p:sld xmlns:p14="http://schemas.microsoft.com/office/powerpoint/2010/main"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orbA" descr="Decorative background light">    </p:cNvPr>
          <p:cNvPicPr>
            <a:picLocks noChangeAspect="1"/>
          </p:cNvPicPr>
          <p:nvPr/>
        </p:nvPicPr>
        <p:blipFill>
          <a:blip r:embed="rId1"/>
          <a:stretch>
            <a:fillRect/>
          </a:stretch>
        </p:blipFill>
        <p:spPr>
          <a:xfrm>
            <a:off x="457200" y="-1188720"/>
            <a:ext cx="8229600" cy="8229600"/>
          </a:xfrm>
          <a:prstGeom prst="rect">
            <a:avLst/>
          </a:prstGeom>
        </p:spPr>
      </p:pic>
      <p:pic>
        <p:nvPicPr>
          <p:cNvPr id="3" name="!!orbB" descr="Decorative background light">    </p:cNvPr>
          <p:cNvPicPr>
            <a:picLocks noChangeAspect="1"/>
          </p:cNvPicPr>
          <p:nvPr/>
        </p:nvPicPr>
        <p:blipFill>
          <a:blip r:embed="rId2"/>
          <a:stretch>
            <a:fillRect/>
          </a:stretch>
        </p:blipFill>
        <p:spPr>
          <a:xfrm>
            <a:off x="9144000" y="4023360"/>
            <a:ext cx="4572000" cy="4572000"/>
          </a:xfrm>
          <a:prstGeom prst="rect">
            <a:avLst/>
          </a:prstGeom>
        </p:spPr>
      </p:pic>
      <p:sp>
        <p:nvSpPr>
          <p:cNvPr id="4" name="!!kicker"/>
          <p:cNvSpPr/>
          <p:nvPr>
            <p:ph idx="100" type="body" hasCustomPrompt="1"/>
          </p:nvPr>
        </p:nvSpPr>
        <p:spPr>
          <a:xfrm>
            <a:off x="548640" y="384048"/>
            <a:ext cx="8732520" cy="329184"/>
          </a:xfrm>
          <a:prstGeom prst="rect">
            <a:avLst/>
          </a:prstGeom>
          <a:noFill/>
          <a:ln/>
        </p:spPr>
        <p:txBody>
          <a:bodyPr wrap="square" lIns="0" tIns="0" rIns="0" bIns="0" rtlCol="0" anchor="t"/>
          <a:lstStyle/>
          <a:p>
            <a:pPr algn="l" indent="0" marL="0">
              <a:buNone/>
            </a:pPr>
            <a:r>
              <a:rPr lang="en-US" sz="1500" b="1" spc="300" kern="0" dirty="0">
                <a:solidFill>
                  <a:schemeClr val="accent1"/>
                </a:solidFill>
              </a:rPr>
              <a:t>04 — EXPORTS &amp; COSTS</a:t>
            </a:r>
            <a:endParaRPr lang="en-US" sz="1500" dirty="0"/>
          </a:p>
        </p:txBody>
      </p:sp>
      <p:sp>
        <p:nvSpPr>
          <p:cNvPr id="5" name="!!title"/>
          <p:cNvSpPr/>
          <p:nvPr>
            <p:ph idx="101" type="title" hasCustomPrompt="1"/>
          </p:nvPr>
        </p:nvSpPr>
        <p:spPr>
          <a:xfrm>
            <a:off x="548640" y="731520"/>
            <a:ext cx="8732520" cy="786384"/>
          </a:xfrm>
          <a:prstGeom prst="rect">
            <a:avLst/>
          </a:prstGeom>
          <a:noFill/>
          <a:ln/>
        </p:spPr>
        <p:txBody>
          <a:bodyPr wrap="square" lIns="0" tIns="0" rIns="0" bIns="0" rtlCol="0" anchor="t"/>
          <a:lstStyle/>
          <a:p>
            <a:pPr algn="l" indent="0" marL="0">
              <a:buNone/>
            </a:pPr>
            <a:r>
              <a:rPr lang="en-US" sz="3800" b="1" dirty="0">
                <a:solidFill>
                  <a:schemeClr val="tx1"/>
                </a:solidFill>
              </a:rPr>
              <a:t>The price of a barrel, 2000–2025</a:t>
            </a:r>
            <a:endParaRPr lang="en-US" sz="3800" dirty="0"/>
          </a:p>
        </p:txBody>
      </p:sp>
      <p:graphicFrame>
        <p:nvGraphicFramePr>
          <p:cNvPr id="6" name="prices_brent" descr=""/>
          <p:cNvGraphicFramePr/>
          <p:nvPr/>
        </p:nvGraphicFramePr>
        <p:xfrm>
          <a:off x="457200" y="1783080"/>
          <a:ext cx="7863840" cy="4069080"/>
        </p:xfrm>
        <a:graphic xmlns:a="http://schemas.openxmlformats.org/drawingml/2006/main">
          <a:graphicData uri="http://schemas.openxmlformats.org/drawingml/2006/chart">
            <c:chart xmlns:c="http://schemas.openxmlformats.org/drawingml/2006/chart" r:id="rId3"/>
          </a:graphicData>
        </a:graphic>
      </p:graphicFrame>
      <p:sp>
        <p:nvSpPr>
          <p:cNvPr id="7" name="prices_t_1"/>
          <p:cNvSpPr txBox="1"/>
          <p:nvPr/>
        </p:nvSpPr>
        <p:spPr>
          <a:xfrm>
            <a:off x="548640" y="1554480"/>
            <a:ext cx="5486400" cy="27432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Brent crude, annual average (US$ per barrel)</a:t>
            </a:r>
            <a:endParaRPr lang="en-US" sz="1400" dirty="0"/>
          </a:p>
        </p:txBody>
      </p:sp>
      <p:sp>
        <p:nvSpPr>
          <p:cNvPr id="8" name="prices_t_2"/>
          <p:cNvSpPr txBox="1"/>
          <p:nvPr/>
        </p:nvSpPr>
        <p:spPr>
          <a:xfrm>
            <a:off x="932266" y="5410505"/>
            <a:ext cx="731520" cy="274320"/>
          </a:xfrm>
          <a:prstGeom prst="rect">
            <a:avLst/>
          </a:prstGeom>
          <a:noFill/>
          <a:ln/>
        </p:spPr>
        <p:txBody>
          <a:bodyPr wrap="square" lIns="0" tIns="0" rIns="0" bIns="0" rtlCol="0" anchor="t"/>
          <a:lstStyle/>
          <a:p>
            <a:pPr algn="ctr" indent="0" marL="0">
              <a:buNone/>
            </a:pPr>
            <a:r>
              <a:rPr lang="en-US" sz="1600" dirty="0">
                <a:solidFill>
                  <a:schemeClr val="tx2"/>
                </a:solidFill>
                <a:latin typeface="Arial" pitchFamily="34" charset="0"/>
                <a:ea typeface="Arial" pitchFamily="34" charset="-122"/>
                <a:cs typeface="Arial" pitchFamily="34" charset="-120"/>
              </a:rPr>
              <a:t>2000</a:t>
            </a:r>
            <a:endParaRPr lang="en-US" sz="1600" dirty="0"/>
          </a:p>
        </p:txBody>
      </p:sp>
      <p:sp>
        <p:nvSpPr>
          <p:cNvPr id="9" name="prices_t_3"/>
          <p:cNvSpPr txBox="1"/>
          <p:nvPr/>
        </p:nvSpPr>
        <p:spPr>
          <a:xfrm>
            <a:off x="2263070" y="5410505"/>
            <a:ext cx="731520" cy="274320"/>
          </a:xfrm>
          <a:prstGeom prst="rect">
            <a:avLst/>
          </a:prstGeom>
          <a:noFill/>
          <a:ln/>
        </p:spPr>
        <p:txBody>
          <a:bodyPr wrap="square" lIns="0" tIns="0" rIns="0" bIns="0" rtlCol="0" anchor="t"/>
          <a:lstStyle/>
          <a:p>
            <a:pPr algn="ctr" indent="0" marL="0">
              <a:buNone/>
            </a:pPr>
            <a:r>
              <a:rPr lang="en-US" sz="1600" dirty="0">
                <a:solidFill>
                  <a:schemeClr val="tx2"/>
                </a:solidFill>
                <a:latin typeface="Arial" pitchFamily="34" charset="0"/>
                <a:ea typeface="Arial" pitchFamily="34" charset="-122"/>
                <a:cs typeface="Arial" pitchFamily="34" charset="-120"/>
              </a:rPr>
              <a:t>2005</a:t>
            </a:r>
            <a:endParaRPr lang="en-US" sz="1600" dirty="0"/>
          </a:p>
        </p:txBody>
      </p:sp>
      <p:sp>
        <p:nvSpPr>
          <p:cNvPr id="10" name="prices_t_4"/>
          <p:cNvSpPr txBox="1"/>
          <p:nvPr/>
        </p:nvSpPr>
        <p:spPr>
          <a:xfrm>
            <a:off x="3593873" y="5410505"/>
            <a:ext cx="731520" cy="274320"/>
          </a:xfrm>
          <a:prstGeom prst="rect">
            <a:avLst/>
          </a:prstGeom>
          <a:noFill/>
          <a:ln/>
        </p:spPr>
        <p:txBody>
          <a:bodyPr wrap="square" lIns="0" tIns="0" rIns="0" bIns="0" rtlCol="0" anchor="t"/>
          <a:lstStyle/>
          <a:p>
            <a:pPr algn="ctr" indent="0" marL="0">
              <a:buNone/>
            </a:pPr>
            <a:r>
              <a:rPr lang="en-US" sz="1600" dirty="0">
                <a:solidFill>
                  <a:schemeClr val="tx2"/>
                </a:solidFill>
                <a:latin typeface="Arial" pitchFamily="34" charset="0"/>
                <a:ea typeface="Arial" pitchFamily="34" charset="-122"/>
                <a:cs typeface="Arial" pitchFamily="34" charset="-120"/>
              </a:rPr>
              <a:t>2010</a:t>
            </a:r>
            <a:endParaRPr lang="en-US" sz="1600" dirty="0"/>
          </a:p>
        </p:txBody>
      </p:sp>
      <p:sp>
        <p:nvSpPr>
          <p:cNvPr id="11" name="prices_t_5"/>
          <p:cNvSpPr txBox="1"/>
          <p:nvPr/>
        </p:nvSpPr>
        <p:spPr>
          <a:xfrm>
            <a:off x="4924677" y="5410505"/>
            <a:ext cx="731520" cy="274320"/>
          </a:xfrm>
          <a:prstGeom prst="rect">
            <a:avLst/>
          </a:prstGeom>
          <a:noFill/>
          <a:ln/>
        </p:spPr>
        <p:txBody>
          <a:bodyPr wrap="square" lIns="0" tIns="0" rIns="0" bIns="0" rtlCol="0" anchor="t"/>
          <a:lstStyle/>
          <a:p>
            <a:pPr algn="ctr" indent="0" marL="0">
              <a:buNone/>
            </a:pPr>
            <a:r>
              <a:rPr lang="en-US" sz="1600" dirty="0">
                <a:solidFill>
                  <a:schemeClr val="tx2"/>
                </a:solidFill>
                <a:latin typeface="Arial" pitchFamily="34" charset="0"/>
                <a:ea typeface="Arial" pitchFamily="34" charset="-122"/>
                <a:cs typeface="Arial" pitchFamily="34" charset="-120"/>
              </a:rPr>
              <a:t>2015</a:t>
            </a:r>
            <a:endParaRPr lang="en-US" sz="1600" dirty="0"/>
          </a:p>
        </p:txBody>
      </p:sp>
      <p:sp>
        <p:nvSpPr>
          <p:cNvPr id="12" name="prices_t_6"/>
          <p:cNvSpPr txBox="1"/>
          <p:nvPr/>
        </p:nvSpPr>
        <p:spPr>
          <a:xfrm>
            <a:off x="6255481" y="5410505"/>
            <a:ext cx="731520" cy="274320"/>
          </a:xfrm>
          <a:prstGeom prst="rect">
            <a:avLst/>
          </a:prstGeom>
          <a:noFill/>
          <a:ln/>
        </p:spPr>
        <p:txBody>
          <a:bodyPr wrap="square" lIns="0" tIns="0" rIns="0" bIns="0" rtlCol="0" anchor="t"/>
          <a:lstStyle/>
          <a:p>
            <a:pPr algn="ctr" indent="0" marL="0">
              <a:buNone/>
            </a:pPr>
            <a:r>
              <a:rPr lang="en-US" sz="1600" dirty="0">
                <a:solidFill>
                  <a:schemeClr val="tx2"/>
                </a:solidFill>
                <a:latin typeface="Arial" pitchFamily="34" charset="0"/>
                <a:ea typeface="Arial" pitchFamily="34" charset="-122"/>
                <a:cs typeface="Arial" pitchFamily="34" charset="-120"/>
              </a:rPr>
              <a:t>2020</a:t>
            </a:r>
            <a:endParaRPr lang="en-US" sz="1600" dirty="0"/>
          </a:p>
        </p:txBody>
      </p:sp>
      <p:sp>
        <p:nvSpPr>
          <p:cNvPr id="13" name="prices_t_7"/>
          <p:cNvSpPr txBox="1"/>
          <p:nvPr/>
        </p:nvSpPr>
        <p:spPr>
          <a:xfrm>
            <a:off x="7586284" y="5410505"/>
            <a:ext cx="731520" cy="274320"/>
          </a:xfrm>
          <a:prstGeom prst="rect">
            <a:avLst/>
          </a:prstGeom>
          <a:noFill/>
          <a:ln/>
        </p:spPr>
        <p:txBody>
          <a:bodyPr wrap="square" lIns="0" tIns="0" rIns="0" bIns="0" rtlCol="0" anchor="t"/>
          <a:lstStyle/>
          <a:p>
            <a:pPr algn="ctr" indent="0" marL="0">
              <a:buNone/>
            </a:pPr>
            <a:r>
              <a:rPr lang="en-US" sz="1600" dirty="0">
                <a:solidFill>
                  <a:schemeClr val="tx2"/>
                </a:solidFill>
                <a:latin typeface="Arial" pitchFamily="34" charset="0"/>
                <a:ea typeface="Arial" pitchFamily="34" charset="-122"/>
                <a:cs typeface="Arial" pitchFamily="34" charset="-120"/>
              </a:rPr>
              <a:t>2025</a:t>
            </a:r>
            <a:endParaRPr lang="en-US" sz="1600" dirty="0"/>
          </a:p>
        </p:txBody>
      </p:sp>
      <p:sp>
        <p:nvSpPr>
          <p:cNvPr id="14" name="prices_s_8"/>
          <p:cNvSpPr/>
          <p:nvPr/>
        </p:nvSpPr>
        <p:spPr>
          <a:xfrm>
            <a:off x="3345016" y="3096424"/>
            <a:ext cx="164592" cy="164592"/>
          </a:xfrm>
          <a:prstGeom prst="ellipse">
            <a:avLst/>
          </a:prstGeom>
          <a:solidFill>
            <a:srgbClr val="F5F5F7"/>
          </a:solidFill>
          <a:ln w="31750">
            <a:solidFill>
              <a:srgbClr val="FF9F0A"/>
            </a:solidFill>
            <a:prstDash val="solid"/>
          </a:ln>
        </p:spPr>
      </p:sp>
      <p:sp>
        <p:nvSpPr>
          <p:cNvPr id="15" name="prices_t_9"/>
          <p:cNvSpPr txBox="1"/>
          <p:nvPr/>
        </p:nvSpPr>
        <p:spPr>
          <a:xfrm>
            <a:off x="1324192" y="2342322"/>
            <a:ext cx="2286000" cy="566928"/>
          </a:xfrm>
          <a:prstGeom prst="rect">
            <a:avLst/>
          </a:prstGeom>
          <a:noFill/>
          <a:ln/>
        </p:spPr>
        <p:txBody>
          <a:bodyPr wrap="square" lIns="0" tIns="0" rIns="0" bIns="0" rtlCol="0" anchor="t"/>
          <a:lstStyle/>
          <a:p>
            <a:pPr algn="r" indent="0" marL="0">
              <a:buNone/>
            </a:pPr>
            <a:r>
              <a:rPr lang="en-US" sz="1500" b="1" dirty="0">
                <a:solidFill>
                  <a:schemeClr val="tx1"/>
                </a:solidFill>
                <a:latin typeface="Arial" pitchFamily="34" charset="0"/>
                <a:ea typeface="Arial" pitchFamily="34" charset="-122"/>
                <a:cs typeface="Arial" pitchFamily="34" charset="-120"/>
              </a:rPr>
              <a:t>2008</a:t>
            </a:r>
            <a:endParaRPr lang="en-US" sz="1500" dirty="0"/>
          </a:p>
          <a:p>
            <a:pPr algn="r" indent="0" marL="0">
              <a:buNone/>
            </a:pPr>
            <a:r>
              <a:rPr lang="en-US" sz="1500" dirty="0">
                <a:solidFill>
                  <a:schemeClr val="tx2"/>
                </a:solidFill>
                <a:latin typeface="Arial" pitchFamily="34" charset="0"/>
                <a:ea typeface="Arial" pitchFamily="34" charset="-122"/>
                <a:cs typeface="Arial" pitchFamily="34" charset="-120"/>
              </a:rPr>
              <a:t>$97 average, $144 peak</a:t>
            </a:r>
            <a:endParaRPr lang="en-US" sz="1500" dirty="0"/>
          </a:p>
        </p:txBody>
      </p:sp>
      <p:sp>
        <p:nvSpPr>
          <p:cNvPr id="16" name="prices_s_10"/>
          <p:cNvSpPr/>
          <p:nvPr/>
        </p:nvSpPr>
        <p:spPr>
          <a:xfrm>
            <a:off x="5474302" y="4253128"/>
            <a:ext cx="164592" cy="164592"/>
          </a:xfrm>
          <a:prstGeom prst="ellipse">
            <a:avLst/>
          </a:prstGeom>
          <a:solidFill>
            <a:srgbClr val="F5F5F7"/>
          </a:solidFill>
          <a:ln w="31750">
            <a:solidFill>
              <a:srgbClr val="FF9F0A"/>
            </a:solidFill>
            <a:prstDash val="solid"/>
          </a:ln>
        </p:spPr>
      </p:sp>
      <p:sp>
        <p:nvSpPr>
          <p:cNvPr id="17" name="prices_t_11"/>
          <p:cNvSpPr txBox="1"/>
          <p:nvPr/>
        </p:nvSpPr>
        <p:spPr>
          <a:xfrm>
            <a:off x="3453478" y="4554763"/>
            <a:ext cx="2286000" cy="566928"/>
          </a:xfrm>
          <a:prstGeom prst="rect">
            <a:avLst/>
          </a:prstGeom>
          <a:noFill/>
          <a:ln/>
        </p:spPr>
        <p:txBody>
          <a:bodyPr wrap="square" lIns="0" tIns="0" rIns="0" bIns="0" rtlCol="0" anchor="t"/>
          <a:lstStyle/>
          <a:p>
            <a:pPr algn="r" indent="0" marL="0">
              <a:buNone/>
            </a:pPr>
            <a:r>
              <a:rPr lang="en-US" sz="1500" b="1" dirty="0">
                <a:solidFill>
                  <a:schemeClr val="tx1"/>
                </a:solidFill>
                <a:latin typeface="Arial" pitchFamily="34" charset="0"/>
                <a:ea typeface="Arial" pitchFamily="34" charset="-122"/>
                <a:cs typeface="Arial" pitchFamily="34" charset="-120"/>
              </a:rPr>
              <a:t>2016</a:t>
            </a:r>
            <a:endParaRPr lang="en-US" sz="1500" dirty="0"/>
          </a:p>
          <a:p>
            <a:pPr algn="r" indent="0" marL="0">
              <a:buNone/>
            </a:pPr>
            <a:r>
              <a:rPr lang="en-US" sz="1500" dirty="0">
                <a:solidFill>
                  <a:schemeClr val="tx2"/>
                </a:solidFill>
                <a:latin typeface="Arial" pitchFamily="34" charset="0"/>
                <a:ea typeface="Arial" pitchFamily="34" charset="-122"/>
                <a:cs typeface="Arial" pitchFamily="34" charset="-120"/>
              </a:rPr>
              <a:t>$44 average, $26 low</a:t>
            </a:r>
            <a:endParaRPr lang="en-US" sz="1500" dirty="0"/>
          </a:p>
        </p:txBody>
      </p:sp>
      <p:sp>
        <p:nvSpPr>
          <p:cNvPr id="18" name="prices_s_12"/>
          <p:cNvSpPr/>
          <p:nvPr/>
        </p:nvSpPr>
        <p:spPr>
          <a:xfrm>
            <a:off x="6538945" y="4289587"/>
            <a:ext cx="164592" cy="164592"/>
          </a:xfrm>
          <a:prstGeom prst="ellipse">
            <a:avLst/>
          </a:prstGeom>
          <a:solidFill>
            <a:srgbClr val="F5F5F7"/>
          </a:solidFill>
          <a:ln w="31750">
            <a:solidFill>
              <a:srgbClr val="FF9F0A"/>
            </a:solidFill>
            <a:prstDash val="solid"/>
          </a:ln>
        </p:spPr>
      </p:sp>
      <p:sp>
        <p:nvSpPr>
          <p:cNvPr id="19" name="prices_t_13"/>
          <p:cNvSpPr txBox="1"/>
          <p:nvPr/>
        </p:nvSpPr>
        <p:spPr>
          <a:xfrm>
            <a:off x="6438361" y="4554763"/>
            <a:ext cx="2286000" cy="566928"/>
          </a:xfrm>
          <a:prstGeom prst="rect">
            <a:avLst/>
          </a:prstGeom>
          <a:noFill/>
          <a:ln/>
        </p:spPr>
        <p:txBody>
          <a:bodyPr wrap="square" lIns="0" tIns="0" rIns="0" bIns="0" rtlCol="0" anchor="t"/>
          <a:lstStyle/>
          <a:p>
            <a:pPr algn="l" indent="0" marL="0">
              <a:buNone/>
            </a:pPr>
            <a:r>
              <a:rPr lang="en-US" sz="1500" b="1" dirty="0">
                <a:solidFill>
                  <a:schemeClr val="tx1"/>
                </a:solidFill>
                <a:latin typeface="Arial" pitchFamily="34" charset="0"/>
                <a:ea typeface="Arial" pitchFamily="34" charset="-122"/>
                <a:cs typeface="Arial" pitchFamily="34" charset="-120"/>
              </a:rPr>
              <a:t>2020</a:t>
            </a:r>
            <a:endParaRPr lang="en-US" sz="1500" dirty="0"/>
          </a:p>
          <a:p>
            <a:pPr algn="l" indent="0" marL="0">
              <a:buNone/>
            </a:pPr>
            <a:r>
              <a:rPr lang="en-US" sz="1500" dirty="0">
                <a:solidFill>
                  <a:schemeClr val="tx2"/>
                </a:solidFill>
                <a:latin typeface="Arial" pitchFamily="34" charset="0"/>
                <a:ea typeface="Arial" pitchFamily="34" charset="-122"/>
                <a:cs typeface="Arial" pitchFamily="34" charset="-120"/>
              </a:rPr>
              <a:t>COVID-19: $42</a:t>
            </a:r>
            <a:endParaRPr lang="en-US" sz="1500" dirty="0"/>
          </a:p>
        </p:txBody>
      </p:sp>
      <p:sp>
        <p:nvSpPr>
          <p:cNvPr id="20" name="prices_s_14"/>
          <p:cNvSpPr/>
          <p:nvPr/>
        </p:nvSpPr>
        <p:spPr>
          <a:xfrm>
            <a:off x="7071266" y="3009834"/>
            <a:ext cx="164592" cy="164592"/>
          </a:xfrm>
          <a:prstGeom prst="ellipse">
            <a:avLst/>
          </a:prstGeom>
          <a:solidFill>
            <a:srgbClr val="F5F5F7"/>
          </a:solidFill>
          <a:ln w="31750">
            <a:solidFill>
              <a:srgbClr val="FF9F0A"/>
            </a:solidFill>
            <a:prstDash val="solid"/>
          </a:ln>
        </p:spPr>
      </p:sp>
      <p:sp>
        <p:nvSpPr>
          <p:cNvPr id="21" name="prices_t_15"/>
          <p:cNvSpPr txBox="1"/>
          <p:nvPr/>
        </p:nvSpPr>
        <p:spPr>
          <a:xfrm>
            <a:off x="6010562" y="2342322"/>
            <a:ext cx="2286000" cy="566928"/>
          </a:xfrm>
          <a:prstGeom prst="rect">
            <a:avLst/>
          </a:prstGeom>
          <a:noFill/>
          <a:ln/>
        </p:spPr>
        <p:txBody>
          <a:bodyPr wrap="square" lIns="0" tIns="0" rIns="0" bIns="0" rtlCol="0" anchor="t"/>
          <a:lstStyle/>
          <a:p>
            <a:pPr algn="ctr" indent="0" marL="0">
              <a:buNone/>
            </a:pPr>
            <a:r>
              <a:rPr lang="en-US" sz="1500" b="1" dirty="0">
                <a:solidFill>
                  <a:schemeClr val="tx1"/>
                </a:solidFill>
                <a:latin typeface="Arial" pitchFamily="34" charset="0"/>
                <a:ea typeface="Arial" pitchFamily="34" charset="-122"/>
                <a:cs typeface="Arial" pitchFamily="34" charset="-120"/>
              </a:rPr>
              <a:t>2022</a:t>
            </a:r>
            <a:endParaRPr lang="en-US" sz="1500" dirty="0"/>
          </a:p>
          <a:p>
            <a:pPr algn="ctr" indent="0" marL="0">
              <a:buNone/>
            </a:pPr>
            <a:r>
              <a:rPr lang="en-US" sz="1500" dirty="0">
                <a:solidFill>
                  <a:schemeClr val="tx2"/>
                </a:solidFill>
                <a:latin typeface="Arial" pitchFamily="34" charset="0"/>
                <a:ea typeface="Arial" pitchFamily="34" charset="-122"/>
                <a:cs typeface="Arial" pitchFamily="34" charset="-120"/>
              </a:rPr>
              <a:t>war in Ukraine: $101</a:t>
            </a:r>
            <a:endParaRPr lang="en-US" sz="1500" dirty="0"/>
          </a:p>
        </p:txBody>
      </p:sp>
      <p:sp>
        <p:nvSpPr>
          <p:cNvPr id="22" name="prices_t_16"/>
          <p:cNvSpPr txBox="1"/>
          <p:nvPr/>
        </p:nvSpPr>
        <p:spPr>
          <a:xfrm>
            <a:off x="8641080" y="1783080"/>
            <a:ext cx="2999232" cy="2286000"/>
          </a:xfrm>
          <a:prstGeom prst="roundRect">
            <a:avLst>
              <a:gd name="adj" fmla="val 5600"/>
            </a:avLst>
          </a:prstGeom>
          <a:solidFill>
            <a:srgbClr val="1C1C1E"/>
          </a:solidFill>
          <a:ln w="9525">
            <a:solidFill>
              <a:srgbClr val="FFFFFF">
                <a:alpha val="10000"/>
              </a:srgbClr>
            </a:solidFill>
          </a:ln>
        </p:spPr>
        <p:txBody>
          <a:bodyPr wrap="square" lIns="177800" tIns="127000" rIns="152400" bIns="127000" rtlCol="0" anchor="t"/>
          <a:lstStyle/>
          <a:p>
            <a:pPr indent="0" marL="0">
              <a:spcAft>
                <a:spcPts val="600"/>
              </a:spcAft>
              <a:buNone/>
            </a:pPr>
            <a:r>
              <a:rPr lang="en-US" sz="1900" b="1" dirty="0">
                <a:solidFill>
                  <a:schemeClr val="tx1"/>
                </a:solidFill>
                <a:latin typeface="Arial" pitchFamily="34" charset="0"/>
                <a:ea typeface="Arial" pitchFamily="34" charset="-122"/>
                <a:cs typeface="Arial" pitchFamily="34" charset="-120"/>
              </a:rPr>
              <a:t>Kuwait Export Crude</a:t>
            </a:r>
            <a:endParaRPr lang="en-US" sz="1900" dirty="0"/>
          </a:p>
          <a:p>
            <a:pPr indent="0" marL="0">
              <a:spcAft>
                <a:spcPts val="600"/>
              </a:spcAft>
              <a:buNone/>
            </a:pPr>
            <a:r>
              <a:rPr lang="en-US" sz="2400" b="1" dirty="0">
                <a:solidFill>
                  <a:schemeClr val="accent1"/>
                </a:solidFill>
                <a:latin typeface="Arial" pitchFamily="34" charset="0"/>
                <a:ea typeface="Arial" pitchFamily="34" charset="-122"/>
                <a:cs typeface="Arial" pitchFamily="34" charset="-120"/>
              </a:rPr>
              <a:t>$84.26  (2023)</a:t>
            </a:r>
            <a:endParaRPr lang="en-US" sz="1900" dirty="0"/>
          </a:p>
          <a:p>
            <a:pPr indent="0" marL="0">
              <a:spcAft>
                <a:spcPts val="600"/>
              </a:spcAft>
              <a:buNone/>
            </a:pPr>
            <a:r>
              <a:rPr lang="en-US" sz="2400" b="1" dirty="0">
                <a:solidFill>
                  <a:schemeClr val="accent1"/>
                </a:solidFill>
                <a:latin typeface="Arial" pitchFamily="34" charset="0"/>
                <a:ea typeface="Arial" pitchFamily="34" charset="-122"/>
                <a:cs typeface="Arial" pitchFamily="34" charset="-120"/>
              </a:rPr>
              <a:t>$80.65  (2024)</a:t>
            </a:r>
            <a:endParaRPr lang="en-US" sz="1900" dirty="0"/>
          </a:p>
          <a:p>
            <a:pPr indent="0" marL="0">
              <a:spcAft>
                <a:spcPts val="600"/>
              </a:spcAft>
              <a:buNone/>
            </a:pPr>
            <a:r>
              <a:rPr lang="en-US" sz="1500" dirty="0">
                <a:solidFill>
                  <a:schemeClr val="tx2"/>
                </a:solidFill>
                <a:latin typeface="Arial" pitchFamily="34" charset="0"/>
                <a:ea typeface="Arial" pitchFamily="34" charset="-122"/>
                <a:cs typeface="Arial" pitchFamily="34" charset="-120"/>
              </a:rPr>
              <a:t>Medium-sour; KPC sets a monthly official selling price for each grade.</a:t>
            </a:r>
            <a:endParaRPr lang="en-US" sz="1900" dirty="0"/>
          </a:p>
        </p:txBody>
      </p:sp>
      <p:sp>
        <p:nvSpPr>
          <p:cNvPr id="23" name="prices_t_17"/>
          <p:cNvSpPr txBox="1"/>
          <p:nvPr/>
        </p:nvSpPr>
        <p:spPr>
          <a:xfrm>
            <a:off x="8641080" y="4251960"/>
            <a:ext cx="2999232" cy="1097280"/>
          </a:xfrm>
          <a:prstGeom prst="rect">
            <a:avLst/>
          </a:prstGeom>
          <a:noFill/>
          <a:ln/>
        </p:spPr>
        <p:txBody>
          <a:bodyPr wrap="square" lIns="0" tIns="0" rIns="0" bIns="0" rtlCol="0" anchor="t"/>
          <a:lstStyle/>
          <a:p>
            <a:pPr indent="0" marL="0">
              <a:buNone/>
            </a:pPr>
            <a:r>
              <a:rPr lang="en-US" sz="1500" b="1" dirty="0">
                <a:solidFill>
                  <a:schemeClr val="accent4"/>
                </a:solidFill>
                <a:latin typeface="Arial" pitchFamily="34" charset="0"/>
                <a:ea typeface="Arial" pitchFamily="34" charset="-122"/>
                <a:cs typeface="Arial" pitchFamily="34" charset="-120"/>
              </a:rPr>
              <a:t>2026 so far: </a:t>
            </a:r>
            <a:pPr indent="0" marL="0">
              <a:buNone/>
            </a:pPr>
            <a:r>
              <a:rPr lang="en-US" sz="1500" dirty="0">
                <a:solidFill>
                  <a:schemeClr val="tx2"/>
                </a:solidFill>
                <a:latin typeface="Arial" pitchFamily="34" charset="0"/>
                <a:ea typeface="Arial" pitchFamily="34" charset="-122"/>
                <a:cs typeface="Arial" pitchFamily="34" charset="-120"/>
              </a:rPr>
              <a:t>Brent averaged $93.03 up to 29 September, peaking at $138 on 7 April.</a:t>
            </a:r>
            <a:endParaRPr lang="en-US" sz="1500" dirty="0"/>
          </a:p>
        </p:txBody>
      </p:sp>
      <p:sp>
        <p:nvSpPr>
          <p:cNvPr id="24" name="!!source"/>
          <p:cNvSpPr txBox="1"/>
          <p:nvPr/>
        </p:nvSpPr>
        <p:spPr>
          <a:xfrm>
            <a:off x="548640" y="5943600"/>
            <a:ext cx="9692640" cy="274320"/>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Sources: EIA (2026), annual averages of daily Brent prices; OPEC (2025a), Kuwait Export Crude.</a:t>
            </a:r>
            <a:endParaRPr lang="en-US" sz="1200" dirty="0"/>
          </a:p>
        </p:txBody>
      </p:sp>
      <p:sp>
        <p:nvSpPr>
          <p:cNvPr id="25" name="!!home_bg"/>
          <p:cNvSpPr/>
          <p:nvPr/>
        </p:nvSpPr>
        <p:spPr>
          <a:xfrm>
            <a:off x="10637215" y="6272784"/>
            <a:ext cx="384048" cy="384048"/>
          </a:xfrm>
          <a:prstGeom prst="roundRect">
            <a:avLst>
              <a:gd name="adj" fmla="val 23810"/>
            </a:avLst>
          </a:prstGeom>
          <a:solidFill>
            <a:srgbClr val="2C2C2E"/>
          </a:solidFill>
          <a:ln/>
        </p:spPr>
      </p:sp>
      <p:pic>
        <p:nvPicPr>
          <p:cNvPr id="26" name="!!home_ic" descr="Decorative graphic">    </p:cNvPr>
          <p:cNvPicPr>
            <a:picLocks noChangeAspect="1"/>
          </p:cNvPicPr>
          <p:nvPr/>
        </p:nvPicPr>
        <p:blipFill>
          <a:blip r:embed="rId4"/>
          <a:stretch>
            <a:fillRect/>
          </a:stretch>
        </p:blipFill>
        <p:spPr>
          <a:xfrm>
            <a:off x="10719511" y="6355080"/>
            <a:ext cx="219456" cy="219456"/>
          </a:xfrm>
          <a:prstGeom prst="rect">
            <a:avLst/>
          </a:prstGeom>
        </p:spPr>
      </p:pic>
      <p:sp>
        <p:nvSpPr>
          <p:cNvPr id="27" name="!!home_hit">
            <a:hlinkClick r:id="rId5" tooltip="Back to contents" action="ppaction://hlinksldjump" highlightClick="1"/>
          </p:cNvPr>
          <p:cNvSpPr/>
          <p:nvPr/>
        </p:nvSpPr>
        <p:spPr>
          <a:xfrm>
            <a:off x="10637215" y="6272784"/>
            <a:ext cx="384048" cy="384048"/>
          </a:xfrm>
          <a:prstGeom prst="roundRect">
            <a:avLst>
              <a:gd name="adj" fmla="val 23810"/>
            </a:avLst>
          </a:prstGeom>
          <a:solidFill>
            <a:srgbClr val="000000">
              <a:alpha val="0"/>
            </a:srgbClr>
          </a:solidFill>
          <a:ln/>
        </p:spPr>
      </p:sp>
      <p:sp>
        <p:nvSpPr>
          <p:cNvPr id="29" name="!!footer"/>
          <p:cNvSpPr txBox="1"/>
          <p:nvPr/>
        </p:nvSpPr>
        <p:spPr>
          <a:xfrm>
            <a:off x="548640" y="6327648"/>
            <a:ext cx="5486400" cy="292608"/>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Kuwait Oil &amp; Gas  ·  EGCH2230</a:t>
            </a:r>
            <a:endParaRPr lang="en-US" sz="1200" dirty="0"/>
          </a:p>
        </p:txBody>
      </p:sp>
      <p:sp>
        <p:nvSpPr>
          <p:cNvPr id="30" name="!!num"/>
          <p:cNvSpPr txBox="1"/>
          <p:nvPr/>
        </p:nvSpPr>
        <p:spPr>
          <a:xfrm>
            <a:off x="11094415" y="6327648"/>
            <a:ext cx="548640" cy="292608"/>
          </a:xfrm>
          <a:prstGeom prst="rect">
            <a:avLst/>
          </a:prstGeom>
          <a:noFill/>
          <a:ln/>
        </p:spPr>
        <p:txBody>
          <a:bodyPr wrap="square" lIns="0" tIns="0" rIns="0" bIns="0" rtlCol="0" anchor="ctr"/>
          <a:lstStyle/>
          <a:p>
            <a:pPr algn="r" indent="0" marL="0">
              <a:buNone/>
            </a:pPr>
            <a:r>
              <a:rPr lang="en-US" sz="1200" dirty="0">
                <a:solidFill>
                  <a:schemeClr val="tx2"/>
                </a:solidFill>
                <a:latin typeface="Arial" pitchFamily="34" charset="0"/>
                <a:ea typeface="Arial" pitchFamily="34" charset="-122"/>
                <a:cs typeface="Arial" pitchFamily="34" charset="-120"/>
              </a:rPr>
              <a:t>22</a:t>
            </a:r>
            <a:endParaRPr lang="en-US" sz="1200" dirty="0"/>
          </a:p>
        </p:txBody>
      </p:sp>
      <p:pic>
        <p:nvPicPr>
          <p:cNvPr id="31" name="!!badge" descr="University of Technology and Applied Sciences, Salalah">    </p:cNvPr>
          <p:cNvPicPr>
            <a:picLocks noChangeAspect="1"/>
          </p:cNvPicPr>
          <p:nvPr/>
        </p:nvPicPr>
        <p:blipFill>
          <a:blip r:embed="rId6"/>
          <a:stretch>
            <a:fillRect/>
          </a:stretch>
        </p:blipFill>
        <p:spPr>
          <a:xfrm>
            <a:off x="9677095" y="274320"/>
            <a:ext cx="1965960" cy="80987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0" presetClass="path" presetSubtype="0" fill="hold" grpId="0" nodeType="afterEffect" repeatCount="indefinite" autoRev="1">
                                  <p:stCondLst>
                                    <p:cond delay="0"/>
                                  </p:stCondLst>
                                  <p:childTnLst>
                                    <p:animMotion origin="layout" path="M 0 0 L 0.0350 -0.0300 E" pathEditMode="relative" ptsTypes="">
                                      <p:cBhvr>
                                        <p:cTn id="5" dur="13000" fill="hold" accel="50000" decel="50000"/>
                                        <p:tgtEl>
                                          <p:spTgt spid="2"/>
                                        </p:tgtEl>
                                        <p:attrNameLst>
                                          <p:attrName>ppt_x</p:attrName>
                                          <p:attrName>ppt_y</p:attrName>
                                        </p:attrNameLst>
                                      </p:cBhvr>
                                      <p:rCtr x="0" y="0"/>
                                    </p:animMotion>
                                  </p:childTnLst>
                                </p:cTn>
                              </p:par>
                              <p:par>
                                <p:cTn id="8" presetID="0" presetClass="path" presetSubtype="0" fill="hold" grpId="0" nodeType="withEffect" repeatCount="indefinite" autoRev="1">
                                  <p:stCondLst>
                                    <p:cond delay="0"/>
                                  </p:stCondLst>
                                  <p:childTnLst>
                                    <p:animMotion origin="layout" path="M 0 0 L -0.0300 0.0250 E" pathEditMode="relative" ptsTypes="">
                                      <p:cBhvr>
                                        <p:cTn id="7" dur="15000" fill="hold" accel="50000" decel="50000"/>
                                        <p:tgtEl>
                                          <p:spTgt spid="3"/>
                                        </p:tgtEl>
                                        <p:attrNameLst>
                                          <p:attrName>ppt_x</p:attrName>
                                          <p:attrName>ppt_y</p:attrName>
                                        </p:attrNameLst>
                                      </p:cBhvr>
                                      <p:rCtr x="0" y="0"/>
                                    </p:animMotion>
                                  </p:childTnLst>
                                </p:cTn>
                              </p:par>
                              <p:par>
                                <p:cTn id="11" presetID="22" presetClass="entr" presetSubtype="8" fill="hold" grpId="0" nodeType="withEffect">
                                  <p:stCondLst>
                                    <p:cond delay="25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2600" decel="100000"/>
                                        <p:tgtEl>
                                          <p:spTgt spid="6"/>
                                        </p:tgtEl>
                                      </p:cBhvr>
                                    </p:animEffect>
                                  </p:childTnLst>
                                </p:cTn>
                              </p:par>
                              <p:par>
                                <p:cTn id="14" presetID="10" presetClass="entr" presetSubtype="0" fill="hold" grpId="0" nodeType="withEffect">
                                  <p:stCondLst>
                                    <p:cond delay="25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600" decel="100000"/>
                                        <p:tgtEl>
                                          <p:spTgt spid="8"/>
                                        </p:tgtEl>
                                      </p:cBhvr>
                                    </p:animEffect>
                                  </p:childTnLst>
                                </p:cTn>
                              </p:par>
                              <p:par>
                                <p:cTn id="17" presetID="10" presetClass="entr" presetSubtype="0" fill="hold" grpId="0" nodeType="withEffect">
                                  <p:stCondLst>
                                    <p:cond delay="30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700" decel="100000"/>
                                        <p:tgtEl>
                                          <p:spTgt spid="7"/>
                                        </p:tgtEl>
                                      </p:cBhvr>
                                    </p:animEffect>
                                  </p:childTnLst>
                                </p:cTn>
                              </p:par>
                              <p:par>
                                <p:cTn id="20" presetID="10" presetClass="entr" presetSubtype="0" fill="hold" grpId="0" nodeType="withEffect">
                                  <p:stCondLst>
                                    <p:cond delay="497"/>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600" decel="100000"/>
                                        <p:tgtEl>
                                          <p:spTgt spid="9"/>
                                        </p:tgtEl>
                                      </p:cBhvr>
                                    </p:animEffect>
                                  </p:childTnLst>
                                </p:cTn>
                              </p:par>
                              <p:par>
                                <p:cTn id="23" presetID="10" presetClass="entr" presetSubtype="0" fill="hold" grpId="0" nodeType="withEffect">
                                  <p:stCondLst>
                                    <p:cond delay="777"/>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600" decel="100000"/>
                                        <p:tgtEl>
                                          <p:spTgt spid="10"/>
                                        </p:tgtEl>
                                      </p:cBhvr>
                                    </p:animEffect>
                                  </p:childTnLst>
                                </p:cTn>
                              </p:par>
                              <p:par>
                                <p:cTn id="28" presetID="53" presetClass="entr" presetSubtype="16" fill="hold" grpId="0" nodeType="withEffect">
                                  <p:stCondLst>
                                    <p:cond delay="799"/>
                                  </p:stCondLst>
                                  <p:childTnLst>
                                    <p:set>
                                      <p:cBhvr>
                                        <p:cTn id="24" dur="1" fill="hold">
                                          <p:stCondLst>
                                            <p:cond delay="0"/>
                                          </p:stCondLst>
                                        </p:cTn>
                                        <p:tgtEl>
                                          <p:spTgt spid="14"/>
                                        </p:tgtEl>
                                        <p:attrNameLst>
                                          <p:attrName>style.visibility</p:attrName>
                                        </p:attrNameLst>
                                      </p:cBhvr>
                                      <p:to>
                                        <p:strVal val="visible"/>
                                      </p:to>
                                    </p:set>
                                    <p:anim calcmode="lin" valueType="num">
                                      <p:cBhvr>
                                        <p:cTn id="25" dur="600" fill="hold" decel="100000"/>
                                        <p:tgtEl>
                                          <p:spTgt spid="14"/>
                                        </p:tgtEl>
                                        <p:attrNameLst>
                                          <p:attrName>ppt_w</p:attrName>
                                        </p:attrNameLst>
                                      </p:cBhvr>
                                      <p:tavLst>
                                        <p:tav tm="0">
                                          <p:val>
                                            <p:strVal val="#ppt_w*1.800"/>
                                          </p:val>
                                        </p:tav>
                                        <p:tav tm="100000">
                                          <p:val>
                                            <p:strVal val="#ppt_w"/>
                                          </p:val>
                                        </p:tav>
                                      </p:tavLst>
                                    </p:anim>
                                    <p:anim calcmode="lin" valueType="num">
                                      <p:cBhvr>
                                        <p:cTn id="26" dur="600" fill="hold" decel="100000"/>
                                        <p:tgtEl>
                                          <p:spTgt spid="14"/>
                                        </p:tgtEl>
                                        <p:attrNameLst>
                                          <p:attrName>ppt_h</p:attrName>
                                        </p:attrNameLst>
                                      </p:cBhvr>
                                      <p:tavLst>
                                        <p:tav tm="0">
                                          <p:val>
                                            <p:strVal val="#ppt_h*1.800"/>
                                          </p:val>
                                        </p:tav>
                                        <p:tav tm="100000">
                                          <p:val>
                                            <p:strVal val="#ppt_h"/>
                                          </p:val>
                                        </p:tav>
                                      </p:tavLst>
                                    </p:anim>
                                    <p:animEffect transition="in" filter="fade">
                                      <p:cBhvr>
                                        <p:cTn id="27" dur="420" decel="100000"/>
                                        <p:tgtEl>
                                          <p:spTgt spid="14"/>
                                        </p:tgtEl>
                                      </p:cBhvr>
                                    </p:animEffect>
                                  </p:childTnLst>
                                </p:cTn>
                              </p:par>
                              <p:par>
                                <p:cTn id="33" presetID="42" presetClass="entr" presetSubtype="0" fill="hold" grpId="0" nodeType="withEffect">
                                  <p:stCondLst>
                                    <p:cond delay="899"/>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60" decel="100000"/>
                                        <p:tgtEl>
                                          <p:spTgt spid="15"/>
                                        </p:tgtEl>
                                      </p:cBhvr>
                                    </p:animEffect>
                                    <p:anim calcmode="lin" valueType="num">
                                      <p:cBhvr>
                                        <p:cTn id="31" dur="700" fill="hold" decel="100000"/>
                                        <p:tgtEl>
                                          <p:spTgt spid="15"/>
                                        </p:tgtEl>
                                        <p:attrNameLst>
                                          <p:attrName>ppt_x</p:attrName>
                                        </p:attrNameLst>
                                      </p:cBhvr>
                                      <p:tavLst>
                                        <p:tav tm="0">
                                          <p:val>
                                            <p:strVal val="#ppt_x"/>
                                          </p:val>
                                        </p:tav>
                                        <p:tav tm="100000">
                                          <p:val>
                                            <p:strVal val="#ppt_x"/>
                                          </p:val>
                                        </p:tav>
                                      </p:tavLst>
                                    </p:anim>
                                    <p:anim calcmode="lin" valueType="num">
                                      <p:cBhvr>
                                        <p:cTn id="32" dur="700" fill="hold" decel="100000"/>
                                        <p:tgtEl>
                                          <p:spTgt spid="15"/>
                                        </p:tgtEl>
                                        <p:attrNameLst>
                                          <p:attrName>ppt_y</p:attrName>
                                        </p:attrNameLst>
                                      </p:cBhvr>
                                      <p:tavLst>
                                        <p:tav tm="0">
                                          <p:val>
                                            <p:strVal val="#ppt_y+-0.0120"/>
                                          </p:val>
                                        </p:tav>
                                        <p:tav tm="100000">
                                          <p:val>
                                            <p:strVal val="#ppt_y"/>
                                          </p:val>
                                        </p:tav>
                                      </p:tavLst>
                                    </p:anim>
                                  </p:childTnLst>
                                </p:cTn>
                              </p:par>
                              <p:par>
                                <p:cTn id="36" presetID="10" presetClass="entr" presetSubtype="0" fill="hold" grpId="0" nodeType="withEffect">
                                  <p:stCondLst>
                                    <p:cond delay="111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600" decel="100000"/>
                                        <p:tgtEl>
                                          <p:spTgt spid="11"/>
                                        </p:tgtEl>
                                      </p:cBhvr>
                                    </p:animEffect>
                                  </p:childTnLst>
                                </p:cTn>
                              </p:par>
                              <p:par>
                                <p:cTn id="41" presetID="53" presetClass="entr" presetSubtype="16" fill="hold" grpId="0" nodeType="withEffect">
                                  <p:stCondLst>
                                    <p:cond delay="1308"/>
                                  </p:stCondLst>
                                  <p:childTnLst>
                                    <p:set>
                                      <p:cBhvr>
                                        <p:cTn id="37" dur="1" fill="hold">
                                          <p:stCondLst>
                                            <p:cond delay="0"/>
                                          </p:stCondLst>
                                        </p:cTn>
                                        <p:tgtEl>
                                          <p:spTgt spid="16"/>
                                        </p:tgtEl>
                                        <p:attrNameLst>
                                          <p:attrName>style.visibility</p:attrName>
                                        </p:attrNameLst>
                                      </p:cBhvr>
                                      <p:to>
                                        <p:strVal val="visible"/>
                                      </p:to>
                                    </p:set>
                                    <p:anim calcmode="lin" valueType="num">
                                      <p:cBhvr>
                                        <p:cTn id="38" dur="600" fill="hold" decel="100000"/>
                                        <p:tgtEl>
                                          <p:spTgt spid="16"/>
                                        </p:tgtEl>
                                        <p:attrNameLst>
                                          <p:attrName>ppt_w</p:attrName>
                                        </p:attrNameLst>
                                      </p:cBhvr>
                                      <p:tavLst>
                                        <p:tav tm="0">
                                          <p:val>
                                            <p:strVal val="#ppt_w*1.800"/>
                                          </p:val>
                                        </p:tav>
                                        <p:tav tm="100000">
                                          <p:val>
                                            <p:strVal val="#ppt_w"/>
                                          </p:val>
                                        </p:tav>
                                      </p:tavLst>
                                    </p:anim>
                                    <p:anim calcmode="lin" valueType="num">
                                      <p:cBhvr>
                                        <p:cTn id="39" dur="600" fill="hold" decel="100000"/>
                                        <p:tgtEl>
                                          <p:spTgt spid="16"/>
                                        </p:tgtEl>
                                        <p:attrNameLst>
                                          <p:attrName>ppt_h</p:attrName>
                                        </p:attrNameLst>
                                      </p:cBhvr>
                                      <p:tavLst>
                                        <p:tav tm="0">
                                          <p:val>
                                            <p:strVal val="#ppt_h*1.800"/>
                                          </p:val>
                                        </p:tav>
                                        <p:tav tm="100000">
                                          <p:val>
                                            <p:strVal val="#ppt_h"/>
                                          </p:val>
                                        </p:tav>
                                      </p:tavLst>
                                    </p:anim>
                                    <p:animEffect transition="in" filter="fade">
                                      <p:cBhvr>
                                        <p:cTn id="40" dur="420" decel="100000"/>
                                        <p:tgtEl>
                                          <p:spTgt spid="16"/>
                                        </p:tgtEl>
                                      </p:cBhvr>
                                    </p:animEffect>
                                  </p:childTnLst>
                                </p:cTn>
                              </p:par>
                              <p:par>
                                <p:cTn id="46" presetID="42" presetClass="entr" presetSubtype="0" fill="hold" grpId="0" nodeType="withEffect">
                                  <p:stCondLst>
                                    <p:cond delay="1408"/>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60" decel="100000"/>
                                        <p:tgtEl>
                                          <p:spTgt spid="17"/>
                                        </p:tgtEl>
                                      </p:cBhvr>
                                    </p:animEffect>
                                    <p:anim calcmode="lin" valueType="num">
                                      <p:cBhvr>
                                        <p:cTn id="44" dur="700" fill="hold" decel="100000"/>
                                        <p:tgtEl>
                                          <p:spTgt spid="17"/>
                                        </p:tgtEl>
                                        <p:attrNameLst>
                                          <p:attrName>ppt_x</p:attrName>
                                        </p:attrNameLst>
                                      </p:cBhvr>
                                      <p:tavLst>
                                        <p:tav tm="0">
                                          <p:val>
                                            <p:strVal val="#ppt_x"/>
                                          </p:val>
                                        </p:tav>
                                        <p:tav tm="100000">
                                          <p:val>
                                            <p:strVal val="#ppt_x"/>
                                          </p:val>
                                        </p:tav>
                                      </p:tavLst>
                                    </p:anim>
                                    <p:anim calcmode="lin" valueType="num">
                                      <p:cBhvr>
                                        <p:cTn id="45" dur="700" fill="hold" decel="100000"/>
                                        <p:tgtEl>
                                          <p:spTgt spid="17"/>
                                        </p:tgtEl>
                                        <p:attrNameLst>
                                          <p:attrName>ppt_y</p:attrName>
                                        </p:attrNameLst>
                                      </p:cBhvr>
                                      <p:tavLst>
                                        <p:tav tm="0">
                                          <p:val>
                                            <p:strVal val="#ppt_y+0.0120"/>
                                          </p:val>
                                        </p:tav>
                                        <p:tav tm="100000">
                                          <p:val>
                                            <p:strVal val="#ppt_y"/>
                                          </p:val>
                                        </p:tav>
                                      </p:tavLst>
                                    </p:anim>
                                  </p:childTnLst>
                                </p:cTn>
                              </p:par>
                              <p:par>
                                <p:cTn id="49" presetID="10" presetClass="entr" presetSubtype="0" fill="hold" grpId="0" nodeType="withEffect">
                                  <p:stCondLst>
                                    <p:cond delay="1544"/>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600" decel="100000"/>
                                        <p:tgtEl>
                                          <p:spTgt spid="12"/>
                                        </p:tgtEl>
                                      </p:cBhvr>
                                    </p:animEffect>
                                  </p:childTnLst>
                                </p:cTn>
                              </p:par>
                              <p:par>
                                <p:cTn id="54" presetID="53" presetClass="entr" presetSubtype="16" fill="hold" grpId="0" nodeType="withEffect">
                                  <p:stCondLst>
                                    <p:cond delay="1641"/>
                                  </p:stCondLst>
                                  <p:childTnLst>
                                    <p:set>
                                      <p:cBhvr>
                                        <p:cTn id="50" dur="1" fill="hold">
                                          <p:stCondLst>
                                            <p:cond delay="0"/>
                                          </p:stCondLst>
                                        </p:cTn>
                                        <p:tgtEl>
                                          <p:spTgt spid="18"/>
                                        </p:tgtEl>
                                        <p:attrNameLst>
                                          <p:attrName>style.visibility</p:attrName>
                                        </p:attrNameLst>
                                      </p:cBhvr>
                                      <p:to>
                                        <p:strVal val="visible"/>
                                      </p:to>
                                    </p:set>
                                    <p:anim calcmode="lin" valueType="num">
                                      <p:cBhvr>
                                        <p:cTn id="51" dur="600" fill="hold" decel="100000"/>
                                        <p:tgtEl>
                                          <p:spTgt spid="18"/>
                                        </p:tgtEl>
                                        <p:attrNameLst>
                                          <p:attrName>ppt_w</p:attrName>
                                        </p:attrNameLst>
                                      </p:cBhvr>
                                      <p:tavLst>
                                        <p:tav tm="0">
                                          <p:val>
                                            <p:strVal val="#ppt_w*1.800"/>
                                          </p:val>
                                        </p:tav>
                                        <p:tav tm="100000">
                                          <p:val>
                                            <p:strVal val="#ppt_w"/>
                                          </p:val>
                                        </p:tav>
                                      </p:tavLst>
                                    </p:anim>
                                    <p:anim calcmode="lin" valueType="num">
                                      <p:cBhvr>
                                        <p:cTn id="52" dur="600" fill="hold" decel="100000"/>
                                        <p:tgtEl>
                                          <p:spTgt spid="18"/>
                                        </p:tgtEl>
                                        <p:attrNameLst>
                                          <p:attrName>ppt_h</p:attrName>
                                        </p:attrNameLst>
                                      </p:cBhvr>
                                      <p:tavLst>
                                        <p:tav tm="0">
                                          <p:val>
                                            <p:strVal val="#ppt_h*1.800"/>
                                          </p:val>
                                        </p:tav>
                                        <p:tav tm="100000">
                                          <p:val>
                                            <p:strVal val="#ppt_h"/>
                                          </p:val>
                                        </p:tav>
                                      </p:tavLst>
                                    </p:anim>
                                    <p:animEffect transition="in" filter="fade">
                                      <p:cBhvr>
                                        <p:cTn id="53" dur="420" decel="100000"/>
                                        <p:tgtEl>
                                          <p:spTgt spid="18"/>
                                        </p:tgtEl>
                                      </p:cBhvr>
                                    </p:animEffect>
                                  </p:childTnLst>
                                </p:cTn>
                              </p:par>
                              <p:par>
                                <p:cTn id="59" presetID="42" presetClass="entr" presetSubtype="0" fill="hold" grpId="0" nodeType="withEffect">
                                  <p:stCondLst>
                                    <p:cond delay="1741"/>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60" decel="100000"/>
                                        <p:tgtEl>
                                          <p:spTgt spid="19"/>
                                        </p:tgtEl>
                                      </p:cBhvr>
                                    </p:animEffect>
                                    <p:anim calcmode="lin" valueType="num">
                                      <p:cBhvr>
                                        <p:cTn id="57" dur="700" fill="hold" decel="100000"/>
                                        <p:tgtEl>
                                          <p:spTgt spid="19"/>
                                        </p:tgtEl>
                                        <p:attrNameLst>
                                          <p:attrName>ppt_x</p:attrName>
                                        </p:attrNameLst>
                                      </p:cBhvr>
                                      <p:tavLst>
                                        <p:tav tm="0">
                                          <p:val>
                                            <p:strVal val="#ppt_x"/>
                                          </p:val>
                                        </p:tav>
                                        <p:tav tm="100000">
                                          <p:val>
                                            <p:strVal val="#ppt_x"/>
                                          </p:val>
                                        </p:tav>
                                      </p:tavLst>
                                    </p:anim>
                                    <p:anim calcmode="lin" valueType="num">
                                      <p:cBhvr>
                                        <p:cTn id="58" dur="700" fill="hold" decel="100000"/>
                                        <p:tgtEl>
                                          <p:spTgt spid="19"/>
                                        </p:tgtEl>
                                        <p:attrNameLst>
                                          <p:attrName>ppt_y</p:attrName>
                                        </p:attrNameLst>
                                      </p:cBhvr>
                                      <p:tavLst>
                                        <p:tav tm="0">
                                          <p:val>
                                            <p:strVal val="#ppt_y+0.0120"/>
                                          </p:val>
                                        </p:tav>
                                        <p:tav tm="100000">
                                          <p:val>
                                            <p:strVal val="#ppt_y"/>
                                          </p:val>
                                        </p:tav>
                                      </p:tavLst>
                                    </p:anim>
                                  </p:childTnLst>
                                </p:cTn>
                              </p:par>
                              <p:par>
                                <p:cTn id="64" presetID="53" presetClass="entr" presetSubtype="16" fill="hold" grpId="0" nodeType="withEffect">
                                  <p:stCondLst>
                                    <p:cond delay="1848"/>
                                  </p:stCondLst>
                                  <p:childTnLst>
                                    <p:set>
                                      <p:cBhvr>
                                        <p:cTn id="60" dur="1" fill="hold">
                                          <p:stCondLst>
                                            <p:cond delay="0"/>
                                          </p:stCondLst>
                                        </p:cTn>
                                        <p:tgtEl>
                                          <p:spTgt spid="20"/>
                                        </p:tgtEl>
                                        <p:attrNameLst>
                                          <p:attrName>style.visibility</p:attrName>
                                        </p:attrNameLst>
                                      </p:cBhvr>
                                      <p:to>
                                        <p:strVal val="visible"/>
                                      </p:to>
                                    </p:set>
                                    <p:anim calcmode="lin" valueType="num">
                                      <p:cBhvr>
                                        <p:cTn id="61" dur="600" fill="hold" decel="100000"/>
                                        <p:tgtEl>
                                          <p:spTgt spid="20"/>
                                        </p:tgtEl>
                                        <p:attrNameLst>
                                          <p:attrName>ppt_w</p:attrName>
                                        </p:attrNameLst>
                                      </p:cBhvr>
                                      <p:tavLst>
                                        <p:tav tm="0">
                                          <p:val>
                                            <p:strVal val="#ppt_w*1.800"/>
                                          </p:val>
                                        </p:tav>
                                        <p:tav tm="100000">
                                          <p:val>
                                            <p:strVal val="#ppt_w"/>
                                          </p:val>
                                        </p:tav>
                                      </p:tavLst>
                                    </p:anim>
                                    <p:anim calcmode="lin" valueType="num">
                                      <p:cBhvr>
                                        <p:cTn id="62" dur="600" fill="hold" decel="100000"/>
                                        <p:tgtEl>
                                          <p:spTgt spid="20"/>
                                        </p:tgtEl>
                                        <p:attrNameLst>
                                          <p:attrName>ppt_h</p:attrName>
                                        </p:attrNameLst>
                                      </p:cBhvr>
                                      <p:tavLst>
                                        <p:tav tm="0">
                                          <p:val>
                                            <p:strVal val="#ppt_h*1.800"/>
                                          </p:val>
                                        </p:tav>
                                        <p:tav tm="100000">
                                          <p:val>
                                            <p:strVal val="#ppt_h"/>
                                          </p:val>
                                        </p:tav>
                                      </p:tavLst>
                                    </p:anim>
                                    <p:animEffect transition="in" filter="fade">
                                      <p:cBhvr>
                                        <p:cTn id="63" dur="420" decel="100000"/>
                                        <p:tgtEl>
                                          <p:spTgt spid="20"/>
                                        </p:tgtEl>
                                      </p:cBhvr>
                                    </p:animEffect>
                                  </p:childTnLst>
                                </p:cTn>
                              </p:par>
                              <p:par>
                                <p:cTn id="69" presetID="42" presetClass="entr" presetSubtype="0" fill="hold" grpId="0" nodeType="withEffect">
                                  <p:stCondLst>
                                    <p:cond delay="1948"/>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560" decel="100000"/>
                                        <p:tgtEl>
                                          <p:spTgt spid="21"/>
                                        </p:tgtEl>
                                      </p:cBhvr>
                                    </p:animEffect>
                                    <p:anim calcmode="lin" valueType="num">
                                      <p:cBhvr>
                                        <p:cTn id="67" dur="700" fill="hold" decel="100000"/>
                                        <p:tgtEl>
                                          <p:spTgt spid="21"/>
                                        </p:tgtEl>
                                        <p:attrNameLst>
                                          <p:attrName>ppt_x</p:attrName>
                                        </p:attrNameLst>
                                      </p:cBhvr>
                                      <p:tavLst>
                                        <p:tav tm="0">
                                          <p:val>
                                            <p:strVal val="#ppt_x"/>
                                          </p:val>
                                        </p:tav>
                                        <p:tav tm="100000">
                                          <p:val>
                                            <p:strVal val="#ppt_x"/>
                                          </p:val>
                                        </p:tav>
                                      </p:tavLst>
                                    </p:anim>
                                    <p:anim calcmode="lin" valueType="num">
                                      <p:cBhvr>
                                        <p:cTn id="68" dur="700" fill="hold" decel="100000"/>
                                        <p:tgtEl>
                                          <p:spTgt spid="21"/>
                                        </p:tgtEl>
                                        <p:attrNameLst>
                                          <p:attrName>ppt_y</p:attrName>
                                        </p:attrNameLst>
                                      </p:cBhvr>
                                      <p:tavLst>
                                        <p:tav tm="0">
                                          <p:val>
                                            <p:strVal val="#ppt_y+-0.0120"/>
                                          </p:val>
                                        </p:tav>
                                        <p:tav tm="100000">
                                          <p:val>
                                            <p:strVal val="#ppt_y"/>
                                          </p:val>
                                        </p:tav>
                                      </p:tavLst>
                                    </p:anim>
                                  </p:childTnLst>
                                </p:cTn>
                              </p:par>
                              <p:par>
                                <p:cTn id="74" presetID="53" presetClass="entr" presetSubtype="16" fill="hold" grpId="0" nodeType="withEffect">
                                  <p:stCondLst>
                                    <p:cond delay="2000"/>
                                  </p:stCondLst>
                                  <p:childTnLst>
                                    <p:set>
                                      <p:cBhvr>
                                        <p:cTn id="70" dur="1" fill="hold">
                                          <p:stCondLst>
                                            <p:cond delay="0"/>
                                          </p:stCondLst>
                                        </p:cTn>
                                        <p:tgtEl>
                                          <p:spTgt spid="22"/>
                                        </p:tgtEl>
                                        <p:attrNameLst>
                                          <p:attrName>style.visibility</p:attrName>
                                        </p:attrNameLst>
                                      </p:cBhvr>
                                      <p:to>
                                        <p:strVal val="visible"/>
                                      </p:to>
                                    </p:set>
                                    <p:anim calcmode="lin" valueType="num">
                                      <p:cBhvr>
                                        <p:cTn id="71" dur="900" fill="hold" decel="100000"/>
                                        <p:tgtEl>
                                          <p:spTgt spid="22"/>
                                        </p:tgtEl>
                                        <p:attrNameLst>
                                          <p:attrName>ppt_w</p:attrName>
                                        </p:attrNameLst>
                                      </p:cBhvr>
                                      <p:tavLst>
                                        <p:tav tm="0">
                                          <p:val>
                                            <p:strVal val="#ppt_w*0.950"/>
                                          </p:val>
                                        </p:tav>
                                        <p:tav tm="100000">
                                          <p:val>
                                            <p:strVal val="#ppt_w"/>
                                          </p:val>
                                        </p:tav>
                                      </p:tavLst>
                                    </p:anim>
                                    <p:anim calcmode="lin" valueType="num">
                                      <p:cBhvr>
                                        <p:cTn id="72" dur="900" fill="hold" decel="100000"/>
                                        <p:tgtEl>
                                          <p:spTgt spid="22"/>
                                        </p:tgtEl>
                                        <p:attrNameLst>
                                          <p:attrName>ppt_h</p:attrName>
                                        </p:attrNameLst>
                                      </p:cBhvr>
                                      <p:tavLst>
                                        <p:tav tm="0">
                                          <p:val>
                                            <p:strVal val="#ppt_h*0.950"/>
                                          </p:val>
                                        </p:tav>
                                        <p:tav tm="100000">
                                          <p:val>
                                            <p:strVal val="#ppt_h"/>
                                          </p:val>
                                        </p:tav>
                                      </p:tavLst>
                                    </p:anim>
                                    <p:animEffect transition="in" filter="fade">
                                      <p:cBhvr>
                                        <p:cTn id="73" dur="630" decel="100000"/>
                                        <p:tgtEl>
                                          <p:spTgt spid="22"/>
                                        </p:tgtEl>
                                      </p:cBhvr>
                                    </p:animEffect>
                                  </p:childTnLst>
                                </p:cTn>
                              </p:par>
                              <p:par>
                                <p:cTn id="79" presetID="42" presetClass="entr" presetSubtype="0" fill="hold" grpId="0" nodeType="withEffect">
                                  <p:stCondLst>
                                    <p:cond delay="2250"/>
                                  </p:stCondLst>
                                  <p:childTnLst>
                                    <p:set>
                                      <p:cBhvr>
                                        <p:cTn id="75" dur="1" fill="hold">
                                          <p:stCondLst>
                                            <p:cond delay="0"/>
                                          </p:stCondLst>
                                        </p:cTn>
                                        <p:tgtEl>
                                          <p:spTgt spid="23"/>
                                        </p:tgtEl>
                                        <p:attrNameLst>
                                          <p:attrName>style.visibility</p:attrName>
                                        </p:attrNameLst>
                                      </p:cBhvr>
                                      <p:to>
                                        <p:strVal val="visible"/>
                                      </p:to>
                                    </p:set>
                                    <p:animEffect transition="in" filter="fade">
                                      <p:cBhvr>
                                        <p:cTn id="76" dur="560" decel="100000"/>
                                        <p:tgtEl>
                                          <p:spTgt spid="23"/>
                                        </p:tgtEl>
                                      </p:cBhvr>
                                    </p:animEffect>
                                    <p:anim calcmode="lin" valueType="num">
                                      <p:cBhvr>
                                        <p:cTn id="77" dur="700" fill="hold" decel="100000"/>
                                        <p:tgtEl>
                                          <p:spTgt spid="23"/>
                                        </p:tgtEl>
                                        <p:attrNameLst>
                                          <p:attrName>ppt_x</p:attrName>
                                        </p:attrNameLst>
                                      </p:cBhvr>
                                      <p:tavLst>
                                        <p:tav tm="0">
                                          <p:val>
                                            <p:strVal val="#ppt_x"/>
                                          </p:val>
                                        </p:tav>
                                        <p:tav tm="100000">
                                          <p:val>
                                            <p:strVal val="#ppt_x"/>
                                          </p:val>
                                        </p:tav>
                                      </p:tavLst>
                                    </p:anim>
                                    <p:anim calcmode="lin" valueType="num">
                                      <p:cBhvr>
                                        <p:cTn id="78" dur="700" fill="hold" decel="100000"/>
                                        <p:tgtEl>
                                          <p:spTgt spid="23"/>
                                        </p:tgtEl>
                                        <p:attrNameLst>
                                          <p:attrName>ppt_y</p:attrName>
                                        </p:attrNameLst>
                                      </p:cBhvr>
                                      <p:tavLst>
                                        <p:tav tm="0">
                                          <p:val>
                                            <p:strVal val="#ppt_y+0.0250"/>
                                          </p:val>
                                        </p:tav>
                                        <p:tav tm="100000">
                                          <p:val>
                                            <p:strVal val="#ppt_y"/>
                                          </p:val>
                                        </p:tav>
                                      </p:tavLst>
                                    </p:anim>
                                  </p:childTnLst>
                                </p:cTn>
                              </p:par>
                              <p:par>
                                <p:cTn id="82" presetID="10" presetClass="entr" presetSubtype="0" fill="hold" grpId="0" nodeType="withEffect">
                                  <p:stCondLst>
                                    <p:cond delay="2590"/>
                                  </p:stCondLst>
                                  <p:childTnLst>
                                    <p:set>
                                      <p:cBhvr>
                                        <p:cTn id="80" dur="1" fill="hold">
                                          <p:stCondLst>
                                            <p:cond delay="0"/>
                                          </p:stCondLst>
                                        </p:cTn>
                                        <p:tgtEl>
                                          <p:spTgt spid="13"/>
                                        </p:tgtEl>
                                        <p:attrNameLst>
                                          <p:attrName>style.visibility</p:attrName>
                                        </p:attrNameLst>
                                      </p:cBhvr>
                                      <p:to>
                                        <p:strVal val="visible"/>
                                      </p:to>
                                    </p:set>
                                    <p:animEffect transition="in" filter="fade">
                                      <p:cBhvr>
                                        <p:cTn id="81" dur="600" decel="100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P spid="8" grpId="0" animBg="1"/>
      <p:bldP spid="7" grpId="0" animBg="1"/>
      <p:bldP spid="9" grpId="0" animBg="1"/>
      <p:bldP spid="10" grpId="0" animBg="1"/>
      <p:bldP spid="14" grpId="0" animBg="1"/>
      <p:bldP spid="15" grpId="0" animBg="1"/>
      <p:bldP spid="11" grpId="0" animBg="1"/>
      <p:bldP spid="16" grpId="0" animBg="1"/>
      <p:bldP spid="17" grpId="0" animBg="1"/>
      <p:bldP spid="12" grpId="0" animBg="1"/>
      <p:bldP spid="18" grpId="0" animBg="1"/>
      <p:bldP spid="19" grpId="0" animBg="1"/>
      <p:bldP spid="20" grpId="0" animBg="1"/>
      <p:bldP spid="21" grpId="0" animBg="1"/>
      <p:bldP spid="22" grpId="0" animBg="1"/>
      <p:bldP spid="23" grpId="0" animBg="1"/>
      <p:bldP spid="13" grpId="0" animBg="1"/>
    </p:bldLst>
  </p:timing>
</p:sld>
</file>

<file path=ppt/slides/slide28.xml><?xml version="1.0" encoding="utf-8"?>
<p:sld xmlns:p14="http://schemas.microsoft.com/office/powerpoint/2010/main"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orbA" descr="Decorative background light">    </p:cNvPr>
          <p:cNvPicPr>
            <a:picLocks noChangeAspect="1"/>
          </p:cNvPicPr>
          <p:nvPr/>
        </p:nvPicPr>
        <p:blipFill>
          <a:blip r:embed="rId1"/>
          <a:stretch>
            <a:fillRect/>
          </a:stretch>
        </p:blipFill>
        <p:spPr>
          <a:xfrm>
            <a:off x="-1371600" y="-457200"/>
            <a:ext cx="6400800" cy="6400800"/>
          </a:xfrm>
          <a:prstGeom prst="rect">
            <a:avLst/>
          </a:prstGeom>
        </p:spPr>
      </p:pic>
      <p:pic>
        <p:nvPicPr>
          <p:cNvPr id="3" name="!!orbB" descr="Decorative background light">    </p:cNvPr>
          <p:cNvPicPr>
            <a:picLocks noChangeAspect="1"/>
          </p:cNvPicPr>
          <p:nvPr/>
        </p:nvPicPr>
        <p:blipFill>
          <a:blip r:embed="rId2"/>
          <a:stretch>
            <a:fillRect/>
          </a:stretch>
        </p:blipFill>
        <p:spPr>
          <a:xfrm>
            <a:off x="4572000" y="2377440"/>
            <a:ext cx="7315200" cy="7315200"/>
          </a:xfrm>
          <a:prstGeom prst="rect">
            <a:avLst/>
          </a:prstGeom>
        </p:spPr>
      </p:pic>
      <p:sp>
        <p:nvSpPr>
          <p:cNvPr id="4" name="!!kicker"/>
          <p:cNvSpPr/>
          <p:nvPr>
            <p:ph idx="100" type="body" hasCustomPrompt="1"/>
          </p:nvPr>
        </p:nvSpPr>
        <p:spPr>
          <a:xfrm>
            <a:off x="548640" y="384048"/>
            <a:ext cx="8732520" cy="329184"/>
          </a:xfrm>
          <a:prstGeom prst="rect">
            <a:avLst/>
          </a:prstGeom>
          <a:noFill/>
          <a:ln/>
        </p:spPr>
        <p:txBody>
          <a:bodyPr wrap="square" lIns="0" tIns="0" rIns="0" bIns="0" rtlCol="0" anchor="t"/>
          <a:lstStyle/>
          <a:p>
            <a:pPr algn="l" indent="0" marL="0">
              <a:buNone/>
            </a:pPr>
            <a:r>
              <a:rPr lang="en-US" sz="1500" b="1" spc="300" kern="0" dirty="0">
                <a:solidFill>
                  <a:schemeClr val="accent1"/>
                </a:solidFill>
              </a:rPr>
              <a:t>04 — EXPORTS &amp; COSTS</a:t>
            </a:r>
            <a:endParaRPr lang="en-US" sz="1500" dirty="0"/>
          </a:p>
        </p:txBody>
      </p:sp>
      <p:sp>
        <p:nvSpPr>
          <p:cNvPr id="5" name="!!title"/>
          <p:cNvSpPr/>
          <p:nvPr>
            <p:ph idx="101" type="title" hasCustomPrompt="1"/>
          </p:nvPr>
        </p:nvSpPr>
        <p:spPr>
          <a:xfrm>
            <a:off x="548640" y="731520"/>
            <a:ext cx="8732520" cy="786384"/>
          </a:xfrm>
          <a:prstGeom prst="rect">
            <a:avLst/>
          </a:prstGeom>
          <a:noFill/>
          <a:ln/>
        </p:spPr>
        <p:txBody>
          <a:bodyPr wrap="square" lIns="0" tIns="0" rIns="0" bIns="0" rtlCol="0" anchor="t"/>
          <a:lstStyle/>
          <a:p>
            <a:pPr algn="l" indent="0" marL="0">
              <a:buNone/>
            </a:pPr>
            <a:r>
              <a:rPr lang="en-US" sz="3800" b="1" dirty="0">
                <a:solidFill>
                  <a:schemeClr val="tx1"/>
                </a:solidFill>
              </a:rPr>
              <a:t>One of the cheapest barrels on Earth</a:t>
            </a:r>
            <a:endParaRPr lang="en-US" sz="3800" dirty="0"/>
          </a:p>
        </p:txBody>
      </p:sp>
      <p:sp>
        <p:nvSpPr>
          <p:cNvPr id="6" name="cost_t_1"/>
          <p:cNvSpPr txBox="1"/>
          <p:nvPr/>
        </p:nvSpPr>
        <p:spPr>
          <a:xfrm>
            <a:off x="548640" y="1947672"/>
            <a:ext cx="3657600" cy="384048"/>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Kuwait: cost per barrel</a:t>
            </a:r>
            <a:endParaRPr lang="en-US" sz="1800" dirty="0"/>
          </a:p>
        </p:txBody>
      </p:sp>
      <p:sp>
        <p:nvSpPr>
          <p:cNvPr id="7" name="cost_t_2"/>
          <p:cNvSpPr txBox="1"/>
          <p:nvPr/>
        </p:nvSpPr>
        <p:spPr>
          <a:xfrm>
            <a:off x="548640" y="2350008"/>
            <a:ext cx="3657600" cy="292608"/>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Rystad Energy via WSJ, 2016 estimate</a:t>
            </a:r>
            <a:endParaRPr lang="en-US" sz="1400" dirty="0"/>
          </a:p>
        </p:txBody>
      </p:sp>
      <p:sp>
        <p:nvSpPr>
          <p:cNvPr id="8" name="cost_s_3"/>
          <p:cNvSpPr/>
          <p:nvPr/>
        </p:nvSpPr>
        <p:spPr>
          <a:xfrm>
            <a:off x="4343400" y="2011680"/>
            <a:ext cx="603504" cy="530352"/>
          </a:xfrm>
          <a:prstGeom prst="roundRect">
            <a:avLst>
              <a:gd name="adj" fmla="val 17241"/>
            </a:avLst>
          </a:prstGeom>
          <a:solidFill>
            <a:srgbClr val="FF9F0A"/>
          </a:solidFill>
          <a:ln/>
          <a:effectLst>
            <a:outerShdw sx="100000" sy="100000" kx="0" ky="0" algn="bl" rotWithShape="0" blurRad="203200" dist="50800" dir="5400000">
              <a:srgbClr val="FF9F0A">
                <a:alpha val="60000"/>
              </a:srgbClr>
            </a:outerShdw>
          </a:effectLst>
        </p:spPr>
      </p:sp>
      <p:sp>
        <p:nvSpPr>
          <p:cNvPr id="9" name="cost_t_4"/>
          <p:cNvSpPr txBox="1"/>
          <p:nvPr/>
        </p:nvSpPr>
        <p:spPr>
          <a:xfrm>
            <a:off x="5084064" y="1984248"/>
            <a:ext cx="1463040" cy="585216"/>
          </a:xfrm>
          <a:prstGeom prst="rect">
            <a:avLst/>
          </a:prstGeom>
          <a:noFill/>
          <a:ln/>
        </p:spPr>
        <p:txBody>
          <a:bodyPr wrap="square" lIns="0" tIns="0" rIns="0" bIns="0" rtlCol="0" anchor="ctr"/>
          <a:lstStyle/>
          <a:p>
            <a:pPr indent="0" marL="0">
              <a:buNone/>
            </a:pPr>
            <a:r>
              <a:rPr lang="en-US" sz="2800" b="1" dirty="0">
                <a:solidFill>
                  <a:schemeClr val="accent1"/>
                </a:solidFill>
                <a:latin typeface="Arial" pitchFamily="34" charset="0"/>
                <a:ea typeface="Arial" pitchFamily="34" charset="-122"/>
                <a:cs typeface="Arial" pitchFamily="34" charset="-120"/>
              </a:rPr>
              <a:t>≈ $8.50</a:t>
            </a:r>
            <a:endParaRPr lang="en-US" sz="2800" dirty="0"/>
          </a:p>
        </p:txBody>
      </p:sp>
      <p:sp>
        <p:nvSpPr>
          <p:cNvPr id="10" name="cost_t_5"/>
          <p:cNvSpPr txBox="1"/>
          <p:nvPr/>
        </p:nvSpPr>
        <p:spPr>
          <a:xfrm>
            <a:off x="548640" y="3136392"/>
            <a:ext cx="3657600" cy="384048"/>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UK North Sea: cost per barrel</a:t>
            </a:r>
            <a:endParaRPr lang="en-US" sz="1800" dirty="0"/>
          </a:p>
        </p:txBody>
      </p:sp>
      <p:sp>
        <p:nvSpPr>
          <p:cNvPr id="11" name="cost_t_6"/>
          <p:cNvSpPr txBox="1"/>
          <p:nvPr/>
        </p:nvSpPr>
        <p:spPr>
          <a:xfrm>
            <a:off x="548640" y="3538728"/>
            <a:ext cx="3657600" cy="292608"/>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same study, for comparison</a:t>
            </a:r>
            <a:endParaRPr lang="en-US" sz="1400" dirty="0"/>
          </a:p>
        </p:txBody>
      </p:sp>
      <p:sp>
        <p:nvSpPr>
          <p:cNvPr id="12" name="cost_s_7"/>
          <p:cNvSpPr/>
          <p:nvPr/>
        </p:nvSpPr>
        <p:spPr>
          <a:xfrm>
            <a:off x="4343400" y="3200400"/>
            <a:ext cx="3145321" cy="530352"/>
          </a:xfrm>
          <a:prstGeom prst="roundRect">
            <a:avLst>
              <a:gd name="adj" fmla="val 17241"/>
            </a:avLst>
          </a:prstGeom>
          <a:solidFill>
            <a:srgbClr val="636366"/>
          </a:solidFill>
          <a:ln/>
        </p:spPr>
      </p:sp>
      <p:sp>
        <p:nvSpPr>
          <p:cNvPr id="13" name="cost_t_8"/>
          <p:cNvSpPr txBox="1"/>
          <p:nvPr/>
        </p:nvSpPr>
        <p:spPr>
          <a:xfrm>
            <a:off x="7625881" y="3172968"/>
            <a:ext cx="1463040" cy="585216"/>
          </a:xfrm>
          <a:prstGeom prst="rect">
            <a:avLst/>
          </a:prstGeom>
          <a:noFill/>
          <a:ln/>
        </p:spPr>
        <p:txBody>
          <a:bodyPr wrap="square" lIns="0" tIns="0" rIns="0" bIns="0" rtlCol="0" anchor="ctr"/>
          <a:lstStyle/>
          <a:p>
            <a:pPr indent="0" marL="0">
              <a:buNone/>
            </a:pPr>
            <a:r>
              <a:rPr lang="en-US" sz="2800" b="1" dirty="0">
                <a:solidFill>
                  <a:schemeClr val="tx1"/>
                </a:solidFill>
                <a:latin typeface="Arial" pitchFamily="34" charset="0"/>
                <a:ea typeface="Arial" pitchFamily="34" charset="-122"/>
                <a:cs typeface="Arial" pitchFamily="34" charset="-120"/>
              </a:rPr>
              <a:t>≈ $44</a:t>
            </a:r>
            <a:endParaRPr lang="en-US" sz="2800" dirty="0"/>
          </a:p>
        </p:txBody>
      </p:sp>
      <p:sp>
        <p:nvSpPr>
          <p:cNvPr id="14" name="cost_t_9"/>
          <p:cNvSpPr txBox="1"/>
          <p:nvPr/>
        </p:nvSpPr>
        <p:spPr>
          <a:xfrm>
            <a:off x="548640" y="4325112"/>
            <a:ext cx="3657600" cy="384048"/>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Kuwait crude: selling price</a:t>
            </a:r>
            <a:endParaRPr lang="en-US" sz="1800" dirty="0"/>
          </a:p>
        </p:txBody>
      </p:sp>
      <p:sp>
        <p:nvSpPr>
          <p:cNvPr id="15" name="cost_t_10"/>
          <p:cNvSpPr txBox="1"/>
          <p:nvPr/>
        </p:nvSpPr>
        <p:spPr>
          <a:xfrm>
            <a:off x="548640" y="4727448"/>
            <a:ext cx="3657600" cy="292608"/>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Kuwait Export Crude, OPEC, 2024</a:t>
            </a:r>
            <a:endParaRPr lang="en-US" sz="1400" dirty="0"/>
          </a:p>
        </p:txBody>
      </p:sp>
      <p:sp>
        <p:nvSpPr>
          <p:cNvPr id="16" name="cost_s_11"/>
          <p:cNvSpPr/>
          <p:nvPr/>
        </p:nvSpPr>
        <p:spPr>
          <a:xfrm>
            <a:off x="4343400" y="4389120"/>
            <a:ext cx="5726188" cy="530352"/>
          </a:xfrm>
          <a:prstGeom prst="roundRect">
            <a:avLst>
              <a:gd name="adj" fmla="val 17241"/>
            </a:avLst>
          </a:prstGeom>
          <a:solidFill>
            <a:srgbClr val="FFD60A"/>
          </a:solidFill>
          <a:ln/>
        </p:spPr>
      </p:sp>
      <p:sp>
        <p:nvSpPr>
          <p:cNvPr id="17" name="cost_t_12"/>
          <p:cNvSpPr txBox="1"/>
          <p:nvPr/>
        </p:nvSpPr>
        <p:spPr>
          <a:xfrm>
            <a:off x="10206748" y="4361688"/>
            <a:ext cx="1463040" cy="585216"/>
          </a:xfrm>
          <a:prstGeom prst="rect">
            <a:avLst/>
          </a:prstGeom>
          <a:noFill/>
          <a:ln/>
        </p:spPr>
        <p:txBody>
          <a:bodyPr wrap="square" lIns="0" tIns="0" rIns="0" bIns="0" rtlCol="0" anchor="ctr"/>
          <a:lstStyle/>
          <a:p>
            <a:pPr indent="0" marL="0">
              <a:buNone/>
            </a:pPr>
            <a:r>
              <a:rPr lang="en-US" sz="2800" b="1" dirty="0">
                <a:solidFill>
                  <a:schemeClr val="tx1"/>
                </a:solidFill>
                <a:latin typeface="Arial" pitchFamily="34" charset="0"/>
                <a:ea typeface="Arial" pitchFamily="34" charset="-122"/>
                <a:cs typeface="Arial" pitchFamily="34" charset="-120"/>
              </a:rPr>
              <a:t>$80.65</a:t>
            </a:r>
            <a:endParaRPr lang="en-US" sz="2800" dirty="0"/>
          </a:p>
        </p:txBody>
      </p:sp>
      <p:sp>
        <p:nvSpPr>
          <p:cNvPr id="18" name="cost_t_13"/>
          <p:cNvSpPr txBox="1"/>
          <p:nvPr/>
        </p:nvSpPr>
        <p:spPr>
          <a:xfrm>
            <a:off x="548640" y="5120640"/>
            <a:ext cx="10972800" cy="548640"/>
          </a:xfrm>
          <a:prstGeom prst="rect">
            <a:avLst/>
          </a:prstGeom>
          <a:noFill/>
          <a:ln/>
        </p:spPr>
        <p:txBody>
          <a:bodyPr wrap="square" lIns="0" tIns="0" rIns="0" bIns="0" rtlCol="0" anchor="ctr"/>
          <a:lstStyle/>
          <a:p>
            <a:pPr indent="0" marL="0">
              <a:buNone/>
            </a:pPr>
            <a:r>
              <a:rPr lang="en-US" sz="3000" b="1" dirty="0">
                <a:solidFill>
                  <a:schemeClr val="accent1"/>
                </a:solidFill>
                <a:latin typeface="Arial" pitchFamily="34" charset="0"/>
                <a:ea typeface="Arial" pitchFamily="34" charset="-122"/>
                <a:cs typeface="Arial" pitchFamily="34" charset="-120"/>
              </a:rPr>
              <a:t>≈ $72 </a:t>
            </a:r>
            <a:pPr indent="0" marL="0">
              <a:buNone/>
            </a:pPr>
            <a:r>
              <a:rPr lang="en-US" sz="1700" dirty="0">
                <a:solidFill>
                  <a:schemeClr val="tx2"/>
                </a:solidFill>
                <a:latin typeface="Arial" pitchFamily="34" charset="0"/>
                <a:ea typeface="Arial" pitchFamily="34" charset="-122"/>
                <a:cs typeface="Arial" pitchFamily="34" charset="-120"/>
              </a:rPr>
              <a:t>per barrel above cost: 2024 price minus the 2016 cost estimate, before taxes</a:t>
            </a:r>
            <a:endParaRPr lang="en-US" sz="3000" dirty="0"/>
          </a:p>
        </p:txBody>
      </p:sp>
      <p:sp>
        <p:nvSpPr>
          <p:cNvPr id="19" name="!!source"/>
          <p:cNvSpPr txBox="1"/>
          <p:nvPr/>
        </p:nvSpPr>
        <p:spPr>
          <a:xfrm>
            <a:off x="548640" y="5943600"/>
            <a:ext cx="9692640" cy="274320"/>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Sources: Wall Street Journal (2016), Rystad Energy data; OPEC (2025a).</a:t>
            </a:r>
            <a:endParaRPr lang="en-US" sz="1200" dirty="0"/>
          </a:p>
        </p:txBody>
      </p:sp>
      <p:sp>
        <p:nvSpPr>
          <p:cNvPr id="20" name="!!home_bg"/>
          <p:cNvSpPr/>
          <p:nvPr/>
        </p:nvSpPr>
        <p:spPr>
          <a:xfrm>
            <a:off x="10637215" y="6272784"/>
            <a:ext cx="384048" cy="384048"/>
          </a:xfrm>
          <a:prstGeom prst="roundRect">
            <a:avLst>
              <a:gd name="adj" fmla="val 23810"/>
            </a:avLst>
          </a:prstGeom>
          <a:solidFill>
            <a:srgbClr val="2C2C2E"/>
          </a:solidFill>
          <a:ln/>
        </p:spPr>
      </p:sp>
      <p:pic>
        <p:nvPicPr>
          <p:cNvPr id="21" name="!!home_ic" descr="Decorative graphic">    </p:cNvPr>
          <p:cNvPicPr>
            <a:picLocks noChangeAspect="1"/>
          </p:cNvPicPr>
          <p:nvPr/>
        </p:nvPicPr>
        <p:blipFill>
          <a:blip r:embed="rId3"/>
          <a:stretch>
            <a:fillRect/>
          </a:stretch>
        </p:blipFill>
        <p:spPr>
          <a:xfrm>
            <a:off x="10719511" y="6355080"/>
            <a:ext cx="219456" cy="219456"/>
          </a:xfrm>
          <a:prstGeom prst="rect">
            <a:avLst/>
          </a:prstGeom>
        </p:spPr>
      </p:pic>
      <p:sp>
        <p:nvSpPr>
          <p:cNvPr id="22" name="!!home_hit">
            <a:hlinkClick r:id="rId4" tooltip="Back to contents" action="ppaction://hlinksldjump" highlightClick="1"/>
          </p:cNvPr>
          <p:cNvSpPr/>
          <p:nvPr/>
        </p:nvSpPr>
        <p:spPr>
          <a:xfrm>
            <a:off x="10637215" y="6272784"/>
            <a:ext cx="384048" cy="384048"/>
          </a:xfrm>
          <a:prstGeom prst="roundRect">
            <a:avLst>
              <a:gd name="adj" fmla="val 23810"/>
            </a:avLst>
          </a:prstGeom>
          <a:solidFill>
            <a:srgbClr val="000000">
              <a:alpha val="0"/>
            </a:srgbClr>
          </a:solidFill>
          <a:ln/>
        </p:spPr>
      </p:sp>
      <p:sp>
        <p:nvSpPr>
          <p:cNvPr id="24" name="!!footer"/>
          <p:cNvSpPr txBox="1"/>
          <p:nvPr/>
        </p:nvSpPr>
        <p:spPr>
          <a:xfrm>
            <a:off x="548640" y="6327648"/>
            <a:ext cx="5486400" cy="292608"/>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Kuwait Oil &amp; Gas  ·  EGCH2230</a:t>
            </a:r>
            <a:endParaRPr lang="en-US" sz="1200" dirty="0"/>
          </a:p>
        </p:txBody>
      </p:sp>
      <p:sp>
        <p:nvSpPr>
          <p:cNvPr id="25" name="!!num"/>
          <p:cNvSpPr txBox="1"/>
          <p:nvPr/>
        </p:nvSpPr>
        <p:spPr>
          <a:xfrm>
            <a:off x="11094415" y="6327648"/>
            <a:ext cx="548640" cy="292608"/>
          </a:xfrm>
          <a:prstGeom prst="rect">
            <a:avLst/>
          </a:prstGeom>
          <a:noFill/>
          <a:ln/>
        </p:spPr>
        <p:txBody>
          <a:bodyPr wrap="square" lIns="0" tIns="0" rIns="0" bIns="0" rtlCol="0" anchor="ctr"/>
          <a:lstStyle/>
          <a:p>
            <a:pPr algn="r" indent="0" marL="0">
              <a:buNone/>
            </a:pPr>
            <a:r>
              <a:rPr lang="en-US" sz="1200" dirty="0">
                <a:solidFill>
                  <a:schemeClr val="tx2"/>
                </a:solidFill>
                <a:latin typeface="Arial" pitchFamily="34" charset="0"/>
                <a:ea typeface="Arial" pitchFamily="34" charset="-122"/>
                <a:cs typeface="Arial" pitchFamily="34" charset="-120"/>
              </a:rPr>
              <a:t>23</a:t>
            </a:r>
            <a:endParaRPr lang="en-US" sz="1200" dirty="0"/>
          </a:p>
        </p:txBody>
      </p:sp>
      <p:pic>
        <p:nvPicPr>
          <p:cNvPr id="26" name="!!badge" descr="University of Technology and Applied Sciences, Salalah">    </p:cNvPr>
          <p:cNvPicPr>
            <a:picLocks noChangeAspect="1"/>
          </p:cNvPicPr>
          <p:nvPr/>
        </p:nvPicPr>
        <p:blipFill>
          <a:blip r:embed="rId5"/>
          <a:stretch>
            <a:fillRect/>
          </a:stretch>
        </p:blipFill>
        <p:spPr>
          <a:xfrm>
            <a:off x="9677095" y="274320"/>
            <a:ext cx="1965960" cy="80987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0" presetClass="path" presetSubtype="0" fill="hold" grpId="0" nodeType="afterEffect" repeatCount="indefinite" autoRev="1">
                                  <p:stCondLst>
                                    <p:cond delay="0"/>
                                  </p:stCondLst>
                                  <p:childTnLst>
                                    <p:animMotion origin="layout" path="M 0 0 L 0.0350 -0.0300 E" pathEditMode="relative" ptsTypes="">
                                      <p:cBhvr>
                                        <p:cTn id="5" dur="13000" fill="hold" accel="50000" decel="50000"/>
                                        <p:tgtEl>
                                          <p:spTgt spid="2"/>
                                        </p:tgtEl>
                                        <p:attrNameLst>
                                          <p:attrName>ppt_x</p:attrName>
                                          <p:attrName>ppt_y</p:attrName>
                                        </p:attrNameLst>
                                      </p:cBhvr>
                                      <p:rCtr x="0" y="0"/>
                                    </p:animMotion>
                                  </p:childTnLst>
                                </p:cTn>
                              </p:par>
                              <p:par>
                                <p:cTn id="8" presetID="0" presetClass="path" presetSubtype="0" fill="hold" grpId="0" nodeType="withEffect" repeatCount="indefinite" autoRev="1">
                                  <p:stCondLst>
                                    <p:cond delay="0"/>
                                  </p:stCondLst>
                                  <p:childTnLst>
                                    <p:animMotion origin="layout" path="M 0 0 L -0.0300 0.0250 E" pathEditMode="relative" ptsTypes="">
                                      <p:cBhvr>
                                        <p:cTn id="7" dur="15000" fill="hold" accel="50000" decel="50000"/>
                                        <p:tgtEl>
                                          <p:spTgt spid="3"/>
                                        </p:tgtEl>
                                        <p:attrNameLst>
                                          <p:attrName>ppt_x</p:attrName>
                                          <p:attrName>ppt_y</p:attrName>
                                        </p:attrNameLst>
                                      </p:cBhvr>
                                      <p:rCtr x="0" y="0"/>
                                    </p:animMotion>
                                  </p:childTnLst>
                                </p:cTn>
                              </p:par>
                              <p:par>
                                <p:cTn id="13" presetID="42" presetClass="entr" presetSubtype="0" fill="hold" grpId="0" nodeType="withEffect">
                                  <p:stCondLst>
                                    <p:cond delay="3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40" decel="100000"/>
                                        <p:tgtEl>
                                          <p:spTgt spid="6"/>
                                        </p:tgtEl>
                                      </p:cBhvr>
                                    </p:animEffect>
                                    <p:anim calcmode="lin" valueType="num">
                                      <p:cBhvr>
                                        <p:cTn id="11" dur="800" fill="hold" decel="100000"/>
                                        <p:tgtEl>
                                          <p:spTgt spid="6"/>
                                        </p:tgtEl>
                                        <p:attrNameLst>
                                          <p:attrName>ppt_x</p:attrName>
                                        </p:attrNameLst>
                                      </p:cBhvr>
                                      <p:tavLst>
                                        <p:tav tm="0">
                                          <p:val>
                                            <p:strVal val="#ppt_x"/>
                                          </p:val>
                                        </p:tav>
                                        <p:tav tm="100000">
                                          <p:val>
                                            <p:strVal val="#ppt_x"/>
                                          </p:val>
                                        </p:tav>
                                      </p:tavLst>
                                    </p:anim>
                                    <p:anim calcmode="lin" valueType="num">
                                      <p:cBhvr>
                                        <p:cTn id="12" dur="800" fill="hold" decel="100000"/>
                                        <p:tgtEl>
                                          <p:spTgt spid="6"/>
                                        </p:tgtEl>
                                        <p:attrNameLst>
                                          <p:attrName>ppt_y</p:attrName>
                                        </p:attrNameLst>
                                      </p:cBhvr>
                                      <p:tavLst>
                                        <p:tav tm="0">
                                          <p:val>
                                            <p:strVal val="#ppt_y+0.0250"/>
                                          </p:val>
                                        </p:tav>
                                        <p:tav tm="100000">
                                          <p:val>
                                            <p:strVal val="#ppt_y"/>
                                          </p:val>
                                        </p:tav>
                                      </p:tavLst>
                                    </p:anim>
                                  </p:childTnLst>
                                </p:cTn>
                              </p:par>
                              <p:par>
                                <p:cTn id="16" presetID="10" presetClass="entr" presetSubtype="0" fill="hold" grpId="0" nodeType="withEffect">
                                  <p:stCondLst>
                                    <p:cond delay="40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800" decel="100000"/>
                                        <p:tgtEl>
                                          <p:spTgt spid="7"/>
                                        </p:tgtEl>
                                      </p:cBhvr>
                                    </p:animEffect>
                                  </p:childTnLst>
                                </p:cTn>
                              </p:par>
                              <p:par>
                                <p:cTn id="19" presetID="22" presetClass="entr" presetSubtype="8" fill="hold" grpId="0" nodeType="withEffect">
                                  <p:stCondLst>
                                    <p:cond delay="40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8" dur="900" decel="100000"/>
                                        <p:tgtEl>
                                          <p:spTgt spid="8"/>
                                        </p:tgtEl>
                                      </p:cBhvr>
                                    </p:animEffect>
                                  </p:childTnLst>
                                </p:cTn>
                              </p:par>
                              <p:par>
                                <p:cTn id="24" presetID="42" presetClass="entr" presetSubtype="0" fill="hold" grpId="0" nodeType="withEffect">
                                  <p:stCondLst>
                                    <p:cond delay="68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640" decel="100000"/>
                                        <p:tgtEl>
                                          <p:spTgt spid="10"/>
                                        </p:tgtEl>
                                      </p:cBhvr>
                                    </p:animEffect>
                                    <p:anim calcmode="lin" valueType="num">
                                      <p:cBhvr>
                                        <p:cTn id="22" dur="800" fill="hold" decel="100000"/>
                                        <p:tgtEl>
                                          <p:spTgt spid="10"/>
                                        </p:tgtEl>
                                        <p:attrNameLst>
                                          <p:attrName>ppt_x</p:attrName>
                                        </p:attrNameLst>
                                      </p:cBhvr>
                                      <p:tavLst>
                                        <p:tav tm="0">
                                          <p:val>
                                            <p:strVal val="#ppt_x"/>
                                          </p:val>
                                        </p:tav>
                                        <p:tav tm="100000">
                                          <p:val>
                                            <p:strVal val="#ppt_x"/>
                                          </p:val>
                                        </p:tav>
                                      </p:tavLst>
                                    </p:anim>
                                    <p:anim calcmode="lin" valueType="num">
                                      <p:cBhvr>
                                        <p:cTn id="23" dur="800" fill="hold" decel="100000"/>
                                        <p:tgtEl>
                                          <p:spTgt spid="10"/>
                                        </p:tgtEl>
                                        <p:attrNameLst>
                                          <p:attrName>ppt_y</p:attrName>
                                        </p:attrNameLst>
                                      </p:cBhvr>
                                      <p:tavLst>
                                        <p:tav tm="0">
                                          <p:val>
                                            <p:strVal val="#ppt_y+0.0250"/>
                                          </p:val>
                                        </p:tav>
                                        <p:tav tm="100000">
                                          <p:val>
                                            <p:strVal val="#ppt_y"/>
                                          </p:val>
                                        </p:tav>
                                      </p:tavLst>
                                    </p:anim>
                                  </p:childTnLst>
                                </p:cTn>
                              </p:par>
                              <p:par>
                                <p:cTn id="27" presetID="10" presetClass="entr" presetSubtype="0" fill="hold" grpId="0" nodeType="withEffect">
                                  <p:stCondLst>
                                    <p:cond delay="78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800" decel="100000"/>
                                        <p:tgtEl>
                                          <p:spTgt spid="11"/>
                                        </p:tgtEl>
                                      </p:cBhvr>
                                    </p:animEffect>
                                  </p:childTnLst>
                                </p:cTn>
                              </p:par>
                              <p:par>
                                <p:cTn id="30" presetID="22" presetClass="entr" presetSubtype="8" fill="hold" grpId="0" nodeType="withEffect">
                                  <p:stCondLst>
                                    <p:cond delay="780"/>
                                  </p:stCondLst>
                                  <p:childTnLst>
                                    <p:set>
                                      <p:cBhvr>
                                        <p:cTn id="28" dur="1" fill="hold">
                                          <p:stCondLst>
                                            <p:cond delay="0"/>
                                          </p:stCondLst>
                                        </p:cTn>
                                        <p:tgtEl>
                                          <p:spTgt spid="12"/>
                                        </p:tgtEl>
                                        <p:attrNameLst>
                                          <p:attrName>style.visibility</p:attrName>
                                        </p:attrNameLst>
                                      </p:cBhvr>
                                      <p:to>
                                        <p:strVal val="visible"/>
                                      </p:to>
                                    </p:set>
                                    <p:animEffect transition="in" filter="wipe(left)">
                                      <p:cBhvr>
                                        <p:cTn id="29" dur="900" decel="100000"/>
                                        <p:tgtEl>
                                          <p:spTgt spid="12"/>
                                        </p:tgtEl>
                                      </p:cBhvr>
                                    </p:animEffect>
                                  </p:childTnLst>
                                </p:cTn>
                              </p:par>
                              <p:par>
                                <p:cTn id="35" presetID="42" presetClass="entr" presetSubtype="0" fill="hold" grpId="0" nodeType="withEffect">
                                  <p:stCondLst>
                                    <p:cond delay="106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640" decel="100000"/>
                                        <p:tgtEl>
                                          <p:spTgt spid="14"/>
                                        </p:tgtEl>
                                      </p:cBhvr>
                                    </p:animEffect>
                                    <p:anim calcmode="lin" valueType="num">
                                      <p:cBhvr>
                                        <p:cTn id="33" dur="800" fill="hold" decel="100000"/>
                                        <p:tgtEl>
                                          <p:spTgt spid="14"/>
                                        </p:tgtEl>
                                        <p:attrNameLst>
                                          <p:attrName>ppt_x</p:attrName>
                                        </p:attrNameLst>
                                      </p:cBhvr>
                                      <p:tavLst>
                                        <p:tav tm="0">
                                          <p:val>
                                            <p:strVal val="#ppt_x"/>
                                          </p:val>
                                        </p:tav>
                                        <p:tav tm="100000">
                                          <p:val>
                                            <p:strVal val="#ppt_x"/>
                                          </p:val>
                                        </p:tav>
                                      </p:tavLst>
                                    </p:anim>
                                    <p:anim calcmode="lin" valueType="num">
                                      <p:cBhvr>
                                        <p:cTn id="34" dur="800" fill="hold" decel="100000"/>
                                        <p:tgtEl>
                                          <p:spTgt spid="14"/>
                                        </p:tgtEl>
                                        <p:attrNameLst>
                                          <p:attrName>ppt_y</p:attrName>
                                        </p:attrNameLst>
                                      </p:cBhvr>
                                      <p:tavLst>
                                        <p:tav tm="0">
                                          <p:val>
                                            <p:strVal val="#ppt_y+0.0250"/>
                                          </p:val>
                                        </p:tav>
                                        <p:tav tm="100000">
                                          <p:val>
                                            <p:strVal val="#ppt_y"/>
                                          </p:val>
                                        </p:tav>
                                      </p:tavLst>
                                    </p:anim>
                                  </p:childTnLst>
                                </p:cTn>
                              </p:par>
                              <p:par>
                                <p:cTn id="40" presetID="42" presetClass="entr" presetSubtype="0" fill="hold" grpId="0" nodeType="withEffect">
                                  <p:stCondLst>
                                    <p:cond delay="110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480" decel="100000"/>
                                        <p:tgtEl>
                                          <p:spTgt spid="9"/>
                                        </p:tgtEl>
                                      </p:cBhvr>
                                    </p:animEffect>
                                    <p:anim calcmode="lin" valueType="num">
                                      <p:cBhvr>
                                        <p:cTn id="38" dur="600" fill="hold" decel="100000"/>
                                        <p:tgtEl>
                                          <p:spTgt spid="9"/>
                                        </p:tgtEl>
                                        <p:attrNameLst>
                                          <p:attrName>ppt_x</p:attrName>
                                        </p:attrNameLst>
                                      </p:cBhvr>
                                      <p:tavLst>
                                        <p:tav tm="0">
                                          <p:val>
                                            <p:strVal val="#ppt_x"/>
                                          </p:val>
                                        </p:tav>
                                        <p:tav tm="100000">
                                          <p:val>
                                            <p:strVal val="#ppt_x"/>
                                          </p:val>
                                        </p:tav>
                                      </p:tavLst>
                                    </p:anim>
                                    <p:anim calcmode="lin" valueType="num">
                                      <p:cBhvr>
                                        <p:cTn id="39" dur="600" fill="hold" decel="100000"/>
                                        <p:tgtEl>
                                          <p:spTgt spid="9"/>
                                        </p:tgtEl>
                                        <p:attrNameLst>
                                          <p:attrName>ppt_y</p:attrName>
                                        </p:attrNameLst>
                                      </p:cBhvr>
                                      <p:tavLst>
                                        <p:tav tm="0">
                                          <p:val>
                                            <p:strVal val="#ppt_y+0.0120"/>
                                          </p:val>
                                        </p:tav>
                                        <p:tav tm="100000">
                                          <p:val>
                                            <p:strVal val="#ppt_y"/>
                                          </p:val>
                                        </p:tav>
                                      </p:tavLst>
                                    </p:anim>
                                  </p:childTnLst>
                                </p:cTn>
                              </p:par>
                              <p:par>
                                <p:cTn id="43" presetID="10" presetClass="entr" presetSubtype="0" fill="hold" grpId="0" nodeType="withEffect">
                                  <p:stCondLst>
                                    <p:cond delay="116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800" decel="100000"/>
                                        <p:tgtEl>
                                          <p:spTgt spid="15"/>
                                        </p:tgtEl>
                                      </p:cBhvr>
                                    </p:animEffect>
                                  </p:childTnLst>
                                </p:cTn>
                              </p:par>
                              <p:par>
                                <p:cTn id="46" presetID="22" presetClass="entr" presetSubtype="8" fill="hold" grpId="0" nodeType="withEffect">
                                  <p:stCondLst>
                                    <p:cond delay="1160"/>
                                  </p:stCondLst>
                                  <p:childTnLst>
                                    <p:set>
                                      <p:cBhvr>
                                        <p:cTn id="44" dur="1" fill="hold">
                                          <p:stCondLst>
                                            <p:cond delay="0"/>
                                          </p:stCondLst>
                                        </p:cTn>
                                        <p:tgtEl>
                                          <p:spTgt spid="16"/>
                                        </p:tgtEl>
                                        <p:attrNameLst>
                                          <p:attrName>style.visibility</p:attrName>
                                        </p:attrNameLst>
                                      </p:cBhvr>
                                      <p:to>
                                        <p:strVal val="visible"/>
                                      </p:to>
                                    </p:set>
                                    <p:animEffect transition="in" filter="wipe(left)">
                                      <p:cBhvr>
                                        <p:cTn id="45" dur="900" decel="100000"/>
                                        <p:tgtEl>
                                          <p:spTgt spid="16"/>
                                        </p:tgtEl>
                                      </p:cBhvr>
                                    </p:animEffect>
                                  </p:childTnLst>
                                </p:cTn>
                              </p:par>
                              <p:par>
                                <p:cTn id="51" presetID="42" presetClass="entr" presetSubtype="0" fill="hold" grpId="0" nodeType="withEffect">
                                  <p:stCondLst>
                                    <p:cond delay="148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480" decel="100000"/>
                                        <p:tgtEl>
                                          <p:spTgt spid="13"/>
                                        </p:tgtEl>
                                      </p:cBhvr>
                                    </p:animEffect>
                                    <p:anim calcmode="lin" valueType="num">
                                      <p:cBhvr>
                                        <p:cTn id="49" dur="600" fill="hold" decel="100000"/>
                                        <p:tgtEl>
                                          <p:spTgt spid="13"/>
                                        </p:tgtEl>
                                        <p:attrNameLst>
                                          <p:attrName>ppt_x</p:attrName>
                                        </p:attrNameLst>
                                      </p:cBhvr>
                                      <p:tavLst>
                                        <p:tav tm="0">
                                          <p:val>
                                            <p:strVal val="#ppt_x"/>
                                          </p:val>
                                        </p:tav>
                                        <p:tav tm="100000">
                                          <p:val>
                                            <p:strVal val="#ppt_x"/>
                                          </p:val>
                                        </p:tav>
                                      </p:tavLst>
                                    </p:anim>
                                    <p:anim calcmode="lin" valueType="num">
                                      <p:cBhvr>
                                        <p:cTn id="50" dur="600" fill="hold" decel="100000"/>
                                        <p:tgtEl>
                                          <p:spTgt spid="13"/>
                                        </p:tgtEl>
                                        <p:attrNameLst>
                                          <p:attrName>ppt_y</p:attrName>
                                        </p:attrNameLst>
                                      </p:cBhvr>
                                      <p:tavLst>
                                        <p:tav tm="0">
                                          <p:val>
                                            <p:strVal val="#ppt_y+0.0120"/>
                                          </p:val>
                                        </p:tav>
                                        <p:tav tm="100000">
                                          <p:val>
                                            <p:strVal val="#ppt_y"/>
                                          </p:val>
                                        </p:tav>
                                      </p:tavLst>
                                    </p:anim>
                                  </p:childTnLst>
                                </p:cTn>
                              </p:par>
                              <p:par>
                                <p:cTn id="56" presetID="42" presetClass="entr" presetSubtype="0" fill="hold" grpId="0" nodeType="withEffect">
                                  <p:stCondLst>
                                    <p:cond delay="186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480" decel="100000"/>
                                        <p:tgtEl>
                                          <p:spTgt spid="17"/>
                                        </p:tgtEl>
                                      </p:cBhvr>
                                    </p:animEffect>
                                    <p:anim calcmode="lin" valueType="num">
                                      <p:cBhvr>
                                        <p:cTn id="54" dur="600" fill="hold" decel="100000"/>
                                        <p:tgtEl>
                                          <p:spTgt spid="17"/>
                                        </p:tgtEl>
                                        <p:attrNameLst>
                                          <p:attrName>ppt_x</p:attrName>
                                        </p:attrNameLst>
                                      </p:cBhvr>
                                      <p:tavLst>
                                        <p:tav tm="0">
                                          <p:val>
                                            <p:strVal val="#ppt_x"/>
                                          </p:val>
                                        </p:tav>
                                        <p:tav tm="100000">
                                          <p:val>
                                            <p:strVal val="#ppt_x"/>
                                          </p:val>
                                        </p:tav>
                                      </p:tavLst>
                                    </p:anim>
                                    <p:anim calcmode="lin" valueType="num">
                                      <p:cBhvr>
                                        <p:cTn id="55" dur="600" fill="hold" decel="100000"/>
                                        <p:tgtEl>
                                          <p:spTgt spid="17"/>
                                        </p:tgtEl>
                                        <p:attrNameLst>
                                          <p:attrName>ppt_y</p:attrName>
                                        </p:attrNameLst>
                                      </p:cBhvr>
                                      <p:tavLst>
                                        <p:tav tm="0">
                                          <p:val>
                                            <p:strVal val="#ppt_y+0.0120"/>
                                          </p:val>
                                        </p:tav>
                                        <p:tav tm="100000">
                                          <p:val>
                                            <p:strVal val="#ppt_y"/>
                                          </p:val>
                                        </p:tav>
                                      </p:tavLst>
                                    </p:anim>
                                  </p:childTnLst>
                                </p:cTn>
                              </p:par>
                              <p:par>
                                <p:cTn id="61" presetID="42" presetClass="entr" presetSubtype="0" fill="hold" grpId="0" nodeType="withEffect">
                                  <p:stCondLst>
                                    <p:cond delay="230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640" decel="100000"/>
                                        <p:tgtEl>
                                          <p:spTgt spid="18"/>
                                        </p:tgtEl>
                                      </p:cBhvr>
                                    </p:animEffect>
                                    <p:anim calcmode="lin" valueType="num">
                                      <p:cBhvr>
                                        <p:cTn id="59" dur="800" fill="hold" decel="100000"/>
                                        <p:tgtEl>
                                          <p:spTgt spid="18"/>
                                        </p:tgtEl>
                                        <p:attrNameLst>
                                          <p:attrName>ppt_x</p:attrName>
                                        </p:attrNameLst>
                                      </p:cBhvr>
                                      <p:tavLst>
                                        <p:tav tm="0">
                                          <p:val>
                                            <p:strVal val="#ppt_x"/>
                                          </p:val>
                                        </p:tav>
                                        <p:tav tm="100000">
                                          <p:val>
                                            <p:strVal val="#ppt_x"/>
                                          </p:val>
                                        </p:tav>
                                      </p:tavLst>
                                    </p:anim>
                                    <p:anim calcmode="lin" valueType="num">
                                      <p:cBhvr>
                                        <p:cTn id="60" dur="800" fill="hold" decel="100000"/>
                                        <p:tgtEl>
                                          <p:spTgt spid="18"/>
                                        </p:tgtEl>
                                        <p:attrNameLst>
                                          <p:attrName>ppt_y</p:attrName>
                                        </p:attrNameLst>
                                      </p:cBhvr>
                                      <p:tavLst>
                                        <p:tav tm="0">
                                          <p:val>
                                            <p:strVal val="#ppt_y+0.0250"/>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animBg="1"/>
      <p:bldP spid="11" grpId="0" animBg="1"/>
      <p:bldP spid="12" grpId="0" animBg="1"/>
      <p:bldP spid="14" grpId="0" animBg="1"/>
      <p:bldP spid="9" grpId="0" animBg="1"/>
      <p:bldP spid="15" grpId="0" animBg="1"/>
      <p:bldP spid="16" grpId="0" animBg="1"/>
      <p:bldP spid="13" grpId="0" animBg="1"/>
      <p:bldP spid="17" grpId="0" animBg="1"/>
      <p:bldP spid="18" grpId="0" animBg="1"/>
    </p:bldLst>
  </p:timing>
</p:sld>
</file>

<file path=ppt/slides/slide29.xml><?xml version="1.0" encoding="utf-8"?>
<p:sld xmlns:p14="http://schemas.microsoft.com/office/powerpoint/2010/main"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orbA" descr="Decorative background light">    </p:cNvPr>
          <p:cNvPicPr>
            <a:picLocks noChangeAspect="1"/>
          </p:cNvPicPr>
          <p:nvPr/>
        </p:nvPicPr>
        <p:blipFill>
          <a:blip r:embed="rId1"/>
          <a:stretch>
            <a:fillRect/>
          </a:stretch>
        </p:blipFill>
        <p:spPr>
          <a:xfrm>
            <a:off x="-1325880" y="-137160"/>
            <a:ext cx="7772400" cy="7772400"/>
          </a:xfrm>
          <a:prstGeom prst="rect">
            <a:avLst/>
          </a:prstGeom>
        </p:spPr>
      </p:pic>
      <p:pic>
        <p:nvPicPr>
          <p:cNvPr id="3" name="!!orbB" descr="Decorative background light">    </p:cNvPr>
          <p:cNvPicPr>
            <a:picLocks noChangeAspect="1"/>
          </p:cNvPicPr>
          <p:nvPr/>
        </p:nvPicPr>
        <p:blipFill>
          <a:blip r:embed="rId2"/>
          <a:stretch>
            <a:fillRect/>
          </a:stretch>
        </p:blipFill>
        <p:spPr>
          <a:xfrm>
            <a:off x="6858000" y="-457200"/>
            <a:ext cx="6400800" cy="6400800"/>
          </a:xfrm>
          <a:prstGeom prst="rect">
            <a:avLst/>
          </a:prstGeom>
        </p:spPr>
      </p:pic>
      <p:sp>
        <p:nvSpPr>
          <p:cNvPr id="4" name="!!kicker"/>
          <p:cNvSpPr/>
          <p:nvPr>
            <p:ph idx="100" type="body" hasCustomPrompt="1"/>
          </p:nvPr>
        </p:nvSpPr>
        <p:spPr>
          <a:xfrm>
            <a:off x="548640" y="384048"/>
            <a:ext cx="8732520" cy="329184"/>
          </a:xfrm>
          <a:prstGeom prst="rect">
            <a:avLst/>
          </a:prstGeom>
          <a:noFill/>
          <a:ln/>
        </p:spPr>
        <p:txBody>
          <a:bodyPr wrap="square" lIns="0" tIns="0" rIns="0" bIns="0" rtlCol="0" anchor="t"/>
          <a:lstStyle/>
          <a:p>
            <a:pPr algn="l" indent="0" marL="0">
              <a:buNone/>
            </a:pPr>
            <a:r>
              <a:rPr lang="en-US" sz="1500" b="1" spc="300" kern="0" dirty="0">
                <a:solidFill>
                  <a:schemeClr val="accent1"/>
                </a:solidFill>
              </a:rPr>
              <a:t>04 — EXPORTS &amp; COSTS</a:t>
            </a:r>
            <a:endParaRPr lang="en-US" sz="1500" dirty="0"/>
          </a:p>
        </p:txBody>
      </p:sp>
      <p:sp>
        <p:nvSpPr>
          <p:cNvPr id="5" name="!!title"/>
          <p:cNvSpPr/>
          <p:nvPr>
            <p:ph idx="101" type="title" hasCustomPrompt="1"/>
          </p:nvPr>
        </p:nvSpPr>
        <p:spPr>
          <a:xfrm>
            <a:off x="548640" y="731520"/>
            <a:ext cx="8732520" cy="786384"/>
          </a:xfrm>
          <a:prstGeom prst="rect">
            <a:avLst/>
          </a:prstGeom>
          <a:noFill/>
          <a:ln/>
        </p:spPr>
        <p:txBody>
          <a:bodyPr wrap="square" lIns="0" tIns="0" rIns="0" bIns="0" rtlCol="0" anchor="t"/>
          <a:lstStyle/>
          <a:p>
            <a:pPr algn="l" indent="0" marL="0">
              <a:buNone/>
            </a:pPr>
            <a:r>
              <a:rPr lang="en-US" sz="3800" b="1" dirty="0">
                <a:solidFill>
                  <a:schemeClr val="tx1"/>
                </a:solidFill>
              </a:rPr>
              <a:t>Where Kuwait’s LNG comes from</a:t>
            </a:r>
            <a:endParaRPr lang="en-US" sz="3800" dirty="0"/>
          </a:p>
        </p:txBody>
      </p:sp>
      <p:graphicFrame>
        <p:nvGraphicFramePr>
          <p:cNvPr id="6" name="lng_lng" descr=""/>
          <p:cNvGraphicFramePr/>
          <p:nvPr/>
        </p:nvGraphicFramePr>
        <p:xfrm>
          <a:off x="548640" y="1783080"/>
          <a:ext cx="3931920" cy="3931920"/>
        </p:xfrm>
        <a:graphic xmlns:a="http://schemas.openxmlformats.org/drawingml/2006/main">
          <a:graphicData uri="http://schemas.openxmlformats.org/drawingml/2006/chart">
            <c:chart xmlns:c="http://schemas.openxmlformats.org/drawingml/2006/chart" r:id="rId3"/>
          </a:graphicData>
        </a:graphic>
      </p:graphicFrame>
      <p:sp>
        <p:nvSpPr>
          <p:cNvPr id="7" name="lng_t_1"/>
          <p:cNvSpPr txBox="1"/>
          <p:nvPr/>
        </p:nvSpPr>
        <p:spPr>
          <a:xfrm>
            <a:off x="1417320" y="3017520"/>
            <a:ext cx="2194560" cy="822960"/>
          </a:xfrm>
          <a:prstGeom prst="rect">
            <a:avLst/>
          </a:prstGeom>
          <a:noFill/>
          <a:ln/>
        </p:spPr>
        <p:txBody>
          <a:bodyPr wrap="square" lIns="0" tIns="0" rIns="0" bIns="0" rtlCol="0" anchor="t"/>
          <a:lstStyle/>
          <a:p>
            <a:pPr algn="ctr" indent="0" marL="0">
              <a:buNone/>
            </a:pPr>
            <a:r>
              <a:rPr lang="en-US" sz="5200" b="1" dirty="0">
                <a:solidFill>
                  <a:schemeClr val="tx1"/>
                </a:solidFill>
                <a:latin typeface="Arial" pitchFamily="34" charset="0"/>
                <a:ea typeface="Arial" pitchFamily="34" charset="-122"/>
                <a:cs typeface="Arial" pitchFamily="34" charset="-120"/>
              </a:rPr>
              <a:t>9.73</a:t>
            </a:r>
            <a:endParaRPr lang="en-US" sz="5200" dirty="0"/>
          </a:p>
        </p:txBody>
      </p:sp>
      <p:sp>
        <p:nvSpPr>
          <p:cNvPr id="8" name="lng_t_2"/>
          <p:cNvSpPr txBox="1"/>
          <p:nvPr/>
        </p:nvSpPr>
        <p:spPr>
          <a:xfrm>
            <a:off x="1463040" y="3840480"/>
            <a:ext cx="2103120" cy="320040"/>
          </a:xfrm>
          <a:prstGeom prst="rect">
            <a:avLst/>
          </a:prstGeom>
          <a:noFill/>
          <a:ln/>
        </p:spPr>
        <p:txBody>
          <a:bodyPr wrap="square" lIns="0" tIns="0" rIns="0" bIns="0" rtlCol="0" anchor="t"/>
          <a:lstStyle/>
          <a:p>
            <a:pPr algn="ctr" indent="0" marL="0">
              <a:buNone/>
            </a:pPr>
            <a:r>
              <a:rPr lang="en-US" sz="1400" dirty="0">
                <a:solidFill>
                  <a:schemeClr val="tx2"/>
                </a:solidFill>
                <a:latin typeface="Arial" pitchFamily="34" charset="0"/>
                <a:ea typeface="Arial" pitchFamily="34" charset="-122"/>
                <a:cs typeface="Arial" pitchFamily="34" charset="-120"/>
              </a:rPr>
              <a:t>bcm imported, 2024</a:t>
            </a:r>
            <a:endParaRPr lang="en-US" sz="1400" dirty="0"/>
          </a:p>
        </p:txBody>
      </p:sp>
      <p:sp>
        <p:nvSpPr>
          <p:cNvPr id="9" name="lng_s_3"/>
          <p:cNvSpPr/>
          <p:nvPr/>
        </p:nvSpPr>
        <p:spPr>
          <a:xfrm>
            <a:off x="4800600" y="1920240"/>
            <a:ext cx="182880" cy="182880"/>
          </a:xfrm>
          <a:prstGeom prst="ellipse">
            <a:avLst/>
          </a:prstGeom>
          <a:solidFill>
            <a:srgbClr val="64D2FF"/>
          </a:solidFill>
          <a:ln/>
        </p:spPr>
      </p:sp>
      <p:sp>
        <p:nvSpPr>
          <p:cNvPr id="10" name="lng_t_4"/>
          <p:cNvSpPr txBox="1"/>
          <p:nvPr/>
        </p:nvSpPr>
        <p:spPr>
          <a:xfrm>
            <a:off x="5120640" y="1828800"/>
            <a:ext cx="2377440" cy="36576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Qatar  </a:t>
            </a:r>
            <a:pPr indent="0" marL="0">
              <a:buNone/>
            </a:pPr>
            <a:r>
              <a:rPr lang="en-US" sz="1600" dirty="0">
                <a:solidFill>
                  <a:schemeClr val="tx2"/>
                </a:solidFill>
                <a:latin typeface="Arial" pitchFamily="34" charset="0"/>
                <a:ea typeface="Arial" pitchFamily="34" charset="-122"/>
                <a:cs typeface="Arial" pitchFamily="34" charset="-120"/>
              </a:rPr>
              <a:t>61.4%</a:t>
            </a:r>
            <a:endParaRPr lang="en-US" sz="1600" dirty="0"/>
          </a:p>
        </p:txBody>
      </p:sp>
      <p:sp>
        <p:nvSpPr>
          <p:cNvPr id="11" name="lng_s_5"/>
          <p:cNvSpPr/>
          <p:nvPr/>
        </p:nvSpPr>
        <p:spPr>
          <a:xfrm>
            <a:off x="4800600" y="2350008"/>
            <a:ext cx="182880" cy="182880"/>
          </a:xfrm>
          <a:prstGeom prst="ellipse">
            <a:avLst/>
          </a:prstGeom>
          <a:solidFill>
            <a:srgbClr val="3A8FB7"/>
          </a:solidFill>
          <a:ln/>
        </p:spPr>
      </p:sp>
      <p:sp>
        <p:nvSpPr>
          <p:cNvPr id="12" name="lng_t_6"/>
          <p:cNvSpPr txBox="1"/>
          <p:nvPr/>
        </p:nvSpPr>
        <p:spPr>
          <a:xfrm>
            <a:off x="5120640" y="2258568"/>
            <a:ext cx="2377440" cy="36576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Nigeria  </a:t>
            </a:r>
            <a:pPr indent="0" marL="0">
              <a:buNone/>
            </a:pPr>
            <a:r>
              <a:rPr lang="en-US" sz="1600" dirty="0">
                <a:solidFill>
                  <a:schemeClr val="tx2"/>
                </a:solidFill>
                <a:latin typeface="Arial" pitchFamily="34" charset="0"/>
                <a:ea typeface="Arial" pitchFamily="34" charset="-122"/>
                <a:cs typeface="Arial" pitchFamily="34" charset="-120"/>
              </a:rPr>
              <a:t>16.6%</a:t>
            </a:r>
            <a:endParaRPr lang="en-US" sz="1600" dirty="0"/>
          </a:p>
        </p:txBody>
      </p:sp>
      <p:sp>
        <p:nvSpPr>
          <p:cNvPr id="13" name="lng_s_7"/>
          <p:cNvSpPr/>
          <p:nvPr/>
        </p:nvSpPr>
        <p:spPr>
          <a:xfrm>
            <a:off x="4800600" y="2779776"/>
            <a:ext cx="182880" cy="182880"/>
          </a:xfrm>
          <a:prstGeom prst="ellipse">
            <a:avLst/>
          </a:prstGeom>
          <a:solidFill>
            <a:srgbClr val="2B6A88"/>
          </a:solidFill>
          <a:ln/>
        </p:spPr>
      </p:sp>
      <p:sp>
        <p:nvSpPr>
          <p:cNvPr id="14" name="lng_t_8"/>
          <p:cNvSpPr txBox="1"/>
          <p:nvPr/>
        </p:nvSpPr>
        <p:spPr>
          <a:xfrm>
            <a:off x="5120640" y="2688336"/>
            <a:ext cx="2377440" cy="36576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United States  </a:t>
            </a:r>
            <a:pPr indent="0" marL="0">
              <a:buNone/>
            </a:pPr>
            <a:r>
              <a:rPr lang="en-US" sz="1600" dirty="0">
                <a:solidFill>
                  <a:schemeClr val="tx2"/>
                </a:solidFill>
                <a:latin typeface="Arial" pitchFamily="34" charset="0"/>
                <a:ea typeface="Arial" pitchFamily="34" charset="-122"/>
                <a:cs typeface="Arial" pitchFamily="34" charset="-120"/>
              </a:rPr>
              <a:t>9.5%</a:t>
            </a:r>
            <a:endParaRPr lang="en-US" sz="1600" dirty="0"/>
          </a:p>
        </p:txBody>
      </p:sp>
      <p:sp>
        <p:nvSpPr>
          <p:cNvPr id="15" name="lng_s_9"/>
          <p:cNvSpPr/>
          <p:nvPr/>
        </p:nvSpPr>
        <p:spPr>
          <a:xfrm>
            <a:off x="4800600" y="3209544"/>
            <a:ext cx="182880" cy="182880"/>
          </a:xfrm>
          <a:prstGeom prst="ellipse">
            <a:avLst/>
          </a:prstGeom>
          <a:solidFill>
            <a:srgbClr val="5A7C99"/>
          </a:solidFill>
          <a:ln/>
        </p:spPr>
      </p:sp>
      <p:sp>
        <p:nvSpPr>
          <p:cNvPr id="16" name="lng_t_10"/>
          <p:cNvSpPr txBox="1"/>
          <p:nvPr/>
        </p:nvSpPr>
        <p:spPr>
          <a:xfrm>
            <a:off x="5120640" y="3118104"/>
            <a:ext cx="2377440" cy="36576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Angola  </a:t>
            </a:r>
            <a:pPr indent="0" marL="0">
              <a:buNone/>
            </a:pPr>
            <a:r>
              <a:rPr lang="en-US" sz="1600" dirty="0">
                <a:solidFill>
                  <a:schemeClr val="tx2"/>
                </a:solidFill>
                <a:latin typeface="Arial" pitchFamily="34" charset="0"/>
                <a:ea typeface="Arial" pitchFamily="34" charset="-122"/>
                <a:cs typeface="Arial" pitchFamily="34" charset="-120"/>
              </a:rPr>
              <a:t>3.7%</a:t>
            </a:r>
            <a:endParaRPr lang="en-US" sz="1600" dirty="0"/>
          </a:p>
        </p:txBody>
      </p:sp>
      <p:sp>
        <p:nvSpPr>
          <p:cNvPr id="17" name="lng_s_11"/>
          <p:cNvSpPr/>
          <p:nvPr/>
        </p:nvSpPr>
        <p:spPr>
          <a:xfrm>
            <a:off x="4800600" y="3639312"/>
            <a:ext cx="182880" cy="182880"/>
          </a:xfrm>
          <a:prstGeom prst="ellipse">
            <a:avLst/>
          </a:prstGeom>
          <a:solidFill>
            <a:srgbClr val="FFD60A"/>
          </a:solidFill>
          <a:ln/>
        </p:spPr>
      </p:sp>
      <p:sp>
        <p:nvSpPr>
          <p:cNvPr id="18" name="lng_t_12"/>
          <p:cNvSpPr txBox="1"/>
          <p:nvPr/>
        </p:nvSpPr>
        <p:spPr>
          <a:xfrm>
            <a:off x="5120640" y="3547872"/>
            <a:ext cx="2377440" cy="365760"/>
          </a:xfrm>
          <a:prstGeom prst="rect">
            <a:avLst/>
          </a:prstGeom>
          <a:noFill/>
          <a:ln/>
        </p:spPr>
        <p:txBody>
          <a:bodyPr wrap="square" lIns="0" tIns="0" rIns="0" bIns="0" rtlCol="0" anchor="ctr"/>
          <a:lstStyle/>
          <a:p>
            <a:pPr indent="0" marL="0">
              <a:buNone/>
            </a:pPr>
            <a:r>
              <a:rPr lang="en-US" sz="1600" b="1" dirty="0">
                <a:solidFill>
                  <a:schemeClr val="accent3"/>
                </a:solidFill>
                <a:latin typeface="Arial" pitchFamily="34" charset="0"/>
                <a:ea typeface="Arial" pitchFamily="34" charset="-122"/>
                <a:cs typeface="Arial" pitchFamily="34" charset="-120"/>
              </a:rPr>
              <a:t>Oman  </a:t>
            </a:r>
            <a:pPr indent="0" marL="0">
              <a:buNone/>
            </a:pPr>
            <a:r>
              <a:rPr lang="en-US" sz="1600" dirty="0">
                <a:solidFill>
                  <a:schemeClr val="tx2"/>
                </a:solidFill>
                <a:latin typeface="Arial" pitchFamily="34" charset="0"/>
                <a:ea typeface="Arial" pitchFamily="34" charset="-122"/>
                <a:cs typeface="Arial" pitchFamily="34" charset="-120"/>
              </a:rPr>
              <a:t>3.0%</a:t>
            </a:r>
            <a:endParaRPr lang="en-US" sz="1600" dirty="0"/>
          </a:p>
        </p:txBody>
      </p:sp>
      <p:sp>
        <p:nvSpPr>
          <p:cNvPr id="19" name="lng_s_13"/>
          <p:cNvSpPr/>
          <p:nvPr/>
        </p:nvSpPr>
        <p:spPr>
          <a:xfrm>
            <a:off x="4800600" y="4069080"/>
            <a:ext cx="182880" cy="182880"/>
          </a:xfrm>
          <a:prstGeom prst="ellipse">
            <a:avLst/>
          </a:prstGeom>
          <a:solidFill>
            <a:srgbClr val="8E8E93"/>
          </a:solidFill>
          <a:ln/>
        </p:spPr>
      </p:sp>
      <p:sp>
        <p:nvSpPr>
          <p:cNvPr id="20" name="lng_t_14"/>
          <p:cNvSpPr txBox="1"/>
          <p:nvPr/>
        </p:nvSpPr>
        <p:spPr>
          <a:xfrm>
            <a:off x="5120640" y="3977640"/>
            <a:ext cx="2377440" cy="36576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Russia  </a:t>
            </a:r>
            <a:pPr indent="0" marL="0">
              <a:buNone/>
            </a:pPr>
            <a:r>
              <a:rPr lang="en-US" sz="1600" dirty="0">
                <a:solidFill>
                  <a:schemeClr val="tx2"/>
                </a:solidFill>
                <a:latin typeface="Arial" pitchFamily="34" charset="0"/>
                <a:ea typeface="Arial" pitchFamily="34" charset="-122"/>
                <a:cs typeface="Arial" pitchFamily="34" charset="-120"/>
              </a:rPr>
              <a:t>3.0%</a:t>
            </a:r>
            <a:endParaRPr lang="en-US" sz="1600" dirty="0"/>
          </a:p>
        </p:txBody>
      </p:sp>
      <p:sp>
        <p:nvSpPr>
          <p:cNvPr id="21" name="lng_s_15"/>
          <p:cNvSpPr/>
          <p:nvPr/>
        </p:nvSpPr>
        <p:spPr>
          <a:xfrm>
            <a:off x="4800600" y="4498848"/>
            <a:ext cx="182880" cy="182880"/>
          </a:xfrm>
          <a:prstGeom prst="ellipse">
            <a:avLst/>
          </a:prstGeom>
          <a:solidFill>
            <a:srgbClr val="5A5A5F"/>
          </a:solidFill>
          <a:ln/>
        </p:spPr>
      </p:sp>
      <p:sp>
        <p:nvSpPr>
          <p:cNvPr id="22" name="lng_t_16"/>
          <p:cNvSpPr txBox="1"/>
          <p:nvPr/>
        </p:nvSpPr>
        <p:spPr>
          <a:xfrm>
            <a:off x="5120640" y="4407408"/>
            <a:ext cx="2377440" cy="36576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Others  </a:t>
            </a:r>
            <a:pPr indent="0" marL="0">
              <a:buNone/>
            </a:pPr>
            <a:r>
              <a:rPr lang="en-US" sz="1600" dirty="0">
                <a:solidFill>
                  <a:schemeClr val="tx2"/>
                </a:solidFill>
                <a:latin typeface="Arial" pitchFamily="34" charset="0"/>
                <a:ea typeface="Arial" pitchFamily="34" charset="-122"/>
                <a:cs typeface="Arial" pitchFamily="34" charset="-120"/>
              </a:rPr>
              <a:t>2.9%</a:t>
            </a:r>
            <a:endParaRPr lang="en-US" sz="1600" dirty="0"/>
          </a:p>
        </p:txBody>
      </p:sp>
      <p:sp>
        <p:nvSpPr>
          <p:cNvPr id="23" name="lng_t_17"/>
          <p:cNvSpPr txBox="1"/>
          <p:nvPr/>
        </p:nvSpPr>
        <p:spPr>
          <a:xfrm>
            <a:off x="7863840" y="1828800"/>
            <a:ext cx="3749040" cy="640080"/>
          </a:xfrm>
          <a:prstGeom prst="rect">
            <a:avLst/>
          </a:prstGeom>
          <a:noFill/>
          <a:ln/>
        </p:spPr>
        <p:txBody>
          <a:bodyPr wrap="square" lIns="0" tIns="0" rIns="0" bIns="0" rtlCol="0" anchor="t"/>
          <a:lstStyle/>
          <a:p>
            <a:pPr indent="0" marL="0">
              <a:buNone/>
            </a:pPr>
            <a:r>
              <a:rPr lang="en-US" sz="3600" b="1" dirty="0">
                <a:solidFill>
                  <a:schemeClr val="accent2"/>
                </a:solidFill>
                <a:latin typeface="Arial" pitchFamily="34" charset="0"/>
                <a:ea typeface="Arial" pitchFamily="34" charset="-122"/>
                <a:cs typeface="Arial" pitchFamily="34" charset="-120"/>
              </a:rPr>
              <a:t>≈ 7.15 Mt</a:t>
            </a:r>
            <a:endParaRPr lang="en-US" sz="3600" dirty="0"/>
          </a:p>
        </p:txBody>
      </p:sp>
      <p:sp>
        <p:nvSpPr>
          <p:cNvPr id="24" name="lng_t_18"/>
          <p:cNvSpPr txBox="1"/>
          <p:nvPr/>
        </p:nvSpPr>
        <p:spPr>
          <a:xfrm>
            <a:off x="7863840" y="2468880"/>
            <a:ext cx="3749040" cy="566928"/>
          </a:xfrm>
          <a:prstGeom prst="rect">
            <a:avLst/>
          </a:prstGeom>
          <a:noFill/>
          <a:ln/>
        </p:spPr>
        <p:txBody>
          <a:bodyPr wrap="square" lIns="0" tIns="0" rIns="0" bIns="0" rtlCol="0" anchor="t"/>
          <a:lstStyle/>
          <a:p>
            <a:pPr indent="0" marL="0">
              <a:buNone/>
            </a:pPr>
            <a:r>
              <a:rPr lang="en-US" sz="1500" dirty="0">
                <a:solidFill>
                  <a:schemeClr val="tx2"/>
                </a:solidFill>
                <a:latin typeface="Arial" pitchFamily="34" charset="0"/>
                <a:ea typeface="Arial" pitchFamily="34" charset="-122"/>
                <a:cs typeface="Arial" pitchFamily="34" charset="-120"/>
              </a:rPr>
              <a:t>of LNG (= 9.73 bcm of gas), about 40% of all the gas Kuwait used in 2024</a:t>
            </a:r>
            <a:endParaRPr lang="en-US" sz="1500" dirty="0"/>
          </a:p>
        </p:txBody>
      </p:sp>
      <p:sp>
        <p:nvSpPr>
          <p:cNvPr id="25" name="lng_t_19"/>
          <p:cNvSpPr txBox="1"/>
          <p:nvPr/>
        </p:nvSpPr>
        <p:spPr>
          <a:xfrm>
            <a:off x="7863840" y="3154680"/>
            <a:ext cx="3749040" cy="640080"/>
          </a:xfrm>
          <a:prstGeom prst="rect">
            <a:avLst/>
          </a:prstGeom>
          <a:noFill/>
          <a:ln/>
        </p:spPr>
        <p:txBody>
          <a:bodyPr wrap="square" lIns="0" tIns="0" rIns="0" bIns="0" rtlCol="0" anchor="t"/>
          <a:lstStyle/>
          <a:p>
            <a:pPr indent="0" marL="0">
              <a:buNone/>
            </a:pPr>
            <a:r>
              <a:rPr lang="en-US" sz="3600" b="1" dirty="0">
                <a:solidFill>
                  <a:schemeClr val="accent2"/>
                </a:solidFill>
                <a:latin typeface="Arial" pitchFamily="34" charset="0"/>
                <a:ea typeface="Arial" pitchFamily="34" charset="-122"/>
                <a:cs typeface="Arial" pitchFamily="34" charset="-120"/>
              </a:rPr>
              <a:t>$33.98 → $11.91</a:t>
            </a:r>
            <a:endParaRPr lang="en-US" sz="3600" dirty="0"/>
          </a:p>
        </p:txBody>
      </p:sp>
      <p:sp>
        <p:nvSpPr>
          <p:cNvPr id="26" name="lng_t_20"/>
          <p:cNvSpPr txBox="1"/>
          <p:nvPr/>
        </p:nvSpPr>
        <p:spPr>
          <a:xfrm>
            <a:off x="7863840" y="3794760"/>
            <a:ext cx="3749040" cy="566928"/>
          </a:xfrm>
          <a:prstGeom prst="rect">
            <a:avLst/>
          </a:prstGeom>
          <a:noFill/>
          <a:ln/>
        </p:spPr>
        <p:txBody>
          <a:bodyPr wrap="square" lIns="0" tIns="0" rIns="0" bIns="0" rtlCol="0" anchor="t"/>
          <a:lstStyle/>
          <a:p>
            <a:pPr indent="0" marL="0">
              <a:buNone/>
            </a:pPr>
            <a:r>
              <a:rPr lang="en-US" sz="1500" dirty="0">
                <a:solidFill>
                  <a:schemeClr val="tx2"/>
                </a:solidFill>
                <a:latin typeface="Arial" pitchFamily="34" charset="0"/>
                <a:ea typeface="Arial" pitchFamily="34" charset="-122"/>
                <a:cs typeface="Arial" pitchFamily="34" charset="-120"/>
              </a:rPr>
              <a:t>Asian spot LNG price (JKM) per MMBtu, 2022 → 2024</a:t>
            </a:r>
            <a:endParaRPr lang="en-US" sz="1500" dirty="0"/>
          </a:p>
        </p:txBody>
      </p:sp>
      <p:sp>
        <p:nvSpPr>
          <p:cNvPr id="27" name="lng_t_21"/>
          <p:cNvSpPr txBox="1"/>
          <p:nvPr/>
        </p:nvSpPr>
        <p:spPr>
          <a:xfrm>
            <a:off x="7863840" y="4480560"/>
            <a:ext cx="3749040" cy="640080"/>
          </a:xfrm>
          <a:prstGeom prst="rect">
            <a:avLst/>
          </a:prstGeom>
          <a:noFill/>
          <a:ln/>
        </p:spPr>
        <p:txBody>
          <a:bodyPr wrap="square" lIns="0" tIns="0" rIns="0" bIns="0" rtlCol="0" anchor="t"/>
          <a:lstStyle/>
          <a:p>
            <a:pPr indent="0" marL="0">
              <a:buNone/>
            </a:pPr>
            <a:r>
              <a:rPr lang="en-US" sz="3600" b="1" dirty="0">
                <a:solidFill>
                  <a:schemeClr val="accent2"/>
                </a:solidFill>
                <a:latin typeface="Arial" pitchFamily="34" charset="0"/>
                <a:ea typeface="Arial" pitchFamily="34" charset="-122"/>
                <a:cs typeface="Arial" pitchFamily="34" charset="-120"/>
              </a:rPr>
              <a:t>≈ $4 bn</a:t>
            </a:r>
            <a:endParaRPr lang="en-US" sz="3600" dirty="0"/>
          </a:p>
        </p:txBody>
      </p:sp>
      <p:sp>
        <p:nvSpPr>
          <p:cNvPr id="28" name="lng_t_22"/>
          <p:cNvSpPr txBox="1"/>
          <p:nvPr/>
        </p:nvSpPr>
        <p:spPr>
          <a:xfrm>
            <a:off x="7863840" y="5120640"/>
            <a:ext cx="3749040" cy="566928"/>
          </a:xfrm>
          <a:prstGeom prst="rect">
            <a:avLst/>
          </a:prstGeom>
          <a:noFill/>
          <a:ln/>
        </p:spPr>
        <p:txBody>
          <a:bodyPr wrap="square" lIns="0" tIns="0" rIns="0" bIns="0" rtlCol="0" anchor="t"/>
          <a:lstStyle/>
          <a:p>
            <a:pPr indent="0" marL="0">
              <a:buNone/>
            </a:pPr>
            <a:r>
              <a:rPr lang="en-US" sz="1500" dirty="0">
                <a:solidFill>
                  <a:schemeClr val="tx2"/>
                </a:solidFill>
                <a:latin typeface="Arial" pitchFamily="34" charset="0"/>
                <a:ea typeface="Arial" pitchFamily="34" charset="-122"/>
                <a:cs typeface="Arial" pitchFamily="34" charset="-120"/>
              </a:rPr>
              <a:t>estimated 2024 import bill at spot prices</a:t>
            </a:r>
            <a:endParaRPr lang="en-US" sz="1500" dirty="0"/>
          </a:p>
        </p:txBody>
      </p:sp>
      <p:sp>
        <p:nvSpPr>
          <p:cNvPr id="29" name="!!source"/>
          <p:cNvSpPr txBox="1"/>
          <p:nvPr/>
        </p:nvSpPr>
        <p:spPr>
          <a:xfrm>
            <a:off x="548640" y="5943600"/>
            <a:ext cx="9692640" cy="274320"/>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Source: Energy Institute (2025), LNG trade and JKM prices; shares rounded. Bill = 7.15 Mt × 46.4 million MMBtu/Mt × $11.91 (estimate).</a:t>
            </a:r>
            <a:endParaRPr lang="en-US" sz="1200" dirty="0"/>
          </a:p>
        </p:txBody>
      </p:sp>
      <p:sp>
        <p:nvSpPr>
          <p:cNvPr id="30" name="!!home_bg"/>
          <p:cNvSpPr/>
          <p:nvPr/>
        </p:nvSpPr>
        <p:spPr>
          <a:xfrm>
            <a:off x="10637215" y="6272784"/>
            <a:ext cx="384048" cy="384048"/>
          </a:xfrm>
          <a:prstGeom prst="roundRect">
            <a:avLst>
              <a:gd name="adj" fmla="val 23810"/>
            </a:avLst>
          </a:prstGeom>
          <a:solidFill>
            <a:srgbClr val="2C2C2E"/>
          </a:solidFill>
          <a:ln/>
        </p:spPr>
      </p:sp>
      <p:pic>
        <p:nvPicPr>
          <p:cNvPr id="31" name="!!home_ic" descr="Decorative graphic">    </p:cNvPr>
          <p:cNvPicPr>
            <a:picLocks noChangeAspect="1"/>
          </p:cNvPicPr>
          <p:nvPr/>
        </p:nvPicPr>
        <p:blipFill>
          <a:blip r:embed="rId4"/>
          <a:stretch>
            <a:fillRect/>
          </a:stretch>
        </p:blipFill>
        <p:spPr>
          <a:xfrm>
            <a:off x="10719511" y="6355080"/>
            <a:ext cx="219456" cy="219456"/>
          </a:xfrm>
          <a:prstGeom prst="rect">
            <a:avLst/>
          </a:prstGeom>
        </p:spPr>
      </p:pic>
      <p:sp>
        <p:nvSpPr>
          <p:cNvPr id="32" name="!!home_hit">
            <a:hlinkClick r:id="rId5" tooltip="Back to contents" action="ppaction://hlinksldjump" highlightClick="1"/>
          </p:cNvPr>
          <p:cNvSpPr/>
          <p:nvPr/>
        </p:nvSpPr>
        <p:spPr>
          <a:xfrm>
            <a:off x="10637215" y="6272784"/>
            <a:ext cx="384048" cy="384048"/>
          </a:xfrm>
          <a:prstGeom prst="roundRect">
            <a:avLst>
              <a:gd name="adj" fmla="val 23810"/>
            </a:avLst>
          </a:prstGeom>
          <a:solidFill>
            <a:srgbClr val="000000">
              <a:alpha val="0"/>
            </a:srgbClr>
          </a:solidFill>
          <a:ln/>
        </p:spPr>
      </p:sp>
      <p:sp>
        <p:nvSpPr>
          <p:cNvPr id="34" name="!!footer"/>
          <p:cNvSpPr txBox="1"/>
          <p:nvPr/>
        </p:nvSpPr>
        <p:spPr>
          <a:xfrm>
            <a:off x="548640" y="6327648"/>
            <a:ext cx="5486400" cy="292608"/>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Kuwait Oil &amp; Gas  ·  EGCH2230</a:t>
            </a:r>
            <a:endParaRPr lang="en-US" sz="1200" dirty="0"/>
          </a:p>
        </p:txBody>
      </p:sp>
      <p:sp>
        <p:nvSpPr>
          <p:cNvPr id="35" name="!!num"/>
          <p:cNvSpPr txBox="1"/>
          <p:nvPr/>
        </p:nvSpPr>
        <p:spPr>
          <a:xfrm>
            <a:off x="11094415" y="6327648"/>
            <a:ext cx="548640" cy="292608"/>
          </a:xfrm>
          <a:prstGeom prst="rect">
            <a:avLst/>
          </a:prstGeom>
          <a:noFill/>
          <a:ln/>
        </p:spPr>
        <p:txBody>
          <a:bodyPr wrap="square" lIns="0" tIns="0" rIns="0" bIns="0" rtlCol="0" anchor="ctr"/>
          <a:lstStyle/>
          <a:p>
            <a:pPr algn="r" indent="0" marL="0">
              <a:buNone/>
            </a:pPr>
            <a:r>
              <a:rPr lang="en-US" sz="1200" dirty="0">
                <a:solidFill>
                  <a:schemeClr val="tx2"/>
                </a:solidFill>
                <a:latin typeface="Arial" pitchFamily="34" charset="0"/>
                <a:ea typeface="Arial" pitchFamily="34" charset="-122"/>
                <a:cs typeface="Arial" pitchFamily="34" charset="-120"/>
              </a:rPr>
              <a:t>24</a:t>
            </a:r>
            <a:endParaRPr lang="en-US" sz="1200" dirty="0"/>
          </a:p>
        </p:txBody>
      </p:sp>
      <p:pic>
        <p:nvPicPr>
          <p:cNvPr id="36" name="!!badge" descr="University of Technology and Applied Sciences, Salalah">    </p:cNvPr>
          <p:cNvPicPr>
            <a:picLocks noChangeAspect="1"/>
          </p:cNvPicPr>
          <p:nvPr/>
        </p:nvPicPr>
        <p:blipFill>
          <a:blip r:embed="rId6"/>
          <a:stretch>
            <a:fillRect/>
          </a:stretch>
        </p:blipFill>
        <p:spPr>
          <a:xfrm>
            <a:off x="9677095" y="274320"/>
            <a:ext cx="1965960" cy="80987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0" presetClass="path" presetSubtype="0" fill="hold" grpId="0" nodeType="afterEffect" repeatCount="indefinite" autoRev="1">
                                  <p:stCondLst>
                                    <p:cond delay="0"/>
                                  </p:stCondLst>
                                  <p:childTnLst>
                                    <p:animMotion origin="layout" path="M 0 0 L 0.0350 -0.0300 E" pathEditMode="relative" ptsTypes="">
                                      <p:cBhvr>
                                        <p:cTn id="5" dur="13000" fill="hold" accel="50000" decel="50000"/>
                                        <p:tgtEl>
                                          <p:spTgt spid="2"/>
                                        </p:tgtEl>
                                        <p:attrNameLst>
                                          <p:attrName>ppt_x</p:attrName>
                                          <p:attrName>ppt_y</p:attrName>
                                        </p:attrNameLst>
                                      </p:cBhvr>
                                      <p:rCtr x="0" y="0"/>
                                    </p:animMotion>
                                  </p:childTnLst>
                                </p:cTn>
                              </p:par>
                              <p:par>
                                <p:cTn id="8" presetID="0" presetClass="path" presetSubtype="0" fill="hold" grpId="0" nodeType="withEffect" repeatCount="indefinite" autoRev="1">
                                  <p:stCondLst>
                                    <p:cond delay="0"/>
                                  </p:stCondLst>
                                  <p:childTnLst>
                                    <p:animMotion origin="layout" path="M 0 0 L -0.0300 0.0250 E" pathEditMode="relative" ptsTypes="">
                                      <p:cBhvr>
                                        <p:cTn id="7" dur="15000" fill="hold" accel="50000" decel="50000"/>
                                        <p:tgtEl>
                                          <p:spTgt spid="3"/>
                                        </p:tgtEl>
                                        <p:attrNameLst>
                                          <p:attrName>ppt_x</p:attrName>
                                          <p:attrName>ppt_y</p:attrName>
                                        </p:attrNameLst>
                                      </p:cBhvr>
                                      <p:rCtr x="0" y="0"/>
                                    </p:animMotion>
                                  </p:childTnLst>
                                </p:cTn>
                              </p:par>
                              <p:par>
                                <p:cTn id="11" presetID="21" presetClass="entr" presetSubtype="1" fill="hold" grpId="0" nodeType="withEffect">
                                  <p:stCondLst>
                                    <p:cond delay="250"/>
                                  </p:stCondLst>
                                  <p:childTnLst>
                                    <p:set>
                                      <p:cBhvr>
                                        <p:cTn id="9" dur="1" fill="hold">
                                          <p:stCondLst>
                                            <p:cond delay="0"/>
                                          </p:stCondLst>
                                        </p:cTn>
                                        <p:tgtEl>
                                          <p:spTgt spid="6"/>
                                        </p:tgtEl>
                                        <p:attrNameLst>
                                          <p:attrName>style.visibility</p:attrName>
                                        </p:attrNameLst>
                                      </p:cBhvr>
                                      <p:to>
                                        <p:strVal val="visible"/>
                                      </p:to>
                                    </p:set>
                                    <p:animEffect transition="in" filter="wheel(1)">
                                      <p:cBhvr>
                                        <p:cTn id="10" dur="1700" decel="100000"/>
                                        <p:tgtEl>
                                          <p:spTgt spid="6"/>
                                        </p:tgtEl>
                                      </p:cBhvr>
                                    </p:animEffect>
                                  </p:childTnLst>
                                </p:cTn>
                              </p:par>
                              <p:par>
                                <p:cTn id="16" presetID="53" presetClass="entr" presetSubtype="16" fill="hold" grpId="0" nodeType="withEffect">
                                  <p:stCondLst>
                                    <p:cond delay="700"/>
                                  </p:stCondLst>
                                  <p:childTnLst>
                                    <p:set>
                                      <p:cBhvr>
                                        <p:cTn id="12" dur="1" fill="hold">
                                          <p:stCondLst>
                                            <p:cond delay="0"/>
                                          </p:stCondLst>
                                        </p:cTn>
                                        <p:tgtEl>
                                          <p:spTgt spid="9"/>
                                        </p:tgtEl>
                                        <p:attrNameLst>
                                          <p:attrName>style.visibility</p:attrName>
                                        </p:attrNameLst>
                                      </p:cBhvr>
                                      <p:to>
                                        <p:strVal val="visible"/>
                                      </p:to>
                                    </p:set>
                                    <p:anim calcmode="lin" valueType="num">
                                      <p:cBhvr>
                                        <p:cTn id="13" dur="600" fill="hold" decel="100000"/>
                                        <p:tgtEl>
                                          <p:spTgt spid="9"/>
                                        </p:tgtEl>
                                        <p:attrNameLst>
                                          <p:attrName>ppt_w</p:attrName>
                                        </p:attrNameLst>
                                      </p:cBhvr>
                                      <p:tavLst>
                                        <p:tav tm="0">
                                          <p:val>
                                            <p:strVal val="#ppt_w*0.600"/>
                                          </p:val>
                                        </p:tav>
                                        <p:tav tm="100000">
                                          <p:val>
                                            <p:strVal val="#ppt_w"/>
                                          </p:val>
                                        </p:tav>
                                      </p:tavLst>
                                    </p:anim>
                                    <p:anim calcmode="lin" valueType="num">
                                      <p:cBhvr>
                                        <p:cTn id="14" dur="600" fill="hold" decel="100000"/>
                                        <p:tgtEl>
                                          <p:spTgt spid="9"/>
                                        </p:tgtEl>
                                        <p:attrNameLst>
                                          <p:attrName>ppt_h</p:attrName>
                                        </p:attrNameLst>
                                      </p:cBhvr>
                                      <p:tavLst>
                                        <p:tav tm="0">
                                          <p:val>
                                            <p:strVal val="#ppt_h*0.600"/>
                                          </p:val>
                                        </p:tav>
                                        <p:tav tm="100000">
                                          <p:val>
                                            <p:strVal val="#ppt_h"/>
                                          </p:val>
                                        </p:tav>
                                      </p:tavLst>
                                    </p:anim>
                                    <p:animEffect transition="in" filter="fade">
                                      <p:cBhvr>
                                        <p:cTn id="15" dur="420" decel="100000"/>
                                        <p:tgtEl>
                                          <p:spTgt spid="9"/>
                                        </p:tgtEl>
                                      </p:cBhvr>
                                    </p:animEffect>
                                  </p:childTnLst>
                                </p:cTn>
                              </p:par>
                              <p:par>
                                <p:cTn id="21" presetID="42" presetClass="entr" presetSubtype="0" fill="hold" grpId="0" nodeType="withEffect">
                                  <p:stCondLst>
                                    <p:cond delay="70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60" decel="100000"/>
                                        <p:tgtEl>
                                          <p:spTgt spid="10"/>
                                        </p:tgtEl>
                                      </p:cBhvr>
                                    </p:animEffect>
                                    <p:anim calcmode="lin" valueType="num">
                                      <p:cBhvr>
                                        <p:cTn id="19" dur="700" fill="hold" decel="100000"/>
                                        <p:tgtEl>
                                          <p:spTgt spid="10"/>
                                        </p:tgtEl>
                                        <p:attrNameLst>
                                          <p:attrName>ppt_x</p:attrName>
                                        </p:attrNameLst>
                                      </p:cBhvr>
                                      <p:tavLst>
                                        <p:tav tm="0">
                                          <p:val>
                                            <p:strVal val="#ppt_x"/>
                                          </p:val>
                                        </p:tav>
                                        <p:tav tm="100000">
                                          <p:val>
                                            <p:strVal val="#ppt_x"/>
                                          </p:val>
                                        </p:tav>
                                      </p:tavLst>
                                    </p:anim>
                                    <p:anim calcmode="lin" valueType="num">
                                      <p:cBhvr>
                                        <p:cTn id="20" dur="700" fill="hold" decel="100000"/>
                                        <p:tgtEl>
                                          <p:spTgt spid="10"/>
                                        </p:tgtEl>
                                        <p:attrNameLst>
                                          <p:attrName>ppt_y</p:attrName>
                                        </p:attrNameLst>
                                      </p:cBhvr>
                                      <p:tavLst>
                                        <p:tav tm="0">
                                          <p:val>
                                            <p:strVal val="#ppt_y+0.0120"/>
                                          </p:val>
                                        </p:tav>
                                        <p:tav tm="100000">
                                          <p:val>
                                            <p:strVal val="#ppt_y"/>
                                          </p:val>
                                        </p:tav>
                                      </p:tavLst>
                                    </p:anim>
                                  </p:childTnLst>
                                </p:cTn>
                              </p:par>
                              <p:par>
                                <p:cTn id="26" presetID="53" presetClass="entr" presetSubtype="16" fill="hold" grpId="0" nodeType="withEffect">
                                  <p:stCondLst>
                                    <p:cond delay="790"/>
                                  </p:stCondLst>
                                  <p:childTnLst>
                                    <p:set>
                                      <p:cBhvr>
                                        <p:cTn id="22" dur="1" fill="hold">
                                          <p:stCondLst>
                                            <p:cond delay="0"/>
                                          </p:stCondLst>
                                        </p:cTn>
                                        <p:tgtEl>
                                          <p:spTgt spid="11"/>
                                        </p:tgtEl>
                                        <p:attrNameLst>
                                          <p:attrName>style.visibility</p:attrName>
                                        </p:attrNameLst>
                                      </p:cBhvr>
                                      <p:to>
                                        <p:strVal val="visible"/>
                                      </p:to>
                                    </p:set>
                                    <p:anim calcmode="lin" valueType="num">
                                      <p:cBhvr>
                                        <p:cTn id="23" dur="600" fill="hold" decel="100000"/>
                                        <p:tgtEl>
                                          <p:spTgt spid="11"/>
                                        </p:tgtEl>
                                        <p:attrNameLst>
                                          <p:attrName>ppt_w</p:attrName>
                                        </p:attrNameLst>
                                      </p:cBhvr>
                                      <p:tavLst>
                                        <p:tav tm="0">
                                          <p:val>
                                            <p:strVal val="#ppt_w*0.600"/>
                                          </p:val>
                                        </p:tav>
                                        <p:tav tm="100000">
                                          <p:val>
                                            <p:strVal val="#ppt_w"/>
                                          </p:val>
                                        </p:tav>
                                      </p:tavLst>
                                    </p:anim>
                                    <p:anim calcmode="lin" valueType="num">
                                      <p:cBhvr>
                                        <p:cTn id="24" dur="600" fill="hold" decel="100000"/>
                                        <p:tgtEl>
                                          <p:spTgt spid="11"/>
                                        </p:tgtEl>
                                        <p:attrNameLst>
                                          <p:attrName>ppt_h</p:attrName>
                                        </p:attrNameLst>
                                      </p:cBhvr>
                                      <p:tavLst>
                                        <p:tav tm="0">
                                          <p:val>
                                            <p:strVal val="#ppt_h*0.600"/>
                                          </p:val>
                                        </p:tav>
                                        <p:tav tm="100000">
                                          <p:val>
                                            <p:strVal val="#ppt_h"/>
                                          </p:val>
                                        </p:tav>
                                      </p:tavLst>
                                    </p:anim>
                                    <p:animEffect transition="in" filter="fade">
                                      <p:cBhvr>
                                        <p:cTn id="25" dur="420" decel="100000"/>
                                        <p:tgtEl>
                                          <p:spTgt spid="11"/>
                                        </p:tgtEl>
                                      </p:cBhvr>
                                    </p:animEffect>
                                  </p:childTnLst>
                                </p:cTn>
                              </p:par>
                              <p:par>
                                <p:cTn id="31" presetID="42" presetClass="entr" presetSubtype="0" fill="hold" grpId="0" nodeType="withEffect">
                                  <p:stCondLst>
                                    <p:cond delay="79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60" decel="100000"/>
                                        <p:tgtEl>
                                          <p:spTgt spid="12"/>
                                        </p:tgtEl>
                                      </p:cBhvr>
                                    </p:animEffect>
                                    <p:anim calcmode="lin" valueType="num">
                                      <p:cBhvr>
                                        <p:cTn id="29" dur="700" fill="hold" decel="100000"/>
                                        <p:tgtEl>
                                          <p:spTgt spid="12"/>
                                        </p:tgtEl>
                                        <p:attrNameLst>
                                          <p:attrName>ppt_x</p:attrName>
                                        </p:attrNameLst>
                                      </p:cBhvr>
                                      <p:tavLst>
                                        <p:tav tm="0">
                                          <p:val>
                                            <p:strVal val="#ppt_x"/>
                                          </p:val>
                                        </p:tav>
                                        <p:tav tm="100000">
                                          <p:val>
                                            <p:strVal val="#ppt_x"/>
                                          </p:val>
                                        </p:tav>
                                      </p:tavLst>
                                    </p:anim>
                                    <p:anim calcmode="lin" valueType="num">
                                      <p:cBhvr>
                                        <p:cTn id="30" dur="700" fill="hold" decel="100000"/>
                                        <p:tgtEl>
                                          <p:spTgt spid="12"/>
                                        </p:tgtEl>
                                        <p:attrNameLst>
                                          <p:attrName>ppt_y</p:attrName>
                                        </p:attrNameLst>
                                      </p:cBhvr>
                                      <p:tavLst>
                                        <p:tav tm="0">
                                          <p:val>
                                            <p:strVal val="#ppt_y+0.0120"/>
                                          </p:val>
                                        </p:tav>
                                        <p:tav tm="100000">
                                          <p:val>
                                            <p:strVal val="#ppt_y"/>
                                          </p:val>
                                        </p:tav>
                                      </p:tavLst>
                                    </p:anim>
                                  </p:childTnLst>
                                </p:cTn>
                              </p:par>
                              <p:par>
                                <p:cTn id="36" presetID="53" presetClass="entr" presetSubtype="16" fill="hold" grpId="0" nodeType="withEffect">
                                  <p:stCondLst>
                                    <p:cond delay="880"/>
                                  </p:stCondLst>
                                  <p:childTnLst>
                                    <p:set>
                                      <p:cBhvr>
                                        <p:cTn id="32" dur="1" fill="hold">
                                          <p:stCondLst>
                                            <p:cond delay="0"/>
                                          </p:stCondLst>
                                        </p:cTn>
                                        <p:tgtEl>
                                          <p:spTgt spid="13"/>
                                        </p:tgtEl>
                                        <p:attrNameLst>
                                          <p:attrName>style.visibility</p:attrName>
                                        </p:attrNameLst>
                                      </p:cBhvr>
                                      <p:to>
                                        <p:strVal val="visible"/>
                                      </p:to>
                                    </p:set>
                                    <p:anim calcmode="lin" valueType="num">
                                      <p:cBhvr>
                                        <p:cTn id="33" dur="600" fill="hold" decel="100000"/>
                                        <p:tgtEl>
                                          <p:spTgt spid="13"/>
                                        </p:tgtEl>
                                        <p:attrNameLst>
                                          <p:attrName>ppt_w</p:attrName>
                                        </p:attrNameLst>
                                      </p:cBhvr>
                                      <p:tavLst>
                                        <p:tav tm="0">
                                          <p:val>
                                            <p:strVal val="#ppt_w*0.600"/>
                                          </p:val>
                                        </p:tav>
                                        <p:tav tm="100000">
                                          <p:val>
                                            <p:strVal val="#ppt_w"/>
                                          </p:val>
                                        </p:tav>
                                      </p:tavLst>
                                    </p:anim>
                                    <p:anim calcmode="lin" valueType="num">
                                      <p:cBhvr>
                                        <p:cTn id="34" dur="600" fill="hold" decel="100000"/>
                                        <p:tgtEl>
                                          <p:spTgt spid="13"/>
                                        </p:tgtEl>
                                        <p:attrNameLst>
                                          <p:attrName>ppt_h</p:attrName>
                                        </p:attrNameLst>
                                      </p:cBhvr>
                                      <p:tavLst>
                                        <p:tav tm="0">
                                          <p:val>
                                            <p:strVal val="#ppt_h*0.600"/>
                                          </p:val>
                                        </p:tav>
                                        <p:tav tm="100000">
                                          <p:val>
                                            <p:strVal val="#ppt_h"/>
                                          </p:val>
                                        </p:tav>
                                      </p:tavLst>
                                    </p:anim>
                                    <p:animEffect transition="in" filter="fade">
                                      <p:cBhvr>
                                        <p:cTn id="35" dur="420" decel="100000"/>
                                        <p:tgtEl>
                                          <p:spTgt spid="13"/>
                                        </p:tgtEl>
                                      </p:cBhvr>
                                    </p:animEffect>
                                  </p:childTnLst>
                                </p:cTn>
                              </p:par>
                              <p:par>
                                <p:cTn id="41" presetID="42" presetClass="entr" presetSubtype="0" fill="hold" grpId="0" nodeType="withEffect">
                                  <p:stCondLst>
                                    <p:cond delay="88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60" decel="100000"/>
                                        <p:tgtEl>
                                          <p:spTgt spid="14"/>
                                        </p:tgtEl>
                                      </p:cBhvr>
                                    </p:animEffect>
                                    <p:anim calcmode="lin" valueType="num">
                                      <p:cBhvr>
                                        <p:cTn id="39" dur="700" fill="hold" decel="100000"/>
                                        <p:tgtEl>
                                          <p:spTgt spid="14"/>
                                        </p:tgtEl>
                                        <p:attrNameLst>
                                          <p:attrName>ppt_x</p:attrName>
                                        </p:attrNameLst>
                                      </p:cBhvr>
                                      <p:tavLst>
                                        <p:tav tm="0">
                                          <p:val>
                                            <p:strVal val="#ppt_x"/>
                                          </p:val>
                                        </p:tav>
                                        <p:tav tm="100000">
                                          <p:val>
                                            <p:strVal val="#ppt_x"/>
                                          </p:val>
                                        </p:tav>
                                      </p:tavLst>
                                    </p:anim>
                                    <p:anim calcmode="lin" valueType="num">
                                      <p:cBhvr>
                                        <p:cTn id="40" dur="700" fill="hold" decel="100000"/>
                                        <p:tgtEl>
                                          <p:spTgt spid="14"/>
                                        </p:tgtEl>
                                        <p:attrNameLst>
                                          <p:attrName>ppt_y</p:attrName>
                                        </p:attrNameLst>
                                      </p:cBhvr>
                                      <p:tavLst>
                                        <p:tav tm="0">
                                          <p:val>
                                            <p:strVal val="#ppt_y+0.0120"/>
                                          </p:val>
                                        </p:tav>
                                        <p:tav tm="100000">
                                          <p:val>
                                            <p:strVal val="#ppt_y"/>
                                          </p:val>
                                        </p:tav>
                                      </p:tavLst>
                                    </p:anim>
                                  </p:childTnLst>
                                </p:cTn>
                              </p:par>
                              <p:par>
                                <p:cTn id="46" presetID="53" presetClass="entr" presetSubtype="16" fill="hold" grpId="0" nodeType="withEffect">
                                  <p:stCondLst>
                                    <p:cond delay="970"/>
                                  </p:stCondLst>
                                  <p:childTnLst>
                                    <p:set>
                                      <p:cBhvr>
                                        <p:cTn id="42" dur="1" fill="hold">
                                          <p:stCondLst>
                                            <p:cond delay="0"/>
                                          </p:stCondLst>
                                        </p:cTn>
                                        <p:tgtEl>
                                          <p:spTgt spid="15"/>
                                        </p:tgtEl>
                                        <p:attrNameLst>
                                          <p:attrName>style.visibility</p:attrName>
                                        </p:attrNameLst>
                                      </p:cBhvr>
                                      <p:to>
                                        <p:strVal val="visible"/>
                                      </p:to>
                                    </p:set>
                                    <p:anim calcmode="lin" valueType="num">
                                      <p:cBhvr>
                                        <p:cTn id="43" dur="600" fill="hold" decel="100000"/>
                                        <p:tgtEl>
                                          <p:spTgt spid="15"/>
                                        </p:tgtEl>
                                        <p:attrNameLst>
                                          <p:attrName>ppt_w</p:attrName>
                                        </p:attrNameLst>
                                      </p:cBhvr>
                                      <p:tavLst>
                                        <p:tav tm="0">
                                          <p:val>
                                            <p:strVal val="#ppt_w*0.600"/>
                                          </p:val>
                                        </p:tav>
                                        <p:tav tm="100000">
                                          <p:val>
                                            <p:strVal val="#ppt_w"/>
                                          </p:val>
                                        </p:tav>
                                      </p:tavLst>
                                    </p:anim>
                                    <p:anim calcmode="lin" valueType="num">
                                      <p:cBhvr>
                                        <p:cTn id="44" dur="600" fill="hold" decel="100000"/>
                                        <p:tgtEl>
                                          <p:spTgt spid="15"/>
                                        </p:tgtEl>
                                        <p:attrNameLst>
                                          <p:attrName>ppt_h</p:attrName>
                                        </p:attrNameLst>
                                      </p:cBhvr>
                                      <p:tavLst>
                                        <p:tav tm="0">
                                          <p:val>
                                            <p:strVal val="#ppt_h*0.600"/>
                                          </p:val>
                                        </p:tav>
                                        <p:tav tm="100000">
                                          <p:val>
                                            <p:strVal val="#ppt_h"/>
                                          </p:val>
                                        </p:tav>
                                      </p:tavLst>
                                    </p:anim>
                                    <p:animEffect transition="in" filter="fade">
                                      <p:cBhvr>
                                        <p:cTn id="45" dur="420" decel="100000"/>
                                        <p:tgtEl>
                                          <p:spTgt spid="15"/>
                                        </p:tgtEl>
                                      </p:cBhvr>
                                    </p:animEffect>
                                  </p:childTnLst>
                                </p:cTn>
                              </p:par>
                              <p:par>
                                <p:cTn id="51" presetID="42" presetClass="entr" presetSubtype="0" fill="hold" grpId="0" nodeType="withEffect">
                                  <p:stCondLst>
                                    <p:cond delay="97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60" decel="100000"/>
                                        <p:tgtEl>
                                          <p:spTgt spid="16"/>
                                        </p:tgtEl>
                                      </p:cBhvr>
                                    </p:animEffect>
                                    <p:anim calcmode="lin" valueType="num">
                                      <p:cBhvr>
                                        <p:cTn id="49" dur="700" fill="hold" decel="100000"/>
                                        <p:tgtEl>
                                          <p:spTgt spid="16"/>
                                        </p:tgtEl>
                                        <p:attrNameLst>
                                          <p:attrName>ppt_x</p:attrName>
                                        </p:attrNameLst>
                                      </p:cBhvr>
                                      <p:tavLst>
                                        <p:tav tm="0">
                                          <p:val>
                                            <p:strVal val="#ppt_x"/>
                                          </p:val>
                                        </p:tav>
                                        <p:tav tm="100000">
                                          <p:val>
                                            <p:strVal val="#ppt_x"/>
                                          </p:val>
                                        </p:tav>
                                      </p:tavLst>
                                    </p:anim>
                                    <p:anim calcmode="lin" valueType="num">
                                      <p:cBhvr>
                                        <p:cTn id="50" dur="700" fill="hold" decel="100000"/>
                                        <p:tgtEl>
                                          <p:spTgt spid="16"/>
                                        </p:tgtEl>
                                        <p:attrNameLst>
                                          <p:attrName>ppt_y</p:attrName>
                                        </p:attrNameLst>
                                      </p:cBhvr>
                                      <p:tavLst>
                                        <p:tav tm="0">
                                          <p:val>
                                            <p:strVal val="#ppt_y+0.0120"/>
                                          </p:val>
                                        </p:tav>
                                        <p:tav tm="100000">
                                          <p:val>
                                            <p:strVal val="#ppt_y"/>
                                          </p:val>
                                        </p:tav>
                                      </p:tavLst>
                                    </p:anim>
                                  </p:childTnLst>
                                </p:cTn>
                              </p:par>
                              <p:par>
                                <p:cTn id="56" presetID="53" presetClass="entr" presetSubtype="16" fill="hold" grpId="0" nodeType="withEffect">
                                  <p:stCondLst>
                                    <p:cond delay="1060"/>
                                  </p:stCondLst>
                                  <p:childTnLst>
                                    <p:set>
                                      <p:cBhvr>
                                        <p:cTn id="52" dur="1" fill="hold">
                                          <p:stCondLst>
                                            <p:cond delay="0"/>
                                          </p:stCondLst>
                                        </p:cTn>
                                        <p:tgtEl>
                                          <p:spTgt spid="17"/>
                                        </p:tgtEl>
                                        <p:attrNameLst>
                                          <p:attrName>style.visibility</p:attrName>
                                        </p:attrNameLst>
                                      </p:cBhvr>
                                      <p:to>
                                        <p:strVal val="visible"/>
                                      </p:to>
                                    </p:set>
                                    <p:anim calcmode="lin" valueType="num">
                                      <p:cBhvr>
                                        <p:cTn id="53" dur="600" fill="hold" decel="100000"/>
                                        <p:tgtEl>
                                          <p:spTgt spid="17"/>
                                        </p:tgtEl>
                                        <p:attrNameLst>
                                          <p:attrName>ppt_w</p:attrName>
                                        </p:attrNameLst>
                                      </p:cBhvr>
                                      <p:tavLst>
                                        <p:tav tm="0">
                                          <p:val>
                                            <p:strVal val="#ppt_w*0.600"/>
                                          </p:val>
                                        </p:tav>
                                        <p:tav tm="100000">
                                          <p:val>
                                            <p:strVal val="#ppt_w"/>
                                          </p:val>
                                        </p:tav>
                                      </p:tavLst>
                                    </p:anim>
                                    <p:anim calcmode="lin" valueType="num">
                                      <p:cBhvr>
                                        <p:cTn id="54" dur="600" fill="hold" decel="100000"/>
                                        <p:tgtEl>
                                          <p:spTgt spid="17"/>
                                        </p:tgtEl>
                                        <p:attrNameLst>
                                          <p:attrName>ppt_h</p:attrName>
                                        </p:attrNameLst>
                                      </p:cBhvr>
                                      <p:tavLst>
                                        <p:tav tm="0">
                                          <p:val>
                                            <p:strVal val="#ppt_h*0.600"/>
                                          </p:val>
                                        </p:tav>
                                        <p:tav tm="100000">
                                          <p:val>
                                            <p:strVal val="#ppt_h"/>
                                          </p:val>
                                        </p:tav>
                                      </p:tavLst>
                                    </p:anim>
                                    <p:animEffect transition="in" filter="fade">
                                      <p:cBhvr>
                                        <p:cTn id="55" dur="420" decel="100000"/>
                                        <p:tgtEl>
                                          <p:spTgt spid="17"/>
                                        </p:tgtEl>
                                      </p:cBhvr>
                                    </p:animEffect>
                                  </p:childTnLst>
                                </p:cTn>
                              </p:par>
                              <p:par>
                                <p:cTn id="61" presetID="42" presetClass="entr" presetSubtype="0" fill="hold" grpId="0" nodeType="withEffect">
                                  <p:stCondLst>
                                    <p:cond delay="106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60" decel="100000"/>
                                        <p:tgtEl>
                                          <p:spTgt spid="18"/>
                                        </p:tgtEl>
                                      </p:cBhvr>
                                    </p:animEffect>
                                    <p:anim calcmode="lin" valueType="num">
                                      <p:cBhvr>
                                        <p:cTn id="59" dur="700" fill="hold" decel="100000"/>
                                        <p:tgtEl>
                                          <p:spTgt spid="18"/>
                                        </p:tgtEl>
                                        <p:attrNameLst>
                                          <p:attrName>ppt_x</p:attrName>
                                        </p:attrNameLst>
                                      </p:cBhvr>
                                      <p:tavLst>
                                        <p:tav tm="0">
                                          <p:val>
                                            <p:strVal val="#ppt_x"/>
                                          </p:val>
                                        </p:tav>
                                        <p:tav tm="100000">
                                          <p:val>
                                            <p:strVal val="#ppt_x"/>
                                          </p:val>
                                        </p:tav>
                                      </p:tavLst>
                                    </p:anim>
                                    <p:anim calcmode="lin" valueType="num">
                                      <p:cBhvr>
                                        <p:cTn id="60" dur="700" fill="hold" decel="100000"/>
                                        <p:tgtEl>
                                          <p:spTgt spid="18"/>
                                        </p:tgtEl>
                                        <p:attrNameLst>
                                          <p:attrName>ppt_y</p:attrName>
                                        </p:attrNameLst>
                                      </p:cBhvr>
                                      <p:tavLst>
                                        <p:tav tm="0">
                                          <p:val>
                                            <p:strVal val="#ppt_y+0.0120"/>
                                          </p:val>
                                        </p:tav>
                                        <p:tav tm="100000">
                                          <p:val>
                                            <p:strVal val="#ppt_y"/>
                                          </p:val>
                                        </p:tav>
                                      </p:tavLst>
                                    </p:anim>
                                  </p:childTnLst>
                                </p:cTn>
                              </p:par>
                              <p:par>
                                <p:cTn id="66" presetID="53" presetClass="entr" presetSubtype="16" fill="hold" grpId="0" nodeType="withEffect">
                                  <p:stCondLst>
                                    <p:cond delay="1150"/>
                                  </p:stCondLst>
                                  <p:childTnLst>
                                    <p:set>
                                      <p:cBhvr>
                                        <p:cTn id="62" dur="1" fill="hold">
                                          <p:stCondLst>
                                            <p:cond delay="0"/>
                                          </p:stCondLst>
                                        </p:cTn>
                                        <p:tgtEl>
                                          <p:spTgt spid="19"/>
                                        </p:tgtEl>
                                        <p:attrNameLst>
                                          <p:attrName>style.visibility</p:attrName>
                                        </p:attrNameLst>
                                      </p:cBhvr>
                                      <p:to>
                                        <p:strVal val="visible"/>
                                      </p:to>
                                    </p:set>
                                    <p:anim calcmode="lin" valueType="num">
                                      <p:cBhvr>
                                        <p:cTn id="63" dur="600" fill="hold" decel="100000"/>
                                        <p:tgtEl>
                                          <p:spTgt spid="19"/>
                                        </p:tgtEl>
                                        <p:attrNameLst>
                                          <p:attrName>ppt_w</p:attrName>
                                        </p:attrNameLst>
                                      </p:cBhvr>
                                      <p:tavLst>
                                        <p:tav tm="0">
                                          <p:val>
                                            <p:strVal val="#ppt_w*0.600"/>
                                          </p:val>
                                        </p:tav>
                                        <p:tav tm="100000">
                                          <p:val>
                                            <p:strVal val="#ppt_w"/>
                                          </p:val>
                                        </p:tav>
                                      </p:tavLst>
                                    </p:anim>
                                    <p:anim calcmode="lin" valueType="num">
                                      <p:cBhvr>
                                        <p:cTn id="64" dur="600" fill="hold" decel="100000"/>
                                        <p:tgtEl>
                                          <p:spTgt spid="19"/>
                                        </p:tgtEl>
                                        <p:attrNameLst>
                                          <p:attrName>ppt_h</p:attrName>
                                        </p:attrNameLst>
                                      </p:cBhvr>
                                      <p:tavLst>
                                        <p:tav tm="0">
                                          <p:val>
                                            <p:strVal val="#ppt_h*0.600"/>
                                          </p:val>
                                        </p:tav>
                                        <p:tav tm="100000">
                                          <p:val>
                                            <p:strVal val="#ppt_h"/>
                                          </p:val>
                                        </p:tav>
                                      </p:tavLst>
                                    </p:anim>
                                    <p:animEffect transition="in" filter="fade">
                                      <p:cBhvr>
                                        <p:cTn id="65" dur="420" decel="100000"/>
                                        <p:tgtEl>
                                          <p:spTgt spid="19"/>
                                        </p:tgtEl>
                                      </p:cBhvr>
                                    </p:animEffect>
                                  </p:childTnLst>
                                </p:cTn>
                              </p:par>
                              <p:par>
                                <p:cTn id="71" presetID="42" presetClass="entr" presetSubtype="0" fill="hold" grpId="0" nodeType="withEffect">
                                  <p:stCondLst>
                                    <p:cond delay="1150"/>
                                  </p:stCondLst>
                                  <p:childTnLst>
                                    <p:set>
                                      <p:cBhvr>
                                        <p:cTn id="67" dur="1" fill="hold">
                                          <p:stCondLst>
                                            <p:cond delay="0"/>
                                          </p:stCondLst>
                                        </p:cTn>
                                        <p:tgtEl>
                                          <p:spTgt spid="20"/>
                                        </p:tgtEl>
                                        <p:attrNameLst>
                                          <p:attrName>style.visibility</p:attrName>
                                        </p:attrNameLst>
                                      </p:cBhvr>
                                      <p:to>
                                        <p:strVal val="visible"/>
                                      </p:to>
                                    </p:set>
                                    <p:animEffect transition="in" filter="fade">
                                      <p:cBhvr>
                                        <p:cTn id="68" dur="560" decel="100000"/>
                                        <p:tgtEl>
                                          <p:spTgt spid="20"/>
                                        </p:tgtEl>
                                      </p:cBhvr>
                                    </p:animEffect>
                                    <p:anim calcmode="lin" valueType="num">
                                      <p:cBhvr>
                                        <p:cTn id="69" dur="700" fill="hold" decel="100000"/>
                                        <p:tgtEl>
                                          <p:spTgt spid="20"/>
                                        </p:tgtEl>
                                        <p:attrNameLst>
                                          <p:attrName>ppt_x</p:attrName>
                                        </p:attrNameLst>
                                      </p:cBhvr>
                                      <p:tavLst>
                                        <p:tav tm="0">
                                          <p:val>
                                            <p:strVal val="#ppt_x"/>
                                          </p:val>
                                        </p:tav>
                                        <p:tav tm="100000">
                                          <p:val>
                                            <p:strVal val="#ppt_x"/>
                                          </p:val>
                                        </p:tav>
                                      </p:tavLst>
                                    </p:anim>
                                    <p:anim calcmode="lin" valueType="num">
                                      <p:cBhvr>
                                        <p:cTn id="70" dur="700" fill="hold" decel="100000"/>
                                        <p:tgtEl>
                                          <p:spTgt spid="20"/>
                                        </p:tgtEl>
                                        <p:attrNameLst>
                                          <p:attrName>ppt_y</p:attrName>
                                        </p:attrNameLst>
                                      </p:cBhvr>
                                      <p:tavLst>
                                        <p:tav tm="0">
                                          <p:val>
                                            <p:strVal val="#ppt_y+0.0120"/>
                                          </p:val>
                                        </p:tav>
                                        <p:tav tm="100000">
                                          <p:val>
                                            <p:strVal val="#ppt_y"/>
                                          </p:val>
                                        </p:tav>
                                      </p:tavLst>
                                    </p:anim>
                                  </p:childTnLst>
                                </p:cTn>
                              </p:par>
                              <p:par>
                                <p:cTn id="76" presetID="53" presetClass="entr" presetSubtype="16" fill="hold" grpId="0" nodeType="withEffect">
                                  <p:stCondLst>
                                    <p:cond delay="1240"/>
                                  </p:stCondLst>
                                  <p:childTnLst>
                                    <p:set>
                                      <p:cBhvr>
                                        <p:cTn id="72" dur="1" fill="hold">
                                          <p:stCondLst>
                                            <p:cond delay="0"/>
                                          </p:stCondLst>
                                        </p:cTn>
                                        <p:tgtEl>
                                          <p:spTgt spid="21"/>
                                        </p:tgtEl>
                                        <p:attrNameLst>
                                          <p:attrName>style.visibility</p:attrName>
                                        </p:attrNameLst>
                                      </p:cBhvr>
                                      <p:to>
                                        <p:strVal val="visible"/>
                                      </p:to>
                                    </p:set>
                                    <p:anim calcmode="lin" valueType="num">
                                      <p:cBhvr>
                                        <p:cTn id="73" dur="600" fill="hold" decel="100000"/>
                                        <p:tgtEl>
                                          <p:spTgt spid="21"/>
                                        </p:tgtEl>
                                        <p:attrNameLst>
                                          <p:attrName>ppt_w</p:attrName>
                                        </p:attrNameLst>
                                      </p:cBhvr>
                                      <p:tavLst>
                                        <p:tav tm="0">
                                          <p:val>
                                            <p:strVal val="#ppt_w*0.600"/>
                                          </p:val>
                                        </p:tav>
                                        <p:tav tm="100000">
                                          <p:val>
                                            <p:strVal val="#ppt_w"/>
                                          </p:val>
                                        </p:tav>
                                      </p:tavLst>
                                    </p:anim>
                                    <p:anim calcmode="lin" valueType="num">
                                      <p:cBhvr>
                                        <p:cTn id="74" dur="600" fill="hold" decel="100000"/>
                                        <p:tgtEl>
                                          <p:spTgt spid="21"/>
                                        </p:tgtEl>
                                        <p:attrNameLst>
                                          <p:attrName>ppt_h</p:attrName>
                                        </p:attrNameLst>
                                      </p:cBhvr>
                                      <p:tavLst>
                                        <p:tav tm="0">
                                          <p:val>
                                            <p:strVal val="#ppt_h*0.600"/>
                                          </p:val>
                                        </p:tav>
                                        <p:tav tm="100000">
                                          <p:val>
                                            <p:strVal val="#ppt_h"/>
                                          </p:val>
                                        </p:tav>
                                      </p:tavLst>
                                    </p:anim>
                                    <p:animEffect transition="in" filter="fade">
                                      <p:cBhvr>
                                        <p:cTn id="75" dur="420" decel="100000"/>
                                        <p:tgtEl>
                                          <p:spTgt spid="21"/>
                                        </p:tgtEl>
                                      </p:cBhvr>
                                    </p:animEffect>
                                  </p:childTnLst>
                                </p:cTn>
                              </p:par>
                              <p:par>
                                <p:cTn id="81" presetID="42" presetClass="entr" presetSubtype="0" fill="hold" grpId="0" nodeType="withEffect">
                                  <p:stCondLst>
                                    <p:cond delay="1240"/>
                                  </p:stCondLst>
                                  <p:childTnLst>
                                    <p:set>
                                      <p:cBhvr>
                                        <p:cTn id="77" dur="1" fill="hold">
                                          <p:stCondLst>
                                            <p:cond delay="0"/>
                                          </p:stCondLst>
                                        </p:cTn>
                                        <p:tgtEl>
                                          <p:spTgt spid="22"/>
                                        </p:tgtEl>
                                        <p:attrNameLst>
                                          <p:attrName>style.visibility</p:attrName>
                                        </p:attrNameLst>
                                      </p:cBhvr>
                                      <p:to>
                                        <p:strVal val="visible"/>
                                      </p:to>
                                    </p:set>
                                    <p:animEffect transition="in" filter="fade">
                                      <p:cBhvr>
                                        <p:cTn id="78" dur="560" decel="100000"/>
                                        <p:tgtEl>
                                          <p:spTgt spid="22"/>
                                        </p:tgtEl>
                                      </p:cBhvr>
                                    </p:animEffect>
                                    <p:anim calcmode="lin" valueType="num">
                                      <p:cBhvr>
                                        <p:cTn id="79" dur="700" fill="hold" decel="100000"/>
                                        <p:tgtEl>
                                          <p:spTgt spid="22"/>
                                        </p:tgtEl>
                                        <p:attrNameLst>
                                          <p:attrName>ppt_x</p:attrName>
                                        </p:attrNameLst>
                                      </p:cBhvr>
                                      <p:tavLst>
                                        <p:tav tm="0">
                                          <p:val>
                                            <p:strVal val="#ppt_x"/>
                                          </p:val>
                                        </p:tav>
                                        <p:tav tm="100000">
                                          <p:val>
                                            <p:strVal val="#ppt_x"/>
                                          </p:val>
                                        </p:tav>
                                      </p:tavLst>
                                    </p:anim>
                                    <p:anim calcmode="lin" valueType="num">
                                      <p:cBhvr>
                                        <p:cTn id="80" dur="700" fill="hold" decel="100000"/>
                                        <p:tgtEl>
                                          <p:spTgt spid="22"/>
                                        </p:tgtEl>
                                        <p:attrNameLst>
                                          <p:attrName>ppt_y</p:attrName>
                                        </p:attrNameLst>
                                      </p:cBhvr>
                                      <p:tavLst>
                                        <p:tav tm="0">
                                          <p:val>
                                            <p:strVal val="#ppt_y+0.0120"/>
                                          </p:val>
                                        </p:tav>
                                        <p:tav tm="100000">
                                          <p:val>
                                            <p:strVal val="#ppt_y"/>
                                          </p:val>
                                        </p:tav>
                                      </p:tavLst>
                                    </p:anim>
                                  </p:childTnLst>
                                </p:cTn>
                              </p:par>
                              <p:par>
                                <p:cTn id="86" presetID="53" presetClass="entr" presetSubtype="16" fill="hold" grpId="0" nodeType="withEffect">
                                  <p:stCondLst>
                                    <p:cond delay="1400"/>
                                  </p:stCondLst>
                                  <p:childTnLst>
                                    <p:set>
                                      <p:cBhvr>
                                        <p:cTn id="82" dur="1" fill="hold">
                                          <p:stCondLst>
                                            <p:cond delay="0"/>
                                          </p:stCondLst>
                                        </p:cTn>
                                        <p:tgtEl>
                                          <p:spTgt spid="7"/>
                                        </p:tgtEl>
                                        <p:attrNameLst>
                                          <p:attrName>style.visibility</p:attrName>
                                        </p:attrNameLst>
                                      </p:cBhvr>
                                      <p:to>
                                        <p:strVal val="visible"/>
                                      </p:to>
                                    </p:set>
                                    <p:anim calcmode="lin" valueType="num">
                                      <p:cBhvr>
                                        <p:cTn id="83" dur="900" fill="hold" decel="100000"/>
                                        <p:tgtEl>
                                          <p:spTgt spid="7"/>
                                        </p:tgtEl>
                                        <p:attrNameLst>
                                          <p:attrName>ppt_w</p:attrName>
                                        </p:attrNameLst>
                                      </p:cBhvr>
                                      <p:tavLst>
                                        <p:tav tm="0">
                                          <p:val>
                                            <p:strVal val="#ppt_w*0.850"/>
                                          </p:val>
                                        </p:tav>
                                        <p:tav tm="100000">
                                          <p:val>
                                            <p:strVal val="#ppt_w"/>
                                          </p:val>
                                        </p:tav>
                                      </p:tavLst>
                                    </p:anim>
                                    <p:anim calcmode="lin" valueType="num">
                                      <p:cBhvr>
                                        <p:cTn id="84" dur="900" fill="hold" decel="100000"/>
                                        <p:tgtEl>
                                          <p:spTgt spid="7"/>
                                        </p:tgtEl>
                                        <p:attrNameLst>
                                          <p:attrName>ppt_h</p:attrName>
                                        </p:attrNameLst>
                                      </p:cBhvr>
                                      <p:tavLst>
                                        <p:tav tm="0">
                                          <p:val>
                                            <p:strVal val="#ppt_h*0.850"/>
                                          </p:val>
                                        </p:tav>
                                        <p:tav tm="100000">
                                          <p:val>
                                            <p:strVal val="#ppt_h"/>
                                          </p:val>
                                        </p:tav>
                                      </p:tavLst>
                                    </p:anim>
                                    <p:animEffect transition="in" filter="fade">
                                      <p:cBhvr>
                                        <p:cTn id="85" dur="630" decel="100000"/>
                                        <p:tgtEl>
                                          <p:spTgt spid="7"/>
                                        </p:tgtEl>
                                      </p:cBhvr>
                                    </p:animEffect>
                                  </p:childTnLst>
                                </p:cTn>
                              </p:par>
                              <p:par>
                                <p:cTn id="91" presetID="42" presetClass="entr" presetSubtype="0" fill="hold" grpId="0" nodeType="withEffect">
                                  <p:stCondLst>
                                    <p:cond delay="1500"/>
                                  </p:stCondLst>
                                  <p:childTnLst>
                                    <p:set>
                                      <p:cBhvr>
                                        <p:cTn id="87" dur="1" fill="hold">
                                          <p:stCondLst>
                                            <p:cond delay="0"/>
                                          </p:stCondLst>
                                        </p:cTn>
                                        <p:tgtEl>
                                          <p:spTgt spid="23"/>
                                        </p:tgtEl>
                                        <p:attrNameLst>
                                          <p:attrName>style.visibility</p:attrName>
                                        </p:attrNameLst>
                                      </p:cBhvr>
                                      <p:to>
                                        <p:strVal val="visible"/>
                                      </p:to>
                                    </p:set>
                                    <p:animEffect transition="in" filter="fade">
                                      <p:cBhvr>
                                        <p:cTn id="88" dur="720" decel="100000"/>
                                        <p:tgtEl>
                                          <p:spTgt spid="23"/>
                                        </p:tgtEl>
                                      </p:cBhvr>
                                    </p:animEffect>
                                    <p:anim calcmode="lin" valueType="num">
                                      <p:cBhvr>
                                        <p:cTn id="89" dur="900" fill="hold" decel="100000"/>
                                        <p:tgtEl>
                                          <p:spTgt spid="23"/>
                                        </p:tgtEl>
                                        <p:attrNameLst>
                                          <p:attrName>ppt_x</p:attrName>
                                        </p:attrNameLst>
                                      </p:cBhvr>
                                      <p:tavLst>
                                        <p:tav tm="0">
                                          <p:val>
                                            <p:strVal val="#ppt_x"/>
                                          </p:val>
                                        </p:tav>
                                        <p:tav tm="100000">
                                          <p:val>
                                            <p:strVal val="#ppt_x"/>
                                          </p:val>
                                        </p:tav>
                                      </p:tavLst>
                                    </p:anim>
                                    <p:anim calcmode="lin" valueType="num">
                                      <p:cBhvr>
                                        <p:cTn id="90" dur="900" fill="hold" decel="100000"/>
                                        <p:tgtEl>
                                          <p:spTgt spid="23"/>
                                        </p:tgtEl>
                                        <p:attrNameLst>
                                          <p:attrName>ppt_y</p:attrName>
                                        </p:attrNameLst>
                                      </p:cBhvr>
                                      <p:tavLst>
                                        <p:tav tm="0">
                                          <p:val>
                                            <p:strVal val="#ppt_y+0.0250"/>
                                          </p:val>
                                        </p:tav>
                                        <p:tav tm="100000">
                                          <p:val>
                                            <p:strVal val="#ppt_y"/>
                                          </p:val>
                                        </p:tav>
                                      </p:tavLst>
                                    </p:anim>
                                  </p:childTnLst>
                                </p:cTn>
                              </p:par>
                              <p:par>
                                <p:cTn id="94" presetID="10" presetClass="entr" presetSubtype="0" fill="hold" grpId="0" nodeType="withEffect">
                                  <p:stCondLst>
                                    <p:cond delay="1550"/>
                                  </p:stCondLst>
                                  <p:childTnLst>
                                    <p:set>
                                      <p:cBhvr>
                                        <p:cTn id="92" dur="1" fill="hold">
                                          <p:stCondLst>
                                            <p:cond delay="0"/>
                                          </p:stCondLst>
                                        </p:cTn>
                                        <p:tgtEl>
                                          <p:spTgt spid="8"/>
                                        </p:tgtEl>
                                        <p:attrNameLst>
                                          <p:attrName>style.visibility</p:attrName>
                                        </p:attrNameLst>
                                      </p:cBhvr>
                                      <p:to>
                                        <p:strVal val="visible"/>
                                      </p:to>
                                    </p:set>
                                    <p:animEffect transition="in" filter="fade">
                                      <p:cBhvr>
                                        <p:cTn id="93" dur="700" decel="100000"/>
                                        <p:tgtEl>
                                          <p:spTgt spid="8"/>
                                        </p:tgtEl>
                                      </p:cBhvr>
                                    </p:animEffect>
                                  </p:childTnLst>
                                </p:cTn>
                              </p:par>
                              <p:par>
                                <p:cTn id="97" presetID="10" presetClass="entr" presetSubtype="0" fill="hold" grpId="0" nodeType="withEffect">
                                  <p:stCondLst>
                                    <p:cond delay="1650"/>
                                  </p:stCondLst>
                                  <p:childTnLst>
                                    <p:set>
                                      <p:cBhvr>
                                        <p:cTn id="95" dur="1" fill="hold">
                                          <p:stCondLst>
                                            <p:cond delay="0"/>
                                          </p:stCondLst>
                                        </p:cTn>
                                        <p:tgtEl>
                                          <p:spTgt spid="24"/>
                                        </p:tgtEl>
                                        <p:attrNameLst>
                                          <p:attrName>style.visibility</p:attrName>
                                        </p:attrNameLst>
                                      </p:cBhvr>
                                      <p:to>
                                        <p:strVal val="visible"/>
                                      </p:to>
                                    </p:set>
                                    <p:animEffect transition="in" filter="fade">
                                      <p:cBhvr>
                                        <p:cTn id="96" dur="700" decel="100000"/>
                                        <p:tgtEl>
                                          <p:spTgt spid="24"/>
                                        </p:tgtEl>
                                      </p:cBhvr>
                                    </p:animEffect>
                                  </p:childTnLst>
                                </p:cTn>
                              </p:par>
                              <p:par>
                                <p:cTn id="102" presetID="42" presetClass="entr" presetSubtype="0" fill="hold" grpId="0" nodeType="withEffect">
                                  <p:stCondLst>
                                    <p:cond delay="1720"/>
                                  </p:stCondLst>
                                  <p:childTnLst>
                                    <p:set>
                                      <p:cBhvr>
                                        <p:cTn id="98" dur="1" fill="hold">
                                          <p:stCondLst>
                                            <p:cond delay="0"/>
                                          </p:stCondLst>
                                        </p:cTn>
                                        <p:tgtEl>
                                          <p:spTgt spid="25"/>
                                        </p:tgtEl>
                                        <p:attrNameLst>
                                          <p:attrName>style.visibility</p:attrName>
                                        </p:attrNameLst>
                                      </p:cBhvr>
                                      <p:to>
                                        <p:strVal val="visible"/>
                                      </p:to>
                                    </p:set>
                                    <p:animEffect transition="in" filter="fade">
                                      <p:cBhvr>
                                        <p:cTn id="99" dur="720" decel="100000"/>
                                        <p:tgtEl>
                                          <p:spTgt spid="25"/>
                                        </p:tgtEl>
                                      </p:cBhvr>
                                    </p:animEffect>
                                    <p:anim calcmode="lin" valueType="num">
                                      <p:cBhvr>
                                        <p:cTn id="100" dur="900" fill="hold" decel="100000"/>
                                        <p:tgtEl>
                                          <p:spTgt spid="25"/>
                                        </p:tgtEl>
                                        <p:attrNameLst>
                                          <p:attrName>ppt_x</p:attrName>
                                        </p:attrNameLst>
                                      </p:cBhvr>
                                      <p:tavLst>
                                        <p:tav tm="0">
                                          <p:val>
                                            <p:strVal val="#ppt_x"/>
                                          </p:val>
                                        </p:tav>
                                        <p:tav tm="100000">
                                          <p:val>
                                            <p:strVal val="#ppt_x"/>
                                          </p:val>
                                        </p:tav>
                                      </p:tavLst>
                                    </p:anim>
                                    <p:anim calcmode="lin" valueType="num">
                                      <p:cBhvr>
                                        <p:cTn id="101" dur="900" fill="hold" decel="100000"/>
                                        <p:tgtEl>
                                          <p:spTgt spid="25"/>
                                        </p:tgtEl>
                                        <p:attrNameLst>
                                          <p:attrName>ppt_y</p:attrName>
                                        </p:attrNameLst>
                                      </p:cBhvr>
                                      <p:tavLst>
                                        <p:tav tm="0">
                                          <p:val>
                                            <p:strVal val="#ppt_y+0.0250"/>
                                          </p:val>
                                        </p:tav>
                                        <p:tav tm="100000">
                                          <p:val>
                                            <p:strVal val="#ppt_y"/>
                                          </p:val>
                                        </p:tav>
                                      </p:tavLst>
                                    </p:anim>
                                  </p:childTnLst>
                                </p:cTn>
                              </p:par>
                              <p:par>
                                <p:cTn id="105" presetID="10" presetClass="entr" presetSubtype="0" fill="hold" grpId="0" nodeType="withEffect">
                                  <p:stCondLst>
                                    <p:cond delay="1870"/>
                                  </p:stCondLst>
                                  <p:childTnLst>
                                    <p:set>
                                      <p:cBhvr>
                                        <p:cTn id="103" dur="1" fill="hold">
                                          <p:stCondLst>
                                            <p:cond delay="0"/>
                                          </p:stCondLst>
                                        </p:cTn>
                                        <p:tgtEl>
                                          <p:spTgt spid="26"/>
                                        </p:tgtEl>
                                        <p:attrNameLst>
                                          <p:attrName>style.visibility</p:attrName>
                                        </p:attrNameLst>
                                      </p:cBhvr>
                                      <p:to>
                                        <p:strVal val="visible"/>
                                      </p:to>
                                    </p:set>
                                    <p:animEffect transition="in" filter="fade">
                                      <p:cBhvr>
                                        <p:cTn id="104" dur="700" decel="100000"/>
                                        <p:tgtEl>
                                          <p:spTgt spid="26"/>
                                        </p:tgtEl>
                                      </p:cBhvr>
                                    </p:animEffect>
                                  </p:childTnLst>
                                </p:cTn>
                              </p:par>
                              <p:par>
                                <p:cTn id="110" presetID="42" presetClass="entr" presetSubtype="0" fill="hold" grpId="0" nodeType="withEffect">
                                  <p:stCondLst>
                                    <p:cond delay="1940"/>
                                  </p:stCondLst>
                                  <p:childTnLst>
                                    <p:set>
                                      <p:cBhvr>
                                        <p:cTn id="106" dur="1" fill="hold">
                                          <p:stCondLst>
                                            <p:cond delay="0"/>
                                          </p:stCondLst>
                                        </p:cTn>
                                        <p:tgtEl>
                                          <p:spTgt spid="27"/>
                                        </p:tgtEl>
                                        <p:attrNameLst>
                                          <p:attrName>style.visibility</p:attrName>
                                        </p:attrNameLst>
                                      </p:cBhvr>
                                      <p:to>
                                        <p:strVal val="visible"/>
                                      </p:to>
                                    </p:set>
                                    <p:animEffect transition="in" filter="fade">
                                      <p:cBhvr>
                                        <p:cTn id="107" dur="720" decel="100000"/>
                                        <p:tgtEl>
                                          <p:spTgt spid="27"/>
                                        </p:tgtEl>
                                      </p:cBhvr>
                                    </p:animEffect>
                                    <p:anim calcmode="lin" valueType="num">
                                      <p:cBhvr>
                                        <p:cTn id="108" dur="900" fill="hold" decel="100000"/>
                                        <p:tgtEl>
                                          <p:spTgt spid="27"/>
                                        </p:tgtEl>
                                        <p:attrNameLst>
                                          <p:attrName>ppt_x</p:attrName>
                                        </p:attrNameLst>
                                      </p:cBhvr>
                                      <p:tavLst>
                                        <p:tav tm="0">
                                          <p:val>
                                            <p:strVal val="#ppt_x"/>
                                          </p:val>
                                        </p:tav>
                                        <p:tav tm="100000">
                                          <p:val>
                                            <p:strVal val="#ppt_x"/>
                                          </p:val>
                                        </p:tav>
                                      </p:tavLst>
                                    </p:anim>
                                    <p:anim calcmode="lin" valueType="num">
                                      <p:cBhvr>
                                        <p:cTn id="109" dur="900" fill="hold" decel="100000"/>
                                        <p:tgtEl>
                                          <p:spTgt spid="27"/>
                                        </p:tgtEl>
                                        <p:attrNameLst>
                                          <p:attrName>ppt_y</p:attrName>
                                        </p:attrNameLst>
                                      </p:cBhvr>
                                      <p:tavLst>
                                        <p:tav tm="0">
                                          <p:val>
                                            <p:strVal val="#ppt_y+0.0250"/>
                                          </p:val>
                                        </p:tav>
                                        <p:tav tm="100000">
                                          <p:val>
                                            <p:strVal val="#ppt_y"/>
                                          </p:val>
                                        </p:tav>
                                      </p:tavLst>
                                    </p:anim>
                                  </p:childTnLst>
                                </p:cTn>
                              </p:par>
                              <p:par>
                                <p:cTn id="113" presetID="10" presetClass="entr" presetSubtype="0" fill="hold" grpId="0" nodeType="withEffect">
                                  <p:stCondLst>
                                    <p:cond delay="2090"/>
                                  </p:stCondLst>
                                  <p:childTnLst>
                                    <p:set>
                                      <p:cBhvr>
                                        <p:cTn id="111" dur="1" fill="hold">
                                          <p:stCondLst>
                                            <p:cond delay="0"/>
                                          </p:stCondLst>
                                        </p:cTn>
                                        <p:tgtEl>
                                          <p:spTgt spid="28"/>
                                        </p:tgtEl>
                                        <p:attrNameLst>
                                          <p:attrName>style.visibility</p:attrName>
                                        </p:attrNameLst>
                                      </p:cBhvr>
                                      <p:to>
                                        <p:strVal val="visible"/>
                                      </p:to>
                                    </p:set>
                                    <p:animEffect transition="in" filter="fade">
                                      <p:cBhvr>
                                        <p:cTn id="112" dur="700" decel="100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7" grpId="0" animBg="1"/>
      <p:bldP spid="23" grpId="0" animBg="1"/>
      <p:bldP spid="8" grpId="0" animBg="1"/>
      <p:bldP spid="24" grpId="0" animBg="1"/>
      <p:bldP spid="25" grpId="0" animBg="1"/>
      <p:bldP spid="26" grpId="0" animBg="1"/>
      <p:bldP spid="27" grpId="0" animBg="1"/>
      <p:bldP spid="28" grpId="0" animBg="1"/>
    </p:bldLst>
  </p:timing>
</p:sld>
</file>

<file path=ppt/slides/slide30.xml><?xml version="1.0" encoding="utf-8"?>
<p:sld xmlns:p14="http://schemas.microsoft.com/office/powerpoint/2010/main"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orbA" descr="Decorative background light">    </p:cNvPr>
          <p:cNvPicPr>
            <a:picLocks noChangeAspect="1"/>
          </p:cNvPicPr>
          <p:nvPr/>
        </p:nvPicPr>
        <p:blipFill>
          <a:blip r:embed="rId1"/>
          <a:stretch>
            <a:fillRect/>
          </a:stretch>
        </p:blipFill>
        <p:spPr>
          <a:xfrm>
            <a:off x="-914400" y="2651760"/>
            <a:ext cx="10058400" cy="10058400"/>
          </a:xfrm>
          <a:prstGeom prst="rect">
            <a:avLst/>
          </a:prstGeom>
        </p:spPr>
      </p:pic>
      <p:pic>
        <p:nvPicPr>
          <p:cNvPr id="3" name="!!orbB" descr="Decorative background light">    </p:cNvPr>
          <p:cNvPicPr>
            <a:picLocks noChangeAspect="1"/>
          </p:cNvPicPr>
          <p:nvPr/>
        </p:nvPicPr>
        <p:blipFill>
          <a:blip r:embed="rId2"/>
          <a:stretch>
            <a:fillRect/>
          </a:stretch>
        </p:blipFill>
        <p:spPr>
          <a:xfrm>
            <a:off x="8229600" y="4206240"/>
            <a:ext cx="5486400" cy="5486400"/>
          </a:xfrm>
          <a:prstGeom prst="rect">
            <a:avLst/>
          </a:prstGeom>
        </p:spPr>
      </p:pic>
      <p:sp>
        <p:nvSpPr>
          <p:cNvPr id="4" name="!!kicker"/>
          <p:cNvSpPr/>
          <p:nvPr>
            <p:ph idx="100" type="body" hasCustomPrompt="1"/>
          </p:nvPr>
        </p:nvSpPr>
        <p:spPr>
          <a:xfrm>
            <a:off x="548640" y="384048"/>
            <a:ext cx="8732520" cy="329184"/>
          </a:xfrm>
          <a:prstGeom prst="rect">
            <a:avLst/>
          </a:prstGeom>
          <a:noFill/>
          <a:ln/>
        </p:spPr>
        <p:txBody>
          <a:bodyPr wrap="square" lIns="0" tIns="0" rIns="0" bIns="0" rtlCol="0" anchor="t"/>
          <a:lstStyle/>
          <a:p>
            <a:pPr algn="l" indent="0" marL="0">
              <a:buNone/>
            </a:pPr>
            <a:r>
              <a:rPr lang="en-US" sz="1500" b="1" spc="300" kern="0" dirty="0">
                <a:solidFill>
                  <a:schemeClr val="accent1"/>
                </a:solidFill>
              </a:rPr>
              <a:t>2026 — A LIVE STRESS TEST</a:t>
            </a:r>
            <a:endParaRPr lang="en-US" sz="1500" dirty="0"/>
          </a:p>
        </p:txBody>
      </p:sp>
      <p:sp>
        <p:nvSpPr>
          <p:cNvPr id="5" name="!!title"/>
          <p:cNvSpPr/>
          <p:nvPr>
            <p:ph idx="101" type="title" hasCustomPrompt="1"/>
          </p:nvPr>
        </p:nvSpPr>
        <p:spPr>
          <a:xfrm>
            <a:off x="548640" y="731520"/>
            <a:ext cx="8732520" cy="786384"/>
          </a:xfrm>
          <a:prstGeom prst="rect">
            <a:avLst/>
          </a:prstGeom>
          <a:noFill/>
          <a:ln/>
        </p:spPr>
        <p:txBody>
          <a:bodyPr wrap="square" lIns="0" tIns="0" rIns="0" bIns="0" rtlCol="0" anchor="t"/>
          <a:lstStyle/>
          <a:p>
            <a:pPr algn="l" indent="0" marL="0">
              <a:buNone/>
            </a:pPr>
            <a:r>
              <a:rPr lang="en-US" sz="3800" b="1" dirty="0">
                <a:solidFill>
                  <a:schemeClr val="tx1"/>
                </a:solidFill>
              </a:rPr>
              <a:t>When the Strait of Hormuz closed</a:t>
            </a:r>
            <a:endParaRPr lang="en-US" sz="3800" dirty="0"/>
          </a:p>
        </p:txBody>
      </p:sp>
      <p:sp>
        <p:nvSpPr>
          <p:cNvPr id="6" name="hormuz_t_1"/>
          <p:cNvSpPr txBox="1"/>
          <p:nvPr/>
        </p:nvSpPr>
        <p:spPr>
          <a:xfrm>
            <a:off x="548640" y="1554480"/>
            <a:ext cx="5486400" cy="292608"/>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Kuwait crude exports, 2026 (kb/d = thousand barrels per day)</a:t>
            </a:r>
            <a:endParaRPr lang="en-US" sz="1400" dirty="0"/>
          </a:p>
        </p:txBody>
      </p:sp>
      <p:sp>
        <p:nvSpPr>
          <p:cNvPr id="7" name="hormuz_s_2"/>
          <p:cNvSpPr/>
          <p:nvPr/>
        </p:nvSpPr>
        <p:spPr>
          <a:xfrm>
            <a:off x="822960" y="2611069"/>
            <a:ext cx="603504" cy="2006651"/>
          </a:xfrm>
          <a:prstGeom prst="roundRect">
            <a:avLst>
              <a:gd name="adj" fmla="val 12121"/>
            </a:avLst>
          </a:prstGeom>
          <a:solidFill>
            <a:srgbClr val="FF9F0A"/>
          </a:solidFill>
          <a:ln/>
        </p:spPr>
      </p:sp>
      <p:sp>
        <p:nvSpPr>
          <p:cNvPr id="8" name="hormuz_t_3"/>
          <p:cNvSpPr txBox="1"/>
          <p:nvPr/>
        </p:nvSpPr>
        <p:spPr>
          <a:xfrm>
            <a:off x="594360" y="2227021"/>
            <a:ext cx="1060704" cy="329184"/>
          </a:xfrm>
          <a:prstGeom prst="rect">
            <a:avLst/>
          </a:prstGeom>
          <a:noFill/>
          <a:ln/>
        </p:spPr>
        <p:txBody>
          <a:bodyPr wrap="square" lIns="0" tIns="0" rIns="0" bIns="0" rtlCol="0" anchor="t"/>
          <a:lstStyle/>
          <a:p>
            <a:pPr algn="ctr" indent="0" marL="0">
              <a:buNone/>
            </a:pPr>
            <a:r>
              <a:rPr lang="en-US" sz="1600" b="1" dirty="0">
                <a:solidFill>
                  <a:schemeClr val="tx1"/>
                </a:solidFill>
                <a:latin typeface="Arial" pitchFamily="34" charset="0"/>
                <a:ea typeface="Arial" pitchFamily="34" charset="-122"/>
                <a:cs typeface="Arial" pitchFamily="34" charset="-120"/>
              </a:rPr>
              <a:t>1,254</a:t>
            </a:r>
            <a:endParaRPr lang="en-US" sz="1600" dirty="0"/>
          </a:p>
        </p:txBody>
      </p:sp>
      <p:sp>
        <p:nvSpPr>
          <p:cNvPr id="9" name="hormuz_t_4"/>
          <p:cNvSpPr txBox="1"/>
          <p:nvPr/>
        </p:nvSpPr>
        <p:spPr>
          <a:xfrm>
            <a:off x="594360" y="4709160"/>
            <a:ext cx="1060704" cy="347472"/>
          </a:xfrm>
          <a:prstGeom prst="rect">
            <a:avLst/>
          </a:prstGeom>
          <a:noFill/>
          <a:ln/>
        </p:spPr>
        <p:txBody>
          <a:bodyPr wrap="square" lIns="0" tIns="0" rIns="0" bIns="0" rtlCol="0" anchor="t"/>
          <a:lstStyle/>
          <a:p>
            <a:pPr algn="ctr" indent="0" marL="0">
              <a:buNone/>
            </a:pPr>
            <a:r>
              <a:rPr lang="en-US" sz="1800" dirty="0">
                <a:solidFill>
                  <a:schemeClr val="tx1"/>
                </a:solidFill>
                <a:latin typeface="Arial" pitchFamily="34" charset="0"/>
                <a:ea typeface="Arial" pitchFamily="34" charset="-122"/>
                <a:cs typeface="Arial" pitchFamily="34" charset="-120"/>
              </a:rPr>
              <a:t>Jan</a:t>
            </a:r>
            <a:endParaRPr lang="en-US" sz="1800" dirty="0"/>
          </a:p>
        </p:txBody>
      </p:sp>
      <p:sp>
        <p:nvSpPr>
          <p:cNvPr id="10" name="hormuz_t_5"/>
          <p:cNvSpPr txBox="1"/>
          <p:nvPr/>
        </p:nvSpPr>
        <p:spPr>
          <a:xfrm>
            <a:off x="594360" y="5074920"/>
            <a:ext cx="1060704" cy="292608"/>
          </a:xfrm>
          <a:prstGeom prst="rect">
            <a:avLst/>
          </a:prstGeom>
          <a:noFill/>
          <a:ln/>
        </p:spPr>
        <p:txBody>
          <a:bodyPr wrap="square" lIns="0" tIns="0" rIns="0" bIns="0" rtlCol="0" anchor="t"/>
          <a:lstStyle/>
          <a:p>
            <a:pPr algn="ctr" indent="0" marL="0">
              <a:buNone/>
            </a:pPr>
            <a:r>
              <a:rPr lang="en-US" sz="1500" b="1" dirty="0">
                <a:solidFill>
                  <a:schemeClr val="tx2"/>
                </a:solidFill>
                <a:latin typeface="Arial" pitchFamily="34" charset="0"/>
                <a:ea typeface="Arial" pitchFamily="34" charset="-122"/>
                <a:cs typeface="Arial" pitchFamily="34" charset="-120"/>
              </a:rPr>
              <a:t>$67</a:t>
            </a:r>
            <a:endParaRPr lang="en-US" sz="1500" dirty="0"/>
          </a:p>
        </p:txBody>
      </p:sp>
      <p:sp>
        <p:nvSpPr>
          <p:cNvPr id="11" name="hormuz_s_6"/>
          <p:cNvSpPr/>
          <p:nvPr/>
        </p:nvSpPr>
        <p:spPr>
          <a:xfrm>
            <a:off x="1810512" y="2676677"/>
            <a:ext cx="603504" cy="1941043"/>
          </a:xfrm>
          <a:prstGeom prst="roundRect">
            <a:avLst>
              <a:gd name="adj" fmla="val 12121"/>
            </a:avLst>
          </a:prstGeom>
          <a:solidFill>
            <a:srgbClr val="FF9F0A"/>
          </a:solidFill>
          <a:ln/>
        </p:spPr>
      </p:sp>
      <p:sp>
        <p:nvSpPr>
          <p:cNvPr id="12" name="hormuz_t_7"/>
          <p:cNvSpPr txBox="1"/>
          <p:nvPr/>
        </p:nvSpPr>
        <p:spPr>
          <a:xfrm>
            <a:off x="1581912" y="2292629"/>
            <a:ext cx="1060704" cy="329184"/>
          </a:xfrm>
          <a:prstGeom prst="rect">
            <a:avLst/>
          </a:prstGeom>
          <a:noFill/>
          <a:ln/>
        </p:spPr>
        <p:txBody>
          <a:bodyPr wrap="square" lIns="0" tIns="0" rIns="0" bIns="0" rtlCol="0" anchor="t"/>
          <a:lstStyle/>
          <a:p>
            <a:pPr algn="ctr" indent="0" marL="0">
              <a:buNone/>
            </a:pPr>
            <a:r>
              <a:rPr lang="en-US" sz="1600" b="1" dirty="0">
                <a:solidFill>
                  <a:schemeClr val="tx1"/>
                </a:solidFill>
                <a:latin typeface="Arial" pitchFamily="34" charset="0"/>
                <a:ea typeface="Arial" pitchFamily="34" charset="-122"/>
                <a:cs typeface="Arial" pitchFamily="34" charset="-120"/>
              </a:rPr>
              <a:t>1,213</a:t>
            </a:r>
            <a:endParaRPr lang="en-US" sz="1600" dirty="0"/>
          </a:p>
        </p:txBody>
      </p:sp>
      <p:sp>
        <p:nvSpPr>
          <p:cNvPr id="13" name="hormuz_t_8"/>
          <p:cNvSpPr txBox="1"/>
          <p:nvPr/>
        </p:nvSpPr>
        <p:spPr>
          <a:xfrm>
            <a:off x="1581912" y="4709160"/>
            <a:ext cx="1060704" cy="347472"/>
          </a:xfrm>
          <a:prstGeom prst="rect">
            <a:avLst/>
          </a:prstGeom>
          <a:noFill/>
          <a:ln/>
        </p:spPr>
        <p:txBody>
          <a:bodyPr wrap="square" lIns="0" tIns="0" rIns="0" bIns="0" rtlCol="0" anchor="t"/>
          <a:lstStyle/>
          <a:p>
            <a:pPr algn="ctr" indent="0" marL="0">
              <a:buNone/>
            </a:pPr>
            <a:r>
              <a:rPr lang="en-US" sz="1800" dirty="0">
                <a:solidFill>
                  <a:schemeClr val="tx1"/>
                </a:solidFill>
                <a:latin typeface="Arial" pitchFamily="34" charset="0"/>
                <a:ea typeface="Arial" pitchFamily="34" charset="-122"/>
                <a:cs typeface="Arial" pitchFamily="34" charset="-120"/>
              </a:rPr>
              <a:t>Feb</a:t>
            </a:r>
            <a:endParaRPr lang="en-US" sz="1800" dirty="0"/>
          </a:p>
        </p:txBody>
      </p:sp>
      <p:sp>
        <p:nvSpPr>
          <p:cNvPr id="14" name="hormuz_t_9"/>
          <p:cNvSpPr txBox="1"/>
          <p:nvPr/>
        </p:nvSpPr>
        <p:spPr>
          <a:xfrm>
            <a:off x="1581912" y="5074920"/>
            <a:ext cx="1060704" cy="292608"/>
          </a:xfrm>
          <a:prstGeom prst="rect">
            <a:avLst/>
          </a:prstGeom>
          <a:noFill/>
          <a:ln/>
        </p:spPr>
        <p:txBody>
          <a:bodyPr wrap="square" lIns="0" tIns="0" rIns="0" bIns="0" rtlCol="0" anchor="t"/>
          <a:lstStyle/>
          <a:p>
            <a:pPr algn="ctr" indent="0" marL="0">
              <a:buNone/>
            </a:pPr>
            <a:r>
              <a:rPr lang="en-US" sz="1500" b="1" dirty="0">
                <a:solidFill>
                  <a:schemeClr val="tx2"/>
                </a:solidFill>
                <a:latin typeface="Arial" pitchFamily="34" charset="0"/>
                <a:ea typeface="Arial" pitchFamily="34" charset="-122"/>
                <a:cs typeface="Arial" pitchFamily="34" charset="-120"/>
              </a:rPr>
              <a:t>$71</a:t>
            </a:r>
            <a:endParaRPr lang="en-US" sz="1500" dirty="0"/>
          </a:p>
        </p:txBody>
      </p:sp>
      <p:sp>
        <p:nvSpPr>
          <p:cNvPr id="15" name="hormuz_s_10"/>
          <p:cNvSpPr/>
          <p:nvPr/>
        </p:nvSpPr>
        <p:spPr>
          <a:xfrm>
            <a:off x="2798064" y="3817620"/>
            <a:ext cx="603504" cy="800100"/>
          </a:xfrm>
          <a:prstGeom prst="roundRect">
            <a:avLst>
              <a:gd name="adj" fmla="val 12121"/>
            </a:avLst>
          </a:prstGeom>
          <a:solidFill>
            <a:srgbClr val="FF453A"/>
          </a:solidFill>
          <a:ln/>
          <a:effectLst>
            <a:outerShdw sx="100000" sy="100000" kx="0" ky="0" algn="bl" rotWithShape="0" blurRad="177800" dist="50800" dir="5400000">
              <a:srgbClr val="FF453A">
                <a:alpha val="60000"/>
              </a:srgbClr>
            </a:outerShdw>
          </a:effectLst>
        </p:spPr>
      </p:sp>
      <p:sp>
        <p:nvSpPr>
          <p:cNvPr id="16" name="hormuz_t_11"/>
          <p:cNvSpPr txBox="1"/>
          <p:nvPr/>
        </p:nvSpPr>
        <p:spPr>
          <a:xfrm>
            <a:off x="2569464" y="3433572"/>
            <a:ext cx="1060704" cy="329184"/>
          </a:xfrm>
          <a:prstGeom prst="rect">
            <a:avLst/>
          </a:prstGeom>
          <a:noFill/>
          <a:ln/>
        </p:spPr>
        <p:txBody>
          <a:bodyPr wrap="square" lIns="0" tIns="0" rIns="0" bIns="0" rtlCol="0" anchor="t"/>
          <a:lstStyle/>
          <a:p>
            <a:pPr algn="ctr" indent="0" marL="0">
              <a:buNone/>
            </a:pPr>
            <a:r>
              <a:rPr lang="en-US" sz="1600" b="1" dirty="0">
                <a:solidFill>
                  <a:schemeClr val="tx1"/>
                </a:solidFill>
                <a:latin typeface="Arial" pitchFamily="34" charset="0"/>
                <a:ea typeface="Arial" pitchFamily="34" charset="-122"/>
                <a:cs typeface="Arial" pitchFamily="34" charset="-120"/>
              </a:rPr>
              <a:t>500</a:t>
            </a:r>
            <a:endParaRPr lang="en-US" sz="1600" dirty="0"/>
          </a:p>
        </p:txBody>
      </p:sp>
      <p:sp>
        <p:nvSpPr>
          <p:cNvPr id="17" name="hormuz_t_12"/>
          <p:cNvSpPr txBox="1"/>
          <p:nvPr/>
        </p:nvSpPr>
        <p:spPr>
          <a:xfrm>
            <a:off x="2569464" y="4709160"/>
            <a:ext cx="1060704" cy="347472"/>
          </a:xfrm>
          <a:prstGeom prst="rect">
            <a:avLst/>
          </a:prstGeom>
          <a:noFill/>
          <a:ln/>
        </p:spPr>
        <p:txBody>
          <a:bodyPr wrap="square" lIns="0" tIns="0" rIns="0" bIns="0" rtlCol="0" anchor="t"/>
          <a:lstStyle/>
          <a:p>
            <a:pPr algn="ctr" indent="0" marL="0">
              <a:buNone/>
            </a:pPr>
            <a:r>
              <a:rPr lang="en-US" sz="1800" dirty="0">
                <a:solidFill>
                  <a:schemeClr val="tx1"/>
                </a:solidFill>
                <a:latin typeface="Arial" pitchFamily="34" charset="0"/>
                <a:ea typeface="Arial" pitchFamily="34" charset="-122"/>
                <a:cs typeface="Arial" pitchFamily="34" charset="-120"/>
              </a:rPr>
              <a:t>Mar</a:t>
            </a:r>
            <a:endParaRPr lang="en-US" sz="1800" dirty="0"/>
          </a:p>
        </p:txBody>
      </p:sp>
      <p:sp>
        <p:nvSpPr>
          <p:cNvPr id="18" name="hormuz_t_13"/>
          <p:cNvSpPr txBox="1"/>
          <p:nvPr/>
        </p:nvSpPr>
        <p:spPr>
          <a:xfrm>
            <a:off x="2569464" y="5074920"/>
            <a:ext cx="1060704" cy="292608"/>
          </a:xfrm>
          <a:prstGeom prst="rect">
            <a:avLst/>
          </a:prstGeom>
          <a:noFill/>
          <a:ln/>
        </p:spPr>
        <p:txBody>
          <a:bodyPr wrap="square" lIns="0" tIns="0" rIns="0" bIns="0" rtlCol="0" anchor="t"/>
          <a:lstStyle/>
          <a:p>
            <a:pPr algn="ctr" indent="0" marL="0">
              <a:buNone/>
            </a:pPr>
            <a:r>
              <a:rPr lang="en-US" sz="1500" b="1" dirty="0">
                <a:solidFill>
                  <a:schemeClr val="accent4"/>
                </a:solidFill>
                <a:latin typeface="Arial" pitchFamily="34" charset="0"/>
                <a:ea typeface="Arial" pitchFamily="34" charset="-122"/>
                <a:cs typeface="Arial" pitchFamily="34" charset="-120"/>
              </a:rPr>
              <a:t>$103</a:t>
            </a:r>
            <a:endParaRPr lang="en-US" sz="1500" dirty="0"/>
          </a:p>
        </p:txBody>
      </p:sp>
      <p:sp>
        <p:nvSpPr>
          <p:cNvPr id="19" name="hormuz_s_14"/>
          <p:cNvSpPr/>
          <p:nvPr/>
        </p:nvSpPr>
        <p:spPr>
          <a:xfrm>
            <a:off x="3785616" y="4552112"/>
            <a:ext cx="603504" cy="65608"/>
          </a:xfrm>
          <a:prstGeom prst="roundRect">
            <a:avLst>
              <a:gd name="adj" fmla="val 50000"/>
            </a:avLst>
          </a:prstGeom>
          <a:solidFill>
            <a:srgbClr val="FF453A"/>
          </a:solidFill>
          <a:ln/>
          <a:effectLst>
            <a:outerShdw sx="100000" sy="100000" kx="0" ky="0" algn="bl" rotWithShape="0" blurRad="177800" dist="50800" dir="5400000">
              <a:srgbClr val="FF453A">
                <a:alpha val="60000"/>
              </a:srgbClr>
            </a:outerShdw>
          </a:effectLst>
        </p:spPr>
      </p:sp>
      <p:sp>
        <p:nvSpPr>
          <p:cNvPr id="20" name="hormuz_t_15"/>
          <p:cNvSpPr txBox="1"/>
          <p:nvPr/>
        </p:nvSpPr>
        <p:spPr>
          <a:xfrm>
            <a:off x="3557016" y="4168064"/>
            <a:ext cx="1060704" cy="329184"/>
          </a:xfrm>
          <a:prstGeom prst="rect">
            <a:avLst/>
          </a:prstGeom>
          <a:noFill/>
          <a:ln/>
        </p:spPr>
        <p:txBody>
          <a:bodyPr wrap="square" lIns="0" tIns="0" rIns="0" bIns="0" rtlCol="0" anchor="t"/>
          <a:lstStyle/>
          <a:p>
            <a:pPr algn="ctr" indent="0" marL="0">
              <a:buNone/>
            </a:pPr>
            <a:r>
              <a:rPr lang="en-US" sz="1600" b="1" dirty="0">
                <a:solidFill>
                  <a:schemeClr val="tx1"/>
                </a:solidFill>
                <a:latin typeface="Arial" pitchFamily="34" charset="0"/>
                <a:ea typeface="Arial" pitchFamily="34" charset="-122"/>
                <a:cs typeface="Arial" pitchFamily="34" charset="-120"/>
              </a:rPr>
              <a:t>41</a:t>
            </a:r>
            <a:endParaRPr lang="en-US" sz="1600" dirty="0"/>
          </a:p>
        </p:txBody>
      </p:sp>
      <p:sp>
        <p:nvSpPr>
          <p:cNvPr id="21" name="hormuz_t_16"/>
          <p:cNvSpPr txBox="1"/>
          <p:nvPr/>
        </p:nvSpPr>
        <p:spPr>
          <a:xfrm>
            <a:off x="3557016" y="4709160"/>
            <a:ext cx="1060704" cy="347472"/>
          </a:xfrm>
          <a:prstGeom prst="rect">
            <a:avLst/>
          </a:prstGeom>
          <a:noFill/>
          <a:ln/>
        </p:spPr>
        <p:txBody>
          <a:bodyPr wrap="square" lIns="0" tIns="0" rIns="0" bIns="0" rtlCol="0" anchor="t"/>
          <a:lstStyle/>
          <a:p>
            <a:pPr algn="ctr" indent="0" marL="0">
              <a:buNone/>
            </a:pPr>
            <a:r>
              <a:rPr lang="en-US" sz="1800" dirty="0">
                <a:solidFill>
                  <a:schemeClr val="tx1"/>
                </a:solidFill>
                <a:latin typeface="Arial" pitchFamily="34" charset="0"/>
                <a:ea typeface="Arial" pitchFamily="34" charset="-122"/>
                <a:cs typeface="Arial" pitchFamily="34" charset="-120"/>
              </a:rPr>
              <a:t>Apr</a:t>
            </a:r>
            <a:endParaRPr lang="en-US" sz="1800" dirty="0"/>
          </a:p>
        </p:txBody>
      </p:sp>
      <p:sp>
        <p:nvSpPr>
          <p:cNvPr id="22" name="hormuz_t_17"/>
          <p:cNvSpPr txBox="1"/>
          <p:nvPr/>
        </p:nvSpPr>
        <p:spPr>
          <a:xfrm>
            <a:off x="3557016" y="5074920"/>
            <a:ext cx="1060704" cy="292608"/>
          </a:xfrm>
          <a:prstGeom prst="rect">
            <a:avLst/>
          </a:prstGeom>
          <a:noFill/>
          <a:ln/>
        </p:spPr>
        <p:txBody>
          <a:bodyPr wrap="square" lIns="0" tIns="0" rIns="0" bIns="0" rtlCol="0" anchor="t"/>
          <a:lstStyle/>
          <a:p>
            <a:pPr algn="ctr" indent="0" marL="0">
              <a:buNone/>
            </a:pPr>
            <a:r>
              <a:rPr lang="en-US" sz="1500" b="1" dirty="0">
                <a:solidFill>
                  <a:schemeClr val="accent4"/>
                </a:solidFill>
                <a:latin typeface="Arial" pitchFamily="34" charset="0"/>
                <a:ea typeface="Arial" pitchFamily="34" charset="-122"/>
                <a:cs typeface="Arial" pitchFamily="34" charset="-120"/>
              </a:rPr>
              <a:t>$117</a:t>
            </a:r>
            <a:endParaRPr lang="en-US" sz="1500" dirty="0"/>
          </a:p>
        </p:txBody>
      </p:sp>
      <p:sp>
        <p:nvSpPr>
          <p:cNvPr id="23" name="hormuz_s_18"/>
          <p:cNvSpPr/>
          <p:nvPr/>
        </p:nvSpPr>
        <p:spPr>
          <a:xfrm>
            <a:off x="4773168" y="4579315"/>
            <a:ext cx="603504" cy="38405"/>
          </a:xfrm>
          <a:prstGeom prst="roundRect">
            <a:avLst>
              <a:gd name="adj" fmla="val 50000"/>
            </a:avLst>
          </a:prstGeom>
          <a:solidFill>
            <a:srgbClr val="FF453A"/>
          </a:solidFill>
          <a:ln/>
          <a:effectLst>
            <a:outerShdw sx="100000" sy="100000" kx="0" ky="0" algn="bl" rotWithShape="0" blurRad="177800" dist="50800" dir="5400000">
              <a:srgbClr val="FF453A">
                <a:alpha val="60000"/>
              </a:srgbClr>
            </a:outerShdw>
          </a:effectLst>
        </p:spPr>
      </p:sp>
      <p:sp>
        <p:nvSpPr>
          <p:cNvPr id="24" name="hormuz_t_19"/>
          <p:cNvSpPr txBox="1"/>
          <p:nvPr/>
        </p:nvSpPr>
        <p:spPr>
          <a:xfrm>
            <a:off x="4544568" y="4195267"/>
            <a:ext cx="1060704" cy="329184"/>
          </a:xfrm>
          <a:prstGeom prst="rect">
            <a:avLst/>
          </a:prstGeom>
          <a:noFill/>
          <a:ln/>
        </p:spPr>
        <p:txBody>
          <a:bodyPr wrap="square" lIns="0" tIns="0" rIns="0" bIns="0" rtlCol="0" anchor="t"/>
          <a:lstStyle/>
          <a:p>
            <a:pPr algn="ctr" indent="0" marL="0">
              <a:buNone/>
            </a:pPr>
            <a:r>
              <a:rPr lang="en-US" sz="1600" b="1" dirty="0">
                <a:solidFill>
                  <a:schemeClr val="tx1"/>
                </a:solidFill>
                <a:latin typeface="Arial" pitchFamily="34" charset="0"/>
                <a:ea typeface="Arial" pitchFamily="34" charset="-122"/>
                <a:cs typeface="Arial" pitchFamily="34" charset="-120"/>
              </a:rPr>
              <a:t>24</a:t>
            </a:r>
            <a:endParaRPr lang="en-US" sz="1600" dirty="0"/>
          </a:p>
        </p:txBody>
      </p:sp>
      <p:sp>
        <p:nvSpPr>
          <p:cNvPr id="25" name="hormuz_t_20"/>
          <p:cNvSpPr txBox="1"/>
          <p:nvPr/>
        </p:nvSpPr>
        <p:spPr>
          <a:xfrm>
            <a:off x="4544568" y="4709160"/>
            <a:ext cx="1060704" cy="347472"/>
          </a:xfrm>
          <a:prstGeom prst="rect">
            <a:avLst/>
          </a:prstGeom>
          <a:noFill/>
          <a:ln/>
        </p:spPr>
        <p:txBody>
          <a:bodyPr wrap="square" lIns="0" tIns="0" rIns="0" bIns="0" rtlCol="0" anchor="t"/>
          <a:lstStyle/>
          <a:p>
            <a:pPr algn="ctr" indent="0" marL="0">
              <a:buNone/>
            </a:pPr>
            <a:r>
              <a:rPr lang="en-US" sz="1800" dirty="0">
                <a:solidFill>
                  <a:schemeClr val="tx1"/>
                </a:solidFill>
                <a:latin typeface="Arial" pitchFamily="34" charset="0"/>
                <a:ea typeface="Arial" pitchFamily="34" charset="-122"/>
                <a:cs typeface="Arial" pitchFamily="34" charset="-120"/>
              </a:rPr>
              <a:t>May</a:t>
            </a:r>
            <a:endParaRPr lang="en-US" sz="1800" dirty="0"/>
          </a:p>
        </p:txBody>
      </p:sp>
      <p:sp>
        <p:nvSpPr>
          <p:cNvPr id="26" name="hormuz_t_21"/>
          <p:cNvSpPr txBox="1"/>
          <p:nvPr/>
        </p:nvSpPr>
        <p:spPr>
          <a:xfrm>
            <a:off x="4544568" y="5074920"/>
            <a:ext cx="1060704" cy="292608"/>
          </a:xfrm>
          <a:prstGeom prst="rect">
            <a:avLst/>
          </a:prstGeom>
          <a:noFill/>
          <a:ln/>
        </p:spPr>
        <p:txBody>
          <a:bodyPr wrap="square" lIns="0" tIns="0" rIns="0" bIns="0" rtlCol="0" anchor="t"/>
          <a:lstStyle/>
          <a:p>
            <a:pPr algn="ctr" indent="0" marL="0">
              <a:buNone/>
            </a:pPr>
            <a:r>
              <a:rPr lang="en-US" sz="1500" b="1" dirty="0">
                <a:solidFill>
                  <a:schemeClr val="accent4"/>
                </a:solidFill>
                <a:latin typeface="Arial" pitchFamily="34" charset="0"/>
                <a:ea typeface="Arial" pitchFamily="34" charset="-122"/>
                <a:cs typeface="Arial" pitchFamily="34" charset="-120"/>
              </a:rPr>
              <a:t>$107</a:t>
            </a:r>
            <a:endParaRPr lang="en-US" sz="1500" dirty="0"/>
          </a:p>
        </p:txBody>
      </p:sp>
      <p:sp>
        <p:nvSpPr>
          <p:cNvPr id="27" name="hormuz_s_22"/>
          <p:cNvSpPr/>
          <p:nvPr/>
        </p:nvSpPr>
        <p:spPr>
          <a:xfrm>
            <a:off x="5760720" y="2921508"/>
            <a:ext cx="603504" cy="1696212"/>
          </a:xfrm>
          <a:prstGeom prst="roundRect">
            <a:avLst>
              <a:gd name="adj" fmla="val 12121"/>
            </a:avLst>
          </a:prstGeom>
          <a:solidFill>
            <a:srgbClr val="FF9F0A"/>
          </a:solidFill>
          <a:ln/>
        </p:spPr>
      </p:sp>
      <p:sp>
        <p:nvSpPr>
          <p:cNvPr id="28" name="hormuz_t_23"/>
          <p:cNvSpPr txBox="1"/>
          <p:nvPr/>
        </p:nvSpPr>
        <p:spPr>
          <a:xfrm>
            <a:off x="5532120" y="2537460"/>
            <a:ext cx="1060704" cy="329184"/>
          </a:xfrm>
          <a:prstGeom prst="rect">
            <a:avLst/>
          </a:prstGeom>
          <a:noFill/>
          <a:ln/>
        </p:spPr>
        <p:txBody>
          <a:bodyPr wrap="square" lIns="0" tIns="0" rIns="0" bIns="0" rtlCol="0" anchor="t"/>
          <a:lstStyle/>
          <a:p>
            <a:pPr algn="ctr" indent="0" marL="0">
              <a:buNone/>
            </a:pPr>
            <a:r>
              <a:rPr lang="en-US" sz="1600" b="1" dirty="0">
                <a:solidFill>
                  <a:schemeClr val="tx1"/>
                </a:solidFill>
                <a:latin typeface="Arial" pitchFamily="34" charset="0"/>
                <a:ea typeface="Arial" pitchFamily="34" charset="-122"/>
                <a:cs typeface="Arial" pitchFamily="34" charset="-120"/>
              </a:rPr>
              <a:t>1,060</a:t>
            </a:r>
            <a:endParaRPr lang="en-US" sz="1600" dirty="0"/>
          </a:p>
        </p:txBody>
      </p:sp>
      <p:sp>
        <p:nvSpPr>
          <p:cNvPr id="29" name="hormuz_t_24"/>
          <p:cNvSpPr txBox="1"/>
          <p:nvPr/>
        </p:nvSpPr>
        <p:spPr>
          <a:xfrm>
            <a:off x="5532120" y="4709160"/>
            <a:ext cx="1060704" cy="347472"/>
          </a:xfrm>
          <a:prstGeom prst="rect">
            <a:avLst/>
          </a:prstGeom>
          <a:noFill/>
          <a:ln/>
        </p:spPr>
        <p:txBody>
          <a:bodyPr wrap="square" lIns="0" tIns="0" rIns="0" bIns="0" rtlCol="0" anchor="t"/>
          <a:lstStyle/>
          <a:p>
            <a:pPr algn="ctr" indent="0" marL="0">
              <a:buNone/>
            </a:pPr>
            <a:r>
              <a:rPr lang="en-US" sz="1800" dirty="0">
                <a:solidFill>
                  <a:schemeClr val="tx1"/>
                </a:solidFill>
                <a:latin typeface="Arial" pitchFamily="34" charset="0"/>
                <a:ea typeface="Arial" pitchFamily="34" charset="-122"/>
                <a:cs typeface="Arial" pitchFamily="34" charset="-120"/>
              </a:rPr>
              <a:t>Jun</a:t>
            </a:r>
            <a:endParaRPr lang="en-US" sz="1800" dirty="0"/>
          </a:p>
        </p:txBody>
      </p:sp>
      <p:sp>
        <p:nvSpPr>
          <p:cNvPr id="30" name="hormuz_t_25"/>
          <p:cNvSpPr txBox="1"/>
          <p:nvPr/>
        </p:nvSpPr>
        <p:spPr>
          <a:xfrm>
            <a:off x="5532120" y="5074920"/>
            <a:ext cx="1060704" cy="292608"/>
          </a:xfrm>
          <a:prstGeom prst="rect">
            <a:avLst/>
          </a:prstGeom>
          <a:noFill/>
          <a:ln/>
        </p:spPr>
        <p:txBody>
          <a:bodyPr wrap="square" lIns="0" tIns="0" rIns="0" bIns="0" rtlCol="0" anchor="t"/>
          <a:lstStyle/>
          <a:p>
            <a:pPr algn="ctr" indent="0" marL="0">
              <a:buNone/>
            </a:pPr>
            <a:r>
              <a:rPr lang="en-US" sz="1500" b="1" dirty="0">
                <a:solidFill>
                  <a:schemeClr val="tx2"/>
                </a:solidFill>
                <a:latin typeface="Arial" pitchFamily="34" charset="0"/>
                <a:ea typeface="Arial" pitchFamily="34" charset="-122"/>
                <a:cs typeface="Arial" pitchFamily="34" charset="-120"/>
              </a:rPr>
              <a:t>$85</a:t>
            </a:r>
            <a:endParaRPr lang="en-US" sz="1500" dirty="0"/>
          </a:p>
        </p:txBody>
      </p:sp>
      <p:sp>
        <p:nvSpPr>
          <p:cNvPr id="31" name="hormuz_s_26"/>
          <p:cNvSpPr/>
          <p:nvPr/>
        </p:nvSpPr>
        <p:spPr>
          <a:xfrm>
            <a:off x="6748272" y="2811094"/>
            <a:ext cx="603504" cy="1806626"/>
          </a:xfrm>
          <a:prstGeom prst="roundRect">
            <a:avLst>
              <a:gd name="adj" fmla="val 12121"/>
            </a:avLst>
          </a:prstGeom>
          <a:solidFill>
            <a:srgbClr val="FF9F0A"/>
          </a:solidFill>
          <a:ln/>
        </p:spPr>
      </p:sp>
      <p:sp>
        <p:nvSpPr>
          <p:cNvPr id="32" name="hormuz_t_27"/>
          <p:cNvSpPr txBox="1"/>
          <p:nvPr/>
        </p:nvSpPr>
        <p:spPr>
          <a:xfrm>
            <a:off x="6519672" y="2427046"/>
            <a:ext cx="1060704" cy="329184"/>
          </a:xfrm>
          <a:prstGeom prst="rect">
            <a:avLst/>
          </a:prstGeom>
          <a:noFill/>
          <a:ln/>
        </p:spPr>
        <p:txBody>
          <a:bodyPr wrap="square" lIns="0" tIns="0" rIns="0" bIns="0" rtlCol="0" anchor="t"/>
          <a:lstStyle/>
          <a:p>
            <a:pPr algn="ctr" indent="0" marL="0">
              <a:buNone/>
            </a:pPr>
            <a:r>
              <a:rPr lang="en-US" sz="1600" b="1" dirty="0">
                <a:solidFill>
                  <a:schemeClr val="tx1"/>
                </a:solidFill>
                <a:latin typeface="Arial" pitchFamily="34" charset="0"/>
                <a:ea typeface="Arial" pitchFamily="34" charset="-122"/>
                <a:cs typeface="Arial" pitchFamily="34" charset="-120"/>
              </a:rPr>
              <a:t>1,129</a:t>
            </a:r>
            <a:endParaRPr lang="en-US" sz="1600" dirty="0"/>
          </a:p>
        </p:txBody>
      </p:sp>
      <p:sp>
        <p:nvSpPr>
          <p:cNvPr id="33" name="hormuz_t_28"/>
          <p:cNvSpPr txBox="1"/>
          <p:nvPr/>
        </p:nvSpPr>
        <p:spPr>
          <a:xfrm>
            <a:off x="6519672" y="4709160"/>
            <a:ext cx="1060704" cy="347472"/>
          </a:xfrm>
          <a:prstGeom prst="rect">
            <a:avLst/>
          </a:prstGeom>
          <a:noFill/>
          <a:ln/>
        </p:spPr>
        <p:txBody>
          <a:bodyPr wrap="square" lIns="0" tIns="0" rIns="0" bIns="0" rtlCol="0" anchor="t"/>
          <a:lstStyle/>
          <a:p>
            <a:pPr algn="ctr" indent="0" marL="0">
              <a:buNone/>
            </a:pPr>
            <a:r>
              <a:rPr lang="en-US" sz="1800" dirty="0">
                <a:solidFill>
                  <a:schemeClr val="tx1"/>
                </a:solidFill>
                <a:latin typeface="Arial" pitchFamily="34" charset="0"/>
                <a:ea typeface="Arial" pitchFamily="34" charset="-122"/>
                <a:cs typeface="Arial" pitchFamily="34" charset="-120"/>
              </a:rPr>
              <a:t>Jul</a:t>
            </a:r>
            <a:endParaRPr lang="en-US" sz="1800" dirty="0"/>
          </a:p>
        </p:txBody>
      </p:sp>
      <p:sp>
        <p:nvSpPr>
          <p:cNvPr id="34" name="hormuz_t_29"/>
          <p:cNvSpPr txBox="1"/>
          <p:nvPr/>
        </p:nvSpPr>
        <p:spPr>
          <a:xfrm>
            <a:off x="6519672" y="5074920"/>
            <a:ext cx="1060704" cy="292608"/>
          </a:xfrm>
          <a:prstGeom prst="rect">
            <a:avLst/>
          </a:prstGeom>
          <a:noFill/>
          <a:ln/>
        </p:spPr>
        <p:txBody>
          <a:bodyPr wrap="square" lIns="0" tIns="0" rIns="0" bIns="0" rtlCol="0" anchor="t"/>
          <a:lstStyle/>
          <a:p>
            <a:pPr algn="ctr" indent="0" marL="0">
              <a:buNone/>
            </a:pPr>
            <a:r>
              <a:rPr lang="en-US" sz="1500" b="1" dirty="0">
                <a:solidFill>
                  <a:schemeClr val="tx2"/>
                </a:solidFill>
                <a:latin typeface="Arial" pitchFamily="34" charset="0"/>
                <a:ea typeface="Arial" pitchFamily="34" charset="-122"/>
                <a:cs typeface="Arial" pitchFamily="34" charset="-120"/>
              </a:rPr>
              <a:t>$84</a:t>
            </a:r>
            <a:endParaRPr lang="en-US" sz="1500" dirty="0"/>
          </a:p>
        </p:txBody>
      </p:sp>
      <p:sp>
        <p:nvSpPr>
          <p:cNvPr id="35" name="hormuz_t_30"/>
          <p:cNvSpPr txBox="1"/>
          <p:nvPr/>
        </p:nvSpPr>
        <p:spPr>
          <a:xfrm>
            <a:off x="548640" y="5440680"/>
            <a:ext cx="4572000" cy="256032"/>
          </a:xfrm>
          <a:prstGeom prst="rect">
            <a:avLst/>
          </a:prstGeom>
          <a:noFill/>
          <a:ln/>
        </p:spPr>
        <p:txBody>
          <a:bodyPr wrap="square" lIns="0" tIns="0" rIns="0" bIns="0" rtlCol="0" anchor="t"/>
          <a:lstStyle/>
          <a:p>
            <a:pPr indent="0" marL="0">
              <a:buNone/>
            </a:pPr>
            <a:r>
              <a:rPr lang="en-US" sz="1300" dirty="0">
                <a:solidFill>
                  <a:schemeClr val="tx2"/>
                </a:solidFill>
                <a:latin typeface="Arial" pitchFamily="34" charset="0"/>
                <a:ea typeface="Arial" pitchFamily="34" charset="-122"/>
                <a:cs typeface="Arial" pitchFamily="34" charset="-120"/>
              </a:rPr>
              <a:t>Row above: Brent, monthly average (US$ per barrel)</a:t>
            </a:r>
            <a:endParaRPr lang="en-US" sz="1300" dirty="0"/>
          </a:p>
        </p:txBody>
      </p:sp>
      <p:sp>
        <p:nvSpPr>
          <p:cNvPr id="36" name="hormuz_s_31"/>
          <p:cNvSpPr/>
          <p:nvPr/>
        </p:nvSpPr>
        <p:spPr>
          <a:xfrm>
            <a:off x="2706624" y="2450592"/>
            <a:ext cx="2761488" cy="27432"/>
          </a:xfrm>
          <a:prstGeom prst="rect">
            <a:avLst/>
          </a:prstGeom>
          <a:solidFill>
            <a:srgbClr val="FF453A"/>
          </a:solidFill>
          <a:ln/>
        </p:spPr>
      </p:sp>
      <p:sp>
        <p:nvSpPr>
          <p:cNvPr id="37" name="hormuz_t_32"/>
          <p:cNvSpPr txBox="1"/>
          <p:nvPr/>
        </p:nvSpPr>
        <p:spPr>
          <a:xfrm>
            <a:off x="2706624" y="2121408"/>
            <a:ext cx="2761488" cy="292608"/>
          </a:xfrm>
          <a:prstGeom prst="rect">
            <a:avLst/>
          </a:prstGeom>
          <a:noFill/>
          <a:ln/>
        </p:spPr>
        <p:txBody>
          <a:bodyPr wrap="square" lIns="0" tIns="0" rIns="0" bIns="0" rtlCol="0" anchor="t"/>
          <a:lstStyle/>
          <a:p>
            <a:pPr algn="ctr" indent="0" marL="0">
              <a:buNone/>
            </a:pPr>
            <a:r>
              <a:rPr lang="en-US" sz="1400" b="1" dirty="0">
                <a:solidFill>
                  <a:schemeClr val="accent4"/>
                </a:solidFill>
                <a:latin typeface="Arial" pitchFamily="34" charset="0"/>
                <a:ea typeface="Arial" pitchFamily="34" charset="-122"/>
                <a:cs typeface="Arial" pitchFamily="34" charset="-120"/>
              </a:rPr>
              <a:t>Hormuz disruption</a:t>
            </a:r>
            <a:endParaRPr lang="en-US" sz="1400" dirty="0"/>
          </a:p>
        </p:txBody>
      </p:sp>
      <p:sp>
        <p:nvSpPr>
          <p:cNvPr id="38" name="hormuz_t_33"/>
          <p:cNvSpPr txBox="1"/>
          <p:nvPr/>
        </p:nvSpPr>
        <p:spPr>
          <a:xfrm>
            <a:off x="8092440" y="1810512"/>
            <a:ext cx="3566160" cy="512064"/>
          </a:xfrm>
          <a:prstGeom prst="rect">
            <a:avLst/>
          </a:prstGeom>
          <a:noFill/>
          <a:ln/>
        </p:spPr>
        <p:txBody>
          <a:bodyPr wrap="square" lIns="0" tIns="0" rIns="0" bIns="0" rtlCol="0" anchor="t"/>
          <a:lstStyle/>
          <a:p>
            <a:pPr indent="0" marL="0">
              <a:buNone/>
            </a:pPr>
            <a:r>
              <a:rPr lang="en-US" sz="3200" b="1" dirty="0">
                <a:solidFill>
                  <a:schemeClr val="accent4"/>
                </a:solidFill>
                <a:latin typeface="Arial" pitchFamily="34" charset="0"/>
                <a:ea typeface="Arial" pitchFamily="34" charset="-122"/>
                <a:cs typeface="Arial" pitchFamily="34" charset="-120"/>
              </a:rPr>
              <a:t>7 March</a:t>
            </a:r>
            <a:endParaRPr lang="en-US" sz="3200" dirty="0"/>
          </a:p>
        </p:txBody>
      </p:sp>
      <p:sp>
        <p:nvSpPr>
          <p:cNvPr id="39" name="hormuz_t_34"/>
          <p:cNvSpPr txBox="1"/>
          <p:nvPr/>
        </p:nvSpPr>
        <p:spPr>
          <a:xfrm>
            <a:off x="8092440" y="2304288"/>
            <a:ext cx="3566160" cy="45720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KPC declares force majeure as tankers stop transiting Hormuz</a:t>
            </a:r>
            <a:endParaRPr lang="en-US" sz="1400" dirty="0"/>
          </a:p>
        </p:txBody>
      </p:sp>
      <p:sp>
        <p:nvSpPr>
          <p:cNvPr id="40" name="hormuz_t_35"/>
          <p:cNvSpPr txBox="1"/>
          <p:nvPr/>
        </p:nvSpPr>
        <p:spPr>
          <a:xfrm>
            <a:off x="8092440" y="2798064"/>
            <a:ext cx="3566160" cy="512064"/>
          </a:xfrm>
          <a:prstGeom prst="rect">
            <a:avLst/>
          </a:prstGeom>
          <a:noFill/>
          <a:ln/>
        </p:spPr>
        <p:txBody>
          <a:bodyPr wrap="square" lIns="0" tIns="0" rIns="0" bIns="0" rtlCol="0" anchor="t"/>
          <a:lstStyle/>
          <a:p>
            <a:pPr indent="0" marL="0">
              <a:buNone/>
            </a:pPr>
            <a:r>
              <a:rPr lang="en-US" sz="3200" b="1" dirty="0">
                <a:solidFill>
                  <a:schemeClr val="accent4"/>
                </a:solidFill>
                <a:latin typeface="Arial" pitchFamily="34" charset="0"/>
                <a:ea typeface="Arial" pitchFamily="34" charset="-122"/>
                <a:cs typeface="Arial" pitchFamily="34" charset="-120"/>
              </a:rPr>
              <a:t>−98%</a:t>
            </a:r>
            <a:endParaRPr lang="en-US" sz="3200" dirty="0"/>
          </a:p>
        </p:txBody>
      </p:sp>
      <p:sp>
        <p:nvSpPr>
          <p:cNvPr id="41" name="hormuz_t_36"/>
          <p:cNvSpPr txBox="1"/>
          <p:nvPr/>
        </p:nvSpPr>
        <p:spPr>
          <a:xfrm>
            <a:off x="8092440" y="3291840"/>
            <a:ext cx="3566160" cy="45720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crude exports from 1,213 kb/d (Feb) to 24 kb/d (May)</a:t>
            </a:r>
            <a:endParaRPr lang="en-US" sz="1400" dirty="0"/>
          </a:p>
        </p:txBody>
      </p:sp>
      <p:sp>
        <p:nvSpPr>
          <p:cNvPr id="42" name="hormuz_t_37"/>
          <p:cNvSpPr txBox="1"/>
          <p:nvPr/>
        </p:nvSpPr>
        <p:spPr>
          <a:xfrm>
            <a:off x="8092440" y="3785616"/>
            <a:ext cx="3566160" cy="512064"/>
          </a:xfrm>
          <a:prstGeom prst="rect">
            <a:avLst/>
          </a:prstGeom>
          <a:noFill/>
          <a:ln/>
        </p:spPr>
        <p:txBody>
          <a:bodyPr wrap="square" lIns="0" tIns="0" rIns="0" bIns="0" rtlCol="0" anchor="t"/>
          <a:lstStyle/>
          <a:p>
            <a:pPr indent="0" marL="0">
              <a:buNone/>
            </a:pPr>
            <a:r>
              <a:rPr lang="en-US" sz="3200" b="1" dirty="0">
                <a:solidFill>
                  <a:schemeClr val="accent4"/>
                </a:solidFill>
                <a:latin typeface="Arial" pitchFamily="34" charset="0"/>
                <a:ea typeface="Arial" pitchFamily="34" charset="-122"/>
                <a:cs typeface="Arial" pitchFamily="34" charset="-120"/>
              </a:rPr>
              <a:t>$138</a:t>
            </a:r>
            <a:endParaRPr lang="en-US" sz="3200" dirty="0"/>
          </a:p>
        </p:txBody>
      </p:sp>
      <p:sp>
        <p:nvSpPr>
          <p:cNvPr id="43" name="hormuz_t_38"/>
          <p:cNvSpPr txBox="1"/>
          <p:nvPr/>
        </p:nvSpPr>
        <p:spPr>
          <a:xfrm>
            <a:off x="8092440" y="4279392"/>
            <a:ext cx="3566160" cy="45720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Brent peak on 7 April 2026</a:t>
            </a:r>
            <a:endParaRPr lang="en-US" sz="1400" dirty="0"/>
          </a:p>
        </p:txBody>
      </p:sp>
      <p:sp>
        <p:nvSpPr>
          <p:cNvPr id="44" name="hormuz_t_39"/>
          <p:cNvSpPr txBox="1"/>
          <p:nvPr/>
        </p:nvSpPr>
        <p:spPr>
          <a:xfrm>
            <a:off x="8092440" y="4572000"/>
            <a:ext cx="3566160" cy="512064"/>
          </a:xfrm>
          <a:prstGeom prst="rect">
            <a:avLst/>
          </a:prstGeom>
          <a:noFill/>
          <a:ln/>
        </p:spPr>
        <p:txBody>
          <a:bodyPr wrap="square" lIns="0" tIns="0" rIns="0" bIns="0" rtlCol="0" anchor="t"/>
          <a:lstStyle/>
          <a:p>
            <a:pPr indent="0" marL="0">
              <a:buNone/>
            </a:pPr>
            <a:r>
              <a:rPr lang="en-US" sz="3200" b="1" dirty="0">
                <a:solidFill>
                  <a:schemeClr val="accent1"/>
                </a:solidFill>
                <a:latin typeface="Arial" pitchFamily="34" charset="0"/>
                <a:ea typeface="Arial" pitchFamily="34" charset="-122"/>
                <a:cs typeface="Arial" pitchFamily="34" charset="-120"/>
              </a:rPr>
              <a:t>0</a:t>
            </a:r>
            <a:endParaRPr lang="en-US" sz="3200" dirty="0"/>
          </a:p>
        </p:txBody>
      </p:sp>
      <p:sp>
        <p:nvSpPr>
          <p:cNvPr id="45" name="hormuz_t_40"/>
          <p:cNvSpPr txBox="1"/>
          <p:nvPr/>
        </p:nvSpPr>
        <p:spPr>
          <a:xfrm>
            <a:off x="8092440" y="5065776"/>
            <a:ext cx="3566160" cy="45720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export routes that bypass the Gulf: every terminal is inside it</a:t>
            </a:r>
            <a:endParaRPr lang="en-US" sz="1400" dirty="0"/>
          </a:p>
        </p:txBody>
      </p:sp>
      <p:sp>
        <p:nvSpPr>
          <p:cNvPr id="46" name="!!source"/>
          <p:cNvSpPr txBox="1"/>
          <p:nvPr/>
        </p:nvSpPr>
        <p:spPr>
          <a:xfrm>
            <a:off x="548640" y="5943600"/>
            <a:ext cx="9692640" cy="274320"/>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Sources: JODI (2026), monthly data; EIA (2026), Brent spot prices; CNBC (2026), Reuters report. 2026 data are preliminary.</a:t>
            </a:r>
            <a:endParaRPr lang="en-US" sz="1200" dirty="0"/>
          </a:p>
        </p:txBody>
      </p:sp>
      <p:sp>
        <p:nvSpPr>
          <p:cNvPr id="47" name="!!home_bg"/>
          <p:cNvSpPr/>
          <p:nvPr/>
        </p:nvSpPr>
        <p:spPr>
          <a:xfrm>
            <a:off x="10637215" y="6272784"/>
            <a:ext cx="384048" cy="384048"/>
          </a:xfrm>
          <a:prstGeom prst="roundRect">
            <a:avLst>
              <a:gd name="adj" fmla="val 23810"/>
            </a:avLst>
          </a:prstGeom>
          <a:solidFill>
            <a:srgbClr val="2C2C2E"/>
          </a:solidFill>
          <a:ln/>
        </p:spPr>
      </p:sp>
      <p:pic>
        <p:nvPicPr>
          <p:cNvPr id="48" name="!!home_ic" descr="Decorative graphic">    </p:cNvPr>
          <p:cNvPicPr>
            <a:picLocks noChangeAspect="1"/>
          </p:cNvPicPr>
          <p:nvPr/>
        </p:nvPicPr>
        <p:blipFill>
          <a:blip r:embed="rId3"/>
          <a:stretch>
            <a:fillRect/>
          </a:stretch>
        </p:blipFill>
        <p:spPr>
          <a:xfrm>
            <a:off x="10719511" y="6355080"/>
            <a:ext cx="219456" cy="219456"/>
          </a:xfrm>
          <a:prstGeom prst="rect">
            <a:avLst/>
          </a:prstGeom>
        </p:spPr>
      </p:pic>
      <p:sp>
        <p:nvSpPr>
          <p:cNvPr id="49" name="!!home_hit">
            <a:hlinkClick r:id="rId4" tooltip="Back to contents" action="ppaction://hlinksldjump" highlightClick="1"/>
          </p:cNvPr>
          <p:cNvSpPr/>
          <p:nvPr/>
        </p:nvSpPr>
        <p:spPr>
          <a:xfrm>
            <a:off x="10637215" y="6272784"/>
            <a:ext cx="384048" cy="384048"/>
          </a:xfrm>
          <a:prstGeom prst="roundRect">
            <a:avLst>
              <a:gd name="adj" fmla="val 23810"/>
            </a:avLst>
          </a:prstGeom>
          <a:solidFill>
            <a:srgbClr val="000000">
              <a:alpha val="0"/>
            </a:srgbClr>
          </a:solidFill>
          <a:ln/>
        </p:spPr>
      </p:sp>
      <p:sp>
        <p:nvSpPr>
          <p:cNvPr id="51" name="!!footer"/>
          <p:cNvSpPr txBox="1"/>
          <p:nvPr/>
        </p:nvSpPr>
        <p:spPr>
          <a:xfrm>
            <a:off x="548640" y="6327648"/>
            <a:ext cx="5486400" cy="292608"/>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Kuwait Oil &amp; Gas  ·  EGCH2230</a:t>
            </a:r>
            <a:endParaRPr lang="en-US" sz="1200" dirty="0"/>
          </a:p>
        </p:txBody>
      </p:sp>
      <p:sp>
        <p:nvSpPr>
          <p:cNvPr id="52" name="!!num"/>
          <p:cNvSpPr txBox="1"/>
          <p:nvPr/>
        </p:nvSpPr>
        <p:spPr>
          <a:xfrm>
            <a:off x="11094415" y="6327648"/>
            <a:ext cx="548640" cy="292608"/>
          </a:xfrm>
          <a:prstGeom prst="rect">
            <a:avLst/>
          </a:prstGeom>
          <a:noFill/>
          <a:ln/>
        </p:spPr>
        <p:txBody>
          <a:bodyPr wrap="square" lIns="0" tIns="0" rIns="0" bIns="0" rtlCol="0" anchor="ctr"/>
          <a:lstStyle/>
          <a:p>
            <a:pPr algn="r" indent="0" marL="0">
              <a:buNone/>
            </a:pPr>
            <a:r>
              <a:rPr lang="en-US" sz="1200" dirty="0">
                <a:solidFill>
                  <a:schemeClr val="tx2"/>
                </a:solidFill>
                <a:latin typeface="Arial" pitchFamily="34" charset="0"/>
                <a:ea typeface="Arial" pitchFamily="34" charset="-122"/>
                <a:cs typeface="Arial" pitchFamily="34" charset="-120"/>
              </a:rPr>
              <a:t>25</a:t>
            </a:r>
            <a:endParaRPr lang="en-US" sz="1200" dirty="0"/>
          </a:p>
        </p:txBody>
      </p:sp>
      <p:pic>
        <p:nvPicPr>
          <p:cNvPr id="53" name="!!badge" descr="University of Technology and Applied Sciences, Salalah">    </p:cNvPr>
          <p:cNvPicPr>
            <a:picLocks noChangeAspect="1"/>
          </p:cNvPicPr>
          <p:nvPr/>
        </p:nvPicPr>
        <p:blipFill>
          <a:blip r:embed="rId5"/>
          <a:stretch>
            <a:fillRect/>
          </a:stretch>
        </p:blipFill>
        <p:spPr>
          <a:xfrm>
            <a:off x="9677095" y="274320"/>
            <a:ext cx="1965960" cy="80987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0" presetClass="path" presetSubtype="0" fill="hold" grpId="0" nodeType="afterEffect" repeatCount="indefinite" autoRev="1">
                                  <p:stCondLst>
                                    <p:cond delay="0"/>
                                  </p:stCondLst>
                                  <p:childTnLst>
                                    <p:animMotion origin="layout" path="M 0 0 L 0.0350 -0.0300 E" pathEditMode="relative" ptsTypes="">
                                      <p:cBhvr>
                                        <p:cTn id="5" dur="13000" fill="hold" accel="50000" decel="50000"/>
                                        <p:tgtEl>
                                          <p:spTgt spid="2"/>
                                        </p:tgtEl>
                                        <p:attrNameLst>
                                          <p:attrName>ppt_x</p:attrName>
                                          <p:attrName>ppt_y</p:attrName>
                                        </p:attrNameLst>
                                      </p:cBhvr>
                                      <p:rCtr x="0" y="0"/>
                                    </p:animMotion>
                                  </p:childTnLst>
                                </p:cTn>
                              </p:par>
                              <p:par>
                                <p:cTn id="8" presetID="6" presetClass="emph" presetSubtype="0" fill="hold" grpId="1" nodeType="withEffect" repeatCount="indefinite" autoRev="1">
                                  <p:stCondLst>
                                    <p:cond delay="0"/>
                                  </p:stCondLst>
                                  <p:childTnLst>
                                    <p:animScale>
                                      <p:cBhvr>
                                        <p:cTn id="7" dur="2600" fill="hold" accel="50000" decel="50000"/>
                                        <p:tgtEl>
                                          <p:spTgt spid="2"/>
                                        </p:tgtEl>
                                      </p:cBhvr>
                                      <p:by x="112000" y="112000"/>
                                    </p:animScale>
                                  </p:childTnLst>
                                </p:cTn>
                              </p:par>
                              <p:par>
                                <p:cTn id="10" presetID="0" presetClass="path" presetSubtype="0" fill="hold" grpId="0" nodeType="withEffect" repeatCount="indefinite" autoRev="1">
                                  <p:stCondLst>
                                    <p:cond delay="0"/>
                                  </p:stCondLst>
                                  <p:childTnLst>
                                    <p:animMotion origin="layout" path="M 0 0 L -0.0300 0.0250 E" pathEditMode="relative" ptsTypes="">
                                      <p:cBhvr>
                                        <p:cTn id="9" dur="15000" fill="hold" accel="50000" decel="50000"/>
                                        <p:tgtEl>
                                          <p:spTgt spid="3"/>
                                        </p:tgtEl>
                                        <p:attrNameLst>
                                          <p:attrName>ppt_x</p:attrName>
                                          <p:attrName>ppt_y</p:attrName>
                                        </p:attrNameLst>
                                      </p:cBhvr>
                                      <p:rCtr x="0" y="0"/>
                                    </p:animMotion>
                                  </p:childTnLst>
                                </p:cTn>
                              </p:par>
                              <p:par>
                                <p:cTn id="13" presetID="10" presetClass="entr" presetSubtype="0" fill="hold" grpId="0" nodeType="withEffect">
                                  <p:stCondLst>
                                    <p:cond delay="25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700" decel="100000"/>
                                        <p:tgtEl>
                                          <p:spTgt spid="6"/>
                                        </p:tgtEl>
                                      </p:cBhvr>
                                    </p:animEffect>
                                  </p:childTnLst>
                                </p:cTn>
                              </p:par>
                              <p:par>
                                <p:cTn id="16" presetID="22" presetClass="entr" presetSubtype="4" fill="hold" grpId="0" nodeType="withEffect">
                                  <p:stCondLst>
                                    <p:cond delay="350"/>
                                  </p:stCondLst>
                                  <p:childTnLst>
                                    <p:set>
                                      <p:cBhvr>
                                        <p:cTn id="14" dur="1" fill="hold">
                                          <p:stCondLst>
                                            <p:cond delay="0"/>
                                          </p:stCondLst>
                                        </p:cTn>
                                        <p:tgtEl>
                                          <p:spTgt spid="7"/>
                                        </p:tgtEl>
                                        <p:attrNameLst>
                                          <p:attrName>style.visibility</p:attrName>
                                        </p:attrNameLst>
                                      </p:cBhvr>
                                      <p:to>
                                        <p:strVal val="visible"/>
                                      </p:to>
                                    </p:set>
                                    <p:animEffect transition="in" filter="wipe(down)">
                                      <p:cBhvr>
                                        <p:cTn id="15" dur="900" decel="100000"/>
                                        <p:tgtEl>
                                          <p:spTgt spid="7"/>
                                        </p:tgtEl>
                                      </p:cBhvr>
                                    </p:animEffect>
                                  </p:childTnLst>
                                </p:cTn>
                              </p:par>
                              <p:par>
                                <p:cTn id="19" presetID="10" presetClass="entr" presetSubtype="0" fill="hold" grpId="0" nodeType="withEffect">
                                  <p:stCondLst>
                                    <p:cond delay="35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600" decel="100000"/>
                                        <p:tgtEl>
                                          <p:spTgt spid="9"/>
                                        </p:tgtEl>
                                      </p:cBhvr>
                                    </p:animEffect>
                                  </p:childTnLst>
                                </p:cTn>
                              </p:par>
                              <p:par>
                                <p:cTn id="22" presetID="22" presetClass="entr" presetSubtype="4" fill="hold" grpId="0" nodeType="withEffect">
                                  <p:stCondLst>
                                    <p:cond delay="490"/>
                                  </p:stCondLst>
                                  <p:childTnLst>
                                    <p:set>
                                      <p:cBhvr>
                                        <p:cTn id="20" dur="1" fill="hold">
                                          <p:stCondLst>
                                            <p:cond delay="0"/>
                                          </p:stCondLst>
                                        </p:cTn>
                                        <p:tgtEl>
                                          <p:spTgt spid="11"/>
                                        </p:tgtEl>
                                        <p:attrNameLst>
                                          <p:attrName>style.visibility</p:attrName>
                                        </p:attrNameLst>
                                      </p:cBhvr>
                                      <p:to>
                                        <p:strVal val="visible"/>
                                      </p:to>
                                    </p:set>
                                    <p:animEffect transition="in" filter="wipe(down)">
                                      <p:cBhvr>
                                        <p:cTn id="21" dur="900" decel="100000"/>
                                        <p:tgtEl>
                                          <p:spTgt spid="11"/>
                                        </p:tgtEl>
                                      </p:cBhvr>
                                    </p:animEffect>
                                  </p:childTnLst>
                                </p:cTn>
                              </p:par>
                              <p:par>
                                <p:cTn id="25" presetID="10" presetClass="entr" presetSubtype="0" fill="hold" grpId="0" nodeType="withEffect">
                                  <p:stCondLst>
                                    <p:cond delay="49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600" decel="100000"/>
                                        <p:tgtEl>
                                          <p:spTgt spid="13"/>
                                        </p:tgtEl>
                                      </p:cBhvr>
                                    </p:animEffect>
                                  </p:childTnLst>
                                </p:cTn>
                              </p:par>
                              <p:par>
                                <p:cTn id="28" presetID="22" presetClass="entr" presetSubtype="4" fill="hold" grpId="0" nodeType="withEffect">
                                  <p:stCondLst>
                                    <p:cond delay="630"/>
                                  </p:stCondLst>
                                  <p:childTnLst>
                                    <p:set>
                                      <p:cBhvr>
                                        <p:cTn id="26" dur="1" fill="hold">
                                          <p:stCondLst>
                                            <p:cond delay="0"/>
                                          </p:stCondLst>
                                        </p:cTn>
                                        <p:tgtEl>
                                          <p:spTgt spid="15"/>
                                        </p:tgtEl>
                                        <p:attrNameLst>
                                          <p:attrName>style.visibility</p:attrName>
                                        </p:attrNameLst>
                                      </p:cBhvr>
                                      <p:to>
                                        <p:strVal val="visible"/>
                                      </p:to>
                                    </p:set>
                                    <p:animEffect transition="in" filter="wipe(down)">
                                      <p:cBhvr>
                                        <p:cTn id="27" dur="900" decel="100000"/>
                                        <p:tgtEl>
                                          <p:spTgt spid="15"/>
                                        </p:tgtEl>
                                      </p:cBhvr>
                                    </p:animEffect>
                                  </p:childTnLst>
                                </p:cTn>
                              </p:par>
                              <p:par>
                                <p:cTn id="31" presetID="10" presetClass="entr" presetSubtype="0" fill="hold" grpId="0" nodeType="withEffect">
                                  <p:stCondLst>
                                    <p:cond delay="63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600" decel="100000"/>
                                        <p:tgtEl>
                                          <p:spTgt spid="17"/>
                                        </p:tgtEl>
                                      </p:cBhvr>
                                    </p:animEffect>
                                  </p:childTnLst>
                                </p:cTn>
                              </p:par>
                              <p:par>
                                <p:cTn id="34" presetID="22" presetClass="entr" presetSubtype="4" fill="hold" grpId="0" nodeType="withEffect">
                                  <p:stCondLst>
                                    <p:cond delay="770"/>
                                  </p:stCondLst>
                                  <p:childTnLst>
                                    <p:set>
                                      <p:cBhvr>
                                        <p:cTn id="32" dur="1" fill="hold">
                                          <p:stCondLst>
                                            <p:cond delay="0"/>
                                          </p:stCondLst>
                                        </p:cTn>
                                        <p:tgtEl>
                                          <p:spTgt spid="19"/>
                                        </p:tgtEl>
                                        <p:attrNameLst>
                                          <p:attrName>style.visibility</p:attrName>
                                        </p:attrNameLst>
                                      </p:cBhvr>
                                      <p:to>
                                        <p:strVal val="visible"/>
                                      </p:to>
                                    </p:set>
                                    <p:animEffect transition="in" filter="wipe(down)">
                                      <p:cBhvr>
                                        <p:cTn id="33" dur="900" decel="100000"/>
                                        <p:tgtEl>
                                          <p:spTgt spid="19"/>
                                        </p:tgtEl>
                                      </p:cBhvr>
                                    </p:animEffect>
                                  </p:childTnLst>
                                </p:cTn>
                              </p:par>
                              <p:par>
                                <p:cTn id="37" presetID="10" presetClass="entr" presetSubtype="0" fill="hold" grpId="0" nodeType="withEffect">
                                  <p:stCondLst>
                                    <p:cond delay="77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600" decel="100000"/>
                                        <p:tgtEl>
                                          <p:spTgt spid="21"/>
                                        </p:tgtEl>
                                      </p:cBhvr>
                                    </p:animEffect>
                                  </p:childTnLst>
                                </p:cTn>
                              </p:par>
                              <p:par>
                                <p:cTn id="40" presetID="22" presetClass="entr" presetSubtype="4" fill="hold" grpId="0" nodeType="withEffect">
                                  <p:stCondLst>
                                    <p:cond delay="910"/>
                                  </p:stCondLst>
                                  <p:childTnLst>
                                    <p:set>
                                      <p:cBhvr>
                                        <p:cTn id="38" dur="1" fill="hold">
                                          <p:stCondLst>
                                            <p:cond delay="0"/>
                                          </p:stCondLst>
                                        </p:cTn>
                                        <p:tgtEl>
                                          <p:spTgt spid="23"/>
                                        </p:tgtEl>
                                        <p:attrNameLst>
                                          <p:attrName>style.visibility</p:attrName>
                                        </p:attrNameLst>
                                      </p:cBhvr>
                                      <p:to>
                                        <p:strVal val="visible"/>
                                      </p:to>
                                    </p:set>
                                    <p:animEffect transition="in" filter="wipe(down)">
                                      <p:cBhvr>
                                        <p:cTn id="39" dur="900" decel="100000"/>
                                        <p:tgtEl>
                                          <p:spTgt spid="23"/>
                                        </p:tgtEl>
                                      </p:cBhvr>
                                    </p:animEffect>
                                  </p:childTnLst>
                                </p:cTn>
                              </p:par>
                              <p:par>
                                <p:cTn id="43" presetID="10" presetClass="entr" presetSubtype="0" fill="hold" grpId="0" nodeType="withEffect">
                                  <p:stCondLst>
                                    <p:cond delay="91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600" decel="100000"/>
                                        <p:tgtEl>
                                          <p:spTgt spid="25"/>
                                        </p:tgtEl>
                                      </p:cBhvr>
                                    </p:animEffect>
                                  </p:childTnLst>
                                </p:cTn>
                              </p:par>
                              <p:par>
                                <p:cTn id="48" presetID="42" presetClass="entr" presetSubtype="0" fill="hold" grpId="0" nodeType="withEffect">
                                  <p:stCondLst>
                                    <p:cond delay="95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480" decel="100000"/>
                                        <p:tgtEl>
                                          <p:spTgt spid="8"/>
                                        </p:tgtEl>
                                      </p:cBhvr>
                                    </p:animEffect>
                                    <p:anim calcmode="lin" valueType="num">
                                      <p:cBhvr>
                                        <p:cTn id="46" dur="600" fill="hold" decel="100000"/>
                                        <p:tgtEl>
                                          <p:spTgt spid="8"/>
                                        </p:tgtEl>
                                        <p:attrNameLst>
                                          <p:attrName>ppt_x</p:attrName>
                                        </p:attrNameLst>
                                      </p:cBhvr>
                                      <p:tavLst>
                                        <p:tav tm="0">
                                          <p:val>
                                            <p:strVal val="#ppt_x"/>
                                          </p:val>
                                        </p:tav>
                                        <p:tav tm="100000">
                                          <p:val>
                                            <p:strVal val="#ppt_x"/>
                                          </p:val>
                                        </p:tav>
                                      </p:tavLst>
                                    </p:anim>
                                    <p:anim calcmode="lin" valueType="num">
                                      <p:cBhvr>
                                        <p:cTn id="47" dur="600" fill="hold" decel="100000"/>
                                        <p:tgtEl>
                                          <p:spTgt spid="8"/>
                                        </p:tgtEl>
                                        <p:attrNameLst>
                                          <p:attrName>ppt_y</p:attrName>
                                        </p:attrNameLst>
                                      </p:cBhvr>
                                      <p:tavLst>
                                        <p:tav tm="0">
                                          <p:val>
                                            <p:strVal val="#ppt_y+0.0100"/>
                                          </p:val>
                                        </p:tav>
                                        <p:tav tm="100000">
                                          <p:val>
                                            <p:strVal val="#ppt_y"/>
                                          </p:val>
                                        </p:tav>
                                      </p:tavLst>
                                    </p:anim>
                                  </p:childTnLst>
                                </p:cTn>
                              </p:par>
                              <p:par>
                                <p:cTn id="51" presetID="22" presetClass="entr" presetSubtype="4" fill="hold" grpId="0" nodeType="withEffect">
                                  <p:stCondLst>
                                    <p:cond delay="1050"/>
                                  </p:stCondLst>
                                  <p:childTnLst>
                                    <p:set>
                                      <p:cBhvr>
                                        <p:cTn id="49" dur="1" fill="hold">
                                          <p:stCondLst>
                                            <p:cond delay="0"/>
                                          </p:stCondLst>
                                        </p:cTn>
                                        <p:tgtEl>
                                          <p:spTgt spid="27"/>
                                        </p:tgtEl>
                                        <p:attrNameLst>
                                          <p:attrName>style.visibility</p:attrName>
                                        </p:attrNameLst>
                                      </p:cBhvr>
                                      <p:to>
                                        <p:strVal val="visible"/>
                                      </p:to>
                                    </p:set>
                                    <p:animEffect transition="in" filter="wipe(down)">
                                      <p:cBhvr>
                                        <p:cTn id="50" dur="900" decel="100000"/>
                                        <p:tgtEl>
                                          <p:spTgt spid="27"/>
                                        </p:tgtEl>
                                      </p:cBhvr>
                                    </p:animEffect>
                                  </p:childTnLst>
                                </p:cTn>
                              </p:par>
                              <p:par>
                                <p:cTn id="54" presetID="10" presetClass="entr" presetSubtype="0" fill="hold" grpId="0" nodeType="withEffect">
                                  <p:stCondLst>
                                    <p:cond delay="105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600" decel="100000"/>
                                        <p:tgtEl>
                                          <p:spTgt spid="29"/>
                                        </p:tgtEl>
                                      </p:cBhvr>
                                    </p:animEffect>
                                  </p:childTnLst>
                                </p:cTn>
                              </p:par>
                              <p:par>
                                <p:cTn id="59" presetID="42" presetClass="entr" presetSubtype="0" fill="hold" grpId="0" nodeType="withEffect">
                                  <p:stCondLst>
                                    <p:cond delay="109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480" decel="100000"/>
                                        <p:tgtEl>
                                          <p:spTgt spid="12"/>
                                        </p:tgtEl>
                                      </p:cBhvr>
                                    </p:animEffect>
                                    <p:anim calcmode="lin" valueType="num">
                                      <p:cBhvr>
                                        <p:cTn id="57" dur="600" fill="hold" decel="100000"/>
                                        <p:tgtEl>
                                          <p:spTgt spid="12"/>
                                        </p:tgtEl>
                                        <p:attrNameLst>
                                          <p:attrName>ppt_x</p:attrName>
                                        </p:attrNameLst>
                                      </p:cBhvr>
                                      <p:tavLst>
                                        <p:tav tm="0">
                                          <p:val>
                                            <p:strVal val="#ppt_x"/>
                                          </p:val>
                                        </p:tav>
                                        <p:tav tm="100000">
                                          <p:val>
                                            <p:strVal val="#ppt_x"/>
                                          </p:val>
                                        </p:tav>
                                      </p:tavLst>
                                    </p:anim>
                                    <p:anim calcmode="lin" valueType="num">
                                      <p:cBhvr>
                                        <p:cTn id="58" dur="600" fill="hold" decel="100000"/>
                                        <p:tgtEl>
                                          <p:spTgt spid="12"/>
                                        </p:tgtEl>
                                        <p:attrNameLst>
                                          <p:attrName>ppt_y</p:attrName>
                                        </p:attrNameLst>
                                      </p:cBhvr>
                                      <p:tavLst>
                                        <p:tav tm="0">
                                          <p:val>
                                            <p:strVal val="#ppt_y+0.0100"/>
                                          </p:val>
                                        </p:tav>
                                        <p:tav tm="100000">
                                          <p:val>
                                            <p:strVal val="#ppt_y"/>
                                          </p:val>
                                        </p:tav>
                                      </p:tavLst>
                                    </p:anim>
                                  </p:childTnLst>
                                </p:cTn>
                              </p:par>
                              <p:par>
                                <p:cTn id="62" presetID="22" presetClass="entr" presetSubtype="4" fill="hold" grpId="0" nodeType="withEffect">
                                  <p:stCondLst>
                                    <p:cond delay="1190"/>
                                  </p:stCondLst>
                                  <p:childTnLst>
                                    <p:set>
                                      <p:cBhvr>
                                        <p:cTn id="60" dur="1" fill="hold">
                                          <p:stCondLst>
                                            <p:cond delay="0"/>
                                          </p:stCondLst>
                                        </p:cTn>
                                        <p:tgtEl>
                                          <p:spTgt spid="31"/>
                                        </p:tgtEl>
                                        <p:attrNameLst>
                                          <p:attrName>style.visibility</p:attrName>
                                        </p:attrNameLst>
                                      </p:cBhvr>
                                      <p:to>
                                        <p:strVal val="visible"/>
                                      </p:to>
                                    </p:set>
                                    <p:animEffect transition="in" filter="wipe(down)">
                                      <p:cBhvr>
                                        <p:cTn id="61" dur="900" decel="100000"/>
                                        <p:tgtEl>
                                          <p:spTgt spid="31"/>
                                        </p:tgtEl>
                                      </p:cBhvr>
                                    </p:animEffect>
                                  </p:childTnLst>
                                </p:cTn>
                              </p:par>
                              <p:par>
                                <p:cTn id="65" presetID="10" presetClass="entr" presetSubtype="0" fill="hold" grpId="0" nodeType="withEffect">
                                  <p:stCondLst>
                                    <p:cond delay="1190"/>
                                  </p:stCondLst>
                                  <p:childTnLst>
                                    <p:set>
                                      <p:cBhvr>
                                        <p:cTn id="63" dur="1" fill="hold">
                                          <p:stCondLst>
                                            <p:cond delay="0"/>
                                          </p:stCondLst>
                                        </p:cTn>
                                        <p:tgtEl>
                                          <p:spTgt spid="33"/>
                                        </p:tgtEl>
                                        <p:attrNameLst>
                                          <p:attrName>style.visibility</p:attrName>
                                        </p:attrNameLst>
                                      </p:cBhvr>
                                      <p:to>
                                        <p:strVal val="visible"/>
                                      </p:to>
                                    </p:set>
                                    <p:animEffect transition="in" filter="fade">
                                      <p:cBhvr>
                                        <p:cTn id="64" dur="600" decel="100000"/>
                                        <p:tgtEl>
                                          <p:spTgt spid="33"/>
                                        </p:tgtEl>
                                      </p:cBhvr>
                                    </p:animEffect>
                                  </p:childTnLst>
                                </p:cTn>
                              </p:par>
                              <p:par>
                                <p:cTn id="68" presetID="22" presetClass="entr" presetSubtype="8" fill="hold" grpId="0" nodeType="withEffect">
                                  <p:stCondLst>
                                    <p:cond delay="1200"/>
                                  </p:stCondLst>
                                  <p:childTnLst>
                                    <p:set>
                                      <p:cBhvr>
                                        <p:cTn id="66" dur="1" fill="hold">
                                          <p:stCondLst>
                                            <p:cond delay="0"/>
                                          </p:stCondLst>
                                        </p:cTn>
                                        <p:tgtEl>
                                          <p:spTgt spid="36"/>
                                        </p:tgtEl>
                                        <p:attrNameLst>
                                          <p:attrName>style.visibility</p:attrName>
                                        </p:attrNameLst>
                                      </p:cBhvr>
                                      <p:to>
                                        <p:strVal val="visible"/>
                                      </p:to>
                                    </p:set>
                                    <p:animEffect transition="in" filter="wipe(left)">
                                      <p:cBhvr>
                                        <p:cTn id="67" dur="700" decel="100000"/>
                                        <p:tgtEl>
                                          <p:spTgt spid="36"/>
                                        </p:tgtEl>
                                      </p:cBhvr>
                                    </p:animEffect>
                                  </p:childTnLst>
                                </p:cTn>
                              </p:par>
                              <p:par>
                                <p:cTn id="73" presetID="42" presetClass="entr" presetSubtype="0" fill="hold" grpId="0" nodeType="withEffect">
                                  <p:stCondLst>
                                    <p:cond delay="1230"/>
                                  </p:stCondLst>
                                  <p:childTnLst>
                                    <p:set>
                                      <p:cBhvr>
                                        <p:cTn id="69" dur="1" fill="hold">
                                          <p:stCondLst>
                                            <p:cond delay="0"/>
                                          </p:stCondLst>
                                        </p:cTn>
                                        <p:tgtEl>
                                          <p:spTgt spid="16"/>
                                        </p:tgtEl>
                                        <p:attrNameLst>
                                          <p:attrName>style.visibility</p:attrName>
                                        </p:attrNameLst>
                                      </p:cBhvr>
                                      <p:to>
                                        <p:strVal val="visible"/>
                                      </p:to>
                                    </p:set>
                                    <p:animEffect transition="in" filter="fade">
                                      <p:cBhvr>
                                        <p:cTn id="70" dur="480" decel="100000"/>
                                        <p:tgtEl>
                                          <p:spTgt spid="16"/>
                                        </p:tgtEl>
                                      </p:cBhvr>
                                    </p:animEffect>
                                    <p:anim calcmode="lin" valueType="num">
                                      <p:cBhvr>
                                        <p:cTn id="71" dur="600" fill="hold" decel="100000"/>
                                        <p:tgtEl>
                                          <p:spTgt spid="16"/>
                                        </p:tgtEl>
                                        <p:attrNameLst>
                                          <p:attrName>ppt_x</p:attrName>
                                        </p:attrNameLst>
                                      </p:cBhvr>
                                      <p:tavLst>
                                        <p:tav tm="0">
                                          <p:val>
                                            <p:strVal val="#ppt_x"/>
                                          </p:val>
                                        </p:tav>
                                        <p:tav tm="100000">
                                          <p:val>
                                            <p:strVal val="#ppt_x"/>
                                          </p:val>
                                        </p:tav>
                                      </p:tavLst>
                                    </p:anim>
                                    <p:anim calcmode="lin" valueType="num">
                                      <p:cBhvr>
                                        <p:cTn id="72" dur="600" fill="hold" decel="100000"/>
                                        <p:tgtEl>
                                          <p:spTgt spid="16"/>
                                        </p:tgtEl>
                                        <p:attrNameLst>
                                          <p:attrName>ppt_y</p:attrName>
                                        </p:attrNameLst>
                                      </p:cBhvr>
                                      <p:tavLst>
                                        <p:tav tm="0">
                                          <p:val>
                                            <p:strVal val="#ppt_y+0.0100"/>
                                          </p:val>
                                        </p:tav>
                                        <p:tav tm="100000">
                                          <p:val>
                                            <p:strVal val="#ppt_y"/>
                                          </p:val>
                                        </p:tav>
                                      </p:tavLst>
                                    </p:anim>
                                  </p:childTnLst>
                                </p:cTn>
                              </p:par>
                              <p:par>
                                <p:cTn id="76" presetID="10" presetClass="entr" presetSubtype="0" fill="hold" grpId="0" nodeType="withEffect">
                                  <p:stCondLst>
                                    <p:cond delay="1300"/>
                                  </p:stCondLst>
                                  <p:childTnLst>
                                    <p:set>
                                      <p:cBhvr>
                                        <p:cTn id="74" dur="1" fill="hold">
                                          <p:stCondLst>
                                            <p:cond delay="0"/>
                                          </p:stCondLst>
                                        </p:cTn>
                                        <p:tgtEl>
                                          <p:spTgt spid="37"/>
                                        </p:tgtEl>
                                        <p:attrNameLst>
                                          <p:attrName>style.visibility</p:attrName>
                                        </p:attrNameLst>
                                      </p:cBhvr>
                                      <p:to>
                                        <p:strVal val="visible"/>
                                      </p:to>
                                    </p:set>
                                    <p:animEffect transition="in" filter="fade">
                                      <p:cBhvr>
                                        <p:cTn id="75" dur="700" decel="100000"/>
                                        <p:tgtEl>
                                          <p:spTgt spid="37"/>
                                        </p:tgtEl>
                                      </p:cBhvr>
                                    </p:animEffect>
                                  </p:childTnLst>
                                </p:cTn>
                              </p:par>
                              <p:par>
                                <p:cTn id="81" presetID="42" presetClass="entr" presetSubtype="0" fill="hold" grpId="0" nodeType="withEffect">
                                  <p:stCondLst>
                                    <p:cond delay="137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480" decel="100000"/>
                                        <p:tgtEl>
                                          <p:spTgt spid="20"/>
                                        </p:tgtEl>
                                      </p:cBhvr>
                                    </p:animEffect>
                                    <p:anim calcmode="lin" valueType="num">
                                      <p:cBhvr>
                                        <p:cTn id="79" dur="600" fill="hold" decel="100000"/>
                                        <p:tgtEl>
                                          <p:spTgt spid="20"/>
                                        </p:tgtEl>
                                        <p:attrNameLst>
                                          <p:attrName>ppt_x</p:attrName>
                                        </p:attrNameLst>
                                      </p:cBhvr>
                                      <p:tavLst>
                                        <p:tav tm="0">
                                          <p:val>
                                            <p:strVal val="#ppt_x"/>
                                          </p:val>
                                        </p:tav>
                                        <p:tav tm="100000">
                                          <p:val>
                                            <p:strVal val="#ppt_x"/>
                                          </p:val>
                                        </p:tav>
                                      </p:tavLst>
                                    </p:anim>
                                    <p:anim calcmode="lin" valueType="num">
                                      <p:cBhvr>
                                        <p:cTn id="80" dur="600" fill="hold" decel="100000"/>
                                        <p:tgtEl>
                                          <p:spTgt spid="20"/>
                                        </p:tgtEl>
                                        <p:attrNameLst>
                                          <p:attrName>ppt_y</p:attrName>
                                        </p:attrNameLst>
                                      </p:cBhvr>
                                      <p:tavLst>
                                        <p:tav tm="0">
                                          <p:val>
                                            <p:strVal val="#ppt_y+0.0100"/>
                                          </p:val>
                                        </p:tav>
                                        <p:tav tm="100000">
                                          <p:val>
                                            <p:strVal val="#ppt_y"/>
                                          </p:val>
                                        </p:tav>
                                      </p:tavLst>
                                    </p:anim>
                                  </p:childTnLst>
                                </p:cTn>
                              </p:par>
                              <p:par>
                                <p:cTn id="84" presetID="10" presetClass="entr" presetSubtype="0" fill="hold" grpId="0" nodeType="withEffect">
                                  <p:stCondLst>
                                    <p:cond delay="1400"/>
                                  </p:stCondLst>
                                  <p:childTnLst>
                                    <p:set>
                                      <p:cBhvr>
                                        <p:cTn id="82" dur="1" fill="hold">
                                          <p:stCondLst>
                                            <p:cond delay="0"/>
                                          </p:stCondLst>
                                        </p:cTn>
                                        <p:tgtEl>
                                          <p:spTgt spid="35"/>
                                        </p:tgtEl>
                                        <p:attrNameLst>
                                          <p:attrName>style.visibility</p:attrName>
                                        </p:attrNameLst>
                                      </p:cBhvr>
                                      <p:to>
                                        <p:strVal val="visible"/>
                                      </p:to>
                                    </p:set>
                                    <p:animEffect transition="in" filter="fade">
                                      <p:cBhvr>
                                        <p:cTn id="83" dur="600" decel="100000"/>
                                        <p:tgtEl>
                                          <p:spTgt spid="35"/>
                                        </p:tgtEl>
                                      </p:cBhvr>
                                    </p:animEffect>
                                  </p:childTnLst>
                                </p:cTn>
                              </p:par>
                              <p:par>
                                <p:cTn id="87" presetID="10" presetClass="entr" presetSubtype="0" fill="hold" grpId="0" nodeType="withEffect">
                                  <p:stCondLst>
                                    <p:cond delay="1500"/>
                                  </p:stCondLst>
                                  <p:childTnLst>
                                    <p:set>
                                      <p:cBhvr>
                                        <p:cTn id="85" dur="1" fill="hold">
                                          <p:stCondLst>
                                            <p:cond delay="0"/>
                                          </p:stCondLst>
                                        </p:cTn>
                                        <p:tgtEl>
                                          <p:spTgt spid="10"/>
                                        </p:tgtEl>
                                        <p:attrNameLst>
                                          <p:attrName>style.visibility</p:attrName>
                                        </p:attrNameLst>
                                      </p:cBhvr>
                                      <p:to>
                                        <p:strVal val="visible"/>
                                      </p:to>
                                    </p:set>
                                    <p:animEffect transition="in" filter="fade">
                                      <p:cBhvr>
                                        <p:cTn id="86" dur="600" decel="100000"/>
                                        <p:tgtEl>
                                          <p:spTgt spid="10"/>
                                        </p:tgtEl>
                                      </p:cBhvr>
                                    </p:animEffect>
                                  </p:childTnLst>
                                </p:cTn>
                              </p:par>
                              <p:par>
                                <p:cTn id="92" presetID="42" presetClass="entr" presetSubtype="0" fill="hold" grpId="0" nodeType="withEffect">
                                  <p:stCondLst>
                                    <p:cond delay="1510"/>
                                  </p:stCondLst>
                                  <p:childTnLst>
                                    <p:set>
                                      <p:cBhvr>
                                        <p:cTn id="88" dur="1" fill="hold">
                                          <p:stCondLst>
                                            <p:cond delay="0"/>
                                          </p:stCondLst>
                                        </p:cTn>
                                        <p:tgtEl>
                                          <p:spTgt spid="24"/>
                                        </p:tgtEl>
                                        <p:attrNameLst>
                                          <p:attrName>style.visibility</p:attrName>
                                        </p:attrNameLst>
                                      </p:cBhvr>
                                      <p:to>
                                        <p:strVal val="visible"/>
                                      </p:to>
                                    </p:set>
                                    <p:animEffect transition="in" filter="fade">
                                      <p:cBhvr>
                                        <p:cTn id="89" dur="480" decel="100000"/>
                                        <p:tgtEl>
                                          <p:spTgt spid="24"/>
                                        </p:tgtEl>
                                      </p:cBhvr>
                                    </p:animEffect>
                                    <p:anim calcmode="lin" valueType="num">
                                      <p:cBhvr>
                                        <p:cTn id="90" dur="600" fill="hold" decel="100000"/>
                                        <p:tgtEl>
                                          <p:spTgt spid="24"/>
                                        </p:tgtEl>
                                        <p:attrNameLst>
                                          <p:attrName>ppt_x</p:attrName>
                                        </p:attrNameLst>
                                      </p:cBhvr>
                                      <p:tavLst>
                                        <p:tav tm="0">
                                          <p:val>
                                            <p:strVal val="#ppt_x"/>
                                          </p:val>
                                        </p:tav>
                                        <p:tav tm="100000">
                                          <p:val>
                                            <p:strVal val="#ppt_x"/>
                                          </p:val>
                                        </p:tav>
                                      </p:tavLst>
                                    </p:anim>
                                    <p:anim calcmode="lin" valueType="num">
                                      <p:cBhvr>
                                        <p:cTn id="91" dur="600" fill="hold" decel="100000"/>
                                        <p:tgtEl>
                                          <p:spTgt spid="24"/>
                                        </p:tgtEl>
                                        <p:attrNameLst>
                                          <p:attrName>ppt_y</p:attrName>
                                        </p:attrNameLst>
                                      </p:cBhvr>
                                      <p:tavLst>
                                        <p:tav tm="0">
                                          <p:val>
                                            <p:strVal val="#ppt_y+0.0100"/>
                                          </p:val>
                                        </p:tav>
                                        <p:tav tm="100000">
                                          <p:val>
                                            <p:strVal val="#ppt_y"/>
                                          </p:val>
                                        </p:tav>
                                      </p:tavLst>
                                    </p:anim>
                                  </p:childTnLst>
                                </p:cTn>
                              </p:par>
                              <p:par>
                                <p:cTn id="95" presetID="10" presetClass="entr" presetSubtype="0" fill="hold" grpId="0" nodeType="withEffect">
                                  <p:stCondLst>
                                    <p:cond delay="1570"/>
                                  </p:stCondLst>
                                  <p:childTnLst>
                                    <p:set>
                                      <p:cBhvr>
                                        <p:cTn id="93" dur="1" fill="hold">
                                          <p:stCondLst>
                                            <p:cond delay="0"/>
                                          </p:stCondLst>
                                        </p:cTn>
                                        <p:tgtEl>
                                          <p:spTgt spid="14"/>
                                        </p:tgtEl>
                                        <p:attrNameLst>
                                          <p:attrName>style.visibility</p:attrName>
                                        </p:attrNameLst>
                                      </p:cBhvr>
                                      <p:to>
                                        <p:strVal val="visible"/>
                                      </p:to>
                                    </p:set>
                                    <p:animEffect transition="in" filter="fade">
                                      <p:cBhvr>
                                        <p:cTn id="94" dur="600" decel="100000"/>
                                        <p:tgtEl>
                                          <p:spTgt spid="14"/>
                                        </p:tgtEl>
                                      </p:cBhvr>
                                    </p:animEffect>
                                  </p:childTnLst>
                                </p:cTn>
                              </p:par>
                              <p:par>
                                <p:cTn id="98" presetID="10" presetClass="entr" presetSubtype="0" fill="hold" grpId="0" nodeType="withEffect">
                                  <p:stCondLst>
                                    <p:cond delay="1640"/>
                                  </p:stCondLst>
                                  <p:childTnLst>
                                    <p:set>
                                      <p:cBhvr>
                                        <p:cTn id="96" dur="1" fill="hold">
                                          <p:stCondLst>
                                            <p:cond delay="0"/>
                                          </p:stCondLst>
                                        </p:cTn>
                                        <p:tgtEl>
                                          <p:spTgt spid="18"/>
                                        </p:tgtEl>
                                        <p:attrNameLst>
                                          <p:attrName>style.visibility</p:attrName>
                                        </p:attrNameLst>
                                      </p:cBhvr>
                                      <p:to>
                                        <p:strVal val="visible"/>
                                      </p:to>
                                    </p:set>
                                    <p:animEffect transition="in" filter="fade">
                                      <p:cBhvr>
                                        <p:cTn id="97" dur="600" decel="100000"/>
                                        <p:tgtEl>
                                          <p:spTgt spid="18"/>
                                        </p:tgtEl>
                                      </p:cBhvr>
                                    </p:animEffect>
                                  </p:childTnLst>
                                </p:cTn>
                              </p:par>
                              <p:par>
                                <p:cTn id="103" presetID="42" presetClass="entr" presetSubtype="0" fill="hold" grpId="0" nodeType="withEffect">
                                  <p:stCondLst>
                                    <p:cond delay="1650"/>
                                  </p:stCondLst>
                                  <p:childTnLst>
                                    <p:set>
                                      <p:cBhvr>
                                        <p:cTn id="99" dur="1" fill="hold">
                                          <p:stCondLst>
                                            <p:cond delay="0"/>
                                          </p:stCondLst>
                                        </p:cTn>
                                        <p:tgtEl>
                                          <p:spTgt spid="28"/>
                                        </p:tgtEl>
                                        <p:attrNameLst>
                                          <p:attrName>style.visibility</p:attrName>
                                        </p:attrNameLst>
                                      </p:cBhvr>
                                      <p:to>
                                        <p:strVal val="visible"/>
                                      </p:to>
                                    </p:set>
                                    <p:animEffect transition="in" filter="fade">
                                      <p:cBhvr>
                                        <p:cTn id="100" dur="480" decel="100000"/>
                                        <p:tgtEl>
                                          <p:spTgt spid="28"/>
                                        </p:tgtEl>
                                      </p:cBhvr>
                                    </p:animEffect>
                                    <p:anim calcmode="lin" valueType="num">
                                      <p:cBhvr>
                                        <p:cTn id="101" dur="600" fill="hold" decel="100000"/>
                                        <p:tgtEl>
                                          <p:spTgt spid="28"/>
                                        </p:tgtEl>
                                        <p:attrNameLst>
                                          <p:attrName>ppt_x</p:attrName>
                                        </p:attrNameLst>
                                      </p:cBhvr>
                                      <p:tavLst>
                                        <p:tav tm="0">
                                          <p:val>
                                            <p:strVal val="#ppt_x"/>
                                          </p:val>
                                        </p:tav>
                                        <p:tav tm="100000">
                                          <p:val>
                                            <p:strVal val="#ppt_x"/>
                                          </p:val>
                                        </p:tav>
                                      </p:tavLst>
                                    </p:anim>
                                    <p:anim calcmode="lin" valueType="num">
                                      <p:cBhvr>
                                        <p:cTn id="102" dur="600" fill="hold" decel="100000"/>
                                        <p:tgtEl>
                                          <p:spTgt spid="28"/>
                                        </p:tgtEl>
                                        <p:attrNameLst>
                                          <p:attrName>ppt_y</p:attrName>
                                        </p:attrNameLst>
                                      </p:cBhvr>
                                      <p:tavLst>
                                        <p:tav tm="0">
                                          <p:val>
                                            <p:strVal val="#ppt_y+0.0100"/>
                                          </p:val>
                                        </p:tav>
                                        <p:tav tm="100000">
                                          <p:val>
                                            <p:strVal val="#ppt_y"/>
                                          </p:val>
                                        </p:tav>
                                      </p:tavLst>
                                    </p:anim>
                                  </p:childTnLst>
                                </p:cTn>
                              </p:par>
                              <p:par>
                                <p:cTn id="108" presetID="42" presetClass="entr" presetSubtype="0" fill="hold" grpId="0" nodeType="withEffect">
                                  <p:stCondLst>
                                    <p:cond delay="1700"/>
                                  </p:stCondLst>
                                  <p:childTnLst>
                                    <p:set>
                                      <p:cBhvr>
                                        <p:cTn id="104" dur="1" fill="hold">
                                          <p:stCondLst>
                                            <p:cond delay="0"/>
                                          </p:stCondLst>
                                        </p:cTn>
                                        <p:tgtEl>
                                          <p:spTgt spid="38"/>
                                        </p:tgtEl>
                                        <p:attrNameLst>
                                          <p:attrName>style.visibility</p:attrName>
                                        </p:attrNameLst>
                                      </p:cBhvr>
                                      <p:to>
                                        <p:strVal val="visible"/>
                                      </p:to>
                                    </p:set>
                                    <p:animEffect transition="in" filter="fade">
                                      <p:cBhvr>
                                        <p:cTn id="105" dur="640" decel="100000"/>
                                        <p:tgtEl>
                                          <p:spTgt spid="38"/>
                                        </p:tgtEl>
                                      </p:cBhvr>
                                    </p:animEffect>
                                    <p:anim calcmode="lin" valueType="num">
                                      <p:cBhvr>
                                        <p:cTn id="106" dur="800" fill="hold" decel="100000"/>
                                        <p:tgtEl>
                                          <p:spTgt spid="38"/>
                                        </p:tgtEl>
                                        <p:attrNameLst>
                                          <p:attrName>ppt_x</p:attrName>
                                        </p:attrNameLst>
                                      </p:cBhvr>
                                      <p:tavLst>
                                        <p:tav tm="0">
                                          <p:val>
                                            <p:strVal val="#ppt_x"/>
                                          </p:val>
                                        </p:tav>
                                        <p:tav tm="100000">
                                          <p:val>
                                            <p:strVal val="#ppt_x"/>
                                          </p:val>
                                        </p:tav>
                                      </p:tavLst>
                                    </p:anim>
                                    <p:anim calcmode="lin" valueType="num">
                                      <p:cBhvr>
                                        <p:cTn id="107" dur="800" fill="hold" decel="100000"/>
                                        <p:tgtEl>
                                          <p:spTgt spid="38"/>
                                        </p:tgtEl>
                                        <p:attrNameLst>
                                          <p:attrName>ppt_y</p:attrName>
                                        </p:attrNameLst>
                                      </p:cBhvr>
                                      <p:tavLst>
                                        <p:tav tm="0">
                                          <p:val>
                                            <p:strVal val="#ppt_y+0.0250"/>
                                          </p:val>
                                        </p:tav>
                                        <p:tav tm="100000">
                                          <p:val>
                                            <p:strVal val="#ppt_y"/>
                                          </p:val>
                                        </p:tav>
                                      </p:tavLst>
                                    </p:anim>
                                  </p:childTnLst>
                                </p:cTn>
                              </p:par>
                              <p:par>
                                <p:cTn id="111" presetID="10" presetClass="entr" presetSubtype="0" fill="hold" grpId="0" nodeType="withEffect">
                                  <p:stCondLst>
                                    <p:cond delay="1710"/>
                                  </p:stCondLst>
                                  <p:childTnLst>
                                    <p:set>
                                      <p:cBhvr>
                                        <p:cTn id="109" dur="1" fill="hold">
                                          <p:stCondLst>
                                            <p:cond delay="0"/>
                                          </p:stCondLst>
                                        </p:cTn>
                                        <p:tgtEl>
                                          <p:spTgt spid="22"/>
                                        </p:tgtEl>
                                        <p:attrNameLst>
                                          <p:attrName>style.visibility</p:attrName>
                                        </p:attrNameLst>
                                      </p:cBhvr>
                                      <p:to>
                                        <p:strVal val="visible"/>
                                      </p:to>
                                    </p:set>
                                    <p:animEffect transition="in" filter="fade">
                                      <p:cBhvr>
                                        <p:cTn id="110" dur="600" decel="100000"/>
                                        <p:tgtEl>
                                          <p:spTgt spid="22"/>
                                        </p:tgtEl>
                                      </p:cBhvr>
                                    </p:animEffect>
                                  </p:childTnLst>
                                </p:cTn>
                              </p:par>
                              <p:par>
                                <p:cTn id="114" presetID="10" presetClass="entr" presetSubtype="0" fill="hold" grpId="0" nodeType="withEffect">
                                  <p:stCondLst>
                                    <p:cond delay="1780"/>
                                  </p:stCondLst>
                                  <p:childTnLst>
                                    <p:set>
                                      <p:cBhvr>
                                        <p:cTn id="112" dur="1" fill="hold">
                                          <p:stCondLst>
                                            <p:cond delay="0"/>
                                          </p:stCondLst>
                                        </p:cTn>
                                        <p:tgtEl>
                                          <p:spTgt spid="26"/>
                                        </p:tgtEl>
                                        <p:attrNameLst>
                                          <p:attrName>style.visibility</p:attrName>
                                        </p:attrNameLst>
                                      </p:cBhvr>
                                      <p:to>
                                        <p:strVal val="visible"/>
                                      </p:to>
                                    </p:set>
                                    <p:animEffect transition="in" filter="fade">
                                      <p:cBhvr>
                                        <p:cTn id="113" dur="600" decel="100000"/>
                                        <p:tgtEl>
                                          <p:spTgt spid="26"/>
                                        </p:tgtEl>
                                      </p:cBhvr>
                                    </p:animEffect>
                                  </p:childTnLst>
                                </p:cTn>
                              </p:par>
                              <p:par>
                                <p:cTn id="119" presetID="42" presetClass="entr" presetSubtype="0" fill="hold" grpId="0" nodeType="withEffect">
                                  <p:stCondLst>
                                    <p:cond delay="1790"/>
                                  </p:stCondLst>
                                  <p:childTnLst>
                                    <p:set>
                                      <p:cBhvr>
                                        <p:cTn id="115" dur="1" fill="hold">
                                          <p:stCondLst>
                                            <p:cond delay="0"/>
                                          </p:stCondLst>
                                        </p:cTn>
                                        <p:tgtEl>
                                          <p:spTgt spid="32"/>
                                        </p:tgtEl>
                                        <p:attrNameLst>
                                          <p:attrName>style.visibility</p:attrName>
                                        </p:attrNameLst>
                                      </p:cBhvr>
                                      <p:to>
                                        <p:strVal val="visible"/>
                                      </p:to>
                                    </p:set>
                                    <p:animEffect transition="in" filter="fade">
                                      <p:cBhvr>
                                        <p:cTn id="116" dur="480" decel="100000"/>
                                        <p:tgtEl>
                                          <p:spTgt spid="32"/>
                                        </p:tgtEl>
                                      </p:cBhvr>
                                    </p:animEffect>
                                    <p:anim calcmode="lin" valueType="num">
                                      <p:cBhvr>
                                        <p:cTn id="117" dur="600" fill="hold" decel="100000"/>
                                        <p:tgtEl>
                                          <p:spTgt spid="32"/>
                                        </p:tgtEl>
                                        <p:attrNameLst>
                                          <p:attrName>ppt_x</p:attrName>
                                        </p:attrNameLst>
                                      </p:cBhvr>
                                      <p:tavLst>
                                        <p:tav tm="0">
                                          <p:val>
                                            <p:strVal val="#ppt_x"/>
                                          </p:val>
                                        </p:tav>
                                        <p:tav tm="100000">
                                          <p:val>
                                            <p:strVal val="#ppt_x"/>
                                          </p:val>
                                        </p:tav>
                                      </p:tavLst>
                                    </p:anim>
                                    <p:anim calcmode="lin" valueType="num">
                                      <p:cBhvr>
                                        <p:cTn id="118" dur="600" fill="hold" decel="100000"/>
                                        <p:tgtEl>
                                          <p:spTgt spid="32"/>
                                        </p:tgtEl>
                                        <p:attrNameLst>
                                          <p:attrName>ppt_y</p:attrName>
                                        </p:attrNameLst>
                                      </p:cBhvr>
                                      <p:tavLst>
                                        <p:tav tm="0">
                                          <p:val>
                                            <p:strVal val="#ppt_y+0.0100"/>
                                          </p:val>
                                        </p:tav>
                                        <p:tav tm="100000">
                                          <p:val>
                                            <p:strVal val="#ppt_y"/>
                                          </p:val>
                                        </p:tav>
                                      </p:tavLst>
                                    </p:anim>
                                  </p:childTnLst>
                                </p:cTn>
                              </p:par>
                              <p:par>
                                <p:cTn id="122" presetID="10" presetClass="entr" presetSubtype="0" fill="hold" grpId="0" nodeType="withEffect">
                                  <p:stCondLst>
                                    <p:cond delay="1850"/>
                                  </p:stCondLst>
                                  <p:childTnLst>
                                    <p:set>
                                      <p:cBhvr>
                                        <p:cTn id="120" dur="1" fill="hold">
                                          <p:stCondLst>
                                            <p:cond delay="0"/>
                                          </p:stCondLst>
                                        </p:cTn>
                                        <p:tgtEl>
                                          <p:spTgt spid="30"/>
                                        </p:tgtEl>
                                        <p:attrNameLst>
                                          <p:attrName>style.visibility</p:attrName>
                                        </p:attrNameLst>
                                      </p:cBhvr>
                                      <p:to>
                                        <p:strVal val="visible"/>
                                      </p:to>
                                    </p:set>
                                    <p:animEffect transition="in" filter="fade">
                                      <p:cBhvr>
                                        <p:cTn id="121" dur="600" decel="100000"/>
                                        <p:tgtEl>
                                          <p:spTgt spid="30"/>
                                        </p:tgtEl>
                                      </p:cBhvr>
                                    </p:animEffect>
                                  </p:childTnLst>
                                </p:cTn>
                              </p:par>
                              <p:par>
                                <p:cTn id="125" presetID="10" presetClass="entr" presetSubtype="0" fill="hold" grpId="0" nodeType="withEffect">
                                  <p:stCondLst>
                                    <p:cond delay="1850"/>
                                  </p:stCondLst>
                                  <p:childTnLst>
                                    <p:set>
                                      <p:cBhvr>
                                        <p:cTn id="123" dur="1" fill="hold">
                                          <p:stCondLst>
                                            <p:cond delay="0"/>
                                          </p:stCondLst>
                                        </p:cTn>
                                        <p:tgtEl>
                                          <p:spTgt spid="39"/>
                                        </p:tgtEl>
                                        <p:attrNameLst>
                                          <p:attrName>style.visibility</p:attrName>
                                        </p:attrNameLst>
                                      </p:cBhvr>
                                      <p:to>
                                        <p:strVal val="visible"/>
                                      </p:to>
                                    </p:set>
                                    <p:animEffect transition="in" filter="fade">
                                      <p:cBhvr>
                                        <p:cTn id="124" dur="700" decel="100000"/>
                                        <p:tgtEl>
                                          <p:spTgt spid="39"/>
                                        </p:tgtEl>
                                      </p:cBhvr>
                                    </p:animEffect>
                                  </p:childTnLst>
                                </p:cTn>
                              </p:par>
                              <p:par>
                                <p:cTn id="128" presetID="10" presetClass="entr" presetSubtype="0" fill="hold" grpId="0" nodeType="withEffect">
                                  <p:stCondLst>
                                    <p:cond delay="1920"/>
                                  </p:stCondLst>
                                  <p:childTnLst>
                                    <p:set>
                                      <p:cBhvr>
                                        <p:cTn id="126" dur="1" fill="hold">
                                          <p:stCondLst>
                                            <p:cond delay="0"/>
                                          </p:stCondLst>
                                        </p:cTn>
                                        <p:tgtEl>
                                          <p:spTgt spid="34"/>
                                        </p:tgtEl>
                                        <p:attrNameLst>
                                          <p:attrName>style.visibility</p:attrName>
                                        </p:attrNameLst>
                                      </p:cBhvr>
                                      <p:to>
                                        <p:strVal val="visible"/>
                                      </p:to>
                                    </p:set>
                                    <p:animEffect transition="in" filter="fade">
                                      <p:cBhvr>
                                        <p:cTn id="127" dur="600" decel="100000"/>
                                        <p:tgtEl>
                                          <p:spTgt spid="34"/>
                                        </p:tgtEl>
                                      </p:cBhvr>
                                    </p:animEffect>
                                  </p:childTnLst>
                                </p:cTn>
                              </p:par>
                              <p:par>
                                <p:cTn id="133" presetID="42" presetClass="entr" presetSubtype="0" fill="hold" grpId="0" nodeType="withEffect">
                                  <p:stCondLst>
                                    <p:cond delay="1920"/>
                                  </p:stCondLst>
                                  <p:childTnLst>
                                    <p:set>
                                      <p:cBhvr>
                                        <p:cTn id="129" dur="1" fill="hold">
                                          <p:stCondLst>
                                            <p:cond delay="0"/>
                                          </p:stCondLst>
                                        </p:cTn>
                                        <p:tgtEl>
                                          <p:spTgt spid="40"/>
                                        </p:tgtEl>
                                        <p:attrNameLst>
                                          <p:attrName>style.visibility</p:attrName>
                                        </p:attrNameLst>
                                      </p:cBhvr>
                                      <p:to>
                                        <p:strVal val="visible"/>
                                      </p:to>
                                    </p:set>
                                    <p:animEffect transition="in" filter="fade">
                                      <p:cBhvr>
                                        <p:cTn id="130" dur="640" decel="100000"/>
                                        <p:tgtEl>
                                          <p:spTgt spid="40"/>
                                        </p:tgtEl>
                                      </p:cBhvr>
                                    </p:animEffect>
                                    <p:anim calcmode="lin" valueType="num">
                                      <p:cBhvr>
                                        <p:cTn id="131" dur="800" fill="hold" decel="100000"/>
                                        <p:tgtEl>
                                          <p:spTgt spid="40"/>
                                        </p:tgtEl>
                                        <p:attrNameLst>
                                          <p:attrName>ppt_x</p:attrName>
                                        </p:attrNameLst>
                                      </p:cBhvr>
                                      <p:tavLst>
                                        <p:tav tm="0">
                                          <p:val>
                                            <p:strVal val="#ppt_x"/>
                                          </p:val>
                                        </p:tav>
                                        <p:tav tm="100000">
                                          <p:val>
                                            <p:strVal val="#ppt_x"/>
                                          </p:val>
                                        </p:tav>
                                      </p:tavLst>
                                    </p:anim>
                                    <p:anim calcmode="lin" valueType="num">
                                      <p:cBhvr>
                                        <p:cTn id="132" dur="800" fill="hold" decel="100000"/>
                                        <p:tgtEl>
                                          <p:spTgt spid="40"/>
                                        </p:tgtEl>
                                        <p:attrNameLst>
                                          <p:attrName>ppt_y</p:attrName>
                                        </p:attrNameLst>
                                      </p:cBhvr>
                                      <p:tavLst>
                                        <p:tav tm="0">
                                          <p:val>
                                            <p:strVal val="#ppt_y+0.0250"/>
                                          </p:val>
                                        </p:tav>
                                        <p:tav tm="100000">
                                          <p:val>
                                            <p:strVal val="#ppt_y"/>
                                          </p:val>
                                        </p:tav>
                                      </p:tavLst>
                                    </p:anim>
                                  </p:childTnLst>
                                </p:cTn>
                              </p:par>
                              <p:par>
                                <p:cTn id="136" presetID="10" presetClass="entr" presetSubtype="0" fill="hold" grpId="0" nodeType="withEffect">
                                  <p:stCondLst>
                                    <p:cond delay="207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5" dur="700" decel="100000"/>
                                        <p:tgtEl>
                                          <p:spTgt spid="41"/>
                                        </p:tgtEl>
                                      </p:cBhvr>
                                    </p:animEffect>
                                  </p:childTnLst>
                                </p:cTn>
                              </p:par>
                              <p:par>
                                <p:cTn id="141" presetID="42" presetClass="entr" presetSubtype="0" fill="hold" grpId="0" nodeType="withEffect">
                                  <p:stCondLst>
                                    <p:cond delay="2140"/>
                                  </p:stCondLst>
                                  <p:childTnLst>
                                    <p:set>
                                      <p:cBhvr>
                                        <p:cTn id="137" dur="1" fill="hold">
                                          <p:stCondLst>
                                            <p:cond delay="0"/>
                                          </p:stCondLst>
                                        </p:cTn>
                                        <p:tgtEl>
                                          <p:spTgt spid="42"/>
                                        </p:tgtEl>
                                        <p:attrNameLst>
                                          <p:attrName>style.visibility</p:attrName>
                                        </p:attrNameLst>
                                      </p:cBhvr>
                                      <p:to>
                                        <p:strVal val="visible"/>
                                      </p:to>
                                    </p:set>
                                    <p:animEffect transition="in" filter="fade">
                                      <p:cBhvr>
                                        <p:cTn id="138" dur="640" decel="100000"/>
                                        <p:tgtEl>
                                          <p:spTgt spid="42"/>
                                        </p:tgtEl>
                                      </p:cBhvr>
                                    </p:animEffect>
                                    <p:anim calcmode="lin" valueType="num">
                                      <p:cBhvr>
                                        <p:cTn id="139" dur="800" fill="hold" decel="100000"/>
                                        <p:tgtEl>
                                          <p:spTgt spid="42"/>
                                        </p:tgtEl>
                                        <p:attrNameLst>
                                          <p:attrName>ppt_x</p:attrName>
                                        </p:attrNameLst>
                                      </p:cBhvr>
                                      <p:tavLst>
                                        <p:tav tm="0">
                                          <p:val>
                                            <p:strVal val="#ppt_x"/>
                                          </p:val>
                                        </p:tav>
                                        <p:tav tm="100000">
                                          <p:val>
                                            <p:strVal val="#ppt_x"/>
                                          </p:val>
                                        </p:tav>
                                      </p:tavLst>
                                    </p:anim>
                                    <p:anim calcmode="lin" valueType="num">
                                      <p:cBhvr>
                                        <p:cTn id="140" dur="800" fill="hold" decel="100000"/>
                                        <p:tgtEl>
                                          <p:spTgt spid="42"/>
                                        </p:tgtEl>
                                        <p:attrNameLst>
                                          <p:attrName>ppt_y</p:attrName>
                                        </p:attrNameLst>
                                      </p:cBhvr>
                                      <p:tavLst>
                                        <p:tav tm="0">
                                          <p:val>
                                            <p:strVal val="#ppt_y+0.0250"/>
                                          </p:val>
                                        </p:tav>
                                        <p:tav tm="100000">
                                          <p:val>
                                            <p:strVal val="#ppt_y"/>
                                          </p:val>
                                        </p:tav>
                                      </p:tavLst>
                                    </p:anim>
                                  </p:childTnLst>
                                </p:cTn>
                              </p:par>
                              <p:par>
                                <p:cTn id="144" presetID="10" presetClass="entr" presetSubtype="0" fill="hold" grpId="0" nodeType="withEffect">
                                  <p:stCondLst>
                                    <p:cond delay="229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3" dur="700" decel="100000"/>
                                        <p:tgtEl>
                                          <p:spTgt spid="43"/>
                                        </p:tgtEl>
                                      </p:cBhvr>
                                    </p:animEffect>
                                  </p:childTnLst>
                                </p:cTn>
                              </p:par>
                              <p:par>
                                <p:cTn id="149" presetID="42" presetClass="entr" presetSubtype="0" fill="hold" grpId="0" nodeType="withEffect">
                                  <p:stCondLst>
                                    <p:cond delay="2360"/>
                                  </p:stCondLst>
                                  <p:childTnLst>
                                    <p:set>
                                      <p:cBhvr>
                                        <p:cTn id="145" dur="1" fill="hold">
                                          <p:stCondLst>
                                            <p:cond delay="0"/>
                                          </p:stCondLst>
                                        </p:cTn>
                                        <p:tgtEl>
                                          <p:spTgt spid="44"/>
                                        </p:tgtEl>
                                        <p:attrNameLst>
                                          <p:attrName>style.visibility</p:attrName>
                                        </p:attrNameLst>
                                      </p:cBhvr>
                                      <p:to>
                                        <p:strVal val="visible"/>
                                      </p:to>
                                    </p:set>
                                    <p:animEffect transition="in" filter="fade">
                                      <p:cBhvr>
                                        <p:cTn id="146" dur="640" decel="100000"/>
                                        <p:tgtEl>
                                          <p:spTgt spid="44"/>
                                        </p:tgtEl>
                                      </p:cBhvr>
                                    </p:animEffect>
                                    <p:anim calcmode="lin" valueType="num">
                                      <p:cBhvr>
                                        <p:cTn id="147" dur="800" fill="hold" decel="100000"/>
                                        <p:tgtEl>
                                          <p:spTgt spid="44"/>
                                        </p:tgtEl>
                                        <p:attrNameLst>
                                          <p:attrName>ppt_x</p:attrName>
                                        </p:attrNameLst>
                                      </p:cBhvr>
                                      <p:tavLst>
                                        <p:tav tm="0">
                                          <p:val>
                                            <p:strVal val="#ppt_x"/>
                                          </p:val>
                                        </p:tav>
                                        <p:tav tm="100000">
                                          <p:val>
                                            <p:strVal val="#ppt_x"/>
                                          </p:val>
                                        </p:tav>
                                      </p:tavLst>
                                    </p:anim>
                                    <p:anim calcmode="lin" valueType="num">
                                      <p:cBhvr>
                                        <p:cTn id="148" dur="800" fill="hold" decel="100000"/>
                                        <p:tgtEl>
                                          <p:spTgt spid="44"/>
                                        </p:tgtEl>
                                        <p:attrNameLst>
                                          <p:attrName>ppt_y</p:attrName>
                                        </p:attrNameLst>
                                      </p:cBhvr>
                                      <p:tavLst>
                                        <p:tav tm="0">
                                          <p:val>
                                            <p:strVal val="#ppt_y+0.0250"/>
                                          </p:val>
                                        </p:tav>
                                        <p:tav tm="100000">
                                          <p:val>
                                            <p:strVal val="#ppt_y"/>
                                          </p:val>
                                        </p:tav>
                                      </p:tavLst>
                                    </p:anim>
                                  </p:childTnLst>
                                </p:cTn>
                              </p:par>
                              <p:par>
                                <p:cTn id="152" presetID="10" presetClass="entr" presetSubtype="0" fill="hold" grpId="0" nodeType="withEffect">
                                  <p:stCondLst>
                                    <p:cond delay="251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51" dur="700" decel="1000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1" grpId="0" animBg="1"/>
      <p:bldP spid="13" grpId="0" animBg="1"/>
      <p:bldP spid="15" grpId="0" animBg="1"/>
      <p:bldP spid="17" grpId="0" animBg="1"/>
      <p:bldP spid="19" grpId="0" animBg="1"/>
      <p:bldP spid="21" grpId="0" animBg="1"/>
      <p:bldP spid="23" grpId="0" animBg="1"/>
      <p:bldP spid="25" grpId="0" animBg="1"/>
      <p:bldP spid="8" grpId="0" animBg="1"/>
      <p:bldP spid="27" grpId="0" animBg="1"/>
      <p:bldP spid="29" grpId="0" animBg="1"/>
      <p:bldP spid="12" grpId="0" animBg="1"/>
      <p:bldP spid="31" grpId="0" animBg="1"/>
      <p:bldP spid="33" grpId="0" animBg="1"/>
      <p:bldP spid="36" grpId="0" animBg="1"/>
      <p:bldP spid="16" grpId="0" animBg="1"/>
      <p:bldP spid="37" grpId="0" animBg="1"/>
      <p:bldP spid="20" grpId="0" animBg="1"/>
      <p:bldP spid="35" grpId="0" animBg="1"/>
      <p:bldP spid="10" grpId="0" animBg="1"/>
      <p:bldP spid="24" grpId="0" animBg="1"/>
      <p:bldP spid="14" grpId="0" animBg="1"/>
      <p:bldP spid="18" grpId="0" animBg="1"/>
      <p:bldP spid="28" grpId="0" animBg="1"/>
      <p:bldP spid="38" grpId="0" animBg="1"/>
      <p:bldP spid="22" grpId="0" animBg="1"/>
      <p:bldP spid="26" grpId="0" animBg="1"/>
      <p:bldP spid="32" grpId="0" animBg="1"/>
      <p:bldP spid="30" grpId="0" animBg="1"/>
      <p:bldP spid="39" grpId="0" animBg="1"/>
      <p:bldP spid="34" grpId="0" animBg="1"/>
      <p:bldP spid="40" grpId="0" animBg="1"/>
      <p:bldP spid="41" grpId="0" animBg="1"/>
      <p:bldP spid="42" grpId="0" animBg="1"/>
      <p:bldP spid="43" grpId="0" animBg="1"/>
      <p:bldP spid="44" grpId="0" animBg="1"/>
      <p:bldP spid="45" grpId="0" animBg="1"/>
    </p:bldLst>
  </p:timing>
</p:sld>
</file>

<file path=ppt/slides/slide31.xml><?xml version="1.0" encoding="utf-8"?>
<p:sld xmlns:p14="http://schemas.microsoft.com/office/powerpoint/2010/main"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orbA" descr="Decorative background light">    </p:cNvPr>
          <p:cNvPicPr>
            <a:picLocks noChangeAspect="1"/>
          </p:cNvPicPr>
          <p:nvPr/>
        </p:nvPicPr>
        <p:blipFill>
          <a:blip r:embed="rId1"/>
          <a:stretch>
            <a:fillRect/>
          </a:stretch>
        </p:blipFill>
        <p:spPr>
          <a:xfrm>
            <a:off x="1005840" y="2194560"/>
            <a:ext cx="10058400" cy="10058400"/>
          </a:xfrm>
          <a:prstGeom prst="rect">
            <a:avLst/>
          </a:prstGeom>
        </p:spPr>
      </p:pic>
      <p:pic>
        <p:nvPicPr>
          <p:cNvPr id="3" name="!!orbB" descr="Decorative background light">    </p:cNvPr>
          <p:cNvPicPr>
            <a:picLocks noChangeAspect="1"/>
          </p:cNvPicPr>
          <p:nvPr/>
        </p:nvPicPr>
        <p:blipFill>
          <a:blip r:embed="rId2"/>
          <a:stretch>
            <a:fillRect/>
          </a:stretch>
        </p:blipFill>
        <p:spPr>
          <a:xfrm>
            <a:off x="-1828800" y="-2286000"/>
            <a:ext cx="5486400" cy="5486400"/>
          </a:xfrm>
          <a:prstGeom prst="rect">
            <a:avLst/>
          </a:prstGeom>
        </p:spPr>
      </p:pic>
      <p:sp>
        <p:nvSpPr>
          <p:cNvPr id="4" name="!!kicker"/>
          <p:cNvSpPr/>
          <p:nvPr>
            <p:ph idx="100" type="body" hasCustomPrompt="1"/>
          </p:nvPr>
        </p:nvSpPr>
        <p:spPr>
          <a:xfrm>
            <a:off x="548640" y="384048"/>
            <a:ext cx="8732520" cy="329184"/>
          </a:xfrm>
          <a:prstGeom prst="rect">
            <a:avLst/>
          </a:prstGeom>
          <a:noFill/>
          <a:ln/>
        </p:spPr>
        <p:txBody>
          <a:bodyPr wrap="square" lIns="0" tIns="0" rIns="0" bIns="0" rtlCol="0" anchor="t"/>
          <a:lstStyle/>
          <a:p>
            <a:pPr algn="l" indent="0" marL="0">
              <a:buNone/>
            </a:pPr>
            <a:r>
              <a:rPr lang="en-US" sz="1500" b="1" spc="300" kern="0" dirty="0">
                <a:solidFill>
                  <a:schemeClr val="accent1"/>
                </a:solidFill>
              </a:rPr>
              <a:t>05 — CONCLUSION &amp; SOURCES</a:t>
            </a:r>
            <a:endParaRPr lang="en-US" sz="1500" dirty="0"/>
          </a:p>
        </p:txBody>
      </p:sp>
      <p:sp>
        <p:nvSpPr>
          <p:cNvPr id="5" name="!!title"/>
          <p:cNvSpPr/>
          <p:nvPr>
            <p:ph idx="101" type="title" hasCustomPrompt="1"/>
          </p:nvPr>
        </p:nvSpPr>
        <p:spPr>
          <a:xfrm>
            <a:off x="548640" y="731520"/>
            <a:ext cx="8732520" cy="786384"/>
          </a:xfrm>
          <a:prstGeom prst="rect">
            <a:avLst/>
          </a:prstGeom>
          <a:noFill/>
          <a:ln/>
        </p:spPr>
        <p:txBody>
          <a:bodyPr wrap="square" lIns="0" tIns="0" rIns="0" bIns="0" rtlCol="0" anchor="t"/>
          <a:lstStyle/>
          <a:p>
            <a:pPr algn="l" indent="0" marL="0">
              <a:buNone/>
            </a:pPr>
            <a:r>
              <a:rPr lang="en-US" sz="3800" b="1" dirty="0">
                <a:solidFill>
                  <a:schemeClr val="tx1"/>
                </a:solidFill>
              </a:rPr>
              <a:t>What the numbers say</a:t>
            </a:r>
            <a:endParaRPr lang="en-US" sz="3800" dirty="0"/>
          </a:p>
        </p:txBody>
      </p:sp>
      <p:sp>
        <p:nvSpPr>
          <p:cNvPr id="6" name="takeaways_s_1"/>
          <p:cNvSpPr/>
          <p:nvPr/>
        </p:nvSpPr>
        <p:spPr>
          <a:xfrm>
            <a:off x="548640" y="1783080"/>
            <a:ext cx="5410048" cy="1783080"/>
          </a:xfrm>
          <a:prstGeom prst="roundRect">
            <a:avLst>
              <a:gd name="adj" fmla="val 7179"/>
            </a:avLst>
          </a:prstGeom>
          <a:solidFill>
            <a:srgbClr val="1C1C1E"/>
          </a:solidFill>
          <a:ln w="9525">
            <a:solidFill>
              <a:srgbClr val="FFFFFF">
                <a:alpha val="10000"/>
              </a:srgbClr>
            </a:solidFill>
            <a:prstDash val="solid"/>
          </a:ln>
        </p:spPr>
      </p:sp>
      <p:sp>
        <p:nvSpPr>
          <p:cNvPr id="7" name="takeaways_s_2"/>
          <p:cNvSpPr/>
          <p:nvPr/>
        </p:nvSpPr>
        <p:spPr>
          <a:xfrm>
            <a:off x="868680" y="2212848"/>
            <a:ext cx="868680" cy="868680"/>
          </a:xfrm>
          <a:prstGeom prst="ellipse">
            <a:avLst/>
          </a:prstGeom>
          <a:solidFill>
            <a:srgbClr val="2C2C2E"/>
          </a:solidFill>
          <a:ln/>
        </p:spPr>
      </p:sp>
      <p:pic>
        <p:nvPicPr>
          <p:cNvPr id="8" name="takeaways_i_3" descr="Decorative graphic">    </p:cNvPr>
          <p:cNvPicPr>
            <a:picLocks noChangeAspect="1"/>
          </p:cNvPicPr>
          <p:nvPr/>
        </p:nvPicPr>
        <p:blipFill>
          <a:blip r:embed="rId3"/>
          <a:stretch>
            <a:fillRect/>
          </a:stretch>
        </p:blipFill>
        <p:spPr>
          <a:xfrm>
            <a:off x="1088136" y="2432304"/>
            <a:ext cx="429768" cy="429768"/>
          </a:xfrm>
          <a:prstGeom prst="rect">
            <a:avLst/>
          </a:prstGeom>
        </p:spPr>
      </p:pic>
      <p:sp>
        <p:nvSpPr>
          <p:cNvPr id="9" name="takeaways_t_4"/>
          <p:cNvSpPr txBox="1"/>
          <p:nvPr/>
        </p:nvSpPr>
        <p:spPr>
          <a:xfrm>
            <a:off x="2011680" y="2075688"/>
            <a:ext cx="3672688" cy="457200"/>
          </a:xfrm>
          <a:prstGeom prst="rect">
            <a:avLst/>
          </a:prstGeom>
          <a:noFill/>
          <a:ln/>
        </p:spPr>
        <p:txBody>
          <a:bodyPr wrap="square" lIns="0" tIns="0" rIns="0" bIns="0" rtlCol="0" anchor="t"/>
          <a:lstStyle/>
          <a:p>
            <a:pPr indent="0" marL="0">
              <a:buNone/>
            </a:pPr>
            <a:r>
              <a:rPr lang="en-US" sz="2300" b="1" dirty="0">
                <a:solidFill>
                  <a:schemeClr val="tx1"/>
                </a:solidFill>
                <a:latin typeface="Arial" pitchFamily="34" charset="0"/>
                <a:ea typeface="Arial" pitchFamily="34" charset="-122"/>
                <a:cs typeface="Arial" pitchFamily="34" charset="-120"/>
              </a:rPr>
              <a:t>Vast, low-cost oil</a:t>
            </a:r>
            <a:endParaRPr lang="en-US" sz="2300" dirty="0"/>
          </a:p>
        </p:txBody>
      </p:sp>
      <p:sp>
        <p:nvSpPr>
          <p:cNvPr id="10" name="takeaways_t_5"/>
          <p:cNvSpPr txBox="1"/>
          <p:nvPr/>
        </p:nvSpPr>
        <p:spPr>
          <a:xfrm>
            <a:off x="2011680" y="2560320"/>
            <a:ext cx="3672688" cy="777240"/>
          </a:xfrm>
          <a:prstGeom prst="rect">
            <a:avLst/>
          </a:prstGeom>
          <a:noFill/>
          <a:ln/>
        </p:spPr>
        <p:txBody>
          <a:bodyPr wrap="square" lIns="0" tIns="0" rIns="0" bIns="0" rtlCol="0" anchor="t"/>
          <a:lstStyle/>
          <a:p>
            <a:pPr indent="0" marL="0">
              <a:buNone/>
            </a:pPr>
            <a:r>
              <a:rPr lang="en-US" sz="1600" dirty="0">
                <a:solidFill>
                  <a:schemeClr val="tx2"/>
                </a:solidFill>
                <a:latin typeface="Arial" pitchFamily="34" charset="0"/>
                <a:ea typeface="Arial" pitchFamily="34" charset="-122"/>
                <a:cs typeface="Arial" pitchFamily="34" charset="-120"/>
              </a:rPr>
              <a:t>101.5 billion barrels (6.5% of the world) at one of the lowest costs per barrel</a:t>
            </a:r>
            <a:endParaRPr lang="en-US" sz="1600" dirty="0"/>
          </a:p>
        </p:txBody>
      </p:sp>
      <p:sp>
        <p:nvSpPr>
          <p:cNvPr id="11" name="takeaways_s_6"/>
          <p:cNvSpPr/>
          <p:nvPr/>
        </p:nvSpPr>
        <p:spPr>
          <a:xfrm>
            <a:off x="6233008" y="1783080"/>
            <a:ext cx="5410048" cy="1783080"/>
          </a:xfrm>
          <a:prstGeom prst="roundRect">
            <a:avLst>
              <a:gd name="adj" fmla="val 7179"/>
            </a:avLst>
          </a:prstGeom>
          <a:solidFill>
            <a:srgbClr val="1C1C1E"/>
          </a:solidFill>
          <a:ln w="9525">
            <a:solidFill>
              <a:srgbClr val="FFFFFF">
                <a:alpha val="10000"/>
              </a:srgbClr>
            </a:solidFill>
            <a:prstDash val="solid"/>
          </a:ln>
        </p:spPr>
      </p:sp>
      <p:sp>
        <p:nvSpPr>
          <p:cNvPr id="12" name="takeaways_s_7"/>
          <p:cNvSpPr/>
          <p:nvPr/>
        </p:nvSpPr>
        <p:spPr>
          <a:xfrm>
            <a:off x="6553048" y="2212848"/>
            <a:ext cx="868680" cy="868680"/>
          </a:xfrm>
          <a:prstGeom prst="ellipse">
            <a:avLst/>
          </a:prstGeom>
          <a:solidFill>
            <a:srgbClr val="2C2C2E"/>
          </a:solidFill>
          <a:ln/>
        </p:spPr>
      </p:sp>
      <p:pic>
        <p:nvPicPr>
          <p:cNvPr id="13" name="takeaways_i_8" descr="Decorative graphic">    </p:cNvPr>
          <p:cNvPicPr>
            <a:picLocks noChangeAspect="1"/>
          </p:cNvPicPr>
          <p:nvPr/>
        </p:nvPicPr>
        <p:blipFill>
          <a:blip r:embed="rId4"/>
          <a:stretch>
            <a:fillRect/>
          </a:stretch>
        </p:blipFill>
        <p:spPr>
          <a:xfrm>
            <a:off x="6772504" y="2432304"/>
            <a:ext cx="429768" cy="429768"/>
          </a:xfrm>
          <a:prstGeom prst="rect">
            <a:avLst/>
          </a:prstGeom>
        </p:spPr>
      </p:pic>
      <p:sp>
        <p:nvSpPr>
          <p:cNvPr id="14" name="takeaways_t_9"/>
          <p:cNvSpPr txBox="1"/>
          <p:nvPr/>
        </p:nvSpPr>
        <p:spPr>
          <a:xfrm>
            <a:off x="7696048" y="2075688"/>
            <a:ext cx="3672688" cy="457200"/>
          </a:xfrm>
          <a:prstGeom prst="rect">
            <a:avLst/>
          </a:prstGeom>
          <a:noFill/>
          <a:ln/>
        </p:spPr>
        <p:txBody>
          <a:bodyPr wrap="square" lIns="0" tIns="0" rIns="0" bIns="0" rtlCol="0" anchor="t"/>
          <a:lstStyle/>
          <a:p>
            <a:pPr indent="0" marL="0">
              <a:buNone/>
            </a:pPr>
            <a:r>
              <a:rPr lang="en-US" sz="2300" b="1" dirty="0">
                <a:solidFill>
                  <a:schemeClr val="tx1"/>
                </a:solidFill>
                <a:latin typeface="Arial" pitchFamily="34" charset="0"/>
                <a:ea typeface="Arial" pitchFamily="34" charset="-122"/>
                <a:cs typeface="Arial" pitchFamily="34" charset="-120"/>
              </a:rPr>
              <a:t>A growing gas gap</a:t>
            </a:r>
            <a:endParaRPr lang="en-US" sz="2300" dirty="0"/>
          </a:p>
        </p:txBody>
      </p:sp>
      <p:sp>
        <p:nvSpPr>
          <p:cNvPr id="15" name="takeaways_t_10"/>
          <p:cNvSpPr txBox="1"/>
          <p:nvPr/>
        </p:nvSpPr>
        <p:spPr>
          <a:xfrm>
            <a:off x="7696048" y="2560320"/>
            <a:ext cx="3672688" cy="777240"/>
          </a:xfrm>
          <a:prstGeom prst="rect">
            <a:avLst/>
          </a:prstGeom>
          <a:noFill/>
          <a:ln/>
        </p:spPr>
        <p:txBody>
          <a:bodyPr wrap="square" lIns="0" tIns="0" rIns="0" bIns="0" rtlCol="0" anchor="t"/>
          <a:lstStyle/>
          <a:p>
            <a:pPr indent="0" marL="0">
              <a:buNone/>
            </a:pPr>
            <a:r>
              <a:rPr lang="en-US" sz="1600" dirty="0">
                <a:solidFill>
                  <a:schemeClr val="tx2"/>
                </a:solidFill>
                <a:latin typeface="Arial" pitchFamily="34" charset="0"/>
                <a:ea typeface="Arial" pitchFamily="34" charset="-122"/>
                <a:cs typeface="Arial" pitchFamily="34" charset="-120"/>
              </a:rPr>
              <a:t>About 40% of the gas Kuwait uses is imported LNG, mostly from Qatar</a:t>
            </a:r>
            <a:endParaRPr lang="en-US" sz="1600" dirty="0"/>
          </a:p>
        </p:txBody>
      </p:sp>
      <p:sp>
        <p:nvSpPr>
          <p:cNvPr id="16" name="takeaways_s_11"/>
          <p:cNvSpPr/>
          <p:nvPr/>
        </p:nvSpPr>
        <p:spPr>
          <a:xfrm>
            <a:off x="548640" y="3840480"/>
            <a:ext cx="5410048" cy="1783080"/>
          </a:xfrm>
          <a:prstGeom prst="roundRect">
            <a:avLst>
              <a:gd name="adj" fmla="val 7179"/>
            </a:avLst>
          </a:prstGeom>
          <a:solidFill>
            <a:srgbClr val="1C1C1E"/>
          </a:solidFill>
          <a:ln w="9525">
            <a:solidFill>
              <a:srgbClr val="FFFFFF">
                <a:alpha val="10000"/>
              </a:srgbClr>
            </a:solidFill>
            <a:prstDash val="solid"/>
          </a:ln>
        </p:spPr>
      </p:sp>
      <p:sp>
        <p:nvSpPr>
          <p:cNvPr id="17" name="takeaways_s_12"/>
          <p:cNvSpPr/>
          <p:nvPr/>
        </p:nvSpPr>
        <p:spPr>
          <a:xfrm>
            <a:off x="868680" y="4270248"/>
            <a:ext cx="868680" cy="868680"/>
          </a:xfrm>
          <a:prstGeom prst="ellipse">
            <a:avLst/>
          </a:prstGeom>
          <a:solidFill>
            <a:srgbClr val="2C2C2E"/>
          </a:solidFill>
          <a:ln/>
        </p:spPr>
      </p:sp>
      <p:pic>
        <p:nvPicPr>
          <p:cNvPr id="18" name="takeaways_i_13" descr="Decorative graphic">    </p:cNvPr>
          <p:cNvPicPr>
            <a:picLocks noChangeAspect="1"/>
          </p:cNvPicPr>
          <p:nvPr/>
        </p:nvPicPr>
        <p:blipFill>
          <a:blip r:embed="rId5"/>
          <a:stretch>
            <a:fillRect/>
          </a:stretch>
        </p:blipFill>
        <p:spPr>
          <a:xfrm>
            <a:off x="1088136" y="4489704"/>
            <a:ext cx="429768" cy="429768"/>
          </a:xfrm>
          <a:prstGeom prst="rect">
            <a:avLst/>
          </a:prstGeom>
        </p:spPr>
      </p:pic>
      <p:sp>
        <p:nvSpPr>
          <p:cNvPr id="19" name="takeaways_t_14"/>
          <p:cNvSpPr txBox="1"/>
          <p:nvPr/>
        </p:nvSpPr>
        <p:spPr>
          <a:xfrm>
            <a:off x="2011680" y="4133088"/>
            <a:ext cx="3672688" cy="457200"/>
          </a:xfrm>
          <a:prstGeom prst="rect">
            <a:avLst/>
          </a:prstGeom>
          <a:noFill/>
          <a:ln/>
        </p:spPr>
        <p:txBody>
          <a:bodyPr wrap="square" lIns="0" tIns="0" rIns="0" bIns="0" rtlCol="0" anchor="t"/>
          <a:lstStyle/>
          <a:p>
            <a:pPr indent="0" marL="0">
              <a:buNone/>
            </a:pPr>
            <a:r>
              <a:rPr lang="en-US" sz="2300" b="1" dirty="0">
                <a:solidFill>
                  <a:schemeClr val="tx1"/>
                </a:solidFill>
                <a:latin typeface="Arial" pitchFamily="34" charset="0"/>
                <a:ea typeface="Arial" pitchFamily="34" charset="-122"/>
                <a:cs typeface="Arial" pitchFamily="34" charset="-120"/>
              </a:rPr>
              <a:t>From crude to products</a:t>
            </a:r>
            <a:endParaRPr lang="en-US" sz="2300" dirty="0"/>
          </a:p>
        </p:txBody>
      </p:sp>
      <p:sp>
        <p:nvSpPr>
          <p:cNvPr id="20" name="takeaways_t_15"/>
          <p:cNvSpPr txBox="1"/>
          <p:nvPr/>
        </p:nvSpPr>
        <p:spPr>
          <a:xfrm>
            <a:off x="2011680" y="4617720"/>
            <a:ext cx="3672688" cy="777240"/>
          </a:xfrm>
          <a:prstGeom prst="rect">
            <a:avLst/>
          </a:prstGeom>
          <a:noFill/>
          <a:ln/>
        </p:spPr>
        <p:txBody>
          <a:bodyPr wrap="square" lIns="0" tIns="0" rIns="0" bIns="0" rtlCol="0" anchor="t"/>
          <a:lstStyle/>
          <a:p>
            <a:pPr indent="0" marL="0">
              <a:buNone/>
            </a:pPr>
            <a:r>
              <a:rPr lang="en-US" sz="1600" dirty="0">
                <a:solidFill>
                  <a:schemeClr val="tx2"/>
                </a:solidFill>
                <a:latin typeface="Arial" pitchFamily="34" charset="0"/>
                <a:ea typeface="Arial" pitchFamily="34" charset="-122"/>
                <a:cs typeface="Arial" pitchFamily="34" charset="-120"/>
              </a:rPr>
              <a:t>Al-Zour and the Clean Fuels Project lifted refining to 1.4 million b/d; in 2024 product exports beat crude</a:t>
            </a:r>
            <a:endParaRPr lang="en-US" sz="1600" dirty="0"/>
          </a:p>
        </p:txBody>
      </p:sp>
      <p:sp>
        <p:nvSpPr>
          <p:cNvPr id="21" name="takeaways_s_16"/>
          <p:cNvSpPr/>
          <p:nvPr/>
        </p:nvSpPr>
        <p:spPr>
          <a:xfrm>
            <a:off x="6233008" y="3840480"/>
            <a:ext cx="5410048" cy="1783080"/>
          </a:xfrm>
          <a:prstGeom prst="roundRect">
            <a:avLst>
              <a:gd name="adj" fmla="val 7179"/>
            </a:avLst>
          </a:prstGeom>
          <a:solidFill>
            <a:srgbClr val="1C1C1E"/>
          </a:solidFill>
          <a:ln w="9525">
            <a:solidFill>
              <a:srgbClr val="FFFFFF">
                <a:alpha val="10000"/>
              </a:srgbClr>
            </a:solidFill>
            <a:prstDash val="solid"/>
          </a:ln>
        </p:spPr>
      </p:sp>
      <p:sp>
        <p:nvSpPr>
          <p:cNvPr id="22" name="takeaways_s_17"/>
          <p:cNvSpPr/>
          <p:nvPr/>
        </p:nvSpPr>
        <p:spPr>
          <a:xfrm>
            <a:off x="6553048" y="4270248"/>
            <a:ext cx="868680" cy="868680"/>
          </a:xfrm>
          <a:prstGeom prst="ellipse">
            <a:avLst/>
          </a:prstGeom>
          <a:solidFill>
            <a:srgbClr val="2C2C2E"/>
          </a:solidFill>
          <a:ln/>
        </p:spPr>
      </p:sp>
      <p:pic>
        <p:nvPicPr>
          <p:cNvPr id="23" name="takeaways_i_18" descr="Decorative graphic">    </p:cNvPr>
          <p:cNvPicPr>
            <a:picLocks noChangeAspect="1"/>
          </p:cNvPicPr>
          <p:nvPr/>
        </p:nvPicPr>
        <p:blipFill>
          <a:blip r:embed="rId6"/>
          <a:stretch>
            <a:fillRect/>
          </a:stretch>
        </p:blipFill>
        <p:spPr>
          <a:xfrm>
            <a:off x="6772504" y="4489704"/>
            <a:ext cx="429768" cy="429768"/>
          </a:xfrm>
          <a:prstGeom prst="rect">
            <a:avLst/>
          </a:prstGeom>
        </p:spPr>
      </p:pic>
      <p:sp>
        <p:nvSpPr>
          <p:cNvPr id="24" name="takeaways_t_19"/>
          <p:cNvSpPr txBox="1"/>
          <p:nvPr/>
        </p:nvSpPr>
        <p:spPr>
          <a:xfrm>
            <a:off x="7696048" y="4133088"/>
            <a:ext cx="3672688" cy="457200"/>
          </a:xfrm>
          <a:prstGeom prst="rect">
            <a:avLst/>
          </a:prstGeom>
          <a:noFill/>
          <a:ln/>
        </p:spPr>
        <p:txBody>
          <a:bodyPr wrap="square" lIns="0" tIns="0" rIns="0" bIns="0" rtlCol="0" anchor="t"/>
          <a:lstStyle/>
          <a:p>
            <a:pPr indent="0" marL="0">
              <a:buNone/>
            </a:pPr>
            <a:r>
              <a:rPr lang="en-US" sz="2300" b="1" dirty="0">
                <a:solidFill>
                  <a:schemeClr val="tx1"/>
                </a:solidFill>
                <a:latin typeface="Arial" pitchFamily="34" charset="0"/>
                <a:ea typeface="Arial" pitchFamily="34" charset="-122"/>
                <a:cs typeface="Arial" pitchFamily="34" charset="-120"/>
              </a:rPr>
              <a:t>Asia-bound via Hormuz</a:t>
            </a:r>
            <a:endParaRPr lang="en-US" sz="2300" dirty="0"/>
          </a:p>
        </p:txBody>
      </p:sp>
      <p:sp>
        <p:nvSpPr>
          <p:cNvPr id="25" name="takeaways_t_20"/>
          <p:cNvSpPr txBox="1"/>
          <p:nvPr/>
        </p:nvSpPr>
        <p:spPr>
          <a:xfrm>
            <a:off x="7696048" y="4617720"/>
            <a:ext cx="3672688" cy="777240"/>
          </a:xfrm>
          <a:prstGeom prst="rect">
            <a:avLst/>
          </a:prstGeom>
          <a:noFill/>
          <a:ln/>
        </p:spPr>
        <p:txBody>
          <a:bodyPr wrap="square" lIns="0" tIns="0" rIns="0" bIns="0" rtlCol="0" anchor="t"/>
          <a:lstStyle/>
          <a:p>
            <a:pPr indent="0" marL="0">
              <a:buNone/>
            </a:pPr>
            <a:r>
              <a:rPr lang="en-US" sz="1600" dirty="0">
                <a:solidFill>
                  <a:schemeClr val="tx2"/>
                </a:solidFill>
                <a:latin typeface="Arial" pitchFamily="34" charset="0"/>
                <a:ea typeface="Arial" pitchFamily="34" charset="-122"/>
                <a:cs typeface="Arial" pitchFamily="34" charset="-120"/>
              </a:rPr>
              <a:t>93% of crude goes to Asia, and every export cargo must pass Hormuz</a:t>
            </a:r>
            <a:endParaRPr lang="en-US" sz="1600" dirty="0"/>
          </a:p>
        </p:txBody>
      </p:sp>
      <p:sp>
        <p:nvSpPr>
          <p:cNvPr id="26" name="takeaways_t_21"/>
          <p:cNvSpPr txBox="1"/>
          <p:nvPr/>
        </p:nvSpPr>
        <p:spPr>
          <a:xfrm>
            <a:off x="548640" y="5788152"/>
            <a:ext cx="10058400" cy="329184"/>
          </a:xfrm>
          <a:prstGeom prst="rect">
            <a:avLst/>
          </a:prstGeom>
          <a:noFill/>
          <a:ln/>
        </p:spPr>
        <p:txBody>
          <a:bodyPr wrap="square" lIns="0" tIns="0" rIns="0" bIns="0" rtlCol="0" anchor="t"/>
          <a:lstStyle/>
          <a:p>
            <a:pPr indent="0" marL="0">
              <a:buNone/>
            </a:pPr>
            <a:r>
              <a:rPr lang="en-US" sz="1600" b="1" dirty="0">
                <a:solidFill>
                  <a:schemeClr val="accent1"/>
                </a:solidFill>
                <a:latin typeface="Arial" pitchFamily="34" charset="0"/>
                <a:ea typeface="Arial" pitchFamily="34" charset="-122"/>
                <a:cs typeface="Arial" pitchFamily="34" charset="-120"/>
              </a:rPr>
              <a:t>Next: </a:t>
            </a:r>
            <a:pPr indent="0" marL="0">
              <a:buNone/>
            </a:pPr>
            <a:r>
              <a:rPr lang="en-US" sz="1600" dirty="0">
                <a:solidFill>
                  <a:schemeClr val="tx2"/>
                </a:solidFill>
                <a:latin typeface="Arial" pitchFamily="34" charset="0"/>
                <a:ea typeface="Arial" pitchFamily="34" charset="-122"/>
                <a:cs typeface="Arial" pitchFamily="34" charset="-120"/>
              </a:rPr>
              <a:t>KPC targets 4 million b/d of crude capacity by 2035 (JPT, n.d.), plus new offshore fields and more gas.</a:t>
            </a:r>
            <a:endParaRPr lang="en-US" sz="1600" dirty="0"/>
          </a:p>
        </p:txBody>
      </p:sp>
      <p:sp>
        <p:nvSpPr>
          <p:cNvPr id="27" name="!!home_bg"/>
          <p:cNvSpPr/>
          <p:nvPr/>
        </p:nvSpPr>
        <p:spPr>
          <a:xfrm>
            <a:off x="10637215" y="6272784"/>
            <a:ext cx="384048" cy="384048"/>
          </a:xfrm>
          <a:prstGeom prst="roundRect">
            <a:avLst>
              <a:gd name="adj" fmla="val 23810"/>
            </a:avLst>
          </a:prstGeom>
          <a:solidFill>
            <a:srgbClr val="2C2C2E"/>
          </a:solidFill>
          <a:ln/>
        </p:spPr>
      </p:sp>
      <p:pic>
        <p:nvPicPr>
          <p:cNvPr id="28" name="!!home_ic" descr="Decorative graphic">    </p:cNvPr>
          <p:cNvPicPr>
            <a:picLocks noChangeAspect="1"/>
          </p:cNvPicPr>
          <p:nvPr/>
        </p:nvPicPr>
        <p:blipFill>
          <a:blip r:embed="rId7"/>
          <a:stretch>
            <a:fillRect/>
          </a:stretch>
        </p:blipFill>
        <p:spPr>
          <a:xfrm>
            <a:off x="10719511" y="6355080"/>
            <a:ext cx="219456" cy="219456"/>
          </a:xfrm>
          <a:prstGeom prst="rect">
            <a:avLst/>
          </a:prstGeom>
        </p:spPr>
      </p:pic>
      <p:sp>
        <p:nvSpPr>
          <p:cNvPr id="29" name="!!home_hit">
            <a:hlinkClick r:id="rId8" tooltip="Back to contents" action="ppaction://hlinksldjump" highlightClick="1"/>
          </p:cNvPr>
          <p:cNvSpPr/>
          <p:nvPr/>
        </p:nvSpPr>
        <p:spPr>
          <a:xfrm>
            <a:off x="10637215" y="6272784"/>
            <a:ext cx="384048" cy="384048"/>
          </a:xfrm>
          <a:prstGeom prst="roundRect">
            <a:avLst>
              <a:gd name="adj" fmla="val 23810"/>
            </a:avLst>
          </a:prstGeom>
          <a:solidFill>
            <a:srgbClr val="000000">
              <a:alpha val="0"/>
            </a:srgbClr>
          </a:solidFill>
          <a:ln/>
        </p:spPr>
      </p:sp>
      <p:sp>
        <p:nvSpPr>
          <p:cNvPr id="31" name="!!footer"/>
          <p:cNvSpPr txBox="1"/>
          <p:nvPr/>
        </p:nvSpPr>
        <p:spPr>
          <a:xfrm>
            <a:off x="548640" y="6327648"/>
            <a:ext cx="5486400" cy="292608"/>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Kuwait Oil &amp; Gas  ·  EGCH2230</a:t>
            </a:r>
            <a:endParaRPr lang="en-US" sz="1200" dirty="0"/>
          </a:p>
        </p:txBody>
      </p:sp>
      <p:sp>
        <p:nvSpPr>
          <p:cNvPr id="32" name="!!num"/>
          <p:cNvSpPr txBox="1"/>
          <p:nvPr/>
        </p:nvSpPr>
        <p:spPr>
          <a:xfrm>
            <a:off x="11094415" y="6327648"/>
            <a:ext cx="548640" cy="292608"/>
          </a:xfrm>
          <a:prstGeom prst="rect">
            <a:avLst/>
          </a:prstGeom>
          <a:noFill/>
          <a:ln/>
        </p:spPr>
        <p:txBody>
          <a:bodyPr wrap="square" lIns="0" tIns="0" rIns="0" bIns="0" rtlCol="0" anchor="ctr"/>
          <a:lstStyle/>
          <a:p>
            <a:pPr algn="r" indent="0" marL="0">
              <a:buNone/>
            </a:pPr>
            <a:r>
              <a:rPr lang="en-US" sz="1200" dirty="0">
                <a:solidFill>
                  <a:schemeClr val="tx2"/>
                </a:solidFill>
                <a:latin typeface="Arial" pitchFamily="34" charset="0"/>
                <a:ea typeface="Arial" pitchFamily="34" charset="-122"/>
                <a:cs typeface="Arial" pitchFamily="34" charset="-120"/>
              </a:rPr>
              <a:t>26</a:t>
            </a:r>
            <a:endParaRPr lang="en-US" sz="1200" dirty="0"/>
          </a:p>
        </p:txBody>
      </p:sp>
      <p:pic>
        <p:nvPicPr>
          <p:cNvPr id="33" name="!!badge" descr="University of Technology and Applied Sciences, Salalah">    </p:cNvPr>
          <p:cNvPicPr>
            <a:picLocks noChangeAspect="1"/>
          </p:cNvPicPr>
          <p:nvPr/>
        </p:nvPicPr>
        <p:blipFill>
          <a:blip r:embed="rId9"/>
          <a:stretch>
            <a:fillRect/>
          </a:stretch>
        </p:blipFill>
        <p:spPr>
          <a:xfrm>
            <a:off x="9677095" y="274320"/>
            <a:ext cx="1965960" cy="80987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0" presetClass="path" presetSubtype="0" fill="hold" grpId="0" nodeType="afterEffect" repeatCount="indefinite" autoRev="1">
                                  <p:stCondLst>
                                    <p:cond delay="0"/>
                                  </p:stCondLst>
                                  <p:childTnLst>
                                    <p:animMotion origin="layout" path="M 0 0 L 0.0350 -0.0300 E" pathEditMode="relative" ptsTypes="">
                                      <p:cBhvr>
                                        <p:cTn id="5" dur="13000" fill="hold" accel="50000" decel="50000"/>
                                        <p:tgtEl>
                                          <p:spTgt spid="2"/>
                                        </p:tgtEl>
                                        <p:attrNameLst>
                                          <p:attrName>ppt_x</p:attrName>
                                          <p:attrName>ppt_y</p:attrName>
                                        </p:attrNameLst>
                                      </p:cBhvr>
                                      <p:rCtr x="0" y="0"/>
                                    </p:animMotion>
                                  </p:childTnLst>
                                </p:cTn>
                              </p:par>
                              <p:par>
                                <p:cTn id="8" presetID="0" presetClass="path" presetSubtype="0" fill="hold" grpId="0" nodeType="withEffect" repeatCount="indefinite" autoRev="1">
                                  <p:stCondLst>
                                    <p:cond delay="0"/>
                                  </p:stCondLst>
                                  <p:childTnLst>
                                    <p:animMotion origin="layout" path="M 0 0 L -0.0300 0.0250 E" pathEditMode="relative" ptsTypes="">
                                      <p:cBhvr>
                                        <p:cTn id="7" dur="15000" fill="hold" accel="50000" decel="50000"/>
                                        <p:tgtEl>
                                          <p:spTgt spid="3"/>
                                        </p:tgtEl>
                                        <p:attrNameLst>
                                          <p:attrName>ppt_x</p:attrName>
                                          <p:attrName>ppt_y</p:attrName>
                                        </p:attrNameLst>
                                      </p:cBhvr>
                                      <p:rCtr x="0" y="0"/>
                                    </p:animMotion>
                                  </p:childTnLst>
                                </p:cTn>
                              </p:par>
                              <p:par>
                                <p:cTn id="13" presetID="53" presetClass="entr" presetSubtype="16" fill="hold" grpId="0" nodeType="withEffect">
                                  <p:stCondLst>
                                    <p:cond delay="300"/>
                                  </p:stCondLst>
                                  <p:childTnLst>
                                    <p:set>
                                      <p:cBhvr>
                                        <p:cTn id="9" dur="1" fill="hold">
                                          <p:stCondLst>
                                            <p:cond delay="0"/>
                                          </p:stCondLst>
                                        </p:cTn>
                                        <p:tgtEl>
                                          <p:spTgt spid="6"/>
                                        </p:tgtEl>
                                        <p:attrNameLst>
                                          <p:attrName>style.visibility</p:attrName>
                                        </p:attrNameLst>
                                      </p:cBhvr>
                                      <p:to>
                                        <p:strVal val="visible"/>
                                      </p:to>
                                    </p:set>
                                    <p:anim calcmode="lin" valueType="num">
                                      <p:cBhvr>
                                        <p:cTn id="10" dur="900" fill="hold" decel="100000"/>
                                        <p:tgtEl>
                                          <p:spTgt spid="6"/>
                                        </p:tgtEl>
                                        <p:attrNameLst>
                                          <p:attrName>ppt_w</p:attrName>
                                        </p:attrNameLst>
                                      </p:cBhvr>
                                      <p:tavLst>
                                        <p:tav tm="0">
                                          <p:val>
                                            <p:strVal val="#ppt_w*0.960"/>
                                          </p:val>
                                        </p:tav>
                                        <p:tav tm="100000">
                                          <p:val>
                                            <p:strVal val="#ppt_w"/>
                                          </p:val>
                                        </p:tav>
                                      </p:tavLst>
                                    </p:anim>
                                    <p:anim calcmode="lin" valueType="num">
                                      <p:cBhvr>
                                        <p:cTn id="11" dur="900" fill="hold" decel="100000"/>
                                        <p:tgtEl>
                                          <p:spTgt spid="6"/>
                                        </p:tgtEl>
                                        <p:attrNameLst>
                                          <p:attrName>ppt_h</p:attrName>
                                        </p:attrNameLst>
                                      </p:cBhvr>
                                      <p:tavLst>
                                        <p:tav tm="0">
                                          <p:val>
                                            <p:strVal val="#ppt_h*0.960"/>
                                          </p:val>
                                        </p:tav>
                                        <p:tav tm="100000">
                                          <p:val>
                                            <p:strVal val="#ppt_h"/>
                                          </p:val>
                                        </p:tav>
                                      </p:tavLst>
                                    </p:anim>
                                    <p:animEffect transition="in" filter="fade">
                                      <p:cBhvr>
                                        <p:cTn id="12" dur="630" decel="100000"/>
                                        <p:tgtEl>
                                          <p:spTgt spid="6"/>
                                        </p:tgtEl>
                                      </p:cBhvr>
                                    </p:animEffect>
                                  </p:childTnLst>
                                </p:cTn>
                              </p:par>
                              <p:par>
                                <p:cTn id="18" presetID="53" presetClass="entr" presetSubtype="16" fill="hold" grpId="0" nodeType="withEffect">
                                  <p:stCondLst>
                                    <p:cond delay="380"/>
                                  </p:stCondLst>
                                  <p:childTnLst>
                                    <p:set>
                                      <p:cBhvr>
                                        <p:cTn id="14" dur="1" fill="hold">
                                          <p:stCondLst>
                                            <p:cond delay="0"/>
                                          </p:stCondLst>
                                        </p:cTn>
                                        <p:tgtEl>
                                          <p:spTgt spid="7"/>
                                        </p:tgtEl>
                                        <p:attrNameLst>
                                          <p:attrName>style.visibility</p:attrName>
                                        </p:attrNameLst>
                                      </p:cBhvr>
                                      <p:to>
                                        <p:strVal val="visible"/>
                                      </p:to>
                                    </p:set>
                                    <p:anim calcmode="lin" valueType="num">
                                      <p:cBhvr>
                                        <p:cTn id="15" dur="800" fill="hold" decel="100000"/>
                                        <p:tgtEl>
                                          <p:spTgt spid="7"/>
                                        </p:tgtEl>
                                        <p:attrNameLst>
                                          <p:attrName>ppt_w</p:attrName>
                                        </p:attrNameLst>
                                      </p:cBhvr>
                                      <p:tavLst>
                                        <p:tav tm="0">
                                          <p:val>
                                            <p:strVal val="#ppt_w*0.800"/>
                                          </p:val>
                                        </p:tav>
                                        <p:tav tm="100000">
                                          <p:val>
                                            <p:strVal val="#ppt_w"/>
                                          </p:val>
                                        </p:tav>
                                      </p:tavLst>
                                    </p:anim>
                                    <p:anim calcmode="lin" valueType="num">
                                      <p:cBhvr>
                                        <p:cTn id="16" dur="800" fill="hold" decel="100000"/>
                                        <p:tgtEl>
                                          <p:spTgt spid="7"/>
                                        </p:tgtEl>
                                        <p:attrNameLst>
                                          <p:attrName>ppt_h</p:attrName>
                                        </p:attrNameLst>
                                      </p:cBhvr>
                                      <p:tavLst>
                                        <p:tav tm="0">
                                          <p:val>
                                            <p:strVal val="#ppt_h*0.800"/>
                                          </p:val>
                                        </p:tav>
                                        <p:tav tm="100000">
                                          <p:val>
                                            <p:strVal val="#ppt_h"/>
                                          </p:val>
                                        </p:tav>
                                      </p:tavLst>
                                    </p:anim>
                                    <p:animEffect transition="in" filter="fade">
                                      <p:cBhvr>
                                        <p:cTn id="17" dur="560" decel="100000"/>
                                        <p:tgtEl>
                                          <p:spTgt spid="7"/>
                                        </p:tgtEl>
                                      </p:cBhvr>
                                    </p:animEffect>
                                  </p:childTnLst>
                                </p:cTn>
                              </p:par>
                              <p:par>
                                <p:cTn id="23" presetID="53" presetClass="entr" presetSubtype="16" fill="hold" grpId="0" nodeType="withEffect">
                                  <p:stCondLst>
                                    <p:cond delay="380"/>
                                  </p:stCondLst>
                                  <p:childTnLst>
                                    <p:set>
                                      <p:cBhvr>
                                        <p:cTn id="19" dur="1" fill="hold">
                                          <p:stCondLst>
                                            <p:cond delay="0"/>
                                          </p:stCondLst>
                                        </p:cTn>
                                        <p:tgtEl>
                                          <p:spTgt spid="8"/>
                                        </p:tgtEl>
                                        <p:attrNameLst>
                                          <p:attrName>style.visibility</p:attrName>
                                        </p:attrNameLst>
                                      </p:cBhvr>
                                      <p:to>
                                        <p:strVal val="visible"/>
                                      </p:to>
                                    </p:set>
                                    <p:anim calcmode="lin" valueType="num">
                                      <p:cBhvr>
                                        <p:cTn id="20" dur="800" fill="hold" decel="100000"/>
                                        <p:tgtEl>
                                          <p:spTgt spid="8"/>
                                        </p:tgtEl>
                                        <p:attrNameLst>
                                          <p:attrName>ppt_w</p:attrName>
                                        </p:attrNameLst>
                                      </p:cBhvr>
                                      <p:tavLst>
                                        <p:tav tm="0">
                                          <p:val>
                                            <p:strVal val="#ppt_w*0.800"/>
                                          </p:val>
                                        </p:tav>
                                        <p:tav tm="100000">
                                          <p:val>
                                            <p:strVal val="#ppt_w"/>
                                          </p:val>
                                        </p:tav>
                                      </p:tavLst>
                                    </p:anim>
                                    <p:anim calcmode="lin" valueType="num">
                                      <p:cBhvr>
                                        <p:cTn id="21" dur="800" fill="hold" decel="100000"/>
                                        <p:tgtEl>
                                          <p:spTgt spid="8"/>
                                        </p:tgtEl>
                                        <p:attrNameLst>
                                          <p:attrName>ppt_h</p:attrName>
                                        </p:attrNameLst>
                                      </p:cBhvr>
                                      <p:tavLst>
                                        <p:tav tm="0">
                                          <p:val>
                                            <p:strVal val="#ppt_h*0.800"/>
                                          </p:val>
                                        </p:tav>
                                        <p:tav tm="100000">
                                          <p:val>
                                            <p:strVal val="#ppt_h"/>
                                          </p:val>
                                        </p:tav>
                                      </p:tavLst>
                                    </p:anim>
                                    <p:animEffect transition="in" filter="fade">
                                      <p:cBhvr>
                                        <p:cTn id="22" dur="560" decel="100000"/>
                                        <p:tgtEl>
                                          <p:spTgt spid="8"/>
                                        </p:tgtEl>
                                      </p:cBhvr>
                                    </p:animEffect>
                                  </p:childTnLst>
                                </p:cTn>
                              </p:par>
                              <p:par>
                                <p:cTn id="28" presetID="42" presetClass="entr" presetSubtype="0" fill="hold" grpId="0" nodeType="withEffect">
                                  <p:stCondLst>
                                    <p:cond delay="45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640" decel="100000"/>
                                        <p:tgtEl>
                                          <p:spTgt spid="9"/>
                                        </p:tgtEl>
                                      </p:cBhvr>
                                    </p:animEffect>
                                    <p:anim calcmode="lin" valueType="num">
                                      <p:cBhvr>
                                        <p:cTn id="26" dur="800" fill="hold" decel="100000"/>
                                        <p:tgtEl>
                                          <p:spTgt spid="9"/>
                                        </p:tgtEl>
                                        <p:attrNameLst>
                                          <p:attrName>ppt_x</p:attrName>
                                        </p:attrNameLst>
                                      </p:cBhvr>
                                      <p:tavLst>
                                        <p:tav tm="0">
                                          <p:val>
                                            <p:strVal val="#ppt_x"/>
                                          </p:val>
                                        </p:tav>
                                        <p:tav tm="100000">
                                          <p:val>
                                            <p:strVal val="#ppt_x"/>
                                          </p:val>
                                        </p:tav>
                                      </p:tavLst>
                                    </p:anim>
                                    <p:anim calcmode="lin" valueType="num">
                                      <p:cBhvr>
                                        <p:cTn id="27" dur="800" fill="hold" decel="100000"/>
                                        <p:tgtEl>
                                          <p:spTgt spid="9"/>
                                        </p:tgtEl>
                                        <p:attrNameLst>
                                          <p:attrName>ppt_y</p:attrName>
                                        </p:attrNameLst>
                                      </p:cBhvr>
                                      <p:tavLst>
                                        <p:tav tm="0">
                                          <p:val>
                                            <p:strVal val="#ppt_y+0.0250"/>
                                          </p:val>
                                        </p:tav>
                                        <p:tav tm="100000">
                                          <p:val>
                                            <p:strVal val="#ppt_y"/>
                                          </p:val>
                                        </p:tav>
                                      </p:tavLst>
                                    </p:anim>
                                  </p:childTnLst>
                                </p:cTn>
                              </p:par>
                              <p:par>
                                <p:cTn id="33" presetID="53" presetClass="entr" presetSubtype="16" fill="hold" grpId="0" nodeType="withEffect">
                                  <p:stCondLst>
                                    <p:cond delay="480"/>
                                  </p:stCondLst>
                                  <p:childTnLst>
                                    <p:set>
                                      <p:cBhvr>
                                        <p:cTn id="29" dur="1" fill="hold">
                                          <p:stCondLst>
                                            <p:cond delay="0"/>
                                          </p:stCondLst>
                                        </p:cTn>
                                        <p:tgtEl>
                                          <p:spTgt spid="11"/>
                                        </p:tgtEl>
                                        <p:attrNameLst>
                                          <p:attrName>style.visibility</p:attrName>
                                        </p:attrNameLst>
                                      </p:cBhvr>
                                      <p:to>
                                        <p:strVal val="visible"/>
                                      </p:to>
                                    </p:set>
                                    <p:anim calcmode="lin" valueType="num">
                                      <p:cBhvr>
                                        <p:cTn id="30" dur="900" fill="hold" decel="100000"/>
                                        <p:tgtEl>
                                          <p:spTgt spid="11"/>
                                        </p:tgtEl>
                                        <p:attrNameLst>
                                          <p:attrName>ppt_w</p:attrName>
                                        </p:attrNameLst>
                                      </p:cBhvr>
                                      <p:tavLst>
                                        <p:tav tm="0">
                                          <p:val>
                                            <p:strVal val="#ppt_w*0.960"/>
                                          </p:val>
                                        </p:tav>
                                        <p:tav tm="100000">
                                          <p:val>
                                            <p:strVal val="#ppt_w"/>
                                          </p:val>
                                        </p:tav>
                                      </p:tavLst>
                                    </p:anim>
                                    <p:anim calcmode="lin" valueType="num">
                                      <p:cBhvr>
                                        <p:cTn id="31" dur="900" fill="hold" decel="100000"/>
                                        <p:tgtEl>
                                          <p:spTgt spid="11"/>
                                        </p:tgtEl>
                                        <p:attrNameLst>
                                          <p:attrName>ppt_h</p:attrName>
                                        </p:attrNameLst>
                                      </p:cBhvr>
                                      <p:tavLst>
                                        <p:tav tm="0">
                                          <p:val>
                                            <p:strVal val="#ppt_h*0.960"/>
                                          </p:val>
                                        </p:tav>
                                        <p:tav tm="100000">
                                          <p:val>
                                            <p:strVal val="#ppt_h"/>
                                          </p:val>
                                        </p:tav>
                                      </p:tavLst>
                                    </p:anim>
                                    <p:animEffect transition="in" filter="fade">
                                      <p:cBhvr>
                                        <p:cTn id="32" dur="630" decel="100000"/>
                                        <p:tgtEl>
                                          <p:spTgt spid="11"/>
                                        </p:tgtEl>
                                      </p:cBhvr>
                                    </p:animEffect>
                                  </p:childTnLst>
                                </p:cTn>
                              </p:par>
                              <p:par>
                                <p:cTn id="38" presetID="42" presetClass="entr" presetSubtype="0" fill="hold" grpId="0" nodeType="withEffect">
                                  <p:stCondLst>
                                    <p:cond delay="55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640" decel="100000"/>
                                        <p:tgtEl>
                                          <p:spTgt spid="10"/>
                                        </p:tgtEl>
                                      </p:cBhvr>
                                    </p:animEffect>
                                    <p:anim calcmode="lin" valueType="num">
                                      <p:cBhvr>
                                        <p:cTn id="36" dur="800" fill="hold" decel="100000"/>
                                        <p:tgtEl>
                                          <p:spTgt spid="10"/>
                                        </p:tgtEl>
                                        <p:attrNameLst>
                                          <p:attrName>ppt_x</p:attrName>
                                        </p:attrNameLst>
                                      </p:cBhvr>
                                      <p:tavLst>
                                        <p:tav tm="0">
                                          <p:val>
                                            <p:strVal val="#ppt_x"/>
                                          </p:val>
                                        </p:tav>
                                        <p:tav tm="100000">
                                          <p:val>
                                            <p:strVal val="#ppt_x"/>
                                          </p:val>
                                        </p:tav>
                                      </p:tavLst>
                                    </p:anim>
                                    <p:anim calcmode="lin" valueType="num">
                                      <p:cBhvr>
                                        <p:cTn id="37" dur="800" fill="hold" decel="100000"/>
                                        <p:tgtEl>
                                          <p:spTgt spid="10"/>
                                        </p:tgtEl>
                                        <p:attrNameLst>
                                          <p:attrName>ppt_y</p:attrName>
                                        </p:attrNameLst>
                                      </p:cBhvr>
                                      <p:tavLst>
                                        <p:tav tm="0">
                                          <p:val>
                                            <p:strVal val="#ppt_y+0.0250"/>
                                          </p:val>
                                        </p:tav>
                                        <p:tav tm="100000">
                                          <p:val>
                                            <p:strVal val="#ppt_y"/>
                                          </p:val>
                                        </p:tav>
                                      </p:tavLst>
                                    </p:anim>
                                  </p:childTnLst>
                                </p:cTn>
                              </p:par>
                              <p:par>
                                <p:cTn id="43" presetID="53" presetClass="entr" presetSubtype="16" fill="hold" grpId="0" nodeType="withEffect">
                                  <p:stCondLst>
                                    <p:cond delay="560"/>
                                  </p:stCondLst>
                                  <p:childTnLst>
                                    <p:set>
                                      <p:cBhvr>
                                        <p:cTn id="39" dur="1" fill="hold">
                                          <p:stCondLst>
                                            <p:cond delay="0"/>
                                          </p:stCondLst>
                                        </p:cTn>
                                        <p:tgtEl>
                                          <p:spTgt spid="12"/>
                                        </p:tgtEl>
                                        <p:attrNameLst>
                                          <p:attrName>style.visibility</p:attrName>
                                        </p:attrNameLst>
                                      </p:cBhvr>
                                      <p:to>
                                        <p:strVal val="visible"/>
                                      </p:to>
                                    </p:set>
                                    <p:anim calcmode="lin" valueType="num">
                                      <p:cBhvr>
                                        <p:cTn id="40" dur="800" fill="hold" decel="100000"/>
                                        <p:tgtEl>
                                          <p:spTgt spid="12"/>
                                        </p:tgtEl>
                                        <p:attrNameLst>
                                          <p:attrName>ppt_w</p:attrName>
                                        </p:attrNameLst>
                                      </p:cBhvr>
                                      <p:tavLst>
                                        <p:tav tm="0">
                                          <p:val>
                                            <p:strVal val="#ppt_w*0.800"/>
                                          </p:val>
                                        </p:tav>
                                        <p:tav tm="100000">
                                          <p:val>
                                            <p:strVal val="#ppt_w"/>
                                          </p:val>
                                        </p:tav>
                                      </p:tavLst>
                                    </p:anim>
                                    <p:anim calcmode="lin" valueType="num">
                                      <p:cBhvr>
                                        <p:cTn id="41" dur="800" fill="hold" decel="100000"/>
                                        <p:tgtEl>
                                          <p:spTgt spid="12"/>
                                        </p:tgtEl>
                                        <p:attrNameLst>
                                          <p:attrName>ppt_h</p:attrName>
                                        </p:attrNameLst>
                                      </p:cBhvr>
                                      <p:tavLst>
                                        <p:tav tm="0">
                                          <p:val>
                                            <p:strVal val="#ppt_h*0.800"/>
                                          </p:val>
                                        </p:tav>
                                        <p:tav tm="100000">
                                          <p:val>
                                            <p:strVal val="#ppt_h"/>
                                          </p:val>
                                        </p:tav>
                                      </p:tavLst>
                                    </p:anim>
                                    <p:animEffect transition="in" filter="fade">
                                      <p:cBhvr>
                                        <p:cTn id="42" dur="560" decel="100000"/>
                                        <p:tgtEl>
                                          <p:spTgt spid="12"/>
                                        </p:tgtEl>
                                      </p:cBhvr>
                                    </p:animEffect>
                                  </p:childTnLst>
                                </p:cTn>
                              </p:par>
                              <p:par>
                                <p:cTn id="48" presetID="53" presetClass="entr" presetSubtype="16" fill="hold" grpId="0" nodeType="withEffect">
                                  <p:stCondLst>
                                    <p:cond delay="560"/>
                                  </p:stCondLst>
                                  <p:childTnLst>
                                    <p:set>
                                      <p:cBhvr>
                                        <p:cTn id="44" dur="1" fill="hold">
                                          <p:stCondLst>
                                            <p:cond delay="0"/>
                                          </p:stCondLst>
                                        </p:cTn>
                                        <p:tgtEl>
                                          <p:spTgt spid="13"/>
                                        </p:tgtEl>
                                        <p:attrNameLst>
                                          <p:attrName>style.visibility</p:attrName>
                                        </p:attrNameLst>
                                      </p:cBhvr>
                                      <p:to>
                                        <p:strVal val="visible"/>
                                      </p:to>
                                    </p:set>
                                    <p:anim calcmode="lin" valueType="num">
                                      <p:cBhvr>
                                        <p:cTn id="45" dur="800" fill="hold" decel="100000"/>
                                        <p:tgtEl>
                                          <p:spTgt spid="13"/>
                                        </p:tgtEl>
                                        <p:attrNameLst>
                                          <p:attrName>ppt_w</p:attrName>
                                        </p:attrNameLst>
                                      </p:cBhvr>
                                      <p:tavLst>
                                        <p:tav tm="0">
                                          <p:val>
                                            <p:strVal val="#ppt_w*0.800"/>
                                          </p:val>
                                        </p:tav>
                                        <p:tav tm="100000">
                                          <p:val>
                                            <p:strVal val="#ppt_w"/>
                                          </p:val>
                                        </p:tav>
                                      </p:tavLst>
                                    </p:anim>
                                    <p:anim calcmode="lin" valueType="num">
                                      <p:cBhvr>
                                        <p:cTn id="46" dur="800" fill="hold" decel="100000"/>
                                        <p:tgtEl>
                                          <p:spTgt spid="13"/>
                                        </p:tgtEl>
                                        <p:attrNameLst>
                                          <p:attrName>ppt_h</p:attrName>
                                        </p:attrNameLst>
                                      </p:cBhvr>
                                      <p:tavLst>
                                        <p:tav tm="0">
                                          <p:val>
                                            <p:strVal val="#ppt_h*0.800"/>
                                          </p:val>
                                        </p:tav>
                                        <p:tav tm="100000">
                                          <p:val>
                                            <p:strVal val="#ppt_h"/>
                                          </p:val>
                                        </p:tav>
                                      </p:tavLst>
                                    </p:anim>
                                    <p:animEffect transition="in" filter="fade">
                                      <p:cBhvr>
                                        <p:cTn id="47" dur="560" decel="100000"/>
                                        <p:tgtEl>
                                          <p:spTgt spid="13"/>
                                        </p:tgtEl>
                                      </p:cBhvr>
                                    </p:animEffect>
                                  </p:childTnLst>
                                </p:cTn>
                              </p:par>
                              <p:par>
                                <p:cTn id="53" presetID="42" presetClass="entr" presetSubtype="0" fill="hold" grpId="0" nodeType="withEffect">
                                  <p:stCondLst>
                                    <p:cond delay="63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640" decel="100000"/>
                                        <p:tgtEl>
                                          <p:spTgt spid="14"/>
                                        </p:tgtEl>
                                      </p:cBhvr>
                                    </p:animEffect>
                                    <p:anim calcmode="lin" valueType="num">
                                      <p:cBhvr>
                                        <p:cTn id="51" dur="800" fill="hold" decel="100000"/>
                                        <p:tgtEl>
                                          <p:spTgt spid="14"/>
                                        </p:tgtEl>
                                        <p:attrNameLst>
                                          <p:attrName>ppt_x</p:attrName>
                                        </p:attrNameLst>
                                      </p:cBhvr>
                                      <p:tavLst>
                                        <p:tav tm="0">
                                          <p:val>
                                            <p:strVal val="#ppt_x"/>
                                          </p:val>
                                        </p:tav>
                                        <p:tav tm="100000">
                                          <p:val>
                                            <p:strVal val="#ppt_x"/>
                                          </p:val>
                                        </p:tav>
                                      </p:tavLst>
                                    </p:anim>
                                    <p:anim calcmode="lin" valueType="num">
                                      <p:cBhvr>
                                        <p:cTn id="52" dur="800" fill="hold" decel="100000"/>
                                        <p:tgtEl>
                                          <p:spTgt spid="14"/>
                                        </p:tgtEl>
                                        <p:attrNameLst>
                                          <p:attrName>ppt_y</p:attrName>
                                        </p:attrNameLst>
                                      </p:cBhvr>
                                      <p:tavLst>
                                        <p:tav tm="0">
                                          <p:val>
                                            <p:strVal val="#ppt_y+0.0250"/>
                                          </p:val>
                                        </p:tav>
                                        <p:tav tm="100000">
                                          <p:val>
                                            <p:strVal val="#ppt_y"/>
                                          </p:val>
                                        </p:tav>
                                      </p:tavLst>
                                    </p:anim>
                                  </p:childTnLst>
                                </p:cTn>
                              </p:par>
                              <p:par>
                                <p:cTn id="58" presetID="53" presetClass="entr" presetSubtype="16" fill="hold" grpId="0" nodeType="withEffect">
                                  <p:stCondLst>
                                    <p:cond delay="660"/>
                                  </p:stCondLst>
                                  <p:childTnLst>
                                    <p:set>
                                      <p:cBhvr>
                                        <p:cTn id="54" dur="1" fill="hold">
                                          <p:stCondLst>
                                            <p:cond delay="0"/>
                                          </p:stCondLst>
                                        </p:cTn>
                                        <p:tgtEl>
                                          <p:spTgt spid="16"/>
                                        </p:tgtEl>
                                        <p:attrNameLst>
                                          <p:attrName>style.visibility</p:attrName>
                                        </p:attrNameLst>
                                      </p:cBhvr>
                                      <p:to>
                                        <p:strVal val="visible"/>
                                      </p:to>
                                    </p:set>
                                    <p:anim calcmode="lin" valueType="num">
                                      <p:cBhvr>
                                        <p:cTn id="55" dur="900" fill="hold" decel="100000"/>
                                        <p:tgtEl>
                                          <p:spTgt spid="16"/>
                                        </p:tgtEl>
                                        <p:attrNameLst>
                                          <p:attrName>ppt_w</p:attrName>
                                        </p:attrNameLst>
                                      </p:cBhvr>
                                      <p:tavLst>
                                        <p:tav tm="0">
                                          <p:val>
                                            <p:strVal val="#ppt_w*0.960"/>
                                          </p:val>
                                        </p:tav>
                                        <p:tav tm="100000">
                                          <p:val>
                                            <p:strVal val="#ppt_w"/>
                                          </p:val>
                                        </p:tav>
                                      </p:tavLst>
                                    </p:anim>
                                    <p:anim calcmode="lin" valueType="num">
                                      <p:cBhvr>
                                        <p:cTn id="56" dur="900" fill="hold" decel="100000"/>
                                        <p:tgtEl>
                                          <p:spTgt spid="16"/>
                                        </p:tgtEl>
                                        <p:attrNameLst>
                                          <p:attrName>ppt_h</p:attrName>
                                        </p:attrNameLst>
                                      </p:cBhvr>
                                      <p:tavLst>
                                        <p:tav tm="0">
                                          <p:val>
                                            <p:strVal val="#ppt_h*0.960"/>
                                          </p:val>
                                        </p:tav>
                                        <p:tav tm="100000">
                                          <p:val>
                                            <p:strVal val="#ppt_h"/>
                                          </p:val>
                                        </p:tav>
                                      </p:tavLst>
                                    </p:anim>
                                    <p:animEffect transition="in" filter="fade">
                                      <p:cBhvr>
                                        <p:cTn id="57" dur="630" decel="100000"/>
                                        <p:tgtEl>
                                          <p:spTgt spid="16"/>
                                        </p:tgtEl>
                                      </p:cBhvr>
                                    </p:animEffect>
                                  </p:childTnLst>
                                </p:cTn>
                              </p:par>
                              <p:par>
                                <p:cTn id="63" presetID="42" presetClass="entr" presetSubtype="0" fill="hold" grpId="0" nodeType="withEffect">
                                  <p:stCondLst>
                                    <p:cond delay="73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640" decel="100000"/>
                                        <p:tgtEl>
                                          <p:spTgt spid="15"/>
                                        </p:tgtEl>
                                      </p:cBhvr>
                                    </p:animEffect>
                                    <p:anim calcmode="lin" valueType="num">
                                      <p:cBhvr>
                                        <p:cTn id="61" dur="800" fill="hold" decel="100000"/>
                                        <p:tgtEl>
                                          <p:spTgt spid="15"/>
                                        </p:tgtEl>
                                        <p:attrNameLst>
                                          <p:attrName>ppt_x</p:attrName>
                                        </p:attrNameLst>
                                      </p:cBhvr>
                                      <p:tavLst>
                                        <p:tav tm="0">
                                          <p:val>
                                            <p:strVal val="#ppt_x"/>
                                          </p:val>
                                        </p:tav>
                                        <p:tav tm="100000">
                                          <p:val>
                                            <p:strVal val="#ppt_x"/>
                                          </p:val>
                                        </p:tav>
                                      </p:tavLst>
                                    </p:anim>
                                    <p:anim calcmode="lin" valueType="num">
                                      <p:cBhvr>
                                        <p:cTn id="62" dur="800" fill="hold" decel="100000"/>
                                        <p:tgtEl>
                                          <p:spTgt spid="15"/>
                                        </p:tgtEl>
                                        <p:attrNameLst>
                                          <p:attrName>ppt_y</p:attrName>
                                        </p:attrNameLst>
                                      </p:cBhvr>
                                      <p:tavLst>
                                        <p:tav tm="0">
                                          <p:val>
                                            <p:strVal val="#ppt_y+0.0250"/>
                                          </p:val>
                                        </p:tav>
                                        <p:tav tm="100000">
                                          <p:val>
                                            <p:strVal val="#ppt_y"/>
                                          </p:val>
                                        </p:tav>
                                      </p:tavLst>
                                    </p:anim>
                                  </p:childTnLst>
                                </p:cTn>
                              </p:par>
                              <p:par>
                                <p:cTn id="68" presetID="53" presetClass="entr" presetSubtype="16" fill="hold" grpId="0" nodeType="withEffect">
                                  <p:stCondLst>
                                    <p:cond delay="740"/>
                                  </p:stCondLst>
                                  <p:childTnLst>
                                    <p:set>
                                      <p:cBhvr>
                                        <p:cTn id="64" dur="1" fill="hold">
                                          <p:stCondLst>
                                            <p:cond delay="0"/>
                                          </p:stCondLst>
                                        </p:cTn>
                                        <p:tgtEl>
                                          <p:spTgt spid="17"/>
                                        </p:tgtEl>
                                        <p:attrNameLst>
                                          <p:attrName>style.visibility</p:attrName>
                                        </p:attrNameLst>
                                      </p:cBhvr>
                                      <p:to>
                                        <p:strVal val="visible"/>
                                      </p:to>
                                    </p:set>
                                    <p:anim calcmode="lin" valueType="num">
                                      <p:cBhvr>
                                        <p:cTn id="65" dur="800" fill="hold" decel="100000"/>
                                        <p:tgtEl>
                                          <p:spTgt spid="17"/>
                                        </p:tgtEl>
                                        <p:attrNameLst>
                                          <p:attrName>ppt_w</p:attrName>
                                        </p:attrNameLst>
                                      </p:cBhvr>
                                      <p:tavLst>
                                        <p:tav tm="0">
                                          <p:val>
                                            <p:strVal val="#ppt_w*0.800"/>
                                          </p:val>
                                        </p:tav>
                                        <p:tav tm="100000">
                                          <p:val>
                                            <p:strVal val="#ppt_w"/>
                                          </p:val>
                                        </p:tav>
                                      </p:tavLst>
                                    </p:anim>
                                    <p:anim calcmode="lin" valueType="num">
                                      <p:cBhvr>
                                        <p:cTn id="66" dur="800" fill="hold" decel="100000"/>
                                        <p:tgtEl>
                                          <p:spTgt spid="17"/>
                                        </p:tgtEl>
                                        <p:attrNameLst>
                                          <p:attrName>ppt_h</p:attrName>
                                        </p:attrNameLst>
                                      </p:cBhvr>
                                      <p:tavLst>
                                        <p:tav tm="0">
                                          <p:val>
                                            <p:strVal val="#ppt_h*0.800"/>
                                          </p:val>
                                        </p:tav>
                                        <p:tav tm="100000">
                                          <p:val>
                                            <p:strVal val="#ppt_h"/>
                                          </p:val>
                                        </p:tav>
                                      </p:tavLst>
                                    </p:anim>
                                    <p:animEffect transition="in" filter="fade">
                                      <p:cBhvr>
                                        <p:cTn id="67" dur="560" decel="100000"/>
                                        <p:tgtEl>
                                          <p:spTgt spid="17"/>
                                        </p:tgtEl>
                                      </p:cBhvr>
                                    </p:animEffect>
                                  </p:childTnLst>
                                </p:cTn>
                              </p:par>
                              <p:par>
                                <p:cTn id="73" presetID="53" presetClass="entr" presetSubtype="16" fill="hold" grpId="0" nodeType="withEffect">
                                  <p:stCondLst>
                                    <p:cond delay="740"/>
                                  </p:stCondLst>
                                  <p:childTnLst>
                                    <p:set>
                                      <p:cBhvr>
                                        <p:cTn id="69" dur="1" fill="hold">
                                          <p:stCondLst>
                                            <p:cond delay="0"/>
                                          </p:stCondLst>
                                        </p:cTn>
                                        <p:tgtEl>
                                          <p:spTgt spid="18"/>
                                        </p:tgtEl>
                                        <p:attrNameLst>
                                          <p:attrName>style.visibility</p:attrName>
                                        </p:attrNameLst>
                                      </p:cBhvr>
                                      <p:to>
                                        <p:strVal val="visible"/>
                                      </p:to>
                                    </p:set>
                                    <p:anim calcmode="lin" valueType="num">
                                      <p:cBhvr>
                                        <p:cTn id="70" dur="800" fill="hold" decel="100000"/>
                                        <p:tgtEl>
                                          <p:spTgt spid="18"/>
                                        </p:tgtEl>
                                        <p:attrNameLst>
                                          <p:attrName>ppt_w</p:attrName>
                                        </p:attrNameLst>
                                      </p:cBhvr>
                                      <p:tavLst>
                                        <p:tav tm="0">
                                          <p:val>
                                            <p:strVal val="#ppt_w*0.800"/>
                                          </p:val>
                                        </p:tav>
                                        <p:tav tm="100000">
                                          <p:val>
                                            <p:strVal val="#ppt_w"/>
                                          </p:val>
                                        </p:tav>
                                      </p:tavLst>
                                    </p:anim>
                                    <p:anim calcmode="lin" valueType="num">
                                      <p:cBhvr>
                                        <p:cTn id="71" dur="800" fill="hold" decel="100000"/>
                                        <p:tgtEl>
                                          <p:spTgt spid="18"/>
                                        </p:tgtEl>
                                        <p:attrNameLst>
                                          <p:attrName>ppt_h</p:attrName>
                                        </p:attrNameLst>
                                      </p:cBhvr>
                                      <p:tavLst>
                                        <p:tav tm="0">
                                          <p:val>
                                            <p:strVal val="#ppt_h*0.800"/>
                                          </p:val>
                                        </p:tav>
                                        <p:tav tm="100000">
                                          <p:val>
                                            <p:strVal val="#ppt_h"/>
                                          </p:val>
                                        </p:tav>
                                      </p:tavLst>
                                    </p:anim>
                                    <p:animEffect transition="in" filter="fade">
                                      <p:cBhvr>
                                        <p:cTn id="72" dur="560" decel="100000"/>
                                        <p:tgtEl>
                                          <p:spTgt spid="18"/>
                                        </p:tgtEl>
                                      </p:cBhvr>
                                    </p:animEffect>
                                  </p:childTnLst>
                                </p:cTn>
                              </p:par>
                              <p:par>
                                <p:cTn id="78" presetID="42" presetClass="entr" presetSubtype="0" fill="hold" grpId="0" nodeType="withEffect">
                                  <p:stCondLst>
                                    <p:cond delay="81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640" decel="100000"/>
                                        <p:tgtEl>
                                          <p:spTgt spid="19"/>
                                        </p:tgtEl>
                                      </p:cBhvr>
                                    </p:animEffect>
                                    <p:anim calcmode="lin" valueType="num">
                                      <p:cBhvr>
                                        <p:cTn id="76" dur="800" fill="hold" decel="100000"/>
                                        <p:tgtEl>
                                          <p:spTgt spid="19"/>
                                        </p:tgtEl>
                                        <p:attrNameLst>
                                          <p:attrName>ppt_x</p:attrName>
                                        </p:attrNameLst>
                                      </p:cBhvr>
                                      <p:tavLst>
                                        <p:tav tm="0">
                                          <p:val>
                                            <p:strVal val="#ppt_x"/>
                                          </p:val>
                                        </p:tav>
                                        <p:tav tm="100000">
                                          <p:val>
                                            <p:strVal val="#ppt_x"/>
                                          </p:val>
                                        </p:tav>
                                      </p:tavLst>
                                    </p:anim>
                                    <p:anim calcmode="lin" valueType="num">
                                      <p:cBhvr>
                                        <p:cTn id="77" dur="800" fill="hold" decel="100000"/>
                                        <p:tgtEl>
                                          <p:spTgt spid="19"/>
                                        </p:tgtEl>
                                        <p:attrNameLst>
                                          <p:attrName>ppt_y</p:attrName>
                                        </p:attrNameLst>
                                      </p:cBhvr>
                                      <p:tavLst>
                                        <p:tav tm="0">
                                          <p:val>
                                            <p:strVal val="#ppt_y+0.0250"/>
                                          </p:val>
                                        </p:tav>
                                        <p:tav tm="100000">
                                          <p:val>
                                            <p:strVal val="#ppt_y"/>
                                          </p:val>
                                        </p:tav>
                                      </p:tavLst>
                                    </p:anim>
                                  </p:childTnLst>
                                </p:cTn>
                              </p:par>
                              <p:par>
                                <p:cTn id="83" presetID="53" presetClass="entr" presetSubtype="16" fill="hold" grpId="0" nodeType="withEffect">
                                  <p:stCondLst>
                                    <p:cond delay="840"/>
                                  </p:stCondLst>
                                  <p:childTnLst>
                                    <p:set>
                                      <p:cBhvr>
                                        <p:cTn id="79" dur="1" fill="hold">
                                          <p:stCondLst>
                                            <p:cond delay="0"/>
                                          </p:stCondLst>
                                        </p:cTn>
                                        <p:tgtEl>
                                          <p:spTgt spid="21"/>
                                        </p:tgtEl>
                                        <p:attrNameLst>
                                          <p:attrName>style.visibility</p:attrName>
                                        </p:attrNameLst>
                                      </p:cBhvr>
                                      <p:to>
                                        <p:strVal val="visible"/>
                                      </p:to>
                                    </p:set>
                                    <p:anim calcmode="lin" valueType="num">
                                      <p:cBhvr>
                                        <p:cTn id="80" dur="900" fill="hold" decel="100000"/>
                                        <p:tgtEl>
                                          <p:spTgt spid="21"/>
                                        </p:tgtEl>
                                        <p:attrNameLst>
                                          <p:attrName>ppt_w</p:attrName>
                                        </p:attrNameLst>
                                      </p:cBhvr>
                                      <p:tavLst>
                                        <p:tav tm="0">
                                          <p:val>
                                            <p:strVal val="#ppt_w*0.960"/>
                                          </p:val>
                                        </p:tav>
                                        <p:tav tm="100000">
                                          <p:val>
                                            <p:strVal val="#ppt_w"/>
                                          </p:val>
                                        </p:tav>
                                      </p:tavLst>
                                    </p:anim>
                                    <p:anim calcmode="lin" valueType="num">
                                      <p:cBhvr>
                                        <p:cTn id="81" dur="900" fill="hold" decel="100000"/>
                                        <p:tgtEl>
                                          <p:spTgt spid="21"/>
                                        </p:tgtEl>
                                        <p:attrNameLst>
                                          <p:attrName>ppt_h</p:attrName>
                                        </p:attrNameLst>
                                      </p:cBhvr>
                                      <p:tavLst>
                                        <p:tav tm="0">
                                          <p:val>
                                            <p:strVal val="#ppt_h*0.960"/>
                                          </p:val>
                                        </p:tav>
                                        <p:tav tm="100000">
                                          <p:val>
                                            <p:strVal val="#ppt_h"/>
                                          </p:val>
                                        </p:tav>
                                      </p:tavLst>
                                    </p:anim>
                                    <p:animEffect transition="in" filter="fade">
                                      <p:cBhvr>
                                        <p:cTn id="82" dur="630" decel="100000"/>
                                        <p:tgtEl>
                                          <p:spTgt spid="21"/>
                                        </p:tgtEl>
                                      </p:cBhvr>
                                    </p:animEffect>
                                  </p:childTnLst>
                                </p:cTn>
                              </p:par>
                              <p:par>
                                <p:cTn id="88" presetID="42" presetClass="entr" presetSubtype="0" fill="hold" grpId="0" nodeType="withEffect">
                                  <p:stCondLst>
                                    <p:cond delay="910"/>
                                  </p:stCondLst>
                                  <p:childTnLst>
                                    <p:set>
                                      <p:cBhvr>
                                        <p:cTn id="84" dur="1" fill="hold">
                                          <p:stCondLst>
                                            <p:cond delay="0"/>
                                          </p:stCondLst>
                                        </p:cTn>
                                        <p:tgtEl>
                                          <p:spTgt spid="20"/>
                                        </p:tgtEl>
                                        <p:attrNameLst>
                                          <p:attrName>style.visibility</p:attrName>
                                        </p:attrNameLst>
                                      </p:cBhvr>
                                      <p:to>
                                        <p:strVal val="visible"/>
                                      </p:to>
                                    </p:set>
                                    <p:animEffect transition="in" filter="fade">
                                      <p:cBhvr>
                                        <p:cTn id="85" dur="640" decel="100000"/>
                                        <p:tgtEl>
                                          <p:spTgt spid="20"/>
                                        </p:tgtEl>
                                      </p:cBhvr>
                                    </p:animEffect>
                                    <p:anim calcmode="lin" valueType="num">
                                      <p:cBhvr>
                                        <p:cTn id="86" dur="800" fill="hold" decel="100000"/>
                                        <p:tgtEl>
                                          <p:spTgt spid="20"/>
                                        </p:tgtEl>
                                        <p:attrNameLst>
                                          <p:attrName>ppt_x</p:attrName>
                                        </p:attrNameLst>
                                      </p:cBhvr>
                                      <p:tavLst>
                                        <p:tav tm="0">
                                          <p:val>
                                            <p:strVal val="#ppt_x"/>
                                          </p:val>
                                        </p:tav>
                                        <p:tav tm="100000">
                                          <p:val>
                                            <p:strVal val="#ppt_x"/>
                                          </p:val>
                                        </p:tav>
                                      </p:tavLst>
                                    </p:anim>
                                    <p:anim calcmode="lin" valueType="num">
                                      <p:cBhvr>
                                        <p:cTn id="87" dur="800" fill="hold" decel="100000"/>
                                        <p:tgtEl>
                                          <p:spTgt spid="20"/>
                                        </p:tgtEl>
                                        <p:attrNameLst>
                                          <p:attrName>ppt_y</p:attrName>
                                        </p:attrNameLst>
                                      </p:cBhvr>
                                      <p:tavLst>
                                        <p:tav tm="0">
                                          <p:val>
                                            <p:strVal val="#ppt_y+0.0250"/>
                                          </p:val>
                                        </p:tav>
                                        <p:tav tm="100000">
                                          <p:val>
                                            <p:strVal val="#ppt_y"/>
                                          </p:val>
                                        </p:tav>
                                      </p:tavLst>
                                    </p:anim>
                                  </p:childTnLst>
                                </p:cTn>
                              </p:par>
                              <p:par>
                                <p:cTn id="93" presetID="53" presetClass="entr" presetSubtype="16" fill="hold" grpId="0" nodeType="withEffect">
                                  <p:stCondLst>
                                    <p:cond delay="920"/>
                                  </p:stCondLst>
                                  <p:childTnLst>
                                    <p:set>
                                      <p:cBhvr>
                                        <p:cTn id="89" dur="1" fill="hold">
                                          <p:stCondLst>
                                            <p:cond delay="0"/>
                                          </p:stCondLst>
                                        </p:cTn>
                                        <p:tgtEl>
                                          <p:spTgt spid="22"/>
                                        </p:tgtEl>
                                        <p:attrNameLst>
                                          <p:attrName>style.visibility</p:attrName>
                                        </p:attrNameLst>
                                      </p:cBhvr>
                                      <p:to>
                                        <p:strVal val="visible"/>
                                      </p:to>
                                    </p:set>
                                    <p:anim calcmode="lin" valueType="num">
                                      <p:cBhvr>
                                        <p:cTn id="90" dur="800" fill="hold" decel="100000"/>
                                        <p:tgtEl>
                                          <p:spTgt spid="22"/>
                                        </p:tgtEl>
                                        <p:attrNameLst>
                                          <p:attrName>ppt_w</p:attrName>
                                        </p:attrNameLst>
                                      </p:cBhvr>
                                      <p:tavLst>
                                        <p:tav tm="0">
                                          <p:val>
                                            <p:strVal val="#ppt_w*0.800"/>
                                          </p:val>
                                        </p:tav>
                                        <p:tav tm="100000">
                                          <p:val>
                                            <p:strVal val="#ppt_w"/>
                                          </p:val>
                                        </p:tav>
                                      </p:tavLst>
                                    </p:anim>
                                    <p:anim calcmode="lin" valueType="num">
                                      <p:cBhvr>
                                        <p:cTn id="91" dur="800" fill="hold" decel="100000"/>
                                        <p:tgtEl>
                                          <p:spTgt spid="22"/>
                                        </p:tgtEl>
                                        <p:attrNameLst>
                                          <p:attrName>ppt_h</p:attrName>
                                        </p:attrNameLst>
                                      </p:cBhvr>
                                      <p:tavLst>
                                        <p:tav tm="0">
                                          <p:val>
                                            <p:strVal val="#ppt_h*0.800"/>
                                          </p:val>
                                        </p:tav>
                                        <p:tav tm="100000">
                                          <p:val>
                                            <p:strVal val="#ppt_h"/>
                                          </p:val>
                                        </p:tav>
                                      </p:tavLst>
                                    </p:anim>
                                    <p:animEffect transition="in" filter="fade">
                                      <p:cBhvr>
                                        <p:cTn id="92" dur="560" decel="100000"/>
                                        <p:tgtEl>
                                          <p:spTgt spid="22"/>
                                        </p:tgtEl>
                                      </p:cBhvr>
                                    </p:animEffect>
                                  </p:childTnLst>
                                </p:cTn>
                              </p:par>
                              <p:par>
                                <p:cTn id="98" presetID="53" presetClass="entr" presetSubtype="16" fill="hold" grpId="0" nodeType="withEffect">
                                  <p:stCondLst>
                                    <p:cond delay="920"/>
                                  </p:stCondLst>
                                  <p:childTnLst>
                                    <p:set>
                                      <p:cBhvr>
                                        <p:cTn id="94" dur="1" fill="hold">
                                          <p:stCondLst>
                                            <p:cond delay="0"/>
                                          </p:stCondLst>
                                        </p:cTn>
                                        <p:tgtEl>
                                          <p:spTgt spid="23"/>
                                        </p:tgtEl>
                                        <p:attrNameLst>
                                          <p:attrName>style.visibility</p:attrName>
                                        </p:attrNameLst>
                                      </p:cBhvr>
                                      <p:to>
                                        <p:strVal val="visible"/>
                                      </p:to>
                                    </p:set>
                                    <p:anim calcmode="lin" valueType="num">
                                      <p:cBhvr>
                                        <p:cTn id="95" dur="800" fill="hold" decel="100000"/>
                                        <p:tgtEl>
                                          <p:spTgt spid="23"/>
                                        </p:tgtEl>
                                        <p:attrNameLst>
                                          <p:attrName>ppt_w</p:attrName>
                                        </p:attrNameLst>
                                      </p:cBhvr>
                                      <p:tavLst>
                                        <p:tav tm="0">
                                          <p:val>
                                            <p:strVal val="#ppt_w*0.800"/>
                                          </p:val>
                                        </p:tav>
                                        <p:tav tm="100000">
                                          <p:val>
                                            <p:strVal val="#ppt_w"/>
                                          </p:val>
                                        </p:tav>
                                      </p:tavLst>
                                    </p:anim>
                                    <p:anim calcmode="lin" valueType="num">
                                      <p:cBhvr>
                                        <p:cTn id="96" dur="800" fill="hold" decel="100000"/>
                                        <p:tgtEl>
                                          <p:spTgt spid="23"/>
                                        </p:tgtEl>
                                        <p:attrNameLst>
                                          <p:attrName>ppt_h</p:attrName>
                                        </p:attrNameLst>
                                      </p:cBhvr>
                                      <p:tavLst>
                                        <p:tav tm="0">
                                          <p:val>
                                            <p:strVal val="#ppt_h*0.800"/>
                                          </p:val>
                                        </p:tav>
                                        <p:tav tm="100000">
                                          <p:val>
                                            <p:strVal val="#ppt_h"/>
                                          </p:val>
                                        </p:tav>
                                      </p:tavLst>
                                    </p:anim>
                                    <p:animEffect transition="in" filter="fade">
                                      <p:cBhvr>
                                        <p:cTn id="97" dur="560" decel="100000"/>
                                        <p:tgtEl>
                                          <p:spTgt spid="23"/>
                                        </p:tgtEl>
                                      </p:cBhvr>
                                    </p:animEffect>
                                  </p:childTnLst>
                                </p:cTn>
                              </p:par>
                              <p:par>
                                <p:cTn id="103" presetID="42" presetClass="entr" presetSubtype="0" fill="hold" grpId="0" nodeType="withEffect">
                                  <p:stCondLst>
                                    <p:cond delay="99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640" decel="100000"/>
                                        <p:tgtEl>
                                          <p:spTgt spid="24"/>
                                        </p:tgtEl>
                                      </p:cBhvr>
                                    </p:animEffect>
                                    <p:anim calcmode="lin" valueType="num">
                                      <p:cBhvr>
                                        <p:cTn id="101" dur="800" fill="hold" decel="100000"/>
                                        <p:tgtEl>
                                          <p:spTgt spid="24"/>
                                        </p:tgtEl>
                                        <p:attrNameLst>
                                          <p:attrName>ppt_x</p:attrName>
                                        </p:attrNameLst>
                                      </p:cBhvr>
                                      <p:tavLst>
                                        <p:tav tm="0">
                                          <p:val>
                                            <p:strVal val="#ppt_x"/>
                                          </p:val>
                                        </p:tav>
                                        <p:tav tm="100000">
                                          <p:val>
                                            <p:strVal val="#ppt_x"/>
                                          </p:val>
                                        </p:tav>
                                      </p:tavLst>
                                    </p:anim>
                                    <p:anim calcmode="lin" valueType="num">
                                      <p:cBhvr>
                                        <p:cTn id="102" dur="800" fill="hold" decel="100000"/>
                                        <p:tgtEl>
                                          <p:spTgt spid="24"/>
                                        </p:tgtEl>
                                        <p:attrNameLst>
                                          <p:attrName>ppt_y</p:attrName>
                                        </p:attrNameLst>
                                      </p:cBhvr>
                                      <p:tavLst>
                                        <p:tav tm="0">
                                          <p:val>
                                            <p:strVal val="#ppt_y+0.0250"/>
                                          </p:val>
                                        </p:tav>
                                        <p:tav tm="100000">
                                          <p:val>
                                            <p:strVal val="#ppt_y"/>
                                          </p:val>
                                        </p:tav>
                                      </p:tavLst>
                                    </p:anim>
                                  </p:childTnLst>
                                </p:cTn>
                              </p:par>
                              <p:par>
                                <p:cTn id="108" presetID="42" presetClass="entr" presetSubtype="0" fill="hold" grpId="0" nodeType="withEffect">
                                  <p:stCondLst>
                                    <p:cond delay="1090"/>
                                  </p:stCondLst>
                                  <p:childTnLst>
                                    <p:set>
                                      <p:cBhvr>
                                        <p:cTn id="104" dur="1" fill="hold">
                                          <p:stCondLst>
                                            <p:cond delay="0"/>
                                          </p:stCondLst>
                                        </p:cTn>
                                        <p:tgtEl>
                                          <p:spTgt spid="25"/>
                                        </p:tgtEl>
                                        <p:attrNameLst>
                                          <p:attrName>style.visibility</p:attrName>
                                        </p:attrNameLst>
                                      </p:cBhvr>
                                      <p:to>
                                        <p:strVal val="visible"/>
                                      </p:to>
                                    </p:set>
                                    <p:animEffect transition="in" filter="fade">
                                      <p:cBhvr>
                                        <p:cTn id="105" dur="640" decel="100000"/>
                                        <p:tgtEl>
                                          <p:spTgt spid="25"/>
                                        </p:tgtEl>
                                      </p:cBhvr>
                                    </p:animEffect>
                                    <p:anim calcmode="lin" valueType="num">
                                      <p:cBhvr>
                                        <p:cTn id="106" dur="800" fill="hold" decel="100000"/>
                                        <p:tgtEl>
                                          <p:spTgt spid="25"/>
                                        </p:tgtEl>
                                        <p:attrNameLst>
                                          <p:attrName>ppt_x</p:attrName>
                                        </p:attrNameLst>
                                      </p:cBhvr>
                                      <p:tavLst>
                                        <p:tav tm="0">
                                          <p:val>
                                            <p:strVal val="#ppt_x"/>
                                          </p:val>
                                        </p:tav>
                                        <p:tav tm="100000">
                                          <p:val>
                                            <p:strVal val="#ppt_x"/>
                                          </p:val>
                                        </p:tav>
                                      </p:tavLst>
                                    </p:anim>
                                    <p:anim calcmode="lin" valueType="num">
                                      <p:cBhvr>
                                        <p:cTn id="107" dur="800" fill="hold" decel="100000"/>
                                        <p:tgtEl>
                                          <p:spTgt spid="25"/>
                                        </p:tgtEl>
                                        <p:attrNameLst>
                                          <p:attrName>ppt_y</p:attrName>
                                        </p:attrNameLst>
                                      </p:cBhvr>
                                      <p:tavLst>
                                        <p:tav tm="0">
                                          <p:val>
                                            <p:strVal val="#ppt_y+0.0250"/>
                                          </p:val>
                                        </p:tav>
                                        <p:tav tm="100000">
                                          <p:val>
                                            <p:strVal val="#ppt_y"/>
                                          </p:val>
                                        </p:tav>
                                      </p:tavLst>
                                    </p:anim>
                                  </p:childTnLst>
                                </p:cTn>
                              </p:par>
                              <p:par>
                                <p:cTn id="111" presetID="10" presetClass="entr" presetSubtype="0" fill="hold" grpId="0" nodeType="withEffect">
                                  <p:stCondLst>
                                    <p:cond delay="1300"/>
                                  </p:stCondLst>
                                  <p:childTnLst>
                                    <p:set>
                                      <p:cBhvr>
                                        <p:cTn id="109" dur="1" fill="hold">
                                          <p:stCondLst>
                                            <p:cond delay="0"/>
                                          </p:stCondLst>
                                        </p:cTn>
                                        <p:tgtEl>
                                          <p:spTgt spid="26"/>
                                        </p:tgtEl>
                                        <p:attrNameLst>
                                          <p:attrName>style.visibility</p:attrName>
                                        </p:attrNameLst>
                                      </p:cBhvr>
                                      <p:to>
                                        <p:strVal val="visible"/>
                                      </p:to>
                                    </p:set>
                                    <p:animEffect transition="in" filter="fade">
                                      <p:cBhvr>
                                        <p:cTn id="110" dur="900" decel="100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1" grpId="0" animBg="1"/>
      <p:bldP spid="10" grpId="0" animBg="1"/>
      <p:bldP spid="12" grpId="0" animBg="1"/>
      <p:bldP spid="14" grpId="0" animBg="1"/>
      <p:bldP spid="16" grpId="0" animBg="1"/>
      <p:bldP spid="15" grpId="0" animBg="1"/>
      <p:bldP spid="17" grpId="0" animBg="1"/>
      <p:bldP spid="19" grpId="0" animBg="1"/>
      <p:bldP spid="21" grpId="0" animBg="1"/>
      <p:bldP spid="20" grpId="0" animBg="1"/>
      <p:bldP spid="22" grpId="0" animBg="1"/>
      <p:bldP spid="24" grpId="0" animBg="1"/>
      <p:bldP spid="25" grpId="0" animBg="1"/>
      <p:bldP spid="26" grpId="0" animBg="1"/>
    </p:bldLst>
  </p:timing>
</p:sld>
</file>

<file path=ppt/slides/slide32.xml><?xml version="1.0" encoding="utf-8"?>
<p:sld xmlns:p14="http://schemas.microsoft.com/office/powerpoint/2010/main"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orbA" descr="Decorative background light">    </p:cNvPr>
          <p:cNvPicPr>
            <a:picLocks noChangeAspect="1"/>
          </p:cNvPicPr>
          <p:nvPr/>
        </p:nvPicPr>
        <p:blipFill>
          <a:blip r:embed="rId1"/>
          <a:stretch>
            <a:fillRect/>
          </a:stretch>
        </p:blipFill>
        <p:spPr>
          <a:xfrm>
            <a:off x="7498080" y="2834640"/>
            <a:ext cx="7315200" cy="7315200"/>
          </a:xfrm>
          <a:prstGeom prst="rect">
            <a:avLst/>
          </a:prstGeom>
        </p:spPr>
      </p:pic>
      <p:pic>
        <p:nvPicPr>
          <p:cNvPr id="3" name="!!orbB" descr="Decorative background light">    </p:cNvPr>
          <p:cNvPicPr>
            <a:picLocks noChangeAspect="1"/>
          </p:cNvPicPr>
          <p:nvPr/>
        </p:nvPicPr>
        <p:blipFill>
          <a:blip r:embed="rId2"/>
          <a:stretch>
            <a:fillRect/>
          </a:stretch>
        </p:blipFill>
        <p:spPr>
          <a:xfrm>
            <a:off x="-1371600" y="-1828800"/>
            <a:ext cx="4572000" cy="4572000"/>
          </a:xfrm>
          <a:prstGeom prst="rect">
            <a:avLst/>
          </a:prstGeom>
        </p:spPr>
      </p:pic>
      <p:sp>
        <p:nvSpPr>
          <p:cNvPr id="4" name="!!kicker"/>
          <p:cNvSpPr/>
          <p:nvPr>
            <p:ph idx="100" type="body" hasCustomPrompt="1"/>
          </p:nvPr>
        </p:nvSpPr>
        <p:spPr>
          <a:xfrm>
            <a:off x="548640" y="384048"/>
            <a:ext cx="8732520" cy="329184"/>
          </a:xfrm>
          <a:prstGeom prst="rect">
            <a:avLst/>
          </a:prstGeom>
          <a:noFill/>
          <a:ln/>
        </p:spPr>
        <p:txBody>
          <a:bodyPr wrap="square" lIns="0" tIns="0" rIns="0" bIns="0" rtlCol="0" anchor="t"/>
          <a:lstStyle/>
          <a:p>
            <a:pPr algn="l" indent="0" marL="0">
              <a:buNone/>
            </a:pPr>
            <a:r>
              <a:rPr lang="en-US" sz="1500" b="1" spc="300" kern="0" dirty="0">
                <a:solidFill>
                  <a:schemeClr val="accent1"/>
                </a:solidFill>
              </a:rPr>
              <a:t>05 — CONCLUSION &amp; SOURCES</a:t>
            </a:r>
            <a:endParaRPr lang="en-US" sz="1500" dirty="0"/>
          </a:p>
        </p:txBody>
      </p:sp>
      <p:sp>
        <p:nvSpPr>
          <p:cNvPr id="5" name="!!title"/>
          <p:cNvSpPr/>
          <p:nvPr>
            <p:ph idx="101" type="title" hasCustomPrompt="1"/>
          </p:nvPr>
        </p:nvSpPr>
        <p:spPr>
          <a:xfrm>
            <a:off x="548640" y="731520"/>
            <a:ext cx="8732520" cy="786384"/>
          </a:xfrm>
          <a:prstGeom prst="rect">
            <a:avLst/>
          </a:prstGeom>
          <a:noFill/>
          <a:ln/>
        </p:spPr>
        <p:txBody>
          <a:bodyPr wrap="square" lIns="0" tIns="0" rIns="0" bIns="0" rtlCol="0" anchor="t"/>
          <a:lstStyle/>
          <a:p>
            <a:pPr algn="l" indent="0" marL="0">
              <a:buNone/>
            </a:pPr>
            <a:r>
              <a:rPr lang="en-US" sz="3800" b="1" dirty="0">
                <a:solidFill>
                  <a:schemeClr val="tx1"/>
                </a:solidFill>
              </a:rPr>
              <a:t>Key sources</a:t>
            </a:r>
            <a:endParaRPr lang="en-US" sz="3800" dirty="0"/>
          </a:p>
        </p:txBody>
      </p:sp>
      <p:sp>
        <p:nvSpPr>
          <p:cNvPr id="6" name="refs_t_1"/>
          <p:cNvSpPr txBox="1"/>
          <p:nvPr/>
        </p:nvSpPr>
        <p:spPr>
          <a:xfrm>
            <a:off x="548640" y="1783080"/>
            <a:ext cx="5318608" cy="4069080"/>
          </a:xfrm>
          <a:prstGeom prst="rect">
            <a:avLst/>
          </a:prstGeom>
          <a:noFill/>
          <a:ln/>
        </p:spPr>
        <p:txBody>
          <a:bodyPr wrap="square" lIns="0" tIns="0" rIns="0" bIns="0" rtlCol="0" anchor="t"/>
          <a:lstStyle/>
          <a:p>
            <a:pPr indent="-182880" marL="182880">
              <a:spcAft>
                <a:spcPts val="600"/>
              </a:spcAft>
              <a:buNone/>
            </a:pPr>
            <a:r>
              <a:rPr lang="en-US" sz="1300" b="1" dirty="0">
                <a:solidFill>
                  <a:schemeClr val="tx1"/>
                </a:solidFill>
                <a:latin typeface="Arial" pitchFamily="34" charset="0"/>
                <a:ea typeface="Arial" pitchFamily="34" charset="-122"/>
                <a:cs typeface="Arial" pitchFamily="34" charset="-120"/>
              </a:rPr>
              <a:t>CNBC. </a:t>
            </a:r>
            <a:pPr indent="-182880" marL="182880">
              <a:spcAft>
                <a:spcPts val="600"/>
              </a:spcAft>
              <a:buNone/>
            </a:pPr>
            <a:r>
              <a:rPr lang="en-US" sz="1300" dirty="0">
                <a:solidFill>
                  <a:schemeClr val="tx2"/>
                </a:solidFill>
                <a:latin typeface="Arial" pitchFamily="34" charset="0"/>
                <a:ea typeface="Arial" pitchFamily="34" charset="-122"/>
                <a:cs typeface="Arial" pitchFamily="34" charset="-120"/>
              </a:rPr>
              <a:t>(2026, March 7). </a:t>
            </a:r>
            <a:pPr indent="-182880" marL="182880">
              <a:spcAft>
                <a:spcPts val="600"/>
              </a:spcAft>
              <a:buNone/>
            </a:pPr>
            <a:r>
              <a:rPr lang="en-US" sz="1300" i="1" dirty="0">
                <a:solidFill>
                  <a:schemeClr val="tx2"/>
                </a:solidFill>
                <a:latin typeface="Arial" pitchFamily="34" charset="0"/>
                <a:ea typeface="Arial" pitchFamily="34" charset="-122"/>
                <a:cs typeface="Arial" pitchFamily="34" charset="-120"/>
              </a:rPr>
              <a:t>Kuwait cuts oil production as Strait of Hormuz closure disrupts global energy market</a:t>
            </a:r>
            <a:pPr indent="-182880" marL="182880">
              <a:spcAft>
                <a:spcPts val="600"/>
              </a:spcAft>
              <a:buNone/>
            </a:pPr>
            <a:r>
              <a:rPr lang="en-US" sz="1300" dirty="0">
                <a:solidFill>
                  <a:schemeClr val="tx2"/>
                </a:solidFill>
                <a:latin typeface="Arial" pitchFamily="34" charset="0"/>
                <a:ea typeface="Arial" pitchFamily="34" charset="-122"/>
                <a:cs typeface="Arial" pitchFamily="34" charset="-120"/>
              </a:rPr>
              <a:t>.</a:t>
            </a:r>
            <a:endParaRPr lang="en-US" sz="1300" dirty="0"/>
          </a:p>
          <a:p>
            <a:pPr indent="-182880" marL="182880">
              <a:spcAft>
                <a:spcPts val="600"/>
              </a:spcAft>
              <a:buNone/>
            </a:pPr>
            <a:r>
              <a:rPr lang="en-US" sz="1300" b="1" dirty="0">
                <a:solidFill>
                  <a:schemeClr val="tx1"/>
                </a:solidFill>
                <a:latin typeface="Arial" pitchFamily="34" charset="0"/>
                <a:ea typeface="Arial" pitchFamily="34" charset="-122"/>
                <a:cs typeface="Arial" pitchFamily="34" charset="-120"/>
              </a:rPr>
              <a:t>Encyclopaedia Britannica. </a:t>
            </a:r>
            <a:pPr indent="-182880" marL="182880">
              <a:spcAft>
                <a:spcPts val="600"/>
              </a:spcAft>
              <a:buNone/>
            </a:pPr>
            <a:r>
              <a:rPr lang="en-US" sz="1300" dirty="0">
                <a:solidFill>
                  <a:schemeClr val="tx2"/>
                </a:solidFill>
                <a:latin typeface="Arial" pitchFamily="34" charset="0"/>
                <a:ea typeface="Arial" pitchFamily="34" charset="-122"/>
                <a:cs typeface="Arial" pitchFamily="34" charset="-120"/>
              </a:rPr>
              <a:t>(n.d.-b). </a:t>
            </a:r>
            <a:pPr indent="-182880" marL="182880">
              <a:spcAft>
                <a:spcPts val="600"/>
              </a:spcAft>
              <a:buNone/>
            </a:pPr>
            <a:r>
              <a:rPr lang="en-US" sz="1300" i="1" dirty="0">
                <a:solidFill>
                  <a:schemeClr val="tx2"/>
                </a:solidFill>
                <a:latin typeface="Arial" pitchFamily="34" charset="0"/>
                <a:ea typeface="Arial" pitchFamily="34" charset="-122"/>
                <a:cs typeface="Arial" pitchFamily="34" charset="-120"/>
              </a:rPr>
              <a:t>Kuwait: Resources and power</a:t>
            </a:r>
            <a:pPr indent="-182880" marL="182880">
              <a:spcAft>
                <a:spcPts val="600"/>
              </a:spcAft>
              <a:buNone/>
            </a:pPr>
            <a:r>
              <a:rPr lang="en-US" sz="1300" dirty="0">
                <a:solidFill>
                  <a:schemeClr val="tx2"/>
                </a:solidFill>
                <a:latin typeface="Arial" pitchFamily="34" charset="0"/>
                <a:ea typeface="Arial" pitchFamily="34" charset="-122"/>
                <a:cs typeface="Arial" pitchFamily="34" charset="-120"/>
              </a:rPr>
              <a:t>.</a:t>
            </a:r>
            <a:endParaRPr lang="en-US" sz="1300" dirty="0"/>
          </a:p>
          <a:p>
            <a:pPr indent="-182880" marL="182880">
              <a:spcAft>
                <a:spcPts val="600"/>
              </a:spcAft>
              <a:buNone/>
            </a:pPr>
            <a:r>
              <a:rPr lang="en-US" sz="1300" b="1" dirty="0">
                <a:solidFill>
                  <a:schemeClr val="tx1"/>
                </a:solidFill>
                <a:latin typeface="Arial" pitchFamily="34" charset="0"/>
                <a:ea typeface="Arial" pitchFamily="34" charset="-122"/>
                <a:cs typeface="Arial" pitchFamily="34" charset="-120"/>
              </a:rPr>
              <a:t>Energy Institute. </a:t>
            </a:r>
            <a:pPr indent="-182880" marL="182880">
              <a:spcAft>
                <a:spcPts val="600"/>
              </a:spcAft>
              <a:buNone/>
            </a:pPr>
            <a:r>
              <a:rPr lang="en-US" sz="1300" dirty="0">
                <a:solidFill>
                  <a:schemeClr val="tx2"/>
                </a:solidFill>
                <a:latin typeface="Arial" pitchFamily="34" charset="0"/>
                <a:ea typeface="Arial" pitchFamily="34" charset="-122"/>
                <a:cs typeface="Arial" pitchFamily="34" charset="-120"/>
              </a:rPr>
              <a:t>(2025). </a:t>
            </a:r>
            <a:pPr indent="-182880" marL="182880">
              <a:spcAft>
                <a:spcPts val="600"/>
              </a:spcAft>
              <a:buNone/>
            </a:pPr>
            <a:r>
              <a:rPr lang="en-US" sz="1300" i="1" dirty="0">
                <a:solidFill>
                  <a:schemeClr val="tx2"/>
                </a:solidFill>
                <a:latin typeface="Arial" pitchFamily="34" charset="0"/>
                <a:ea typeface="Arial" pitchFamily="34" charset="-122"/>
                <a:cs typeface="Arial" pitchFamily="34" charset="-120"/>
              </a:rPr>
              <a:t>Statistical review of world energy 2025</a:t>
            </a:r>
            <a:pPr indent="-182880" marL="182880">
              <a:spcAft>
                <a:spcPts val="600"/>
              </a:spcAft>
              <a:buNone/>
            </a:pPr>
            <a:r>
              <a:rPr lang="en-US" sz="1300" dirty="0">
                <a:solidFill>
                  <a:schemeClr val="tx2"/>
                </a:solidFill>
                <a:latin typeface="Arial" pitchFamily="34" charset="0"/>
                <a:ea typeface="Arial" pitchFamily="34" charset="-122"/>
                <a:cs typeface="Arial" pitchFamily="34" charset="-120"/>
              </a:rPr>
              <a:t> (74th ed.) [Data set].</a:t>
            </a:r>
            <a:endParaRPr lang="en-US" sz="1300" dirty="0"/>
          </a:p>
          <a:p>
            <a:pPr indent="-182880" marL="182880">
              <a:spcAft>
                <a:spcPts val="600"/>
              </a:spcAft>
              <a:buNone/>
            </a:pPr>
            <a:r>
              <a:rPr lang="en-US" sz="1300" b="1" dirty="0">
                <a:solidFill>
                  <a:schemeClr val="tx1"/>
                </a:solidFill>
                <a:latin typeface="Arial" pitchFamily="34" charset="0"/>
                <a:ea typeface="Arial" pitchFamily="34" charset="-122"/>
                <a:cs typeface="Arial" pitchFamily="34" charset="-120"/>
              </a:rPr>
              <a:t>Horn, M. K. </a:t>
            </a:r>
            <a:pPr indent="-182880" marL="182880">
              <a:spcAft>
                <a:spcPts val="600"/>
              </a:spcAft>
              <a:buNone/>
            </a:pPr>
            <a:r>
              <a:rPr lang="en-US" sz="1300" dirty="0">
                <a:solidFill>
                  <a:schemeClr val="tx2"/>
                </a:solidFill>
                <a:latin typeface="Arial" pitchFamily="34" charset="0"/>
                <a:ea typeface="Arial" pitchFamily="34" charset="-122"/>
                <a:cs typeface="Arial" pitchFamily="34" charset="-120"/>
              </a:rPr>
              <a:t>(2014). </a:t>
            </a:r>
            <a:pPr indent="-182880" marL="182880">
              <a:spcAft>
                <a:spcPts val="600"/>
              </a:spcAft>
              <a:buNone/>
            </a:pPr>
            <a:r>
              <a:rPr lang="en-US" sz="1300" i="1" dirty="0">
                <a:solidFill>
                  <a:schemeClr val="tx2"/>
                </a:solidFill>
                <a:latin typeface="Arial" pitchFamily="34" charset="0"/>
                <a:ea typeface="Arial" pitchFamily="34" charset="-122"/>
                <a:cs typeface="Arial" pitchFamily="34" charset="-120"/>
              </a:rPr>
              <a:t>Giant oil and gas fields of the world</a:t>
            </a:r>
            <a:pPr indent="-182880" marL="182880">
              <a:spcAft>
                <a:spcPts val="600"/>
              </a:spcAft>
              <a:buNone/>
            </a:pPr>
            <a:r>
              <a:rPr lang="en-US" sz="1300" dirty="0">
                <a:solidFill>
                  <a:schemeClr val="tx2"/>
                </a:solidFill>
                <a:latin typeface="Arial" pitchFamily="34" charset="0"/>
                <a:ea typeface="Arial" pitchFamily="34" charset="-122"/>
                <a:cs typeface="Arial" pitchFamily="34" charset="-120"/>
              </a:rPr>
              <a:t> [Data set].</a:t>
            </a:r>
            <a:endParaRPr lang="en-US" sz="1300" dirty="0"/>
          </a:p>
          <a:p>
            <a:pPr indent="-182880" marL="182880">
              <a:spcAft>
                <a:spcPts val="600"/>
              </a:spcAft>
              <a:buNone/>
            </a:pPr>
            <a:r>
              <a:rPr lang="en-US" sz="1300" b="1" dirty="0">
                <a:solidFill>
                  <a:schemeClr val="tx1"/>
                </a:solidFill>
                <a:latin typeface="Arial" pitchFamily="34" charset="0"/>
                <a:ea typeface="Arial" pitchFamily="34" charset="-122"/>
                <a:cs typeface="Arial" pitchFamily="34" charset="-120"/>
              </a:rPr>
              <a:t>Joint Organisations Data Initiative. </a:t>
            </a:r>
            <a:pPr indent="-182880" marL="182880">
              <a:spcAft>
                <a:spcPts val="600"/>
              </a:spcAft>
              <a:buNone/>
            </a:pPr>
            <a:r>
              <a:rPr lang="en-US" sz="1300" dirty="0">
                <a:solidFill>
                  <a:schemeClr val="tx2"/>
                </a:solidFill>
                <a:latin typeface="Arial" pitchFamily="34" charset="0"/>
                <a:ea typeface="Arial" pitchFamily="34" charset="-122"/>
                <a:cs typeface="Arial" pitchFamily="34" charset="-120"/>
              </a:rPr>
              <a:t>(2026). </a:t>
            </a:r>
            <a:pPr indent="-182880" marL="182880">
              <a:spcAft>
                <a:spcPts val="600"/>
              </a:spcAft>
              <a:buNone/>
            </a:pPr>
            <a:r>
              <a:rPr lang="en-US" sz="1300" i="1" dirty="0">
                <a:solidFill>
                  <a:schemeClr val="tx2"/>
                </a:solidFill>
                <a:latin typeface="Arial" pitchFamily="34" charset="0"/>
                <a:ea typeface="Arial" pitchFamily="34" charset="-122"/>
                <a:cs typeface="Arial" pitchFamily="34" charset="-120"/>
              </a:rPr>
              <a:t>JODI-Oil world database</a:t>
            </a:r>
            <a:pPr indent="-182880" marL="182880">
              <a:spcAft>
                <a:spcPts val="600"/>
              </a:spcAft>
              <a:buNone/>
            </a:pPr>
            <a:r>
              <a:rPr lang="en-US" sz="1300" dirty="0">
                <a:solidFill>
                  <a:schemeClr val="tx2"/>
                </a:solidFill>
                <a:latin typeface="Arial" pitchFamily="34" charset="0"/>
                <a:ea typeface="Arial" pitchFamily="34" charset="-122"/>
                <a:cs typeface="Arial" pitchFamily="34" charset="-120"/>
              </a:rPr>
              <a:t> [Data set].</a:t>
            </a:r>
            <a:endParaRPr lang="en-US" sz="1300" dirty="0"/>
          </a:p>
          <a:p>
            <a:pPr indent="-182880" marL="182880">
              <a:spcAft>
                <a:spcPts val="600"/>
              </a:spcAft>
              <a:buNone/>
            </a:pPr>
            <a:r>
              <a:rPr lang="en-US" sz="1300" b="1" dirty="0">
                <a:solidFill>
                  <a:schemeClr val="tx1"/>
                </a:solidFill>
                <a:latin typeface="Arial" pitchFamily="34" charset="0"/>
                <a:ea typeface="Arial" pitchFamily="34" charset="-122"/>
                <a:cs typeface="Arial" pitchFamily="34" charset="-120"/>
              </a:rPr>
              <a:t>Kuwait Integrated Petroleum Industries Company. </a:t>
            </a:r>
            <a:pPr indent="-182880" marL="182880">
              <a:spcAft>
                <a:spcPts val="600"/>
              </a:spcAft>
              <a:buNone/>
            </a:pPr>
            <a:r>
              <a:rPr lang="en-US" sz="1300" dirty="0">
                <a:solidFill>
                  <a:schemeClr val="tx2"/>
                </a:solidFill>
                <a:latin typeface="Arial" pitchFamily="34" charset="0"/>
                <a:ea typeface="Arial" pitchFamily="34" charset="-122"/>
                <a:cs typeface="Arial" pitchFamily="34" charset="-120"/>
              </a:rPr>
              <a:t>(2024). </a:t>
            </a:r>
            <a:pPr indent="-182880" marL="182880">
              <a:spcAft>
                <a:spcPts val="600"/>
              </a:spcAft>
              <a:buNone/>
            </a:pPr>
            <a:r>
              <a:rPr lang="en-US" sz="1300" i="1" dirty="0">
                <a:solidFill>
                  <a:schemeClr val="tx2"/>
                </a:solidFill>
                <a:latin typeface="Arial" pitchFamily="34" charset="0"/>
                <a:ea typeface="Arial" pitchFamily="34" charset="-122"/>
                <a:cs typeface="Arial" pitchFamily="34" charset="-120"/>
              </a:rPr>
              <a:t>His Highness the Amir of Kuwait inaugurates full operation of Al-Zour Refinery</a:t>
            </a:r>
            <a:pPr indent="-182880" marL="182880">
              <a:spcAft>
                <a:spcPts val="600"/>
              </a:spcAft>
              <a:buNone/>
            </a:pPr>
            <a:r>
              <a:rPr lang="en-US" sz="1300" dirty="0">
                <a:solidFill>
                  <a:schemeClr val="tx2"/>
                </a:solidFill>
                <a:latin typeface="Arial" pitchFamily="34" charset="0"/>
                <a:ea typeface="Arial" pitchFamily="34" charset="-122"/>
                <a:cs typeface="Arial" pitchFamily="34" charset="-120"/>
              </a:rPr>
              <a:t> [Press release].</a:t>
            </a:r>
            <a:endParaRPr lang="en-US" sz="1300" dirty="0"/>
          </a:p>
          <a:p>
            <a:pPr indent="-182880" marL="182880">
              <a:spcAft>
                <a:spcPts val="600"/>
              </a:spcAft>
              <a:buNone/>
            </a:pPr>
            <a:r>
              <a:rPr lang="en-US" sz="1300" b="1" dirty="0">
                <a:solidFill>
                  <a:schemeClr val="tx1"/>
                </a:solidFill>
                <a:latin typeface="Arial" pitchFamily="34" charset="0"/>
                <a:ea typeface="Arial" pitchFamily="34" charset="-122"/>
                <a:cs typeface="Arial" pitchFamily="34" charset="-120"/>
              </a:rPr>
              <a:t>Kuwait National Petroleum Company. </a:t>
            </a:r>
            <a:pPr indent="-182880" marL="182880">
              <a:spcAft>
                <a:spcPts val="600"/>
              </a:spcAft>
              <a:buNone/>
            </a:pPr>
            <a:r>
              <a:rPr lang="en-US" sz="1300" dirty="0">
                <a:solidFill>
                  <a:schemeClr val="tx2"/>
                </a:solidFill>
                <a:latin typeface="Arial" pitchFamily="34" charset="0"/>
                <a:ea typeface="Arial" pitchFamily="34" charset="-122"/>
                <a:cs typeface="Arial" pitchFamily="34" charset="-120"/>
              </a:rPr>
              <a:t>(n.d.-a). </a:t>
            </a:r>
            <a:pPr indent="-182880" marL="182880">
              <a:spcAft>
                <a:spcPts val="600"/>
              </a:spcAft>
              <a:buNone/>
            </a:pPr>
            <a:r>
              <a:rPr lang="en-US" sz="1300" i="1" dirty="0">
                <a:solidFill>
                  <a:schemeClr val="tx2"/>
                </a:solidFill>
                <a:latin typeface="Arial" pitchFamily="34" charset="0"/>
                <a:ea typeface="Arial" pitchFamily="34" charset="-122"/>
                <a:cs typeface="Arial" pitchFamily="34" charset="-120"/>
              </a:rPr>
              <a:t>KNPC timeline</a:t>
            </a:r>
            <a:pPr indent="-182880" marL="182880">
              <a:spcAft>
                <a:spcPts val="600"/>
              </a:spcAft>
              <a:buNone/>
            </a:pPr>
            <a:r>
              <a:rPr lang="en-US" sz="1300" dirty="0">
                <a:solidFill>
                  <a:schemeClr val="tx2"/>
                </a:solidFill>
                <a:latin typeface="Arial" pitchFamily="34" charset="0"/>
                <a:ea typeface="Arial" pitchFamily="34" charset="-122"/>
                <a:cs typeface="Arial" pitchFamily="34" charset="-120"/>
              </a:rPr>
              <a:t>.</a:t>
            </a:r>
            <a:endParaRPr lang="en-US" sz="1300" dirty="0"/>
          </a:p>
          <a:p>
            <a:pPr indent="-182880" marL="182880">
              <a:spcAft>
                <a:spcPts val="600"/>
              </a:spcAft>
              <a:buNone/>
            </a:pPr>
            <a:r>
              <a:rPr lang="en-US" sz="1300" b="1" dirty="0">
                <a:solidFill>
                  <a:schemeClr val="tx1"/>
                </a:solidFill>
                <a:latin typeface="Arial" pitchFamily="34" charset="0"/>
                <a:ea typeface="Arial" pitchFamily="34" charset="-122"/>
                <a:cs typeface="Arial" pitchFamily="34" charset="-120"/>
              </a:rPr>
              <a:t>Kuwait Oil Company. </a:t>
            </a:r>
            <a:pPr indent="-182880" marL="182880">
              <a:spcAft>
                <a:spcPts val="600"/>
              </a:spcAft>
              <a:buNone/>
            </a:pPr>
            <a:r>
              <a:rPr lang="en-US" sz="1300" dirty="0">
                <a:solidFill>
                  <a:schemeClr val="tx2"/>
                </a:solidFill>
                <a:latin typeface="Arial" pitchFamily="34" charset="0"/>
                <a:ea typeface="Arial" pitchFamily="34" charset="-122"/>
                <a:cs typeface="Arial" pitchFamily="34" charset="-120"/>
              </a:rPr>
              <a:t>(n.d.-a). </a:t>
            </a:r>
            <a:pPr indent="-182880" marL="182880">
              <a:spcAft>
                <a:spcPts val="600"/>
              </a:spcAft>
              <a:buNone/>
            </a:pPr>
            <a:r>
              <a:rPr lang="en-US" sz="1300" i="1" dirty="0">
                <a:solidFill>
                  <a:schemeClr val="tx2"/>
                </a:solidFill>
                <a:latin typeface="Arial" pitchFamily="34" charset="0"/>
                <a:ea typeface="Arial" pitchFamily="34" charset="-122"/>
                <a:cs typeface="Arial" pitchFamily="34" charset="-120"/>
              </a:rPr>
              <a:t>Brief history of KOC</a:t>
            </a:r>
            <a:pPr indent="-182880" marL="182880">
              <a:spcAft>
                <a:spcPts val="600"/>
              </a:spcAft>
              <a:buNone/>
            </a:pPr>
            <a:r>
              <a:rPr lang="en-US" sz="1300" dirty="0">
                <a:solidFill>
                  <a:schemeClr val="tx2"/>
                </a:solidFill>
                <a:latin typeface="Arial" pitchFamily="34" charset="0"/>
                <a:ea typeface="Arial" pitchFamily="34" charset="-122"/>
                <a:cs typeface="Arial" pitchFamily="34" charset="-120"/>
              </a:rPr>
              <a:t>.</a:t>
            </a:r>
            <a:endParaRPr lang="en-US" sz="1300" dirty="0"/>
          </a:p>
          <a:p>
            <a:pPr indent="-182880" marL="182880">
              <a:spcAft>
                <a:spcPts val="600"/>
              </a:spcAft>
              <a:buNone/>
            </a:pPr>
            <a:r>
              <a:rPr lang="en-US" sz="1300" b="1" dirty="0">
                <a:solidFill>
                  <a:schemeClr val="tx1"/>
                </a:solidFill>
                <a:latin typeface="Arial" pitchFamily="34" charset="0"/>
                <a:ea typeface="Arial" pitchFamily="34" charset="-122"/>
                <a:cs typeface="Arial" pitchFamily="34" charset="-120"/>
              </a:rPr>
              <a:t>Kuwait Oil Company. </a:t>
            </a:r>
            <a:pPr indent="-182880" marL="182880">
              <a:spcAft>
                <a:spcPts val="600"/>
              </a:spcAft>
              <a:buNone/>
            </a:pPr>
            <a:r>
              <a:rPr lang="en-US" sz="1300" dirty="0">
                <a:solidFill>
                  <a:schemeClr val="tx2"/>
                </a:solidFill>
                <a:latin typeface="Arial" pitchFamily="34" charset="0"/>
                <a:ea typeface="Arial" pitchFamily="34" charset="-122"/>
                <a:cs typeface="Arial" pitchFamily="34" charset="-120"/>
              </a:rPr>
              <a:t>(n.d.-b). </a:t>
            </a:r>
            <a:pPr indent="-182880" marL="182880">
              <a:spcAft>
                <a:spcPts val="600"/>
              </a:spcAft>
              <a:buNone/>
            </a:pPr>
            <a:r>
              <a:rPr lang="en-US" sz="1300" i="1" dirty="0">
                <a:solidFill>
                  <a:schemeClr val="tx2"/>
                </a:solidFill>
                <a:latin typeface="Arial" pitchFamily="34" charset="0"/>
                <a:ea typeface="Arial" pitchFamily="34" charset="-122"/>
                <a:cs typeface="Arial" pitchFamily="34" charset="-120"/>
              </a:rPr>
              <a:t>Oil fires</a:t>
            </a:r>
            <a:pPr indent="-182880" marL="182880">
              <a:spcAft>
                <a:spcPts val="600"/>
              </a:spcAft>
              <a:buNone/>
            </a:pPr>
            <a:r>
              <a:rPr lang="en-US" sz="1300" dirty="0">
                <a:solidFill>
                  <a:schemeClr val="tx2"/>
                </a:solidFill>
                <a:latin typeface="Arial" pitchFamily="34" charset="0"/>
                <a:ea typeface="Arial" pitchFamily="34" charset="-122"/>
                <a:cs typeface="Arial" pitchFamily="34" charset="-120"/>
              </a:rPr>
              <a:t>.</a:t>
            </a:r>
            <a:endParaRPr lang="en-US" sz="1300" dirty="0"/>
          </a:p>
          <a:p>
            <a:pPr indent="-182880" marL="182880">
              <a:spcAft>
                <a:spcPts val="600"/>
              </a:spcAft>
              <a:buNone/>
            </a:pPr>
            <a:r>
              <a:rPr lang="en-US" sz="1300" b="1" dirty="0">
                <a:solidFill>
                  <a:schemeClr val="tx1"/>
                </a:solidFill>
                <a:latin typeface="Arial" pitchFamily="34" charset="0"/>
                <a:ea typeface="Arial" pitchFamily="34" charset="-122"/>
                <a:cs typeface="Arial" pitchFamily="34" charset="-120"/>
              </a:rPr>
              <a:t>Kuwait Petroleum Corporation. </a:t>
            </a:r>
            <a:pPr indent="-182880" marL="182880">
              <a:spcAft>
                <a:spcPts val="600"/>
              </a:spcAft>
              <a:buNone/>
            </a:pPr>
            <a:r>
              <a:rPr lang="en-US" sz="1300" dirty="0">
                <a:solidFill>
                  <a:schemeClr val="tx2"/>
                </a:solidFill>
                <a:latin typeface="Arial" pitchFamily="34" charset="0"/>
                <a:ea typeface="Arial" pitchFamily="34" charset="-122"/>
                <a:cs typeface="Arial" pitchFamily="34" charset="-120"/>
              </a:rPr>
              <a:t>(n.d.-a). </a:t>
            </a:r>
            <a:pPr indent="-182880" marL="182880">
              <a:spcAft>
                <a:spcPts val="600"/>
              </a:spcAft>
              <a:buNone/>
            </a:pPr>
            <a:r>
              <a:rPr lang="en-US" sz="1300" i="1" dirty="0">
                <a:solidFill>
                  <a:schemeClr val="tx2"/>
                </a:solidFill>
                <a:latin typeface="Arial" pitchFamily="34" charset="0"/>
                <a:ea typeface="Arial" pitchFamily="34" charset="-122"/>
                <a:cs typeface="Arial" pitchFamily="34" charset="-120"/>
              </a:rPr>
              <a:t>Kuwaiti oil fields</a:t>
            </a:r>
            <a:pPr indent="-182880" marL="182880">
              <a:spcAft>
                <a:spcPts val="600"/>
              </a:spcAft>
              <a:buNone/>
            </a:pPr>
            <a:r>
              <a:rPr lang="en-US" sz="1300" dirty="0">
                <a:solidFill>
                  <a:schemeClr val="tx2"/>
                </a:solidFill>
                <a:latin typeface="Arial" pitchFamily="34" charset="0"/>
                <a:ea typeface="Arial" pitchFamily="34" charset="-122"/>
                <a:cs typeface="Arial" pitchFamily="34" charset="-120"/>
              </a:rPr>
              <a:t> [Map].</a:t>
            </a:r>
            <a:endParaRPr lang="en-US" sz="1300" dirty="0"/>
          </a:p>
        </p:txBody>
      </p:sp>
      <p:sp>
        <p:nvSpPr>
          <p:cNvPr id="7" name="refs_t_2"/>
          <p:cNvSpPr txBox="1"/>
          <p:nvPr/>
        </p:nvSpPr>
        <p:spPr>
          <a:xfrm>
            <a:off x="6324448" y="1783080"/>
            <a:ext cx="5318608" cy="4069080"/>
          </a:xfrm>
          <a:prstGeom prst="rect">
            <a:avLst/>
          </a:prstGeom>
          <a:noFill/>
          <a:ln/>
        </p:spPr>
        <p:txBody>
          <a:bodyPr wrap="square" lIns="0" tIns="0" rIns="0" bIns="0" rtlCol="0" anchor="t"/>
          <a:lstStyle/>
          <a:p>
            <a:pPr indent="-182880" marL="182880">
              <a:spcAft>
                <a:spcPts val="600"/>
              </a:spcAft>
              <a:buNone/>
            </a:pPr>
            <a:r>
              <a:rPr lang="en-US" sz="1300" b="1" dirty="0">
                <a:solidFill>
                  <a:schemeClr val="tx1"/>
                </a:solidFill>
                <a:latin typeface="Arial" pitchFamily="34" charset="0"/>
                <a:ea typeface="Arial" pitchFamily="34" charset="-122"/>
                <a:cs typeface="Arial" pitchFamily="34" charset="-120"/>
              </a:rPr>
              <a:t>Naqi, M., Alsalem, O., &amp; Qabazard, S. </a:t>
            </a:r>
            <a:pPr indent="-182880" marL="182880">
              <a:spcAft>
                <a:spcPts val="600"/>
              </a:spcAft>
              <a:buNone/>
            </a:pPr>
            <a:r>
              <a:rPr lang="en-US" sz="1300" dirty="0">
                <a:solidFill>
                  <a:schemeClr val="tx2"/>
                </a:solidFill>
                <a:latin typeface="Arial" pitchFamily="34" charset="0"/>
                <a:ea typeface="Arial" pitchFamily="34" charset="-122"/>
                <a:cs typeface="Arial" pitchFamily="34" charset="-120"/>
              </a:rPr>
              <a:t>(2023). Petroleum geology of Kuwait. In </a:t>
            </a:r>
            <a:pPr indent="-182880" marL="182880">
              <a:spcAft>
                <a:spcPts val="600"/>
              </a:spcAft>
              <a:buNone/>
            </a:pPr>
            <a:r>
              <a:rPr lang="en-US" sz="1300" i="1" dirty="0">
                <a:solidFill>
                  <a:schemeClr val="tx2"/>
                </a:solidFill>
                <a:latin typeface="Arial" pitchFamily="34" charset="0"/>
                <a:ea typeface="Arial" pitchFamily="34" charset="-122"/>
                <a:cs typeface="Arial" pitchFamily="34" charset="-120"/>
              </a:rPr>
              <a:t>The geology of Kuwait</a:t>
            </a:r>
            <a:pPr indent="-182880" marL="182880">
              <a:spcAft>
                <a:spcPts val="600"/>
              </a:spcAft>
              <a:buNone/>
            </a:pPr>
            <a:r>
              <a:rPr lang="en-US" sz="1300" dirty="0">
                <a:solidFill>
                  <a:schemeClr val="tx2"/>
                </a:solidFill>
                <a:latin typeface="Arial" pitchFamily="34" charset="0"/>
                <a:ea typeface="Arial" pitchFamily="34" charset="-122"/>
                <a:cs typeface="Arial" pitchFamily="34" charset="-120"/>
              </a:rPr>
              <a:t>. Springer.</a:t>
            </a:r>
            <a:endParaRPr lang="en-US" sz="1300" dirty="0"/>
          </a:p>
          <a:p>
            <a:pPr indent="-182880" marL="182880">
              <a:spcAft>
                <a:spcPts val="600"/>
              </a:spcAft>
              <a:buNone/>
            </a:pPr>
            <a:r>
              <a:rPr lang="en-US" sz="1300" b="1" dirty="0">
                <a:solidFill>
                  <a:schemeClr val="tx1"/>
                </a:solidFill>
                <a:latin typeface="Arial" pitchFamily="34" charset="0"/>
                <a:ea typeface="Arial" pitchFamily="34" charset="-122"/>
                <a:cs typeface="Arial" pitchFamily="34" charset="-120"/>
              </a:rPr>
              <a:t>Observatory of Economic Complexity. </a:t>
            </a:r>
            <a:pPr indent="-182880" marL="182880">
              <a:spcAft>
                <a:spcPts val="600"/>
              </a:spcAft>
              <a:buNone/>
            </a:pPr>
            <a:r>
              <a:rPr lang="en-US" sz="1300" dirty="0">
                <a:solidFill>
                  <a:schemeClr val="tx2"/>
                </a:solidFill>
                <a:latin typeface="Arial" pitchFamily="34" charset="0"/>
                <a:ea typeface="Arial" pitchFamily="34" charset="-122"/>
                <a:cs typeface="Arial" pitchFamily="34" charset="-120"/>
              </a:rPr>
              <a:t>(n.d.). </a:t>
            </a:r>
            <a:pPr indent="-182880" marL="182880">
              <a:spcAft>
                <a:spcPts val="600"/>
              </a:spcAft>
              <a:buNone/>
            </a:pPr>
            <a:r>
              <a:rPr lang="en-US" sz="1300" i="1" dirty="0">
                <a:solidFill>
                  <a:schemeClr val="tx2"/>
                </a:solidFill>
                <a:latin typeface="Arial" pitchFamily="34" charset="0"/>
                <a:ea typeface="Arial" pitchFamily="34" charset="-122"/>
                <a:cs typeface="Arial" pitchFamily="34" charset="-120"/>
              </a:rPr>
              <a:t>Crude petroleum in Kuwait trade</a:t>
            </a:r>
            <a:pPr indent="-182880" marL="182880">
              <a:spcAft>
                <a:spcPts val="600"/>
              </a:spcAft>
              <a:buNone/>
            </a:pPr>
            <a:r>
              <a:rPr lang="en-US" sz="1300" dirty="0">
                <a:solidFill>
                  <a:schemeClr val="tx2"/>
                </a:solidFill>
                <a:latin typeface="Arial" pitchFamily="34" charset="0"/>
                <a:ea typeface="Arial" pitchFamily="34" charset="-122"/>
                <a:cs typeface="Arial" pitchFamily="34" charset="-120"/>
              </a:rPr>
              <a:t> [2024 data].</a:t>
            </a:r>
            <a:endParaRPr lang="en-US" sz="1300" dirty="0"/>
          </a:p>
          <a:p>
            <a:pPr indent="-182880" marL="182880">
              <a:spcAft>
                <a:spcPts val="600"/>
              </a:spcAft>
              <a:buNone/>
            </a:pPr>
            <a:r>
              <a:rPr lang="en-US" sz="1300" b="1" dirty="0">
                <a:solidFill>
                  <a:schemeClr val="tx1"/>
                </a:solidFill>
                <a:latin typeface="Arial" pitchFamily="34" charset="0"/>
                <a:ea typeface="Arial" pitchFamily="34" charset="-122"/>
                <a:cs typeface="Arial" pitchFamily="34" charset="-120"/>
              </a:rPr>
              <a:t>Office of the Special Assistant for Gulf War Illnesses. </a:t>
            </a:r>
            <a:pPr indent="-182880" marL="182880">
              <a:spcAft>
                <a:spcPts val="600"/>
              </a:spcAft>
              <a:buNone/>
            </a:pPr>
            <a:r>
              <a:rPr lang="en-US" sz="1300" dirty="0">
                <a:solidFill>
                  <a:schemeClr val="tx2"/>
                </a:solidFill>
                <a:latin typeface="Arial" pitchFamily="34" charset="0"/>
                <a:ea typeface="Arial" pitchFamily="34" charset="-122"/>
                <a:cs typeface="Arial" pitchFamily="34" charset="-120"/>
              </a:rPr>
              <a:t>(2000). </a:t>
            </a:r>
            <a:pPr indent="-182880" marL="182880">
              <a:spcAft>
                <a:spcPts val="600"/>
              </a:spcAft>
              <a:buNone/>
            </a:pPr>
            <a:r>
              <a:rPr lang="en-US" sz="1300" i="1" dirty="0">
                <a:solidFill>
                  <a:schemeClr val="tx2"/>
                </a:solidFill>
                <a:latin typeface="Arial" pitchFamily="34" charset="0"/>
                <a:ea typeface="Arial" pitchFamily="34" charset="-122"/>
                <a:cs typeface="Arial" pitchFamily="34" charset="-120"/>
              </a:rPr>
              <a:t>Environmental exposure report: Oil well fires</a:t>
            </a:r>
            <a:pPr indent="-182880" marL="182880">
              <a:spcAft>
                <a:spcPts val="600"/>
              </a:spcAft>
              <a:buNone/>
            </a:pPr>
            <a:r>
              <a:rPr lang="en-US" sz="1300" dirty="0">
                <a:solidFill>
                  <a:schemeClr val="tx2"/>
                </a:solidFill>
                <a:latin typeface="Arial" pitchFamily="34" charset="0"/>
                <a:ea typeface="Arial" pitchFamily="34" charset="-122"/>
                <a:cs typeface="Arial" pitchFamily="34" charset="-120"/>
              </a:rPr>
              <a:t>.</a:t>
            </a:r>
            <a:endParaRPr lang="en-US" sz="1300" dirty="0"/>
          </a:p>
          <a:p>
            <a:pPr indent="-182880" marL="182880">
              <a:spcAft>
                <a:spcPts val="600"/>
              </a:spcAft>
              <a:buNone/>
            </a:pPr>
            <a:r>
              <a:rPr lang="en-US" sz="1300" b="1" dirty="0">
                <a:solidFill>
                  <a:schemeClr val="tx1"/>
                </a:solidFill>
                <a:latin typeface="Arial" pitchFamily="34" charset="0"/>
                <a:ea typeface="Arial" pitchFamily="34" charset="-122"/>
                <a:cs typeface="Arial" pitchFamily="34" charset="-120"/>
              </a:rPr>
              <a:t>Organization of the Petroleum Exporting Countries. </a:t>
            </a:r>
            <a:pPr indent="-182880" marL="182880">
              <a:spcAft>
                <a:spcPts val="600"/>
              </a:spcAft>
              <a:buNone/>
            </a:pPr>
            <a:r>
              <a:rPr lang="en-US" sz="1300" dirty="0">
                <a:solidFill>
                  <a:schemeClr val="tx2"/>
                </a:solidFill>
                <a:latin typeface="Arial" pitchFamily="34" charset="0"/>
                <a:ea typeface="Arial" pitchFamily="34" charset="-122"/>
                <a:cs typeface="Arial" pitchFamily="34" charset="-120"/>
              </a:rPr>
              <a:t>(2025a). </a:t>
            </a:r>
            <a:pPr indent="-182880" marL="182880">
              <a:spcAft>
                <a:spcPts val="600"/>
              </a:spcAft>
              <a:buNone/>
            </a:pPr>
            <a:r>
              <a:rPr lang="en-US" sz="1300" i="1" dirty="0">
                <a:solidFill>
                  <a:schemeClr val="tx2"/>
                </a:solidFill>
                <a:latin typeface="Arial" pitchFamily="34" charset="0"/>
                <a:ea typeface="Arial" pitchFamily="34" charset="-122"/>
                <a:cs typeface="Arial" pitchFamily="34" charset="-120"/>
              </a:rPr>
              <a:t>Annual report 2024</a:t>
            </a:r>
            <a:pPr indent="-182880" marL="182880">
              <a:spcAft>
                <a:spcPts val="600"/>
              </a:spcAft>
              <a:buNone/>
            </a:pPr>
            <a:r>
              <a:rPr lang="en-US" sz="1300" dirty="0">
                <a:solidFill>
                  <a:schemeClr val="tx2"/>
                </a:solidFill>
                <a:latin typeface="Arial" pitchFamily="34" charset="0"/>
                <a:ea typeface="Arial" pitchFamily="34" charset="-122"/>
                <a:cs typeface="Arial" pitchFamily="34" charset="-120"/>
              </a:rPr>
              <a:t>.</a:t>
            </a:r>
            <a:endParaRPr lang="en-US" sz="1300" dirty="0"/>
          </a:p>
          <a:p>
            <a:pPr indent="-182880" marL="182880">
              <a:spcAft>
                <a:spcPts val="600"/>
              </a:spcAft>
              <a:buNone/>
            </a:pPr>
            <a:r>
              <a:rPr lang="en-US" sz="1300" b="1" dirty="0">
                <a:solidFill>
                  <a:schemeClr val="tx1"/>
                </a:solidFill>
                <a:latin typeface="Arial" pitchFamily="34" charset="0"/>
                <a:ea typeface="Arial" pitchFamily="34" charset="-122"/>
                <a:cs typeface="Arial" pitchFamily="34" charset="-120"/>
              </a:rPr>
              <a:t>Organization of the Petroleum Exporting Countries. </a:t>
            </a:r>
            <a:pPr indent="-182880" marL="182880">
              <a:spcAft>
                <a:spcPts val="600"/>
              </a:spcAft>
              <a:buNone/>
            </a:pPr>
            <a:r>
              <a:rPr lang="en-US" sz="1300" dirty="0">
                <a:solidFill>
                  <a:schemeClr val="tx2"/>
                </a:solidFill>
                <a:latin typeface="Arial" pitchFamily="34" charset="0"/>
                <a:ea typeface="Arial" pitchFamily="34" charset="-122"/>
                <a:cs typeface="Arial" pitchFamily="34" charset="-120"/>
              </a:rPr>
              <a:t>(2025b). </a:t>
            </a:r>
            <a:pPr indent="-182880" marL="182880">
              <a:spcAft>
                <a:spcPts val="600"/>
              </a:spcAft>
              <a:buNone/>
            </a:pPr>
            <a:r>
              <a:rPr lang="en-US" sz="1300" i="1" dirty="0">
                <a:solidFill>
                  <a:schemeClr val="tx2"/>
                </a:solidFill>
                <a:latin typeface="Arial" pitchFamily="34" charset="0"/>
                <a:ea typeface="Arial" pitchFamily="34" charset="-122"/>
                <a:cs typeface="Arial" pitchFamily="34" charset="-120"/>
              </a:rPr>
              <a:t>Annual statistical bulletin 2025</a:t>
            </a:r>
            <a:pPr indent="-182880" marL="182880">
              <a:spcAft>
                <a:spcPts val="600"/>
              </a:spcAft>
              <a:buNone/>
            </a:pPr>
            <a:r>
              <a:rPr lang="en-US" sz="1300" dirty="0">
                <a:solidFill>
                  <a:schemeClr val="tx2"/>
                </a:solidFill>
                <a:latin typeface="Arial" pitchFamily="34" charset="0"/>
                <a:ea typeface="Arial" pitchFamily="34" charset="-122"/>
                <a:cs typeface="Arial" pitchFamily="34" charset="-120"/>
              </a:rPr>
              <a:t> (60th ed.).</a:t>
            </a:r>
            <a:endParaRPr lang="en-US" sz="1300" dirty="0"/>
          </a:p>
          <a:p>
            <a:pPr indent="-182880" marL="182880">
              <a:spcAft>
                <a:spcPts val="600"/>
              </a:spcAft>
              <a:buNone/>
            </a:pPr>
            <a:r>
              <a:rPr lang="en-US" sz="1300" b="1" dirty="0">
                <a:solidFill>
                  <a:schemeClr val="tx1"/>
                </a:solidFill>
                <a:latin typeface="Arial" pitchFamily="34" charset="0"/>
                <a:ea typeface="Arial" pitchFamily="34" charset="-122"/>
                <a:cs typeface="Arial" pitchFamily="34" charset="-120"/>
              </a:rPr>
              <a:t>Organization of the Petroleum Exporting Countries. </a:t>
            </a:r>
            <a:pPr indent="-182880" marL="182880">
              <a:spcAft>
                <a:spcPts val="600"/>
              </a:spcAft>
              <a:buNone/>
            </a:pPr>
            <a:r>
              <a:rPr lang="en-US" sz="1300" dirty="0">
                <a:solidFill>
                  <a:schemeClr val="tx2"/>
                </a:solidFill>
                <a:latin typeface="Arial" pitchFamily="34" charset="0"/>
                <a:ea typeface="Arial" pitchFamily="34" charset="-122"/>
                <a:cs typeface="Arial" pitchFamily="34" charset="-120"/>
              </a:rPr>
              <a:t>(2026a). </a:t>
            </a:r>
            <a:pPr indent="-182880" marL="182880">
              <a:spcAft>
                <a:spcPts val="600"/>
              </a:spcAft>
              <a:buNone/>
            </a:pPr>
            <a:r>
              <a:rPr lang="en-US" sz="1300" i="1" dirty="0">
                <a:solidFill>
                  <a:schemeClr val="tx2"/>
                </a:solidFill>
                <a:latin typeface="Arial" pitchFamily="34" charset="0"/>
                <a:ea typeface="Arial" pitchFamily="34" charset="-122"/>
                <a:cs typeface="Arial" pitchFamily="34" charset="-120"/>
              </a:rPr>
              <a:t>Annual statistical bulletin 2026</a:t>
            </a:r>
            <a:pPr indent="-182880" marL="182880">
              <a:spcAft>
                <a:spcPts val="600"/>
              </a:spcAft>
              <a:buNone/>
            </a:pPr>
            <a:r>
              <a:rPr lang="en-US" sz="1300" dirty="0">
                <a:solidFill>
                  <a:schemeClr val="tx2"/>
                </a:solidFill>
                <a:latin typeface="Arial" pitchFamily="34" charset="0"/>
                <a:ea typeface="Arial" pitchFamily="34" charset="-122"/>
                <a:cs typeface="Arial" pitchFamily="34" charset="-120"/>
              </a:rPr>
              <a:t> (61st ed.).</a:t>
            </a:r>
            <a:endParaRPr lang="en-US" sz="1300" dirty="0"/>
          </a:p>
          <a:p>
            <a:pPr indent="-182880" marL="182880">
              <a:spcAft>
                <a:spcPts val="600"/>
              </a:spcAft>
              <a:buNone/>
            </a:pPr>
            <a:r>
              <a:rPr lang="en-US" sz="1300" b="1" dirty="0">
                <a:solidFill>
                  <a:schemeClr val="tx1"/>
                </a:solidFill>
                <a:latin typeface="Arial" pitchFamily="34" charset="0"/>
                <a:ea typeface="Arial" pitchFamily="34" charset="-122"/>
                <a:cs typeface="Arial" pitchFamily="34" charset="-120"/>
              </a:rPr>
              <a:t>U.S. Energy Information Administration. </a:t>
            </a:r>
            <a:pPr indent="-182880" marL="182880">
              <a:spcAft>
                <a:spcPts val="600"/>
              </a:spcAft>
              <a:buNone/>
            </a:pPr>
            <a:r>
              <a:rPr lang="en-US" sz="1300" dirty="0">
                <a:solidFill>
                  <a:schemeClr val="tx2"/>
                </a:solidFill>
                <a:latin typeface="Arial" pitchFamily="34" charset="0"/>
                <a:ea typeface="Arial" pitchFamily="34" charset="-122"/>
                <a:cs typeface="Arial" pitchFamily="34" charset="-120"/>
              </a:rPr>
              <a:t>(2023a). </a:t>
            </a:r>
            <a:pPr indent="-182880" marL="182880">
              <a:spcAft>
                <a:spcPts val="600"/>
              </a:spcAft>
              <a:buNone/>
            </a:pPr>
            <a:r>
              <a:rPr lang="en-US" sz="1300" i="1" dirty="0">
                <a:solidFill>
                  <a:schemeClr val="tx2"/>
                </a:solidFill>
                <a:latin typeface="Arial" pitchFamily="34" charset="0"/>
                <a:ea typeface="Arial" pitchFamily="34" charset="-122"/>
                <a:cs typeface="Arial" pitchFamily="34" charset="-120"/>
              </a:rPr>
              <a:t>Country analysis brief: Kuwait</a:t>
            </a:r>
            <a:pPr indent="-182880" marL="182880">
              <a:spcAft>
                <a:spcPts val="600"/>
              </a:spcAft>
              <a:buNone/>
            </a:pPr>
            <a:r>
              <a:rPr lang="en-US" sz="1300" dirty="0">
                <a:solidFill>
                  <a:schemeClr val="tx2"/>
                </a:solidFill>
                <a:latin typeface="Arial" pitchFamily="34" charset="0"/>
                <a:ea typeface="Arial" pitchFamily="34" charset="-122"/>
                <a:cs typeface="Arial" pitchFamily="34" charset="-120"/>
              </a:rPr>
              <a:t>.</a:t>
            </a:r>
            <a:endParaRPr lang="en-US" sz="1300" dirty="0"/>
          </a:p>
          <a:p>
            <a:pPr indent="-182880" marL="182880">
              <a:spcAft>
                <a:spcPts val="600"/>
              </a:spcAft>
              <a:buNone/>
            </a:pPr>
            <a:r>
              <a:rPr lang="en-US" sz="1300" b="1" dirty="0">
                <a:solidFill>
                  <a:schemeClr val="tx1"/>
                </a:solidFill>
                <a:latin typeface="Arial" pitchFamily="34" charset="0"/>
                <a:ea typeface="Arial" pitchFamily="34" charset="-122"/>
                <a:cs typeface="Arial" pitchFamily="34" charset="-120"/>
              </a:rPr>
              <a:t>U.S. Energy Information Administration. </a:t>
            </a:r>
            <a:pPr indent="-182880" marL="182880">
              <a:spcAft>
                <a:spcPts val="600"/>
              </a:spcAft>
              <a:buNone/>
            </a:pPr>
            <a:r>
              <a:rPr lang="en-US" sz="1300" dirty="0">
                <a:solidFill>
                  <a:schemeClr val="tx2"/>
                </a:solidFill>
                <a:latin typeface="Arial" pitchFamily="34" charset="0"/>
                <a:ea typeface="Arial" pitchFamily="34" charset="-122"/>
                <a:cs typeface="Arial" pitchFamily="34" charset="-120"/>
              </a:rPr>
              <a:t>(2026). </a:t>
            </a:r>
            <a:pPr indent="-182880" marL="182880">
              <a:spcAft>
                <a:spcPts val="600"/>
              </a:spcAft>
              <a:buNone/>
            </a:pPr>
            <a:r>
              <a:rPr lang="en-US" sz="1300" i="1" dirty="0">
                <a:solidFill>
                  <a:schemeClr val="tx2"/>
                </a:solidFill>
                <a:latin typeface="Arial" pitchFamily="34" charset="0"/>
                <a:ea typeface="Arial" pitchFamily="34" charset="-122"/>
                <a:cs typeface="Arial" pitchFamily="34" charset="-120"/>
              </a:rPr>
              <a:t>Europe Brent spot price FOB</a:t>
            </a:r>
            <a:pPr indent="-182880" marL="182880">
              <a:spcAft>
                <a:spcPts val="600"/>
              </a:spcAft>
              <a:buNone/>
            </a:pPr>
            <a:r>
              <a:rPr lang="en-US" sz="1300" dirty="0">
                <a:solidFill>
                  <a:schemeClr val="tx2"/>
                </a:solidFill>
                <a:latin typeface="Arial" pitchFamily="34" charset="0"/>
                <a:ea typeface="Arial" pitchFamily="34" charset="-122"/>
                <a:cs typeface="Arial" pitchFamily="34" charset="-120"/>
              </a:rPr>
              <a:t> [Data set].</a:t>
            </a:r>
            <a:endParaRPr lang="en-US" sz="1300" dirty="0"/>
          </a:p>
          <a:p>
            <a:pPr indent="-182880" marL="182880">
              <a:spcAft>
                <a:spcPts val="600"/>
              </a:spcAft>
              <a:buNone/>
            </a:pPr>
            <a:r>
              <a:rPr lang="en-US" sz="1300" b="1" dirty="0">
                <a:solidFill>
                  <a:schemeClr val="tx1"/>
                </a:solidFill>
                <a:latin typeface="Arial" pitchFamily="34" charset="0"/>
                <a:ea typeface="Arial" pitchFamily="34" charset="-122"/>
                <a:cs typeface="Arial" pitchFamily="34" charset="-120"/>
              </a:rPr>
              <a:t>Wall Street Journal. </a:t>
            </a:r>
            <a:pPr indent="-182880" marL="182880">
              <a:spcAft>
                <a:spcPts val="600"/>
              </a:spcAft>
              <a:buNone/>
            </a:pPr>
            <a:r>
              <a:rPr lang="en-US" sz="1300" dirty="0">
                <a:solidFill>
                  <a:schemeClr val="tx2"/>
                </a:solidFill>
                <a:latin typeface="Arial" pitchFamily="34" charset="0"/>
                <a:ea typeface="Arial" pitchFamily="34" charset="-122"/>
                <a:cs typeface="Arial" pitchFamily="34" charset="-120"/>
              </a:rPr>
              <a:t>(2016, April 15). </a:t>
            </a:r>
            <a:pPr indent="-182880" marL="182880">
              <a:spcAft>
                <a:spcPts val="600"/>
              </a:spcAft>
              <a:buNone/>
            </a:pPr>
            <a:r>
              <a:rPr lang="en-US" sz="1300" i="1" dirty="0">
                <a:solidFill>
                  <a:schemeClr val="tx2"/>
                </a:solidFill>
                <a:latin typeface="Arial" pitchFamily="34" charset="0"/>
                <a:ea typeface="Arial" pitchFamily="34" charset="-122"/>
                <a:cs typeface="Arial" pitchFamily="34" charset="-120"/>
              </a:rPr>
              <a:t>Barrel breakdown</a:t>
            </a:r>
            <a:pPr indent="-182880" marL="182880">
              <a:spcAft>
                <a:spcPts val="600"/>
              </a:spcAft>
              <a:buNone/>
            </a:pPr>
            <a:r>
              <a:rPr lang="en-US" sz="1300" dirty="0">
                <a:solidFill>
                  <a:schemeClr val="tx2"/>
                </a:solidFill>
                <a:latin typeface="Arial" pitchFamily="34" charset="0"/>
                <a:ea typeface="Arial" pitchFamily="34" charset="-122"/>
                <a:cs typeface="Arial" pitchFamily="34" charset="-120"/>
              </a:rPr>
              <a:t> [Rystad Energy data].</a:t>
            </a:r>
            <a:endParaRPr lang="en-US" sz="1300" dirty="0"/>
          </a:p>
        </p:txBody>
      </p:sp>
      <p:sp>
        <p:nvSpPr>
          <p:cNvPr id="8" name="!!source"/>
          <p:cNvSpPr txBox="1"/>
          <p:nvPr/>
        </p:nvSpPr>
        <p:spPr>
          <a:xfrm>
            <a:off x="548640" y="5943600"/>
            <a:ext cx="9692640" cy="274320"/>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The full APA 7th-edition reference list (63 sources) is in the written report.</a:t>
            </a:r>
            <a:endParaRPr lang="en-US" sz="1200" dirty="0"/>
          </a:p>
        </p:txBody>
      </p:sp>
      <p:sp>
        <p:nvSpPr>
          <p:cNvPr id="9" name="!!home_bg"/>
          <p:cNvSpPr/>
          <p:nvPr/>
        </p:nvSpPr>
        <p:spPr>
          <a:xfrm>
            <a:off x="10637215" y="6272784"/>
            <a:ext cx="384048" cy="384048"/>
          </a:xfrm>
          <a:prstGeom prst="roundRect">
            <a:avLst>
              <a:gd name="adj" fmla="val 23810"/>
            </a:avLst>
          </a:prstGeom>
          <a:solidFill>
            <a:srgbClr val="2C2C2E"/>
          </a:solidFill>
          <a:ln/>
        </p:spPr>
      </p:sp>
      <p:pic>
        <p:nvPicPr>
          <p:cNvPr id="10" name="!!home_ic" descr="Decorative graphic">    </p:cNvPr>
          <p:cNvPicPr>
            <a:picLocks noChangeAspect="1"/>
          </p:cNvPicPr>
          <p:nvPr/>
        </p:nvPicPr>
        <p:blipFill>
          <a:blip r:embed="rId3"/>
          <a:stretch>
            <a:fillRect/>
          </a:stretch>
        </p:blipFill>
        <p:spPr>
          <a:xfrm>
            <a:off x="10719511" y="6355080"/>
            <a:ext cx="219456" cy="219456"/>
          </a:xfrm>
          <a:prstGeom prst="rect">
            <a:avLst/>
          </a:prstGeom>
        </p:spPr>
      </p:pic>
      <p:sp>
        <p:nvSpPr>
          <p:cNvPr id="11" name="!!home_hit">
            <a:hlinkClick r:id="rId4" tooltip="Back to contents" action="ppaction://hlinksldjump" highlightClick="1"/>
          </p:cNvPr>
          <p:cNvSpPr/>
          <p:nvPr/>
        </p:nvSpPr>
        <p:spPr>
          <a:xfrm>
            <a:off x="10637215" y="6272784"/>
            <a:ext cx="384048" cy="384048"/>
          </a:xfrm>
          <a:prstGeom prst="roundRect">
            <a:avLst>
              <a:gd name="adj" fmla="val 23810"/>
            </a:avLst>
          </a:prstGeom>
          <a:solidFill>
            <a:srgbClr val="000000">
              <a:alpha val="0"/>
            </a:srgbClr>
          </a:solidFill>
          <a:ln/>
        </p:spPr>
      </p:sp>
      <p:sp>
        <p:nvSpPr>
          <p:cNvPr id="13" name="!!footer"/>
          <p:cNvSpPr txBox="1"/>
          <p:nvPr/>
        </p:nvSpPr>
        <p:spPr>
          <a:xfrm>
            <a:off x="548640" y="6327648"/>
            <a:ext cx="5486400" cy="292608"/>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Kuwait Oil &amp; Gas  ·  EGCH2230</a:t>
            </a:r>
            <a:endParaRPr lang="en-US" sz="1200" dirty="0"/>
          </a:p>
        </p:txBody>
      </p:sp>
      <p:sp>
        <p:nvSpPr>
          <p:cNvPr id="14" name="!!num"/>
          <p:cNvSpPr txBox="1"/>
          <p:nvPr/>
        </p:nvSpPr>
        <p:spPr>
          <a:xfrm>
            <a:off x="11094415" y="6327648"/>
            <a:ext cx="548640" cy="292608"/>
          </a:xfrm>
          <a:prstGeom prst="rect">
            <a:avLst/>
          </a:prstGeom>
          <a:noFill/>
          <a:ln/>
        </p:spPr>
        <p:txBody>
          <a:bodyPr wrap="square" lIns="0" tIns="0" rIns="0" bIns="0" rtlCol="0" anchor="ctr"/>
          <a:lstStyle/>
          <a:p>
            <a:pPr algn="r" indent="0" marL="0">
              <a:buNone/>
            </a:pPr>
            <a:r>
              <a:rPr lang="en-US" sz="1200" dirty="0">
                <a:solidFill>
                  <a:schemeClr val="tx2"/>
                </a:solidFill>
                <a:latin typeface="Arial" pitchFamily="34" charset="0"/>
                <a:ea typeface="Arial" pitchFamily="34" charset="-122"/>
                <a:cs typeface="Arial" pitchFamily="34" charset="-120"/>
              </a:rPr>
              <a:t>27</a:t>
            </a:r>
            <a:endParaRPr lang="en-US" sz="1200" dirty="0"/>
          </a:p>
        </p:txBody>
      </p:sp>
      <p:pic>
        <p:nvPicPr>
          <p:cNvPr id="15" name="!!badge" descr="University of Technology and Applied Sciences, Salalah">    </p:cNvPr>
          <p:cNvPicPr>
            <a:picLocks noChangeAspect="1"/>
          </p:cNvPicPr>
          <p:nvPr/>
        </p:nvPicPr>
        <p:blipFill>
          <a:blip r:embed="rId5"/>
          <a:stretch>
            <a:fillRect/>
          </a:stretch>
        </p:blipFill>
        <p:spPr>
          <a:xfrm>
            <a:off x="9677095" y="274320"/>
            <a:ext cx="1965960" cy="80987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0" presetClass="path" presetSubtype="0" fill="hold" grpId="0" nodeType="afterEffect" repeatCount="indefinite" autoRev="1">
                                  <p:stCondLst>
                                    <p:cond delay="0"/>
                                  </p:stCondLst>
                                  <p:childTnLst>
                                    <p:animMotion origin="layout" path="M 0 0 L 0.0350 -0.0300 E" pathEditMode="relative" ptsTypes="">
                                      <p:cBhvr>
                                        <p:cTn id="5" dur="13000" fill="hold" accel="50000" decel="50000"/>
                                        <p:tgtEl>
                                          <p:spTgt spid="2"/>
                                        </p:tgtEl>
                                        <p:attrNameLst>
                                          <p:attrName>ppt_x</p:attrName>
                                          <p:attrName>ppt_y</p:attrName>
                                        </p:attrNameLst>
                                      </p:cBhvr>
                                      <p:rCtr x="0" y="0"/>
                                    </p:animMotion>
                                  </p:childTnLst>
                                </p:cTn>
                              </p:par>
                              <p:par>
                                <p:cTn id="8" presetID="0" presetClass="path" presetSubtype="0" fill="hold" grpId="0" nodeType="withEffect" repeatCount="indefinite" autoRev="1">
                                  <p:stCondLst>
                                    <p:cond delay="0"/>
                                  </p:stCondLst>
                                  <p:childTnLst>
                                    <p:animMotion origin="layout" path="M 0 0 L -0.0300 0.0250 E" pathEditMode="relative" ptsTypes="">
                                      <p:cBhvr>
                                        <p:cTn id="7" dur="15000" fill="hold" accel="50000" decel="50000"/>
                                        <p:tgtEl>
                                          <p:spTgt spid="3"/>
                                        </p:tgtEl>
                                        <p:attrNameLst>
                                          <p:attrName>ppt_x</p:attrName>
                                          <p:attrName>ppt_y</p:attrName>
                                        </p:attrNameLst>
                                      </p:cBhvr>
                                      <p:rCtr x="0" y="0"/>
                                    </p:animMotion>
                                  </p:childTnLst>
                                </p:cTn>
                              </p:par>
                              <p:par>
                                <p:cTn id="13" presetID="42" presetClass="entr" presetSubtype="0" fill="hold" grpId="0" nodeType="withEffect">
                                  <p:stCondLst>
                                    <p:cond delay="3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720" decel="100000"/>
                                        <p:tgtEl>
                                          <p:spTgt spid="6"/>
                                        </p:tgtEl>
                                      </p:cBhvr>
                                    </p:animEffect>
                                    <p:anim calcmode="lin" valueType="num">
                                      <p:cBhvr>
                                        <p:cTn id="11" dur="900" fill="hold" decel="100000"/>
                                        <p:tgtEl>
                                          <p:spTgt spid="6"/>
                                        </p:tgtEl>
                                        <p:attrNameLst>
                                          <p:attrName>ppt_x</p:attrName>
                                        </p:attrNameLst>
                                      </p:cBhvr>
                                      <p:tavLst>
                                        <p:tav tm="0">
                                          <p:val>
                                            <p:strVal val="#ppt_x"/>
                                          </p:val>
                                        </p:tav>
                                        <p:tav tm="100000">
                                          <p:val>
                                            <p:strVal val="#ppt_x"/>
                                          </p:val>
                                        </p:tav>
                                      </p:tavLst>
                                    </p:anim>
                                    <p:anim calcmode="lin" valueType="num">
                                      <p:cBhvr>
                                        <p:cTn id="12" dur="900" fill="hold" decel="100000"/>
                                        <p:tgtEl>
                                          <p:spTgt spid="6"/>
                                        </p:tgtEl>
                                        <p:attrNameLst>
                                          <p:attrName>ppt_y</p:attrName>
                                        </p:attrNameLst>
                                      </p:cBhvr>
                                      <p:tavLst>
                                        <p:tav tm="0">
                                          <p:val>
                                            <p:strVal val="#ppt_y+0.0150"/>
                                          </p:val>
                                        </p:tav>
                                        <p:tav tm="100000">
                                          <p:val>
                                            <p:strVal val="#ppt_y"/>
                                          </p:val>
                                        </p:tav>
                                      </p:tavLst>
                                    </p:anim>
                                  </p:childTnLst>
                                </p:cTn>
                              </p:par>
                              <p:par>
                                <p:cTn id="18" presetID="42" presetClass="entr" presetSubtype="0" fill="hold" grpId="0" nodeType="withEffect">
                                  <p:stCondLst>
                                    <p:cond delay="50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720" decel="100000"/>
                                        <p:tgtEl>
                                          <p:spTgt spid="7"/>
                                        </p:tgtEl>
                                      </p:cBhvr>
                                    </p:animEffect>
                                    <p:anim calcmode="lin" valueType="num">
                                      <p:cBhvr>
                                        <p:cTn id="16" dur="900" fill="hold" decel="100000"/>
                                        <p:tgtEl>
                                          <p:spTgt spid="7"/>
                                        </p:tgtEl>
                                        <p:attrNameLst>
                                          <p:attrName>ppt_x</p:attrName>
                                        </p:attrNameLst>
                                      </p:cBhvr>
                                      <p:tavLst>
                                        <p:tav tm="0">
                                          <p:val>
                                            <p:strVal val="#ppt_x"/>
                                          </p:val>
                                        </p:tav>
                                        <p:tav tm="100000">
                                          <p:val>
                                            <p:strVal val="#ppt_x"/>
                                          </p:val>
                                        </p:tav>
                                      </p:tavLst>
                                    </p:anim>
                                    <p:anim calcmode="lin" valueType="num">
                                      <p:cBhvr>
                                        <p:cTn id="17" dur="900" fill="hold" decel="100000"/>
                                        <p:tgtEl>
                                          <p:spTgt spid="7"/>
                                        </p:tgtEl>
                                        <p:attrNameLst>
                                          <p:attrName>ppt_y</p:attrName>
                                        </p:attrNameLst>
                                      </p:cBhvr>
                                      <p:tavLst>
                                        <p:tav tm="0">
                                          <p:val>
                                            <p:strVal val="#ppt_y+0.0150"/>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33.xml><?xml version="1.0" encoding="utf-8"?>
<p:sld xmlns:p14="http://schemas.microsoft.com/office/powerpoint/2010/main"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orbA" descr="Decorative background light">    </p:cNvPr>
          <p:cNvPicPr>
            <a:picLocks noChangeAspect="1"/>
          </p:cNvPicPr>
          <p:nvPr/>
        </p:nvPicPr>
        <p:blipFill>
          <a:blip r:embed="rId1"/>
          <a:stretch>
            <a:fillRect/>
          </a:stretch>
        </p:blipFill>
        <p:spPr>
          <a:xfrm>
            <a:off x="4892040" y="-685800"/>
            <a:ext cx="8686800" cy="8686800"/>
          </a:xfrm>
          <a:prstGeom prst="rect">
            <a:avLst/>
          </a:prstGeom>
        </p:spPr>
      </p:pic>
      <p:pic>
        <p:nvPicPr>
          <p:cNvPr id="3" name="!!orbB" descr="Decorative background light">    </p:cNvPr>
          <p:cNvPicPr>
            <a:picLocks noChangeAspect="1"/>
          </p:cNvPicPr>
          <p:nvPr/>
        </p:nvPicPr>
        <p:blipFill>
          <a:blip r:embed="rId2"/>
          <a:stretch>
            <a:fillRect/>
          </a:stretch>
        </p:blipFill>
        <p:spPr>
          <a:xfrm>
            <a:off x="-2468880" y="-2743200"/>
            <a:ext cx="6400800" cy="6400800"/>
          </a:xfrm>
          <a:prstGeom prst="rect">
            <a:avLst/>
          </a:prstGeom>
        </p:spPr>
      </p:pic>
      <p:pic>
        <p:nvPicPr>
          <p:cNvPr id="4" name="!!drop" descr="Oil drop illustration">    </p:cNvPr>
          <p:cNvPicPr>
            <a:picLocks noChangeAspect="1"/>
          </p:cNvPicPr>
          <p:nvPr/>
        </p:nvPicPr>
        <p:blipFill>
          <a:blip r:embed="rId3"/>
          <a:stretch>
            <a:fillRect/>
          </a:stretch>
        </p:blipFill>
        <p:spPr>
          <a:xfrm>
            <a:off x="7269480" y="1325880"/>
            <a:ext cx="3977640" cy="5020056"/>
          </a:xfrm>
          <a:prstGeom prst="rect">
            <a:avLst/>
          </a:prstGeom>
        </p:spPr>
      </p:pic>
      <p:sp>
        <p:nvSpPr>
          <p:cNvPr id="5" name="!!title"/>
          <p:cNvSpPr txBox="1"/>
          <p:nvPr/>
        </p:nvSpPr>
        <p:spPr>
          <a:xfrm>
            <a:off x="548640" y="1828800"/>
            <a:ext cx="6583680" cy="1280160"/>
          </a:xfrm>
          <a:prstGeom prst="rect">
            <a:avLst/>
          </a:prstGeom>
          <a:noFill/>
          <a:ln/>
        </p:spPr>
        <p:txBody>
          <a:bodyPr wrap="square" lIns="0" tIns="0" rIns="0" bIns="0" rtlCol="0" anchor="t"/>
          <a:lstStyle/>
          <a:p>
            <a:pPr indent="0" marL="0">
              <a:buNone/>
            </a:pPr>
            <a:r>
              <a:rPr lang="en-US" sz="8800" b="1" dirty="0">
                <a:solidFill>
                  <a:schemeClr val="tx1"/>
                </a:solidFill>
                <a:latin typeface="Arial" pitchFamily="34" charset="0"/>
                <a:ea typeface="Arial" pitchFamily="34" charset="-122"/>
                <a:cs typeface="Arial" pitchFamily="34" charset="-120"/>
              </a:rPr>
              <a:t>Thank you</a:t>
            </a:r>
            <a:endParaRPr lang="en-US" sz="8800" dirty="0"/>
          </a:p>
        </p:txBody>
      </p:sp>
      <p:sp>
        <p:nvSpPr>
          <p:cNvPr id="6" name="thanks_t_1"/>
          <p:cNvSpPr txBox="1"/>
          <p:nvPr/>
        </p:nvSpPr>
        <p:spPr>
          <a:xfrm>
            <a:off x="548640" y="3154680"/>
            <a:ext cx="6583680" cy="731520"/>
          </a:xfrm>
          <a:prstGeom prst="rect">
            <a:avLst/>
          </a:prstGeom>
          <a:noFill/>
          <a:ln/>
        </p:spPr>
        <p:txBody>
          <a:bodyPr wrap="square" lIns="0" tIns="0" rIns="0" bIns="0" rtlCol="0" anchor="t"/>
          <a:lstStyle/>
          <a:p>
            <a:pPr indent="0" marL="0">
              <a:buNone/>
            </a:pPr>
            <a:r>
              <a:rPr lang="en-US" sz="4000" dirty="0">
                <a:solidFill>
                  <a:schemeClr val="tx2"/>
                </a:solidFill>
                <a:latin typeface="Arial" pitchFamily="34" charset="0"/>
                <a:ea typeface="Arial" pitchFamily="34" charset="-122"/>
                <a:cs typeface="Arial" pitchFamily="34" charset="-120"/>
              </a:rPr>
              <a:t>Questions?</a:t>
            </a:r>
            <a:endParaRPr lang="en-US" sz="4000" dirty="0"/>
          </a:p>
        </p:txBody>
      </p:sp>
      <p:sp>
        <p:nvSpPr>
          <p:cNvPr id="7" name="thanks_t_2"/>
          <p:cNvSpPr txBox="1"/>
          <p:nvPr/>
        </p:nvSpPr>
        <p:spPr>
          <a:xfrm>
            <a:off x="548640" y="4434840"/>
            <a:ext cx="6766560" cy="1188720"/>
          </a:xfrm>
          <a:prstGeom prst="rect">
            <a:avLst/>
          </a:prstGeom>
          <a:noFill/>
          <a:ln/>
        </p:spPr>
        <p:txBody>
          <a:bodyPr wrap="square" lIns="0" tIns="0" rIns="0" bIns="0" rtlCol="0" anchor="t"/>
          <a:lstStyle/>
          <a:p>
            <a:pPr indent="0" marL="0">
              <a:spcAft>
                <a:spcPts val="400"/>
              </a:spcAft>
              <a:buNone/>
            </a:pPr>
            <a:r>
              <a:rPr lang="en-US" sz="2400" b="1" dirty="0">
                <a:solidFill>
                  <a:schemeClr val="tx1"/>
                </a:solidFill>
                <a:latin typeface="Arial" pitchFamily="34" charset="0"/>
                <a:ea typeface="Arial" pitchFamily="34" charset="-122"/>
                <a:cs typeface="Arial" pitchFamily="34" charset="-120"/>
              </a:rPr>
              <a:t>Shahad Issa Obaid Alghriabi</a:t>
            </a:r>
            <a:endParaRPr lang="en-US" sz="2400" dirty="0"/>
          </a:p>
          <a:p>
            <a:pPr indent="0" marL="0">
              <a:spcAft>
                <a:spcPts val="400"/>
              </a:spcAft>
              <a:buNone/>
            </a:pPr>
            <a:r>
              <a:rPr lang="en-US" sz="1600" dirty="0">
                <a:solidFill>
                  <a:schemeClr val="tx2"/>
                </a:solidFill>
                <a:latin typeface="Arial" pitchFamily="34" charset="0"/>
                <a:ea typeface="Arial" pitchFamily="34" charset="-122"/>
                <a:cs typeface="Arial" pitchFamily="34" charset="-120"/>
              </a:rPr>
              <a:t>EGCH2230 · Petroleum and Petrochemical Processing</a:t>
            </a:r>
            <a:endParaRPr lang="en-US" sz="2400" dirty="0"/>
          </a:p>
          <a:p>
            <a:pPr indent="0" marL="0">
              <a:spcAft>
                <a:spcPts val="400"/>
              </a:spcAft>
              <a:buNone/>
            </a:pPr>
            <a:r>
              <a:rPr lang="en-US" sz="1600" dirty="0">
                <a:solidFill>
                  <a:schemeClr val="tx2"/>
                </a:solidFill>
                <a:latin typeface="Arial" pitchFamily="34" charset="0"/>
                <a:ea typeface="Arial" pitchFamily="34" charset="-122"/>
                <a:cs typeface="Arial" pitchFamily="34" charset="-120"/>
              </a:rPr>
              <a:t>University of Technology and Applied Sciences · Salalah</a:t>
            </a:r>
            <a:endParaRPr lang="en-US" sz="2400" dirty="0"/>
          </a:p>
        </p:txBody>
      </p:sp>
      <p:sp>
        <p:nvSpPr>
          <p:cNvPr id="8" name="thanks_back_bg"/>
          <p:cNvSpPr/>
          <p:nvPr/>
        </p:nvSpPr>
        <p:spPr>
          <a:xfrm>
            <a:off x="548640" y="5623560"/>
            <a:ext cx="2377440" cy="457200"/>
          </a:xfrm>
          <a:prstGeom prst="roundRect">
            <a:avLst>
              <a:gd name="adj" fmla="val 50000"/>
            </a:avLst>
          </a:prstGeom>
          <a:solidFill>
            <a:srgbClr val="2C2C2E"/>
          </a:solidFill>
          <a:ln w="15875">
            <a:solidFill>
              <a:srgbClr val="3A3A3C"/>
            </a:solidFill>
            <a:prstDash val="solid"/>
          </a:ln>
        </p:spPr>
      </p:sp>
      <p:pic>
        <p:nvPicPr>
          <p:cNvPr id="9" name="thanks_back_ic" descr="Decorative graphic">    </p:cNvPr>
          <p:cNvPicPr>
            <a:picLocks noChangeAspect="1"/>
          </p:cNvPicPr>
          <p:nvPr/>
        </p:nvPicPr>
        <p:blipFill>
          <a:blip r:embed="rId4"/>
          <a:stretch>
            <a:fillRect/>
          </a:stretch>
        </p:blipFill>
        <p:spPr>
          <a:xfrm>
            <a:off x="819055" y="5737860"/>
            <a:ext cx="228600" cy="228600"/>
          </a:xfrm>
          <a:prstGeom prst="rect">
            <a:avLst/>
          </a:prstGeom>
        </p:spPr>
      </p:pic>
      <p:sp>
        <p:nvSpPr>
          <p:cNvPr id="10" name="thanks_back_tx"/>
          <p:cNvSpPr txBox="1"/>
          <p:nvPr/>
        </p:nvSpPr>
        <p:spPr>
          <a:xfrm>
            <a:off x="1120807" y="5623560"/>
            <a:ext cx="1717739" cy="457200"/>
          </a:xfrm>
          <a:prstGeom prst="rect">
            <a:avLst/>
          </a:prstGeom>
          <a:noFill/>
          <a:ln/>
        </p:spPr>
        <p:txBody>
          <a:bodyPr wrap="square" lIns="0" tIns="0" rIns="0" bIns="0" rtlCol="0" anchor="ctr"/>
          <a:lstStyle/>
          <a:p>
            <a:pPr algn="l" indent="0" marL="0">
              <a:buNone/>
            </a:pPr>
            <a:r>
              <a:rPr lang="en-US" sz="1500" b="1" dirty="0">
                <a:solidFill>
                  <a:schemeClr val="tx1"/>
                </a:solidFill>
                <a:latin typeface="Arial" pitchFamily="34" charset="0"/>
                <a:ea typeface="Arial" pitchFamily="34" charset="-122"/>
                <a:cs typeface="Arial" pitchFamily="34" charset="-120"/>
              </a:rPr>
              <a:t>Back to contents</a:t>
            </a:r>
            <a:endParaRPr lang="en-US" sz="1500" dirty="0"/>
          </a:p>
        </p:txBody>
      </p:sp>
      <p:sp>
        <p:nvSpPr>
          <p:cNvPr id="11" name="thanks_back_hit">
            <a:hlinkClick r:id="rId5" tooltip="Back to contents" action="ppaction://hlinksldjump" highlightClick="1"/>
          </p:cNvPr>
          <p:cNvSpPr/>
          <p:nvPr/>
        </p:nvSpPr>
        <p:spPr>
          <a:xfrm>
            <a:off x="548640" y="5623560"/>
            <a:ext cx="2377440" cy="457200"/>
          </a:xfrm>
          <a:prstGeom prst="roundRect">
            <a:avLst>
              <a:gd name="adj" fmla="val 50000"/>
            </a:avLst>
          </a:prstGeom>
          <a:solidFill>
            <a:srgbClr val="000000">
              <a:alpha val="0"/>
            </a:srgbClr>
          </a:solidFill>
          <a:ln/>
        </p:spPr>
      </p:sp>
      <p:pic>
        <p:nvPicPr>
          <p:cNvPr id="13" name="!!badge" descr="University of Technology and Applied Sciences, Salalah">    </p:cNvPr>
          <p:cNvPicPr>
            <a:picLocks noChangeAspect="1"/>
          </p:cNvPicPr>
          <p:nvPr/>
        </p:nvPicPr>
        <p:blipFill>
          <a:blip r:embed="rId6"/>
          <a:stretch>
            <a:fillRect/>
          </a:stretch>
        </p:blipFill>
        <p:spPr>
          <a:xfrm>
            <a:off x="8899855" y="411480"/>
            <a:ext cx="2743200" cy="113006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0" presetClass="path" presetSubtype="0" fill="hold" grpId="0" nodeType="afterEffect" repeatCount="indefinite" autoRev="1">
                                  <p:stCondLst>
                                    <p:cond delay="0"/>
                                  </p:stCondLst>
                                  <p:childTnLst>
                                    <p:animMotion origin="layout" path="M 0 0 L 0.0350 -0.0300 E" pathEditMode="relative" ptsTypes="">
                                      <p:cBhvr>
                                        <p:cTn id="5" dur="13000" fill="hold" accel="50000" decel="50000"/>
                                        <p:tgtEl>
                                          <p:spTgt spid="2"/>
                                        </p:tgtEl>
                                        <p:attrNameLst>
                                          <p:attrName>ppt_x</p:attrName>
                                          <p:attrName>ppt_y</p:attrName>
                                        </p:attrNameLst>
                                      </p:cBhvr>
                                      <p:rCtr x="0" y="0"/>
                                    </p:animMotion>
                                  </p:childTnLst>
                                </p:cTn>
                              </p:par>
                              <p:par>
                                <p:cTn id="8" presetID="0" presetClass="path" presetSubtype="0" fill="hold" grpId="0" nodeType="withEffect" repeatCount="indefinite" autoRev="1">
                                  <p:stCondLst>
                                    <p:cond delay="0"/>
                                  </p:stCondLst>
                                  <p:childTnLst>
                                    <p:animMotion origin="layout" path="M 0 0 L -0.0300 0.0250 E" pathEditMode="relative" ptsTypes="">
                                      <p:cBhvr>
                                        <p:cTn id="7" dur="15000" fill="hold" accel="50000" decel="50000"/>
                                        <p:tgtEl>
                                          <p:spTgt spid="3"/>
                                        </p:tgtEl>
                                        <p:attrNameLst>
                                          <p:attrName>ppt_x</p:attrName>
                                          <p:attrName>ppt_y</p:attrName>
                                        </p:attrNameLst>
                                      </p:cBhvr>
                                      <p:rCtr x="0" y="0"/>
                                    </p:animMotion>
                                  </p:childTnLst>
                                </p:cTn>
                              </p:par>
                              <p:par>
                                <p:cTn id="10" presetID="0" presetClass="path" presetSubtype="0" fill="hold" grpId="0" nodeType="withEffect" repeatCount="indefinite" autoRev="1">
                                  <p:stCondLst>
                                    <p:cond delay="0"/>
                                  </p:stCondLst>
                                  <p:childTnLst>
                                    <p:animMotion origin="layout" path="M 0 0 L 0.0000 -0.0140 E" pathEditMode="relative" ptsTypes="">
                                      <p:cBhvr>
                                        <p:cTn id="9" dur="3800" fill="hold" accel="50000" decel="50000"/>
                                        <p:tgtEl>
                                          <p:spTgt spid="4"/>
                                        </p:tgtEl>
                                        <p:attrNameLst>
                                          <p:attrName>ppt_x</p:attrName>
                                          <p:attrName>ppt_y</p:attrName>
                                        </p:attrNameLst>
                                      </p:cBhvr>
                                      <p:rCtr x="0" y="0"/>
                                    </p:animMotion>
                                  </p:childTnLst>
                                </p:cTn>
                              </p:par>
                              <p:par>
                                <p:cTn id="15" presetID="42" presetClass="entr" presetSubtype="0" fill="hold" grpId="0" nodeType="withEffect">
                                  <p:stCondLst>
                                    <p:cond delay="60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720" decel="100000"/>
                                        <p:tgtEl>
                                          <p:spTgt spid="6"/>
                                        </p:tgtEl>
                                      </p:cBhvr>
                                    </p:animEffect>
                                    <p:anim calcmode="lin" valueType="num">
                                      <p:cBhvr>
                                        <p:cTn id="13" dur="900" fill="hold" decel="100000"/>
                                        <p:tgtEl>
                                          <p:spTgt spid="6"/>
                                        </p:tgtEl>
                                        <p:attrNameLst>
                                          <p:attrName>ppt_x</p:attrName>
                                        </p:attrNameLst>
                                      </p:cBhvr>
                                      <p:tavLst>
                                        <p:tav tm="0">
                                          <p:val>
                                            <p:strVal val="#ppt_x"/>
                                          </p:val>
                                        </p:tav>
                                        <p:tav tm="100000">
                                          <p:val>
                                            <p:strVal val="#ppt_x"/>
                                          </p:val>
                                        </p:tav>
                                      </p:tavLst>
                                    </p:anim>
                                    <p:anim calcmode="lin" valueType="num">
                                      <p:cBhvr>
                                        <p:cTn id="14" dur="900" fill="hold" decel="100000"/>
                                        <p:tgtEl>
                                          <p:spTgt spid="6"/>
                                        </p:tgtEl>
                                        <p:attrNameLst>
                                          <p:attrName>ppt_y</p:attrName>
                                        </p:attrNameLst>
                                      </p:cBhvr>
                                      <p:tavLst>
                                        <p:tav tm="0">
                                          <p:val>
                                            <p:strVal val="#ppt_y+0.0250"/>
                                          </p:val>
                                        </p:tav>
                                        <p:tav tm="100000">
                                          <p:val>
                                            <p:strVal val="#ppt_y"/>
                                          </p:val>
                                        </p:tav>
                                      </p:tavLst>
                                    </p:anim>
                                  </p:childTnLst>
                                </p:cTn>
                              </p:par>
                              <p:par>
                                <p:cTn id="20" presetID="42" presetClass="entr" presetSubtype="0" fill="hold" grpId="0" nodeType="withEffect">
                                  <p:stCondLst>
                                    <p:cond delay="90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720" decel="100000"/>
                                        <p:tgtEl>
                                          <p:spTgt spid="7"/>
                                        </p:tgtEl>
                                      </p:cBhvr>
                                    </p:animEffect>
                                    <p:anim calcmode="lin" valueType="num">
                                      <p:cBhvr>
                                        <p:cTn id="18" dur="900" fill="hold" decel="100000"/>
                                        <p:tgtEl>
                                          <p:spTgt spid="7"/>
                                        </p:tgtEl>
                                        <p:attrNameLst>
                                          <p:attrName>ppt_x</p:attrName>
                                        </p:attrNameLst>
                                      </p:cBhvr>
                                      <p:tavLst>
                                        <p:tav tm="0">
                                          <p:val>
                                            <p:strVal val="#ppt_x"/>
                                          </p:val>
                                        </p:tav>
                                        <p:tav tm="100000">
                                          <p:val>
                                            <p:strVal val="#ppt_x"/>
                                          </p:val>
                                        </p:tav>
                                      </p:tavLst>
                                    </p:anim>
                                    <p:anim calcmode="lin" valueType="num">
                                      <p:cBhvr>
                                        <p:cTn id="19" dur="900" fill="hold" decel="100000"/>
                                        <p:tgtEl>
                                          <p:spTgt spid="7"/>
                                        </p:tgtEl>
                                        <p:attrNameLst>
                                          <p:attrName>ppt_y</p:attrName>
                                        </p:attrNameLst>
                                      </p:cBhvr>
                                      <p:tavLst>
                                        <p:tav tm="0">
                                          <p:val>
                                            <p:strVal val="#ppt_y+0.0250"/>
                                          </p:val>
                                        </p:tav>
                                        <p:tav tm="100000">
                                          <p:val>
                                            <p:strVal val="#ppt_y"/>
                                          </p:val>
                                        </p:tav>
                                      </p:tavLst>
                                    </p:anim>
                                  </p:childTnLst>
                                </p:cTn>
                              </p:par>
                              <p:par>
                                <p:cTn id="23" presetID="10" presetClass="entr" presetSubtype="0" fill="hold" grpId="0" nodeType="withEffect">
                                  <p:stCondLst>
                                    <p:cond delay="13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700" decel="100000"/>
                                        <p:tgtEl>
                                          <p:spTgt spid="8"/>
                                        </p:tgtEl>
                                      </p:cBhvr>
                                    </p:animEffect>
                                  </p:childTnLst>
                                </p:cTn>
                              </p:par>
                              <p:par>
                                <p:cTn id="26" presetID="10" presetClass="entr" presetSubtype="0" fill="hold" grpId="0" nodeType="withEffect">
                                  <p:stCondLst>
                                    <p:cond delay="130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700" decel="100000"/>
                                        <p:tgtEl>
                                          <p:spTgt spid="10"/>
                                        </p:tgtEl>
                                      </p:cBhvr>
                                    </p:animEffect>
                                  </p:childTnLst>
                                </p:cTn>
                              </p:par>
                              <p:par>
                                <p:cTn id="29" presetID="10" presetClass="entr" presetSubtype="0" fill="hold" grpId="0" nodeType="withEffect">
                                  <p:stCondLst>
                                    <p:cond delay="130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700" decel="100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animBg="1"/>
    </p:bldLst>
  </p:timing>
</p:sld>
</file>

<file path=ppt/theme/theme1.xml><?xml version="1.0" encoding="utf-8"?>
<a:theme xmlns:a="http://schemas.openxmlformats.org/drawingml/2006/main" name="Kuwait Crude">
  <a:themeElements>
    <a:clrScheme name="Kuwait Crude">
      <a:dk1>
        <a:srgbClr val="F5F5F7"/>
      </a:dk1>
      <a:lt1>
        <a:srgbClr val="0B0B0F"/>
      </a:lt1>
      <a:dk2>
        <a:srgbClr val="A1A1A6"/>
      </a:dk2>
      <a:lt2>
        <a:srgbClr val="1C1C1E"/>
      </a:lt2>
      <a:accent1>
        <a:srgbClr val="FF9F0A"/>
      </a:accent1>
      <a:accent2>
        <a:srgbClr val="64D2FF"/>
      </a:accent2>
      <a:accent3>
        <a:srgbClr val="FFD60A"/>
      </a:accent3>
      <a:accent4>
        <a:srgbClr val="FF453A"/>
      </a:accent4>
      <a:accent5>
        <a:srgbClr val="30D158"/>
      </a:accent5>
      <a:accent6>
        <a:srgbClr val="636366"/>
      </a:accent6>
      <a:hlink>
        <a:srgbClr val="64D2FF"/>
      </a:hlink>
      <a:folHlink>
        <a:srgbClr val="BF5AF2"/>
      </a:folHlink>
    </a:clrScheme>
    <a:fontScheme name="Kuwait Crud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University of Technology and Applied Sciences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Kuwait: A Century of Oil and Gas</dc:title>
  <dc:subject>EGCH2230 Petroleum and Petrochemical Processing</dc:subject>
  <dc:creator>Shahad Issa Obaid Alghriabi</dc:creator>
  <cp:lastModifiedBy>Shahad Issa Obaid Alghriabi</cp:lastModifiedBy>
  <cp:revision>1</cp:revision>
  <dcterms:created xsi:type="dcterms:W3CDTF">2026-10-03T19:03:42Z</dcterms:created>
  <dcterms:modified xsi:type="dcterms:W3CDTF">2026-10-03T19:03:42Z</dcterms:modified>
</cp:coreProperties>
</file>