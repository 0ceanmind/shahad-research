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8.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9.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d444522-72a4-ddb3-b070-451238a4e42a}">
          <p14:sldIdLst>
            <p14:sldId id="256"/>
            <p14:sldId id="257"/>
            <p14:sldId id="258"/>
          </p14:sldIdLst>
        </p14:section>
        <p14:section name="01 History &amp; Types" id="{46c42dba-9b69-f2e1-346c-116cc9ef8163}">
          <p14:sldIdLst>
            <p14:sldId id="259"/>
            <p14:sldId id="260"/>
            <p14:sldId id="261"/>
            <p14:sldId id="262"/>
            <p14:sldId id="263"/>
          </p14:sldIdLst>
        </p14:section>
        <p14:section name="02 Resources &amp; Growth" id="{1ee22a9b-f9a2-549d-440a-a952e5ec72c1}">
          <p14:sldIdLst>
            <p14:sldId id="264"/>
            <p14:sldId id="265"/>
            <p14:sldId id="266"/>
            <p14:sldId id="267"/>
            <p14:sldId id="268"/>
            <p14:sldId id="269"/>
          </p14:sldIdLst>
        </p14:section>
        <p14:section name="03 Reservoir Locations" id="{5ea2beb7-b035-6d8a-2174-2e9e7150b3f7}">
          <p14:sldIdLst>
            <p14:sldId id="270"/>
            <p14:sldId id="271"/>
            <p14:sldId id="272"/>
            <p14:sldId id="273"/>
          </p14:sldIdLst>
        </p14:section>
        <p14:section name="04 Exports &amp; Costs" id="{a3c43f2f-cdbd-c776-fd8e-8446fd72080c}">
          <p14:sldIdLst>
            <p14:sldId id="274"/>
            <p14:sldId id="275"/>
            <p14:sldId id="276"/>
            <p14:sldId id="277"/>
            <p14:sldId id="278"/>
            <p14:sldId id="279"/>
            <p14:sldId id="280"/>
          </p14:sldIdLst>
        </p14:section>
        <p14:section name="05 Conclusion &amp; References" id="{fc58855b-36bf-deed-0c77-175d9d907df7}">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3"/>
          <c:y val="0.03"/>
          <c:w val="0.94"/>
          <c:h val="0.94"/>
        </c:manualLayout>
      </c:layout>
      <c:doughnutChart>
        <c:varyColors val="1"/>
        <c:ser>
          <c:idx val="0"/>
          <c:order val="0"/>
          <c:tx>
            <c:strRef>
              <c:f>Sheet1!$B$1</c:f>
              <c:strCache>
                <c:ptCount val="1"/>
                <c:pt idx="0">
                  <c:v>Gas production by type, 2021</c:v>
                </c:pt>
              </c:strCache>
            </c:strRef>
          </c:tx>
          <c:spPr>
            <a:solidFill>
              <a:schemeClr val="accent1"/>
            </a:solidFill>
            <a:ln w="9525" cap="flat">
              <a:solidFill>
                <a:srgbClr val="F9F9F9"/>
              </a:solidFill>
              <a:prstDash val="solid"/>
              <a:round/>
            </a:ln>
            <a:effectLst/>
          </c:spPr>
          <c:dPt>
            <c:idx val="0"/>
            <c:bubble3D val="0"/>
            <c:spPr>
              <a:solidFill>
                <a:srgbClr val="FF9F0A"/>
              </a:solidFill>
              <a:ln w="9525" cap="flat">
                <a:solidFill>
                  <a:srgbClr val="0B0B0F"/>
                </a:solidFill>
                <a:prstDash val="solid"/>
                <a:round/>
              </a:ln>
              <a:effectLst/>
            </c:spPr>
          </c:dPt>
          <c:dPt>
            <c:idx val="1"/>
            <c:bubble3D val="0"/>
            <c:spPr>
              <a:solidFill>
                <a:srgbClr val="64D2FF"/>
              </a:solidFill>
              <a:ln w="9525" cap="flat">
                <a:solidFill>
                  <a:srgbClr val="0B0B0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Associated</c:v>
                </c:pt>
                <c:pt idx="1">
                  <c:v>Non-associated</c:v>
                </c:pt>
              </c:strCache>
            </c:strRef>
          </c:cat>
          <c:val>
            <c:numRef>
              <c:f>Sheet1!$B$2:$B$3</c:f>
              <c:numCache>
                <c:ptCount val="2"/>
                <c:pt idx="0">
                  <c:v>70</c:v>
                </c:pt>
                <c:pt idx="1">
                  <c:v>30</c:v>
                </c:pt>
              </c:numCache>
            </c:numRef>
          </c:val>
        </c:ser>
        <c:firstSliceAng val="0"/>
        <c:holeSize val="72"/>
      </c:doughnutChart>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3"/>
          <c:y val="0.03"/>
          <c:w val="0.94"/>
          <c:h val="0.94"/>
        </c:manualLayout>
      </c:layout>
      <c:doughnutChart>
        <c:varyColors val="1"/>
        <c:ser>
          <c:idx val="0"/>
          <c:order val="0"/>
          <c:tx>
            <c:strRef>
              <c:f>Sheet1!$B$1</c:f>
              <c:strCache>
                <c:ptCount val="1"/>
                <c:pt idx="0">
                  <c:v>Share of world proven crude reserves</c:v>
                </c:pt>
              </c:strCache>
            </c:strRef>
          </c:tx>
          <c:spPr>
            <a:solidFill>
              <a:schemeClr val="accent1"/>
            </a:solidFill>
            <a:ln w="9525" cap="flat">
              <a:solidFill>
                <a:srgbClr val="F9F9F9"/>
              </a:solidFill>
              <a:prstDash val="solid"/>
              <a:round/>
            </a:ln>
            <a:effectLst/>
          </c:spPr>
          <c:dPt>
            <c:idx val="0"/>
            <c:bubble3D val="0"/>
            <c:spPr>
              <a:solidFill>
                <a:srgbClr val="FF9F0A"/>
              </a:solidFill>
              <a:ln w="9525" cap="flat">
                <a:solidFill>
                  <a:srgbClr val="0B0B0F"/>
                </a:solidFill>
                <a:prstDash val="solid"/>
                <a:round/>
              </a:ln>
              <a:effectLst/>
            </c:spPr>
          </c:dPt>
          <c:dPt>
            <c:idx val="1"/>
            <c:bubble3D val="0"/>
            <c:spPr>
              <a:solidFill>
                <a:srgbClr val="2C2C2E"/>
              </a:solidFill>
              <a:ln w="9525" cap="flat">
                <a:solidFill>
                  <a:srgbClr val="0B0B0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Kuwait</c:v>
                </c:pt>
                <c:pt idx="1">
                  <c:v>Rest of world</c:v>
                </c:pt>
              </c:strCache>
            </c:strRef>
          </c:cat>
          <c:val>
            <c:numRef>
              <c:f>Sheet1!$B$2:$B$3</c:f>
              <c:numCache>
                <c:ptCount val="2"/>
                <c:pt idx="0">
                  <c:v>6.5</c:v>
                </c:pt>
                <c:pt idx="1">
                  <c:v>93.5</c:v>
                </c:pt>
              </c:numCache>
            </c:numRef>
          </c:val>
        </c:ser>
        <c:firstSliceAng val="0"/>
        <c:holeSize val="74"/>
      </c:doughnutChart>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75"/>
          <c:y val="0.06"/>
          <c:w val="0.9"/>
          <c:h val="0.8"/>
        </c:manualLayout>
      </c:layout>
      <c:scatterChart>
        <c:scatterStyle val="lineMarker"/>
        <c:varyColors val="0"/>
        <c:ser>
          <c:idx val="0"/>
          <c:order val="0"/>
          <c:tx>
            <c:strRef>
              <c:f>Sheet1!$B$1</c:f>
              <c:strCache>
                <c:ptCount val="1"/>
                <c:pt idx="0">
                  <c:v>Oil production (kb/d)</c:v>
                </c:pt>
              </c:strCache>
            </c:strRef>
          </c:tx>
          <c:spPr>
            <a:solidFill>
              <a:srgbClr val="FF9F0A"/>
            </a:solidFill>
            <a:ln w="50800" cap="flat">
              <a:solidFill>
                <a:srgbClr val="FF9F0A"/>
              </a:solidFill>
              <a:prstDash val="solid"/>
              <a:round/>
            </a:ln>
            <a:effectLst/>
          </c:spPr>
          <c:marker>
            <c:symbol val="none"/>
            <c:size val="6"/>
            <c:spPr>
              <a:solidFill>
                <a:srgbClr val="FF9F0A"/>
              </a:solidFill>
              <a:ln w="9525" cap="flat">
                <a:solidFill>
                  <a:srgbClr val="FF9F0A"/>
                </a:solidFill>
                <a:prstDash val="solid"/>
                <a:round/>
              </a:ln>
              <a:effectLst/>
            </c:spPr>
          </c:marker>
          <c:xVal>
            <c:numRef>
              <c:f>Sheet1!$A$2:$A$64</c:f>
              <c:numCache>
                <c:formatCode>General</c:formatCode>
                <c:ptCount val="63"/>
                <c:pt idx="0">
                  <c:v>1946</c:v>
                </c:pt>
                <c:pt idx="1">
                  <c:v>1950</c:v>
                </c:pt>
                <c:pt idx="2">
                  <c:v>1955</c:v>
                </c:pt>
                <c:pt idx="3">
                  <c:v>1965</c:v>
                </c:pt>
                <c:pt idx="4">
                  <c:v>1966</c:v>
                </c:pt>
                <c:pt idx="5">
                  <c:v>1967</c:v>
                </c:pt>
                <c:pt idx="6">
                  <c:v>1968</c:v>
                </c:pt>
                <c:pt idx="7">
                  <c:v>1969</c:v>
                </c:pt>
                <c:pt idx="8">
                  <c:v>1970</c:v>
                </c:pt>
                <c:pt idx="9">
                  <c:v>1971</c:v>
                </c:pt>
                <c:pt idx="10">
                  <c:v>1972</c:v>
                </c:pt>
                <c:pt idx="11">
                  <c:v>1973</c:v>
                </c:pt>
                <c:pt idx="12">
                  <c:v>1974</c:v>
                </c:pt>
                <c:pt idx="13">
                  <c:v>1975</c:v>
                </c:pt>
                <c:pt idx="14">
                  <c:v>1976</c:v>
                </c:pt>
                <c:pt idx="15">
                  <c:v>1977</c:v>
                </c:pt>
                <c:pt idx="16">
                  <c:v>1978</c:v>
                </c:pt>
                <c:pt idx="17">
                  <c:v>1979</c:v>
                </c:pt>
                <c:pt idx="18">
                  <c:v>1980</c:v>
                </c:pt>
                <c:pt idx="19">
                  <c:v>1981</c:v>
                </c:pt>
                <c:pt idx="20">
                  <c:v>1982</c:v>
                </c:pt>
                <c:pt idx="21">
                  <c:v>1983</c:v>
                </c:pt>
                <c:pt idx="22">
                  <c:v>1984</c:v>
                </c:pt>
                <c:pt idx="23">
                  <c:v>1985</c:v>
                </c:pt>
                <c:pt idx="24">
                  <c:v>1986</c:v>
                </c:pt>
                <c:pt idx="25">
                  <c:v>1987</c:v>
                </c:pt>
                <c:pt idx="26">
                  <c:v>1988</c:v>
                </c:pt>
                <c:pt idx="27">
                  <c:v>1989</c:v>
                </c:pt>
                <c:pt idx="28">
                  <c:v>1990</c:v>
                </c:pt>
                <c:pt idx="29">
                  <c:v>1991</c:v>
                </c:pt>
                <c:pt idx="30">
                  <c:v>1992</c:v>
                </c:pt>
                <c:pt idx="31">
                  <c:v>1993</c:v>
                </c:pt>
                <c:pt idx="32">
                  <c:v>1994</c:v>
                </c:pt>
                <c:pt idx="33">
                  <c:v>1995</c:v>
                </c:pt>
                <c:pt idx="34">
                  <c:v>1996</c:v>
                </c:pt>
                <c:pt idx="35">
                  <c:v>1997</c:v>
                </c:pt>
                <c:pt idx="36">
                  <c:v>1998</c:v>
                </c:pt>
                <c:pt idx="37">
                  <c:v>1999</c:v>
                </c:pt>
                <c:pt idx="38">
                  <c:v>2000</c:v>
                </c:pt>
                <c:pt idx="39">
                  <c:v>2001</c:v>
                </c:pt>
                <c:pt idx="40">
                  <c:v>2002</c:v>
                </c:pt>
                <c:pt idx="41">
                  <c:v>2003</c:v>
                </c:pt>
                <c:pt idx="42">
                  <c:v>2004</c:v>
                </c:pt>
                <c:pt idx="43">
                  <c:v>2005</c:v>
                </c:pt>
                <c:pt idx="44">
                  <c:v>2006</c:v>
                </c:pt>
                <c:pt idx="45">
                  <c:v>2007</c:v>
                </c:pt>
                <c:pt idx="46">
                  <c:v>2008</c:v>
                </c:pt>
                <c:pt idx="47">
                  <c:v>2009</c:v>
                </c:pt>
                <c:pt idx="48">
                  <c:v>2010</c:v>
                </c:pt>
                <c:pt idx="49">
                  <c:v>2011</c:v>
                </c:pt>
                <c:pt idx="50">
                  <c:v>2012</c:v>
                </c:pt>
                <c:pt idx="51">
                  <c:v>2013</c:v>
                </c:pt>
                <c:pt idx="52">
                  <c:v>2014</c:v>
                </c:pt>
                <c:pt idx="53">
                  <c:v>2015</c:v>
                </c:pt>
                <c:pt idx="54">
                  <c:v>2016</c:v>
                </c:pt>
                <c:pt idx="55">
                  <c:v>2017</c:v>
                </c:pt>
                <c:pt idx="56">
                  <c:v>2018</c:v>
                </c:pt>
                <c:pt idx="57">
                  <c:v>2019</c:v>
                </c:pt>
                <c:pt idx="58">
                  <c:v>2020</c:v>
                </c:pt>
                <c:pt idx="59">
                  <c:v>2021</c:v>
                </c:pt>
                <c:pt idx="60">
                  <c:v>2022</c:v>
                </c:pt>
                <c:pt idx="61">
                  <c:v>2023</c:v>
                </c:pt>
                <c:pt idx="62">
                  <c:v>2024</c:v>
                </c:pt>
              </c:numCache>
            </c:numRef>
          </c:xVal>
          <c:yVal>
            <c:numRef>
              <c:f>Sheet1!$B$2:$B$64</c:f>
              <c:numCache>
                <c:formatCode>General</c:formatCode>
                <c:ptCount val="63"/>
                <c:pt idx="0">
                  <c:v>16</c:v>
                </c:pt>
                <c:pt idx="1">
                  <c:v>344</c:v>
                </c:pt>
                <c:pt idx="2">
                  <c:v>1096</c:v>
                </c:pt>
                <c:pt idx="3">
                  <c:v>2375</c:v>
                </c:pt>
                <c:pt idx="4">
                  <c:v>2505</c:v>
                </c:pt>
                <c:pt idx="5">
                  <c:v>2522</c:v>
                </c:pt>
                <c:pt idx="6">
                  <c:v>2656</c:v>
                </c:pt>
                <c:pt idx="7">
                  <c:v>2811</c:v>
                </c:pt>
                <c:pt idx="8">
                  <c:v>3029</c:v>
                </c:pt>
                <c:pt idx="9">
                  <c:v>3243</c:v>
                </c:pt>
                <c:pt idx="10">
                  <c:v>3339</c:v>
                </c:pt>
                <c:pt idx="11">
                  <c:v>3074</c:v>
                </c:pt>
                <c:pt idx="12">
                  <c:v>2599</c:v>
                </c:pt>
                <c:pt idx="13">
                  <c:v>2132</c:v>
                </c:pt>
                <c:pt idx="14">
                  <c:v>2207</c:v>
                </c:pt>
                <c:pt idx="15">
                  <c:v>2028</c:v>
                </c:pt>
                <c:pt idx="16">
                  <c:v>2193</c:v>
                </c:pt>
                <c:pt idx="17">
                  <c:v>2618</c:v>
                </c:pt>
                <c:pt idx="18">
                  <c:v>1757</c:v>
                </c:pt>
                <c:pt idx="19">
                  <c:v>1187</c:v>
                </c:pt>
                <c:pt idx="20">
                  <c:v>865</c:v>
                </c:pt>
                <c:pt idx="21">
                  <c:v>1115</c:v>
                </c:pt>
                <c:pt idx="22">
                  <c:v>1232</c:v>
                </c:pt>
                <c:pt idx="23">
                  <c:v>1127</c:v>
                </c:pt>
                <c:pt idx="24">
                  <c:v>1210</c:v>
                </c:pt>
                <c:pt idx="25">
                  <c:v>1065</c:v>
                </c:pt>
                <c:pt idx="26">
                  <c:v>1291</c:v>
                </c:pt>
                <c:pt idx="27">
                  <c:v>1405</c:v>
                </c:pt>
                <c:pt idx="28">
                  <c:v>964</c:v>
                </c:pt>
                <c:pt idx="29">
                  <c:v>185</c:v>
                </c:pt>
                <c:pt idx="30">
                  <c:v>1077</c:v>
                </c:pt>
                <c:pt idx="31">
                  <c:v>1939</c:v>
                </c:pt>
                <c:pt idx="32">
                  <c:v>2087</c:v>
                </c:pt>
                <c:pt idx="33">
                  <c:v>2130</c:v>
                </c:pt>
                <c:pt idx="34">
                  <c:v>2137</c:v>
                </c:pt>
                <c:pt idx="35">
                  <c:v>2139</c:v>
                </c:pt>
                <c:pt idx="36">
                  <c:v>2241</c:v>
                </c:pt>
                <c:pt idx="37">
                  <c:v>2092</c:v>
                </c:pt>
                <c:pt idx="38">
                  <c:v>2244</c:v>
                </c:pt>
                <c:pt idx="39">
                  <c:v>2176</c:v>
                </c:pt>
                <c:pt idx="40">
                  <c:v>2019</c:v>
                </c:pt>
                <c:pt idx="41">
                  <c:v>2364</c:v>
                </c:pt>
                <c:pt idx="42">
                  <c:v>2522</c:v>
                </c:pt>
                <c:pt idx="43">
                  <c:v>2669</c:v>
                </c:pt>
                <c:pt idx="44">
                  <c:v>2746</c:v>
                </c:pt>
                <c:pt idx="45">
                  <c:v>2677</c:v>
                </c:pt>
                <c:pt idx="46">
                  <c:v>2813</c:v>
                </c:pt>
                <c:pt idx="47">
                  <c:v>2507</c:v>
                </c:pt>
                <c:pt idx="48">
                  <c:v>2564</c:v>
                </c:pt>
                <c:pt idx="49">
                  <c:v>2924</c:v>
                </c:pt>
                <c:pt idx="50">
                  <c:v>3191</c:v>
                </c:pt>
                <c:pt idx="51">
                  <c:v>3135</c:v>
                </c:pt>
                <c:pt idx="52">
                  <c:v>3106</c:v>
                </c:pt>
                <c:pt idx="53">
                  <c:v>3069</c:v>
                </c:pt>
                <c:pt idx="54">
                  <c:v>3150</c:v>
                </c:pt>
                <c:pt idx="55">
                  <c:v>3009</c:v>
                </c:pt>
                <c:pt idx="56">
                  <c:v>3050</c:v>
                </c:pt>
                <c:pt idx="57">
                  <c:v>2976</c:v>
                </c:pt>
                <c:pt idx="58">
                  <c:v>2721</c:v>
                </c:pt>
                <c:pt idx="59">
                  <c:v>2707</c:v>
                </c:pt>
                <c:pt idx="60">
                  <c:v>3023</c:v>
                </c:pt>
                <c:pt idx="61">
                  <c:v>2910</c:v>
                </c:pt>
                <c:pt idx="62">
                  <c:v>2728</c:v>
                </c:pt>
              </c:numCache>
            </c:numRef>
          </c:yVal>
          <c:smooth val="0"/>
        </c:ser>
        <c:dLbls>
          <c:numFmt formatCode="General"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2025"/>
          <c:min val="1940"/>
        </c:scaling>
        <c:delete val="0"/>
        <c:axPos val="b"/>
        <c:numFmt formatCode="0" sourceLinked="1"/>
        <c:majorTickMark val="none"/>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majorUnit val="10"/>
      </c:valAx>
      <c:valAx>
        <c:axId val="2094734552"/>
        <c:scaling>
          <c:orientation val="minMax"/>
          <c:max val="3500"/>
          <c:min val="0"/>
        </c:scaling>
        <c:delete val="0"/>
        <c:axPos val="l"/>
        <c:majorGridlines>
          <c:spPr>
            <a:ln w="9525" cap="flat">
              <a:solidFill>
                <a:srgbClr val="2C2C2E"/>
              </a:solidFill>
              <a:prstDash val="solid"/>
              <a:round/>
            </a:ln>
          </c:spPr>
        </c:majorGridlines>
        <c:numFmt formatCode="0" sourceLinked="0"/>
        <c:majorTickMark val="none"/>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midCat"/>
        <c:majorUnit val="1000"/>
      </c:valAx>
      <c:spPr>
        <a:solidFill>
          <a:srgbClr val="0B0B0F">
            <a:alpha val="0"/>
          </a:srgbClr>
        </a:solidFill>
        <a:ln>
          <a:noFill/>
        </a:ln>
        <a:effectLst/>
      </c:spPr>
    </c:plotArea>
    <c:plotVisOnly val="1"/>
    <c:dispBlanksAs val="span"/>
    <c:showDLblsOverMax val="1"/>
  </c:chart>
  <c:spPr>
    <a:solidFill>
      <a:srgbClr val="0B0B0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8"/>
          <c:y val="0.05"/>
          <c:w val="0.9"/>
          <c:h val="0.8"/>
        </c:manualLayout>
      </c:layout>
      <c:areaChart>
        <c:grouping val="stacked"/>
        <c:varyColors val="0"/>
        <c:ser>
          <c:idx val="0"/>
          <c:order val="0"/>
          <c:tx>
            <c:strRef>
              <c:f>Sheet1!$B$1</c:f>
              <c:strCache>
                <c:ptCount val="1"/>
                <c:pt idx="0">
                  <c:v>Domestic production</c:v>
                </c:pt>
              </c:strCache>
            </c:strRef>
          </c:tx>
          <c:spPr>
            <a:solidFill>
              <a:srgbClr val="64D2FF">
                <a:alpha val="100000"/>
              </a:srgbClr>
            </a:solidFill>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cat>
            <c:multiLvlStrRef>
              <c:f>Sheet1!$A$2:$A$26</c:f>
              <c:multiLvlStrCache>
                <c:ptCount val="25"/>
                <c:lvl>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lvl>
              </c:multiLvlStrCache>
            </c:multiLvlStrRef>
          </c:cat>
          <c:val>
            <c:numRef>
              <c:f>Sheet1!$B$2:$B$26</c:f>
              <c:numCache>
                <c:formatCode>General</c:formatCode>
                <c:ptCount val="25"/>
                <c:pt idx="0">
                  <c:v>9.1</c:v>
                </c:pt>
                <c:pt idx="1">
                  <c:v>9</c:v>
                </c:pt>
                <c:pt idx="2">
                  <c:v>8.3</c:v>
                </c:pt>
                <c:pt idx="3">
                  <c:v>9.5</c:v>
                </c:pt>
                <c:pt idx="4">
                  <c:v>10.4</c:v>
                </c:pt>
                <c:pt idx="5">
                  <c:v>11.7</c:v>
                </c:pt>
                <c:pt idx="6">
                  <c:v>11.8</c:v>
                </c:pt>
                <c:pt idx="7">
                  <c:v>10.7</c:v>
                </c:pt>
                <c:pt idx="8">
                  <c:v>12.1</c:v>
                </c:pt>
                <c:pt idx="9">
                  <c:v>10.9</c:v>
                </c:pt>
                <c:pt idx="10">
                  <c:v>11.1</c:v>
                </c:pt>
                <c:pt idx="11">
                  <c:v>12.9</c:v>
                </c:pt>
                <c:pt idx="12">
                  <c:v>14.7</c:v>
                </c:pt>
                <c:pt idx="13">
                  <c:v>15.5</c:v>
                </c:pt>
                <c:pt idx="14">
                  <c:v>14.3</c:v>
                </c:pt>
                <c:pt idx="15">
                  <c:v>16.1</c:v>
                </c:pt>
                <c:pt idx="16">
                  <c:v>16.4</c:v>
                </c:pt>
                <c:pt idx="17">
                  <c:v>16.2</c:v>
                </c:pt>
                <c:pt idx="18">
                  <c:v>16.9</c:v>
                </c:pt>
                <c:pt idx="19">
                  <c:v>13.3</c:v>
                </c:pt>
                <c:pt idx="20">
                  <c:v>12.2</c:v>
                </c:pt>
                <c:pt idx="21">
                  <c:v>12.1</c:v>
                </c:pt>
                <c:pt idx="22">
                  <c:v>13.2</c:v>
                </c:pt>
                <c:pt idx="23">
                  <c:v>14.8</c:v>
                </c:pt>
                <c:pt idx="24">
                  <c:v>14.9</c:v>
                </c:pt>
              </c:numCache>
            </c:numRef>
          </c:val>
        </c:ser>
        <c:ser>
          <c:idx val="1"/>
          <c:order val="1"/>
          <c:tx>
            <c:strRef>
              <c:f>Sheet1!$C$1</c:f>
              <c:strCache>
                <c:ptCount val="1"/>
                <c:pt idx="0">
                  <c:v>LNG imports</c:v>
                </c:pt>
              </c:strCache>
            </c:strRef>
          </c:tx>
          <c:spPr>
            <a:solidFill>
              <a:srgbClr val="5A5A5F">
                <a:alpha val="100000"/>
              </a:srgbClr>
            </a:solidFill>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cat>
            <c:multiLvlStrRef>
              <c:f>Sheet1!$A$2:$A$26</c:f>
              <c:multiLvlStrCache>
                <c:ptCount val="25"/>
                <c:lvl>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lvl>
              </c:multiLvlStrCache>
            </c:multiLvlStrRef>
          </c:cat>
          <c:val>
            <c:numRef>
              <c:f>Sheet1!$C$2:$C$26</c:f>
              <c:numCache>
                <c:formatCode>General</c:formatCode>
                <c:ptCount val="25"/>
                <c:pt idx="0">
                  <c:v>0</c:v>
                </c:pt>
                <c:pt idx="1">
                  <c:v>0</c:v>
                </c:pt>
                <c:pt idx="2">
                  <c:v>0</c:v>
                </c:pt>
                <c:pt idx="3">
                  <c:v>0</c:v>
                </c:pt>
                <c:pt idx="4">
                  <c:v>0</c:v>
                </c:pt>
                <c:pt idx="5">
                  <c:v>0</c:v>
                </c:pt>
                <c:pt idx="6">
                  <c:v>0</c:v>
                </c:pt>
                <c:pt idx="7">
                  <c:v>0</c:v>
                </c:pt>
                <c:pt idx="8">
                  <c:v>0</c:v>
                </c:pt>
                <c:pt idx="9">
                  <c:v>0.9</c:v>
                </c:pt>
                <c:pt idx="10">
                  <c:v>2.9</c:v>
                </c:pt>
                <c:pt idx="11">
                  <c:v>3</c:v>
                </c:pt>
                <c:pt idx="12">
                  <c:v>2.8</c:v>
                </c:pt>
                <c:pt idx="13">
                  <c:v>2.3</c:v>
                </c:pt>
                <c:pt idx="14">
                  <c:v>3.6</c:v>
                </c:pt>
                <c:pt idx="15">
                  <c:v>4.2</c:v>
                </c:pt>
                <c:pt idx="16">
                  <c:v>4.7</c:v>
                </c:pt>
                <c:pt idx="17">
                  <c:v>4.8</c:v>
                </c:pt>
                <c:pt idx="18">
                  <c:v>4.3</c:v>
                </c:pt>
                <c:pt idx="19">
                  <c:v>5.1</c:v>
                </c:pt>
                <c:pt idx="20">
                  <c:v>5.7</c:v>
                </c:pt>
                <c:pt idx="21">
                  <c:v>7.7</c:v>
                </c:pt>
                <c:pt idx="22">
                  <c:v>8.5</c:v>
                </c:pt>
                <c:pt idx="23">
                  <c:v>8.9</c:v>
                </c:pt>
                <c:pt idx="24">
                  <c:v>9.7</c:v>
                </c:pt>
              </c:numCache>
            </c:numRef>
          </c:val>
        </c:ser>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tickLblSkip val="4"/>
      </c:catAx>
      <c:valAx>
        <c:axId val="2094734552"/>
        <c:scaling>
          <c:orientation val="minMax"/>
          <c:max val="25"/>
          <c:min val="0"/>
        </c:scaling>
        <c:delete val="0"/>
        <c:axPos val="l"/>
        <c:majorGridlines>
          <c:spPr>
            <a:ln w="9525" cap="flat">
              <a:solidFill>
                <a:srgbClr val="2C2C2E"/>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between"/>
        <c:majorUnit val="5"/>
      </c:valAx>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2"/>
          <c:y val="0.02"/>
          <c:w val="0.72"/>
          <c:h val="0.96"/>
        </c:manualLayout>
      </c:layout>
      <c:barChart>
        <c:barDir val="bar"/>
        <c:grouping val="clustered"/>
        <c:varyColors val="0"/>
        <c:ser>
          <c:idx val="0"/>
          <c:order val="0"/>
          <c:tx>
            <c:strRef>
              <c:f>Sheet1!$B$1</c:f>
              <c:strCache>
                <c:ptCount val="1"/>
                <c:pt idx="0">
                  <c:v>Share of crude export value (%)</c:v>
                </c:pt>
              </c:strCache>
            </c:strRef>
          </c:tx>
          <c:spPr>
            <a:solidFill>
              <a:srgbClr val="FF9F0A"/>
            </a:solidFill>
            <a:effectLst/>
          </c:spPr>
          <c:invertIfNegative val="0"/>
          <c:dLbls>
            <c:numFmt formatCode="0.0&quot;%&quot;" sourceLinked="0"/>
            <c:txPr>
              <a:bodyPr/>
              <a:lstStyle/>
              <a:p>
                <a:pPr>
                  <a:defRPr b="1" i="0" strike="noStrike" sz="1600" u="none">
                    <a:solidFill>
                      <a:srgbClr val="F5F5F7"/>
                    </a:solidFill>
                    <a:latin typeface="+mn-lt"/>
                  </a:defRPr>
                </a:pPr>
              </a:p>
            </c:txPr>
            <c:showLegendKey val="0"/>
            <c:showVal val="1"/>
            <c:showCatName val="0"/>
            <c:showSerName val="0"/>
            <c:showPercent val="0"/>
            <c:showBubbleSize val="0"/>
            <c:showLeaderLines val="0"/>
          </c:dLbls>
          <c:dPt>
            <c:idx val="0"/>
            <c:invertIfNegative val="0"/>
            <c:bubble3D val="0"/>
            <c:spPr>
              <a:solidFill>
                <a:srgbClr val="FF9F0A"/>
              </a:solidFill>
              <a:effectLst/>
            </c:spPr>
          </c:dPt>
          <c:dPt>
            <c:idx val="1"/>
            <c:invertIfNegative val="0"/>
            <c:bubble3D val="0"/>
            <c:spPr>
              <a:solidFill>
                <a:srgbClr val="F2A33A"/>
              </a:solidFill>
              <a:effectLst/>
            </c:spPr>
          </c:dPt>
          <c:dPt>
            <c:idx val="2"/>
            <c:invertIfNegative val="0"/>
            <c:bubble3D val="0"/>
            <c:spPr>
              <a:solidFill>
                <a:srgbClr val="E5A85A"/>
              </a:solidFill>
              <a:effectLst/>
            </c:spPr>
          </c:dPt>
          <c:dPt>
            <c:idx val="3"/>
            <c:invertIfNegative val="0"/>
            <c:bubble3D val="0"/>
            <c:spPr>
              <a:solidFill>
                <a:srgbClr val="D8AD7A"/>
              </a:solidFill>
              <a:effectLst/>
            </c:spPr>
          </c:dPt>
          <c:dPt>
            <c:idx val="4"/>
            <c:invertIfNegative val="0"/>
            <c:bubble3D val="0"/>
            <c:spPr>
              <a:solidFill>
                <a:srgbClr val="CBB29A"/>
              </a:solidFill>
              <a:effectLst/>
            </c:spPr>
          </c:dPt>
          <c:dPt>
            <c:idx val="5"/>
            <c:invertIfNegative val="0"/>
            <c:bubble3D val="0"/>
            <c:spPr>
              <a:solidFill>
                <a:srgbClr val="636366"/>
              </a:solidFill>
              <a:effectLst/>
            </c:spPr>
          </c:dPt>
          <c:cat>
            <c:multiLvlStrRef>
              <c:f>Sheet1!$A$2:$A$7</c:f>
              <c:multiLvlStrCache>
                <c:ptCount val="6"/>
                <c:lvl>
                  <c:pt idx="0">
                    <c:v>China</c:v>
                  </c:pt>
                  <c:pt idx="1">
                    <c:v>South Korea</c:v>
                  </c:pt>
                  <c:pt idx="2">
                    <c:v>Japan</c:v>
                  </c:pt>
                  <c:pt idx="3">
                    <c:v>Taiwan</c:v>
                  </c:pt>
                  <c:pt idx="4">
                    <c:v>India</c:v>
                  </c:pt>
                  <c:pt idx="5">
                    <c:v>Others</c:v>
                  </c:pt>
                </c:lvl>
              </c:multiLvlStrCache>
            </c:multiLvlStrRef>
          </c:cat>
          <c:val>
            <c:numRef>
              <c:f>Sheet1!$B$2:$B$7</c:f>
              <c:numCache>
                <c:formatCode>General</c:formatCode>
                <c:ptCount val="6"/>
                <c:pt idx="0">
                  <c:v>33.4</c:v>
                </c:pt>
                <c:pt idx="1">
                  <c:v>23.1</c:v>
                </c:pt>
                <c:pt idx="2">
                  <c:v>16.9</c:v>
                </c:pt>
                <c:pt idx="3">
                  <c:v>10.8</c:v>
                </c:pt>
                <c:pt idx="4">
                  <c:v>10.7</c:v>
                </c:pt>
                <c:pt idx="5">
                  <c:v>5.2</c:v>
                </c:pt>
              </c:numCache>
            </c:numRef>
          </c:val>
        </c:ser>
        <c:dLbls>
          <c:numFmt formatCode="0.0&quot;%&quot;" sourceLinked="0"/>
          <c:txPr>
            <a:bodyPr/>
            <a:lstStyle/>
            <a:p>
              <a:pPr>
                <a:defRPr b="1" i="0" strike="noStrike" sz="1600" u="none">
                  <a:solidFill>
                    <a:srgbClr val="F5F5F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800" b="0" i="0" u="none" strike="noStrike">
                <a:solidFill>
                  <a:srgbClr val="F5F5F7"/>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between"/>
      </c:valAx>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
          <c:y val="0.05"/>
          <c:w val="0.86"/>
          <c:h val="0.8"/>
        </c:manualLayout>
      </c:layout>
      <c:lineChart>
        <c:varyColors val="0"/>
        <c:ser>
          <c:idx val="0"/>
          <c:order val="0"/>
          <c:tx>
            <c:strRef>
              <c:f>Sheet1!$B$1</c:f>
              <c:strCache>
                <c:ptCount val="1"/>
                <c:pt idx="0">
                  <c:v>Crude oil</c:v>
                </c:pt>
              </c:strCache>
            </c:strRef>
          </c:tx>
          <c:spPr>
            <a:solidFill>
              <a:srgbClr val="FF9F0A"/>
            </a:solidFill>
            <a:ln w="50800" cap="flat">
              <a:solidFill>
                <a:srgbClr val="FF9F0A"/>
              </a:solidFill>
              <a:prstDash val="solid"/>
              <a:round/>
            </a:ln>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c:symbol val="circle"/>
            <c:size val="10"/>
            <c:spPr>
              <a:solidFill>
                <a:srgbClr val="FF9F0A"/>
              </a:solidFill>
              <a:ln w="9525" cap="flat">
                <a:solidFill>
                  <a:srgbClr val="FF9F0A"/>
                </a:solidFill>
                <a:prstDash val="solid"/>
                <a:round/>
              </a:ln>
              <a:effectLst/>
            </c:spPr>
          </c:marker>
          <c:cat>
            <c:multiLvlStrRef>
              <c:f>Sheet1!$A$2:$A$10</c:f>
              <c:multiLvlStrCache>
                <c:ptCount val="9"/>
                <c:lvl>
                  <c:pt idx="0">
                    <c:v>2017</c:v>
                  </c:pt>
                  <c:pt idx="1">
                    <c:v>2018</c:v>
                  </c:pt>
                  <c:pt idx="2">
                    <c:v>2019</c:v>
                  </c:pt>
                  <c:pt idx="3">
                    <c:v>2020</c:v>
                  </c:pt>
                  <c:pt idx="4">
                    <c:v>2021</c:v>
                  </c:pt>
                  <c:pt idx="5">
                    <c:v>2022</c:v>
                  </c:pt>
                  <c:pt idx="6">
                    <c:v>2023</c:v>
                  </c:pt>
                  <c:pt idx="7">
                    <c:v>2024</c:v>
                  </c:pt>
                  <c:pt idx="8">
                    <c:v>2025</c:v>
                  </c:pt>
                </c:lvl>
              </c:multiLvlStrCache>
            </c:multiLvlStrRef>
          </c:cat>
          <c:val>
            <c:numRef>
              <c:f>Sheet1!$B$2:$B$10</c:f>
              <c:numCache>
                <c:formatCode>General</c:formatCode>
                <c:ptCount val="9"/>
                <c:pt idx="0">
                  <c:v>2009</c:v>
                </c:pt>
                <c:pt idx="1">
                  <c:v>2053</c:v>
                </c:pt>
                <c:pt idx="2">
                  <c:v>1998</c:v>
                </c:pt>
                <c:pt idx="3">
                  <c:v>1816</c:v>
                </c:pt>
                <c:pt idx="4">
                  <c:v>1744</c:v>
                </c:pt>
                <c:pt idx="5">
                  <c:v>1879</c:v>
                </c:pt>
                <c:pt idx="6">
                  <c:v>1568</c:v>
                </c:pt>
                <c:pt idx="7">
                  <c:v>1176</c:v>
                </c:pt>
                <c:pt idx="8">
                  <c:v>1330</c:v>
                </c:pt>
              </c:numCache>
            </c:numRef>
          </c:val>
          <c:smooth val="0"/>
        </c:ser>
        <c:ser>
          <c:idx val="1"/>
          <c:order val="1"/>
          <c:tx>
            <c:strRef>
              <c:f>Sheet1!$C$1</c:f>
              <c:strCache>
                <c:ptCount val="1"/>
                <c:pt idx="0">
                  <c:v>Refined products</c:v>
                </c:pt>
              </c:strCache>
            </c:strRef>
          </c:tx>
          <c:spPr>
            <a:solidFill>
              <a:srgbClr val="F5F5F7"/>
            </a:solidFill>
            <a:ln w="50800" cap="flat">
              <a:solidFill>
                <a:srgbClr val="F5F5F7"/>
              </a:solidFill>
              <a:prstDash val="solid"/>
              <a:round/>
            </a:ln>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c:symbol val="circle"/>
            <c:size val="10"/>
            <c:spPr>
              <a:solidFill>
                <a:srgbClr val="F5F5F7"/>
              </a:solidFill>
              <a:ln w="9525" cap="flat">
                <a:solidFill>
                  <a:srgbClr val="F5F5F7"/>
                </a:solidFill>
                <a:prstDash val="solid"/>
                <a:round/>
              </a:ln>
              <a:effectLst/>
            </c:spPr>
          </c:marker>
          <c:cat>
            <c:multiLvlStrRef>
              <c:f>Sheet1!$A$2:$A$10</c:f>
              <c:multiLvlStrCache>
                <c:ptCount val="9"/>
                <c:lvl>
                  <c:pt idx="0">
                    <c:v>2017</c:v>
                  </c:pt>
                  <c:pt idx="1">
                    <c:v>2018</c:v>
                  </c:pt>
                  <c:pt idx="2">
                    <c:v>2019</c:v>
                  </c:pt>
                  <c:pt idx="3">
                    <c:v>2020</c:v>
                  </c:pt>
                  <c:pt idx="4">
                    <c:v>2021</c:v>
                  </c:pt>
                  <c:pt idx="5">
                    <c:v>2022</c:v>
                  </c:pt>
                  <c:pt idx="6">
                    <c:v>2023</c:v>
                  </c:pt>
                  <c:pt idx="7">
                    <c:v>2024</c:v>
                  </c:pt>
                  <c:pt idx="8">
                    <c:v>2025</c:v>
                  </c:pt>
                </c:lvl>
              </c:multiLvlStrCache>
            </c:multiLvlStrRef>
          </c:cat>
          <c:val>
            <c:numRef>
              <c:f>Sheet1!$C$2:$C$10</c:f>
              <c:numCache>
                <c:formatCode>General</c:formatCode>
                <c:ptCount val="9"/>
                <c:pt idx="0">
                  <c:v>636</c:v>
                </c:pt>
                <c:pt idx="1">
                  <c:v>626</c:v>
                </c:pt>
                <c:pt idx="2">
                  <c:v>585</c:v>
                </c:pt>
                <c:pt idx="3">
                  <c:v>527</c:v>
                </c:pt>
                <c:pt idx="4">
                  <c:v>604</c:v>
                </c:pt>
                <c:pt idx="5">
                  <c:v>711</c:v>
                </c:pt>
                <c:pt idx="6">
                  <c:v>964</c:v>
                </c:pt>
                <c:pt idx="7">
                  <c:v>1196</c:v>
                </c:pt>
                <c:pt idx="8">
                  <c:v>1071</c:v>
                </c:pt>
              </c:numCache>
            </c:numRef>
          </c:val>
          <c:smooth val="0"/>
        </c:ser>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9525" cap="flat">
              <a:solidFill>
                <a:srgbClr val="2C2C2E"/>
              </a:solidFill>
              <a:prstDash val="solid"/>
              <a:round/>
            </a:ln>
          </c:spPr>
        </c:majorGridlines>
        <c:numFmt formatCode="#,##0" sourceLinked="0"/>
        <c:majorTickMark val="out"/>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between"/>
        <c:majorUnit val="500"/>
      </c:valAx>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9"/>
          <c:y val="0.06"/>
          <c:w val="0.88"/>
          <c:h val="0.8"/>
        </c:manualLayout>
      </c:layout>
      <c:lineChart>
        <c:varyColors val="0"/>
        <c:ser>
          <c:idx val="0"/>
          <c:order val="0"/>
          <c:tx>
            <c:strRef>
              <c:f>Sheet1!$B$1</c:f>
              <c:strCache>
                <c:ptCount val="1"/>
                <c:pt idx="0">
                  <c:v>Brent, annual average (US$/bbl)</c:v>
                </c:pt>
              </c:strCache>
            </c:strRef>
          </c:tx>
          <c:spPr>
            <a:solidFill>
              <a:srgbClr val="FF9F0A"/>
            </a:solidFill>
            <a:ln w="50800" cap="flat">
              <a:solidFill>
                <a:srgbClr val="FF9F0A"/>
              </a:solidFill>
              <a:prstDash val="solid"/>
              <a:round/>
            </a:ln>
            <a:effectLst/>
          </c:spPr>
          <c:invertIfNegative val="0"/>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c:symbol val="none"/>
            <c:size val="6"/>
            <c:spPr>
              <a:solidFill>
                <a:srgbClr val="FF9F0A"/>
              </a:solidFill>
              <a:ln w="9525" cap="flat">
                <a:solidFill>
                  <a:srgbClr val="FF9F0A"/>
                </a:solidFill>
                <a:prstDash val="solid"/>
                <a:round/>
              </a:ln>
              <a:effectLst/>
            </c:spPr>
          </c:marker>
          <c:cat>
            <c:multiLvlStrRef>
              <c:f>Sheet1!$A$2:$A$27</c:f>
              <c:multiLvlStrCache>
                <c:ptCount val="26"/>
                <c:lvl>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pt idx="17">
                    <c:v>2017</c:v>
                  </c:pt>
                  <c:pt idx="18">
                    <c:v>2018</c:v>
                  </c:pt>
                  <c:pt idx="19">
                    <c:v>2019</c:v>
                  </c:pt>
                  <c:pt idx="20">
                    <c:v>2020</c:v>
                  </c:pt>
                  <c:pt idx="21">
                    <c:v>2021</c:v>
                  </c:pt>
                  <c:pt idx="22">
                    <c:v>2022</c:v>
                  </c:pt>
                  <c:pt idx="23">
                    <c:v>2023</c:v>
                  </c:pt>
                  <c:pt idx="24">
                    <c:v>2024</c:v>
                  </c:pt>
                  <c:pt idx="25">
                    <c:v>2025</c:v>
                  </c:pt>
                </c:lvl>
              </c:multiLvlStrCache>
            </c:multiLvlStrRef>
          </c:cat>
          <c:val>
            <c:numRef>
              <c:f>Sheet1!$B$2:$B$27</c:f>
              <c:numCache>
                <c:formatCode>General</c:formatCode>
                <c:ptCount val="26"/>
                <c:pt idx="0">
                  <c:v>28.76</c:v>
                </c:pt>
                <c:pt idx="1">
                  <c:v>24.51</c:v>
                </c:pt>
                <c:pt idx="2">
                  <c:v>25.14</c:v>
                </c:pt>
                <c:pt idx="3">
                  <c:v>29</c:v>
                </c:pt>
                <c:pt idx="4">
                  <c:v>38.78</c:v>
                </c:pt>
                <c:pt idx="5">
                  <c:v>54.9</c:v>
                </c:pt>
                <c:pt idx="6">
                  <c:v>65.25</c:v>
                </c:pt>
                <c:pt idx="7">
                  <c:v>72.61</c:v>
                </c:pt>
                <c:pt idx="8">
                  <c:v>96.94</c:v>
                </c:pt>
                <c:pt idx="9">
                  <c:v>61.74</c:v>
                </c:pt>
                <c:pt idx="10">
                  <c:v>79.61</c:v>
                </c:pt>
                <c:pt idx="11">
                  <c:v>111.26</c:v>
                </c:pt>
                <c:pt idx="12">
                  <c:v>111.57</c:v>
                </c:pt>
                <c:pt idx="13">
                  <c:v>108.56</c:v>
                </c:pt>
                <c:pt idx="14">
                  <c:v>99.02</c:v>
                </c:pt>
                <c:pt idx="15">
                  <c:v>52.32</c:v>
                </c:pt>
                <c:pt idx="16">
                  <c:v>43.64</c:v>
                </c:pt>
                <c:pt idx="17">
                  <c:v>54.12</c:v>
                </c:pt>
                <c:pt idx="18">
                  <c:v>71.34</c:v>
                </c:pt>
                <c:pt idx="19">
                  <c:v>64.3</c:v>
                </c:pt>
                <c:pt idx="20">
                  <c:v>41.96</c:v>
                </c:pt>
                <c:pt idx="21">
                  <c:v>70.86</c:v>
                </c:pt>
                <c:pt idx="22">
                  <c:v>100.93</c:v>
                </c:pt>
                <c:pt idx="23">
                  <c:v>82.49</c:v>
                </c:pt>
                <c:pt idx="24">
                  <c:v>80.52</c:v>
                </c:pt>
                <c:pt idx="25">
                  <c:v>69.14</c:v>
                </c:pt>
              </c:numCache>
            </c:numRef>
          </c:val>
          <c:smooth val="0"/>
        </c:ser>
        <c:dLbls>
          <c:numFmt formatCode="#,##0" sourceLinked="0"/>
          <c:txPr>
            <a:bodyPr/>
            <a:lstStyle/>
            <a:p>
              <a:pPr>
                <a:defRPr b="1" i="0" strike="noStrike" sz="1600" u="none">
                  <a:solidFill>
                    <a:srgbClr val="F5F5F7"/>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A1A1A6"/>
                </a:solidFill>
                <a:latin typeface="+mn-lt"/>
              </a:defRPr>
            </a:pPr>
            <a:endParaRPr lang="en-US"/>
          </a:p>
        </c:txPr>
        <c:crossAx val="2094734552"/>
        <c:crosses val="autoZero"/>
        <c:auto val="1"/>
        <c:lblAlgn val="ctr"/>
        <c:noMultiLvlLbl val="1"/>
        <c:tickLblSkip val="5"/>
      </c:catAx>
      <c:valAx>
        <c:axId val="2094734552"/>
        <c:scaling>
          <c:orientation val="minMax"/>
          <c:max val="125"/>
          <c:min val="0"/>
        </c:scaling>
        <c:delete val="0"/>
        <c:axPos val="l"/>
        <c:majorGridlines>
          <c:spPr>
            <a:ln w="9525" cap="flat">
              <a:solidFill>
                <a:srgbClr val="2C2C2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between"/>
        <c:majorUnit val="25"/>
      </c:valAx>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3"/>
          <c:y val="0.03"/>
          <c:w val="0.94"/>
          <c:h val="0.94"/>
        </c:manualLayout>
      </c:layout>
      <c:doughnutChart>
        <c:varyColors val="1"/>
        <c:ser>
          <c:idx val="0"/>
          <c:order val="0"/>
          <c:tx>
            <c:strRef>
              <c:f>Sheet1!$B$1</c:f>
              <c:strCache>
                <c:ptCount val="1"/>
                <c:pt idx="0">
                  <c:v>LNG imports by supplier, 2024 (%)</c:v>
                </c:pt>
              </c:strCache>
            </c:strRef>
          </c:tx>
          <c:spPr>
            <a:solidFill>
              <a:schemeClr val="accent1"/>
            </a:solidFill>
            <a:ln w="9525" cap="flat">
              <a:solidFill>
                <a:srgbClr val="F9F9F9"/>
              </a:solidFill>
              <a:prstDash val="solid"/>
              <a:round/>
            </a:ln>
            <a:effectLst/>
          </c:spPr>
          <c:dPt>
            <c:idx val="0"/>
            <c:bubble3D val="0"/>
            <c:spPr>
              <a:solidFill>
                <a:srgbClr val="64D2FF"/>
              </a:solidFill>
              <a:ln w="19050" cap="flat">
                <a:solidFill>
                  <a:srgbClr val="0B0B0F"/>
                </a:solidFill>
                <a:prstDash val="solid"/>
                <a:round/>
              </a:ln>
              <a:effectLst/>
            </c:spPr>
          </c:dPt>
          <c:dPt>
            <c:idx val="1"/>
            <c:bubble3D val="0"/>
            <c:spPr>
              <a:solidFill>
                <a:srgbClr val="3A8FB7"/>
              </a:solidFill>
              <a:ln w="19050" cap="flat">
                <a:solidFill>
                  <a:srgbClr val="0B0B0F"/>
                </a:solidFill>
                <a:prstDash val="solid"/>
                <a:round/>
              </a:ln>
              <a:effectLst/>
            </c:spPr>
          </c:dPt>
          <c:dPt>
            <c:idx val="2"/>
            <c:bubble3D val="0"/>
            <c:spPr>
              <a:solidFill>
                <a:srgbClr val="2B6A88"/>
              </a:solidFill>
              <a:ln w="19050" cap="flat">
                <a:solidFill>
                  <a:srgbClr val="0B0B0F"/>
                </a:solidFill>
                <a:prstDash val="solid"/>
                <a:round/>
              </a:ln>
              <a:effectLst/>
            </c:spPr>
          </c:dPt>
          <c:dPt>
            <c:idx val="3"/>
            <c:bubble3D val="0"/>
            <c:spPr>
              <a:solidFill>
                <a:srgbClr val="46566A"/>
              </a:solidFill>
              <a:ln w="19050" cap="flat">
                <a:solidFill>
                  <a:srgbClr val="0B0B0F"/>
                </a:solidFill>
                <a:prstDash val="solid"/>
                <a:round/>
              </a:ln>
              <a:effectLst/>
            </c:spPr>
          </c:dPt>
          <c:dPt>
            <c:idx val="4"/>
            <c:bubble3D val="0"/>
            <c:spPr>
              <a:solidFill>
                <a:srgbClr val="FFD60A"/>
              </a:solidFill>
              <a:ln w="19050" cap="flat">
                <a:solidFill>
                  <a:srgbClr val="0B0B0F"/>
                </a:solidFill>
                <a:prstDash val="solid"/>
                <a:round/>
              </a:ln>
              <a:effectLst/>
            </c:spPr>
          </c:dPt>
          <c:dPt>
            <c:idx val="5"/>
            <c:bubble3D val="0"/>
            <c:spPr>
              <a:solidFill>
                <a:srgbClr val="5E5E63"/>
              </a:solidFill>
              <a:ln w="19050" cap="flat">
                <a:solidFill>
                  <a:srgbClr val="0B0B0F"/>
                </a:solidFill>
                <a:prstDash val="solid"/>
                <a:round/>
              </a:ln>
              <a:effectLst/>
            </c:spPr>
          </c:dPt>
          <c:dPt>
            <c:idx val="6"/>
            <c:bubble3D val="0"/>
            <c:spPr>
              <a:solidFill>
                <a:srgbClr val="48484A"/>
              </a:solidFill>
              <a:ln w="19050" cap="flat">
                <a:solidFill>
                  <a:srgbClr val="0B0B0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5"/>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6"/>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Qatar</c:v>
                </c:pt>
                <c:pt idx="1">
                  <c:v>Nigeria</c:v>
                </c:pt>
                <c:pt idx="2">
                  <c:v>United States</c:v>
                </c:pt>
                <c:pt idx="3">
                  <c:v>Angola</c:v>
                </c:pt>
                <c:pt idx="4">
                  <c:v>Oman</c:v>
                </c:pt>
                <c:pt idx="5">
                  <c:v>Russia</c:v>
                </c:pt>
                <c:pt idx="6">
                  <c:v>Others</c:v>
                </c:pt>
              </c:strCache>
            </c:strRef>
          </c:cat>
          <c:val>
            <c:numRef>
              <c:f>Sheet1!$B$2:$B$8</c:f>
              <c:numCache>
                <c:ptCount val="7"/>
                <c:pt idx="0">
                  <c:v>61.4</c:v>
                </c:pt>
                <c:pt idx="1">
                  <c:v>16.6</c:v>
                </c:pt>
                <c:pt idx="2">
                  <c:v>9.5</c:v>
                </c:pt>
                <c:pt idx="3">
                  <c:v>3.7</c:v>
                </c:pt>
                <c:pt idx="4">
                  <c:v>3</c:v>
                </c:pt>
                <c:pt idx="5">
                  <c:v>3</c:v>
                </c:pt>
                <c:pt idx="6">
                  <c:v>2.9</c:v>
                </c:pt>
              </c:numCache>
            </c:numRef>
          </c:val>
        </c:ser>
        <c:firstSliceAng val="0"/>
        <c:holeSize val="70"/>
      </c:doughnutChart>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04"/>
          <c:y val="0.12"/>
          <c:w val="0.92"/>
          <c:h val="0.76"/>
        </c:manualLayout>
      </c:layout>
      <c:barChart>
        <c:barDir val="col"/>
        <c:grouping val="clustered"/>
        <c:varyColors val="0"/>
        <c:ser>
          <c:idx val="0"/>
          <c:order val="0"/>
          <c:tx>
            <c:strRef>
              <c:f>Sheet1!$B$1</c:f>
              <c:strCache>
                <c:ptCount val="1"/>
                <c:pt idx="0">
                  <c:v>Kuwait crude exports, 2026 (kb/d)</c:v>
                </c:pt>
              </c:strCache>
            </c:strRef>
          </c:tx>
          <c:spPr>
            <a:solidFill>
              <a:srgbClr val="FF9F0A"/>
            </a:solidFill>
            <a:effectLst/>
          </c:spPr>
          <c:invertIfNegative val="0"/>
          <c:dLbls>
            <c:numFmt formatCode="#,##0" sourceLinked="0"/>
            <c:txPr>
              <a:bodyPr/>
              <a:lstStyle/>
              <a:p>
                <a:pPr>
                  <a:defRPr b="1" i="0" strike="noStrike" sz="1600" u="none">
                    <a:solidFill>
                      <a:srgbClr val="F5F5F7"/>
                    </a:solidFill>
                    <a:latin typeface="+mn-lt"/>
                  </a:defRPr>
                </a:pPr>
              </a:p>
            </c:txPr>
            <c:showLegendKey val="0"/>
            <c:showVal val="1"/>
            <c:showCatName val="0"/>
            <c:showSerName val="0"/>
            <c:showPercent val="0"/>
            <c:showBubbleSize val="0"/>
            <c:showLeaderLines val="0"/>
          </c:dLbls>
          <c:dPt>
            <c:idx val="0"/>
            <c:invertIfNegative val="0"/>
            <c:bubble3D val="0"/>
            <c:spPr>
              <a:solidFill>
                <a:srgbClr val="FF9F0A"/>
              </a:solidFill>
              <a:effectLst/>
            </c:spPr>
          </c:dPt>
          <c:dPt>
            <c:idx val="1"/>
            <c:invertIfNegative val="0"/>
            <c:bubble3D val="0"/>
            <c:spPr>
              <a:solidFill>
                <a:srgbClr val="FF9F0A"/>
              </a:solidFill>
              <a:effectLst/>
            </c:spPr>
          </c:dPt>
          <c:dPt>
            <c:idx val="2"/>
            <c:invertIfNegative val="0"/>
            <c:bubble3D val="0"/>
            <c:spPr>
              <a:solidFill>
                <a:srgbClr val="FF453A"/>
              </a:solidFill>
              <a:effectLst/>
            </c:spPr>
          </c:dPt>
          <c:dPt>
            <c:idx val="3"/>
            <c:invertIfNegative val="0"/>
            <c:bubble3D val="0"/>
            <c:spPr>
              <a:solidFill>
                <a:srgbClr val="FF453A"/>
              </a:solidFill>
              <a:effectLst/>
            </c:spPr>
          </c:dPt>
          <c:dPt>
            <c:idx val="4"/>
            <c:invertIfNegative val="0"/>
            <c:bubble3D val="0"/>
            <c:spPr>
              <a:solidFill>
                <a:srgbClr val="FF453A"/>
              </a:solidFill>
              <a:effectLst/>
            </c:spPr>
          </c:dPt>
          <c:dPt>
            <c:idx val="5"/>
            <c:invertIfNegative val="0"/>
            <c:bubble3D val="0"/>
            <c:spPr>
              <a:solidFill>
                <a:srgbClr val="FF9F0A"/>
              </a:solidFill>
              <a:effectLst/>
            </c:spPr>
          </c:dPt>
          <c:dPt>
            <c:idx val="6"/>
            <c:invertIfNegative val="0"/>
            <c:bubble3D val="0"/>
            <c:spPr>
              <a:solidFill>
                <a:srgbClr val="FF9F0A"/>
              </a:solidFill>
              <a:effectLst/>
            </c:spPr>
          </c:dPt>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1254</c:v>
                </c:pt>
                <c:pt idx="1">
                  <c:v>1213</c:v>
                </c:pt>
                <c:pt idx="2">
                  <c:v>500</c:v>
                </c:pt>
                <c:pt idx="3">
                  <c:v>41</c:v>
                </c:pt>
                <c:pt idx="4">
                  <c:v>24</c:v>
                </c:pt>
                <c:pt idx="5">
                  <c:v>1060</c:v>
                </c:pt>
                <c:pt idx="6">
                  <c:v>1129</c:v>
                </c:pt>
              </c:numCache>
            </c:numRef>
          </c:val>
        </c:ser>
        <c:dLbls>
          <c:numFmt formatCode="#,##0" sourceLinked="0"/>
          <c:txPr>
            <a:bodyPr/>
            <a:lstStyle/>
            <a:p>
              <a:pPr>
                <a:defRPr b="1" i="0" strike="noStrike" sz="1600" u="none">
                  <a:solidFill>
                    <a:srgbClr val="F5F5F7"/>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800" b="0" i="0" u="none" strike="noStrike">
                <a:solidFill>
                  <a:srgbClr val="F5F5F7"/>
                </a:solidFill>
                <a:latin typeface="+mn-lt"/>
              </a:defRPr>
            </a:pPr>
            <a:endParaRPr lang="en-US"/>
          </a:p>
        </c:txPr>
        <c:crossAx val="2094734552"/>
        <c:crosses val="autoZero"/>
        <c:auto val="1"/>
        <c:lblAlgn val="ctr"/>
        <c:noMultiLvlLbl val="1"/>
      </c:catAx>
      <c:valAx>
        <c:axId val="2094734552"/>
        <c:scaling>
          <c:orientation val="minMax"/>
          <c:max val="1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A1A1A6"/>
                </a:solidFill>
                <a:latin typeface="+mn-lt"/>
              </a:defRPr>
            </a:pPr>
            <a:endParaRPr lang="en-US"/>
          </a:p>
        </c:txPr>
        <c:crossAx val="2094734554"/>
        <c:crosses val="autoZero"/>
        <c:crossBetween val="between"/>
      </c:valAx>
      <c:spPr>
        <a:solidFill>
          <a:srgbClr val="0B0B0F">
            <a:alpha val="0"/>
          </a:srgbClr>
        </a:solidFill>
        <a:ln>
          <a:noFill/>
        </a:ln>
        <a:effectLst/>
      </c:spPr>
    </c:plotArea>
    <c:plotVisOnly val="1"/>
    <c:dispBlanksAs val="span"/>
  </c:chart>
  <c:spPr>
    <a:solidFill>
      <a:srgbClr val="0B0B0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presentation summarises my EGCH2230 research on the State of Kuwait: the history and types of its oil and gas, its resources and industrial growth, where its reservoirs are, and where its exports go and what they cost. Full references are in the written report and on the final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navigation hub. Each tile is a link to its chapter; the small grid button on every slide links back here, so questions can be answered by jumping straight to the relevant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 is smaller than Oman's Dhofar governorate but holds 101.5 billion barrels of proven crude reserves (OPEC), about 6.5% of the world total. In 2024 it produced about 2.4 million barrels per day of crude while OPEC+ cuts were in force. Refining capacity reached about 1.4 million b/d once the Al-Zour refinery was fully on line in 2023-2024. Petroleum provides more than 90% of export earnings and of government revenue (Britannica).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how Kuwait's oil industry began and developed, and which types of crude oil and natural gas it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1934: Sheikh Ahmad Al-Jaber signed the concession with the Kuwait Oil Company, a 50/50 venture of Anglo-Persian (later BP) and Gulf Oil. 1938: Burgan No. 1 struck oil at about 1,120 m in the Wara sandstone (23 Feb 1938 per KOC; some sources say 22 Feb). 1946: first crude export on 30 June. 1960: Kuwait co-founded OPEC in Baghdad and created KNPC. 1974-75: the state took 60%, then 100%, of KOC. 1980: Kuwait Petroleum Corporation formed as the holding company. 1990-91: the Iraqi invasion and the well fires. 2018: Jurassic production facilities started and Kuwait Super Light crude was first exported. 2024: Al-Zour refinery reached its full 615,000 b/d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August 1990 and February 1991 about 80% of KOC's producing wells and facilities were destroyed (KOC). More than 700 wells were set on fire; the U.S. Department of Defense counted over 750 of 943 wells ignited or damaged. At the peak an estimated 4-6 million barrels per day of oil and 70-100 million cubic metres per day of gas were burning, and more than one billion barrels were lost. The last fire, Burgan 118, was capped on 6 November 1991. Kuwait's own team, the Kuwait Wild Well Killers, capped 41 wells in 54 days. Spilled oil formed more than 100 oil lakes covering about 19 square kilometres (U.S. DoD).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 Export Crude (KEC) is the main export blend: medium and sour, about 30.5 degrees API and 2.5% sulfur, mostly from the Cretaceous reservoirs of Greater Burgan. Since July 2018 Kuwait also exports Kuwait Super Light Crude from the deep Jurassic reservoirs of North Kuwait: about 48 degrees API and only about 0.4% sulfur. Kuwait Export Heavy is about 16 degrees API with almost 5% sulfur. Khafji crude from the offshore Partitioned Zone shared with Saudi Arabia is about 28.5 degrees API and 2.85% sulfur. For refiners, sour crudes need hydrotreating capacity, which is why Kuwait's new refineries have large desulfurisation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of Kuwait's gas production in 2021 was associated gas, released when crude oil is produced, so gas supply follows oil output and OPEC+ quotas. The second type is non-associated gas from deep Jurassic reservoirs in North Kuwait: high-pressure, sour gas produced with light oil and condensate through the Jurassic Production Facilities since 2018. Because demand, mainly for power and desalination, exceeds supply, Kuwait has imported LNG since 2009. In 2024 about 40% of the gas it consumed was imported (Energy Institute data). Proven gas reserves are about 63 trillion cubic feet.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two: how much oil and gas Kuwait has, how its production has changed over eighty years, and how its industry grew from a single concession into a full value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OPEC's 2025 and 2026 bulletins both list Kuwait's proven crude reserves at 101.5 billion barrels, about 6.5% of the world's 1,567-1,572 billion barrels, which ranks Kuwait seventh in the world (EIA). The figure includes Kuwait's half of the Partitioned Zone shared with Saudi Arabia. Reserves jumped from about 68 billion barrels in 1980 to 97 billion in 1990 after OPEC-wide revisions and have stayed at 101.5 billion since about 2010. At about one billion barrels produced per year, that is roughly a century of output; bp's 2021 review gave a reserves-to-production ratio of 103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rose from about 16 thousand b/d in 1946 to an all-time peak of 3.34 million b/d in 1972 (Energy Institute, total oil including NGLs). After nationalisation, conservation policy and the 1980s price collapse it fell to around one million b/d. The 1990-91 invasion and fires cut it to only 185 thousand b/d in 1991. It recovered within four years and reached 3.15 million b/d in 2016. Since 2017 OPEC+ agreements have set Kuwait's production; in 2024 crude alone averaged about 2.4 million b/d (IMF/OPEC), or about 2.7 million b/d including NGLs.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2008 Kuwait consumed exactly the gas it produced. Demand for power generation and desalination grew faster than associated-gas supply, so since 2009 the gap has been filled with imported LNG. In 2024 Kuwait produced about 15 billion cubic metres and consumed about 25 billion, so roughly 40% was imported. Gas now generates about 62% of Kuwait's electricity, up from 33% in 2000, replacing burning crude and fuel oil in power stations (Energy Institute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1980 the Kuwait Petroleum Corporation has owned the whole chain. KOC explores and produces onshore and offshore Kuwait; KGOC manages Kuwait's share of the Partitioned Zone with Saudi Arabia; KUFPEC invests in upstream projects abroad. KOTC ships crude, products and LPG. KNPC runs the Mina Al-Ahmadi and Mina Abdullah refineries and KIPIC runs the new Al-Zour refinery. PIC, founded in 1963 as the region's first petrochemical company, holds stakes in the EQUATE group with Dow. Kuwait Petroleum International sells fuel under the Q8 brand and holds refining stakes abroad, including the Duqm refinery in 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According to the EIA, Kuwait's refining capacity rose from about 600,000 b/d in January 2021 to about 1.4 million b/d in July 2023. Two things drove this: the new Al-Zour refinery (615,000 b/d, three crude units, run by KIPIC) and KNPC's Clean Fuels Project, which upgraded and integrated Mina Al-Ahmadi (346,000 b/d) and Mina Abdullah (454,000 b/d). Al-Zour first ran at full capacity on 4 February 2024. As a result Kuwait now exports more refined products and less crude. Kuwait Petroleum International also co-owns the 230,000 b/d Duqm refinery in Oman with 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three: the location of Kuwait's oil and gas fields, grouped into four producing areas, and the reservoir rocks they produce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Kuwait's fields fall into four areas. South and East Kuwait is dominated by Greater Burgan (Burgan, Magwa and Ahmadi), the world's second-largest oil field after Ghawar, covering about 820 square kilometres; it has produced about half of Kuwait's output (EIA 2013). North Kuwait has Raudhatain and Sabriya, the deep Jurassic gas and light-oil fields served by the Jurassic Production Facilities, and Ratqa, where heavy oil is produced from the shallow Lower Fars sands with steam. West Kuwait has Minagish and Umm Gudair, which produce from the Minagish Oolite. The Partitioned Zone is shared 50:50 with Saudi Arabia: Wafra onshore and Khafji and Hout offshore, plus the Dorra gas field, which Iran also claims. Since 2024 KOC has announced offshore discoveries at Al-Nokhatha (about 3.2 billion barrels of oil equivalent) and Al-Jlaiaa. Click a region on the right to show its fields. Field positions were taken from the KOC fields map and the Horn giant-field database and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1990, before the invasion, South and East Kuwait supplied about two-thirds of KOC's output, North Kuwait about a quarter and West Kuwait under a tenth (U.S. DoD). The Partitioned Zone fields were shut in from 2014-2015 to 2020; in 2024 Khafji produced about 128,000 b/d and Wafra about 78,000 b/d. The new offshore discoveries announced in 2024-2025 (Al-Nokhatha, Al-Jlaiaa and the Al-Jazah gas-condensate find) add an estimated 4.5 billion barrels of oil equivalent, according to KPC/KOC announcements.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Kuwait's oil comes from a stack of reservoirs. Near the surface, the Miocene Lower Fars sands of North Kuwait hold heavy oil. Most production and the Kuwait Export Crude blend come from Cretaceous rocks: the Burgan Formation sandstones are the most important reservoir in the country, together with Wara, Mauddud, Mishrif, Zubair, Ratawi and the Minagish oolite, which is the main reservoir of the Minagish and Umm Gudair fields in the west. Deepest are the Jurassic Marrat, Najmah and Sargelu carbonates, which produce Kuwait Super Light crude and sour, high-pressure non-associated gas in the north. This diagram is simplified and not to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four: where Kuwait's oil and gas exports go, what they earn, what they cost to produce, and how much the gas it imports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Kuwait's crude goes almost entirely east. In 2024, 93% of its crude exports by volume went to the Asia-Pacific region (Energy Institute): China 27%, Japan 13.5%, India 10% and the rest of Asia-Pacific, mainly South Korea and Taiwan, 43%. By value (OEC), China took 33%, South Korea 23%, Japan 17%, Taiwan 11% and India 11%, so the top five buyers, all Asian, account for about 95%. For comparison, OPEC as a whole sent about 72% of its crude to Asia (OPEC ASB 2025). Refined products are more diversified: about a third went to Europe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refining capacity changed what Kuwait sells. According to JODI data, crude exports fell from about 2.0 million b/d in 2017-2019 to 1.18 million b/d in 2024, while exports of refined products, mainly diesel, jet fuel, naphtha and very-low-sulfur fuel oil from Al-Zour, rose to a record 1.20 million b/d. 2024 was the first and so far only year in which Kuwait exported more products than crude (MEES). In 2025 the mix swung back towards crude, partly because of an outage at Al-Zour in October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 sells its crude at prices linked to Middle East benchmarks, so its income follows the world oil price. Brent averaged $97 in 2008, with a daily peak of $144, stayed above $100 in 2011-2013, crashed to $44 in 2016 and $42 in 2020 during COVID-19, then jumped to $101 in 2022 after Russia invaded Ukraine (EIA). Kuwait Export Crude averaged $84.26 in 2023 and $80.65 in 2024 (OPEC), close to Dubai and Oman prices because it is a medium-sour grade. In 2026, the Hormuz disruption pushed Brent to $138 on 7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Kuwait's oil is among the cheapest in the world to produce. Rystad Energy data published by the Wall Street Journal in 2016 put Kuwait's total cost, capital plus operating spending, at about $8.50 per barrel, the lowest of the countries compared; the UK North Sea was about $44. In 2024 Kuwait Export Crude sold for $80.65 on average (OPEC), leaving a gross margin of roughly $72 per barrel. The real constraint is fiscal: because oil pays for most of the state budget, Kuwait needs high prices to balance its budget even though production itself is cheap. Note that the cost figure is a 2016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associated gas cannot keep up with demand for power and water desalination, Kuwait imported 9.7 billion cubic metres of LNG in 2024, about 7.2 million tonnes or 40% of its gas use (Energy Institute). Qatar supplied 61%, Nigeria 17% and the United States 9.5%; Oman supplied about 3%. Gas is bought at international prices: the Asian spot benchmark JKM averaged $33.98 per million BTU in 2022 and $11.91 in 2024. At 2024 spot prices the import bill would be roughly $4 billion; Kuwait's actual contract prices are not published, so this is only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 tested Kuwait's export model. During the U.S.-Iran conflict, tanker traffic through the Strait of Hormuz stopped and on 7 March 2026 KPC declared force majeure and cut output (Reuters). Official JODI data show crude exports collapsing from 1.21 million b/d in February to only 41,000 b/d in April and 24,000 b/d in May, before recovering to about 1.1 million b/d by July. Brent rose from $71 in February to a monthly average of $117 in April, peaking at $138 on 7 April (EIA). Unlike Saudi Arabia and the UAE, Kuwait has no pipeline that bypasses the Strait, so all of its exports depend on Hormuz. These 2026 figures are preliminary.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Kuwait has one of the world's largest and cheapest oil resource bases, but it depends on oil for more than 90% of its exports and income. Its gas is mostly associated with oil, so it now imports about 40% of its gas as LNG. The Al-Zour refinery and the Clean Fuels Project have turned Kuwait into a large exporter of refined products. Its customers are overwhelmingly Asian, and the 2026 Hormuz disruption showed how exposed a Gulf-only export route is. Looking ahead, KPC's strategy targets 4 million b/d of production capacity by 2035, development of the new offshore discoveries, and more non-associated Jurassic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main sources. The written report contains the complete APA reference list and in-text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 the contents slide links to every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t-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Gas-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Fire-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682935" y="274320"/>
            <a:ext cx="960120" cy="960120"/>
          </a:xfrm>
          <a:prstGeom prst="roundRect">
            <a:avLst>
              <a:gd name="adj" fmla="val 13333"/>
            </a:avLst>
          </a:prstGeom>
          <a:solidFill>
            <a:srgbClr val="FFFFFF"/>
          </a:solidFill>
          <a:ln/>
        </p:spPr>
        <p:txBody>
          <a:bodyPr wrap="square" rtlCol="0" anchor="ctr"/>
          <a:lstStyle/>
          <a:p>
            <a:pPr indent="0" marL="0">
              <a:buNone/>
            </a:pPr>
            <a:endParaRPr lang="en-US" dirty="0"/>
          </a:p>
        </p:txBody>
      </p:sp>
      <p:pic>
        <p:nvPicPr>
          <p:cNvPr id="3" name="Image 0" descr="/home/user/shahad-research/build/assets/logo_placeholder.png">    </p:cNvPr>
          <p:cNvPicPr>
            <a:picLocks noChangeAspect="1"/>
          </p:cNvPicPr>
          <p:nvPr/>
        </p:nvPicPr>
        <p:blipFill>
          <a:blip r:embed="rId1"/>
          <a:stretch>
            <a:fillRect/>
          </a:stretch>
        </p:blipFill>
        <p:spPr>
          <a:xfrm>
            <a:off x="10774375" y="365760"/>
            <a:ext cx="777240" cy="7772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682935" y="274320"/>
            <a:ext cx="960120" cy="960120"/>
          </a:xfrm>
          <a:prstGeom prst="roundRect">
            <a:avLst>
              <a:gd name="adj" fmla="val 13333"/>
            </a:avLst>
          </a:prstGeom>
          <a:solidFill>
            <a:srgbClr val="FFFFFF"/>
          </a:solidFill>
          <a:ln/>
        </p:spPr>
        <p:txBody>
          <a:bodyPr wrap="square" rtlCol="0" anchor="ctr"/>
          <a:lstStyle/>
          <a:p>
            <a:pPr indent="0" marL="0">
              <a:buNone/>
            </a:pPr>
            <a:endParaRPr lang="en-US" dirty="0"/>
          </a:p>
        </p:txBody>
      </p:sp>
      <p:pic>
        <p:nvPicPr>
          <p:cNvPr id="3" name="Image 0" descr="/home/user/shahad-research/build/assets/logo_placeholder.png">    </p:cNvPr>
          <p:cNvPicPr>
            <a:picLocks noChangeAspect="1"/>
          </p:cNvPicPr>
          <p:nvPr/>
        </p:nvPicPr>
        <p:blipFill>
          <a:blip r:embed="rId1"/>
          <a:stretch>
            <a:fillRect/>
          </a:stretch>
        </p:blipFill>
        <p:spPr>
          <a:xfrm>
            <a:off x="10774375" y="365760"/>
            <a:ext cx="777240" cy="777240"/>
          </a:xfrm>
          <a:prstGeom prst="rect">
            <a:avLst/>
          </a:prstGeom>
        </p:spPr>
      </p:pic>
      <p:sp>
        <p:nvSpPr>
          <p:cNvPr id="4" name="Text 1"/>
          <p:cNvSpPr/>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rPr>
              <a:t>Kuwait Oil &amp; Gas  ·  EGCH2230</a:t>
            </a:r>
            <a:endParaRPr lang="en-US" sz="1200" dirty="0"/>
          </a:p>
        </p:txBody>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682935" y="274320"/>
            <a:ext cx="960120" cy="960120"/>
          </a:xfrm>
          <a:prstGeom prst="roundRect">
            <a:avLst>
              <a:gd name="adj" fmla="val 13333"/>
            </a:avLst>
          </a:prstGeom>
          <a:solidFill>
            <a:srgbClr val="FFFFFF"/>
          </a:solidFill>
          <a:ln/>
        </p:spPr>
        <p:txBody>
          <a:bodyPr wrap="square" rtlCol="0" anchor="ctr"/>
          <a:lstStyle/>
          <a:p>
            <a:pPr indent="0" marL="0">
              <a:buNone/>
            </a:pPr>
            <a:endParaRPr lang="en-US" dirty="0"/>
          </a:p>
        </p:txBody>
      </p:sp>
      <p:pic>
        <p:nvPicPr>
          <p:cNvPr id="3" name="Image 0" descr="/home/user/shahad-research/build/assets/logo_placeholder.png">    </p:cNvPr>
          <p:cNvPicPr>
            <a:picLocks noChangeAspect="1"/>
          </p:cNvPicPr>
          <p:nvPr/>
        </p:nvPicPr>
        <p:blipFill>
          <a:blip r:embed="rId1"/>
          <a:stretch>
            <a:fillRect/>
          </a:stretch>
        </p:blipFill>
        <p:spPr>
          <a:xfrm>
            <a:off x="10774375" y="365760"/>
            <a:ext cx="777240" cy="777240"/>
          </a:xfrm>
          <a:prstGeom prst="rect">
            <a:avLst/>
          </a:prstGeom>
        </p:spPr>
      </p:pic>
      <p:sp>
        <p:nvSpPr>
          <p:cNvPr id="4" name="Text 1"/>
          <p:cNvSpPr/>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rPr>
              <a:t>Kuwait Oil &amp; Gas  ·  EGCH2230</a:t>
            </a:r>
            <a:endParaRPr lang="en-US" sz="1200" dirty="0"/>
          </a:p>
        </p:txBody>
      </p:sp>
      <p:sp>
        <p:nvSpPr>
          <p:cNvPr id="5" name="Text 2"/>
          <p:cNvSpPr/>
          <p:nvPr>
            <p:ph idx="103" type="body" hasCustomPrompt="1"/>
          </p:nvPr>
        </p:nvSpPr>
        <p:spPr>
          <a:xfrm>
            <a:off x="548640" y="384048"/>
            <a:ext cx="8961120" cy="329184"/>
          </a:xfrm>
          <a:prstGeom prst="rect">
            <a:avLst/>
          </a:prstGeom>
          <a:noFill/>
          <a:ln/>
        </p:spPr>
        <p:txBody>
          <a:bodyPr wrap="square" rtlCol="0"/>
          <a:lstStyle>
            <a:lvl1pPr algn="l" indent="0" marL="0">
              <a:buNone/>
              <a:defRPr lang="en-US" sz="1500" b="1" spc="300" kern="0" dirty="0">
                <a:solidFill>
                  <a:schemeClr val="accent1"/>
                </a:solidFill>
              </a:defRPr>
            </a:lvl1pPr>
          </a:lstStyle>
          <a:p>
            <a:pPr algn="l" indent="0" marL="0">
              <a:buNone/>
            </a:pPr>
            <a:endParaRPr lang="en-US" sz="1500" dirty="0"/>
          </a:p>
        </p:txBody>
      </p:sp>
      <p:sp>
        <p:nvSpPr>
          <p:cNvPr id="6" name="Text 2"/>
          <p:cNvSpPr/>
          <p:nvPr>
            <p:ph idx="104" type="title" hasCustomPrompt="1"/>
          </p:nvPr>
        </p:nvSpPr>
        <p:spPr>
          <a:xfrm>
            <a:off x="548640" y="731520"/>
            <a:ext cx="9509760" cy="786384"/>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Ga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682935" y="274320"/>
            <a:ext cx="960120" cy="960120"/>
          </a:xfrm>
          <a:prstGeom prst="roundRect">
            <a:avLst>
              <a:gd name="adj" fmla="val 13333"/>
            </a:avLst>
          </a:prstGeom>
          <a:solidFill>
            <a:srgbClr val="FFFFFF"/>
          </a:solidFill>
          <a:ln/>
        </p:spPr>
        <p:txBody>
          <a:bodyPr wrap="square" rtlCol="0" anchor="ctr"/>
          <a:lstStyle/>
          <a:p>
            <a:pPr indent="0" marL="0">
              <a:buNone/>
            </a:pPr>
            <a:endParaRPr lang="en-US" dirty="0"/>
          </a:p>
        </p:txBody>
      </p:sp>
      <p:pic>
        <p:nvPicPr>
          <p:cNvPr id="3" name="Image 0" descr="/home/user/shahad-research/build/assets/logo_placeholder.png">    </p:cNvPr>
          <p:cNvPicPr>
            <a:picLocks noChangeAspect="1"/>
          </p:cNvPicPr>
          <p:nvPr/>
        </p:nvPicPr>
        <p:blipFill>
          <a:blip r:embed="rId1"/>
          <a:stretch>
            <a:fillRect/>
          </a:stretch>
        </p:blipFill>
        <p:spPr>
          <a:xfrm>
            <a:off x="10774375" y="365760"/>
            <a:ext cx="777240" cy="777240"/>
          </a:xfrm>
          <a:prstGeom prst="rect">
            <a:avLst/>
          </a:prstGeom>
        </p:spPr>
      </p:pic>
      <p:sp>
        <p:nvSpPr>
          <p:cNvPr id="4" name="Text 1"/>
          <p:cNvSpPr/>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rPr>
              <a:t>Kuwait Oil &amp; Gas  ·  EGCH2230</a:t>
            </a:r>
            <a:endParaRPr lang="en-US" sz="1200" dirty="0"/>
          </a:p>
        </p:txBody>
      </p:sp>
      <p:sp>
        <p:nvSpPr>
          <p:cNvPr id="5" name="Text 2"/>
          <p:cNvSpPr/>
          <p:nvPr>
            <p:ph idx="103" type="body" hasCustomPrompt="1"/>
          </p:nvPr>
        </p:nvSpPr>
        <p:spPr>
          <a:xfrm>
            <a:off x="548640" y="384048"/>
            <a:ext cx="8961120" cy="329184"/>
          </a:xfrm>
          <a:prstGeom prst="rect">
            <a:avLst/>
          </a:prstGeom>
          <a:noFill/>
          <a:ln/>
        </p:spPr>
        <p:txBody>
          <a:bodyPr wrap="square" rtlCol="0"/>
          <a:lstStyle>
            <a:lvl1pPr algn="l" indent="0" marL="0">
              <a:buNone/>
              <a:defRPr lang="en-US" sz="1500" b="1" spc="300" kern="0" dirty="0">
                <a:solidFill>
                  <a:schemeClr val="accent1"/>
                </a:solidFill>
              </a:defRPr>
            </a:lvl1pPr>
          </a:lstStyle>
          <a:p>
            <a:pPr algn="l" indent="0" marL="0">
              <a:buNone/>
            </a:pPr>
            <a:endParaRPr lang="en-US" sz="1500" dirty="0"/>
          </a:p>
        </p:txBody>
      </p:sp>
      <p:sp>
        <p:nvSpPr>
          <p:cNvPr id="6" name="Text 2"/>
          <p:cNvSpPr/>
          <p:nvPr>
            <p:ph idx="104" type="title" hasCustomPrompt="1"/>
          </p:nvPr>
        </p:nvSpPr>
        <p:spPr>
          <a:xfrm>
            <a:off x="548640" y="731520"/>
            <a:ext cx="9509760" cy="786384"/>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i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682935" y="274320"/>
            <a:ext cx="960120" cy="960120"/>
          </a:xfrm>
          <a:prstGeom prst="roundRect">
            <a:avLst>
              <a:gd name="adj" fmla="val 13333"/>
            </a:avLst>
          </a:prstGeom>
          <a:solidFill>
            <a:srgbClr val="FFFFFF"/>
          </a:solidFill>
          <a:ln/>
        </p:spPr>
        <p:txBody>
          <a:bodyPr wrap="square" rtlCol="0" anchor="ctr"/>
          <a:lstStyle/>
          <a:p>
            <a:pPr indent="0" marL="0">
              <a:buNone/>
            </a:pPr>
            <a:endParaRPr lang="en-US" dirty="0"/>
          </a:p>
        </p:txBody>
      </p:sp>
      <p:pic>
        <p:nvPicPr>
          <p:cNvPr id="3" name="Image 0" descr="/home/user/shahad-research/build/assets/logo_placeholder.png">    </p:cNvPr>
          <p:cNvPicPr>
            <a:picLocks noChangeAspect="1"/>
          </p:cNvPicPr>
          <p:nvPr/>
        </p:nvPicPr>
        <p:blipFill>
          <a:blip r:embed="rId1"/>
          <a:stretch>
            <a:fillRect/>
          </a:stretch>
        </p:blipFill>
        <p:spPr>
          <a:xfrm>
            <a:off x="10774375" y="365760"/>
            <a:ext cx="777240" cy="777240"/>
          </a:xfrm>
          <a:prstGeom prst="rect">
            <a:avLst/>
          </a:prstGeom>
        </p:spPr>
      </p:pic>
      <p:sp>
        <p:nvSpPr>
          <p:cNvPr id="4" name="Text 1"/>
          <p:cNvSpPr/>
          <p:nvPr/>
        </p:nvSpPr>
        <p:spPr>
          <a:xfrm>
            <a:off x="548640" y="6327648"/>
            <a:ext cx="5486400" cy="292608"/>
          </a:xfrm>
          <a:prstGeom prst="rect">
            <a:avLst/>
          </a:prstGeom>
          <a:noFill/>
          <a:ln/>
        </p:spPr>
        <p:txBody>
          <a:bodyPr wrap="square" lIns="0" tIns="0" rIns="0" bIns="0" rtlCol="0" anchor="ctr"/>
          <a:lstStyle/>
          <a:p>
            <a:pPr indent="0" marL="0">
              <a:buNone/>
            </a:pPr>
            <a:r>
              <a:rPr lang="en-US" sz="1200" dirty="0">
                <a:solidFill>
                  <a:schemeClr val="tx2"/>
                </a:solidFill>
              </a:rPr>
              <a:t>Kuwait Oil &amp; Gas  ·  EGCH2230</a:t>
            </a:r>
            <a:endParaRPr lang="en-US" sz="1200" dirty="0"/>
          </a:p>
        </p:txBody>
      </p:sp>
      <p:sp>
        <p:nvSpPr>
          <p:cNvPr id="5" name="Text 2"/>
          <p:cNvSpPr/>
          <p:nvPr>
            <p:ph idx="103" type="body" hasCustomPrompt="1"/>
          </p:nvPr>
        </p:nvSpPr>
        <p:spPr>
          <a:xfrm>
            <a:off x="548640" y="384048"/>
            <a:ext cx="8961120" cy="329184"/>
          </a:xfrm>
          <a:prstGeom prst="rect">
            <a:avLst/>
          </a:prstGeom>
          <a:noFill/>
          <a:ln/>
        </p:spPr>
        <p:txBody>
          <a:bodyPr wrap="square" rtlCol="0"/>
          <a:lstStyle>
            <a:lvl1pPr algn="l" indent="0" marL="0">
              <a:buNone/>
              <a:defRPr lang="en-US" sz="1500" b="1" spc="300" kern="0" dirty="0">
                <a:solidFill>
                  <a:schemeClr val="accent1"/>
                </a:solidFill>
              </a:defRPr>
            </a:lvl1pPr>
          </a:lstStyle>
          <a:p>
            <a:pPr algn="l" indent="0" marL="0">
              <a:buNone/>
            </a:pPr>
            <a:endParaRPr lang="en-US" sz="1500" dirty="0"/>
          </a:p>
        </p:txBody>
      </p:sp>
      <p:sp>
        <p:nvSpPr>
          <p:cNvPr id="6" name="Text 2"/>
          <p:cNvSpPr/>
          <p:nvPr>
            <p:ph idx="104" type="title" hasCustomPrompt="1"/>
          </p:nvPr>
        </p:nvSpPr>
        <p:spPr>
          <a:xfrm>
            <a:off x="548640" y="731520"/>
            <a:ext cx="9509760" cy="786384"/>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 Target="slide4.xml"/><Relationship Id="rId6" Type="http://schemas.openxmlformats.org/officeDocument/2006/relationships/slide" Target="slide9.xml"/><Relationship Id="rId9" Type="http://schemas.openxmlformats.org/officeDocument/2006/relationships/slide" Target="slide15.xml"/><Relationship Id="rId12" Type="http://schemas.openxmlformats.org/officeDocument/2006/relationships/slide" Target="slide19.xml"/><Relationship Id="rId15" Type="http://schemas.openxmlformats.org/officeDocument/2006/relationships/slide" Target="slide27.xm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image" Target="../media/image-2-8.png"/><Relationship Id="rId13" Type="http://schemas.openxmlformats.org/officeDocument/2006/relationships/image" Target="../media/image-2-9.png"/><Relationship Id="rId14" Type="http://schemas.openxmlformats.org/officeDocument/2006/relationships/image" Target="../media/image-2-10.png"/><Relationship Id="rId16" Type="http://schemas.openxmlformats.org/officeDocument/2006/relationships/slideLayout" Target="../slideLayouts/slideLayout4.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5" Type="http://schemas.openxmlformats.org/officeDocument/2006/relationships/slide" Target="slide2.xml"/><Relationship Id="rId7" Type="http://schemas.openxmlformats.org/officeDocument/2006/relationships/slide" Target="slide2.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6" Type="http://schemas.openxmlformats.org/officeDocument/2006/relationships/image" Target="../media/image-3-5.png"/><Relationship Id="rId8" Type="http://schemas.openxmlformats.org/officeDocument/2006/relationships/slideLayout" Target="../slideLayouts/slideLayout4.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4-1.png"/><Relationship Id="rId3" Type="http://schemas.openxmlformats.org/officeDocument/2006/relationships/image" Target="../media/image-4-2.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slide" Target="slide2.xml"/><Relationship Id="rId2" Type="http://schemas.openxmlformats.org/officeDocument/2006/relationships/image" Target="../media/image-5-1.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slide" Target="slide2.xml"/><Relationship Id="rId2" Type="http://schemas.openxmlformats.org/officeDocument/2006/relationships/image" Target="../media/image-6-1.png"/><Relationship Id="rId4" Type="http://schemas.openxmlformats.org/officeDocument/2006/relationships/slideLayout" Target="../slideLayouts/slideLayout6.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7-1.png"/><Relationship Id="rId3" Type="http://schemas.openxmlformats.org/officeDocument/2006/relationships/image" Target="../media/image-7-2.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slide" Target="slide2.xml"/><Relationship Id="rId7" Type="http://schemas.openxmlformats.org/officeDocument/2006/relationships/slide" Target="slide2.xml"/><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6" Type="http://schemas.openxmlformats.org/officeDocument/2006/relationships/image" Target="../media/image-8-4.png"/><Relationship Id="rId8" Type="http://schemas.openxmlformats.org/officeDocument/2006/relationships/slideLayout" Target="../slideLayouts/slideLayout5.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9-1.png"/><Relationship Id="rId3" Type="http://schemas.openxmlformats.org/officeDocument/2006/relationships/image" Target="../media/image-9-2.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chart" Target="/ppt/charts/chart2.xml"/><Relationship Id="rId3" Type="http://schemas.openxmlformats.org/officeDocument/2006/relationships/image" Target="../media/image-10-1.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chart" Target="/ppt/charts/chart3.xml"/><Relationship Id="rId3" Type="http://schemas.openxmlformats.org/officeDocument/2006/relationships/image" Target="../media/image-11-1.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chart" Target="/ppt/charts/chart4.xml"/><Relationship Id="rId3" Type="http://schemas.openxmlformats.org/officeDocument/2006/relationships/image" Target="../media/image-12-1.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0" Type="http://schemas.openxmlformats.org/officeDocument/2006/relationships/slide" Target="slide2.xml"/><Relationship Id="rId12" Type="http://schemas.openxmlformats.org/officeDocument/2006/relationships/slide" Target="slide2.xml"/><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1" Type="http://schemas.openxmlformats.org/officeDocument/2006/relationships/image" Target="../media/image-13-10.png"/><Relationship Id="rId13" Type="http://schemas.openxmlformats.org/officeDocument/2006/relationships/slideLayout" Target="../slideLayouts/slideLayout4.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slide" Target="slide2.xml"/><Relationship Id="rId2" Type="http://schemas.openxmlformats.org/officeDocument/2006/relationships/image" Target="../media/image-14-1.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15-1.png"/><Relationship Id="rId3" Type="http://schemas.openxmlformats.org/officeDocument/2006/relationships/image" Target="../media/image-15-2.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16-1.png"/><Relationship Id="rId3" Type="http://schemas.openxmlformats.org/officeDocument/2006/relationships/image" Target="../media/image-16-2.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17-1.png"/><Relationship Id="rId3" Type="http://schemas.openxmlformats.org/officeDocument/2006/relationships/image" Target="../media/image-17-2.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18-1.png"/><Relationship Id="rId3" Type="http://schemas.openxmlformats.org/officeDocument/2006/relationships/image" Target="../media/image-18-2.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image" Target="../media/image-19-1.png"/><Relationship Id="rId3" Type="http://schemas.openxmlformats.org/officeDocument/2006/relationships/image" Target="../media/image-19-2.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chart" Target="/ppt/charts/chart5.xml"/><Relationship Id="rId3" Type="http://schemas.openxmlformats.org/officeDocument/2006/relationships/image" Target="../media/image-20-1.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chart" Target="/ppt/charts/chart6.xml"/><Relationship Id="rId3" Type="http://schemas.openxmlformats.org/officeDocument/2006/relationships/image" Target="../media/image-21-1.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chart" Target="/ppt/charts/chart7.xml"/><Relationship Id="rId3" Type="http://schemas.openxmlformats.org/officeDocument/2006/relationships/image" Target="../media/image-22-1.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slide" Target="slide2.xml"/><Relationship Id="rId2" Type="http://schemas.openxmlformats.org/officeDocument/2006/relationships/image" Target="../media/image-23-1.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chart" Target="/ppt/charts/chart8.xml"/><Relationship Id="rId3" Type="http://schemas.openxmlformats.org/officeDocument/2006/relationships/image" Target="../media/image-24-1.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slide" Target="slide2.xml"/><Relationship Id="rId4" Type="http://schemas.openxmlformats.org/officeDocument/2006/relationships/slide" Target="slide2.xml"/><Relationship Id="rId1" Type="http://schemas.openxmlformats.org/officeDocument/2006/relationships/chart" Target="/ppt/charts/chart9.xml"/><Relationship Id="rId3" Type="http://schemas.openxmlformats.org/officeDocument/2006/relationships/image" Target="../media/image-25-1.png"/><Relationship Id="rId5" Type="http://schemas.openxmlformats.org/officeDocument/2006/relationships/slideLayout" Target="../slideLayouts/slideLayout6.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5" Type="http://schemas.openxmlformats.org/officeDocument/2006/relationships/slide" Target="slide2.xml"/><Relationship Id="rId7" Type="http://schemas.openxmlformats.org/officeDocument/2006/relationships/slide" Target="slide2.xml"/><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6" Type="http://schemas.openxmlformats.org/officeDocument/2006/relationships/image" Target="../media/image-26-5.png"/><Relationship Id="rId8" Type="http://schemas.openxmlformats.org/officeDocument/2006/relationships/slideLayout" Target="../slideLayouts/slideLayout4.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 Target="slide2.xml"/><Relationship Id="rId3" Type="http://schemas.openxmlformats.org/officeDocument/2006/relationships/slide" Target="slide2.xml"/><Relationship Id="rId2" Type="http://schemas.openxmlformats.org/officeDocument/2006/relationships/image" Target="../media/image-27-1.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slide" Target="slide2.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slide1.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rop" descr="/home/user/shahad-research/build/assets/drop.png">    </p:cNvPr>
          <p:cNvPicPr>
            <a:picLocks noChangeAspect="1"/>
          </p:cNvPicPr>
          <p:nvPr/>
        </p:nvPicPr>
        <p:blipFill>
          <a:blip r:embed="rId1"/>
          <a:stretch>
            <a:fillRect/>
          </a:stretch>
        </p:blipFill>
        <p:spPr>
          <a:xfrm>
            <a:off x="7269480" y="1097280"/>
            <a:ext cx="3977640" cy="5020056"/>
          </a:xfrm>
          <a:prstGeom prst="rect">
            <a:avLst/>
          </a:prstGeom>
        </p:spPr>
      </p:pic>
      <p:sp>
        <p:nvSpPr>
          <p:cNvPr id="3" name="ti_kick"/>
          <p:cNvSpPr txBox="1"/>
          <p:nvPr/>
        </p:nvSpPr>
        <p:spPr>
          <a:xfrm>
            <a:off x="548640" y="1325880"/>
            <a:ext cx="6949440" cy="365760"/>
          </a:xfrm>
          <a:prstGeom prst="rect">
            <a:avLst/>
          </a:prstGeom>
          <a:noFill/>
          <a:ln/>
        </p:spPr>
        <p:txBody>
          <a:bodyPr wrap="square" lIns="0" tIns="0" rIns="0" bIns="0" rtlCol="0" anchor="t"/>
          <a:lstStyle/>
          <a:p>
            <a:pPr indent="0" marL="0">
              <a:buNone/>
            </a:pPr>
            <a:r>
              <a:rPr lang="en-US" sz="1300" b="1" spc="150" kern="0" dirty="0">
                <a:solidFill>
                  <a:schemeClr val="accent1"/>
                </a:solidFill>
                <a:latin typeface="Arial" pitchFamily="34" charset="0"/>
                <a:ea typeface="Arial" pitchFamily="34" charset="-122"/>
                <a:cs typeface="Arial" pitchFamily="34" charset="-120"/>
              </a:rPr>
              <a:t>EGCH2230  ·  PETROLEUM &amp; PETROCHEMICAL PROCESSING</a:t>
            </a:r>
            <a:endParaRPr lang="en-US" sz="1300" dirty="0"/>
          </a:p>
        </p:txBody>
      </p:sp>
      <p:sp>
        <p:nvSpPr>
          <p:cNvPr id="4" name="ti_title"/>
          <p:cNvSpPr txBox="1"/>
          <p:nvPr/>
        </p:nvSpPr>
        <p:spPr>
          <a:xfrm>
            <a:off x="548640" y="1783080"/>
            <a:ext cx="6583680" cy="1325880"/>
          </a:xfrm>
          <a:prstGeom prst="rect">
            <a:avLst/>
          </a:prstGeom>
          <a:noFill/>
          <a:ln/>
        </p:spPr>
        <p:txBody>
          <a:bodyPr wrap="square" lIns="0" tIns="0" rIns="0" bIns="0" rtlCol="0" anchor="t"/>
          <a:lstStyle/>
          <a:p>
            <a:pPr indent="0" marL="0">
              <a:buNone/>
            </a:pPr>
            <a:r>
              <a:rPr lang="en-US" sz="9600" b="1" dirty="0">
                <a:solidFill>
                  <a:schemeClr val="tx1"/>
                </a:solidFill>
                <a:latin typeface="Arial" pitchFamily="34" charset="0"/>
                <a:ea typeface="Arial" pitchFamily="34" charset="-122"/>
                <a:cs typeface="Arial" pitchFamily="34" charset="-120"/>
              </a:rPr>
              <a:t>Kuwait</a:t>
            </a:r>
            <a:endParaRPr lang="en-US" sz="9600" dirty="0"/>
          </a:p>
        </p:txBody>
      </p:sp>
      <p:sp>
        <p:nvSpPr>
          <p:cNvPr id="5" name="ti_sub"/>
          <p:cNvSpPr txBox="1"/>
          <p:nvPr/>
        </p:nvSpPr>
        <p:spPr>
          <a:xfrm>
            <a:off x="548640" y="3090672"/>
            <a:ext cx="6583680" cy="685800"/>
          </a:xfrm>
          <a:prstGeom prst="rect">
            <a:avLst/>
          </a:prstGeom>
          <a:noFill/>
          <a:ln/>
        </p:spPr>
        <p:txBody>
          <a:bodyPr wrap="square" lIns="0" tIns="0" rIns="0" bIns="0" rtlCol="0" anchor="t"/>
          <a:lstStyle/>
          <a:p>
            <a:pPr indent="0" marL="0">
              <a:buNone/>
            </a:pPr>
            <a:r>
              <a:rPr lang="en-US" sz="4000" dirty="0">
                <a:solidFill>
                  <a:schemeClr val="tx1"/>
                </a:solidFill>
                <a:latin typeface="Arial" pitchFamily="34" charset="0"/>
                <a:ea typeface="Arial" pitchFamily="34" charset="-122"/>
                <a:cs typeface="Arial" pitchFamily="34" charset="-120"/>
              </a:rPr>
              <a:t>A Century of Oil &amp; Gas</a:t>
            </a:r>
            <a:endParaRPr lang="en-US" sz="4000" dirty="0"/>
          </a:p>
        </p:txBody>
      </p:sp>
      <p:sp>
        <p:nvSpPr>
          <p:cNvPr id="6" name="ti_tag"/>
          <p:cNvSpPr txBox="1"/>
          <p:nvPr/>
        </p:nvSpPr>
        <p:spPr>
          <a:xfrm>
            <a:off x="548640" y="3840480"/>
            <a:ext cx="6583680" cy="411480"/>
          </a:xfrm>
          <a:prstGeom prst="rect">
            <a:avLst/>
          </a:prstGeom>
          <a:noFill/>
          <a:ln/>
        </p:spPr>
        <p:txBody>
          <a:bodyPr wrap="square" lIns="0" tIns="0" rIns="0" bIns="0" rtlCol="0" anchor="t"/>
          <a:lstStyle/>
          <a:p>
            <a:pPr indent="0" marL="0">
              <a:buNone/>
            </a:pPr>
            <a:r>
              <a:rPr lang="en-US" sz="2000" dirty="0">
                <a:solidFill>
                  <a:schemeClr val="tx2"/>
                </a:solidFill>
                <a:latin typeface="Arial" pitchFamily="34" charset="0"/>
                <a:ea typeface="Arial" pitchFamily="34" charset="-122"/>
                <a:cs typeface="Arial" pitchFamily="34" charset="-120"/>
              </a:rPr>
              <a:t>History  ·  Resources  ·  Reservoirs  ·  Markets</a:t>
            </a:r>
            <a:endParaRPr lang="en-US" sz="2000" dirty="0"/>
          </a:p>
        </p:txBody>
      </p:sp>
      <p:sp>
        <p:nvSpPr>
          <p:cNvPr id="7" name="ti_name"/>
          <p:cNvSpPr txBox="1"/>
          <p:nvPr/>
        </p:nvSpPr>
        <p:spPr>
          <a:xfrm>
            <a:off x="548640" y="4892040"/>
            <a:ext cx="6583680" cy="822960"/>
          </a:xfrm>
          <a:prstGeom prst="rect">
            <a:avLst/>
          </a:prstGeom>
          <a:noFill/>
          <a:ln/>
        </p:spPr>
        <p:txBody>
          <a:bodyPr wrap="square" lIns="0" tIns="0" rIns="0" bIns="0" rtlCol="0" anchor="t"/>
          <a:lstStyle/>
          <a:p>
            <a:pPr indent="0" marL="0">
              <a:spcAft>
                <a:spcPts val="400"/>
              </a:spcAft>
              <a:buNone/>
            </a:pPr>
            <a:r>
              <a:rPr lang="en-US" sz="2400" b="1" dirty="0">
                <a:solidFill>
                  <a:schemeClr val="tx1"/>
                </a:solidFill>
                <a:latin typeface="Arial" pitchFamily="34" charset="0"/>
                <a:ea typeface="Arial" pitchFamily="34" charset="-122"/>
                <a:cs typeface="Arial" pitchFamily="34" charset="-120"/>
              </a:rPr>
              <a:t>Shahad Issa Obaid Alghriabi</a:t>
            </a:r>
            <a:endParaRPr lang="en-US" sz="2400" dirty="0"/>
          </a:p>
          <a:p>
            <a:pPr indent="0" marL="0">
              <a:spcAft>
                <a:spcPts val="400"/>
              </a:spcAft>
              <a:buNone/>
            </a:pPr>
            <a:r>
              <a:rPr lang="en-US" sz="1600" dirty="0">
                <a:solidFill>
                  <a:schemeClr val="tx2"/>
                </a:solidFill>
                <a:latin typeface="Arial" pitchFamily="34" charset="0"/>
                <a:ea typeface="Arial" pitchFamily="34" charset="-122"/>
                <a:cs typeface="Arial" pitchFamily="34" charset="-120"/>
              </a:rPr>
              <a:t>University of Technology and Applied Sciences</a:t>
            </a:r>
            <a:endParaRPr lang="en-US" sz="2400" dirty="0"/>
          </a:p>
        </p:txBody>
      </p:sp>
    </p:spTree>
  </p:cSld>
  <p:clrMapOvr>
    <a:masterClrMapping/>
  </p:clrMapOvr>
  <p:transition spd="slow" p14:dur="1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1600" fill="hold" decel="100000"/>
                                        <p:tgtEl>
                                          <p:spTgt spid="2"/>
                                        </p:tgtEl>
                                        <p:attrNameLst>
                                          <p:attrName>ppt_w</p:attrName>
                                        </p:attrNameLst>
                                      </p:cBhvr>
                                      <p:tavLst>
                                        <p:tav tm="0">
                                          <p:val>
                                            <p:strVal val="#ppt_w*0.70"/>
                                          </p:val>
                                        </p:tav>
                                        <p:tav tm="100000">
                                          <p:val>
                                            <p:strVal val="#ppt_w"/>
                                          </p:val>
                                        </p:tav>
                                      </p:tavLst>
                                    </p:anim>
                                    <p:anim calcmode="lin" valueType="num">
                                      <p:cBhvr>
                                        <p:cTn id="7" dur="1600" fill="hold" decel="100000"/>
                                        <p:tgtEl>
                                          <p:spTgt spid="2"/>
                                        </p:tgtEl>
                                        <p:attrNameLst>
                                          <p:attrName>ppt_h</p:attrName>
                                        </p:attrNameLst>
                                      </p:cBhvr>
                                      <p:tavLst>
                                        <p:tav tm="0">
                                          <p:val>
                                            <p:strVal val="#ppt_h*0.70"/>
                                          </p:val>
                                        </p:tav>
                                        <p:tav tm="100000">
                                          <p:val>
                                            <p:strVal val="#ppt_h"/>
                                          </p:val>
                                        </p:tav>
                                      </p:tavLst>
                                    </p:anim>
                                    <p:animEffect transition="in" filter="fade">
                                      <p:cBhvr>
                                        <p:cTn id="8" dur="1600"/>
                                        <p:tgtEl>
                                          <p:spTgt spid="2"/>
                                        </p:tgtEl>
                                      </p:cBhvr>
                                    </p:animEffect>
                                  </p:childTnLst>
                                </p:cTn>
                              </p:par>
                              <p:par>
                                <p:cTn id="12" presetID="10" presetClass="entr" presetSubtype="0" fill="hold" grpId="0" nodeType="withEffect">
                                  <p:stCondLst>
                                    <p:cond delay="50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800"/>
                                        <p:tgtEl>
                                          <p:spTgt spid="3"/>
                                        </p:tgtEl>
                                      </p:cBhvr>
                                    </p:animEffect>
                                  </p:childTnLst>
                                </p:cTn>
                              </p:par>
                              <p:par>
                                <p:cTn id="17" presetID="42" presetClass="entr" presetSubtype="0" fill="hold" grpId="0" nodeType="withEffect">
                                  <p:stCondLst>
                                    <p:cond delay="7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decel="100000"/>
                                        <p:tgtEl>
                                          <p:spTgt spid="4"/>
                                        </p:tgtEl>
                                        <p:attrNameLst>
                                          <p:attrName>ppt_x</p:attrName>
                                        </p:attrNameLst>
                                      </p:cBhvr>
                                      <p:tavLst>
                                        <p:tav tm="0">
                                          <p:val>
                                            <p:strVal val="#ppt_x"/>
                                          </p:val>
                                        </p:tav>
                                        <p:tav tm="100000">
                                          <p:val>
                                            <p:strVal val="#ppt_x"/>
                                          </p:val>
                                        </p:tav>
                                      </p:tavLst>
                                    </p:anim>
                                    <p:anim calcmode="lin" valueType="num">
                                      <p:cBhvr>
                                        <p:cTn id="16" dur="1000" fill="hold" decel="100000"/>
                                        <p:tgtEl>
                                          <p:spTgt spid="4"/>
                                        </p:tgtEl>
                                        <p:attrNameLst>
                                          <p:attrName>ppt_y</p:attrName>
                                        </p:attrNameLst>
                                      </p:cBhvr>
                                      <p:tavLst>
                                        <p:tav tm="0">
                                          <p:val>
                                            <p:strVal val="#ppt_y+0.04"/>
                                          </p:val>
                                        </p:tav>
                                        <p:tav tm="100000">
                                          <p:val>
                                            <p:strVal val="#ppt_y"/>
                                          </p:val>
                                        </p:tav>
                                      </p:tavLst>
                                    </p:anim>
                                  </p:childTnLst>
                                </p:cTn>
                              </p:par>
                              <p:par>
                                <p:cTn id="22" presetID="42" presetClass="entr" presetSubtype="0" fill="hold" grpId="0" nodeType="withEffect">
                                  <p:stCondLst>
                                    <p:cond delay="95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000"/>
                                        <p:tgtEl>
                                          <p:spTgt spid="5"/>
                                        </p:tgtEl>
                                      </p:cBhvr>
                                    </p:animEffect>
                                    <p:anim calcmode="lin" valueType="num">
                                      <p:cBhvr>
                                        <p:cTn id="20" dur="1000" fill="hold" decel="100000"/>
                                        <p:tgtEl>
                                          <p:spTgt spid="5"/>
                                        </p:tgtEl>
                                        <p:attrNameLst>
                                          <p:attrName>ppt_x</p:attrName>
                                        </p:attrNameLst>
                                      </p:cBhvr>
                                      <p:tavLst>
                                        <p:tav tm="0">
                                          <p:val>
                                            <p:strVal val="#ppt_x"/>
                                          </p:val>
                                        </p:tav>
                                        <p:tav tm="100000">
                                          <p:val>
                                            <p:strVal val="#ppt_x"/>
                                          </p:val>
                                        </p:tav>
                                      </p:tavLst>
                                    </p:anim>
                                    <p:anim calcmode="lin" valueType="num">
                                      <p:cBhvr>
                                        <p:cTn id="21" dur="1000" fill="hold" decel="100000"/>
                                        <p:tgtEl>
                                          <p:spTgt spid="5"/>
                                        </p:tgtEl>
                                        <p:attrNameLst>
                                          <p:attrName>ppt_y</p:attrName>
                                        </p:attrNameLst>
                                      </p:cBhvr>
                                      <p:tavLst>
                                        <p:tav tm="0">
                                          <p:val>
                                            <p:strVal val="#ppt_y+0.04"/>
                                          </p:val>
                                        </p:tav>
                                        <p:tav tm="100000">
                                          <p:val>
                                            <p:strVal val="#ppt_y"/>
                                          </p:val>
                                        </p:tav>
                                      </p:tavLst>
                                    </p:anim>
                                  </p:childTnLst>
                                </p:cTn>
                              </p:par>
                              <p:par>
                                <p:cTn id="25" presetID="10" presetClass="entr" presetSubtype="0" fill="hold" grpId="0" nodeType="withEffect">
                                  <p:stCondLst>
                                    <p:cond delay="1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900"/>
                                        <p:tgtEl>
                                          <p:spTgt spid="6"/>
                                        </p:tgtEl>
                                      </p:cBhvr>
                                    </p:animEffect>
                                  </p:childTnLst>
                                </p:cTn>
                              </p:par>
                              <p:par>
                                <p:cTn id="30" presetID="42" presetClass="entr" presetSubtype="0" fill="hold" grpId="0" nodeType="withEffect">
                                  <p:stCondLst>
                                    <p:cond delay="150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900"/>
                                        <p:tgtEl>
                                          <p:spTgt spid="7"/>
                                        </p:tgtEl>
                                      </p:cBhvr>
                                    </p:animEffect>
                                    <p:anim calcmode="lin" valueType="num">
                                      <p:cBhvr>
                                        <p:cTn id="28" dur="900" fill="hold" decel="100000"/>
                                        <p:tgtEl>
                                          <p:spTgt spid="7"/>
                                        </p:tgtEl>
                                        <p:attrNameLst>
                                          <p:attrName>ppt_x</p:attrName>
                                        </p:attrNameLst>
                                      </p:cBhvr>
                                      <p:tavLst>
                                        <p:tav tm="0">
                                          <p:val>
                                            <p:strVal val="#ppt_x"/>
                                          </p:val>
                                        </p:tav>
                                        <p:tav tm="100000">
                                          <p:val>
                                            <p:strVal val="#ppt_x"/>
                                          </p:val>
                                        </p:tav>
                                      </p:tavLst>
                                    </p:anim>
                                    <p:anim calcmode="lin" valueType="num">
                                      <p:cBhvr>
                                        <p:cTn id="29" dur="900" fill="hold" decel="100000"/>
                                        <p:tgtEl>
                                          <p:spTgt spid="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Lst>
  </p:timing>
</p:sld>
</file>

<file path=ppt/slides/slide2.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o_kick"/>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CONTENTS</a:t>
            </a:r>
            <a:endParaRPr lang="en-US" sz="1500" dirty="0"/>
          </a:p>
        </p:txBody>
      </p:sp>
      <p:sp>
        <p:nvSpPr>
          <p:cNvPr id="3" name="content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The story in five chapters</a:t>
            </a:r>
            <a:endParaRPr lang="en-US" sz="3800" dirty="0"/>
          </a:p>
        </p:txBody>
      </p:sp>
      <p:sp>
        <p:nvSpPr>
          <p:cNvPr id="4" name="contents_s_1"/>
          <p:cNvSpPr/>
          <p:nvPr/>
        </p:nvSpPr>
        <p:spPr>
          <a:xfrm>
            <a:off x="548640" y="1874520"/>
            <a:ext cx="2036003" cy="3520440"/>
          </a:xfrm>
          <a:prstGeom prst="roundRect">
            <a:avLst>
              <a:gd name="adj" fmla="val 8084"/>
            </a:avLst>
          </a:prstGeom>
          <a:solidFill>
            <a:srgbClr val="1C1C1E"/>
          </a:solidFill>
          <a:ln/>
        </p:spPr>
      </p:sp>
      <p:sp>
        <p:nvSpPr>
          <p:cNvPr id="5" name="contents_s_2"/>
          <p:cNvSpPr/>
          <p:nvPr/>
        </p:nvSpPr>
        <p:spPr>
          <a:xfrm>
            <a:off x="822960" y="2194560"/>
            <a:ext cx="713232" cy="713232"/>
          </a:xfrm>
          <a:prstGeom prst="ellipse">
            <a:avLst/>
          </a:prstGeom>
          <a:solidFill>
            <a:srgbClr val="2C2C2E"/>
          </a:solidFill>
          <a:ln/>
        </p:spPr>
      </p:sp>
      <p:pic>
        <p:nvPicPr>
          <p:cNvPr id="6" name="contents_i_3" descr="preencoded.png">    </p:cNvPr>
          <p:cNvPicPr>
            <a:picLocks noChangeAspect="1"/>
          </p:cNvPicPr>
          <p:nvPr/>
        </p:nvPicPr>
        <p:blipFill>
          <a:blip r:embed="rId1"/>
          <a:stretch>
            <a:fillRect/>
          </a:stretch>
        </p:blipFill>
        <p:spPr>
          <a:xfrm>
            <a:off x="987552" y="2359152"/>
            <a:ext cx="384048" cy="384048"/>
          </a:xfrm>
          <a:prstGeom prst="rect">
            <a:avLst/>
          </a:prstGeom>
        </p:spPr>
      </p:pic>
      <p:sp>
        <p:nvSpPr>
          <p:cNvPr id="7" name="contents_t_4"/>
          <p:cNvSpPr txBox="1"/>
          <p:nvPr/>
        </p:nvSpPr>
        <p:spPr>
          <a:xfrm>
            <a:off x="822960"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01</a:t>
            </a:r>
            <a:endParaRPr lang="en-US" sz="3400" dirty="0"/>
          </a:p>
        </p:txBody>
      </p:sp>
      <p:sp>
        <p:nvSpPr>
          <p:cNvPr id="8" name="contents_t_5"/>
          <p:cNvSpPr txBox="1"/>
          <p:nvPr/>
        </p:nvSpPr>
        <p:spPr>
          <a:xfrm>
            <a:off x="822960"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History &amp; Types</a:t>
            </a:r>
            <a:endParaRPr lang="en-US" sz="2100" dirty="0"/>
          </a:p>
        </p:txBody>
      </p:sp>
      <p:sp>
        <p:nvSpPr>
          <p:cNvPr id="9" name="contents_t_6"/>
          <p:cNvSpPr txBox="1"/>
          <p:nvPr/>
        </p:nvSpPr>
        <p:spPr>
          <a:xfrm>
            <a:off x="822960"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1934 to today</a:t>
            </a:r>
            <a:endParaRPr lang="en-US" sz="1500" dirty="0"/>
          </a:p>
        </p:txBody>
      </p:sp>
      <p:pic>
        <p:nvPicPr>
          <p:cNvPr id="10" name="contents_i_7" descr="preencoded.png">    </p:cNvPr>
          <p:cNvPicPr>
            <a:picLocks noChangeAspect="1"/>
          </p:cNvPicPr>
          <p:nvPr/>
        </p:nvPicPr>
        <p:blipFill>
          <a:blip r:embed="rId2"/>
          <a:stretch>
            <a:fillRect/>
          </a:stretch>
        </p:blipFill>
        <p:spPr>
          <a:xfrm>
            <a:off x="2017715" y="4846320"/>
            <a:ext cx="274320" cy="274320"/>
          </a:xfrm>
          <a:prstGeom prst="rect">
            <a:avLst/>
          </a:prstGeom>
        </p:spPr>
      </p:pic>
      <p:sp>
        <p:nvSpPr>
          <p:cNvPr id="11" name="contents_s_8">
            <a:hlinkClick r:id="rId3" tooltip="Go to History &amp; Types" action="ppaction://hlinksldjump"/>
          </p:cNvPr>
          <p:cNvSpPr/>
          <p:nvPr/>
        </p:nvSpPr>
        <p:spPr>
          <a:xfrm>
            <a:off x="548640" y="1874520"/>
            <a:ext cx="2036003" cy="3520440"/>
          </a:xfrm>
          <a:prstGeom prst="roundRect">
            <a:avLst>
              <a:gd name="adj" fmla="val 8084"/>
            </a:avLst>
          </a:prstGeom>
          <a:solidFill>
            <a:srgbClr val="000000">
              <a:alpha val="0"/>
            </a:srgbClr>
          </a:solidFill>
          <a:ln/>
        </p:spPr>
      </p:sp>
      <p:sp>
        <p:nvSpPr>
          <p:cNvPr id="12" name="contents_s_9"/>
          <p:cNvSpPr/>
          <p:nvPr/>
        </p:nvSpPr>
        <p:spPr>
          <a:xfrm>
            <a:off x="2813243" y="1874520"/>
            <a:ext cx="2036003" cy="3520440"/>
          </a:xfrm>
          <a:prstGeom prst="roundRect">
            <a:avLst>
              <a:gd name="adj" fmla="val 8084"/>
            </a:avLst>
          </a:prstGeom>
          <a:solidFill>
            <a:srgbClr val="1C1C1E"/>
          </a:solidFill>
          <a:ln/>
        </p:spPr>
      </p:sp>
      <p:sp>
        <p:nvSpPr>
          <p:cNvPr id="13" name="contents_s_10"/>
          <p:cNvSpPr/>
          <p:nvPr/>
        </p:nvSpPr>
        <p:spPr>
          <a:xfrm>
            <a:off x="3087563" y="2194560"/>
            <a:ext cx="713232" cy="713232"/>
          </a:xfrm>
          <a:prstGeom prst="ellipse">
            <a:avLst/>
          </a:prstGeom>
          <a:solidFill>
            <a:srgbClr val="2C2C2E"/>
          </a:solidFill>
          <a:ln/>
        </p:spPr>
      </p:sp>
      <p:pic>
        <p:nvPicPr>
          <p:cNvPr id="14" name="contents_i_11" descr="preencoded.png">    </p:cNvPr>
          <p:cNvPicPr>
            <a:picLocks noChangeAspect="1"/>
          </p:cNvPicPr>
          <p:nvPr/>
        </p:nvPicPr>
        <p:blipFill>
          <a:blip r:embed="rId4"/>
          <a:stretch>
            <a:fillRect/>
          </a:stretch>
        </p:blipFill>
        <p:spPr>
          <a:xfrm>
            <a:off x="3252155" y="2359152"/>
            <a:ext cx="384048" cy="384048"/>
          </a:xfrm>
          <a:prstGeom prst="rect">
            <a:avLst/>
          </a:prstGeom>
        </p:spPr>
      </p:pic>
      <p:sp>
        <p:nvSpPr>
          <p:cNvPr id="15" name="contents_t_12"/>
          <p:cNvSpPr txBox="1"/>
          <p:nvPr/>
        </p:nvSpPr>
        <p:spPr>
          <a:xfrm>
            <a:off x="3087563"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02</a:t>
            </a:r>
            <a:endParaRPr lang="en-US" sz="3400" dirty="0"/>
          </a:p>
        </p:txBody>
      </p:sp>
      <p:sp>
        <p:nvSpPr>
          <p:cNvPr id="16" name="contents_t_13"/>
          <p:cNvSpPr txBox="1"/>
          <p:nvPr/>
        </p:nvSpPr>
        <p:spPr>
          <a:xfrm>
            <a:off x="3087563"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Resources &amp; Growth</a:t>
            </a:r>
            <a:endParaRPr lang="en-US" sz="2100" dirty="0"/>
          </a:p>
        </p:txBody>
      </p:sp>
      <p:sp>
        <p:nvSpPr>
          <p:cNvPr id="17" name="contents_t_14"/>
          <p:cNvSpPr txBox="1"/>
          <p:nvPr/>
        </p:nvSpPr>
        <p:spPr>
          <a:xfrm>
            <a:off x="3087563"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Reserves and output</a:t>
            </a:r>
            <a:endParaRPr lang="en-US" sz="1500" dirty="0"/>
          </a:p>
        </p:txBody>
      </p:sp>
      <p:pic>
        <p:nvPicPr>
          <p:cNvPr id="18" name="contents_i_15" descr="preencoded.png">    </p:cNvPr>
          <p:cNvPicPr>
            <a:picLocks noChangeAspect="1"/>
          </p:cNvPicPr>
          <p:nvPr/>
        </p:nvPicPr>
        <p:blipFill>
          <a:blip r:embed="rId5"/>
          <a:stretch>
            <a:fillRect/>
          </a:stretch>
        </p:blipFill>
        <p:spPr>
          <a:xfrm>
            <a:off x="4282318" y="4846320"/>
            <a:ext cx="274320" cy="274320"/>
          </a:xfrm>
          <a:prstGeom prst="rect">
            <a:avLst/>
          </a:prstGeom>
        </p:spPr>
      </p:pic>
      <p:sp>
        <p:nvSpPr>
          <p:cNvPr id="19" name="contents_s_16">
            <a:hlinkClick r:id="rId6" tooltip="Go to Resources &amp; Growth" action="ppaction://hlinksldjump"/>
          </p:cNvPr>
          <p:cNvSpPr/>
          <p:nvPr/>
        </p:nvSpPr>
        <p:spPr>
          <a:xfrm>
            <a:off x="2813243" y="1874520"/>
            <a:ext cx="2036003" cy="3520440"/>
          </a:xfrm>
          <a:prstGeom prst="roundRect">
            <a:avLst>
              <a:gd name="adj" fmla="val 8084"/>
            </a:avLst>
          </a:prstGeom>
          <a:solidFill>
            <a:srgbClr val="000000">
              <a:alpha val="0"/>
            </a:srgbClr>
          </a:solidFill>
          <a:ln/>
        </p:spPr>
      </p:sp>
      <p:sp>
        <p:nvSpPr>
          <p:cNvPr id="20" name="contents_s_17"/>
          <p:cNvSpPr/>
          <p:nvPr/>
        </p:nvSpPr>
        <p:spPr>
          <a:xfrm>
            <a:off x="5077846" y="1874520"/>
            <a:ext cx="2036003" cy="3520440"/>
          </a:xfrm>
          <a:prstGeom prst="roundRect">
            <a:avLst>
              <a:gd name="adj" fmla="val 8084"/>
            </a:avLst>
          </a:prstGeom>
          <a:solidFill>
            <a:srgbClr val="1C1C1E"/>
          </a:solidFill>
          <a:ln/>
        </p:spPr>
      </p:sp>
      <p:sp>
        <p:nvSpPr>
          <p:cNvPr id="21" name="contents_s_18"/>
          <p:cNvSpPr/>
          <p:nvPr/>
        </p:nvSpPr>
        <p:spPr>
          <a:xfrm>
            <a:off x="5352166" y="2194560"/>
            <a:ext cx="713232" cy="713232"/>
          </a:xfrm>
          <a:prstGeom prst="ellipse">
            <a:avLst/>
          </a:prstGeom>
          <a:solidFill>
            <a:srgbClr val="2C2C2E"/>
          </a:solidFill>
          <a:ln/>
        </p:spPr>
      </p:sp>
      <p:pic>
        <p:nvPicPr>
          <p:cNvPr id="22" name="contents_i_19" descr="preencoded.png">    </p:cNvPr>
          <p:cNvPicPr>
            <a:picLocks noChangeAspect="1"/>
          </p:cNvPicPr>
          <p:nvPr/>
        </p:nvPicPr>
        <p:blipFill>
          <a:blip r:embed="rId7"/>
          <a:stretch>
            <a:fillRect/>
          </a:stretch>
        </p:blipFill>
        <p:spPr>
          <a:xfrm>
            <a:off x="5516758" y="2359152"/>
            <a:ext cx="384048" cy="384048"/>
          </a:xfrm>
          <a:prstGeom prst="rect">
            <a:avLst/>
          </a:prstGeom>
        </p:spPr>
      </p:pic>
      <p:sp>
        <p:nvSpPr>
          <p:cNvPr id="23" name="contents_t_20"/>
          <p:cNvSpPr txBox="1"/>
          <p:nvPr/>
        </p:nvSpPr>
        <p:spPr>
          <a:xfrm>
            <a:off x="5352166"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03</a:t>
            </a:r>
            <a:endParaRPr lang="en-US" sz="3400" dirty="0"/>
          </a:p>
        </p:txBody>
      </p:sp>
      <p:sp>
        <p:nvSpPr>
          <p:cNvPr id="24" name="contents_t_21"/>
          <p:cNvSpPr txBox="1"/>
          <p:nvPr/>
        </p:nvSpPr>
        <p:spPr>
          <a:xfrm>
            <a:off x="5352166"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Reservoir Locations</a:t>
            </a:r>
            <a:endParaRPr lang="en-US" sz="2100" dirty="0"/>
          </a:p>
        </p:txBody>
      </p:sp>
      <p:sp>
        <p:nvSpPr>
          <p:cNvPr id="25" name="contents_t_22"/>
          <p:cNvSpPr txBox="1"/>
          <p:nvPr/>
        </p:nvSpPr>
        <p:spPr>
          <a:xfrm>
            <a:off x="5352166"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Fields and rocks</a:t>
            </a:r>
            <a:endParaRPr lang="en-US" sz="1500" dirty="0"/>
          </a:p>
        </p:txBody>
      </p:sp>
      <p:pic>
        <p:nvPicPr>
          <p:cNvPr id="26" name="contents_i_23" descr="preencoded.png">    </p:cNvPr>
          <p:cNvPicPr>
            <a:picLocks noChangeAspect="1"/>
          </p:cNvPicPr>
          <p:nvPr/>
        </p:nvPicPr>
        <p:blipFill>
          <a:blip r:embed="rId8"/>
          <a:stretch>
            <a:fillRect/>
          </a:stretch>
        </p:blipFill>
        <p:spPr>
          <a:xfrm>
            <a:off x="6546921" y="4846320"/>
            <a:ext cx="274320" cy="274320"/>
          </a:xfrm>
          <a:prstGeom prst="rect">
            <a:avLst/>
          </a:prstGeom>
        </p:spPr>
      </p:pic>
      <p:sp>
        <p:nvSpPr>
          <p:cNvPr id="27" name="contents_s_24">
            <a:hlinkClick r:id="rId9" tooltip="Go to Reservoir Locations" action="ppaction://hlinksldjump"/>
          </p:cNvPr>
          <p:cNvSpPr/>
          <p:nvPr/>
        </p:nvSpPr>
        <p:spPr>
          <a:xfrm>
            <a:off x="5077846" y="1874520"/>
            <a:ext cx="2036003" cy="3520440"/>
          </a:xfrm>
          <a:prstGeom prst="roundRect">
            <a:avLst>
              <a:gd name="adj" fmla="val 8084"/>
            </a:avLst>
          </a:prstGeom>
          <a:solidFill>
            <a:srgbClr val="000000">
              <a:alpha val="0"/>
            </a:srgbClr>
          </a:solidFill>
          <a:ln/>
        </p:spPr>
      </p:sp>
      <p:sp>
        <p:nvSpPr>
          <p:cNvPr id="28" name="contents_s_25"/>
          <p:cNvSpPr/>
          <p:nvPr/>
        </p:nvSpPr>
        <p:spPr>
          <a:xfrm>
            <a:off x="7342449" y="1874520"/>
            <a:ext cx="2036003" cy="3520440"/>
          </a:xfrm>
          <a:prstGeom prst="roundRect">
            <a:avLst>
              <a:gd name="adj" fmla="val 8084"/>
            </a:avLst>
          </a:prstGeom>
          <a:solidFill>
            <a:srgbClr val="1C1C1E"/>
          </a:solidFill>
          <a:ln/>
        </p:spPr>
      </p:sp>
      <p:sp>
        <p:nvSpPr>
          <p:cNvPr id="29" name="contents_s_26"/>
          <p:cNvSpPr/>
          <p:nvPr/>
        </p:nvSpPr>
        <p:spPr>
          <a:xfrm>
            <a:off x="7616769" y="2194560"/>
            <a:ext cx="713232" cy="713232"/>
          </a:xfrm>
          <a:prstGeom prst="ellipse">
            <a:avLst/>
          </a:prstGeom>
          <a:solidFill>
            <a:srgbClr val="2C2C2E"/>
          </a:solidFill>
          <a:ln/>
        </p:spPr>
      </p:sp>
      <p:pic>
        <p:nvPicPr>
          <p:cNvPr id="30" name="contents_i_27" descr="preencoded.png">    </p:cNvPr>
          <p:cNvPicPr>
            <a:picLocks noChangeAspect="1"/>
          </p:cNvPicPr>
          <p:nvPr/>
        </p:nvPicPr>
        <p:blipFill>
          <a:blip r:embed="rId10"/>
          <a:stretch>
            <a:fillRect/>
          </a:stretch>
        </p:blipFill>
        <p:spPr>
          <a:xfrm>
            <a:off x="7781361" y="2359152"/>
            <a:ext cx="384048" cy="384048"/>
          </a:xfrm>
          <a:prstGeom prst="rect">
            <a:avLst/>
          </a:prstGeom>
        </p:spPr>
      </p:pic>
      <p:sp>
        <p:nvSpPr>
          <p:cNvPr id="31" name="contents_t_28"/>
          <p:cNvSpPr txBox="1"/>
          <p:nvPr/>
        </p:nvSpPr>
        <p:spPr>
          <a:xfrm>
            <a:off x="7616769"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04</a:t>
            </a:r>
            <a:endParaRPr lang="en-US" sz="3400" dirty="0"/>
          </a:p>
        </p:txBody>
      </p:sp>
      <p:sp>
        <p:nvSpPr>
          <p:cNvPr id="32" name="contents_t_29"/>
          <p:cNvSpPr txBox="1"/>
          <p:nvPr/>
        </p:nvSpPr>
        <p:spPr>
          <a:xfrm>
            <a:off x="7616769"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Exports &amp; Costs</a:t>
            </a:r>
            <a:endParaRPr lang="en-US" sz="2100" dirty="0"/>
          </a:p>
        </p:txBody>
      </p:sp>
      <p:sp>
        <p:nvSpPr>
          <p:cNvPr id="33" name="contents_t_30"/>
          <p:cNvSpPr txBox="1"/>
          <p:nvPr/>
        </p:nvSpPr>
        <p:spPr>
          <a:xfrm>
            <a:off x="7616769"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Markets and prices</a:t>
            </a:r>
            <a:endParaRPr lang="en-US" sz="1500" dirty="0"/>
          </a:p>
        </p:txBody>
      </p:sp>
      <p:pic>
        <p:nvPicPr>
          <p:cNvPr id="34" name="contents_i_31" descr="preencoded.png">    </p:cNvPr>
          <p:cNvPicPr>
            <a:picLocks noChangeAspect="1"/>
          </p:cNvPicPr>
          <p:nvPr/>
        </p:nvPicPr>
        <p:blipFill>
          <a:blip r:embed="rId11"/>
          <a:stretch>
            <a:fillRect/>
          </a:stretch>
        </p:blipFill>
        <p:spPr>
          <a:xfrm>
            <a:off x="8811524" y="4846320"/>
            <a:ext cx="274320" cy="274320"/>
          </a:xfrm>
          <a:prstGeom prst="rect">
            <a:avLst/>
          </a:prstGeom>
        </p:spPr>
      </p:pic>
      <p:sp>
        <p:nvSpPr>
          <p:cNvPr id="35" name="contents_s_32">
            <a:hlinkClick r:id="rId12" tooltip="Go to Exports &amp; Costs" action="ppaction://hlinksldjump"/>
          </p:cNvPr>
          <p:cNvSpPr/>
          <p:nvPr/>
        </p:nvSpPr>
        <p:spPr>
          <a:xfrm>
            <a:off x="7342449" y="1874520"/>
            <a:ext cx="2036003" cy="3520440"/>
          </a:xfrm>
          <a:prstGeom prst="roundRect">
            <a:avLst>
              <a:gd name="adj" fmla="val 8084"/>
            </a:avLst>
          </a:prstGeom>
          <a:solidFill>
            <a:srgbClr val="000000">
              <a:alpha val="0"/>
            </a:srgbClr>
          </a:solidFill>
          <a:ln/>
        </p:spPr>
      </p:sp>
      <p:sp>
        <p:nvSpPr>
          <p:cNvPr id="36" name="contents_s_33"/>
          <p:cNvSpPr/>
          <p:nvPr/>
        </p:nvSpPr>
        <p:spPr>
          <a:xfrm>
            <a:off x="9607052" y="1874520"/>
            <a:ext cx="2036003" cy="3520440"/>
          </a:xfrm>
          <a:prstGeom prst="roundRect">
            <a:avLst>
              <a:gd name="adj" fmla="val 8084"/>
            </a:avLst>
          </a:prstGeom>
          <a:solidFill>
            <a:srgbClr val="1C1C1E"/>
          </a:solidFill>
          <a:ln/>
        </p:spPr>
      </p:sp>
      <p:sp>
        <p:nvSpPr>
          <p:cNvPr id="37" name="contents_s_34"/>
          <p:cNvSpPr/>
          <p:nvPr/>
        </p:nvSpPr>
        <p:spPr>
          <a:xfrm>
            <a:off x="9881372" y="2194560"/>
            <a:ext cx="713232" cy="713232"/>
          </a:xfrm>
          <a:prstGeom prst="ellipse">
            <a:avLst/>
          </a:prstGeom>
          <a:solidFill>
            <a:srgbClr val="2C2C2E"/>
          </a:solidFill>
          <a:ln/>
        </p:spPr>
      </p:sp>
      <p:pic>
        <p:nvPicPr>
          <p:cNvPr id="38" name="contents_i_35" descr="preencoded.png">    </p:cNvPr>
          <p:cNvPicPr>
            <a:picLocks noChangeAspect="1"/>
          </p:cNvPicPr>
          <p:nvPr/>
        </p:nvPicPr>
        <p:blipFill>
          <a:blip r:embed="rId13"/>
          <a:stretch>
            <a:fillRect/>
          </a:stretch>
        </p:blipFill>
        <p:spPr>
          <a:xfrm>
            <a:off x="10045964" y="2359152"/>
            <a:ext cx="384048" cy="384048"/>
          </a:xfrm>
          <a:prstGeom prst="rect">
            <a:avLst/>
          </a:prstGeom>
        </p:spPr>
      </p:pic>
      <p:sp>
        <p:nvSpPr>
          <p:cNvPr id="39" name="contents_t_36"/>
          <p:cNvSpPr txBox="1"/>
          <p:nvPr/>
        </p:nvSpPr>
        <p:spPr>
          <a:xfrm>
            <a:off x="9881372" y="3154680"/>
            <a:ext cx="1578803" cy="548640"/>
          </a:xfrm>
          <a:prstGeom prst="rect">
            <a:avLst/>
          </a:prstGeom>
          <a:noFill/>
          <a:ln/>
        </p:spPr>
        <p:txBody>
          <a:bodyPr wrap="square" lIns="0" tIns="0" rIns="0" bIns="0" rtlCol="0" anchor="t"/>
          <a:lstStyle/>
          <a:p>
            <a:pPr indent="0" marL="0">
              <a:buNone/>
            </a:pPr>
            <a:r>
              <a:rPr lang="en-US" sz="3400" b="1" dirty="0">
                <a:solidFill>
                  <a:schemeClr val="accent1"/>
                </a:solidFill>
                <a:latin typeface="Arial" pitchFamily="34" charset="0"/>
                <a:ea typeface="Arial" pitchFamily="34" charset="-122"/>
                <a:cs typeface="Arial" pitchFamily="34" charset="-120"/>
              </a:rPr>
              <a:t>05</a:t>
            </a:r>
            <a:endParaRPr lang="en-US" sz="3400" dirty="0"/>
          </a:p>
        </p:txBody>
      </p:sp>
      <p:sp>
        <p:nvSpPr>
          <p:cNvPr id="40" name="contents_t_37"/>
          <p:cNvSpPr txBox="1"/>
          <p:nvPr/>
        </p:nvSpPr>
        <p:spPr>
          <a:xfrm>
            <a:off x="9881372" y="3749040"/>
            <a:ext cx="1624523" cy="822960"/>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References</a:t>
            </a:r>
            <a:endParaRPr lang="en-US" sz="2100" dirty="0"/>
          </a:p>
        </p:txBody>
      </p:sp>
      <p:sp>
        <p:nvSpPr>
          <p:cNvPr id="41" name="contents_t_38"/>
          <p:cNvSpPr txBox="1"/>
          <p:nvPr/>
        </p:nvSpPr>
        <p:spPr>
          <a:xfrm>
            <a:off x="9881372" y="4572000"/>
            <a:ext cx="1624523"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Sources used</a:t>
            </a:r>
            <a:endParaRPr lang="en-US" sz="1500" dirty="0"/>
          </a:p>
        </p:txBody>
      </p:sp>
      <p:pic>
        <p:nvPicPr>
          <p:cNvPr id="42" name="contents_i_39" descr="preencoded.png">    </p:cNvPr>
          <p:cNvPicPr>
            <a:picLocks noChangeAspect="1"/>
          </p:cNvPicPr>
          <p:nvPr/>
        </p:nvPicPr>
        <p:blipFill>
          <a:blip r:embed="rId14"/>
          <a:stretch>
            <a:fillRect/>
          </a:stretch>
        </p:blipFill>
        <p:spPr>
          <a:xfrm>
            <a:off x="11076127" y="4846320"/>
            <a:ext cx="274320" cy="274320"/>
          </a:xfrm>
          <a:prstGeom prst="rect">
            <a:avLst/>
          </a:prstGeom>
        </p:spPr>
      </p:pic>
      <p:sp>
        <p:nvSpPr>
          <p:cNvPr id="43" name="contents_s_40">
            <a:hlinkClick r:id="rId15" tooltip="Go to References" action="ppaction://hlinksldjump"/>
          </p:cNvPr>
          <p:cNvSpPr/>
          <p:nvPr/>
        </p:nvSpPr>
        <p:spPr>
          <a:xfrm>
            <a:off x="9607052" y="1874520"/>
            <a:ext cx="2036003" cy="3520440"/>
          </a:xfrm>
          <a:prstGeom prst="roundRect">
            <a:avLst>
              <a:gd name="adj" fmla="val 8084"/>
            </a:avLst>
          </a:prstGeom>
          <a:solidFill>
            <a:srgbClr val="000000">
              <a:alpha val="0"/>
            </a:srgbClr>
          </a:solidFill>
          <a:ln/>
        </p:spPr>
      </p:sp>
      <p:sp>
        <p:nvSpPr>
          <p:cNvPr id="44" name="contents_t_41"/>
          <p:cNvSpPr txBox="1"/>
          <p:nvPr/>
        </p:nvSpPr>
        <p:spPr>
          <a:xfrm>
            <a:off x="548640" y="5623560"/>
            <a:ext cx="9144000" cy="32004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Click a chapter to jump to it. The grid button at the bottom of each slide returns here.</a:t>
            </a:r>
            <a:endParaRPr lang="en-US" sz="1500" dirty="0"/>
          </a:p>
        </p:txBody>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4" presetID="42" presetClass="entr" presetSubtype="0"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800"/>
                                        <p:tgtEl>
                                          <p:spTgt spid="4"/>
                                        </p:tgtEl>
                                      </p:cBhvr>
                                    </p:animEffect>
                                    <p:anim calcmode="lin" valueType="num">
                                      <p:cBhvr>
                                        <p:cTn id="12" dur="800" fill="hold" decel="100000"/>
                                        <p:tgtEl>
                                          <p:spTgt spid="4"/>
                                        </p:tgtEl>
                                        <p:attrNameLst>
                                          <p:attrName>ppt_x</p:attrName>
                                        </p:attrNameLst>
                                      </p:cBhvr>
                                      <p:tavLst>
                                        <p:tav tm="0">
                                          <p:val>
                                            <p:strVal val="#ppt_x"/>
                                          </p:val>
                                        </p:tav>
                                        <p:tav tm="100000">
                                          <p:val>
                                            <p:strVal val="#ppt_x"/>
                                          </p:val>
                                        </p:tav>
                                      </p:tavLst>
                                    </p:anim>
                                    <p:anim calcmode="lin" valueType="num">
                                      <p:cBhvr>
                                        <p:cTn id="13" dur="800" fill="hold" decel="100000"/>
                                        <p:tgtEl>
                                          <p:spTgt spid="4"/>
                                        </p:tgtEl>
                                        <p:attrNameLst>
                                          <p:attrName>ppt_y</p:attrName>
                                        </p:attrNameLst>
                                      </p:cBhvr>
                                      <p:tavLst>
                                        <p:tav tm="0">
                                          <p:val>
                                            <p:strVal val="#ppt_y+0.04"/>
                                          </p:val>
                                        </p:tav>
                                        <p:tav tm="100000">
                                          <p:val>
                                            <p:strVal val="#ppt_y"/>
                                          </p:val>
                                        </p:tav>
                                      </p:tavLst>
                                    </p:anim>
                                  </p:childTnLst>
                                </p:cTn>
                              </p:par>
                              <p:par>
                                <p:cTn id="19" presetID="42" presetClass="entr" presetSubtype="0" fill="hold" grpId="0" nodeType="withEffect">
                                  <p:stCondLst>
                                    <p:cond delay="3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800"/>
                                        <p:tgtEl>
                                          <p:spTgt spid="5"/>
                                        </p:tgtEl>
                                      </p:cBhvr>
                                    </p:animEffect>
                                    <p:anim calcmode="lin" valueType="num">
                                      <p:cBhvr>
                                        <p:cTn id="17" dur="800" fill="hold" decel="100000"/>
                                        <p:tgtEl>
                                          <p:spTgt spid="5"/>
                                        </p:tgtEl>
                                        <p:attrNameLst>
                                          <p:attrName>ppt_x</p:attrName>
                                        </p:attrNameLst>
                                      </p:cBhvr>
                                      <p:tavLst>
                                        <p:tav tm="0">
                                          <p:val>
                                            <p:strVal val="#ppt_x"/>
                                          </p:val>
                                        </p:tav>
                                        <p:tav tm="100000">
                                          <p:val>
                                            <p:strVal val="#ppt_x"/>
                                          </p:val>
                                        </p:tav>
                                      </p:tavLst>
                                    </p:anim>
                                    <p:anim calcmode="lin" valueType="num">
                                      <p:cBhvr>
                                        <p:cTn id="18" dur="800" fill="hold" decel="100000"/>
                                        <p:tgtEl>
                                          <p:spTgt spid="5"/>
                                        </p:tgtEl>
                                        <p:attrNameLst>
                                          <p:attrName>ppt_y</p:attrName>
                                        </p:attrNameLst>
                                      </p:cBhvr>
                                      <p:tavLst>
                                        <p:tav tm="0">
                                          <p:val>
                                            <p:strVal val="#ppt_y+0.04"/>
                                          </p:val>
                                        </p:tav>
                                        <p:tav tm="100000">
                                          <p:val>
                                            <p:strVal val="#ppt_y"/>
                                          </p:val>
                                        </p:tav>
                                      </p:tavLst>
                                    </p:anim>
                                  </p:childTnLst>
                                </p:cTn>
                              </p:par>
                              <p:par>
                                <p:cTn id="24" presetID="42" presetClass="entr" presetSubtype="0" fill="hold" grpId="0" nodeType="withEffect">
                                  <p:stCondLst>
                                    <p:cond delay="3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800"/>
                                        <p:tgtEl>
                                          <p:spTgt spid="6"/>
                                        </p:tgtEl>
                                      </p:cBhvr>
                                    </p:animEffect>
                                    <p:anim calcmode="lin" valueType="num">
                                      <p:cBhvr>
                                        <p:cTn id="22" dur="800" fill="hold" decel="100000"/>
                                        <p:tgtEl>
                                          <p:spTgt spid="6"/>
                                        </p:tgtEl>
                                        <p:attrNameLst>
                                          <p:attrName>ppt_x</p:attrName>
                                        </p:attrNameLst>
                                      </p:cBhvr>
                                      <p:tavLst>
                                        <p:tav tm="0">
                                          <p:val>
                                            <p:strVal val="#ppt_x"/>
                                          </p:val>
                                        </p:tav>
                                        <p:tav tm="100000">
                                          <p:val>
                                            <p:strVal val="#ppt_x"/>
                                          </p:val>
                                        </p:tav>
                                      </p:tavLst>
                                    </p:anim>
                                    <p:anim calcmode="lin" valueType="num">
                                      <p:cBhvr>
                                        <p:cTn id="23" dur="800" fill="hold" decel="100000"/>
                                        <p:tgtEl>
                                          <p:spTgt spid="6"/>
                                        </p:tgtEl>
                                        <p:attrNameLst>
                                          <p:attrName>ppt_y</p:attrName>
                                        </p:attrNameLst>
                                      </p:cBhvr>
                                      <p:tavLst>
                                        <p:tav tm="0">
                                          <p:val>
                                            <p:strVal val="#ppt_y+0.04"/>
                                          </p:val>
                                        </p:tav>
                                        <p:tav tm="100000">
                                          <p:val>
                                            <p:strVal val="#ppt_y"/>
                                          </p:val>
                                        </p:tav>
                                      </p:tavLst>
                                    </p:anim>
                                  </p:childTnLst>
                                </p:cTn>
                              </p:par>
                              <p:par>
                                <p:cTn id="29" presetID="42" presetClass="entr" presetSubtype="0" fill="hold" grpId="0" nodeType="withEffect">
                                  <p:stCondLst>
                                    <p:cond delay="3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800"/>
                                        <p:tgtEl>
                                          <p:spTgt spid="7"/>
                                        </p:tgtEl>
                                      </p:cBhvr>
                                    </p:animEffect>
                                    <p:anim calcmode="lin" valueType="num">
                                      <p:cBhvr>
                                        <p:cTn id="27" dur="800" fill="hold" decel="100000"/>
                                        <p:tgtEl>
                                          <p:spTgt spid="7"/>
                                        </p:tgtEl>
                                        <p:attrNameLst>
                                          <p:attrName>ppt_x</p:attrName>
                                        </p:attrNameLst>
                                      </p:cBhvr>
                                      <p:tavLst>
                                        <p:tav tm="0">
                                          <p:val>
                                            <p:strVal val="#ppt_x"/>
                                          </p:val>
                                        </p:tav>
                                        <p:tav tm="100000">
                                          <p:val>
                                            <p:strVal val="#ppt_x"/>
                                          </p:val>
                                        </p:tav>
                                      </p:tavLst>
                                    </p:anim>
                                    <p:anim calcmode="lin" valueType="num">
                                      <p:cBhvr>
                                        <p:cTn id="28" dur="800" fill="hold" decel="100000"/>
                                        <p:tgtEl>
                                          <p:spTgt spid="7"/>
                                        </p:tgtEl>
                                        <p:attrNameLst>
                                          <p:attrName>ppt_y</p:attrName>
                                        </p:attrNameLst>
                                      </p:cBhvr>
                                      <p:tavLst>
                                        <p:tav tm="0">
                                          <p:val>
                                            <p:strVal val="#ppt_y+0.04"/>
                                          </p:val>
                                        </p:tav>
                                        <p:tav tm="100000">
                                          <p:val>
                                            <p:strVal val="#ppt_y"/>
                                          </p:val>
                                        </p:tav>
                                      </p:tavLst>
                                    </p:anim>
                                  </p:childTnLst>
                                </p:cTn>
                              </p:par>
                              <p:par>
                                <p:cTn id="34" presetID="42" presetClass="entr" presetSubtype="0" fill="hold" grpId="0" nodeType="withEffect">
                                  <p:stCondLst>
                                    <p:cond delay="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800"/>
                                        <p:tgtEl>
                                          <p:spTgt spid="8"/>
                                        </p:tgtEl>
                                      </p:cBhvr>
                                    </p:animEffect>
                                    <p:anim calcmode="lin" valueType="num">
                                      <p:cBhvr>
                                        <p:cTn id="32" dur="800" fill="hold" decel="100000"/>
                                        <p:tgtEl>
                                          <p:spTgt spid="8"/>
                                        </p:tgtEl>
                                        <p:attrNameLst>
                                          <p:attrName>ppt_x</p:attrName>
                                        </p:attrNameLst>
                                      </p:cBhvr>
                                      <p:tavLst>
                                        <p:tav tm="0">
                                          <p:val>
                                            <p:strVal val="#ppt_x"/>
                                          </p:val>
                                        </p:tav>
                                        <p:tav tm="100000">
                                          <p:val>
                                            <p:strVal val="#ppt_x"/>
                                          </p:val>
                                        </p:tav>
                                      </p:tavLst>
                                    </p:anim>
                                    <p:anim calcmode="lin" valueType="num">
                                      <p:cBhvr>
                                        <p:cTn id="33" dur="800" fill="hold" decel="100000"/>
                                        <p:tgtEl>
                                          <p:spTgt spid="8"/>
                                        </p:tgtEl>
                                        <p:attrNameLst>
                                          <p:attrName>ppt_y</p:attrName>
                                        </p:attrNameLst>
                                      </p:cBhvr>
                                      <p:tavLst>
                                        <p:tav tm="0">
                                          <p:val>
                                            <p:strVal val="#ppt_y+0.04"/>
                                          </p:val>
                                        </p:tav>
                                        <p:tav tm="100000">
                                          <p:val>
                                            <p:strVal val="#ppt_y"/>
                                          </p:val>
                                        </p:tav>
                                      </p:tavLst>
                                    </p:anim>
                                  </p:childTnLst>
                                </p:cTn>
                              </p:par>
                              <p:par>
                                <p:cTn id="39" presetID="42" presetClass="entr" presetSubtype="0" fill="hold" grpId="0" nodeType="withEffect">
                                  <p:stCondLst>
                                    <p:cond delay="3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800"/>
                                        <p:tgtEl>
                                          <p:spTgt spid="9"/>
                                        </p:tgtEl>
                                      </p:cBhvr>
                                    </p:animEffect>
                                    <p:anim calcmode="lin" valueType="num">
                                      <p:cBhvr>
                                        <p:cTn id="37" dur="800" fill="hold" decel="100000"/>
                                        <p:tgtEl>
                                          <p:spTgt spid="9"/>
                                        </p:tgtEl>
                                        <p:attrNameLst>
                                          <p:attrName>ppt_x</p:attrName>
                                        </p:attrNameLst>
                                      </p:cBhvr>
                                      <p:tavLst>
                                        <p:tav tm="0">
                                          <p:val>
                                            <p:strVal val="#ppt_x"/>
                                          </p:val>
                                        </p:tav>
                                        <p:tav tm="100000">
                                          <p:val>
                                            <p:strVal val="#ppt_x"/>
                                          </p:val>
                                        </p:tav>
                                      </p:tavLst>
                                    </p:anim>
                                    <p:anim calcmode="lin" valueType="num">
                                      <p:cBhvr>
                                        <p:cTn id="38" dur="800" fill="hold" decel="100000"/>
                                        <p:tgtEl>
                                          <p:spTgt spid="9"/>
                                        </p:tgtEl>
                                        <p:attrNameLst>
                                          <p:attrName>ppt_y</p:attrName>
                                        </p:attrNameLst>
                                      </p:cBhvr>
                                      <p:tavLst>
                                        <p:tav tm="0">
                                          <p:val>
                                            <p:strVal val="#ppt_y+0.04"/>
                                          </p:val>
                                        </p:tav>
                                        <p:tav tm="100000">
                                          <p:val>
                                            <p:strVal val="#ppt_y"/>
                                          </p:val>
                                        </p:tav>
                                      </p:tavLst>
                                    </p:anim>
                                  </p:childTnLst>
                                </p:cTn>
                              </p:par>
                              <p:par>
                                <p:cTn id="44" presetID="42" presetClass="entr" presetSubtype="0" fill="hold" grpId="0" nodeType="withEffect">
                                  <p:stCondLst>
                                    <p:cond delay="3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800"/>
                                        <p:tgtEl>
                                          <p:spTgt spid="10"/>
                                        </p:tgtEl>
                                      </p:cBhvr>
                                    </p:animEffect>
                                    <p:anim calcmode="lin" valueType="num">
                                      <p:cBhvr>
                                        <p:cTn id="42" dur="800" fill="hold" decel="100000"/>
                                        <p:tgtEl>
                                          <p:spTgt spid="10"/>
                                        </p:tgtEl>
                                        <p:attrNameLst>
                                          <p:attrName>ppt_x</p:attrName>
                                        </p:attrNameLst>
                                      </p:cBhvr>
                                      <p:tavLst>
                                        <p:tav tm="0">
                                          <p:val>
                                            <p:strVal val="#ppt_x"/>
                                          </p:val>
                                        </p:tav>
                                        <p:tav tm="100000">
                                          <p:val>
                                            <p:strVal val="#ppt_x"/>
                                          </p:val>
                                        </p:tav>
                                      </p:tavLst>
                                    </p:anim>
                                    <p:anim calcmode="lin" valueType="num">
                                      <p:cBhvr>
                                        <p:cTn id="43" dur="800" fill="hold" decel="100000"/>
                                        <p:tgtEl>
                                          <p:spTgt spid="10"/>
                                        </p:tgtEl>
                                        <p:attrNameLst>
                                          <p:attrName>ppt_y</p:attrName>
                                        </p:attrNameLst>
                                      </p:cBhvr>
                                      <p:tavLst>
                                        <p:tav tm="0">
                                          <p:val>
                                            <p:strVal val="#ppt_y+0.04"/>
                                          </p:val>
                                        </p:tav>
                                        <p:tav tm="100000">
                                          <p:val>
                                            <p:strVal val="#ppt_y"/>
                                          </p:val>
                                        </p:tav>
                                      </p:tavLst>
                                    </p:anim>
                                  </p:childTnLst>
                                </p:cTn>
                              </p:par>
                              <p:par>
                                <p:cTn id="49" presetID="42" presetClass="entr" presetSubtype="0" fill="hold" grpId="0" nodeType="withEffect">
                                  <p:stCondLst>
                                    <p:cond delay="46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800"/>
                                        <p:tgtEl>
                                          <p:spTgt spid="12"/>
                                        </p:tgtEl>
                                      </p:cBhvr>
                                    </p:animEffect>
                                    <p:anim calcmode="lin" valueType="num">
                                      <p:cBhvr>
                                        <p:cTn id="47" dur="800" fill="hold" decel="100000"/>
                                        <p:tgtEl>
                                          <p:spTgt spid="12"/>
                                        </p:tgtEl>
                                        <p:attrNameLst>
                                          <p:attrName>ppt_x</p:attrName>
                                        </p:attrNameLst>
                                      </p:cBhvr>
                                      <p:tavLst>
                                        <p:tav tm="0">
                                          <p:val>
                                            <p:strVal val="#ppt_x"/>
                                          </p:val>
                                        </p:tav>
                                        <p:tav tm="100000">
                                          <p:val>
                                            <p:strVal val="#ppt_x"/>
                                          </p:val>
                                        </p:tav>
                                      </p:tavLst>
                                    </p:anim>
                                    <p:anim calcmode="lin" valueType="num">
                                      <p:cBhvr>
                                        <p:cTn id="48" dur="800" fill="hold" decel="100000"/>
                                        <p:tgtEl>
                                          <p:spTgt spid="12"/>
                                        </p:tgtEl>
                                        <p:attrNameLst>
                                          <p:attrName>ppt_y</p:attrName>
                                        </p:attrNameLst>
                                      </p:cBhvr>
                                      <p:tavLst>
                                        <p:tav tm="0">
                                          <p:val>
                                            <p:strVal val="#ppt_y+0.04"/>
                                          </p:val>
                                        </p:tav>
                                        <p:tav tm="100000">
                                          <p:val>
                                            <p:strVal val="#ppt_y"/>
                                          </p:val>
                                        </p:tav>
                                      </p:tavLst>
                                    </p:anim>
                                  </p:childTnLst>
                                </p:cTn>
                              </p:par>
                              <p:par>
                                <p:cTn id="54" presetID="42" presetClass="entr" presetSubtype="0" fill="hold" grpId="0" nodeType="withEffect">
                                  <p:stCondLst>
                                    <p:cond delay="46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800"/>
                                        <p:tgtEl>
                                          <p:spTgt spid="13"/>
                                        </p:tgtEl>
                                      </p:cBhvr>
                                    </p:animEffect>
                                    <p:anim calcmode="lin" valueType="num">
                                      <p:cBhvr>
                                        <p:cTn id="52" dur="800" fill="hold" decel="100000"/>
                                        <p:tgtEl>
                                          <p:spTgt spid="13"/>
                                        </p:tgtEl>
                                        <p:attrNameLst>
                                          <p:attrName>ppt_x</p:attrName>
                                        </p:attrNameLst>
                                      </p:cBhvr>
                                      <p:tavLst>
                                        <p:tav tm="0">
                                          <p:val>
                                            <p:strVal val="#ppt_x"/>
                                          </p:val>
                                        </p:tav>
                                        <p:tav tm="100000">
                                          <p:val>
                                            <p:strVal val="#ppt_x"/>
                                          </p:val>
                                        </p:tav>
                                      </p:tavLst>
                                    </p:anim>
                                    <p:anim calcmode="lin" valueType="num">
                                      <p:cBhvr>
                                        <p:cTn id="53" dur="800" fill="hold" decel="100000"/>
                                        <p:tgtEl>
                                          <p:spTgt spid="13"/>
                                        </p:tgtEl>
                                        <p:attrNameLst>
                                          <p:attrName>ppt_y</p:attrName>
                                        </p:attrNameLst>
                                      </p:cBhvr>
                                      <p:tavLst>
                                        <p:tav tm="0">
                                          <p:val>
                                            <p:strVal val="#ppt_y+0.04"/>
                                          </p:val>
                                        </p:tav>
                                        <p:tav tm="100000">
                                          <p:val>
                                            <p:strVal val="#ppt_y"/>
                                          </p:val>
                                        </p:tav>
                                      </p:tavLst>
                                    </p:anim>
                                  </p:childTnLst>
                                </p:cTn>
                              </p:par>
                              <p:par>
                                <p:cTn id="59" presetID="42" presetClass="entr" presetSubtype="0" fill="hold" grpId="0" nodeType="withEffect">
                                  <p:stCondLst>
                                    <p:cond delay="46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800"/>
                                        <p:tgtEl>
                                          <p:spTgt spid="14"/>
                                        </p:tgtEl>
                                      </p:cBhvr>
                                    </p:animEffect>
                                    <p:anim calcmode="lin" valueType="num">
                                      <p:cBhvr>
                                        <p:cTn id="57" dur="800" fill="hold" decel="100000"/>
                                        <p:tgtEl>
                                          <p:spTgt spid="14"/>
                                        </p:tgtEl>
                                        <p:attrNameLst>
                                          <p:attrName>ppt_x</p:attrName>
                                        </p:attrNameLst>
                                      </p:cBhvr>
                                      <p:tavLst>
                                        <p:tav tm="0">
                                          <p:val>
                                            <p:strVal val="#ppt_x"/>
                                          </p:val>
                                        </p:tav>
                                        <p:tav tm="100000">
                                          <p:val>
                                            <p:strVal val="#ppt_x"/>
                                          </p:val>
                                        </p:tav>
                                      </p:tavLst>
                                    </p:anim>
                                    <p:anim calcmode="lin" valueType="num">
                                      <p:cBhvr>
                                        <p:cTn id="58" dur="800" fill="hold" decel="100000"/>
                                        <p:tgtEl>
                                          <p:spTgt spid="14"/>
                                        </p:tgtEl>
                                        <p:attrNameLst>
                                          <p:attrName>ppt_y</p:attrName>
                                        </p:attrNameLst>
                                      </p:cBhvr>
                                      <p:tavLst>
                                        <p:tav tm="0">
                                          <p:val>
                                            <p:strVal val="#ppt_y+0.04"/>
                                          </p:val>
                                        </p:tav>
                                        <p:tav tm="100000">
                                          <p:val>
                                            <p:strVal val="#ppt_y"/>
                                          </p:val>
                                        </p:tav>
                                      </p:tavLst>
                                    </p:anim>
                                  </p:childTnLst>
                                </p:cTn>
                              </p:par>
                              <p:par>
                                <p:cTn id="64" presetID="42" presetClass="entr" presetSubtype="0" fill="hold" grpId="0" nodeType="withEffect">
                                  <p:stCondLst>
                                    <p:cond delay="46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800"/>
                                        <p:tgtEl>
                                          <p:spTgt spid="15"/>
                                        </p:tgtEl>
                                      </p:cBhvr>
                                    </p:animEffect>
                                    <p:anim calcmode="lin" valueType="num">
                                      <p:cBhvr>
                                        <p:cTn id="62" dur="800" fill="hold" decel="100000"/>
                                        <p:tgtEl>
                                          <p:spTgt spid="15"/>
                                        </p:tgtEl>
                                        <p:attrNameLst>
                                          <p:attrName>ppt_x</p:attrName>
                                        </p:attrNameLst>
                                      </p:cBhvr>
                                      <p:tavLst>
                                        <p:tav tm="0">
                                          <p:val>
                                            <p:strVal val="#ppt_x"/>
                                          </p:val>
                                        </p:tav>
                                        <p:tav tm="100000">
                                          <p:val>
                                            <p:strVal val="#ppt_x"/>
                                          </p:val>
                                        </p:tav>
                                      </p:tavLst>
                                    </p:anim>
                                    <p:anim calcmode="lin" valueType="num">
                                      <p:cBhvr>
                                        <p:cTn id="63" dur="800" fill="hold" decel="100000"/>
                                        <p:tgtEl>
                                          <p:spTgt spid="15"/>
                                        </p:tgtEl>
                                        <p:attrNameLst>
                                          <p:attrName>ppt_y</p:attrName>
                                        </p:attrNameLst>
                                      </p:cBhvr>
                                      <p:tavLst>
                                        <p:tav tm="0">
                                          <p:val>
                                            <p:strVal val="#ppt_y+0.04"/>
                                          </p:val>
                                        </p:tav>
                                        <p:tav tm="100000">
                                          <p:val>
                                            <p:strVal val="#ppt_y"/>
                                          </p:val>
                                        </p:tav>
                                      </p:tavLst>
                                    </p:anim>
                                  </p:childTnLst>
                                </p:cTn>
                              </p:par>
                              <p:par>
                                <p:cTn id="69" presetID="42" presetClass="entr" presetSubtype="0" fill="hold" grpId="0" nodeType="withEffect">
                                  <p:stCondLst>
                                    <p:cond delay="46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800"/>
                                        <p:tgtEl>
                                          <p:spTgt spid="16"/>
                                        </p:tgtEl>
                                      </p:cBhvr>
                                    </p:animEffect>
                                    <p:anim calcmode="lin" valueType="num">
                                      <p:cBhvr>
                                        <p:cTn id="67" dur="800" fill="hold" decel="100000"/>
                                        <p:tgtEl>
                                          <p:spTgt spid="16"/>
                                        </p:tgtEl>
                                        <p:attrNameLst>
                                          <p:attrName>ppt_x</p:attrName>
                                        </p:attrNameLst>
                                      </p:cBhvr>
                                      <p:tavLst>
                                        <p:tav tm="0">
                                          <p:val>
                                            <p:strVal val="#ppt_x"/>
                                          </p:val>
                                        </p:tav>
                                        <p:tav tm="100000">
                                          <p:val>
                                            <p:strVal val="#ppt_x"/>
                                          </p:val>
                                        </p:tav>
                                      </p:tavLst>
                                    </p:anim>
                                    <p:anim calcmode="lin" valueType="num">
                                      <p:cBhvr>
                                        <p:cTn id="68" dur="800" fill="hold" decel="100000"/>
                                        <p:tgtEl>
                                          <p:spTgt spid="16"/>
                                        </p:tgtEl>
                                        <p:attrNameLst>
                                          <p:attrName>ppt_y</p:attrName>
                                        </p:attrNameLst>
                                      </p:cBhvr>
                                      <p:tavLst>
                                        <p:tav tm="0">
                                          <p:val>
                                            <p:strVal val="#ppt_y+0.04"/>
                                          </p:val>
                                        </p:tav>
                                        <p:tav tm="100000">
                                          <p:val>
                                            <p:strVal val="#ppt_y"/>
                                          </p:val>
                                        </p:tav>
                                      </p:tavLst>
                                    </p:anim>
                                  </p:childTnLst>
                                </p:cTn>
                              </p:par>
                              <p:par>
                                <p:cTn id="74" presetID="42" presetClass="entr" presetSubtype="0" fill="hold" grpId="0" nodeType="withEffect">
                                  <p:stCondLst>
                                    <p:cond delay="46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800"/>
                                        <p:tgtEl>
                                          <p:spTgt spid="17"/>
                                        </p:tgtEl>
                                      </p:cBhvr>
                                    </p:animEffect>
                                    <p:anim calcmode="lin" valueType="num">
                                      <p:cBhvr>
                                        <p:cTn id="72" dur="800" fill="hold" decel="100000"/>
                                        <p:tgtEl>
                                          <p:spTgt spid="17"/>
                                        </p:tgtEl>
                                        <p:attrNameLst>
                                          <p:attrName>ppt_x</p:attrName>
                                        </p:attrNameLst>
                                      </p:cBhvr>
                                      <p:tavLst>
                                        <p:tav tm="0">
                                          <p:val>
                                            <p:strVal val="#ppt_x"/>
                                          </p:val>
                                        </p:tav>
                                        <p:tav tm="100000">
                                          <p:val>
                                            <p:strVal val="#ppt_x"/>
                                          </p:val>
                                        </p:tav>
                                      </p:tavLst>
                                    </p:anim>
                                    <p:anim calcmode="lin" valueType="num">
                                      <p:cBhvr>
                                        <p:cTn id="73" dur="800" fill="hold" decel="100000"/>
                                        <p:tgtEl>
                                          <p:spTgt spid="17"/>
                                        </p:tgtEl>
                                        <p:attrNameLst>
                                          <p:attrName>ppt_y</p:attrName>
                                        </p:attrNameLst>
                                      </p:cBhvr>
                                      <p:tavLst>
                                        <p:tav tm="0">
                                          <p:val>
                                            <p:strVal val="#ppt_y+0.04"/>
                                          </p:val>
                                        </p:tav>
                                        <p:tav tm="100000">
                                          <p:val>
                                            <p:strVal val="#ppt_y"/>
                                          </p:val>
                                        </p:tav>
                                      </p:tavLst>
                                    </p:anim>
                                  </p:childTnLst>
                                </p:cTn>
                              </p:par>
                              <p:par>
                                <p:cTn id="79" presetID="42" presetClass="entr" presetSubtype="0" fill="hold" grpId="0" nodeType="withEffect">
                                  <p:stCondLst>
                                    <p:cond delay="46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800"/>
                                        <p:tgtEl>
                                          <p:spTgt spid="18"/>
                                        </p:tgtEl>
                                      </p:cBhvr>
                                    </p:animEffect>
                                    <p:anim calcmode="lin" valueType="num">
                                      <p:cBhvr>
                                        <p:cTn id="77" dur="800" fill="hold" decel="100000"/>
                                        <p:tgtEl>
                                          <p:spTgt spid="18"/>
                                        </p:tgtEl>
                                        <p:attrNameLst>
                                          <p:attrName>ppt_x</p:attrName>
                                        </p:attrNameLst>
                                      </p:cBhvr>
                                      <p:tavLst>
                                        <p:tav tm="0">
                                          <p:val>
                                            <p:strVal val="#ppt_x"/>
                                          </p:val>
                                        </p:tav>
                                        <p:tav tm="100000">
                                          <p:val>
                                            <p:strVal val="#ppt_x"/>
                                          </p:val>
                                        </p:tav>
                                      </p:tavLst>
                                    </p:anim>
                                    <p:anim calcmode="lin" valueType="num">
                                      <p:cBhvr>
                                        <p:cTn id="78" dur="800" fill="hold" decel="100000"/>
                                        <p:tgtEl>
                                          <p:spTgt spid="18"/>
                                        </p:tgtEl>
                                        <p:attrNameLst>
                                          <p:attrName>ppt_y</p:attrName>
                                        </p:attrNameLst>
                                      </p:cBhvr>
                                      <p:tavLst>
                                        <p:tav tm="0">
                                          <p:val>
                                            <p:strVal val="#ppt_y+0.04"/>
                                          </p:val>
                                        </p:tav>
                                        <p:tav tm="100000">
                                          <p:val>
                                            <p:strVal val="#ppt_y"/>
                                          </p:val>
                                        </p:tav>
                                      </p:tavLst>
                                    </p:anim>
                                  </p:childTnLst>
                                </p:cTn>
                              </p:par>
                              <p:par>
                                <p:cTn id="84" presetID="42" presetClass="entr" presetSubtype="0" fill="hold" grpId="0" nodeType="withEffect">
                                  <p:stCondLst>
                                    <p:cond delay="62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800"/>
                                        <p:tgtEl>
                                          <p:spTgt spid="20"/>
                                        </p:tgtEl>
                                      </p:cBhvr>
                                    </p:animEffect>
                                    <p:anim calcmode="lin" valueType="num">
                                      <p:cBhvr>
                                        <p:cTn id="82" dur="800" fill="hold" decel="100000"/>
                                        <p:tgtEl>
                                          <p:spTgt spid="20"/>
                                        </p:tgtEl>
                                        <p:attrNameLst>
                                          <p:attrName>ppt_x</p:attrName>
                                        </p:attrNameLst>
                                      </p:cBhvr>
                                      <p:tavLst>
                                        <p:tav tm="0">
                                          <p:val>
                                            <p:strVal val="#ppt_x"/>
                                          </p:val>
                                        </p:tav>
                                        <p:tav tm="100000">
                                          <p:val>
                                            <p:strVal val="#ppt_x"/>
                                          </p:val>
                                        </p:tav>
                                      </p:tavLst>
                                    </p:anim>
                                    <p:anim calcmode="lin" valueType="num">
                                      <p:cBhvr>
                                        <p:cTn id="83" dur="800" fill="hold" decel="100000"/>
                                        <p:tgtEl>
                                          <p:spTgt spid="20"/>
                                        </p:tgtEl>
                                        <p:attrNameLst>
                                          <p:attrName>ppt_y</p:attrName>
                                        </p:attrNameLst>
                                      </p:cBhvr>
                                      <p:tavLst>
                                        <p:tav tm="0">
                                          <p:val>
                                            <p:strVal val="#ppt_y+0.04"/>
                                          </p:val>
                                        </p:tav>
                                        <p:tav tm="100000">
                                          <p:val>
                                            <p:strVal val="#ppt_y"/>
                                          </p:val>
                                        </p:tav>
                                      </p:tavLst>
                                    </p:anim>
                                  </p:childTnLst>
                                </p:cTn>
                              </p:par>
                              <p:par>
                                <p:cTn id="89" presetID="42" presetClass="entr" presetSubtype="0" fill="hold" grpId="0" nodeType="withEffect">
                                  <p:stCondLst>
                                    <p:cond delay="62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800"/>
                                        <p:tgtEl>
                                          <p:spTgt spid="21"/>
                                        </p:tgtEl>
                                      </p:cBhvr>
                                    </p:animEffect>
                                    <p:anim calcmode="lin" valueType="num">
                                      <p:cBhvr>
                                        <p:cTn id="87" dur="800" fill="hold" decel="100000"/>
                                        <p:tgtEl>
                                          <p:spTgt spid="21"/>
                                        </p:tgtEl>
                                        <p:attrNameLst>
                                          <p:attrName>ppt_x</p:attrName>
                                        </p:attrNameLst>
                                      </p:cBhvr>
                                      <p:tavLst>
                                        <p:tav tm="0">
                                          <p:val>
                                            <p:strVal val="#ppt_x"/>
                                          </p:val>
                                        </p:tav>
                                        <p:tav tm="100000">
                                          <p:val>
                                            <p:strVal val="#ppt_x"/>
                                          </p:val>
                                        </p:tav>
                                      </p:tavLst>
                                    </p:anim>
                                    <p:anim calcmode="lin" valueType="num">
                                      <p:cBhvr>
                                        <p:cTn id="88" dur="800" fill="hold" decel="100000"/>
                                        <p:tgtEl>
                                          <p:spTgt spid="21"/>
                                        </p:tgtEl>
                                        <p:attrNameLst>
                                          <p:attrName>ppt_y</p:attrName>
                                        </p:attrNameLst>
                                      </p:cBhvr>
                                      <p:tavLst>
                                        <p:tav tm="0">
                                          <p:val>
                                            <p:strVal val="#ppt_y+0.04"/>
                                          </p:val>
                                        </p:tav>
                                        <p:tav tm="100000">
                                          <p:val>
                                            <p:strVal val="#ppt_y"/>
                                          </p:val>
                                        </p:tav>
                                      </p:tavLst>
                                    </p:anim>
                                  </p:childTnLst>
                                </p:cTn>
                              </p:par>
                              <p:par>
                                <p:cTn id="94" presetID="42" presetClass="entr" presetSubtype="0" fill="hold" grpId="0" nodeType="withEffect">
                                  <p:stCondLst>
                                    <p:cond delay="62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800"/>
                                        <p:tgtEl>
                                          <p:spTgt spid="22"/>
                                        </p:tgtEl>
                                      </p:cBhvr>
                                    </p:animEffect>
                                    <p:anim calcmode="lin" valueType="num">
                                      <p:cBhvr>
                                        <p:cTn id="92" dur="800" fill="hold" decel="100000"/>
                                        <p:tgtEl>
                                          <p:spTgt spid="22"/>
                                        </p:tgtEl>
                                        <p:attrNameLst>
                                          <p:attrName>ppt_x</p:attrName>
                                        </p:attrNameLst>
                                      </p:cBhvr>
                                      <p:tavLst>
                                        <p:tav tm="0">
                                          <p:val>
                                            <p:strVal val="#ppt_x"/>
                                          </p:val>
                                        </p:tav>
                                        <p:tav tm="100000">
                                          <p:val>
                                            <p:strVal val="#ppt_x"/>
                                          </p:val>
                                        </p:tav>
                                      </p:tavLst>
                                    </p:anim>
                                    <p:anim calcmode="lin" valueType="num">
                                      <p:cBhvr>
                                        <p:cTn id="93" dur="800" fill="hold" decel="100000"/>
                                        <p:tgtEl>
                                          <p:spTgt spid="22"/>
                                        </p:tgtEl>
                                        <p:attrNameLst>
                                          <p:attrName>ppt_y</p:attrName>
                                        </p:attrNameLst>
                                      </p:cBhvr>
                                      <p:tavLst>
                                        <p:tav tm="0">
                                          <p:val>
                                            <p:strVal val="#ppt_y+0.04"/>
                                          </p:val>
                                        </p:tav>
                                        <p:tav tm="100000">
                                          <p:val>
                                            <p:strVal val="#ppt_y"/>
                                          </p:val>
                                        </p:tav>
                                      </p:tavLst>
                                    </p:anim>
                                  </p:childTnLst>
                                </p:cTn>
                              </p:par>
                              <p:par>
                                <p:cTn id="99" presetID="42" presetClass="entr" presetSubtype="0" fill="hold" grpId="0" nodeType="withEffect">
                                  <p:stCondLst>
                                    <p:cond delay="62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800"/>
                                        <p:tgtEl>
                                          <p:spTgt spid="23"/>
                                        </p:tgtEl>
                                      </p:cBhvr>
                                    </p:animEffect>
                                    <p:anim calcmode="lin" valueType="num">
                                      <p:cBhvr>
                                        <p:cTn id="97" dur="800" fill="hold" decel="100000"/>
                                        <p:tgtEl>
                                          <p:spTgt spid="23"/>
                                        </p:tgtEl>
                                        <p:attrNameLst>
                                          <p:attrName>ppt_x</p:attrName>
                                        </p:attrNameLst>
                                      </p:cBhvr>
                                      <p:tavLst>
                                        <p:tav tm="0">
                                          <p:val>
                                            <p:strVal val="#ppt_x"/>
                                          </p:val>
                                        </p:tav>
                                        <p:tav tm="100000">
                                          <p:val>
                                            <p:strVal val="#ppt_x"/>
                                          </p:val>
                                        </p:tav>
                                      </p:tavLst>
                                    </p:anim>
                                    <p:anim calcmode="lin" valueType="num">
                                      <p:cBhvr>
                                        <p:cTn id="98" dur="800" fill="hold" decel="100000"/>
                                        <p:tgtEl>
                                          <p:spTgt spid="23"/>
                                        </p:tgtEl>
                                        <p:attrNameLst>
                                          <p:attrName>ppt_y</p:attrName>
                                        </p:attrNameLst>
                                      </p:cBhvr>
                                      <p:tavLst>
                                        <p:tav tm="0">
                                          <p:val>
                                            <p:strVal val="#ppt_y+0.04"/>
                                          </p:val>
                                        </p:tav>
                                        <p:tav tm="100000">
                                          <p:val>
                                            <p:strVal val="#ppt_y"/>
                                          </p:val>
                                        </p:tav>
                                      </p:tavLst>
                                    </p:anim>
                                  </p:childTnLst>
                                </p:cTn>
                              </p:par>
                              <p:par>
                                <p:cTn id="104" presetID="42" presetClass="entr" presetSubtype="0" fill="hold" grpId="0" nodeType="withEffect">
                                  <p:stCondLst>
                                    <p:cond delay="62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800"/>
                                        <p:tgtEl>
                                          <p:spTgt spid="24"/>
                                        </p:tgtEl>
                                      </p:cBhvr>
                                    </p:animEffect>
                                    <p:anim calcmode="lin" valueType="num">
                                      <p:cBhvr>
                                        <p:cTn id="102" dur="800" fill="hold" decel="100000"/>
                                        <p:tgtEl>
                                          <p:spTgt spid="24"/>
                                        </p:tgtEl>
                                        <p:attrNameLst>
                                          <p:attrName>ppt_x</p:attrName>
                                        </p:attrNameLst>
                                      </p:cBhvr>
                                      <p:tavLst>
                                        <p:tav tm="0">
                                          <p:val>
                                            <p:strVal val="#ppt_x"/>
                                          </p:val>
                                        </p:tav>
                                        <p:tav tm="100000">
                                          <p:val>
                                            <p:strVal val="#ppt_x"/>
                                          </p:val>
                                        </p:tav>
                                      </p:tavLst>
                                    </p:anim>
                                    <p:anim calcmode="lin" valueType="num">
                                      <p:cBhvr>
                                        <p:cTn id="103" dur="800" fill="hold" decel="100000"/>
                                        <p:tgtEl>
                                          <p:spTgt spid="24"/>
                                        </p:tgtEl>
                                        <p:attrNameLst>
                                          <p:attrName>ppt_y</p:attrName>
                                        </p:attrNameLst>
                                      </p:cBhvr>
                                      <p:tavLst>
                                        <p:tav tm="0">
                                          <p:val>
                                            <p:strVal val="#ppt_y+0.04"/>
                                          </p:val>
                                        </p:tav>
                                        <p:tav tm="100000">
                                          <p:val>
                                            <p:strVal val="#ppt_y"/>
                                          </p:val>
                                        </p:tav>
                                      </p:tavLst>
                                    </p:anim>
                                  </p:childTnLst>
                                </p:cTn>
                              </p:par>
                              <p:par>
                                <p:cTn id="109" presetID="42" presetClass="entr" presetSubtype="0" fill="hold" grpId="0" nodeType="withEffect">
                                  <p:stCondLst>
                                    <p:cond delay="62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800"/>
                                        <p:tgtEl>
                                          <p:spTgt spid="25"/>
                                        </p:tgtEl>
                                      </p:cBhvr>
                                    </p:animEffect>
                                    <p:anim calcmode="lin" valueType="num">
                                      <p:cBhvr>
                                        <p:cTn id="107" dur="800" fill="hold" decel="100000"/>
                                        <p:tgtEl>
                                          <p:spTgt spid="25"/>
                                        </p:tgtEl>
                                        <p:attrNameLst>
                                          <p:attrName>ppt_x</p:attrName>
                                        </p:attrNameLst>
                                      </p:cBhvr>
                                      <p:tavLst>
                                        <p:tav tm="0">
                                          <p:val>
                                            <p:strVal val="#ppt_x"/>
                                          </p:val>
                                        </p:tav>
                                        <p:tav tm="100000">
                                          <p:val>
                                            <p:strVal val="#ppt_x"/>
                                          </p:val>
                                        </p:tav>
                                      </p:tavLst>
                                    </p:anim>
                                    <p:anim calcmode="lin" valueType="num">
                                      <p:cBhvr>
                                        <p:cTn id="108" dur="800" fill="hold" decel="100000"/>
                                        <p:tgtEl>
                                          <p:spTgt spid="25"/>
                                        </p:tgtEl>
                                        <p:attrNameLst>
                                          <p:attrName>ppt_y</p:attrName>
                                        </p:attrNameLst>
                                      </p:cBhvr>
                                      <p:tavLst>
                                        <p:tav tm="0">
                                          <p:val>
                                            <p:strVal val="#ppt_y+0.04"/>
                                          </p:val>
                                        </p:tav>
                                        <p:tav tm="100000">
                                          <p:val>
                                            <p:strVal val="#ppt_y"/>
                                          </p:val>
                                        </p:tav>
                                      </p:tavLst>
                                    </p:anim>
                                  </p:childTnLst>
                                </p:cTn>
                              </p:par>
                              <p:par>
                                <p:cTn id="114" presetID="42" presetClass="entr" presetSubtype="0" fill="hold" grpId="0" nodeType="withEffect">
                                  <p:stCondLst>
                                    <p:cond delay="620"/>
                                  </p:stCondLst>
                                  <p:childTnLst>
                                    <p:set>
                                      <p:cBhvr>
                                        <p:cTn id="110" dur="1" fill="hold">
                                          <p:stCondLst>
                                            <p:cond delay="0"/>
                                          </p:stCondLst>
                                        </p:cTn>
                                        <p:tgtEl>
                                          <p:spTgt spid="26"/>
                                        </p:tgtEl>
                                        <p:attrNameLst>
                                          <p:attrName>style.visibility</p:attrName>
                                        </p:attrNameLst>
                                      </p:cBhvr>
                                      <p:to>
                                        <p:strVal val="visible"/>
                                      </p:to>
                                    </p:set>
                                    <p:animEffect transition="in" filter="fade">
                                      <p:cBhvr>
                                        <p:cTn id="111" dur="800"/>
                                        <p:tgtEl>
                                          <p:spTgt spid="26"/>
                                        </p:tgtEl>
                                      </p:cBhvr>
                                    </p:animEffect>
                                    <p:anim calcmode="lin" valueType="num">
                                      <p:cBhvr>
                                        <p:cTn id="112" dur="800" fill="hold" decel="100000"/>
                                        <p:tgtEl>
                                          <p:spTgt spid="26"/>
                                        </p:tgtEl>
                                        <p:attrNameLst>
                                          <p:attrName>ppt_x</p:attrName>
                                        </p:attrNameLst>
                                      </p:cBhvr>
                                      <p:tavLst>
                                        <p:tav tm="0">
                                          <p:val>
                                            <p:strVal val="#ppt_x"/>
                                          </p:val>
                                        </p:tav>
                                        <p:tav tm="100000">
                                          <p:val>
                                            <p:strVal val="#ppt_x"/>
                                          </p:val>
                                        </p:tav>
                                      </p:tavLst>
                                    </p:anim>
                                    <p:anim calcmode="lin" valueType="num">
                                      <p:cBhvr>
                                        <p:cTn id="113" dur="800" fill="hold" decel="100000"/>
                                        <p:tgtEl>
                                          <p:spTgt spid="26"/>
                                        </p:tgtEl>
                                        <p:attrNameLst>
                                          <p:attrName>ppt_y</p:attrName>
                                        </p:attrNameLst>
                                      </p:cBhvr>
                                      <p:tavLst>
                                        <p:tav tm="0">
                                          <p:val>
                                            <p:strVal val="#ppt_y+0.04"/>
                                          </p:val>
                                        </p:tav>
                                        <p:tav tm="100000">
                                          <p:val>
                                            <p:strVal val="#ppt_y"/>
                                          </p:val>
                                        </p:tav>
                                      </p:tavLst>
                                    </p:anim>
                                  </p:childTnLst>
                                </p:cTn>
                              </p:par>
                              <p:par>
                                <p:cTn id="119" presetID="42" presetClass="entr" presetSubtype="0" fill="hold" grpId="0" nodeType="withEffect">
                                  <p:stCondLst>
                                    <p:cond delay="780"/>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800"/>
                                        <p:tgtEl>
                                          <p:spTgt spid="28"/>
                                        </p:tgtEl>
                                      </p:cBhvr>
                                    </p:animEffect>
                                    <p:anim calcmode="lin" valueType="num">
                                      <p:cBhvr>
                                        <p:cTn id="117" dur="800" fill="hold" decel="100000"/>
                                        <p:tgtEl>
                                          <p:spTgt spid="28"/>
                                        </p:tgtEl>
                                        <p:attrNameLst>
                                          <p:attrName>ppt_x</p:attrName>
                                        </p:attrNameLst>
                                      </p:cBhvr>
                                      <p:tavLst>
                                        <p:tav tm="0">
                                          <p:val>
                                            <p:strVal val="#ppt_x"/>
                                          </p:val>
                                        </p:tav>
                                        <p:tav tm="100000">
                                          <p:val>
                                            <p:strVal val="#ppt_x"/>
                                          </p:val>
                                        </p:tav>
                                      </p:tavLst>
                                    </p:anim>
                                    <p:anim calcmode="lin" valueType="num">
                                      <p:cBhvr>
                                        <p:cTn id="118" dur="800" fill="hold" decel="100000"/>
                                        <p:tgtEl>
                                          <p:spTgt spid="28"/>
                                        </p:tgtEl>
                                        <p:attrNameLst>
                                          <p:attrName>ppt_y</p:attrName>
                                        </p:attrNameLst>
                                      </p:cBhvr>
                                      <p:tavLst>
                                        <p:tav tm="0">
                                          <p:val>
                                            <p:strVal val="#ppt_y+0.04"/>
                                          </p:val>
                                        </p:tav>
                                        <p:tav tm="100000">
                                          <p:val>
                                            <p:strVal val="#ppt_y"/>
                                          </p:val>
                                        </p:tav>
                                      </p:tavLst>
                                    </p:anim>
                                  </p:childTnLst>
                                </p:cTn>
                              </p:par>
                              <p:par>
                                <p:cTn id="124" presetID="42" presetClass="entr" presetSubtype="0" fill="hold" grpId="0" nodeType="withEffect">
                                  <p:stCondLst>
                                    <p:cond delay="780"/>
                                  </p:stCondLst>
                                  <p:childTnLst>
                                    <p:set>
                                      <p:cBhvr>
                                        <p:cTn id="120" dur="1" fill="hold">
                                          <p:stCondLst>
                                            <p:cond delay="0"/>
                                          </p:stCondLst>
                                        </p:cTn>
                                        <p:tgtEl>
                                          <p:spTgt spid="29"/>
                                        </p:tgtEl>
                                        <p:attrNameLst>
                                          <p:attrName>style.visibility</p:attrName>
                                        </p:attrNameLst>
                                      </p:cBhvr>
                                      <p:to>
                                        <p:strVal val="visible"/>
                                      </p:to>
                                    </p:set>
                                    <p:animEffect transition="in" filter="fade">
                                      <p:cBhvr>
                                        <p:cTn id="121" dur="800"/>
                                        <p:tgtEl>
                                          <p:spTgt spid="29"/>
                                        </p:tgtEl>
                                      </p:cBhvr>
                                    </p:animEffect>
                                    <p:anim calcmode="lin" valueType="num">
                                      <p:cBhvr>
                                        <p:cTn id="122" dur="800" fill="hold" decel="100000"/>
                                        <p:tgtEl>
                                          <p:spTgt spid="29"/>
                                        </p:tgtEl>
                                        <p:attrNameLst>
                                          <p:attrName>ppt_x</p:attrName>
                                        </p:attrNameLst>
                                      </p:cBhvr>
                                      <p:tavLst>
                                        <p:tav tm="0">
                                          <p:val>
                                            <p:strVal val="#ppt_x"/>
                                          </p:val>
                                        </p:tav>
                                        <p:tav tm="100000">
                                          <p:val>
                                            <p:strVal val="#ppt_x"/>
                                          </p:val>
                                        </p:tav>
                                      </p:tavLst>
                                    </p:anim>
                                    <p:anim calcmode="lin" valueType="num">
                                      <p:cBhvr>
                                        <p:cTn id="123" dur="800" fill="hold" decel="100000"/>
                                        <p:tgtEl>
                                          <p:spTgt spid="29"/>
                                        </p:tgtEl>
                                        <p:attrNameLst>
                                          <p:attrName>ppt_y</p:attrName>
                                        </p:attrNameLst>
                                      </p:cBhvr>
                                      <p:tavLst>
                                        <p:tav tm="0">
                                          <p:val>
                                            <p:strVal val="#ppt_y+0.04"/>
                                          </p:val>
                                        </p:tav>
                                        <p:tav tm="100000">
                                          <p:val>
                                            <p:strVal val="#ppt_y"/>
                                          </p:val>
                                        </p:tav>
                                      </p:tavLst>
                                    </p:anim>
                                  </p:childTnLst>
                                </p:cTn>
                              </p:par>
                              <p:par>
                                <p:cTn id="129" presetID="42" presetClass="entr" presetSubtype="0" fill="hold" grpId="0" nodeType="withEffect">
                                  <p:stCondLst>
                                    <p:cond delay="780"/>
                                  </p:stCondLst>
                                  <p:childTnLst>
                                    <p:set>
                                      <p:cBhvr>
                                        <p:cTn id="125" dur="1" fill="hold">
                                          <p:stCondLst>
                                            <p:cond delay="0"/>
                                          </p:stCondLst>
                                        </p:cTn>
                                        <p:tgtEl>
                                          <p:spTgt spid="30"/>
                                        </p:tgtEl>
                                        <p:attrNameLst>
                                          <p:attrName>style.visibility</p:attrName>
                                        </p:attrNameLst>
                                      </p:cBhvr>
                                      <p:to>
                                        <p:strVal val="visible"/>
                                      </p:to>
                                    </p:set>
                                    <p:animEffect transition="in" filter="fade">
                                      <p:cBhvr>
                                        <p:cTn id="126" dur="800"/>
                                        <p:tgtEl>
                                          <p:spTgt spid="30"/>
                                        </p:tgtEl>
                                      </p:cBhvr>
                                    </p:animEffect>
                                    <p:anim calcmode="lin" valueType="num">
                                      <p:cBhvr>
                                        <p:cTn id="127" dur="800" fill="hold" decel="100000"/>
                                        <p:tgtEl>
                                          <p:spTgt spid="30"/>
                                        </p:tgtEl>
                                        <p:attrNameLst>
                                          <p:attrName>ppt_x</p:attrName>
                                        </p:attrNameLst>
                                      </p:cBhvr>
                                      <p:tavLst>
                                        <p:tav tm="0">
                                          <p:val>
                                            <p:strVal val="#ppt_x"/>
                                          </p:val>
                                        </p:tav>
                                        <p:tav tm="100000">
                                          <p:val>
                                            <p:strVal val="#ppt_x"/>
                                          </p:val>
                                        </p:tav>
                                      </p:tavLst>
                                    </p:anim>
                                    <p:anim calcmode="lin" valueType="num">
                                      <p:cBhvr>
                                        <p:cTn id="128" dur="800" fill="hold" decel="100000"/>
                                        <p:tgtEl>
                                          <p:spTgt spid="30"/>
                                        </p:tgtEl>
                                        <p:attrNameLst>
                                          <p:attrName>ppt_y</p:attrName>
                                        </p:attrNameLst>
                                      </p:cBhvr>
                                      <p:tavLst>
                                        <p:tav tm="0">
                                          <p:val>
                                            <p:strVal val="#ppt_y+0.04"/>
                                          </p:val>
                                        </p:tav>
                                        <p:tav tm="100000">
                                          <p:val>
                                            <p:strVal val="#ppt_y"/>
                                          </p:val>
                                        </p:tav>
                                      </p:tavLst>
                                    </p:anim>
                                  </p:childTnLst>
                                </p:cTn>
                              </p:par>
                              <p:par>
                                <p:cTn id="134" presetID="42" presetClass="entr" presetSubtype="0" fill="hold" grpId="0" nodeType="withEffect">
                                  <p:stCondLst>
                                    <p:cond delay="780"/>
                                  </p:stCondLst>
                                  <p:childTnLst>
                                    <p:set>
                                      <p:cBhvr>
                                        <p:cTn id="130" dur="1" fill="hold">
                                          <p:stCondLst>
                                            <p:cond delay="0"/>
                                          </p:stCondLst>
                                        </p:cTn>
                                        <p:tgtEl>
                                          <p:spTgt spid="31"/>
                                        </p:tgtEl>
                                        <p:attrNameLst>
                                          <p:attrName>style.visibility</p:attrName>
                                        </p:attrNameLst>
                                      </p:cBhvr>
                                      <p:to>
                                        <p:strVal val="visible"/>
                                      </p:to>
                                    </p:set>
                                    <p:animEffect transition="in" filter="fade">
                                      <p:cBhvr>
                                        <p:cTn id="131" dur="800"/>
                                        <p:tgtEl>
                                          <p:spTgt spid="31"/>
                                        </p:tgtEl>
                                      </p:cBhvr>
                                    </p:animEffect>
                                    <p:anim calcmode="lin" valueType="num">
                                      <p:cBhvr>
                                        <p:cTn id="132" dur="800" fill="hold" decel="100000"/>
                                        <p:tgtEl>
                                          <p:spTgt spid="31"/>
                                        </p:tgtEl>
                                        <p:attrNameLst>
                                          <p:attrName>ppt_x</p:attrName>
                                        </p:attrNameLst>
                                      </p:cBhvr>
                                      <p:tavLst>
                                        <p:tav tm="0">
                                          <p:val>
                                            <p:strVal val="#ppt_x"/>
                                          </p:val>
                                        </p:tav>
                                        <p:tav tm="100000">
                                          <p:val>
                                            <p:strVal val="#ppt_x"/>
                                          </p:val>
                                        </p:tav>
                                      </p:tavLst>
                                    </p:anim>
                                    <p:anim calcmode="lin" valueType="num">
                                      <p:cBhvr>
                                        <p:cTn id="133" dur="800" fill="hold" decel="100000"/>
                                        <p:tgtEl>
                                          <p:spTgt spid="31"/>
                                        </p:tgtEl>
                                        <p:attrNameLst>
                                          <p:attrName>ppt_y</p:attrName>
                                        </p:attrNameLst>
                                      </p:cBhvr>
                                      <p:tavLst>
                                        <p:tav tm="0">
                                          <p:val>
                                            <p:strVal val="#ppt_y+0.04"/>
                                          </p:val>
                                        </p:tav>
                                        <p:tav tm="100000">
                                          <p:val>
                                            <p:strVal val="#ppt_y"/>
                                          </p:val>
                                        </p:tav>
                                      </p:tavLst>
                                    </p:anim>
                                  </p:childTnLst>
                                </p:cTn>
                              </p:par>
                              <p:par>
                                <p:cTn id="139" presetID="42" presetClass="entr" presetSubtype="0" fill="hold" grpId="0" nodeType="withEffect">
                                  <p:stCondLst>
                                    <p:cond delay="780"/>
                                  </p:stCondLst>
                                  <p:childTnLst>
                                    <p:set>
                                      <p:cBhvr>
                                        <p:cTn id="135" dur="1" fill="hold">
                                          <p:stCondLst>
                                            <p:cond delay="0"/>
                                          </p:stCondLst>
                                        </p:cTn>
                                        <p:tgtEl>
                                          <p:spTgt spid="32"/>
                                        </p:tgtEl>
                                        <p:attrNameLst>
                                          <p:attrName>style.visibility</p:attrName>
                                        </p:attrNameLst>
                                      </p:cBhvr>
                                      <p:to>
                                        <p:strVal val="visible"/>
                                      </p:to>
                                    </p:set>
                                    <p:animEffect transition="in" filter="fade">
                                      <p:cBhvr>
                                        <p:cTn id="136" dur="800"/>
                                        <p:tgtEl>
                                          <p:spTgt spid="32"/>
                                        </p:tgtEl>
                                      </p:cBhvr>
                                    </p:animEffect>
                                    <p:anim calcmode="lin" valueType="num">
                                      <p:cBhvr>
                                        <p:cTn id="137" dur="800" fill="hold" decel="100000"/>
                                        <p:tgtEl>
                                          <p:spTgt spid="32"/>
                                        </p:tgtEl>
                                        <p:attrNameLst>
                                          <p:attrName>ppt_x</p:attrName>
                                        </p:attrNameLst>
                                      </p:cBhvr>
                                      <p:tavLst>
                                        <p:tav tm="0">
                                          <p:val>
                                            <p:strVal val="#ppt_x"/>
                                          </p:val>
                                        </p:tav>
                                        <p:tav tm="100000">
                                          <p:val>
                                            <p:strVal val="#ppt_x"/>
                                          </p:val>
                                        </p:tav>
                                      </p:tavLst>
                                    </p:anim>
                                    <p:anim calcmode="lin" valueType="num">
                                      <p:cBhvr>
                                        <p:cTn id="138" dur="800" fill="hold" decel="100000"/>
                                        <p:tgtEl>
                                          <p:spTgt spid="32"/>
                                        </p:tgtEl>
                                        <p:attrNameLst>
                                          <p:attrName>ppt_y</p:attrName>
                                        </p:attrNameLst>
                                      </p:cBhvr>
                                      <p:tavLst>
                                        <p:tav tm="0">
                                          <p:val>
                                            <p:strVal val="#ppt_y+0.04"/>
                                          </p:val>
                                        </p:tav>
                                        <p:tav tm="100000">
                                          <p:val>
                                            <p:strVal val="#ppt_y"/>
                                          </p:val>
                                        </p:tav>
                                      </p:tavLst>
                                    </p:anim>
                                  </p:childTnLst>
                                </p:cTn>
                              </p:par>
                              <p:par>
                                <p:cTn id="144" presetID="42" presetClass="entr" presetSubtype="0" fill="hold" grpId="0" nodeType="withEffect">
                                  <p:stCondLst>
                                    <p:cond delay="780"/>
                                  </p:stCondLst>
                                  <p:childTnLst>
                                    <p:set>
                                      <p:cBhvr>
                                        <p:cTn id="140" dur="1" fill="hold">
                                          <p:stCondLst>
                                            <p:cond delay="0"/>
                                          </p:stCondLst>
                                        </p:cTn>
                                        <p:tgtEl>
                                          <p:spTgt spid="33"/>
                                        </p:tgtEl>
                                        <p:attrNameLst>
                                          <p:attrName>style.visibility</p:attrName>
                                        </p:attrNameLst>
                                      </p:cBhvr>
                                      <p:to>
                                        <p:strVal val="visible"/>
                                      </p:to>
                                    </p:set>
                                    <p:animEffect transition="in" filter="fade">
                                      <p:cBhvr>
                                        <p:cTn id="141" dur="800"/>
                                        <p:tgtEl>
                                          <p:spTgt spid="33"/>
                                        </p:tgtEl>
                                      </p:cBhvr>
                                    </p:animEffect>
                                    <p:anim calcmode="lin" valueType="num">
                                      <p:cBhvr>
                                        <p:cTn id="142" dur="800" fill="hold" decel="100000"/>
                                        <p:tgtEl>
                                          <p:spTgt spid="33"/>
                                        </p:tgtEl>
                                        <p:attrNameLst>
                                          <p:attrName>ppt_x</p:attrName>
                                        </p:attrNameLst>
                                      </p:cBhvr>
                                      <p:tavLst>
                                        <p:tav tm="0">
                                          <p:val>
                                            <p:strVal val="#ppt_x"/>
                                          </p:val>
                                        </p:tav>
                                        <p:tav tm="100000">
                                          <p:val>
                                            <p:strVal val="#ppt_x"/>
                                          </p:val>
                                        </p:tav>
                                      </p:tavLst>
                                    </p:anim>
                                    <p:anim calcmode="lin" valueType="num">
                                      <p:cBhvr>
                                        <p:cTn id="143" dur="800" fill="hold" decel="100000"/>
                                        <p:tgtEl>
                                          <p:spTgt spid="33"/>
                                        </p:tgtEl>
                                        <p:attrNameLst>
                                          <p:attrName>ppt_y</p:attrName>
                                        </p:attrNameLst>
                                      </p:cBhvr>
                                      <p:tavLst>
                                        <p:tav tm="0">
                                          <p:val>
                                            <p:strVal val="#ppt_y+0.04"/>
                                          </p:val>
                                        </p:tav>
                                        <p:tav tm="100000">
                                          <p:val>
                                            <p:strVal val="#ppt_y"/>
                                          </p:val>
                                        </p:tav>
                                      </p:tavLst>
                                    </p:anim>
                                  </p:childTnLst>
                                </p:cTn>
                              </p:par>
                              <p:par>
                                <p:cTn id="149" presetID="42" presetClass="entr" presetSubtype="0" fill="hold" grpId="0" nodeType="withEffect">
                                  <p:stCondLst>
                                    <p:cond delay="780"/>
                                  </p:stCondLst>
                                  <p:childTnLst>
                                    <p:set>
                                      <p:cBhvr>
                                        <p:cTn id="145" dur="1" fill="hold">
                                          <p:stCondLst>
                                            <p:cond delay="0"/>
                                          </p:stCondLst>
                                        </p:cTn>
                                        <p:tgtEl>
                                          <p:spTgt spid="34"/>
                                        </p:tgtEl>
                                        <p:attrNameLst>
                                          <p:attrName>style.visibility</p:attrName>
                                        </p:attrNameLst>
                                      </p:cBhvr>
                                      <p:to>
                                        <p:strVal val="visible"/>
                                      </p:to>
                                    </p:set>
                                    <p:animEffect transition="in" filter="fade">
                                      <p:cBhvr>
                                        <p:cTn id="146" dur="800"/>
                                        <p:tgtEl>
                                          <p:spTgt spid="34"/>
                                        </p:tgtEl>
                                      </p:cBhvr>
                                    </p:animEffect>
                                    <p:anim calcmode="lin" valueType="num">
                                      <p:cBhvr>
                                        <p:cTn id="147" dur="800" fill="hold" decel="100000"/>
                                        <p:tgtEl>
                                          <p:spTgt spid="34"/>
                                        </p:tgtEl>
                                        <p:attrNameLst>
                                          <p:attrName>ppt_x</p:attrName>
                                        </p:attrNameLst>
                                      </p:cBhvr>
                                      <p:tavLst>
                                        <p:tav tm="0">
                                          <p:val>
                                            <p:strVal val="#ppt_x"/>
                                          </p:val>
                                        </p:tav>
                                        <p:tav tm="100000">
                                          <p:val>
                                            <p:strVal val="#ppt_x"/>
                                          </p:val>
                                        </p:tav>
                                      </p:tavLst>
                                    </p:anim>
                                    <p:anim calcmode="lin" valueType="num">
                                      <p:cBhvr>
                                        <p:cTn id="148" dur="800" fill="hold" decel="100000"/>
                                        <p:tgtEl>
                                          <p:spTgt spid="34"/>
                                        </p:tgtEl>
                                        <p:attrNameLst>
                                          <p:attrName>ppt_y</p:attrName>
                                        </p:attrNameLst>
                                      </p:cBhvr>
                                      <p:tavLst>
                                        <p:tav tm="0">
                                          <p:val>
                                            <p:strVal val="#ppt_y+0.04"/>
                                          </p:val>
                                        </p:tav>
                                        <p:tav tm="100000">
                                          <p:val>
                                            <p:strVal val="#ppt_y"/>
                                          </p:val>
                                        </p:tav>
                                      </p:tavLst>
                                    </p:anim>
                                  </p:childTnLst>
                                </p:cTn>
                              </p:par>
                              <p:par>
                                <p:cTn id="154" presetID="42" presetClass="entr" presetSubtype="0" fill="hold" grpId="0" nodeType="withEffect">
                                  <p:stCondLst>
                                    <p:cond delay="940"/>
                                  </p:stCondLst>
                                  <p:childTnLst>
                                    <p:set>
                                      <p:cBhvr>
                                        <p:cTn id="150" dur="1" fill="hold">
                                          <p:stCondLst>
                                            <p:cond delay="0"/>
                                          </p:stCondLst>
                                        </p:cTn>
                                        <p:tgtEl>
                                          <p:spTgt spid="36"/>
                                        </p:tgtEl>
                                        <p:attrNameLst>
                                          <p:attrName>style.visibility</p:attrName>
                                        </p:attrNameLst>
                                      </p:cBhvr>
                                      <p:to>
                                        <p:strVal val="visible"/>
                                      </p:to>
                                    </p:set>
                                    <p:animEffect transition="in" filter="fade">
                                      <p:cBhvr>
                                        <p:cTn id="151" dur="800"/>
                                        <p:tgtEl>
                                          <p:spTgt spid="36"/>
                                        </p:tgtEl>
                                      </p:cBhvr>
                                    </p:animEffect>
                                    <p:anim calcmode="lin" valueType="num">
                                      <p:cBhvr>
                                        <p:cTn id="152" dur="800" fill="hold" decel="100000"/>
                                        <p:tgtEl>
                                          <p:spTgt spid="36"/>
                                        </p:tgtEl>
                                        <p:attrNameLst>
                                          <p:attrName>ppt_x</p:attrName>
                                        </p:attrNameLst>
                                      </p:cBhvr>
                                      <p:tavLst>
                                        <p:tav tm="0">
                                          <p:val>
                                            <p:strVal val="#ppt_x"/>
                                          </p:val>
                                        </p:tav>
                                        <p:tav tm="100000">
                                          <p:val>
                                            <p:strVal val="#ppt_x"/>
                                          </p:val>
                                        </p:tav>
                                      </p:tavLst>
                                    </p:anim>
                                    <p:anim calcmode="lin" valueType="num">
                                      <p:cBhvr>
                                        <p:cTn id="153" dur="800" fill="hold" decel="100000"/>
                                        <p:tgtEl>
                                          <p:spTgt spid="36"/>
                                        </p:tgtEl>
                                        <p:attrNameLst>
                                          <p:attrName>ppt_y</p:attrName>
                                        </p:attrNameLst>
                                      </p:cBhvr>
                                      <p:tavLst>
                                        <p:tav tm="0">
                                          <p:val>
                                            <p:strVal val="#ppt_y+0.04"/>
                                          </p:val>
                                        </p:tav>
                                        <p:tav tm="100000">
                                          <p:val>
                                            <p:strVal val="#ppt_y"/>
                                          </p:val>
                                        </p:tav>
                                      </p:tavLst>
                                    </p:anim>
                                  </p:childTnLst>
                                </p:cTn>
                              </p:par>
                              <p:par>
                                <p:cTn id="159" presetID="42" presetClass="entr" presetSubtype="0" fill="hold" grpId="0" nodeType="withEffect">
                                  <p:stCondLst>
                                    <p:cond delay="940"/>
                                  </p:stCondLst>
                                  <p:childTnLst>
                                    <p:set>
                                      <p:cBhvr>
                                        <p:cTn id="155" dur="1" fill="hold">
                                          <p:stCondLst>
                                            <p:cond delay="0"/>
                                          </p:stCondLst>
                                        </p:cTn>
                                        <p:tgtEl>
                                          <p:spTgt spid="37"/>
                                        </p:tgtEl>
                                        <p:attrNameLst>
                                          <p:attrName>style.visibility</p:attrName>
                                        </p:attrNameLst>
                                      </p:cBhvr>
                                      <p:to>
                                        <p:strVal val="visible"/>
                                      </p:to>
                                    </p:set>
                                    <p:animEffect transition="in" filter="fade">
                                      <p:cBhvr>
                                        <p:cTn id="156" dur="800"/>
                                        <p:tgtEl>
                                          <p:spTgt spid="37"/>
                                        </p:tgtEl>
                                      </p:cBhvr>
                                    </p:animEffect>
                                    <p:anim calcmode="lin" valueType="num">
                                      <p:cBhvr>
                                        <p:cTn id="157" dur="800" fill="hold" decel="100000"/>
                                        <p:tgtEl>
                                          <p:spTgt spid="37"/>
                                        </p:tgtEl>
                                        <p:attrNameLst>
                                          <p:attrName>ppt_x</p:attrName>
                                        </p:attrNameLst>
                                      </p:cBhvr>
                                      <p:tavLst>
                                        <p:tav tm="0">
                                          <p:val>
                                            <p:strVal val="#ppt_x"/>
                                          </p:val>
                                        </p:tav>
                                        <p:tav tm="100000">
                                          <p:val>
                                            <p:strVal val="#ppt_x"/>
                                          </p:val>
                                        </p:tav>
                                      </p:tavLst>
                                    </p:anim>
                                    <p:anim calcmode="lin" valueType="num">
                                      <p:cBhvr>
                                        <p:cTn id="158" dur="800" fill="hold" decel="100000"/>
                                        <p:tgtEl>
                                          <p:spTgt spid="37"/>
                                        </p:tgtEl>
                                        <p:attrNameLst>
                                          <p:attrName>ppt_y</p:attrName>
                                        </p:attrNameLst>
                                      </p:cBhvr>
                                      <p:tavLst>
                                        <p:tav tm="0">
                                          <p:val>
                                            <p:strVal val="#ppt_y+0.04"/>
                                          </p:val>
                                        </p:tav>
                                        <p:tav tm="100000">
                                          <p:val>
                                            <p:strVal val="#ppt_y"/>
                                          </p:val>
                                        </p:tav>
                                      </p:tavLst>
                                    </p:anim>
                                  </p:childTnLst>
                                </p:cTn>
                              </p:par>
                              <p:par>
                                <p:cTn id="164" presetID="42" presetClass="entr" presetSubtype="0" fill="hold" grpId="0" nodeType="withEffect">
                                  <p:stCondLst>
                                    <p:cond delay="940"/>
                                  </p:stCondLst>
                                  <p:childTnLst>
                                    <p:set>
                                      <p:cBhvr>
                                        <p:cTn id="160" dur="1" fill="hold">
                                          <p:stCondLst>
                                            <p:cond delay="0"/>
                                          </p:stCondLst>
                                        </p:cTn>
                                        <p:tgtEl>
                                          <p:spTgt spid="38"/>
                                        </p:tgtEl>
                                        <p:attrNameLst>
                                          <p:attrName>style.visibility</p:attrName>
                                        </p:attrNameLst>
                                      </p:cBhvr>
                                      <p:to>
                                        <p:strVal val="visible"/>
                                      </p:to>
                                    </p:set>
                                    <p:animEffect transition="in" filter="fade">
                                      <p:cBhvr>
                                        <p:cTn id="161" dur="800"/>
                                        <p:tgtEl>
                                          <p:spTgt spid="38"/>
                                        </p:tgtEl>
                                      </p:cBhvr>
                                    </p:animEffect>
                                    <p:anim calcmode="lin" valueType="num">
                                      <p:cBhvr>
                                        <p:cTn id="162" dur="800" fill="hold" decel="100000"/>
                                        <p:tgtEl>
                                          <p:spTgt spid="38"/>
                                        </p:tgtEl>
                                        <p:attrNameLst>
                                          <p:attrName>ppt_x</p:attrName>
                                        </p:attrNameLst>
                                      </p:cBhvr>
                                      <p:tavLst>
                                        <p:tav tm="0">
                                          <p:val>
                                            <p:strVal val="#ppt_x"/>
                                          </p:val>
                                        </p:tav>
                                        <p:tav tm="100000">
                                          <p:val>
                                            <p:strVal val="#ppt_x"/>
                                          </p:val>
                                        </p:tav>
                                      </p:tavLst>
                                    </p:anim>
                                    <p:anim calcmode="lin" valueType="num">
                                      <p:cBhvr>
                                        <p:cTn id="163" dur="800" fill="hold" decel="100000"/>
                                        <p:tgtEl>
                                          <p:spTgt spid="38"/>
                                        </p:tgtEl>
                                        <p:attrNameLst>
                                          <p:attrName>ppt_y</p:attrName>
                                        </p:attrNameLst>
                                      </p:cBhvr>
                                      <p:tavLst>
                                        <p:tav tm="0">
                                          <p:val>
                                            <p:strVal val="#ppt_y+0.04"/>
                                          </p:val>
                                        </p:tav>
                                        <p:tav tm="100000">
                                          <p:val>
                                            <p:strVal val="#ppt_y"/>
                                          </p:val>
                                        </p:tav>
                                      </p:tavLst>
                                    </p:anim>
                                  </p:childTnLst>
                                </p:cTn>
                              </p:par>
                              <p:par>
                                <p:cTn id="169" presetID="42" presetClass="entr" presetSubtype="0" fill="hold" grpId="0" nodeType="withEffect">
                                  <p:stCondLst>
                                    <p:cond delay="940"/>
                                  </p:stCondLst>
                                  <p:childTnLst>
                                    <p:set>
                                      <p:cBhvr>
                                        <p:cTn id="165" dur="1" fill="hold">
                                          <p:stCondLst>
                                            <p:cond delay="0"/>
                                          </p:stCondLst>
                                        </p:cTn>
                                        <p:tgtEl>
                                          <p:spTgt spid="39"/>
                                        </p:tgtEl>
                                        <p:attrNameLst>
                                          <p:attrName>style.visibility</p:attrName>
                                        </p:attrNameLst>
                                      </p:cBhvr>
                                      <p:to>
                                        <p:strVal val="visible"/>
                                      </p:to>
                                    </p:set>
                                    <p:animEffect transition="in" filter="fade">
                                      <p:cBhvr>
                                        <p:cTn id="166" dur="800"/>
                                        <p:tgtEl>
                                          <p:spTgt spid="39"/>
                                        </p:tgtEl>
                                      </p:cBhvr>
                                    </p:animEffect>
                                    <p:anim calcmode="lin" valueType="num">
                                      <p:cBhvr>
                                        <p:cTn id="167" dur="800" fill="hold" decel="100000"/>
                                        <p:tgtEl>
                                          <p:spTgt spid="39"/>
                                        </p:tgtEl>
                                        <p:attrNameLst>
                                          <p:attrName>ppt_x</p:attrName>
                                        </p:attrNameLst>
                                      </p:cBhvr>
                                      <p:tavLst>
                                        <p:tav tm="0">
                                          <p:val>
                                            <p:strVal val="#ppt_x"/>
                                          </p:val>
                                        </p:tav>
                                        <p:tav tm="100000">
                                          <p:val>
                                            <p:strVal val="#ppt_x"/>
                                          </p:val>
                                        </p:tav>
                                      </p:tavLst>
                                    </p:anim>
                                    <p:anim calcmode="lin" valueType="num">
                                      <p:cBhvr>
                                        <p:cTn id="168" dur="800" fill="hold" decel="100000"/>
                                        <p:tgtEl>
                                          <p:spTgt spid="39"/>
                                        </p:tgtEl>
                                        <p:attrNameLst>
                                          <p:attrName>ppt_y</p:attrName>
                                        </p:attrNameLst>
                                      </p:cBhvr>
                                      <p:tavLst>
                                        <p:tav tm="0">
                                          <p:val>
                                            <p:strVal val="#ppt_y+0.04"/>
                                          </p:val>
                                        </p:tav>
                                        <p:tav tm="100000">
                                          <p:val>
                                            <p:strVal val="#ppt_y"/>
                                          </p:val>
                                        </p:tav>
                                      </p:tavLst>
                                    </p:anim>
                                  </p:childTnLst>
                                </p:cTn>
                              </p:par>
                              <p:par>
                                <p:cTn id="174" presetID="42" presetClass="entr" presetSubtype="0" fill="hold" grpId="0" nodeType="withEffect">
                                  <p:stCondLst>
                                    <p:cond delay="940"/>
                                  </p:stCondLst>
                                  <p:childTnLst>
                                    <p:set>
                                      <p:cBhvr>
                                        <p:cTn id="170" dur="1" fill="hold">
                                          <p:stCondLst>
                                            <p:cond delay="0"/>
                                          </p:stCondLst>
                                        </p:cTn>
                                        <p:tgtEl>
                                          <p:spTgt spid="40"/>
                                        </p:tgtEl>
                                        <p:attrNameLst>
                                          <p:attrName>style.visibility</p:attrName>
                                        </p:attrNameLst>
                                      </p:cBhvr>
                                      <p:to>
                                        <p:strVal val="visible"/>
                                      </p:to>
                                    </p:set>
                                    <p:animEffect transition="in" filter="fade">
                                      <p:cBhvr>
                                        <p:cTn id="171" dur="800"/>
                                        <p:tgtEl>
                                          <p:spTgt spid="40"/>
                                        </p:tgtEl>
                                      </p:cBhvr>
                                    </p:animEffect>
                                    <p:anim calcmode="lin" valueType="num">
                                      <p:cBhvr>
                                        <p:cTn id="172" dur="800" fill="hold" decel="100000"/>
                                        <p:tgtEl>
                                          <p:spTgt spid="40"/>
                                        </p:tgtEl>
                                        <p:attrNameLst>
                                          <p:attrName>ppt_x</p:attrName>
                                        </p:attrNameLst>
                                      </p:cBhvr>
                                      <p:tavLst>
                                        <p:tav tm="0">
                                          <p:val>
                                            <p:strVal val="#ppt_x"/>
                                          </p:val>
                                        </p:tav>
                                        <p:tav tm="100000">
                                          <p:val>
                                            <p:strVal val="#ppt_x"/>
                                          </p:val>
                                        </p:tav>
                                      </p:tavLst>
                                    </p:anim>
                                    <p:anim calcmode="lin" valueType="num">
                                      <p:cBhvr>
                                        <p:cTn id="173" dur="800" fill="hold" decel="100000"/>
                                        <p:tgtEl>
                                          <p:spTgt spid="40"/>
                                        </p:tgtEl>
                                        <p:attrNameLst>
                                          <p:attrName>ppt_y</p:attrName>
                                        </p:attrNameLst>
                                      </p:cBhvr>
                                      <p:tavLst>
                                        <p:tav tm="0">
                                          <p:val>
                                            <p:strVal val="#ppt_y+0.04"/>
                                          </p:val>
                                        </p:tav>
                                        <p:tav tm="100000">
                                          <p:val>
                                            <p:strVal val="#ppt_y"/>
                                          </p:val>
                                        </p:tav>
                                      </p:tavLst>
                                    </p:anim>
                                  </p:childTnLst>
                                </p:cTn>
                              </p:par>
                              <p:par>
                                <p:cTn id="179" presetID="42" presetClass="entr" presetSubtype="0" fill="hold" grpId="0" nodeType="withEffect">
                                  <p:stCondLst>
                                    <p:cond delay="940"/>
                                  </p:stCondLst>
                                  <p:childTnLst>
                                    <p:set>
                                      <p:cBhvr>
                                        <p:cTn id="175" dur="1" fill="hold">
                                          <p:stCondLst>
                                            <p:cond delay="0"/>
                                          </p:stCondLst>
                                        </p:cTn>
                                        <p:tgtEl>
                                          <p:spTgt spid="41"/>
                                        </p:tgtEl>
                                        <p:attrNameLst>
                                          <p:attrName>style.visibility</p:attrName>
                                        </p:attrNameLst>
                                      </p:cBhvr>
                                      <p:to>
                                        <p:strVal val="visible"/>
                                      </p:to>
                                    </p:set>
                                    <p:animEffect transition="in" filter="fade">
                                      <p:cBhvr>
                                        <p:cTn id="176" dur="800"/>
                                        <p:tgtEl>
                                          <p:spTgt spid="41"/>
                                        </p:tgtEl>
                                      </p:cBhvr>
                                    </p:animEffect>
                                    <p:anim calcmode="lin" valueType="num">
                                      <p:cBhvr>
                                        <p:cTn id="177" dur="800" fill="hold" decel="100000"/>
                                        <p:tgtEl>
                                          <p:spTgt spid="41"/>
                                        </p:tgtEl>
                                        <p:attrNameLst>
                                          <p:attrName>ppt_x</p:attrName>
                                        </p:attrNameLst>
                                      </p:cBhvr>
                                      <p:tavLst>
                                        <p:tav tm="0">
                                          <p:val>
                                            <p:strVal val="#ppt_x"/>
                                          </p:val>
                                        </p:tav>
                                        <p:tav tm="100000">
                                          <p:val>
                                            <p:strVal val="#ppt_x"/>
                                          </p:val>
                                        </p:tav>
                                      </p:tavLst>
                                    </p:anim>
                                    <p:anim calcmode="lin" valueType="num">
                                      <p:cBhvr>
                                        <p:cTn id="178" dur="800" fill="hold" decel="100000"/>
                                        <p:tgtEl>
                                          <p:spTgt spid="41"/>
                                        </p:tgtEl>
                                        <p:attrNameLst>
                                          <p:attrName>ppt_y</p:attrName>
                                        </p:attrNameLst>
                                      </p:cBhvr>
                                      <p:tavLst>
                                        <p:tav tm="0">
                                          <p:val>
                                            <p:strVal val="#ppt_y+0.04"/>
                                          </p:val>
                                        </p:tav>
                                        <p:tav tm="100000">
                                          <p:val>
                                            <p:strVal val="#ppt_y"/>
                                          </p:val>
                                        </p:tav>
                                      </p:tavLst>
                                    </p:anim>
                                  </p:childTnLst>
                                </p:cTn>
                              </p:par>
                              <p:par>
                                <p:cTn id="184" presetID="42" presetClass="entr" presetSubtype="0" fill="hold" grpId="0" nodeType="withEffect">
                                  <p:stCondLst>
                                    <p:cond delay="940"/>
                                  </p:stCondLst>
                                  <p:childTnLst>
                                    <p:set>
                                      <p:cBhvr>
                                        <p:cTn id="180" dur="1" fill="hold">
                                          <p:stCondLst>
                                            <p:cond delay="0"/>
                                          </p:stCondLst>
                                        </p:cTn>
                                        <p:tgtEl>
                                          <p:spTgt spid="42"/>
                                        </p:tgtEl>
                                        <p:attrNameLst>
                                          <p:attrName>style.visibility</p:attrName>
                                        </p:attrNameLst>
                                      </p:cBhvr>
                                      <p:to>
                                        <p:strVal val="visible"/>
                                      </p:to>
                                    </p:set>
                                    <p:animEffect transition="in" filter="fade">
                                      <p:cBhvr>
                                        <p:cTn id="181" dur="800"/>
                                        <p:tgtEl>
                                          <p:spTgt spid="42"/>
                                        </p:tgtEl>
                                      </p:cBhvr>
                                    </p:animEffect>
                                    <p:anim calcmode="lin" valueType="num">
                                      <p:cBhvr>
                                        <p:cTn id="182" dur="800" fill="hold" decel="100000"/>
                                        <p:tgtEl>
                                          <p:spTgt spid="42"/>
                                        </p:tgtEl>
                                        <p:attrNameLst>
                                          <p:attrName>ppt_x</p:attrName>
                                        </p:attrNameLst>
                                      </p:cBhvr>
                                      <p:tavLst>
                                        <p:tav tm="0">
                                          <p:val>
                                            <p:strVal val="#ppt_x"/>
                                          </p:val>
                                        </p:tav>
                                        <p:tav tm="100000">
                                          <p:val>
                                            <p:strVal val="#ppt_x"/>
                                          </p:val>
                                        </p:tav>
                                      </p:tavLst>
                                    </p:anim>
                                    <p:anim calcmode="lin" valueType="num">
                                      <p:cBhvr>
                                        <p:cTn id="183" dur="800" fill="hold" decel="100000"/>
                                        <p:tgtEl>
                                          <p:spTgt spid="42"/>
                                        </p:tgtEl>
                                        <p:attrNameLst>
                                          <p:attrName>ppt_y</p:attrName>
                                        </p:attrNameLst>
                                      </p:cBhvr>
                                      <p:tavLst>
                                        <p:tav tm="0">
                                          <p:val>
                                            <p:strVal val="#ppt_y+0.04"/>
                                          </p:val>
                                        </p:tav>
                                        <p:tav tm="100000">
                                          <p:val>
                                            <p:strVal val="#ppt_y"/>
                                          </p:val>
                                        </p:tav>
                                      </p:tavLst>
                                    </p:anim>
                                  </p:childTnLst>
                                </p:cTn>
                              </p:par>
                              <p:par>
                                <p:cTn id="187" presetID="10" presetClass="entr" presetSubtype="0" fill="hold" grpId="0" nodeType="withEffect">
                                  <p:stCondLst>
                                    <p:cond delay="1400"/>
                                  </p:stCondLst>
                                  <p:childTnLst>
                                    <p:set>
                                      <p:cBhvr>
                                        <p:cTn id="185" dur="1" fill="hold">
                                          <p:stCondLst>
                                            <p:cond delay="0"/>
                                          </p:stCondLst>
                                        </p:cTn>
                                        <p:tgtEl>
                                          <p:spTgt spid="44"/>
                                        </p:tgtEl>
                                        <p:attrNameLst>
                                          <p:attrName>style.visibility</p:attrName>
                                        </p:attrNameLst>
                                      </p:cBhvr>
                                      <p:to>
                                        <p:strVal val="visible"/>
                                      </p:to>
                                    </p:set>
                                    <p:animEffect transition="in" filter="fade">
                                      <p:cBhvr>
                                        <p:cTn id="186"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2" grpId="0" animBg="1"/>
      <p:bldP spid="13" grpId="0" animBg="1"/>
      <p:bldP spid="15" grpId="0" animBg="1"/>
      <p:bldP spid="16" grpId="0" animBg="1"/>
      <p:bldP spid="17" grpId="0" animBg="1"/>
      <p:bldP spid="20" grpId="0" animBg="1"/>
      <p:bldP spid="21" grpId="0" animBg="1"/>
      <p:bldP spid="23" grpId="0" animBg="1"/>
      <p:bldP spid="24" grpId="0" animBg="1"/>
      <p:bldP spid="25" grpId="0" animBg="1"/>
      <p:bldP spid="28" grpId="0" animBg="1"/>
      <p:bldP spid="29" grpId="0" animBg="1"/>
      <p:bldP spid="31" grpId="0" animBg="1"/>
      <p:bldP spid="32" grpId="0" animBg="1"/>
      <p:bldP spid="33" grpId="0" animBg="1"/>
      <p:bldP spid="36" grpId="0" animBg="1"/>
      <p:bldP spid="37" grpId="0" animBg="1"/>
      <p:bldP spid="39" grpId="0" animBg="1"/>
      <p:bldP spid="40" grpId="0" animBg="1"/>
      <p:bldP spid="41" grpId="0" animBg="1"/>
      <p:bldP spid="44" grpId="0" animBg="1"/>
    </p:bldLst>
  </p:timing>
</p:sld>
</file>

<file path=ppt/slides/slide3.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AT A GLANCE</a:t>
            </a:r>
            <a:endParaRPr lang="en-US" sz="1500" dirty="0"/>
          </a:p>
        </p:txBody>
      </p:sp>
      <p:sp>
        <p:nvSpPr>
          <p:cNvPr id="3" name="glance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A small country with a giant reservoir</a:t>
            </a:r>
            <a:endParaRPr lang="en-US" sz="3800" dirty="0"/>
          </a:p>
        </p:txBody>
      </p:sp>
      <p:pic>
        <p:nvPicPr>
          <p:cNvPr id="4" name="glance_i_1" descr="preencoded.png">    </p:cNvPr>
          <p:cNvPicPr>
            <a:picLocks noChangeAspect="1"/>
          </p:cNvPicPr>
          <p:nvPr/>
        </p:nvPicPr>
        <p:blipFill>
          <a:blip r:embed="rId1"/>
          <a:stretch>
            <a:fillRect/>
          </a:stretch>
        </p:blipFill>
        <p:spPr>
          <a:xfrm>
            <a:off x="548640" y="2103120"/>
            <a:ext cx="502920" cy="502920"/>
          </a:xfrm>
          <a:prstGeom prst="rect">
            <a:avLst/>
          </a:prstGeom>
        </p:spPr>
      </p:pic>
      <p:sp>
        <p:nvSpPr>
          <p:cNvPr id="5" name="glance_t_2"/>
          <p:cNvSpPr txBox="1"/>
          <p:nvPr/>
        </p:nvSpPr>
        <p:spPr>
          <a:xfrm>
            <a:off x="548640" y="2697480"/>
            <a:ext cx="2533574" cy="1005840"/>
          </a:xfrm>
          <a:prstGeom prst="rect">
            <a:avLst/>
          </a:prstGeom>
          <a:noFill/>
          <a:ln/>
        </p:spPr>
        <p:txBody>
          <a:bodyPr wrap="square" lIns="0" tIns="0" rIns="0" bIns="0" rtlCol="0" anchor="t"/>
          <a:lstStyle/>
          <a:p>
            <a:pPr indent="0" marL="0">
              <a:buNone/>
            </a:pPr>
            <a:r>
              <a:rPr lang="en-US" sz="6600" b="1" dirty="0">
                <a:solidFill>
                  <a:schemeClr val="accent1"/>
                </a:solidFill>
                <a:latin typeface="Arial" pitchFamily="34" charset="0"/>
                <a:ea typeface="Arial" pitchFamily="34" charset="-122"/>
                <a:cs typeface="Arial" pitchFamily="34" charset="-120"/>
              </a:rPr>
              <a:t>101.5</a:t>
            </a:r>
            <a:endParaRPr lang="en-US" sz="6600" dirty="0"/>
          </a:p>
        </p:txBody>
      </p:sp>
      <p:sp>
        <p:nvSpPr>
          <p:cNvPr id="6" name="glance_t_3"/>
          <p:cNvSpPr txBox="1"/>
          <p:nvPr/>
        </p:nvSpPr>
        <p:spPr>
          <a:xfrm>
            <a:off x="548640" y="3703320"/>
            <a:ext cx="2533574"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billion barrels</a:t>
            </a:r>
            <a:endParaRPr lang="en-US" sz="2200" dirty="0"/>
          </a:p>
        </p:txBody>
      </p:sp>
      <p:sp>
        <p:nvSpPr>
          <p:cNvPr id="7" name="glance_t_4"/>
          <p:cNvSpPr txBox="1"/>
          <p:nvPr/>
        </p:nvSpPr>
        <p:spPr>
          <a:xfrm>
            <a:off x="548640" y="4160520"/>
            <a:ext cx="2442134"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proven crude oil reserves, about 6.5% of the world total</a:t>
            </a:r>
            <a:endParaRPr lang="en-US" sz="1600" dirty="0"/>
          </a:p>
        </p:txBody>
      </p:sp>
      <p:pic>
        <p:nvPicPr>
          <p:cNvPr id="8" name="glance_i_5" descr="preencoded.png">    </p:cNvPr>
          <p:cNvPicPr>
            <a:picLocks noChangeAspect="1"/>
          </p:cNvPicPr>
          <p:nvPr/>
        </p:nvPicPr>
        <p:blipFill>
          <a:blip r:embed="rId2"/>
          <a:stretch>
            <a:fillRect/>
          </a:stretch>
        </p:blipFill>
        <p:spPr>
          <a:xfrm>
            <a:off x="3402254" y="2103120"/>
            <a:ext cx="502920" cy="502920"/>
          </a:xfrm>
          <a:prstGeom prst="rect">
            <a:avLst/>
          </a:prstGeom>
        </p:spPr>
      </p:pic>
      <p:sp>
        <p:nvSpPr>
          <p:cNvPr id="9" name="glance_t_6"/>
          <p:cNvSpPr txBox="1"/>
          <p:nvPr/>
        </p:nvSpPr>
        <p:spPr>
          <a:xfrm>
            <a:off x="3402254" y="2697480"/>
            <a:ext cx="2533574" cy="1005840"/>
          </a:xfrm>
          <a:prstGeom prst="rect">
            <a:avLst/>
          </a:prstGeom>
          <a:noFill/>
          <a:ln/>
        </p:spPr>
        <p:txBody>
          <a:bodyPr wrap="square" lIns="0" tIns="0" rIns="0" bIns="0" rtlCol="0" anchor="t"/>
          <a:lstStyle/>
          <a:p>
            <a:pPr indent="0" marL="0">
              <a:buNone/>
            </a:pPr>
            <a:r>
              <a:rPr lang="en-US" sz="6600" b="1" dirty="0">
                <a:solidFill>
                  <a:schemeClr val="tx1"/>
                </a:solidFill>
                <a:latin typeface="Arial" pitchFamily="34" charset="0"/>
                <a:ea typeface="Arial" pitchFamily="34" charset="-122"/>
                <a:cs typeface="Arial" pitchFamily="34" charset="-120"/>
              </a:rPr>
              <a:t>2.4</a:t>
            </a:r>
            <a:endParaRPr lang="en-US" sz="6600" dirty="0"/>
          </a:p>
        </p:txBody>
      </p:sp>
      <p:sp>
        <p:nvSpPr>
          <p:cNvPr id="10" name="glance_t_7"/>
          <p:cNvSpPr txBox="1"/>
          <p:nvPr/>
        </p:nvSpPr>
        <p:spPr>
          <a:xfrm>
            <a:off x="3402254" y="3703320"/>
            <a:ext cx="2533574"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million b/d</a:t>
            </a:r>
            <a:endParaRPr lang="en-US" sz="2200" dirty="0"/>
          </a:p>
        </p:txBody>
      </p:sp>
      <p:sp>
        <p:nvSpPr>
          <p:cNvPr id="11" name="glance_t_8"/>
          <p:cNvSpPr txBox="1"/>
          <p:nvPr/>
        </p:nvSpPr>
        <p:spPr>
          <a:xfrm>
            <a:off x="3402254" y="4160520"/>
            <a:ext cx="2442134"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crude oil produced in 2024 (OPEC+ quota period)</a:t>
            </a:r>
            <a:endParaRPr lang="en-US" sz="1600" dirty="0"/>
          </a:p>
        </p:txBody>
      </p:sp>
      <p:pic>
        <p:nvPicPr>
          <p:cNvPr id="12" name="glance_i_9" descr="preencoded.png">    </p:cNvPr>
          <p:cNvPicPr>
            <a:picLocks noChangeAspect="1"/>
          </p:cNvPicPr>
          <p:nvPr/>
        </p:nvPicPr>
        <p:blipFill>
          <a:blip r:embed="rId3"/>
          <a:stretch>
            <a:fillRect/>
          </a:stretch>
        </p:blipFill>
        <p:spPr>
          <a:xfrm>
            <a:off x="6255868" y="2103120"/>
            <a:ext cx="502920" cy="502920"/>
          </a:xfrm>
          <a:prstGeom prst="rect">
            <a:avLst/>
          </a:prstGeom>
        </p:spPr>
      </p:pic>
      <p:sp>
        <p:nvSpPr>
          <p:cNvPr id="13" name="glance_t_10"/>
          <p:cNvSpPr txBox="1"/>
          <p:nvPr/>
        </p:nvSpPr>
        <p:spPr>
          <a:xfrm>
            <a:off x="6255868" y="2697480"/>
            <a:ext cx="2533574" cy="1005840"/>
          </a:xfrm>
          <a:prstGeom prst="rect">
            <a:avLst/>
          </a:prstGeom>
          <a:noFill/>
          <a:ln/>
        </p:spPr>
        <p:txBody>
          <a:bodyPr wrap="square" lIns="0" tIns="0" rIns="0" bIns="0" rtlCol="0" anchor="t"/>
          <a:lstStyle/>
          <a:p>
            <a:pPr indent="0" marL="0">
              <a:buNone/>
            </a:pPr>
            <a:r>
              <a:rPr lang="en-US" sz="6600" b="1" dirty="0">
                <a:solidFill>
                  <a:schemeClr val="tx1"/>
                </a:solidFill>
                <a:latin typeface="Arial" pitchFamily="34" charset="0"/>
                <a:ea typeface="Arial" pitchFamily="34" charset="-122"/>
                <a:cs typeface="Arial" pitchFamily="34" charset="-120"/>
              </a:rPr>
              <a:t>1.4</a:t>
            </a:r>
            <a:endParaRPr lang="en-US" sz="6600" dirty="0"/>
          </a:p>
        </p:txBody>
      </p:sp>
      <p:sp>
        <p:nvSpPr>
          <p:cNvPr id="14" name="glance_t_11"/>
          <p:cNvSpPr txBox="1"/>
          <p:nvPr/>
        </p:nvSpPr>
        <p:spPr>
          <a:xfrm>
            <a:off x="6255868" y="3703320"/>
            <a:ext cx="2533574"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million b/d</a:t>
            </a:r>
            <a:endParaRPr lang="en-US" sz="2200" dirty="0"/>
          </a:p>
        </p:txBody>
      </p:sp>
      <p:sp>
        <p:nvSpPr>
          <p:cNvPr id="15" name="glance_t_12"/>
          <p:cNvSpPr txBox="1"/>
          <p:nvPr/>
        </p:nvSpPr>
        <p:spPr>
          <a:xfrm>
            <a:off x="6255868" y="4160520"/>
            <a:ext cx="2442134"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domestic refining capacity since Al-Zour came on line</a:t>
            </a:r>
            <a:endParaRPr lang="en-US" sz="1600" dirty="0"/>
          </a:p>
        </p:txBody>
      </p:sp>
      <p:pic>
        <p:nvPicPr>
          <p:cNvPr id="16" name="glance_i_13" descr="preencoded.png">    </p:cNvPr>
          <p:cNvPicPr>
            <a:picLocks noChangeAspect="1"/>
          </p:cNvPicPr>
          <p:nvPr/>
        </p:nvPicPr>
        <p:blipFill>
          <a:blip r:embed="rId4"/>
          <a:stretch>
            <a:fillRect/>
          </a:stretch>
        </p:blipFill>
        <p:spPr>
          <a:xfrm>
            <a:off x="9109481" y="2103120"/>
            <a:ext cx="502920" cy="502920"/>
          </a:xfrm>
          <a:prstGeom prst="rect">
            <a:avLst/>
          </a:prstGeom>
        </p:spPr>
      </p:pic>
      <p:sp>
        <p:nvSpPr>
          <p:cNvPr id="17" name="glance_t_14"/>
          <p:cNvSpPr txBox="1"/>
          <p:nvPr/>
        </p:nvSpPr>
        <p:spPr>
          <a:xfrm>
            <a:off x="9109481" y="2697480"/>
            <a:ext cx="2533574" cy="1005840"/>
          </a:xfrm>
          <a:prstGeom prst="rect">
            <a:avLst/>
          </a:prstGeom>
          <a:noFill/>
          <a:ln/>
        </p:spPr>
        <p:txBody>
          <a:bodyPr wrap="square" lIns="0" tIns="0" rIns="0" bIns="0" rtlCol="0" anchor="t"/>
          <a:lstStyle/>
          <a:p>
            <a:pPr indent="0" marL="0">
              <a:buNone/>
            </a:pPr>
            <a:r>
              <a:rPr lang="en-US" sz="6600" b="1" dirty="0">
                <a:solidFill>
                  <a:schemeClr val="tx1"/>
                </a:solidFill>
                <a:latin typeface="Arial" pitchFamily="34" charset="0"/>
                <a:ea typeface="Arial" pitchFamily="34" charset="-122"/>
                <a:cs typeface="Arial" pitchFamily="34" charset="-120"/>
              </a:rPr>
              <a:t>90%+</a:t>
            </a:r>
            <a:endParaRPr lang="en-US" sz="6600" dirty="0"/>
          </a:p>
        </p:txBody>
      </p:sp>
      <p:sp>
        <p:nvSpPr>
          <p:cNvPr id="18" name="glance_t_15"/>
          <p:cNvSpPr txBox="1"/>
          <p:nvPr/>
        </p:nvSpPr>
        <p:spPr>
          <a:xfrm>
            <a:off x="9109481" y="3703320"/>
            <a:ext cx="2533574"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of exports</a:t>
            </a:r>
            <a:endParaRPr lang="en-US" sz="2200" dirty="0"/>
          </a:p>
        </p:txBody>
      </p:sp>
      <p:sp>
        <p:nvSpPr>
          <p:cNvPr id="19" name="glance_t_16"/>
          <p:cNvSpPr txBox="1"/>
          <p:nvPr/>
        </p:nvSpPr>
        <p:spPr>
          <a:xfrm>
            <a:off x="9109481" y="4160520"/>
            <a:ext cx="2442134" cy="91440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and of government revenue come from petroleum</a:t>
            </a:r>
            <a:endParaRPr lang="en-US" sz="1600" dirty="0"/>
          </a:p>
        </p:txBody>
      </p:sp>
      <p:sp>
        <p:nvSpPr>
          <p:cNvPr id="20" name="glance_t_17"/>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OPEC Annual Statistical Bulletin (2025, 2026); IMF crude production series via FRED; KNPC; KIPIC; Britannica.</a:t>
            </a:r>
            <a:endParaRPr lang="en-US" sz="1200" dirty="0"/>
          </a:p>
        </p:txBody>
      </p:sp>
      <p:sp>
        <p:nvSpPr>
          <p:cNvPr id="21" name="glance_home_18">
            <a:hlinkClick r:id="rId5"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22" name="glance_i_19" descr="preencoded.png">    </p:cNvPr>
          <p:cNvPicPr>
            <a:picLocks noChangeAspect="1"/>
          </p:cNvPicPr>
          <p:nvPr/>
        </p:nvPicPr>
        <p:blipFill>
          <a:blip r:embed="rId6"/>
          <a:stretch>
            <a:fillRect/>
          </a:stretch>
        </p:blipFill>
        <p:spPr>
          <a:xfrm>
            <a:off x="10719511" y="6355080"/>
            <a:ext cx="219456" cy="219456"/>
          </a:xfrm>
          <a:prstGeom prst="rect">
            <a:avLst/>
          </a:prstGeom>
        </p:spPr>
      </p:pic>
      <p:sp>
        <p:nvSpPr>
          <p:cNvPr id="23" name="glance_s_20">
            <a:hlinkClick r:id="rId7"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10" presetClass="entr" presetSubtype="0" fill="hold" grpId="0" nodeType="withEffect">
                                  <p:stCondLst>
                                    <p:cond delay="3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childTnLst>
                                </p:cTn>
                              </p:par>
                              <p:par>
                                <p:cTn id="17" presetID="53" presetClass="entr" presetSubtype="16" fill="hold" grpId="0" nodeType="withEffect">
                                  <p:stCondLst>
                                    <p:cond delay="350"/>
                                  </p:stCondLst>
                                  <p:childTnLst>
                                    <p:set>
                                      <p:cBhvr>
                                        <p:cTn id="13" dur="1" fill="hold">
                                          <p:stCondLst>
                                            <p:cond delay="0"/>
                                          </p:stCondLst>
                                        </p:cTn>
                                        <p:tgtEl>
                                          <p:spTgt spid="5"/>
                                        </p:tgtEl>
                                        <p:attrNameLst>
                                          <p:attrName>style.visibility</p:attrName>
                                        </p:attrNameLst>
                                      </p:cBhvr>
                                      <p:to>
                                        <p:strVal val="visible"/>
                                      </p:to>
                                    </p:set>
                                    <p:anim calcmode="lin" valueType="num">
                                      <p:cBhvr>
                                        <p:cTn id="14" dur="900" fill="hold" decel="100000"/>
                                        <p:tgtEl>
                                          <p:spTgt spid="5"/>
                                        </p:tgtEl>
                                        <p:attrNameLst>
                                          <p:attrName>ppt_w</p:attrName>
                                        </p:attrNameLst>
                                      </p:cBhvr>
                                      <p:tavLst>
                                        <p:tav tm="0">
                                          <p:val>
                                            <p:strVal val="#ppt_w*0.70"/>
                                          </p:val>
                                        </p:tav>
                                        <p:tav tm="100000">
                                          <p:val>
                                            <p:strVal val="#ppt_w"/>
                                          </p:val>
                                        </p:tav>
                                      </p:tavLst>
                                    </p:anim>
                                    <p:anim calcmode="lin" valueType="num">
                                      <p:cBhvr>
                                        <p:cTn id="15" dur="900" fill="hold" decel="100000"/>
                                        <p:tgtEl>
                                          <p:spTgt spid="5"/>
                                        </p:tgtEl>
                                        <p:attrNameLst>
                                          <p:attrName>ppt_h</p:attrName>
                                        </p:attrNameLst>
                                      </p:cBhvr>
                                      <p:tavLst>
                                        <p:tav tm="0">
                                          <p:val>
                                            <p:strVal val="#ppt_h*0.70"/>
                                          </p:val>
                                        </p:tav>
                                        <p:tav tm="100000">
                                          <p:val>
                                            <p:strVal val="#ppt_h"/>
                                          </p:val>
                                        </p:tav>
                                      </p:tavLst>
                                    </p:anim>
                                    <p:animEffect transition="in" filter="fade">
                                      <p:cBhvr>
                                        <p:cTn id="16" dur="900"/>
                                        <p:tgtEl>
                                          <p:spTgt spid="5"/>
                                        </p:tgtEl>
                                      </p:cBhvr>
                                    </p:animEffect>
                                  </p:childTnLst>
                                </p:cTn>
                              </p:par>
                              <p:par>
                                <p:cTn id="22" presetID="42" presetClass="entr" presetSubtype="0" fill="hold" grpId="0" nodeType="withEffect">
                                  <p:stCondLst>
                                    <p:cond delay="5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p:cTn id="20" dur="700" fill="hold" decel="100000"/>
                                        <p:tgtEl>
                                          <p:spTgt spid="6"/>
                                        </p:tgtEl>
                                        <p:attrNameLst>
                                          <p:attrName>ppt_x</p:attrName>
                                        </p:attrNameLst>
                                      </p:cBhvr>
                                      <p:tavLst>
                                        <p:tav tm="0">
                                          <p:val>
                                            <p:strVal val="#ppt_x"/>
                                          </p:val>
                                        </p:tav>
                                        <p:tav tm="100000">
                                          <p:val>
                                            <p:strVal val="#ppt_x"/>
                                          </p:val>
                                        </p:tav>
                                      </p:tavLst>
                                    </p:anim>
                                    <p:anim calcmode="lin" valueType="num">
                                      <p:cBhvr>
                                        <p:cTn id="21" dur="700" fill="hold" decel="100000"/>
                                        <p:tgtEl>
                                          <p:spTgt spid="6"/>
                                        </p:tgtEl>
                                        <p:attrNameLst>
                                          <p:attrName>ppt_y</p:attrName>
                                        </p:attrNameLst>
                                      </p:cBhvr>
                                      <p:tavLst>
                                        <p:tav tm="0">
                                          <p:val>
                                            <p:strVal val="#ppt_y+0.04"/>
                                          </p:val>
                                        </p:tav>
                                        <p:tav tm="100000">
                                          <p:val>
                                            <p:strVal val="#ppt_y"/>
                                          </p:val>
                                        </p:tav>
                                      </p:tavLst>
                                    </p:anim>
                                  </p:childTnLst>
                                </p:cTn>
                              </p:par>
                              <p:par>
                                <p:cTn id="25" presetID="10" presetClass="entr" presetSubtype="0" fill="hold" grpId="0" nodeType="withEffect">
                                  <p:stCondLst>
                                    <p:cond delay="57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700"/>
                                        <p:tgtEl>
                                          <p:spTgt spid="8"/>
                                        </p:tgtEl>
                                      </p:cBhvr>
                                    </p:animEffect>
                                  </p:childTnLst>
                                </p:cTn>
                              </p:par>
                              <p:par>
                                <p:cTn id="30" presetID="53" presetClass="entr" presetSubtype="16" fill="hold" grpId="0" nodeType="withEffect">
                                  <p:stCondLst>
                                    <p:cond delay="570"/>
                                  </p:stCondLst>
                                  <p:childTnLst>
                                    <p:set>
                                      <p:cBhvr>
                                        <p:cTn id="26" dur="1" fill="hold">
                                          <p:stCondLst>
                                            <p:cond delay="0"/>
                                          </p:stCondLst>
                                        </p:cTn>
                                        <p:tgtEl>
                                          <p:spTgt spid="9"/>
                                        </p:tgtEl>
                                        <p:attrNameLst>
                                          <p:attrName>style.visibility</p:attrName>
                                        </p:attrNameLst>
                                      </p:cBhvr>
                                      <p:to>
                                        <p:strVal val="visible"/>
                                      </p:to>
                                    </p:set>
                                    <p:anim calcmode="lin" valueType="num">
                                      <p:cBhvr>
                                        <p:cTn id="27" dur="900" fill="hold" decel="100000"/>
                                        <p:tgtEl>
                                          <p:spTgt spid="9"/>
                                        </p:tgtEl>
                                        <p:attrNameLst>
                                          <p:attrName>ppt_w</p:attrName>
                                        </p:attrNameLst>
                                      </p:cBhvr>
                                      <p:tavLst>
                                        <p:tav tm="0">
                                          <p:val>
                                            <p:strVal val="#ppt_w*0.70"/>
                                          </p:val>
                                        </p:tav>
                                        <p:tav tm="100000">
                                          <p:val>
                                            <p:strVal val="#ppt_w"/>
                                          </p:val>
                                        </p:tav>
                                      </p:tavLst>
                                    </p:anim>
                                    <p:anim calcmode="lin" valueType="num">
                                      <p:cBhvr>
                                        <p:cTn id="28" dur="900" fill="hold" decel="100000"/>
                                        <p:tgtEl>
                                          <p:spTgt spid="9"/>
                                        </p:tgtEl>
                                        <p:attrNameLst>
                                          <p:attrName>ppt_h</p:attrName>
                                        </p:attrNameLst>
                                      </p:cBhvr>
                                      <p:tavLst>
                                        <p:tav tm="0">
                                          <p:val>
                                            <p:strVal val="#ppt_h*0.70"/>
                                          </p:val>
                                        </p:tav>
                                        <p:tav tm="100000">
                                          <p:val>
                                            <p:strVal val="#ppt_h"/>
                                          </p:val>
                                        </p:tav>
                                      </p:tavLst>
                                    </p:anim>
                                    <p:animEffect transition="in" filter="fade">
                                      <p:cBhvr>
                                        <p:cTn id="29" dur="900"/>
                                        <p:tgtEl>
                                          <p:spTgt spid="9"/>
                                        </p:tgtEl>
                                      </p:cBhvr>
                                    </p:animEffect>
                                  </p:childTnLst>
                                </p:cTn>
                              </p:par>
                              <p:par>
                                <p:cTn id="33" presetID="10" presetClass="entr" presetSubtype="0" fill="hold" grpId="0" nodeType="withEffect">
                                  <p:stCondLst>
                                    <p:cond delay="6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700"/>
                                        <p:tgtEl>
                                          <p:spTgt spid="7"/>
                                        </p:tgtEl>
                                      </p:cBhvr>
                                    </p:animEffect>
                                  </p:childTnLst>
                                </p:cTn>
                              </p:par>
                              <p:par>
                                <p:cTn id="38" presetID="42" presetClass="entr" presetSubtype="0" fill="hold" grpId="0" nodeType="withEffect">
                                  <p:stCondLst>
                                    <p:cond delay="72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700"/>
                                        <p:tgtEl>
                                          <p:spTgt spid="10"/>
                                        </p:tgtEl>
                                      </p:cBhvr>
                                    </p:animEffect>
                                    <p:anim calcmode="lin" valueType="num">
                                      <p:cBhvr>
                                        <p:cTn id="36" dur="700" fill="hold" decel="100000"/>
                                        <p:tgtEl>
                                          <p:spTgt spid="10"/>
                                        </p:tgtEl>
                                        <p:attrNameLst>
                                          <p:attrName>ppt_x</p:attrName>
                                        </p:attrNameLst>
                                      </p:cBhvr>
                                      <p:tavLst>
                                        <p:tav tm="0">
                                          <p:val>
                                            <p:strVal val="#ppt_x"/>
                                          </p:val>
                                        </p:tav>
                                        <p:tav tm="100000">
                                          <p:val>
                                            <p:strVal val="#ppt_x"/>
                                          </p:val>
                                        </p:tav>
                                      </p:tavLst>
                                    </p:anim>
                                    <p:anim calcmode="lin" valueType="num">
                                      <p:cBhvr>
                                        <p:cTn id="37" dur="700" fill="hold" decel="100000"/>
                                        <p:tgtEl>
                                          <p:spTgt spid="10"/>
                                        </p:tgtEl>
                                        <p:attrNameLst>
                                          <p:attrName>ppt_y</p:attrName>
                                        </p:attrNameLst>
                                      </p:cBhvr>
                                      <p:tavLst>
                                        <p:tav tm="0">
                                          <p:val>
                                            <p:strVal val="#ppt_y+0.04"/>
                                          </p:val>
                                        </p:tav>
                                        <p:tav tm="100000">
                                          <p:val>
                                            <p:strVal val="#ppt_y"/>
                                          </p:val>
                                        </p:tav>
                                      </p:tavLst>
                                    </p:anim>
                                  </p:childTnLst>
                                </p:cTn>
                              </p:par>
                              <p:par>
                                <p:cTn id="41" presetID="10" presetClass="entr" presetSubtype="0" fill="hold" grpId="0" nodeType="withEffect">
                                  <p:stCondLst>
                                    <p:cond delay="79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700"/>
                                        <p:tgtEl>
                                          <p:spTgt spid="12"/>
                                        </p:tgtEl>
                                      </p:cBhvr>
                                    </p:animEffect>
                                  </p:childTnLst>
                                </p:cTn>
                              </p:par>
                              <p:par>
                                <p:cTn id="46" presetID="53" presetClass="entr" presetSubtype="16" fill="hold" grpId="0" nodeType="withEffect">
                                  <p:stCondLst>
                                    <p:cond delay="790"/>
                                  </p:stCondLst>
                                  <p:childTnLst>
                                    <p:set>
                                      <p:cBhvr>
                                        <p:cTn id="42" dur="1" fill="hold">
                                          <p:stCondLst>
                                            <p:cond delay="0"/>
                                          </p:stCondLst>
                                        </p:cTn>
                                        <p:tgtEl>
                                          <p:spTgt spid="13"/>
                                        </p:tgtEl>
                                        <p:attrNameLst>
                                          <p:attrName>style.visibility</p:attrName>
                                        </p:attrNameLst>
                                      </p:cBhvr>
                                      <p:to>
                                        <p:strVal val="visible"/>
                                      </p:to>
                                    </p:set>
                                    <p:anim calcmode="lin" valueType="num">
                                      <p:cBhvr>
                                        <p:cTn id="43" dur="900" fill="hold" decel="100000"/>
                                        <p:tgtEl>
                                          <p:spTgt spid="13"/>
                                        </p:tgtEl>
                                        <p:attrNameLst>
                                          <p:attrName>ppt_w</p:attrName>
                                        </p:attrNameLst>
                                      </p:cBhvr>
                                      <p:tavLst>
                                        <p:tav tm="0">
                                          <p:val>
                                            <p:strVal val="#ppt_w*0.70"/>
                                          </p:val>
                                        </p:tav>
                                        <p:tav tm="100000">
                                          <p:val>
                                            <p:strVal val="#ppt_w"/>
                                          </p:val>
                                        </p:tav>
                                      </p:tavLst>
                                    </p:anim>
                                    <p:anim calcmode="lin" valueType="num">
                                      <p:cBhvr>
                                        <p:cTn id="44" dur="900" fill="hold" decel="100000"/>
                                        <p:tgtEl>
                                          <p:spTgt spid="13"/>
                                        </p:tgtEl>
                                        <p:attrNameLst>
                                          <p:attrName>ppt_h</p:attrName>
                                        </p:attrNameLst>
                                      </p:cBhvr>
                                      <p:tavLst>
                                        <p:tav tm="0">
                                          <p:val>
                                            <p:strVal val="#ppt_h*0.70"/>
                                          </p:val>
                                        </p:tav>
                                        <p:tav tm="100000">
                                          <p:val>
                                            <p:strVal val="#ppt_h"/>
                                          </p:val>
                                        </p:tav>
                                      </p:tavLst>
                                    </p:anim>
                                    <p:animEffect transition="in" filter="fade">
                                      <p:cBhvr>
                                        <p:cTn id="45" dur="900"/>
                                        <p:tgtEl>
                                          <p:spTgt spid="13"/>
                                        </p:tgtEl>
                                      </p:cBhvr>
                                    </p:animEffect>
                                  </p:childTnLst>
                                </p:cTn>
                              </p:par>
                              <p:par>
                                <p:cTn id="49" presetID="10" presetClass="entr" presetSubtype="0" fill="hold" grpId="0" nodeType="withEffect">
                                  <p:stCondLst>
                                    <p:cond delay="87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childTnLst>
                                </p:cTn>
                              </p:par>
                              <p:par>
                                <p:cTn id="54" presetID="42" presetClass="entr" presetSubtype="0" fill="hold" grpId="0" nodeType="withEffect">
                                  <p:stCondLst>
                                    <p:cond delay="94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700"/>
                                        <p:tgtEl>
                                          <p:spTgt spid="14"/>
                                        </p:tgtEl>
                                      </p:cBhvr>
                                    </p:animEffect>
                                    <p:anim calcmode="lin" valueType="num">
                                      <p:cBhvr>
                                        <p:cTn id="52" dur="700" fill="hold" decel="100000"/>
                                        <p:tgtEl>
                                          <p:spTgt spid="14"/>
                                        </p:tgtEl>
                                        <p:attrNameLst>
                                          <p:attrName>ppt_x</p:attrName>
                                        </p:attrNameLst>
                                      </p:cBhvr>
                                      <p:tavLst>
                                        <p:tav tm="0">
                                          <p:val>
                                            <p:strVal val="#ppt_x"/>
                                          </p:val>
                                        </p:tav>
                                        <p:tav tm="100000">
                                          <p:val>
                                            <p:strVal val="#ppt_x"/>
                                          </p:val>
                                        </p:tav>
                                      </p:tavLst>
                                    </p:anim>
                                    <p:anim calcmode="lin" valueType="num">
                                      <p:cBhvr>
                                        <p:cTn id="53" dur="700" fill="hold" decel="100000"/>
                                        <p:tgtEl>
                                          <p:spTgt spid="14"/>
                                        </p:tgtEl>
                                        <p:attrNameLst>
                                          <p:attrName>ppt_y</p:attrName>
                                        </p:attrNameLst>
                                      </p:cBhvr>
                                      <p:tavLst>
                                        <p:tav tm="0">
                                          <p:val>
                                            <p:strVal val="#ppt_y+0.04"/>
                                          </p:val>
                                        </p:tav>
                                        <p:tav tm="100000">
                                          <p:val>
                                            <p:strVal val="#ppt_y"/>
                                          </p:val>
                                        </p:tav>
                                      </p:tavLst>
                                    </p:anim>
                                  </p:childTnLst>
                                </p:cTn>
                              </p:par>
                              <p:par>
                                <p:cTn id="57" presetID="10" presetClass="entr" presetSubtype="0" fill="hold" grpId="0" nodeType="withEffect">
                                  <p:stCondLst>
                                    <p:cond delay="10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childTnLst>
                                </p:cTn>
                              </p:par>
                              <p:par>
                                <p:cTn id="62" presetID="53" presetClass="entr" presetSubtype="16" fill="hold" grpId="0" nodeType="withEffect">
                                  <p:stCondLst>
                                    <p:cond delay="1010"/>
                                  </p:stCondLst>
                                  <p:childTnLst>
                                    <p:set>
                                      <p:cBhvr>
                                        <p:cTn id="58" dur="1" fill="hold">
                                          <p:stCondLst>
                                            <p:cond delay="0"/>
                                          </p:stCondLst>
                                        </p:cTn>
                                        <p:tgtEl>
                                          <p:spTgt spid="17"/>
                                        </p:tgtEl>
                                        <p:attrNameLst>
                                          <p:attrName>style.visibility</p:attrName>
                                        </p:attrNameLst>
                                      </p:cBhvr>
                                      <p:to>
                                        <p:strVal val="visible"/>
                                      </p:to>
                                    </p:set>
                                    <p:anim calcmode="lin" valueType="num">
                                      <p:cBhvr>
                                        <p:cTn id="59" dur="900" fill="hold" decel="100000"/>
                                        <p:tgtEl>
                                          <p:spTgt spid="17"/>
                                        </p:tgtEl>
                                        <p:attrNameLst>
                                          <p:attrName>ppt_w</p:attrName>
                                        </p:attrNameLst>
                                      </p:cBhvr>
                                      <p:tavLst>
                                        <p:tav tm="0">
                                          <p:val>
                                            <p:strVal val="#ppt_w*0.70"/>
                                          </p:val>
                                        </p:tav>
                                        <p:tav tm="100000">
                                          <p:val>
                                            <p:strVal val="#ppt_w"/>
                                          </p:val>
                                        </p:tav>
                                      </p:tavLst>
                                    </p:anim>
                                    <p:anim calcmode="lin" valueType="num">
                                      <p:cBhvr>
                                        <p:cTn id="60" dur="900" fill="hold" decel="100000"/>
                                        <p:tgtEl>
                                          <p:spTgt spid="17"/>
                                        </p:tgtEl>
                                        <p:attrNameLst>
                                          <p:attrName>ppt_h</p:attrName>
                                        </p:attrNameLst>
                                      </p:cBhvr>
                                      <p:tavLst>
                                        <p:tav tm="0">
                                          <p:val>
                                            <p:strVal val="#ppt_h*0.70"/>
                                          </p:val>
                                        </p:tav>
                                        <p:tav tm="100000">
                                          <p:val>
                                            <p:strVal val="#ppt_h"/>
                                          </p:val>
                                        </p:tav>
                                      </p:tavLst>
                                    </p:anim>
                                    <p:animEffect transition="in" filter="fade">
                                      <p:cBhvr>
                                        <p:cTn id="61" dur="900"/>
                                        <p:tgtEl>
                                          <p:spTgt spid="17"/>
                                        </p:tgtEl>
                                      </p:cBhvr>
                                    </p:animEffect>
                                  </p:childTnLst>
                                </p:cTn>
                              </p:par>
                              <p:par>
                                <p:cTn id="65" presetID="10" presetClass="entr" presetSubtype="0" fill="hold" grpId="0" nodeType="withEffect">
                                  <p:stCondLst>
                                    <p:cond delay="109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childTnLst>
                                </p:cTn>
                              </p:par>
                              <p:par>
                                <p:cTn id="70" presetID="42" presetClass="entr" presetSubtype="0" fill="hold" grpId="0" nodeType="withEffect">
                                  <p:stCondLst>
                                    <p:cond delay="116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700"/>
                                        <p:tgtEl>
                                          <p:spTgt spid="18"/>
                                        </p:tgtEl>
                                      </p:cBhvr>
                                    </p:animEffect>
                                    <p:anim calcmode="lin" valueType="num">
                                      <p:cBhvr>
                                        <p:cTn id="68" dur="700" fill="hold" decel="100000"/>
                                        <p:tgtEl>
                                          <p:spTgt spid="18"/>
                                        </p:tgtEl>
                                        <p:attrNameLst>
                                          <p:attrName>ppt_x</p:attrName>
                                        </p:attrNameLst>
                                      </p:cBhvr>
                                      <p:tavLst>
                                        <p:tav tm="0">
                                          <p:val>
                                            <p:strVal val="#ppt_x"/>
                                          </p:val>
                                        </p:tav>
                                        <p:tav tm="100000">
                                          <p:val>
                                            <p:strVal val="#ppt_x"/>
                                          </p:val>
                                        </p:tav>
                                      </p:tavLst>
                                    </p:anim>
                                    <p:anim calcmode="lin" valueType="num">
                                      <p:cBhvr>
                                        <p:cTn id="69" dur="700" fill="hold" decel="100000"/>
                                        <p:tgtEl>
                                          <p:spTgt spid="18"/>
                                        </p:tgtEl>
                                        <p:attrNameLst>
                                          <p:attrName>ppt_y</p:attrName>
                                        </p:attrNameLst>
                                      </p:cBhvr>
                                      <p:tavLst>
                                        <p:tav tm="0">
                                          <p:val>
                                            <p:strVal val="#ppt_y+0.04"/>
                                          </p:val>
                                        </p:tav>
                                        <p:tav tm="100000">
                                          <p:val>
                                            <p:strVal val="#ppt_y"/>
                                          </p:val>
                                        </p:tav>
                                      </p:tavLst>
                                    </p:anim>
                                  </p:childTnLst>
                                </p:cTn>
                              </p:par>
                              <p:par>
                                <p:cTn id="73" presetID="10" presetClass="entr" presetSubtype="0" fill="hold" grpId="0" nodeType="withEffect">
                                  <p:stCondLst>
                                    <p:cond delay="1310"/>
                                  </p:stCondLst>
                                  <p:childTnLst>
                                    <p:set>
                                      <p:cBhvr>
                                        <p:cTn id="71" dur="1" fill="hold">
                                          <p:stCondLst>
                                            <p:cond delay="0"/>
                                          </p:stCondLst>
                                        </p:cTn>
                                        <p:tgtEl>
                                          <p:spTgt spid="19"/>
                                        </p:tgtEl>
                                        <p:attrNameLst>
                                          <p:attrName>style.visibility</p:attrName>
                                        </p:attrNameLst>
                                      </p:cBhvr>
                                      <p:to>
                                        <p:strVal val="visible"/>
                                      </p:to>
                                    </p:set>
                                    <p:animEffect transition="in" filter="fade">
                                      <p:cBhvr>
                                        <p:cTn id="72" dur="7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9" grpId="0" animBg="1"/>
      <p:bldP spid="7" grpId="0" animBg="1"/>
      <p:bldP spid="10" grpId="0" animBg="1"/>
      <p:bldP spid="13" grpId="0" animBg="1"/>
      <p:bldP spid="11" grpId="0" animBg="1"/>
      <p:bldP spid="14" grpId="0" animBg="1"/>
      <p:bldP spid="17" grpId="0" animBg="1"/>
      <p:bldP spid="15" grpId="0" animBg="1"/>
      <p:bldP spid="18" grpId="0" animBg="1"/>
      <p:bldP spid="19" grpId="0" animBg="1"/>
    </p:bldLst>
  </p:timing>
</p:sld>
</file>

<file path=ppt/slides/slide4.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drop" descr="/home/user/shahad-research/build/assets/drop.png">    </p:cNvPr>
          <p:cNvPicPr>
            <a:picLocks noChangeAspect="1"/>
          </p:cNvPicPr>
          <p:nvPr/>
        </p:nvPicPr>
        <p:blipFill>
          <a:blip r:embed="rId1"/>
          <a:stretch>
            <a:fillRect/>
          </a:stretch>
        </p:blipFill>
        <p:spPr>
          <a:xfrm>
            <a:off x="914400" y="1051560"/>
            <a:ext cx="3474720" cy="4389120"/>
          </a:xfrm>
          <a:prstGeom prst="rect">
            <a:avLst/>
          </a:prstGeom>
        </p:spPr>
      </p:pic>
      <p:sp>
        <p:nvSpPr>
          <p:cNvPr id="3" name="!!kicker"/>
          <p:cNvSpPr txBox="1"/>
          <p:nvPr/>
        </p:nvSpPr>
        <p:spPr>
          <a:xfrm>
            <a:off x="4846320" y="1371600"/>
            <a:ext cx="4114800" cy="155448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01</a:t>
            </a:r>
            <a:endParaRPr lang="en-US" sz="12000" dirty="0"/>
          </a:p>
        </p:txBody>
      </p:sp>
      <p:sp>
        <p:nvSpPr>
          <p:cNvPr id="4" name="sec1_t_1"/>
          <p:cNvSpPr txBox="1"/>
          <p:nvPr/>
        </p:nvSpPr>
        <p:spPr>
          <a:xfrm>
            <a:off x="4846320" y="2971800"/>
            <a:ext cx="6766560" cy="914400"/>
          </a:xfrm>
          <a:prstGeom prst="rect">
            <a:avLst/>
          </a:prstGeom>
          <a:noFill/>
          <a:ln/>
        </p:spPr>
        <p:txBody>
          <a:bodyPr wrap="square" lIns="0" tIns="0" rIns="0" bIns="0" rtlCol="0" anchor="t"/>
          <a:lstStyle/>
          <a:p>
            <a:pPr indent="0" marL="0">
              <a:buNone/>
            </a:pPr>
            <a:r>
              <a:rPr lang="en-US" sz="5000" b="1" dirty="0">
                <a:solidFill>
                  <a:schemeClr val="tx1"/>
                </a:solidFill>
                <a:latin typeface="Arial" pitchFamily="34" charset="0"/>
                <a:ea typeface="Arial" pitchFamily="34" charset="-122"/>
                <a:cs typeface="Arial" pitchFamily="34" charset="-120"/>
              </a:rPr>
              <a:t>History &amp; Types</a:t>
            </a:r>
            <a:endParaRPr lang="en-US" sz="5000" dirty="0"/>
          </a:p>
        </p:txBody>
      </p:sp>
      <p:sp>
        <p:nvSpPr>
          <p:cNvPr id="5" name="sec1_t_2"/>
          <p:cNvSpPr txBox="1"/>
          <p:nvPr/>
        </p:nvSpPr>
        <p:spPr>
          <a:xfrm>
            <a:off x="4846320" y="3931920"/>
            <a:ext cx="6400800" cy="82296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From a pearling port to a petroleum state</a:t>
            </a:r>
            <a:endParaRPr lang="en-US" sz="2200" dirty="0"/>
          </a:p>
        </p:txBody>
      </p:sp>
      <p:sp>
        <p:nvSpPr>
          <p:cNvPr id="6" name="sec1_s_3"/>
          <p:cNvSpPr/>
          <p:nvPr/>
        </p:nvSpPr>
        <p:spPr>
          <a:xfrm>
            <a:off x="4864608" y="5029200"/>
            <a:ext cx="128016" cy="128016"/>
          </a:xfrm>
          <a:prstGeom prst="ellipse">
            <a:avLst/>
          </a:prstGeom>
          <a:solidFill>
            <a:srgbClr val="FF9F0A"/>
          </a:solidFill>
          <a:ln/>
        </p:spPr>
      </p:sp>
      <p:sp>
        <p:nvSpPr>
          <p:cNvPr id="7" name="sec1_s_4"/>
          <p:cNvSpPr/>
          <p:nvPr/>
        </p:nvSpPr>
        <p:spPr>
          <a:xfrm>
            <a:off x="5157216" y="5029200"/>
            <a:ext cx="128016" cy="128016"/>
          </a:xfrm>
          <a:prstGeom prst="ellipse">
            <a:avLst/>
          </a:prstGeom>
          <a:solidFill>
            <a:srgbClr val="3A3A3C"/>
          </a:solidFill>
          <a:ln/>
        </p:spPr>
      </p:sp>
      <p:sp>
        <p:nvSpPr>
          <p:cNvPr id="8" name="sec1_s_5"/>
          <p:cNvSpPr/>
          <p:nvPr/>
        </p:nvSpPr>
        <p:spPr>
          <a:xfrm>
            <a:off x="5449824" y="5029200"/>
            <a:ext cx="128016" cy="128016"/>
          </a:xfrm>
          <a:prstGeom prst="ellipse">
            <a:avLst/>
          </a:prstGeom>
          <a:solidFill>
            <a:srgbClr val="3A3A3C"/>
          </a:solidFill>
          <a:ln/>
        </p:spPr>
      </p:sp>
      <p:sp>
        <p:nvSpPr>
          <p:cNvPr id="9" name="sec1_s_6"/>
          <p:cNvSpPr/>
          <p:nvPr/>
        </p:nvSpPr>
        <p:spPr>
          <a:xfrm>
            <a:off x="5742432" y="5029200"/>
            <a:ext cx="128016" cy="128016"/>
          </a:xfrm>
          <a:prstGeom prst="ellipse">
            <a:avLst/>
          </a:prstGeom>
          <a:solidFill>
            <a:srgbClr val="3A3A3C"/>
          </a:solidFill>
          <a:ln/>
        </p:spPr>
      </p:sp>
      <p:sp>
        <p:nvSpPr>
          <p:cNvPr id="10" name="sec1_home_7">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1" name="sec1_i_8"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2" name="sec1_s_9">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1300" fill="hold" decel="100000"/>
                                        <p:tgtEl>
                                          <p:spTgt spid="2"/>
                                        </p:tgtEl>
                                        <p:attrNameLst>
                                          <p:attrName>ppt_w</p:attrName>
                                        </p:attrNameLst>
                                      </p:cBhvr>
                                      <p:tavLst>
                                        <p:tav tm="0">
                                          <p:val>
                                            <p:strVal val="#ppt_w*0.70"/>
                                          </p:val>
                                        </p:tav>
                                        <p:tav tm="100000">
                                          <p:val>
                                            <p:strVal val="#ppt_w"/>
                                          </p:val>
                                        </p:tav>
                                      </p:tavLst>
                                    </p:anim>
                                    <p:anim calcmode="lin" valueType="num">
                                      <p:cBhvr>
                                        <p:cTn id="7" dur="1300" fill="hold" decel="100000"/>
                                        <p:tgtEl>
                                          <p:spTgt spid="2"/>
                                        </p:tgtEl>
                                        <p:attrNameLst>
                                          <p:attrName>ppt_h</p:attrName>
                                        </p:attrNameLst>
                                      </p:cBhvr>
                                      <p:tavLst>
                                        <p:tav tm="0">
                                          <p:val>
                                            <p:strVal val="#ppt_h*0.70"/>
                                          </p:val>
                                        </p:tav>
                                        <p:tav tm="100000">
                                          <p:val>
                                            <p:strVal val="#ppt_h"/>
                                          </p:val>
                                        </p:tav>
                                      </p:tavLst>
                                    </p:anim>
                                    <p:animEffect transition="in" filter="fade">
                                      <p:cBhvr>
                                        <p:cTn id="8" dur="1300"/>
                                        <p:tgtEl>
                                          <p:spTgt spid="2"/>
                                        </p:tgtEl>
                                      </p:cBhvr>
                                    </p:animEffect>
                                  </p:childTnLst>
                                </p:cTn>
                              </p:par>
                              <p:par>
                                <p:cTn id="14" presetID="42" presetClass="entr" presetSubtype="0"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900"/>
                                        <p:tgtEl>
                                          <p:spTgt spid="4"/>
                                        </p:tgtEl>
                                      </p:cBhvr>
                                    </p:animEffect>
                                    <p:anim calcmode="lin" valueType="num">
                                      <p:cBhvr>
                                        <p:cTn id="12" dur="900" fill="hold" decel="100000"/>
                                        <p:tgtEl>
                                          <p:spTgt spid="4"/>
                                        </p:tgtEl>
                                        <p:attrNameLst>
                                          <p:attrName>ppt_x</p:attrName>
                                        </p:attrNameLst>
                                      </p:cBhvr>
                                      <p:tavLst>
                                        <p:tav tm="0">
                                          <p:val>
                                            <p:strVal val="#ppt_x"/>
                                          </p:val>
                                        </p:tav>
                                        <p:tav tm="100000">
                                          <p:val>
                                            <p:strVal val="#ppt_x"/>
                                          </p:val>
                                        </p:tav>
                                      </p:tavLst>
                                    </p:anim>
                                    <p:anim calcmode="lin" valueType="num">
                                      <p:cBhvr>
                                        <p:cTn id="13" dur="900" fill="hold" decel="100000"/>
                                        <p:tgtEl>
                                          <p:spTgt spid="4"/>
                                        </p:tgtEl>
                                        <p:attrNameLst>
                                          <p:attrName>ppt_y</p:attrName>
                                        </p:attrNameLst>
                                      </p:cBhvr>
                                      <p:tavLst>
                                        <p:tav tm="0">
                                          <p:val>
                                            <p:strVal val="#ppt_y+0.04"/>
                                          </p:val>
                                        </p:tav>
                                        <p:tav tm="100000">
                                          <p:val>
                                            <p:strVal val="#ppt_y"/>
                                          </p:val>
                                        </p:tav>
                                      </p:tavLst>
                                    </p:anim>
                                  </p:childTnLst>
                                </p:cTn>
                              </p:par>
                              <p:par>
                                <p:cTn id="17" presetID="10" presetClass="entr" presetSubtype="0" fill="hold" grpId="0" nodeType="withEffect">
                                  <p:stCondLst>
                                    <p:cond delay="7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900"/>
                                        <p:tgtEl>
                                          <p:spTgt spid="5"/>
                                        </p:tgtEl>
                                      </p:cBhvr>
                                    </p:animEffect>
                                  </p:childTnLst>
                                </p:cTn>
                              </p:par>
                              <p:par>
                                <p:cTn id="20" presetID="10" presetClass="entr" presetSubtype="0" fill="hold" grpId="0" nodeType="withEffect">
                                  <p:stCondLst>
                                    <p:cond delay="10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childTnLst>
                                </p:cTn>
                              </p:par>
                              <p:par>
                                <p:cTn id="23" presetID="10" presetClass="entr" presetSubtype="0" fill="hold" grpId="0" nodeType="withEffect">
                                  <p:stCondLst>
                                    <p:cond delay="10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childTnLst>
                                </p:cTn>
                              </p:par>
                              <p:par>
                                <p:cTn id="26" presetID="10" presetClass="entr" presetSubtype="0" fill="hold" grpId="0" nodeType="withEffect">
                                  <p:stCondLst>
                                    <p:cond delay="10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childTnLst>
                                </p:cTn>
                              </p:par>
                              <p:par>
                                <p:cTn id="29" presetID="10" presetClass="entr" presetSubtype="0" fill="hold" grpId="0" nodeType="withEffect">
                                  <p:stCondLst>
                                    <p:cond delay="10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5.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01 — HISTORY &amp; TYPES</a:t>
            </a:r>
            <a:endParaRPr lang="en-US" sz="1500" dirty="0"/>
          </a:p>
        </p:txBody>
      </p:sp>
      <p:sp>
        <p:nvSpPr>
          <p:cNvPr id="3" name="timeline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Ninety years in nine moments</a:t>
            </a:r>
            <a:endParaRPr lang="en-US" sz="3800" dirty="0"/>
          </a:p>
        </p:txBody>
      </p:sp>
      <p:sp>
        <p:nvSpPr>
          <p:cNvPr id="4" name="timeline_s_1"/>
          <p:cNvSpPr/>
          <p:nvPr/>
        </p:nvSpPr>
        <p:spPr>
          <a:xfrm>
            <a:off x="960120" y="3689604"/>
            <a:ext cx="10271455" cy="27432"/>
          </a:xfrm>
          <a:prstGeom prst="rect">
            <a:avLst/>
          </a:prstGeom>
          <a:solidFill>
            <a:srgbClr val="3A3A3C"/>
          </a:solidFill>
          <a:ln/>
        </p:spPr>
      </p:sp>
      <p:sp>
        <p:nvSpPr>
          <p:cNvPr id="5" name="timeline_s_2"/>
          <p:cNvSpPr/>
          <p:nvPr/>
        </p:nvSpPr>
        <p:spPr>
          <a:xfrm>
            <a:off x="1115568"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6" name="timeline_s_3"/>
          <p:cNvSpPr/>
          <p:nvPr/>
        </p:nvSpPr>
        <p:spPr>
          <a:xfrm>
            <a:off x="1227125" y="3136392"/>
            <a:ext cx="14630" cy="384048"/>
          </a:xfrm>
          <a:prstGeom prst="rect">
            <a:avLst/>
          </a:prstGeom>
          <a:solidFill>
            <a:srgbClr val="3A3A3C"/>
          </a:solidFill>
          <a:ln/>
        </p:spPr>
      </p:sp>
      <p:sp>
        <p:nvSpPr>
          <p:cNvPr id="7" name="timeline_t_4"/>
          <p:cNvSpPr txBox="1"/>
          <p:nvPr/>
        </p:nvSpPr>
        <p:spPr>
          <a:xfrm>
            <a:off x="548640" y="224028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1934</a:t>
            </a:r>
            <a:endParaRPr lang="en-US" sz="2800" dirty="0"/>
          </a:p>
        </p:txBody>
      </p:sp>
      <p:sp>
        <p:nvSpPr>
          <p:cNvPr id="8" name="timeline_t_5"/>
          <p:cNvSpPr txBox="1"/>
          <p:nvPr/>
        </p:nvSpPr>
        <p:spPr>
          <a:xfrm>
            <a:off x="557784" y="269748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Oil concession signed with KOC</a:t>
            </a:r>
            <a:endParaRPr lang="en-US" sz="1500" dirty="0"/>
          </a:p>
        </p:txBody>
      </p:sp>
      <p:sp>
        <p:nvSpPr>
          <p:cNvPr id="9" name="timeline_s_6"/>
          <p:cNvSpPr/>
          <p:nvPr/>
        </p:nvSpPr>
        <p:spPr>
          <a:xfrm>
            <a:off x="2330920"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10" name="timeline_s_7"/>
          <p:cNvSpPr/>
          <p:nvPr/>
        </p:nvSpPr>
        <p:spPr>
          <a:xfrm>
            <a:off x="2442477" y="3886200"/>
            <a:ext cx="14630" cy="384048"/>
          </a:xfrm>
          <a:prstGeom prst="rect">
            <a:avLst/>
          </a:prstGeom>
          <a:solidFill>
            <a:srgbClr val="3A3A3C"/>
          </a:solidFill>
          <a:ln/>
        </p:spPr>
      </p:sp>
      <p:sp>
        <p:nvSpPr>
          <p:cNvPr id="11" name="timeline_t_8"/>
          <p:cNvSpPr txBox="1"/>
          <p:nvPr/>
        </p:nvSpPr>
        <p:spPr>
          <a:xfrm>
            <a:off x="1763992" y="434340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1938</a:t>
            </a:r>
            <a:endParaRPr lang="en-US" sz="2800" dirty="0"/>
          </a:p>
        </p:txBody>
      </p:sp>
      <p:sp>
        <p:nvSpPr>
          <p:cNvPr id="12" name="timeline_t_9"/>
          <p:cNvSpPr txBox="1"/>
          <p:nvPr/>
        </p:nvSpPr>
        <p:spPr>
          <a:xfrm>
            <a:off x="1773136" y="480060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Oil strikes at Burgan No. 1</a:t>
            </a:r>
            <a:endParaRPr lang="en-US" sz="1500" dirty="0"/>
          </a:p>
        </p:txBody>
      </p:sp>
      <p:sp>
        <p:nvSpPr>
          <p:cNvPr id="13" name="timeline_s_10"/>
          <p:cNvSpPr/>
          <p:nvPr/>
        </p:nvSpPr>
        <p:spPr>
          <a:xfrm>
            <a:off x="3546272"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14" name="timeline_s_11"/>
          <p:cNvSpPr/>
          <p:nvPr/>
        </p:nvSpPr>
        <p:spPr>
          <a:xfrm>
            <a:off x="3657829" y="3136392"/>
            <a:ext cx="14630" cy="384048"/>
          </a:xfrm>
          <a:prstGeom prst="rect">
            <a:avLst/>
          </a:prstGeom>
          <a:solidFill>
            <a:srgbClr val="3A3A3C"/>
          </a:solidFill>
          <a:ln/>
        </p:spPr>
      </p:sp>
      <p:sp>
        <p:nvSpPr>
          <p:cNvPr id="15" name="timeline_t_12"/>
          <p:cNvSpPr txBox="1"/>
          <p:nvPr/>
        </p:nvSpPr>
        <p:spPr>
          <a:xfrm>
            <a:off x="2979344" y="224028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1946</a:t>
            </a:r>
            <a:endParaRPr lang="en-US" sz="2800" dirty="0"/>
          </a:p>
        </p:txBody>
      </p:sp>
      <p:sp>
        <p:nvSpPr>
          <p:cNvPr id="16" name="timeline_t_13"/>
          <p:cNvSpPr txBox="1"/>
          <p:nvPr/>
        </p:nvSpPr>
        <p:spPr>
          <a:xfrm>
            <a:off x="2988488" y="269748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First crude export</a:t>
            </a:r>
            <a:endParaRPr lang="en-US" sz="1500" dirty="0"/>
          </a:p>
        </p:txBody>
      </p:sp>
      <p:sp>
        <p:nvSpPr>
          <p:cNvPr id="17" name="timeline_s_14"/>
          <p:cNvSpPr/>
          <p:nvPr/>
        </p:nvSpPr>
        <p:spPr>
          <a:xfrm>
            <a:off x="4761624"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18" name="timeline_s_15"/>
          <p:cNvSpPr/>
          <p:nvPr/>
        </p:nvSpPr>
        <p:spPr>
          <a:xfrm>
            <a:off x="4873181" y="3886200"/>
            <a:ext cx="14630" cy="384048"/>
          </a:xfrm>
          <a:prstGeom prst="rect">
            <a:avLst/>
          </a:prstGeom>
          <a:solidFill>
            <a:srgbClr val="3A3A3C"/>
          </a:solidFill>
          <a:ln/>
        </p:spPr>
      </p:sp>
      <p:sp>
        <p:nvSpPr>
          <p:cNvPr id="19" name="timeline_t_16"/>
          <p:cNvSpPr txBox="1"/>
          <p:nvPr/>
        </p:nvSpPr>
        <p:spPr>
          <a:xfrm>
            <a:off x="4194696" y="434340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1960</a:t>
            </a:r>
            <a:endParaRPr lang="en-US" sz="2800" dirty="0"/>
          </a:p>
        </p:txBody>
      </p:sp>
      <p:sp>
        <p:nvSpPr>
          <p:cNvPr id="20" name="timeline_t_17"/>
          <p:cNvSpPr txBox="1"/>
          <p:nvPr/>
        </p:nvSpPr>
        <p:spPr>
          <a:xfrm>
            <a:off x="4203840" y="480060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Co-founds OPEC; KNPC formed</a:t>
            </a:r>
            <a:endParaRPr lang="en-US" sz="1500" dirty="0"/>
          </a:p>
        </p:txBody>
      </p:sp>
      <p:sp>
        <p:nvSpPr>
          <p:cNvPr id="21" name="timeline_s_18"/>
          <p:cNvSpPr/>
          <p:nvPr/>
        </p:nvSpPr>
        <p:spPr>
          <a:xfrm>
            <a:off x="5976976"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22" name="timeline_s_19"/>
          <p:cNvSpPr/>
          <p:nvPr/>
        </p:nvSpPr>
        <p:spPr>
          <a:xfrm>
            <a:off x="6088532" y="3136392"/>
            <a:ext cx="14630" cy="384048"/>
          </a:xfrm>
          <a:prstGeom prst="rect">
            <a:avLst/>
          </a:prstGeom>
          <a:solidFill>
            <a:srgbClr val="3A3A3C"/>
          </a:solidFill>
          <a:ln/>
        </p:spPr>
      </p:sp>
      <p:sp>
        <p:nvSpPr>
          <p:cNvPr id="23" name="timeline_t_20"/>
          <p:cNvSpPr txBox="1"/>
          <p:nvPr/>
        </p:nvSpPr>
        <p:spPr>
          <a:xfrm>
            <a:off x="5410048" y="224028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1975</a:t>
            </a:r>
            <a:endParaRPr lang="en-US" sz="2800" dirty="0"/>
          </a:p>
        </p:txBody>
      </p:sp>
      <p:sp>
        <p:nvSpPr>
          <p:cNvPr id="24" name="timeline_t_21"/>
          <p:cNvSpPr txBox="1"/>
          <p:nvPr/>
        </p:nvSpPr>
        <p:spPr>
          <a:xfrm>
            <a:off x="5419192" y="269748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KOC fully nationalised</a:t>
            </a:r>
            <a:endParaRPr lang="en-US" sz="1500" dirty="0"/>
          </a:p>
        </p:txBody>
      </p:sp>
      <p:sp>
        <p:nvSpPr>
          <p:cNvPr id="25" name="timeline_s_22"/>
          <p:cNvSpPr/>
          <p:nvPr/>
        </p:nvSpPr>
        <p:spPr>
          <a:xfrm>
            <a:off x="7192328"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26" name="timeline_s_23"/>
          <p:cNvSpPr/>
          <p:nvPr/>
        </p:nvSpPr>
        <p:spPr>
          <a:xfrm>
            <a:off x="7303884" y="3886200"/>
            <a:ext cx="14630" cy="384048"/>
          </a:xfrm>
          <a:prstGeom prst="rect">
            <a:avLst/>
          </a:prstGeom>
          <a:solidFill>
            <a:srgbClr val="3A3A3C"/>
          </a:solidFill>
          <a:ln/>
        </p:spPr>
      </p:sp>
      <p:sp>
        <p:nvSpPr>
          <p:cNvPr id="27" name="timeline_t_24"/>
          <p:cNvSpPr txBox="1"/>
          <p:nvPr/>
        </p:nvSpPr>
        <p:spPr>
          <a:xfrm>
            <a:off x="6625400" y="434340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1980</a:t>
            </a:r>
            <a:endParaRPr lang="en-US" sz="2800" dirty="0"/>
          </a:p>
        </p:txBody>
      </p:sp>
      <p:sp>
        <p:nvSpPr>
          <p:cNvPr id="28" name="timeline_t_25"/>
          <p:cNvSpPr txBox="1"/>
          <p:nvPr/>
        </p:nvSpPr>
        <p:spPr>
          <a:xfrm>
            <a:off x="6634544" y="480060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KPC created</a:t>
            </a:r>
            <a:endParaRPr lang="en-US" sz="1500" dirty="0"/>
          </a:p>
        </p:txBody>
      </p:sp>
      <p:sp>
        <p:nvSpPr>
          <p:cNvPr id="29" name="timeline_s_26"/>
          <p:cNvSpPr/>
          <p:nvPr/>
        </p:nvSpPr>
        <p:spPr>
          <a:xfrm>
            <a:off x="8407679" y="3584448"/>
            <a:ext cx="237744" cy="237744"/>
          </a:xfrm>
          <a:prstGeom prst="ellipse">
            <a:avLst/>
          </a:prstGeom>
          <a:solidFill>
            <a:srgbClr val="FF453A"/>
          </a:solidFill>
          <a:ln/>
          <a:effectLst>
            <a:outerShdw sx="100000" sy="100000" kx="0" ky="0" algn="bl" rotWithShape="0" blurRad="152400" dist="50800" dir="5400000">
              <a:srgbClr val="FF453A">
                <a:alpha val="80000"/>
              </a:srgbClr>
            </a:outerShdw>
          </a:effectLst>
        </p:spPr>
      </p:sp>
      <p:sp>
        <p:nvSpPr>
          <p:cNvPr id="30" name="timeline_s_27"/>
          <p:cNvSpPr/>
          <p:nvPr/>
        </p:nvSpPr>
        <p:spPr>
          <a:xfrm>
            <a:off x="8519236" y="3136392"/>
            <a:ext cx="14630" cy="384048"/>
          </a:xfrm>
          <a:prstGeom prst="rect">
            <a:avLst/>
          </a:prstGeom>
          <a:solidFill>
            <a:srgbClr val="3A3A3C"/>
          </a:solidFill>
          <a:ln/>
        </p:spPr>
      </p:sp>
      <p:sp>
        <p:nvSpPr>
          <p:cNvPr id="31" name="!!y1991"/>
          <p:cNvSpPr txBox="1"/>
          <p:nvPr/>
        </p:nvSpPr>
        <p:spPr>
          <a:xfrm>
            <a:off x="7840751" y="2240280"/>
            <a:ext cx="1371600" cy="457200"/>
          </a:xfrm>
          <a:prstGeom prst="rect">
            <a:avLst/>
          </a:prstGeom>
          <a:noFill/>
          <a:ln/>
        </p:spPr>
        <p:txBody>
          <a:bodyPr wrap="square" lIns="0" tIns="0" rIns="0" bIns="0" rtlCol="0" anchor="t"/>
          <a:lstStyle/>
          <a:p>
            <a:pPr algn="ctr" indent="0" marL="0">
              <a:buNone/>
            </a:pPr>
            <a:r>
              <a:rPr lang="en-US" sz="2800" b="1" dirty="0">
                <a:solidFill>
                  <a:schemeClr val="accent4"/>
                </a:solidFill>
                <a:latin typeface="Arial" pitchFamily="34" charset="0"/>
                <a:ea typeface="Arial" pitchFamily="34" charset="-122"/>
                <a:cs typeface="Arial" pitchFamily="34" charset="-120"/>
              </a:rPr>
              <a:t>1991</a:t>
            </a:r>
            <a:endParaRPr lang="en-US" sz="2800" dirty="0"/>
          </a:p>
        </p:txBody>
      </p:sp>
      <p:sp>
        <p:nvSpPr>
          <p:cNvPr id="32" name="timeline_t_28"/>
          <p:cNvSpPr txBox="1"/>
          <p:nvPr/>
        </p:nvSpPr>
        <p:spPr>
          <a:xfrm>
            <a:off x="7849895" y="269748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Invasion and 700+ well fires</a:t>
            </a:r>
            <a:endParaRPr lang="en-US" sz="1500" dirty="0"/>
          </a:p>
        </p:txBody>
      </p:sp>
      <p:sp>
        <p:nvSpPr>
          <p:cNvPr id="33" name="timeline_s_29"/>
          <p:cNvSpPr/>
          <p:nvPr/>
        </p:nvSpPr>
        <p:spPr>
          <a:xfrm>
            <a:off x="9623031"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34" name="timeline_s_30"/>
          <p:cNvSpPr/>
          <p:nvPr/>
        </p:nvSpPr>
        <p:spPr>
          <a:xfrm>
            <a:off x="9734588" y="3886200"/>
            <a:ext cx="14630" cy="384048"/>
          </a:xfrm>
          <a:prstGeom prst="rect">
            <a:avLst/>
          </a:prstGeom>
          <a:solidFill>
            <a:srgbClr val="3A3A3C"/>
          </a:solidFill>
          <a:ln/>
        </p:spPr>
      </p:sp>
      <p:sp>
        <p:nvSpPr>
          <p:cNvPr id="35" name="timeline_t_31"/>
          <p:cNvSpPr txBox="1"/>
          <p:nvPr/>
        </p:nvSpPr>
        <p:spPr>
          <a:xfrm>
            <a:off x="9056103" y="434340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2018</a:t>
            </a:r>
            <a:endParaRPr lang="en-US" sz="2800" dirty="0"/>
          </a:p>
        </p:txBody>
      </p:sp>
      <p:sp>
        <p:nvSpPr>
          <p:cNvPr id="36" name="timeline_t_32"/>
          <p:cNvSpPr txBox="1"/>
          <p:nvPr/>
        </p:nvSpPr>
        <p:spPr>
          <a:xfrm>
            <a:off x="9065247" y="480060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Jurassic super-light crude and gas</a:t>
            </a:r>
            <a:endParaRPr lang="en-US" sz="1500" dirty="0"/>
          </a:p>
        </p:txBody>
      </p:sp>
      <p:sp>
        <p:nvSpPr>
          <p:cNvPr id="37" name="timeline_s_33"/>
          <p:cNvSpPr/>
          <p:nvPr/>
        </p:nvSpPr>
        <p:spPr>
          <a:xfrm>
            <a:off x="10838383" y="3584448"/>
            <a:ext cx="237744" cy="237744"/>
          </a:xfrm>
          <a:prstGeom prst="ellipse">
            <a:avLst/>
          </a:prstGeom>
          <a:solidFill>
            <a:srgbClr val="FF9F0A"/>
          </a:solidFill>
          <a:ln/>
          <a:effectLst>
            <a:outerShdw sx="100000" sy="100000" kx="0" ky="0" algn="bl" rotWithShape="0" blurRad="152400" dist="50800" dir="5400000">
              <a:srgbClr val="FF9F0A">
                <a:alpha val="80000"/>
              </a:srgbClr>
            </a:outerShdw>
          </a:effectLst>
        </p:spPr>
      </p:sp>
      <p:sp>
        <p:nvSpPr>
          <p:cNvPr id="38" name="timeline_s_34"/>
          <p:cNvSpPr/>
          <p:nvPr/>
        </p:nvSpPr>
        <p:spPr>
          <a:xfrm>
            <a:off x="10949940" y="3136392"/>
            <a:ext cx="14630" cy="384048"/>
          </a:xfrm>
          <a:prstGeom prst="rect">
            <a:avLst/>
          </a:prstGeom>
          <a:solidFill>
            <a:srgbClr val="3A3A3C"/>
          </a:solidFill>
          <a:ln/>
        </p:spPr>
      </p:sp>
      <p:sp>
        <p:nvSpPr>
          <p:cNvPr id="39" name="timeline_t_35"/>
          <p:cNvSpPr txBox="1"/>
          <p:nvPr/>
        </p:nvSpPr>
        <p:spPr>
          <a:xfrm>
            <a:off x="10271455" y="2240280"/>
            <a:ext cx="1371600" cy="457200"/>
          </a:xfrm>
          <a:prstGeom prst="rect">
            <a:avLst/>
          </a:prstGeom>
          <a:noFill/>
          <a:ln/>
        </p:spPr>
        <p:txBody>
          <a:bodyPr wrap="square" lIns="0" tIns="0" rIns="0" bIns="0" rtlCol="0" anchor="t"/>
          <a:lstStyle/>
          <a:p>
            <a:pPr algn="ctr" indent="0" marL="0">
              <a:buNone/>
            </a:pPr>
            <a:r>
              <a:rPr lang="en-US" sz="2800" b="1" dirty="0">
                <a:solidFill>
                  <a:schemeClr val="tx1"/>
                </a:solidFill>
                <a:latin typeface="Arial" pitchFamily="34" charset="0"/>
                <a:ea typeface="Arial" pitchFamily="34" charset="-122"/>
                <a:cs typeface="Arial" pitchFamily="34" charset="-120"/>
              </a:rPr>
              <a:t>2024</a:t>
            </a:r>
            <a:endParaRPr lang="en-US" sz="2800" dirty="0"/>
          </a:p>
        </p:txBody>
      </p:sp>
      <p:sp>
        <p:nvSpPr>
          <p:cNvPr id="40" name="timeline_t_36"/>
          <p:cNvSpPr txBox="1"/>
          <p:nvPr/>
        </p:nvSpPr>
        <p:spPr>
          <a:xfrm>
            <a:off x="10280599" y="2697480"/>
            <a:ext cx="1353312" cy="73152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Al-Zour refinery at full 615 kb/d</a:t>
            </a:r>
            <a:endParaRPr lang="en-US" sz="1500" dirty="0"/>
          </a:p>
        </p:txBody>
      </p:sp>
      <p:sp>
        <p:nvSpPr>
          <p:cNvPr id="41" name="timeline_t_37"/>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KOC (n.d.); KPC (n.d.); KNPC timeline; Britannica; S&amp;P Global (2018, 2024); KIPIC (2024).</a:t>
            </a:r>
            <a:endParaRPr lang="en-US" sz="1200" dirty="0"/>
          </a:p>
        </p:txBody>
      </p:sp>
      <p:sp>
        <p:nvSpPr>
          <p:cNvPr id="42" name="timeline_home_38">
            <a:hlinkClick r:id="rId1"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43" name="timeline_i_39" descr="preencoded.png">    </p:cNvPr>
          <p:cNvPicPr>
            <a:picLocks noChangeAspect="1"/>
          </p:cNvPicPr>
          <p:nvPr/>
        </p:nvPicPr>
        <p:blipFill>
          <a:blip r:embed="rId2"/>
          <a:stretch>
            <a:fillRect/>
          </a:stretch>
        </p:blipFill>
        <p:spPr>
          <a:xfrm>
            <a:off x="10719511" y="6355080"/>
            <a:ext cx="219456" cy="219456"/>
          </a:xfrm>
          <a:prstGeom prst="rect">
            <a:avLst/>
          </a:prstGeom>
        </p:spPr>
      </p:pic>
      <p:sp>
        <p:nvSpPr>
          <p:cNvPr id="44" name="timeline_s_40">
            <a:hlinkClick r:id="rId3"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8"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1800"/>
                                        <p:tgtEl>
                                          <p:spTgt spid="4"/>
                                        </p:tgtEl>
                                      </p:cBhvr>
                                    </p:animEffect>
                                  </p:childTnLst>
                                </p:cTn>
                              </p:par>
                              <p:par>
                                <p:cTn id="17" presetID="53" presetClass="entr" presetSubtype="16" fill="hold" grpId="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p:cTn id="14" dur="500" fill="hold" decel="100000"/>
                                        <p:tgtEl>
                                          <p:spTgt spid="5"/>
                                        </p:tgtEl>
                                        <p:attrNameLst>
                                          <p:attrName>ppt_w</p:attrName>
                                        </p:attrNameLst>
                                      </p:cBhvr>
                                      <p:tavLst>
                                        <p:tav tm="0">
                                          <p:val>
                                            <p:strVal val="#ppt_w*0.70"/>
                                          </p:val>
                                        </p:tav>
                                        <p:tav tm="100000">
                                          <p:val>
                                            <p:strVal val="#ppt_w"/>
                                          </p:val>
                                        </p:tav>
                                      </p:tavLst>
                                    </p:anim>
                                    <p:anim calcmode="lin" valueType="num">
                                      <p:cBhvr>
                                        <p:cTn id="15" dur="500" fill="hold" decel="100000"/>
                                        <p:tgtEl>
                                          <p:spTgt spid="5"/>
                                        </p:tgtEl>
                                        <p:attrNameLst>
                                          <p:attrName>ppt_h</p:attrName>
                                        </p:attrNameLst>
                                      </p:cBhvr>
                                      <p:tavLst>
                                        <p:tav tm="0">
                                          <p:val>
                                            <p:strVal val="#ppt_h*0.70"/>
                                          </p:val>
                                        </p:tav>
                                        <p:tav tm="100000">
                                          <p:val>
                                            <p:strVal val="#ppt_h"/>
                                          </p:val>
                                        </p:tav>
                                      </p:tavLst>
                                    </p:anim>
                                    <p:animEffect transition="in" filter="fade">
                                      <p:cBhvr>
                                        <p:cTn id="16" dur="500"/>
                                        <p:tgtEl>
                                          <p:spTgt spid="5"/>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5" presetID="42" presetClass="entr" presetSubtype="0" fill="hold" grpId="0" nodeType="withEffect">
                                  <p:stCondLst>
                                    <p:cond delay="4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fill="hold" decel="100000"/>
                                        <p:tgtEl>
                                          <p:spTgt spid="7"/>
                                        </p:tgtEl>
                                        <p:attrNameLst>
                                          <p:attrName>ppt_x</p:attrName>
                                        </p:attrNameLst>
                                      </p:cBhvr>
                                      <p:tavLst>
                                        <p:tav tm="0">
                                          <p:val>
                                            <p:strVal val="#ppt_x"/>
                                          </p:val>
                                        </p:tav>
                                        <p:tav tm="100000">
                                          <p:val>
                                            <p:strVal val="#ppt_x"/>
                                          </p:val>
                                        </p:tav>
                                      </p:tavLst>
                                    </p:anim>
                                    <p:anim calcmode="lin" valueType="num">
                                      <p:cBhvr>
                                        <p:cTn id="24" dur="600" fill="hold" decel="100000"/>
                                        <p:tgtEl>
                                          <p:spTgt spid="7"/>
                                        </p:tgtEl>
                                        <p:attrNameLst>
                                          <p:attrName>ppt_y</p:attrName>
                                        </p:attrNameLst>
                                      </p:cBhvr>
                                      <p:tavLst>
                                        <p:tav tm="0">
                                          <p:val>
                                            <p:strVal val="#ppt_y+0.04"/>
                                          </p:val>
                                        </p:tav>
                                        <p:tav tm="100000">
                                          <p:val>
                                            <p:strVal val="#ppt_y"/>
                                          </p:val>
                                        </p:tav>
                                      </p:tavLst>
                                    </p:anim>
                                  </p:childTnLst>
                                </p:cTn>
                              </p:par>
                              <p:par>
                                <p:cTn id="30" presetID="53" presetClass="entr" presetSubtype="16" fill="hold" grpId="0" nodeType="withEffect">
                                  <p:stCondLst>
                                    <p:cond delay="490"/>
                                  </p:stCondLst>
                                  <p:childTnLst>
                                    <p:set>
                                      <p:cBhvr>
                                        <p:cTn id="26" dur="1" fill="hold">
                                          <p:stCondLst>
                                            <p:cond delay="0"/>
                                          </p:stCondLst>
                                        </p:cTn>
                                        <p:tgtEl>
                                          <p:spTgt spid="9"/>
                                        </p:tgtEl>
                                        <p:attrNameLst>
                                          <p:attrName>style.visibility</p:attrName>
                                        </p:attrNameLst>
                                      </p:cBhvr>
                                      <p:to>
                                        <p:strVal val="visible"/>
                                      </p:to>
                                    </p:set>
                                    <p:anim calcmode="lin" valueType="num">
                                      <p:cBhvr>
                                        <p:cTn id="27" dur="500" fill="hold" decel="100000"/>
                                        <p:tgtEl>
                                          <p:spTgt spid="9"/>
                                        </p:tgtEl>
                                        <p:attrNameLst>
                                          <p:attrName>ppt_w</p:attrName>
                                        </p:attrNameLst>
                                      </p:cBhvr>
                                      <p:tavLst>
                                        <p:tav tm="0">
                                          <p:val>
                                            <p:strVal val="#ppt_w*0.70"/>
                                          </p:val>
                                        </p:tav>
                                        <p:tav tm="100000">
                                          <p:val>
                                            <p:strVal val="#ppt_w"/>
                                          </p:val>
                                        </p:tav>
                                      </p:tavLst>
                                    </p:anim>
                                    <p:anim calcmode="lin" valueType="num">
                                      <p:cBhvr>
                                        <p:cTn id="28" dur="500" fill="hold" decel="100000"/>
                                        <p:tgtEl>
                                          <p:spTgt spid="9"/>
                                        </p:tgtEl>
                                        <p:attrNameLst>
                                          <p:attrName>ppt_h</p:attrName>
                                        </p:attrNameLst>
                                      </p:cBhvr>
                                      <p:tavLst>
                                        <p:tav tm="0">
                                          <p:val>
                                            <p:strVal val="#ppt_h*0.70"/>
                                          </p:val>
                                        </p:tav>
                                        <p:tav tm="100000">
                                          <p:val>
                                            <p:strVal val="#ppt_h"/>
                                          </p:val>
                                        </p:tav>
                                      </p:tavLst>
                                    </p:anim>
                                    <p:animEffect transition="in" filter="fade">
                                      <p:cBhvr>
                                        <p:cTn id="29" dur="500"/>
                                        <p:tgtEl>
                                          <p:spTgt spid="9"/>
                                        </p:tgtEl>
                                      </p:cBhvr>
                                    </p:animEffect>
                                  </p:childTnLst>
                                </p:cTn>
                              </p:par>
                              <p:par>
                                <p:cTn id="33" presetID="10" presetClass="entr" presetSubtype="0" fill="hold" grpId="0" nodeType="withEffect">
                                  <p:stCondLst>
                                    <p:cond delay="50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childTnLst>
                                </p:cTn>
                              </p:par>
                              <p:par>
                                <p:cTn id="36" presetID="10" presetClass="entr" presetSubtype="0" fill="hold" grpId="0" nodeType="withEffect">
                                  <p:stCondLst>
                                    <p:cond delay="59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400"/>
                                        <p:tgtEl>
                                          <p:spTgt spid="10"/>
                                        </p:tgtEl>
                                      </p:cBhvr>
                                    </p:animEffect>
                                  </p:childTnLst>
                                </p:cTn>
                              </p:par>
                              <p:par>
                                <p:cTn id="41" presetID="42" presetClass="entr" presetSubtype="0" fill="hold" grpId="0" nodeType="withEffect">
                                  <p:stCondLst>
                                    <p:cond delay="59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anim calcmode="lin" valueType="num">
                                      <p:cBhvr>
                                        <p:cTn id="39" dur="600" fill="hold" decel="100000"/>
                                        <p:tgtEl>
                                          <p:spTgt spid="11"/>
                                        </p:tgtEl>
                                        <p:attrNameLst>
                                          <p:attrName>ppt_x</p:attrName>
                                        </p:attrNameLst>
                                      </p:cBhvr>
                                      <p:tavLst>
                                        <p:tav tm="0">
                                          <p:val>
                                            <p:strVal val="#ppt_x"/>
                                          </p:val>
                                        </p:tav>
                                        <p:tav tm="100000">
                                          <p:val>
                                            <p:strVal val="#ppt_x"/>
                                          </p:val>
                                        </p:tav>
                                      </p:tavLst>
                                    </p:anim>
                                    <p:anim calcmode="lin" valueType="num">
                                      <p:cBhvr>
                                        <p:cTn id="40" dur="600" fill="hold" decel="100000"/>
                                        <p:tgtEl>
                                          <p:spTgt spid="11"/>
                                        </p:tgtEl>
                                        <p:attrNameLst>
                                          <p:attrName>ppt_y</p:attrName>
                                        </p:attrNameLst>
                                      </p:cBhvr>
                                      <p:tavLst>
                                        <p:tav tm="0">
                                          <p:val>
                                            <p:strVal val="#ppt_y+0.04"/>
                                          </p:val>
                                        </p:tav>
                                        <p:tav tm="100000">
                                          <p:val>
                                            <p:strVal val="#ppt_y"/>
                                          </p:val>
                                        </p:tav>
                                      </p:tavLst>
                                    </p:anim>
                                  </p:childTnLst>
                                </p:cTn>
                              </p:par>
                              <p:par>
                                <p:cTn id="46" presetID="53" presetClass="entr" presetSubtype="16" fill="hold" grpId="0" nodeType="withEffect">
                                  <p:stCondLst>
                                    <p:cond delay="680"/>
                                  </p:stCondLst>
                                  <p:childTnLst>
                                    <p:set>
                                      <p:cBhvr>
                                        <p:cTn id="42" dur="1" fill="hold">
                                          <p:stCondLst>
                                            <p:cond delay="0"/>
                                          </p:stCondLst>
                                        </p:cTn>
                                        <p:tgtEl>
                                          <p:spTgt spid="13"/>
                                        </p:tgtEl>
                                        <p:attrNameLst>
                                          <p:attrName>style.visibility</p:attrName>
                                        </p:attrNameLst>
                                      </p:cBhvr>
                                      <p:to>
                                        <p:strVal val="visible"/>
                                      </p:to>
                                    </p:set>
                                    <p:anim calcmode="lin" valueType="num">
                                      <p:cBhvr>
                                        <p:cTn id="43" dur="500" fill="hold" decel="100000"/>
                                        <p:tgtEl>
                                          <p:spTgt spid="13"/>
                                        </p:tgtEl>
                                        <p:attrNameLst>
                                          <p:attrName>ppt_w</p:attrName>
                                        </p:attrNameLst>
                                      </p:cBhvr>
                                      <p:tavLst>
                                        <p:tav tm="0">
                                          <p:val>
                                            <p:strVal val="#ppt_w*0.70"/>
                                          </p:val>
                                        </p:tav>
                                        <p:tav tm="100000">
                                          <p:val>
                                            <p:strVal val="#ppt_w"/>
                                          </p:val>
                                        </p:tav>
                                      </p:tavLst>
                                    </p:anim>
                                    <p:anim calcmode="lin" valueType="num">
                                      <p:cBhvr>
                                        <p:cTn id="44" dur="500" fill="hold" decel="100000"/>
                                        <p:tgtEl>
                                          <p:spTgt spid="13"/>
                                        </p:tgtEl>
                                        <p:attrNameLst>
                                          <p:attrName>ppt_h</p:attrName>
                                        </p:attrNameLst>
                                      </p:cBhvr>
                                      <p:tavLst>
                                        <p:tav tm="0">
                                          <p:val>
                                            <p:strVal val="#ppt_h*0.70"/>
                                          </p:val>
                                        </p:tav>
                                        <p:tav tm="100000">
                                          <p:val>
                                            <p:strVal val="#ppt_h"/>
                                          </p:val>
                                        </p:tav>
                                      </p:tavLst>
                                    </p:anim>
                                    <p:animEffect transition="in" filter="fade">
                                      <p:cBhvr>
                                        <p:cTn id="45" dur="500"/>
                                        <p:tgtEl>
                                          <p:spTgt spid="13"/>
                                        </p:tgtEl>
                                      </p:cBhvr>
                                    </p:animEffect>
                                  </p:childTnLst>
                                </p:cTn>
                              </p:par>
                              <p:par>
                                <p:cTn id="49" presetID="10" presetClass="entr" presetSubtype="0" fill="hold" grpId="0" nodeType="withEffect">
                                  <p:stCondLst>
                                    <p:cond delay="69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600"/>
                                        <p:tgtEl>
                                          <p:spTgt spid="12"/>
                                        </p:tgtEl>
                                      </p:cBhvr>
                                    </p:animEffect>
                                  </p:childTnLst>
                                </p:cTn>
                              </p:par>
                              <p:par>
                                <p:cTn id="52" presetID="10" presetClass="entr" presetSubtype="0" fill="hold" grpId="0" nodeType="withEffect">
                                  <p:stCondLst>
                                    <p:cond delay="78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400"/>
                                        <p:tgtEl>
                                          <p:spTgt spid="14"/>
                                        </p:tgtEl>
                                      </p:cBhvr>
                                    </p:animEffect>
                                  </p:childTnLst>
                                </p:cTn>
                              </p:par>
                              <p:par>
                                <p:cTn id="57" presetID="42" presetClass="entr" presetSubtype="0" fill="hold" grpId="0" nodeType="withEffect">
                                  <p:stCondLst>
                                    <p:cond delay="78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600"/>
                                        <p:tgtEl>
                                          <p:spTgt spid="15"/>
                                        </p:tgtEl>
                                      </p:cBhvr>
                                    </p:animEffect>
                                    <p:anim calcmode="lin" valueType="num">
                                      <p:cBhvr>
                                        <p:cTn id="55" dur="600" fill="hold" decel="100000"/>
                                        <p:tgtEl>
                                          <p:spTgt spid="15"/>
                                        </p:tgtEl>
                                        <p:attrNameLst>
                                          <p:attrName>ppt_x</p:attrName>
                                        </p:attrNameLst>
                                      </p:cBhvr>
                                      <p:tavLst>
                                        <p:tav tm="0">
                                          <p:val>
                                            <p:strVal val="#ppt_x"/>
                                          </p:val>
                                        </p:tav>
                                        <p:tav tm="100000">
                                          <p:val>
                                            <p:strVal val="#ppt_x"/>
                                          </p:val>
                                        </p:tav>
                                      </p:tavLst>
                                    </p:anim>
                                    <p:anim calcmode="lin" valueType="num">
                                      <p:cBhvr>
                                        <p:cTn id="56" dur="600" fill="hold" decel="100000"/>
                                        <p:tgtEl>
                                          <p:spTgt spid="15"/>
                                        </p:tgtEl>
                                        <p:attrNameLst>
                                          <p:attrName>ppt_y</p:attrName>
                                        </p:attrNameLst>
                                      </p:cBhvr>
                                      <p:tavLst>
                                        <p:tav tm="0">
                                          <p:val>
                                            <p:strVal val="#ppt_y+0.04"/>
                                          </p:val>
                                        </p:tav>
                                        <p:tav tm="100000">
                                          <p:val>
                                            <p:strVal val="#ppt_y"/>
                                          </p:val>
                                        </p:tav>
                                      </p:tavLst>
                                    </p:anim>
                                  </p:childTnLst>
                                </p:cTn>
                              </p:par>
                              <p:par>
                                <p:cTn id="62" presetID="53" presetClass="entr" presetSubtype="16" fill="hold" grpId="0" nodeType="withEffect">
                                  <p:stCondLst>
                                    <p:cond delay="870"/>
                                  </p:stCondLst>
                                  <p:childTnLst>
                                    <p:set>
                                      <p:cBhvr>
                                        <p:cTn id="58" dur="1" fill="hold">
                                          <p:stCondLst>
                                            <p:cond delay="0"/>
                                          </p:stCondLst>
                                        </p:cTn>
                                        <p:tgtEl>
                                          <p:spTgt spid="17"/>
                                        </p:tgtEl>
                                        <p:attrNameLst>
                                          <p:attrName>style.visibility</p:attrName>
                                        </p:attrNameLst>
                                      </p:cBhvr>
                                      <p:to>
                                        <p:strVal val="visible"/>
                                      </p:to>
                                    </p:set>
                                    <p:anim calcmode="lin" valueType="num">
                                      <p:cBhvr>
                                        <p:cTn id="59" dur="500" fill="hold" decel="100000"/>
                                        <p:tgtEl>
                                          <p:spTgt spid="17"/>
                                        </p:tgtEl>
                                        <p:attrNameLst>
                                          <p:attrName>ppt_w</p:attrName>
                                        </p:attrNameLst>
                                      </p:cBhvr>
                                      <p:tavLst>
                                        <p:tav tm="0">
                                          <p:val>
                                            <p:strVal val="#ppt_w*0.70"/>
                                          </p:val>
                                        </p:tav>
                                        <p:tav tm="100000">
                                          <p:val>
                                            <p:strVal val="#ppt_w"/>
                                          </p:val>
                                        </p:tav>
                                      </p:tavLst>
                                    </p:anim>
                                    <p:anim calcmode="lin" valueType="num">
                                      <p:cBhvr>
                                        <p:cTn id="60" dur="500" fill="hold" decel="100000"/>
                                        <p:tgtEl>
                                          <p:spTgt spid="17"/>
                                        </p:tgtEl>
                                        <p:attrNameLst>
                                          <p:attrName>ppt_h</p:attrName>
                                        </p:attrNameLst>
                                      </p:cBhvr>
                                      <p:tavLst>
                                        <p:tav tm="0">
                                          <p:val>
                                            <p:strVal val="#ppt_h*0.70"/>
                                          </p:val>
                                        </p:tav>
                                        <p:tav tm="100000">
                                          <p:val>
                                            <p:strVal val="#ppt_h"/>
                                          </p:val>
                                        </p:tav>
                                      </p:tavLst>
                                    </p:anim>
                                    <p:animEffect transition="in" filter="fade">
                                      <p:cBhvr>
                                        <p:cTn id="61" dur="500"/>
                                        <p:tgtEl>
                                          <p:spTgt spid="17"/>
                                        </p:tgtEl>
                                      </p:cBhvr>
                                    </p:animEffect>
                                  </p:childTnLst>
                                </p:cTn>
                              </p:par>
                              <p:par>
                                <p:cTn id="65" presetID="10" presetClass="entr" presetSubtype="0" fill="hold" grpId="0" nodeType="withEffect">
                                  <p:stCondLst>
                                    <p:cond delay="880"/>
                                  </p:stCondLst>
                                  <p:childTnLst>
                                    <p:set>
                                      <p:cBhvr>
                                        <p:cTn id="63" dur="1" fill="hold">
                                          <p:stCondLst>
                                            <p:cond delay="0"/>
                                          </p:stCondLst>
                                        </p:cTn>
                                        <p:tgtEl>
                                          <p:spTgt spid="16"/>
                                        </p:tgtEl>
                                        <p:attrNameLst>
                                          <p:attrName>style.visibility</p:attrName>
                                        </p:attrNameLst>
                                      </p:cBhvr>
                                      <p:to>
                                        <p:strVal val="visible"/>
                                      </p:to>
                                    </p:set>
                                    <p:animEffect transition="in" filter="fade">
                                      <p:cBhvr>
                                        <p:cTn id="64" dur="600"/>
                                        <p:tgtEl>
                                          <p:spTgt spid="16"/>
                                        </p:tgtEl>
                                      </p:cBhvr>
                                    </p:animEffect>
                                  </p:childTnLst>
                                </p:cTn>
                              </p:par>
                              <p:par>
                                <p:cTn id="68" presetID="10" presetClass="entr" presetSubtype="0" fill="hold" grpId="0" nodeType="withEffect">
                                  <p:stCondLst>
                                    <p:cond delay="97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400"/>
                                        <p:tgtEl>
                                          <p:spTgt spid="18"/>
                                        </p:tgtEl>
                                      </p:cBhvr>
                                    </p:animEffect>
                                  </p:childTnLst>
                                </p:cTn>
                              </p:par>
                              <p:par>
                                <p:cTn id="73" presetID="42" presetClass="entr" presetSubtype="0" fill="hold" grpId="0" nodeType="withEffect">
                                  <p:stCondLst>
                                    <p:cond delay="97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600"/>
                                        <p:tgtEl>
                                          <p:spTgt spid="19"/>
                                        </p:tgtEl>
                                      </p:cBhvr>
                                    </p:animEffect>
                                    <p:anim calcmode="lin" valueType="num">
                                      <p:cBhvr>
                                        <p:cTn id="71" dur="600" fill="hold" decel="100000"/>
                                        <p:tgtEl>
                                          <p:spTgt spid="19"/>
                                        </p:tgtEl>
                                        <p:attrNameLst>
                                          <p:attrName>ppt_x</p:attrName>
                                        </p:attrNameLst>
                                      </p:cBhvr>
                                      <p:tavLst>
                                        <p:tav tm="0">
                                          <p:val>
                                            <p:strVal val="#ppt_x"/>
                                          </p:val>
                                        </p:tav>
                                        <p:tav tm="100000">
                                          <p:val>
                                            <p:strVal val="#ppt_x"/>
                                          </p:val>
                                        </p:tav>
                                      </p:tavLst>
                                    </p:anim>
                                    <p:anim calcmode="lin" valueType="num">
                                      <p:cBhvr>
                                        <p:cTn id="72" dur="600" fill="hold" decel="100000"/>
                                        <p:tgtEl>
                                          <p:spTgt spid="19"/>
                                        </p:tgtEl>
                                        <p:attrNameLst>
                                          <p:attrName>ppt_y</p:attrName>
                                        </p:attrNameLst>
                                      </p:cBhvr>
                                      <p:tavLst>
                                        <p:tav tm="0">
                                          <p:val>
                                            <p:strVal val="#ppt_y+0.04"/>
                                          </p:val>
                                        </p:tav>
                                        <p:tav tm="100000">
                                          <p:val>
                                            <p:strVal val="#ppt_y"/>
                                          </p:val>
                                        </p:tav>
                                      </p:tavLst>
                                    </p:anim>
                                  </p:childTnLst>
                                </p:cTn>
                              </p:par>
                              <p:par>
                                <p:cTn id="78" presetID="53" presetClass="entr" presetSubtype="16" fill="hold" grpId="0" nodeType="withEffect">
                                  <p:stCondLst>
                                    <p:cond delay="1060"/>
                                  </p:stCondLst>
                                  <p:childTnLst>
                                    <p:set>
                                      <p:cBhvr>
                                        <p:cTn id="74" dur="1" fill="hold">
                                          <p:stCondLst>
                                            <p:cond delay="0"/>
                                          </p:stCondLst>
                                        </p:cTn>
                                        <p:tgtEl>
                                          <p:spTgt spid="21"/>
                                        </p:tgtEl>
                                        <p:attrNameLst>
                                          <p:attrName>style.visibility</p:attrName>
                                        </p:attrNameLst>
                                      </p:cBhvr>
                                      <p:to>
                                        <p:strVal val="visible"/>
                                      </p:to>
                                    </p:set>
                                    <p:anim calcmode="lin" valueType="num">
                                      <p:cBhvr>
                                        <p:cTn id="75" dur="500" fill="hold" decel="100000"/>
                                        <p:tgtEl>
                                          <p:spTgt spid="21"/>
                                        </p:tgtEl>
                                        <p:attrNameLst>
                                          <p:attrName>ppt_w</p:attrName>
                                        </p:attrNameLst>
                                      </p:cBhvr>
                                      <p:tavLst>
                                        <p:tav tm="0">
                                          <p:val>
                                            <p:strVal val="#ppt_w*0.70"/>
                                          </p:val>
                                        </p:tav>
                                        <p:tav tm="100000">
                                          <p:val>
                                            <p:strVal val="#ppt_w"/>
                                          </p:val>
                                        </p:tav>
                                      </p:tavLst>
                                    </p:anim>
                                    <p:anim calcmode="lin" valueType="num">
                                      <p:cBhvr>
                                        <p:cTn id="76" dur="500" fill="hold" decel="100000"/>
                                        <p:tgtEl>
                                          <p:spTgt spid="21"/>
                                        </p:tgtEl>
                                        <p:attrNameLst>
                                          <p:attrName>ppt_h</p:attrName>
                                        </p:attrNameLst>
                                      </p:cBhvr>
                                      <p:tavLst>
                                        <p:tav tm="0">
                                          <p:val>
                                            <p:strVal val="#ppt_h*0.70"/>
                                          </p:val>
                                        </p:tav>
                                        <p:tav tm="100000">
                                          <p:val>
                                            <p:strVal val="#ppt_h"/>
                                          </p:val>
                                        </p:tav>
                                      </p:tavLst>
                                    </p:anim>
                                    <p:animEffect transition="in" filter="fade">
                                      <p:cBhvr>
                                        <p:cTn id="77" dur="500"/>
                                        <p:tgtEl>
                                          <p:spTgt spid="21"/>
                                        </p:tgtEl>
                                      </p:cBhvr>
                                    </p:animEffect>
                                  </p:childTnLst>
                                </p:cTn>
                              </p:par>
                              <p:par>
                                <p:cTn id="81" presetID="10" presetClass="entr" presetSubtype="0" fill="hold" grpId="0" nodeType="withEffect">
                                  <p:stCondLst>
                                    <p:cond delay="107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600"/>
                                        <p:tgtEl>
                                          <p:spTgt spid="20"/>
                                        </p:tgtEl>
                                      </p:cBhvr>
                                    </p:animEffect>
                                  </p:childTnLst>
                                </p:cTn>
                              </p:par>
                              <p:par>
                                <p:cTn id="84" presetID="10" presetClass="entr" presetSubtype="0" fill="hold" grpId="0" nodeType="withEffect">
                                  <p:stCondLst>
                                    <p:cond delay="1160"/>
                                  </p:stCondLst>
                                  <p:childTnLst>
                                    <p:set>
                                      <p:cBhvr>
                                        <p:cTn id="82" dur="1" fill="hold">
                                          <p:stCondLst>
                                            <p:cond delay="0"/>
                                          </p:stCondLst>
                                        </p:cTn>
                                        <p:tgtEl>
                                          <p:spTgt spid="22"/>
                                        </p:tgtEl>
                                        <p:attrNameLst>
                                          <p:attrName>style.visibility</p:attrName>
                                        </p:attrNameLst>
                                      </p:cBhvr>
                                      <p:to>
                                        <p:strVal val="visible"/>
                                      </p:to>
                                    </p:set>
                                    <p:animEffect transition="in" filter="fade">
                                      <p:cBhvr>
                                        <p:cTn id="83" dur="400"/>
                                        <p:tgtEl>
                                          <p:spTgt spid="22"/>
                                        </p:tgtEl>
                                      </p:cBhvr>
                                    </p:animEffect>
                                  </p:childTnLst>
                                </p:cTn>
                              </p:par>
                              <p:par>
                                <p:cTn id="89" presetID="42" presetClass="entr" presetSubtype="0" fill="hold" grpId="0" nodeType="withEffect">
                                  <p:stCondLst>
                                    <p:cond delay="116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600"/>
                                        <p:tgtEl>
                                          <p:spTgt spid="23"/>
                                        </p:tgtEl>
                                      </p:cBhvr>
                                    </p:animEffect>
                                    <p:anim calcmode="lin" valueType="num">
                                      <p:cBhvr>
                                        <p:cTn id="87" dur="600" fill="hold" decel="100000"/>
                                        <p:tgtEl>
                                          <p:spTgt spid="23"/>
                                        </p:tgtEl>
                                        <p:attrNameLst>
                                          <p:attrName>ppt_x</p:attrName>
                                        </p:attrNameLst>
                                      </p:cBhvr>
                                      <p:tavLst>
                                        <p:tav tm="0">
                                          <p:val>
                                            <p:strVal val="#ppt_x"/>
                                          </p:val>
                                        </p:tav>
                                        <p:tav tm="100000">
                                          <p:val>
                                            <p:strVal val="#ppt_x"/>
                                          </p:val>
                                        </p:tav>
                                      </p:tavLst>
                                    </p:anim>
                                    <p:anim calcmode="lin" valueType="num">
                                      <p:cBhvr>
                                        <p:cTn id="88" dur="600" fill="hold" decel="100000"/>
                                        <p:tgtEl>
                                          <p:spTgt spid="23"/>
                                        </p:tgtEl>
                                        <p:attrNameLst>
                                          <p:attrName>ppt_y</p:attrName>
                                        </p:attrNameLst>
                                      </p:cBhvr>
                                      <p:tavLst>
                                        <p:tav tm="0">
                                          <p:val>
                                            <p:strVal val="#ppt_y+0.04"/>
                                          </p:val>
                                        </p:tav>
                                        <p:tav tm="100000">
                                          <p:val>
                                            <p:strVal val="#ppt_y"/>
                                          </p:val>
                                        </p:tav>
                                      </p:tavLst>
                                    </p:anim>
                                  </p:childTnLst>
                                </p:cTn>
                              </p:par>
                              <p:par>
                                <p:cTn id="94" presetID="53" presetClass="entr" presetSubtype="16" fill="hold" grpId="0" nodeType="withEffect">
                                  <p:stCondLst>
                                    <p:cond delay="1250"/>
                                  </p:stCondLst>
                                  <p:childTnLst>
                                    <p:set>
                                      <p:cBhvr>
                                        <p:cTn id="90" dur="1" fill="hold">
                                          <p:stCondLst>
                                            <p:cond delay="0"/>
                                          </p:stCondLst>
                                        </p:cTn>
                                        <p:tgtEl>
                                          <p:spTgt spid="25"/>
                                        </p:tgtEl>
                                        <p:attrNameLst>
                                          <p:attrName>style.visibility</p:attrName>
                                        </p:attrNameLst>
                                      </p:cBhvr>
                                      <p:to>
                                        <p:strVal val="visible"/>
                                      </p:to>
                                    </p:set>
                                    <p:anim calcmode="lin" valueType="num">
                                      <p:cBhvr>
                                        <p:cTn id="91" dur="500" fill="hold" decel="100000"/>
                                        <p:tgtEl>
                                          <p:spTgt spid="25"/>
                                        </p:tgtEl>
                                        <p:attrNameLst>
                                          <p:attrName>ppt_w</p:attrName>
                                        </p:attrNameLst>
                                      </p:cBhvr>
                                      <p:tavLst>
                                        <p:tav tm="0">
                                          <p:val>
                                            <p:strVal val="#ppt_w*0.70"/>
                                          </p:val>
                                        </p:tav>
                                        <p:tav tm="100000">
                                          <p:val>
                                            <p:strVal val="#ppt_w"/>
                                          </p:val>
                                        </p:tav>
                                      </p:tavLst>
                                    </p:anim>
                                    <p:anim calcmode="lin" valueType="num">
                                      <p:cBhvr>
                                        <p:cTn id="92" dur="500" fill="hold" decel="100000"/>
                                        <p:tgtEl>
                                          <p:spTgt spid="25"/>
                                        </p:tgtEl>
                                        <p:attrNameLst>
                                          <p:attrName>ppt_h</p:attrName>
                                        </p:attrNameLst>
                                      </p:cBhvr>
                                      <p:tavLst>
                                        <p:tav tm="0">
                                          <p:val>
                                            <p:strVal val="#ppt_h*0.70"/>
                                          </p:val>
                                        </p:tav>
                                        <p:tav tm="100000">
                                          <p:val>
                                            <p:strVal val="#ppt_h"/>
                                          </p:val>
                                        </p:tav>
                                      </p:tavLst>
                                    </p:anim>
                                    <p:animEffect transition="in" filter="fade">
                                      <p:cBhvr>
                                        <p:cTn id="93" dur="500"/>
                                        <p:tgtEl>
                                          <p:spTgt spid="25"/>
                                        </p:tgtEl>
                                      </p:cBhvr>
                                    </p:animEffect>
                                  </p:childTnLst>
                                </p:cTn>
                              </p:par>
                              <p:par>
                                <p:cTn id="97" presetID="10" presetClass="entr" presetSubtype="0" fill="hold" grpId="0" nodeType="withEffect">
                                  <p:stCondLst>
                                    <p:cond delay="126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600"/>
                                        <p:tgtEl>
                                          <p:spTgt spid="24"/>
                                        </p:tgtEl>
                                      </p:cBhvr>
                                    </p:animEffect>
                                  </p:childTnLst>
                                </p:cTn>
                              </p:par>
                              <p:par>
                                <p:cTn id="100" presetID="10" presetClass="entr" presetSubtype="0" fill="hold" grpId="0" nodeType="withEffect">
                                  <p:stCondLst>
                                    <p:cond delay="135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400"/>
                                        <p:tgtEl>
                                          <p:spTgt spid="26"/>
                                        </p:tgtEl>
                                      </p:cBhvr>
                                    </p:animEffect>
                                  </p:childTnLst>
                                </p:cTn>
                              </p:par>
                              <p:par>
                                <p:cTn id="105" presetID="42" presetClass="entr" presetSubtype="0" fill="hold" grpId="0" nodeType="withEffect">
                                  <p:stCondLst>
                                    <p:cond delay="135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600"/>
                                        <p:tgtEl>
                                          <p:spTgt spid="27"/>
                                        </p:tgtEl>
                                      </p:cBhvr>
                                    </p:animEffect>
                                    <p:anim calcmode="lin" valueType="num">
                                      <p:cBhvr>
                                        <p:cTn id="103" dur="600" fill="hold" decel="100000"/>
                                        <p:tgtEl>
                                          <p:spTgt spid="27"/>
                                        </p:tgtEl>
                                        <p:attrNameLst>
                                          <p:attrName>ppt_x</p:attrName>
                                        </p:attrNameLst>
                                      </p:cBhvr>
                                      <p:tavLst>
                                        <p:tav tm="0">
                                          <p:val>
                                            <p:strVal val="#ppt_x"/>
                                          </p:val>
                                        </p:tav>
                                        <p:tav tm="100000">
                                          <p:val>
                                            <p:strVal val="#ppt_x"/>
                                          </p:val>
                                        </p:tav>
                                      </p:tavLst>
                                    </p:anim>
                                    <p:anim calcmode="lin" valueType="num">
                                      <p:cBhvr>
                                        <p:cTn id="104" dur="600" fill="hold" decel="100000"/>
                                        <p:tgtEl>
                                          <p:spTgt spid="27"/>
                                        </p:tgtEl>
                                        <p:attrNameLst>
                                          <p:attrName>ppt_y</p:attrName>
                                        </p:attrNameLst>
                                      </p:cBhvr>
                                      <p:tavLst>
                                        <p:tav tm="0">
                                          <p:val>
                                            <p:strVal val="#ppt_y+0.04"/>
                                          </p:val>
                                        </p:tav>
                                        <p:tav tm="100000">
                                          <p:val>
                                            <p:strVal val="#ppt_y"/>
                                          </p:val>
                                        </p:tav>
                                      </p:tavLst>
                                    </p:anim>
                                  </p:childTnLst>
                                </p:cTn>
                              </p:par>
                              <p:par>
                                <p:cTn id="110" presetID="53" presetClass="entr" presetSubtype="16" fill="hold" grpId="0" nodeType="withEffect">
                                  <p:stCondLst>
                                    <p:cond delay="1440"/>
                                  </p:stCondLst>
                                  <p:childTnLst>
                                    <p:set>
                                      <p:cBhvr>
                                        <p:cTn id="106" dur="1" fill="hold">
                                          <p:stCondLst>
                                            <p:cond delay="0"/>
                                          </p:stCondLst>
                                        </p:cTn>
                                        <p:tgtEl>
                                          <p:spTgt spid="29"/>
                                        </p:tgtEl>
                                        <p:attrNameLst>
                                          <p:attrName>style.visibility</p:attrName>
                                        </p:attrNameLst>
                                      </p:cBhvr>
                                      <p:to>
                                        <p:strVal val="visible"/>
                                      </p:to>
                                    </p:set>
                                    <p:anim calcmode="lin" valueType="num">
                                      <p:cBhvr>
                                        <p:cTn id="107" dur="500" fill="hold" decel="100000"/>
                                        <p:tgtEl>
                                          <p:spTgt spid="29"/>
                                        </p:tgtEl>
                                        <p:attrNameLst>
                                          <p:attrName>ppt_w</p:attrName>
                                        </p:attrNameLst>
                                      </p:cBhvr>
                                      <p:tavLst>
                                        <p:tav tm="0">
                                          <p:val>
                                            <p:strVal val="#ppt_w*0.70"/>
                                          </p:val>
                                        </p:tav>
                                        <p:tav tm="100000">
                                          <p:val>
                                            <p:strVal val="#ppt_w"/>
                                          </p:val>
                                        </p:tav>
                                      </p:tavLst>
                                    </p:anim>
                                    <p:anim calcmode="lin" valueType="num">
                                      <p:cBhvr>
                                        <p:cTn id="108" dur="500" fill="hold" decel="100000"/>
                                        <p:tgtEl>
                                          <p:spTgt spid="29"/>
                                        </p:tgtEl>
                                        <p:attrNameLst>
                                          <p:attrName>ppt_h</p:attrName>
                                        </p:attrNameLst>
                                      </p:cBhvr>
                                      <p:tavLst>
                                        <p:tav tm="0">
                                          <p:val>
                                            <p:strVal val="#ppt_h*0.70"/>
                                          </p:val>
                                        </p:tav>
                                        <p:tav tm="100000">
                                          <p:val>
                                            <p:strVal val="#ppt_h"/>
                                          </p:val>
                                        </p:tav>
                                      </p:tavLst>
                                    </p:anim>
                                    <p:animEffect transition="in" filter="fade">
                                      <p:cBhvr>
                                        <p:cTn id="109" dur="500"/>
                                        <p:tgtEl>
                                          <p:spTgt spid="29"/>
                                        </p:tgtEl>
                                      </p:cBhvr>
                                    </p:animEffect>
                                  </p:childTnLst>
                                </p:cTn>
                              </p:par>
                              <p:par>
                                <p:cTn id="113" presetID="10" presetClass="entr" presetSubtype="0" fill="hold" grpId="0" nodeType="withEffect">
                                  <p:stCondLst>
                                    <p:cond delay="145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600"/>
                                        <p:tgtEl>
                                          <p:spTgt spid="28"/>
                                        </p:tgtEl>
                                      </p:cBhvr>
                                    </p:animEffect>
                                  </p:childTnLst>
                                </p:cTn>
                              </p:par>
                              <p:par>
                                <p:cTn id="116" presetID="10" presetClass="entr" presetSubtype="0" fill="hold" grpId="0" nodeType="withEffect">
                                  <p:stCondLst>
                                    <p:cond delay="1540"/>
                                  </p:stCondLst>
                                  <p:childTnLst>
                                    <p:set>
                                      <p:cBhvr>
                                        <p:cTn id="114" dur="1" fill="hold">
                                          <p:stCondLst>
                                            <p:cond delay="0"/>
                                          </p:stCondLst>
                                        </p:cTn>
                                        <p:tgtEl>
                                          <p:spTgt spid="30"/>
                                        </p:tgtEl>
                                        <p:attrNameLst>
                                          <p:attrName>style.visibility</p:attrName>
                                        </p:attrNameLst>
                                      </p:cBhvr>
                                      <p:to>
                                        <p:strVal val="visible"/>
                                      </p:to>
                                    </p:set>
                                    <p:animEffect transition="in" filter="fade">
                                      <p:cBhvr>
                                        <p:cTn id="115" dur="400"/>
                                        <p:tgtEl>
                                          <p:spTgt spid="30"/>
                                        </p:tgtEl>
                                      </p:cBhvr>
                                    </p:animEffect>
                                  </p:childTnLst>
                                </p:cTn>
                              </p:par>
                              <p:par>
                                <p:cTn id="121" presetID="42" presetClass="entr" presetSubtype="0" fill="hold" grpId="0" nodeType="withEffect">
                                  <p:stCondLst>
                                    <p:cond delay="154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600"/>
                                        <p:tgtEl>
                                          <p:spTgt spid="31"/>
                                        </p:tgtEl>
                                      </p:cBhvr>
                                    </p:animEffect>
                                    <p:anim calcmode="lin" valueType="num">
                                      <p:cBhvr>
                                        <p:cTn id="119" dur="600" fill="hold" decel="100000"/>
                                        <p:tgtEl>
                                          <p:spTgt spid="31"/>
                                        </p:tgtEl>
                                        <p:attrNameLst>
                                          <p:attrName>ppt_x</p:attrName>
                                        </p:attrNameLst>
                                      </p:cBhvr>
                                      <p:tavLst>
                                        <p:tav tm="0">
                                          <p:val>
                                            <p:strVal val="#ppt_x"/>
                                          </p:val>
                                        </p:tav>
                                        <p:tav tm="100000">
                                          <p:val>
                                            <p:strVal val="#ppt_x"/>
                                          </p:val>
                                        </p:tav>
                                      </p:tavLst>
                                    </p:anim>
                                    <p:anim calcmode="lin" valueType="num">
                                      <p:cBhvr>
                                        <p:cTn id="120" dur="600" fill="hold" decel="100000"/>
                                        <p:tgtEl>
                                          <p:spTgt spid="31"/>
                                        </p:tgtEl>
                                        <p:attrNameLst>
                                          <p:attrName>ppt_y</p:attrName>
                                        </p:attrNameLst>
                                      </p:cBhvr>
                                      <p:tavLst>
                                        <p:tav tm="0">
                                          <p:val>
                                            <p:strVal val="#ppt_y+0.04"/>
                                          </p:val>
                                        </p:tav>
                                        <p:tav tm="100000">
                                          <p:val>
                                            <p:strVal val="#ppt_y"/>
                                          </p:val>
                                        </p:tav>
                                      </p:tavLst>
                                    </p:anim>
                                  </p:childTnLst>
                                </p:cTn>
                              </p:par>
                              <p:par>
                                <p:cTn id="126" presetID="53" presetClass="entr" presetSubtype="16" fill="hold" grpId="0" nodeType="withEffect">
                                  <p:stCondLst>
                                    <p:cond delay="1630"/>
                                  </p:stCondLst>
                                  <p:childTnLst>
                                    <p:set>
                                      <p:cBhvr>
                                        <p:cTn id="122" dur="1" fill="hold">
                                          <p:stCondLst>
                                            <p:cond delay="0"/>
                                          </p:stCondLst>
                                        </p:cTn>
                                        <p:tgtEl>
                                          <p:spTgt spid="33"/>
                                        </p:tgtEl>
                                        <p:attrNameLst>
                                          <p:attrName>style.visibility</p:attrName>
                                        </p:attrNameLst>
                                      </p:cBhvr>
                                      <p:to>
                                        <p:strVal val="visible"/>
                                      </p:to>
                                    </p:set>
                                    <p:anim calcmode="lin" valueType="num">
                                      <p:cBhvr>
                                        <p:cTn id="123" dur="500" fill="hold" decel="100000"/>
                                        <p:tgtEl>
                                          <p:spTgt spid="33"/>
                                        </p:tgtEl>
                                        <p:attrNameLst>
                                          <p:attrName>ppt_w</p:attrName>
                                        </p:attrNameLst>
                                      </p:cBhvr>
                                      <p:tavLst>
                                        <p:tav tm="0">
                                          <p:val>
                                            <p:strVal val="#ppt_w*0.70"/>
                                          </p:val>
                                        </p:tav>
                                        <p:tav tm="100000">
                                          <p:val>
                                            <p:strVal val="#ppt_w"/>
                                          </p:val>
                                        </p:tav>
                                      </p:tavLst>
                                    </p:anim>
                                    <p:anim calcmode="lin" valueType="num">
                                      <p:cBhvr>
                                        <p:cTn id="124" dur="500" fill="hold" decel="100000"/>
                                        <p:tgtEl>
                                          <p:spTgt spid="33"/>
                                        </p:tgtEl>
                                        <p:attrNameLst>
                                          <p:attrName>ppt_h</p:attrName>
                                        </p:attrNameLst>
                                      </p:cBhvr>
                                      <p:tavLst>
                                        <p:tav tm="0">
                                          <p:val>
                                            <p:strVal val="#ppt_h*0.70"/>
                                          </p:val>
                                        </p:tav>
                                        <p:tav tm="100000">
                                          <p:val>
                                            <p:strVal val="#ppt_h"/>
                                          </p:val>
                                        </p:tav>
                                      </p:tavLst>
                                    </p:anim>
                                    <p:animEffect transition="in" filter="fade">
                                      <p:cBhvr>
                                        <p:cTn id="125" dur="500"/>
                                        <p:tgtEl>
                                          <p:spTgt spid="33"/>
                                        </p:tgtEl>
                                      </p:cBhvr>
                                    </p:animEffect>
                                  </p:childTnLst>
                                </p:cTn>
                              </p:par>
                              <p:par>
                                <p:cTn id="129" presetID="10" presetClass="entr" presetSubtype="0" fill="hold" grpId="0" nodeType="withEffect">
                                  <p:stCondLst>
                                    <p:cond delay="1640"/>
                                  </p:stCondLst>
                                  <p:childTnLst>
                                    <p:set>
                                      <p:cBhvr>
                                        <p:cTn id="127" dur="1" fill="hold">
                                          <p:stCondLst>
                                            <p:cond delay="0"/>
                                          </p:stCondLst>
                                        </p:cTn>
                                        <p:tgtEl>
                                          <p:spTgt spid="32"/>
                                        </p:tgtEl>
                                        <p:attrNameLst>
                                          <p:attrName>style.visibility</p:attrName>
                                        </p:attrNameLst>
                                      </p:cBhvr>
                                      <p:to>
                                        <p:strVal val="visible"/>
                                      </p:to>
                                    </p:set>
                                    <p:animEffect transition="in" filter="fade">
                                      <p:cBhvr>
                                        <p:cTn id="128" dur="600"/>
                                        <p:tgtEl>
                                          <p:spTgt spid="32"/>
                                        </p:tgtEl>
                                      </p:cBhvr>
                                    </p:animEffect>
                                  </p:childTnLst>
                                </p:cTn>
                              </p:par>
                              <p:par>
                                <p:cTn id="132" presetID="10" presetClass="entr" presetSubtype="0" fill="hold" grpId="0" nodeType="withEffect">
                                  <p:stCondLst>
                                    <p:cond delay="173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400"/>
                                        <p:tgtEl>
                                          <p:spTgt spid="34"/>
                                        </p:tgtEl>
                                      </p:cBhvr>
                                    </p:animEffect>
                                  </p:childTnLst>
                                </p:cTn>
                              </p:par>
                              <p:par>
                                <p:cTn id="137" presetID="42" presetClass="entr" presetSubtype="0" fill="hold" grpId="0" nodeType="withEffect">
                                  <p:stCondLst>
                                    <p:cond delay="173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600"/>
                                        <p:tgtEl>
                                          <p:spTgt spid="35"/>
                                        </p:tgtEl>
                                      </p:cBhvr>
                                    </p:animEffect>
                                    <p:anim calcmode="lin" valueType="num">
                                      <p:cBhvr>
                                        <p:cTn id="135" dur="600" fill="hold" decel="100000"/>
                                        <p:tgtEl>
                                          <p:spTgt spid="35"/>
                                        </p:tgtEl>
                                        <p:attrNameLst>
                                          <p:attrName>ppt_x</p:attrName>
                                        </p:attrNameLst>
                                      </p:cBhvr>
                                      <p:tavLst>
                                        <p:tav tm="0">
                                          <p:val>
                                            <p:strVal val="#ppt_x"/>
                                          </p:val>
                                        </p:tav>
                                        <p:tav tm="100000">
                                          <p:val>
                                            <p:strVal val="#ppt_x"/>
                                          </p:val>
                                        </p:tav>
                                      </p:tavLst>
                                    </p:anim>
                                    <p:anim calcmode="lin" valueType="num">
                                      <p:cBhvr>
                                        <p:cTn id="136" dur="600" fill="hold" decel="100000"/>
                                        <p:tgtEl>
                                          <p:spTgt spid="35"/>
                                        </p:tgtEl>
                                        <p:attrNameLst>
                                          <p:attrName>ppt_y</p:attrName>
                                        </p:attrNameLst>
                                      </p:cBhvr>
                                      <p:tavLst>
                                        <p:tav tm="0">
                                          <p:val>
                                            <p:strVal val="#ppt_y+0.04"/>
                                          </p:val>
                                        </p:tav>
                                        <p:tav tm="100000">
                                          <p:val>
                                            <p:strVal val="#ppt_y"/>
                                          </p:val>
                                        </p:tav>
                                      </p:tavLst>
                                    </p:anim>
                                  </p:childTnLst>
                                </p:cTn>
                              </p:par>
                              <p:par>
                                <p:cTn id="142" presetID="53" presetClass="entr" presetSubtype="16" fill="hold" grpId="0" nodeType="withEffect">
                                  <p:stCondLst>
                                    <p:cond delay="1820"/>
                                  </p:stCondLst>
                                  <p:childTnLst>
                                    <p:set>
                                      <p:cBhvr>
                                        <p:cTn id="138" dur="1" fill="hold">
                                          <p:stCondLst>
                                            <p:cond delay="0"/>
                                          </p:stCondLst>
                                        </p:cTn>
                                        <p:tgtEl>
                                          <p:spTgt spid="37"/>
                                        </p:tgtEl>
                                        <p:attrNameLst>
                                          <p:attrName>style.visibility</p:attrName>
                                        </p:attrNameLst>
                                      </p:cBhvr>
                                      <p:to>
                                        <p:strVal val="visible"/>
                                      </p:to>
                                    </p:set>
                                    <p:anim calcmode="lin" valueType="num">
                                      <p:cBhvr>
                                        <p:cTn id="139" dur="500" fill="hold" decel="100000"/>
                                        <p:tgtEl>
                                          <p:spTgt spid="37"/>
                                        </p:tgtEl>
                                        <p:attrNameLst>
                                          <p:attrName>ppt_w</p:attrName>
                                        </p:attrNameLst>
                                      </p:cBhvr>
                                      <p:tavLst>
                                        <p:tav tm="0">
                                          <p:val>
                                            <p:strVal val="#ppt_w*0.70"/>
                                          </p:val>
                                        </p:tav>
                                        <p:tav tm="100000">
                                          <p:val>
                                            <p:strVal val="#ppt_w"/>
                                          </p:val>
                                        </p:tav>
                                      </p:tavLst>
                                    </p:anim>
                                    <p:anim calcmode="lin" valueType="num">
                                      <p:cBhvr>
                                        <p:cTn id="140" dur="500" fill="hold" decel="100000"/>
                                        <p:tgtEl>
                                          <p:spTgt spid="37"/>
                                        </p:tgtEl>
                                        <p:attrNameLst>
                                          <p:attrName>ppt_h</p:attrName>
                                        </p:attrNameLst>
                                      </p:cBhvr>
                                      <p:tavLst>
                                        <p:tav tm="0">
                                          <p:val>
                                            <p:strVal val="#ppt_h*0.70"/>
                                          </p:val>
                                        </p:tav>
                                        <p:tav tm="100000">
                                          <p:val>
                                            <p:strVal val="#ppt_h"/>
                                          </p:val>
                                        </p:tav>
                                      </p:tavLst>
                                    </p:anim>
                                    <p:animEffect transition="in" filter="fade">
                                      <p:cBhvr>
                                        <p:cTn id="141" dur="500"/>
                                        <p:tgtEl>
                                          <p:spTgt spid="37"/>
                                        </p:tgtEl>
                                      </p:cBhvr>
                                    </p:animEffect>
                                  </p:childTnLst>
                                </p:cTn>
                              </p:par>
                              <p:par>
                                <p:cTn id="145" presetID="10" presetClass="entr" presetSubtype="0" fill="hold" grpId="0" nodeType="withEffect">
                                  <p:stCondLst>
                                    <p:cond delay="1830"/>
                                  </p:stCondLst>
                                  <p:childTnLst>
                                    <p:set>
                                      <p:cBhvr>
                                        <p:cTn id="143" dur="1" fill="hold">
                                          <p:stCondLst>
                                            <p:cond delay="0"/>
                                          </p:stCondLst>
                                        </p:cTn>
                                        <p:tgtEl>
                                          <p:spTgt spid="36"/>
                                        </p:tgtEl>
                                        <p:attrNameLst>
                                          <p:attrName>style.visibility</p:attrName>
                                        </p:attrNameLst>
                                      </p:cBhvr>
                                      <p:to>
                                        <p:strVal val="visible"/>
                                      </p:to>
                                    </p:set>
                                    <p:animEffect transition="in" filter="fade">
                                      <p:cBhvr>
                                        <p:cTn id="144" dur="600"/>
                                        <p:tgtEl>
                                          <p:spTgt spid="36"/>
                                        </p:tgtEl>
                                      </p:cBhvr>
                                    </p:animEffect>
                                  </p:childTnLst>
                                </p:cTn>
                              </p:par>
                              <p:par>
                                <p:cTn id="148" presetID="10" presetClass="entr" presetSubtype="0" fill="hold" grpId="0" nodeType="withEffect">
                                  <p:stCondLst>
                                    <p:cond delay="1920"/>
                                  </p:stCondLst>
                                  <p:childTnLst>
                                    <p:set>
                                      <p:cBhvr>
                                        <p:cTn id="146" dur="1" fill="hold">
                                          <p:stCondLst>
                                            <p:cond delay="0"/>
                                          </p:stCondLst>
                                        </p:cTn>
                                        <p:tgtEl>
                                          <p:spTgt spid="38"/>
                                        </p:tgtEl>
                                        <p:attrNameLst>
                                          <p:attrName>style.visibility</p:attrName>
                                        </p:attrNameLst>
                                      </p:cBhvr>
                                      <p:to>
                                        <p:strVal val="visible"/>
                                      </p:to>
                                    </p:set>
                                    <p:animEffect transition="in" filter="fade">
                                      <p:cBhvr>
                                        <p:cTn id="147" dur="400"/>
                                        <p:tgtEl>
                                          <p:spTgt spid="38"/>
                                        </p:tgtEl>
                                      </p:cBhvr>
                                    </p:animEffect>
                                  </p:childTnLst>
                                </p:cTn>
                              </p:par>
                              <p:par>
                                <p:cTn id="153" presetID="42" presetClass="entr" presetSubtype="0" fill="hold" grpId="0" nodeType="withEffect">
                                  <p:stCondLst>
                                    <p:cond delay="192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600"/>
                                        <p:tgtEl>
                                          <p:spTgt spid="39"/>
                                        </p:tgtEl>
                                      </p:cBhvr>
                                    </p:animEffect>
                                    <p:anim calcmode="lin" valueType="num">
                                      <p:cBhvr>
                                        <p:cTn id="151" dur="600" fill="hold" decel="100000"/>
                                        <p:tgtEl>
                                          <p:spTgt spid="39"/>
                                        </p:tgtEl>
                                        <p:attrNameLst>
                                          <p:attrName>ppt_x</p:attrName>
                                        </p:attrNameLst>
                                      </p:cBhvr>
                                      <p:tavLst>
                                        <p:tav tm="0">
                                          <p:val>
                                            <p:strVal val="#ppt_x"/>
                                          </p:val>
                                        </p:tav>
                                        <p:tav tm="100000">
                                          <p:val>
                                            <p:strVal val="#ppt_x"/>
                                          </p:val>
                                        </p:tav>
                                      </p:tavLst>
                                    </p:anim>
                                    <p:anim calcmode="lin" valueType="num">
                                      <p:cBhvr>
                                        <p:cTn id="152" dur="600" fill="hold" decel="100000"/>
                                        <p:tgtEl>
                                          <p:spTgt spid="39"/>
                                        </p:tgtEl>
                                        <p:attrNameLst>
                                          <p:attrName>ppt_y</p:attrName>
                                        </p:attrNameLst>
                                      </p:cBhvr>
                                      <p:tavLst>
                                        <p:tav tm="0">
                                          <p:val>
                                            <p:strVal val="#ppt_y+0.04"/>
                                          </p:val>
                                        </p:tav>
                                        <p:tav tm="100000">
                                          <p:val>
                                            <p:strVal val="#ppt_y"/>
                                          </p:val>
                                        </p:tav>
                                      </p:tavLst>
                                    </p:anim>
                                  </p:childTnLst>
                                </p:cTn>
                              </p:par>
                              <p:par>
                                <p:cTn id="156" presetID="10" presetClass="entr" presetSubtype="0" fill="hold" grpId="0" nodeType="withEffect">
                                  <p:stCondLst>
                                    <p:cond delay="2020"/>
                                  </p:stCondLst>
                                  <p:childTnLst>
                                    <p:set>
                                      <p:cBhvr>
                                        <p:cTn id="154" dur="1" fill="hold">
                                          <p:stCondLst>
                                            <p:cond delay="0"/>
                                          </p:stCondLst>
                                        </p:cTn>
                                        <p:tgtEl>
                                          <p:spTgt spid="40"/>
                                        </p:tgtEl>
                                        <p:attrNameLst>
                                          <p:attrName>style.visibility</p:attrName>
                                        </p:attrNameLst>
                                      </p:cBhvr>
                                      <p:to>
                                        <p:strVal val="visible"/>
                                      </p:to>
                                    </p:set>
                                    <p:animEffect transition="in" filter="fade">
                                      <p:cBhvr>
                                        <p:cTn id="155" dur="6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8" grpId="0" animBg="1"/>
      <p:bldP spid="10" grpId="0" animBg="1"/>
      <p:bldP spid="11" grpId="0" animBg="1"/>
      <p:bldP spid="13" grpId="0" animBg="1"/>
      <p:bldP spid="12" grpId="0" animBg="1"/>
      <p:bldP spid="14" grpId="0" animBg="1"/>
      <p:bldP spid="15" grpId="0" animBg="1"/>
      <p:bldP spid="17" grpId="0" animBg="1"/>
      <p:bldP spid="16" grpId="0" animBg="1"/>
      <p:bldP spid="18" grpId="0" animBg="1"/>
      <p:bldP spid="19" grpId="0" animBg="1"/>
      <p:bldP spid="21" grpId="0" animBg="1"/>
      <p:bldP spid="20" grpId="0" animBg="1"/>
      <p:bldP spid="22" grpId="0" animBg="1"/>
      <p:bldP spid="23" grpId="0" animBg="1"/>
      <p:bldP spid="25" grpId="0" animBg="1"/>
      <p:bldP spid="24" grpId="0" animBg="1"/>
      <p:bldP spid="26" grpId="0" animBg="1"/>
      <p:bldP spid="27" grpId="0" animBg="1"/>
      <p:bldP spid="29" grpId="0" animBg="1"/>
      <p:bldP spid="28" grpId="0" animBg="1"/>
      <p:bldP spid="30" grpId="0" animBg="1"/>
      <p:bldP spid="31" grpId="0" animBg="1"/>
      <p:bldP spid="33" grpId="0" animBg="1"/>
      <p:bldP spid="32" grpId="0" animBg="1"/>
      <p:bldP spid="34" grpId="0" animBg="1"/>
      <p:bldP spid="35" grpId="0" animBg="1"/>
      <p:bldP spid="37" grpId="0" animBg="1"/>
      <p:bldP spid="36" grpId="0" animBg="1"/>
      <p:bldP spid="38" grpId="0" animBg="1"/>
      <p:bldP spid="39" grpId="0" animBg="1"/>
      <p:bldP spid="40" grpId="0" animBg="1"/>
    </p:bldLst>
  </p:timing>
</p:sld>
</file>

<file path=ppt/slides/slide6.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y1991"/>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1991 — THE OIL FIRES</a:t>
            </a:r>
            <a:endParaRPr lang="en-US" sz="1500" dirty="0"/>
          </a:p>
        </p:txBody>
      </p:sp>
      <p:sp>
        <p:nvSpPr>
          <p:cNvPr id="3" name="fire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When the desert burned</a:t>
            </a:r>
            <a:endParaRPr lang="en-US" sz="3800" dirty="0"/>
          </a:p>
        </p:txBody>
      </p:sp>
      <p:sp>
        <p:nvSpPr>
          <p:cNvPr id="4" name="fires_t_1"/>
          <p:cNvSpPr txBox="1"/>
          <p:nvPr/>
        </p:nvSpPr>
        <p:spPr>
          <a:xfrm>
            <a:off x="548640" y="1783080"/>
            <a:ext cx="5669280" cy="1828800"/>
          </a:xfrm>
          <a:prstGeom prst="rect">
            <a:avLst/>
          </a:prstGeom>
          <a:noFill/>
          <a:ln/>
        </p:spPr>
        <p:txBody>
          <a:bodyPr wrap="square" lIns="0" tIns="0" rIns="0" bIns="0" rtlCol="0" anchor="t"/>
          <a:lstStyle/>
          <a:p>
            <a:pPr indent="0" marL="0">
              <a:buNone/>
            </a:pPr>
            <a:r>
              <a:rPr lang="en-US" sz="15000" b="1" dirty="0">
                <a:solidFill>
                  <a:schemeClr val="tx1"/>
                </a:solidFill>
                <a:latin typeface="Arial" pitchFamily="34" charset="0"/>
                <a:ea typeface="Arial" pitchFamily="34" charset="-122"/>
                <a:cs typeface="Arial" pitchFamily="34" charset="-120"/>
              </a:rPr>
              <a:t>700+</a:t>
            </a:r>
            <a:endParaRPr lang="en-US" sz="15000" dirty="0"/>
          </a:p>
        </p:txBody>
      </p:sp>
      <p:sp>
        <p:nvSpPr>
          <p:cNvPr id="5" name="fires_t_2"/>
          <p:cNvSpPr txBox="1"/>
          <p:nvPr/>
        </p:nvSpPr>
        <p:spPr>
          <a:xfrm>
            <a:off x="548640" y="3703320"/>
            <a:ext cx="5120640" cy="86868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oil wells set ablaze by retreating Iraqi forces in February 1991</a:t>
            </a:r>
            <a:endParaRPr lang="en-US" sz="2200" dirty="0"/>
          </a:p>
        </p:txBody>
      </p:sp>
      <p:sp>
        <p:nvSpPr>
          <p:cNvPr id="6" name="fires_t_3"/>
          <p:cNvSpPr txBox="1"/>
          <p:nvPr/>
        </p:nvSpPr>
        <p:spPr>
          <a:xfrm>
            <a:off x="6675120" y="1828800"/>
            <a:ext cx="4937760" cy="640080"/>
          </a:xfrm>
          <a:prstGeom prst="rect">
            <a:avLst/>
          </a:prstGeom>
          <a:noFill/>
          <a:ln/>
        </p:spPr>
        <p:txBody>
          <a:bodyPr wrap="square" lIns="0" tIns="0" rIns="0" bIns="0" rtlCol="0" anchor="t"/>
          <a:lstStyle/>
          <a:p>
            <a:pPr indent="0" marL="0">
              <a:buNone/>
            </a:pPr>
            <a:r>
              <a:rPr lang="en-US" sz="4000" b="1" dirty="0">
                <a:solidFill>
                  <a:schemeClr val="accent4"/>
                </a:solidFill>
                <a:latin typeface="Arial" pitchFamily="34" charset="0"/>
                <a:ea typeface="Arial" pitchFamily="34" charset="-122"/>
                <a:cs typeface="Arial" pitchFamily="34" charset="-120"/>
              </a:rPr>
              <a:t>&gt; 1 billion</a:t>
            </a:r>
            <a:endParaRPr lang="en-US" sz="4000" dirty="0"/>
          </a:p>
        </p:txBody>
      </p:sp>
      <p:sp>
        <p:nvSpPr>
          <p:cNvPr id="7" name="fires_t_4"/>
          <p:cNvSpPr txBox="1"/>
          <p:nvPr/>
        </p:nvSpPr>
        <p:spPr>
          <a:xfrm>
            <a:off x="6675120" y="2450592"/>
            <a:ext cx="4937760" cy="411480"/>
          </a:xfrm>
          <a:prstGeom prst="rect">
            <a:avLst/>
          </a:prstGeom>
          <a:noFill/>
          <a:ln/>
        </p:spPr>
        <p:txBody>
          <a:bodyPr wrap="square" lIns="0" tIns="0" rIns="0" bIns="0" rtlCol="0" anchor="t"/>
          <a:lstStyle/>
          <a:p>
            <a:pPr indent="0" marL="0">
              <a:buNone/>
            </a:pPr>
            <a:r>
              <a:rPr lang="en-US" sz="1800" dirty="0">
                <a:solidFill>
                  <a:schemeClr val="tx2"/>
                </a:solidFill>
                <a:latin typeface="Arial" pitchFamily="34" charset="0"/>
                <a:ea typeface="Arial" pitchFamily="34" charset="-122"/>
                <a:cs typeface="Arial" pitchFamily="34" charset="-120"/>
              </a:rPr>
              <a:t>barrels of crude oil lost</a:t>
            </a:r>
            <a:endParaRPr lang="en-US" sz="1800" dirty="0"/>
          </a:p>
        </p:txBody>
      </p:sp>
      <p:sp>
        <p:nvSpPr>
          <p:cNvPr id="8" name="fires_t_5"/>
          <p:cNvSpPr txBox="1"/>
          <p:nvPr/>
        </p:nvSpPr>
        <p:spPr>
          <a:xfrm>
            <a:off x="6675120" y="3035808"/>
            <a:ext cx="4937760" cy="640080"/>
          </a:xfrm>
          <a:prstGeom prst="rect">
            <a:avLst/>
          </a:prstGeom>
          <a:noFill/>
          <a:ln/>
        </p:spPr>
        <p:txBody>
          <a:bodyPr wrap="square" lIns="0" tIns="0" rIns="0" bIns="0" rtlCol="0" anchor="t"/>
          <a:lstStyle/>
          <a:p>
            <a:pPr indent="0" marL="0">
              <a:buNone/>
            </a:pPr>
            <a:r>
              <a:rPr lang="en-US" sz="4000" b="1" dirty="0">
                <a:solidFill>
                  <a:schemeClr val="accent4"/>
                </a:solidFill>
                <a:latin typeface="Arial" pitchFamily="34" charset="0"/>
                <a:ea typeface="Arial" pitchFamily="34" charset="-122"/>
                <a:cs typeface="Arial" pitchFamily="34" charset="-120"/>
              </a:rPr>
              <a:t>4–6 million b/d</a:t>
            </a:r>
            <a:endParaRPr lang="en-US" sz="4000" dirty="0"/>
          </a:p>
        </p:txBody>
      </p:sp>
      <p:sp>
        <p:nvSpPr>
          <p:cNvPr id="9" name="fires_t_6"/>
          <p:cNvSpPr txBox="1"/>
          <p:nvPr/>
        </p:nvSpPr>
        <p:spPr>
          <a:xfrm>
            <a:off x="6675120" y="3657600"/>
            <a:ext cx="4937760" cy="411480"/>
          </a:xfrm>
          <a:prstGeom prst="rect">
            <a:avLst/>
          </a:prstGeom>
          <a:noFill/>
          <a:ln/>
        </p:spPr>
        <p:txBody>
          <a:bodyPr wrap="square" lIns="0" tIns="0" rIns="0" bIns="0" rtlCol="0" anchor="t"/>
          <a:lstStyle/>
          <a:p>
            <a:pPr indent="0" marL="0">
              <a:buNone/>
            </a:pPr>
            <a:r>
              <a:rPr lang="en-US" sz="1800" dirty="0">
                <a:solidFill>
                  <a:schemeClr val="tx2"/>
                </a:solidFill>
                <a:latin typeface="Arial" pitchFamily="34" charset="0"/>
                <a:ea typeface="Arial" pitchFamily="34" charset="-122"/>
                <a:cs typeface="Arial" pitchFamily="34" charset="-120"/>
              </a:rPr>
              <a:t>of oil burning at the peak</a:t>
            </a:r>
            <a:endParaRPr lang="en-US" sz="1800" dirty="0"/>
          </a:p>
        </p:txBody>
      </p:sp>
      <p:sp>
        <p:nvSpPr>
          <p:cNvPr id="10" name="fires_t_7"/>
          <p:cNvSpPr txBox="1"/>
          <p:nvPr/>
        </p:nvSpPr>
        <p:spPr>
          <a:xfrm>
            <a:off x="6675120" y="4242816"/>
            <a:ext cx="4937760" cy="64008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6 Nov 1991</a:t>
            </a:r>
            <a:endParaRPr lang="en-US" sz="4000" dirty="0"/>
          </a:p>
        </p:txBody>
      </p:sp>
      <p:sp>
        <p:nvSpPr>
          <p:cNvPr id="11" name="fires_t_8"/>
          <p:cNvSpPr txBox="1"/>
          <p:nvPr/>
        </p:nvSpPr>
        <p:spPr>
          <a:xfrm>
            <a:off x="6675120" y="4864608"/>
            <a:ext cx="4937760" cy="411480"/>
          </a:xfrm>
          <a:prstGeom prst="rect">
            <a:avLst/>
          </a:prstGeom>
          <a:noFill/>
          <a:ln/>
        </p:spPr>
        <p:txBody>
          <a:bodyPr wrap="square" lIns="0" tIns="0" rIns="0" bIns="0" rtlCol="0" anchor="t"/>
          <a:lstStyle/>
          <a:p>
            <a:pPr indent="0" marL="0">
              <a:buNone/>
            </a:pPr>
            <a:r>
              <a:rPr lang="en-US" sz="1800" dirty="0">
                <a:solidFill>
                  <a:schemeClr val="tx2"/>
                </a:solidFill>
                <a:latin typeface="Arial" pitchFamily="34" charset="0"/>
                <a:ea typeface="Arial" pitchFamily="34" charset="-122"/>
                <a:cs typeface="Arial" pitchFamily="34" charset="-120"/>
              </a:rPr>
              <a:t>last fire capped: Burgan well 118</a:t>
            </a:r>
            <a:endParaRPr lang="en-US" sz="1800" dirty="0"/>
          </a:p>
        </p:txBody>
      </p:sp>
      <p:sp>
        <p:nvSpPr>
          <p:cNvPr id="12" name="fires_t_9"/>
          <p:cNvSpPr txBox="1"/>
          <p:nvPr/>
        </p:nvSpPr>
        <p:spPr>
          <a:xfrm>
            <a:off x="548640" y="4983480"/>
            <a:ext cx="5760720" cy="73152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Recovery: </a:t>
            </a:r>
            <a:pPr indent="0" marL="0">
              <a:buNone/>
            </a:pPr>
            <a:r>
              <a:rPr lang="en-US" sz="1700" dirty="0">
                <a:solidFill>
                  <a:schemeClr val="tx2"/>
                </a:solidFill>
                <a:latin typeface="Arial" pitchFamily="34" charset="0"/>
                <a:ea typeface="Arial" pitchFamily="34" charset="-122"/>
                <a:cs typeface="Arial" pitchFamily="34" charset="-120"/>
              </a:rPr>
              <a:t>27 international teams and Kuwait's own Wild Well Killers; pre-war output restored within about four years.</a:t>
            </a:r>
            <a:endParaRPr lang="en-US" sz="1700" dirty="0"/>
          </a:p>
        </p:txBody>
      </p:sp>
      <p:sp>
        <p:nvSpPr>
          <p:cNvPr id="13" name="fires_t_10"/>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KOC, Oil fires (n.d.); U.S. DoD GulfLINK (1998, 2000); Britannica. Estimates of wells ignited range from about 605 to 750.</a:t>
            </a:r>
            <a:endParaRPr lang="en-US" sz="1200" dirty="0"/>
          </a:p>
        </p:txBody>
      </p:sp>
      <p:sp>
        <p:nvSpPr>
          <p:cNvPr id="14" name="fires_home_11">
            <a:hlinkClick r:id="rId1"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5" name="fires_i_12" descr="preencoded.png">    </p:cNvPr>
          <p:cNvPicPr>
            <a:picLocks noChangeAspect="1"/>
          </p:cNvPicPr>
          <p:nvPr/>
        </p:nvPicPr>
        <p:blipFill>
          <a:blip r:embed="rId2"/>
          <a:stretch>
            <a:fillRect/>
          </a:stretch>
        </p:blipFill>
        <p:spPr>
          <a:xfrm>
            <a:off x="10719511" y="6355080"/>
            <a:ext cx="219456" cy="219456"/>
          </a:xfrm>
          <a:prstGeom prst="rect">
            <a:avLst/>
          </a:prstGeom>
        </p:spPr>
      </p:pic>
      <p:sp>
        <p:nvSpPr>
          <p:cNvPr id="16" name="fires_s_13">
            <a:hlinkClick r:id="rId3"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4" presetID="53" presetClass="entr" presetSubtype="16"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 calcmode="lin" valueType="num">
                                      <p:cBhvr>
                                        <p:cTn id="11" dur="1100" fill="hold" decel="100000"/>
                                        <p:tgtEl>
                                          <p:spTgt spid="4"/>
                                        </p:tgtEl>
                                        <p:attrNameLst>
                                          <p:attrName>ppt_w</p:attrName>
                                        </p:attrNameLst>
                                      </p:cBhvr>
                                      <p:tavLst>
                                        <p:tav tm="0">
                                          <p:val>
                                            <p:strVal val="#ppt_w*0.70"/>
                                          </p:val>
                                        </p:tav>
                                        <p:tav tm="100000">
                                          <p:val>
                                            <p:strVal val="#ppt_w"/>
                                          </p:val>
                                        </p:tav>
                                      </p:tavLst>
                                    </p:anim>
                                    <p:anim calcmode="lin" valueType="num">
                                      <p:cBhvr>
                                        <p:cTn id="12" dur="1100" fill="hold" decel="100000"/>
                                        <p:tgtEl>
                                          <p:spTgt spid="4"/>
                                        </p:tgtEl>
                                        <p:attrNameLst>
                                          <p:attrName>ppt_h</p:attrName>
                                        </p:attrNameLst>
                                      </p:cBhvr>
                                      <p:tavLst>
                                        <p:tav tm="0">
                                          <p:val>
                                            <p:strVal val="#ppt_h*0.70"/>
                                          </p:val>
                                        </p:tav>
                                        <p:tav tm="100000">
                                          <p:val>
                                            <p:strVal val="#ppt_h"/>
                                          </p:val>
                                        </p:tav>
                                      </p:tavLst>
                                    </p:anim>
                                    <p:animEffect transition="in" filter="fade">
                                      <p:cBhvr>
                                        <p:cTn id="13" dur="1100"/>
                                        <p:tgtEl>
                                          <p:spTgt spid="4"/>
                                        </p:tgtEl>
                                      </p:cBhvr>
                                    </p:animEffect>
                                  </p:childTnLst>
                                </p:cTn>
                              </p:par>
                              <p:par>
                                <p:cTn id="17" presetID="10" presetClass="entr" presetSubtype="0" fill="hold" grpId="0" nodeType="withEffect">
                                  <p:stCondLst>
                                    <p:cond delay="7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800"/>
                                        <p:tgtEl>
                                          <p:spTgt spid="5"/>
                                        </p:tgtEl>
                                      </p:cBhvr>
                                    </p:animEffect>
                                  </p:childTnLst>
                                </p:cTn>
                              </p:par>
                              <p:par>
                                <p:cTn id="22" presetID="42" presetClass="entr" presetSubtype="0" fill="hold" grpId="0" nodeType="withEffect">
                                  <p:stCondLst>
                                    <p:cond delay="10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p:cTn id="20" dur="700" fill="hold" decel="100000"/>
                                        <p:tgtEl>
                                          <p:spTgt spid="6"/>
                                        </p:tgtEl>
                                        <p:attrNameLst>
                                          <p:attrName>ppt_x</p:attrName>
                                        </p:attrNameLst>
                                      </p:cBhvr>
                                      <p:tavLst>
                                        <p:tav tm="0">
                                          <p:val>
                                            <p:strVal val="#ppt_x"/>
                                          </p:val>
                                        </p:tav>
                                        <p:tav tm="100000">
                                          <p:val>
                                            <p:strVal val="#ppt_x"/>
                                          </p:val>
                                        </p:tav>
                                      </p:tavLst>
                                    </p:anim>
                                    <p:anim calcmode="lin" valueType="num">
                                      <p:cBhvr>
                                        <p:cTn id="21" dur="700" fill="hold" decel="100000"/>
                                        <p:tgtEl>
                                          <p:spTgt spid="6"/>
                                        </p:tgtEl>
                                        <p:attrNameLst>
                                          <p:attrName>ppt_y</p:attrName>
                                        </p:attrNameLst>
                                      </p:cBhvr>
                                      <p:tavLst>
                                        <p:tav tm="0">
                                          <p:val>
                                            <p:strVal val="#ppt_y+0.04"/>
                                          </p:val>
                                        </p:tav>
                                        <p:tav tm="100000">
                                          <p:val>
                                            <p:strVal val="#ppt_y"/>
                                          </p:val>
                                        </p:tav>
                                      </p:tavLst>
                                    </p:anim>
                                  </p:childTnLst>
                                </p:cTn>
                              </p:par>
                              <p:par>
                                <p:cTn id="25" presetID="10" presetClass="entr" presetSubtype="0" fill="hold" grpId="0" nodeType="withEffect">
                                  <p:stCondLst>
                                    <p:cond delay="115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700"/>
                                        <p:tgtEl>
                                          <p:spTgt spid="7"/>
                                        </p:tgtEl>
                                      </p:cBhvr>
                                    </p:animEffect>
                                  </p:childTnLst>
                                </p:cTn>
                              </p:par>
                              <p:par>
                                <p:cTn id="30" presetID="42" presetClass="entr" presetSubtype="0" fill="hold" grpId="0" nodeType="withEffect">
                                  <p:stCondLst>
                                    <p:cond delay="13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700"/>
                                        <p:tgtEl>
                                          <p:spTgt spid="8"/>
                                        </p:tgtEl>
                                      </p:cBhvr>
                                    </p:animEffect>
                                    <p:anim calcmode="lin" valueType="num">
                                      <p:cBhvr>
                                        <p:cTn id="28" dur="700" fill="hold" decel="100000"/>
                                        <p:tgtEl>
                                          <p:spTgt spid="8"/>
                                        </p:tgtEl>
                                        <p:attrNameLst>
                                          <p:attrName>ppt_x</p:attrName>
                                        </p:attrNameLst>
                                      </p:cBhvr>
                                      <p:tavLst>
                                        <p:tav tm="0">
                                          <p:val>
                                            <p:strVal val="#ppt_x"/>
                                          </p:val>
                                        </p:tav>
                                        <p:tav tm="100000">
                                          <p:val>
                                            <p:strVal val="#ppt_x"/>
                                          </p:val>
                                        </p:tav>
                                      </p:tavLst>
                                    </p:anim>
                                    <p:anim calcmode="lin" valueType="num">
                                      <p:cBhvr>
                                        <p:cTn id="29" dur="700" fill="hold" decel="100000"/>
                                        <p:tgtEl>
                                          <p:spTgt spid="8"/>
                                        </p:tgtEl>
                                        <p:attrNameLst>
                                          <p:attrName>ppt_y</p:attrName>
                                        </p:attrNameLst>
                                      </p:cBhvr>
                                      <p:tavLst>
                                        <p:tav tm="0">
                                          <p:val>
                                            <p:strVal val="#ppt_y+0.04"/>
                                          </p:val>
                                        </p:tav>
                                        <p:tav tm="100000">
                                          <p:val>
                                            <p:strVal val="#ppt_y"/>
                                          </p:val>
                                        </p:tav>
                                      </p:tavLst>
                                    </p:anim>
                                  </p:childTnLst>
                                </p:cTn>
                              </p:par>
                              <p:par>
                                <p:cTn id="33" presetID="10" presetClass="entr" presetSubtype="0" fill="hold" grpId="0" nodeType="withEffect">
                                  <p:stCondLst>
                                    <p:cond delay="145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700"/>
                                        <p:tgtEl>
                                          <p:spTgt spid="9"/>
                                        </p:tgtEl>
                                      </p:cBhvr>
                                    </p:animEffect>
                                  </p:childTnLst>
                                </p:cTn>
                              </p:par>
                              <p:par>
                                <p:cTn id="38" presetID="42" presetClass="entr" presetSubtype="0" fill="hold" grpId="0" nodeType="withEffect">
                                  <p:stCondLst>
                                    <p:cond delay="160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700"/>
                                        <p:tgtEl>
                                          <p:spTgt spid="10"/>
                                        </p:tgtEl>
                                      </p:cBhvr>
                                    </p:animEffect>
                                    <p:anim calcmode="lin" valueType="num">
                                      <p:cBhvr>
                                        <p:cTn id="36" dur="700" fill="hold" decel="100000"/>
                                        <p:tgtEl>
                                          <p:spTgt spid="10"/>
                                        </p:tgtEl>
                                        <p:attrNameLst>
                                          <p:attrName>ppt_x</p:attrName>
                                        </p:attrNameLst>
                                      </p:cBhvr>
                                      <p:tavLst>
                                        <p:tav tm="0">
                                          <p:val>
                                            <p:strVal val="#ppt_x"/>
                                          </p:val>
                                        </p:tav>
                                        <p:tav tm="100000">
                                          <p:val>
                                            <p:strVal val="#ppt_x"/>
                                          </p:val>
                                        </p:tav>
                                      </p:tavLst>
                                    </p:anim>
                                    <p:anim calcmode="lin" valueType="num">
                                      <p:cBhvr>
                                        <p:cTn id="37" dur="700" fill="hold" decel="100000"/>
                                        <p:tgtEl>
                                          <p:spTgt spid="10"/>
                                        </p:tgtEl>
                                        <p:attrNameLst>
                                          <p:attrName>ppt_y</p:attrName>
                                        </p:attrNameLst>
                                      </p:cBhvr>
                                      <p:tavLst>
                                        <p:tav tm="0">
                                          <p:val>
                                            <p:strVal val="#ppt_y+0.04"/>
                                          </p:val>
                                        </p:tav>
                                        <p:tav tm="100000">
                                          <p:val>
                                            <p:strVal val="#ppt_y"/>
                                          </p:val>
                                        </p:tav>
                                      </p:tavLst>
                                    </p:anim>
                                  </p:childTnLst>
                                </p:cTn>
                              </p:par>
                              <p:par>
                                <p:cTn id="41" presetID="10" presetClass="entr" presetSubtype="0" fill="hold" grpId="0" nodeType="withEffect">
                                  <p:stCondLst>
                                    <p:cond delay="175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700"/>
                                        <p:tgtEl>
                                          <p:spTgt spid="11"/>
                                        </p:tgtEl>
                                      </p:cBhvr>
                                    </p:animEffect>
                                  </p:childTnLst>
                                </p:cTn>
                              </p:par>
                              <p:par>
                                <p:cTn id="44" presetID="10" presetClass="entr" presetSubtype="0" fill="hold" grpId="0" nodeType="withEffect">
                                  <p:stCondLst>
                                    <p:cond delay="210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8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7.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01 — HISTORY &amp; TYPES</a:t>
            </a:r>
            <a:endParaRPr lang="en-US" sz="1500" dirty="0"/>
          </a:p>
        </p:txBody>
      </p:sp>
      <p:sp>
        <p:nvSpPr>
          <p:cNvPr id="3" name="crude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Four crudes on one scale</a:t>
            </a:r>
            <a:endParaRPr lang="en-US" sz="3800" dirty="0"/>
          </a:p>
        </p:txBody>
      </p:sp>
      <p:pic>
        <p:nvPicPr>
          <p:cNvPr id="4" name="crudes_i_1" descr="/home/user/shahad-research/build/assets/api_scale.png">    </p:cNvPr>
          <p:cNvPicPr>
            <a:picLocks noChangeAspect="1"/>
          </p:cNvPicPr>
          <p:nvPr/>
        </p:nvPicPr>
        <p:blipFill>
          <a:blip r:embed="rId1"/>
          <a:stretch>
            <a:fillRect/>
          </a:stretch>
        </p:blipFill>
        <p:spPr>
          <a:xfrm>
            <a:off x="868680" y="3255264"/>
            <a:ext cx="10454335" cy="292608"/>
          </a:xfrm>
          <a:prstGeom prst="rect">
            <a:avLst/>
          </a:prstGeom>
        </p:spPr>
      </p:pic>
      <p:sp>
        <p:nvSpPr>
          <p:cNvPr id="5" name="crudes_t_2"/>
          <p:cNvSpPr txBox="1"/>
          <p:nvPr/>
        </p:nvSpPr>
        <p:spPr>
          <a:xfrm>
            <a:off x="868680" y="3675888"/>
            <a:ext cx="3214708" cy="320040"/>
          </a:xfrm>
          <a:prstGeom prst="rect">
            <a:avLst/>
          </a:prstGeom>
          <a:noFill/>
          <a:ln/>
        </p:spPr>
        <p:txBody>
          <a:bodyPr wrap="square" lIns="0" tIns="0" rIns="0" bIns="0" rtlCol="0" anchor="t"/>
          <a:lstStyle/>
          <a:p>
            <a:pPr algn="ctr" indent="0" marL="0">
              <a:buNone/>
            </a:pPr>
            <a:r>
              <a:rPr lang="en-US" sz="1400" b="1" spc="200" kern="0" dirty="0">
                <a:solidFill>
                  <a:schemeClr val="tx2"/>
                </a:solidFill>
                <a:latin typeface="Arial" pitchFamily="34" charset="0"/>
                <a:ea typeface="Arial" pitchFamily="34" charset="-122"/>
                <a:cs typeface="Arial" pitchFamily="34" charset="-120"/>
              </a:rPr>
              <a:t>HEAVY</a:t>
            </a:r>
            <a:endParaRPr lang="en-US" sz="1400" dirty="0"/>
          </a:p>
        </p:txBody>
      </p:sp>
      <p:sp>
        <p:nvSpPr>
          <p:cNvPr id="6" name="crudes_t_3"/>
          <p:cNvSpPr txBox="1"/>
          <p:nvPr/>
        </p:nvSpPr>
        <p:spPr>
          <a:xfrm>
            <a:off x="4083388" y="3675888"/>
            <a:ext cx="1489743" cy="320040"/>
          </a:xfrm>
          <a:prstGeom prst="rect">
            <a:avLst/>
          </a:prstGeom>
          <a:noFill/>
          <a:ln/>
        </p:spPr>
        <p:txBody>
          <a:bodyPr wrap="square" lIns="0" tIns="0" rIns="0" bIns="0" rtlCol="0" anchor="t"/>
          <a:lstStyle/>
          <a:p>
            <a:pPr algn="ctr" indent="0" marL="0">
              <a:buNone/>
            </a:pPr>
            <a:r>
              <a:rPr lang="en-US" sz="1400" b="1" spc="200" kern="0" dirty="0">
                <a:solidFill>
                  <a:schemeClr val="tx2"/>
                </a:solidFill>
                <a:latin typeface="Arial" pitchFamily="34" charset="0"/>
                <a:ea typeface="Arial" pitchFamily="34" charset="-122"/>
                <a:cs typeface="Arial" pitchFamily="34" charset="-120"/>
              </a:rPr>
              <a:t>MEDIUM</a:t>
            </a:r>
            <a:endParaRPr lang="en-US" sz="1400" dirty="0"/>
          </a:p>
        </p:txBody>
      </p:sp>
      <p:sp>
        <p:nvSpPr>
          <p:cNvPr id="7" name="crudes_t_4"/>
          <p:cNvSpPr txBox="1"/>
          <p:nvPr/>
        </p:nvSpPr>
        <p:spPr>
          <a:xfrm>
            <a:off x="6383342" y="3675888"/>
            <a:ext cx="4939673" cy="320040"/>
          </a:xfrm>
          <a:prstGeom prst="rect">
            <a:avLst/>
          </a:prstGeom>
          <a:noFill/>
          <a:ln/>
        </p:spPr>
        <p:txBody>
          <a:bodyPr wrap="square" lIns="0" tIns="0" rIns="0" bIns="0" rtlCol="0" anchor="t"/>
          <a:lstStyle/>
          <a:p>
            <a:pPr algn="ctr" indent="0" marL="0">
              <a:buNone/>
            </a:pPr>
            <a:r>
              <a:rPr lang="en-US" sz="1400" b="1" spc="200" kern="0" dirty="0">
                <a:solidFill>
                  <a:schemeClr val="tx2"/>
                </a:solidFill>
                <a:latin typeface="Arial" pitchFamily="34" charset="0"/>
                <a:ea typeface="Arial" pitchFamily="34" charset="-122"/>
                <a:cs typeface="Arial" pitchFamily="34" charset="-120"/>
              </a:rPr>
              <a:t>LIGHT</a:t>
            </a:r>
            <a:endParaRPr lang="en-US" sz="1400" dirty="0"/>
          </a:p>
        </p:txBody>
      </p:sp>
      <p:sp>
        <p:nvSpPr>
          <p:cNvPr id="8" name="crudes_s_5"/>
          <p:cNvSpPr/>
          <p:nvPr/>
        </p:nvSpPr>
        <p:spPr>
          <a:xfrm>
            <a:off x="4074244" y="3127248"/>
            <a:ext cx="18288" cy="548640"/>
          </a:xfrm>
          <a:prstGeom prst="rect">
            <a:avLst/>
          </a:prstGeom>
          <a:solidFill>
            <a:srgbClr val="A1A1A6"/>
          </a:solidFill>
          <a:ln/>
        </p:spPr>
      </p:sp>
      <p:sp>
        <p:nvSpPr>
          <p:cNvPr id="9" name="crudes_s_6"/>
          <p:cNvSpPr/>
          <p:nvPr/>
        </p:nvSpPr>
        <p:spPr>
          <a:xfrm>
            <a:off x="6374198" y="3127248"/>
            <a:ext cx="18288" cy="548640"/>
          </a:xfrm>
          <a:prstGeom prst="rect">
            <a:avLst/>
          </a:prstGeom>
          <a:solidFill>
            <a:srgbClr val="A1A1A6"/>
          </a:solidFill>
          <a:ln/>
        </p:spPr>
      </p:sp>
      <p:sp>
        <p:nvSpPr>
          <p:cNvPr id="10" name="crudes_t_7"/>
          <p:cNvSpPr txBox="1"/>
          <p:nvPr/>
        </p:nvSpPr>
        <p:spPr>
          <a:xfrm>
            <a:off x="502920"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10°</a:t>
            </a:r>
            <a:endParaRPr lang="en-US" sz="1300" dirty="0"/>
          </a:p>
        </p:txBody>
      </p:sp>
      <p:sp>
        <p:nvSpPr>
          <p:cNvPr id="11" name="crudes_t_8"/>
          <p:cNvSpPr txBox="1"/>
          <p:nvPr/>
        </p:nvSpPr>
        <p:spPr>
          <a:xfrm>
            <a:off x="3116504"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20°</a:t>
            </a:r>
            <a:endParaRPr lang="en-US" sz="1300" dirty="0"/>
          </a:p>
        </p:txBody>
      </p:sp>
      <p:sp>
        <p:nvSpPr>
          <p:cNvPr id="12" name="crudes_t_9"/>
          <p:cNvSpPr txBox="1"/>
          <p:nvPr/>
        </p:nvSpPr>
        <p:spPr>
          <a:xfrm>
            <a:off x="5730088"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30°</a:t>
            </a:r>
            <a:endParaRPr lang="en-US" sz="1300" dirty="0"/>
          </a:p>
        </p:txBody>
      </p:sp>
      <p:sp>
        <p:nvSpPr>
          <p:cNvPr id="13" name="crudes_t_10"/>
          <p:cNvSpPr txBox="1"/>
          <p:nvPr/>
        </p:nvSpPr>
        <p:spPr>
          <a:xfrm>
            <a:off x="8343671"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40°</a:t>
            </a:r>
            <a:endParaRPr lang="en-US" sz="1300" dirty="0"/>
          </a:p>
        </p:txBody>
      </p:sp>
      <p:sp>
        <p:nvSpPr>
          <p:cNvPr id="14" name="crudes_t_11"/>
          <p:cNvSpPr txBox="1"/>
          <p:nvPr/>
        </p:nvSpPr>
        <p:spPr>
          <a:xfrm>
            <a:off x="10957255" y="3968496"/>
            <a:ext cx="731520" cy="274320"/>
          </a:xfrm>
          <a:prstGeom prst="rect">
            <a:avLst/>
          </a:prstGeom>
          <a:noFill/>
          <a:ln/>
        </p:spPr>
        <p:txBody>
          <a:bodyPr wrap="square" lIns="0" tIns="0" rIns="0" bIns="0" rtlCol="0" anchor="t"/>
          <a:lstStyle/>
          <a:p>
            <a:pPr algn="ctr" indent="0" marL="0">
              <a:buNone/>
            </a:pPr>
            <a:r>
              <a:rPr lang="en-US" sz="1300" dirty="0">
                <a:solidFill>
                  <a:schemeClr val="tx2"/>
                </a:solidFill>
                <a:latin typeface="Arial" pitchFamily="34" charset="0"/>
                <a:ea typeface="Arial" pitchFamily="34" charset="-122"/>
                <a:cs typeface="Arial" pitchFamily="34" charset="-120"/>
              </a:rPr>
              <a:t>50°</a:t>
            </a:r>
            <a:endParaRPr lang="en-US" sz="1300" dirty="0"/>
          </a:p>
        </p:txBody>
      </p:sp>
      <p:sp>
        <p:nvSpPr>
          <p:cNvPr id="15" name="crudes_s_12"/>
          <p:cNvSpPr/>
          <p:nvPr/>
        </p:nvSpPr>
        <p:spPr>
          <a:xfrm>
            <a:off x="2281382" y="3246120"/>
            <a:ext cx="310896" cy="310896"/>
          </a:xfrm>
          <a:prstGeom prst="ellipse">
            <a:avLst/>
          </a:prstGeom>
          <a:solidFill>
            <a:srgbClr val="F5F5F7"/>
          </a:solidFill>
          <a:ln w="38100">
            <a:solidFill>
              <a:srgbClr val="0B0B0F"/>
            </a:solidFill>
            <a:prstDash val="solid"/>
          </a:ln>
          <a:effectLst>
            <a:outerShdw sx="100000" sy="100000" kx="0" ky="0" algn="bl" rotWithShape="0" blurRad="127000" dist="50800" dir="5400000">
              <a:srgbClr val="FF9F0A">
                <a:alpha val="90000"/>
              </a:srgbClr>
            </a:outerShdw>
          </a:effectLst>
        </p:spPr>
      </p:sp>
      <p:sp>
        <p:nvSpPr>
          <p:cNvPr id="16" name="crudes_s_13"/>
          <p:cNvSpPr/>
          <p:nvPr/>
        </p:nvSpPr>
        <p:spPr>
          <a:xfrm>
            <a:off x="2429515" y="2862072"/>
            <a:ext cx="14630" cy="356616"/>
          </a:xfrm>
          <a:prstGeom prst="rect">
            <a:avLst/>
          </a:prstGeom>
          <a:solidFill>
            <a:srgbClr val="3A3A3C"/>
          </a:solidFill>
          <a:ln/>
        </p:spPr>
      </p:sp>
      <p:sp>
        <p:nvSpPr>
          <p:cNvPr id="17" name="crudes_t_14"/>
          <p:cNvSpPr txBox="1"/>
          <p:nvPr/>
        </p:nvSpPr>
        <p:spPr>
          <a:xfrm>
            <a:off x="996650" y="1783080"/>
            <a:ext cx="2880360" cy="1078992"/>
          </a:xfrm>
          <a:prstGeom prst="roundRect">
            <a:avLst>
              <a:gd name="adj" fmla="val 10169"/>
            </a:avLst>
          </a:prstGeom>
          <a:solidFill>
            <a:srgbClr val="1C1C1E"/>
          </a:solidFill>
          <a:ln/>
        </p:spPr>
        <p:txBody>
          <a:bodyPr wrap="square" lIns="152400" tIns="76200" rIns="127000" bIns="76200" rtlCol="0" anchor="t"/>
          <a:lstStyle/>
          <a:p>
            <a:pPr indent="0" marL="0">
              <a:spcAft>
                <a:spcPts val="200"/>
              </a:spcAft>
              <a:buNone/>
            </a:pPr>
            <a:r>
              <a:rPr lang="en-US" sz="1900" b="1" dirty="0">
                <a:solidFill>
                  <a:schemeClr val="tx1"/>
                </a:solidFill>
                <a:latin typeface="Arial" pitchFamily="34" charset="0"/>
                <a:ea typeface="Arial" pitchFamily="34" charset="-122"/>
                <a:cs typeface="Arial" pitchFamily="34" charset="-120"/>
              </a:rPr>
              <a:t>Kuwait Export Heavy</a:t>
            </a:r>
            <a:endParaRPr lang="en-US" sz="1900" dirty="0"/>
          </a:p>
          <a:p>
            <a:pPr indent="0" marL="0">
              <a:spcAft>
                <a:spcPts val="200"/>
              </a:spcAft>
              <a:buNone/>
            </a:pPr>
            <a:r>
              <a:rPr lang="en-US" sz="1700" b="1" dirty="0">
                <a:solidFill>
                  <a:schemeClr val="accent1"/>
                </a:solidFill>
                <a:latin typeface="Arial" pitchFamily="34" charset="0"/>
                <a:ea typeface="Arial" pitchFamily="34" charset="-122"/>
                <a:cs typeface="Arial" pitchFamily="34" charset="-120"/>
              </a:rPr>
              <a:t>16° API  ·  4.9% S</a:t>
            </a:r>
            <a:endParaRPr lang="en-US" sz="1900" dirty="0"/>
          </a:p>
          <a:p>
            <a:pPr indent="0" marL="0">
              <a:spcAft>
                <a:spcPts val="200"/>
              </a:spcAft>
              <a:buNone/>
            </a:pPr>
            <a:r>
              <a:rPr lang="en-US" sz="1500" dirty="0">
                <a:solidFill>
                  <a:schemeClr val="tx2"/>
                </a:solidFill>
                <a:latin typeface="Arial" pitchFamily="34" charset="0"/>
                <a:ea typeface="Arial" pitchFamily="34" charset="-122"/>
                <a:cs typeface="Arial" pitchFamily="34" charset="-120"/>
              </a:rPr>
              <a:t>Heavy, very sour</a:t>
            </a:r>
            <a:endParaRPr lang="en-US" sz="1900" dirty="0"/>
          </a:p>
        </p:txBody>
      </p:sp>
      <p:sp>
        <p:nvSpPr>
          <p:cNvPr id="18" name="crudes_s_15"/>
          <p:cNvSpPr/>
          <p:nvPr/>
        </p:nvSpPr>
        <p:spPr>
          <a:xfrm>
            <a:off x="5548362" y="3246120"/>
            <a:ext cx="310896" cy="310896"/>
          </a:xfrm>
          <a:prstGeom prst="ellipse">
            <a:avLst/>
          </a:prstGeom>
          <a:solidFill>
            <a:srgbClr val="F5F5F7"/>
          </a:solidFill>
          <a:ln w="38100">
            <a:solidFill>
              <a:srgbClr val="0B0B0F"/>
            </a:solidFill>
            <a:prstDash val="solid"/>
          </a:ln>
          <a:effectLst>
            <a:outerShdw sx="100000" sy="100000" kx="0" ky="0" algn="bl" rotWithShape="0" blurRad="127000" dist="50800" dir="5400000">
              <a:srgbClr val="FF9F0A">
                <a:alpha val="90000"/>
              </a:srgbClr>
            </a:outerShdw>
          </a:effectLst>
        </p:spPr>
      </p:sp>
      <p:sp>
        <p:nvSpPr>
          <p:cNvPr id="19" name="crudes_s_16"/>
          <p:cNvSpPr/>
          <p:nvPr/>
        </p:nvSpPr>
        <p:spPr>
          <a:xfrm>
            <a:off x="5696495" y="3584448"/>
            <a:ext cx="14630" cy="731520"/>
          </a:xfrm>
          <a:prstGeom prst="rect">
            <a:avLst/>
          </a:prstGeom>
          <a:solidFill>
            <a:srgbClr val="3A3A3C"/>
          </a:solidFill>
          <a:ln/>
        </p:spPr>
      </p:sp>
      <p:sp>
        <p:nvSpPr>
          <p:cNvPr id="20" name="crudes_t_17"/>
          <p:cNvSpPr txBox="1"/>
          <p:nvPr/>
        </p:nvSpPr>
        <p:spPr>
          <a:xfrm>
            <a:off x="4263630" y="4315968"/>
            <a:ext cx="2880360" cy="1078992"/>
          </a:xfrm>
          <a:prstGeom prst="roundRect">
            <a:avLst>
              <a:gd name="adj" fmla="val 10169"/>
            </a:avLst>
          </a:prstGeom>
          <a:solidFill>
            <a:srgbClr val="1C1C1E"/>
          </a:solidFill>
          <a:ln/>
        </p:spPr>
        <p:txBody>
          <a:bodyPr wrap="square" lIns="152400" tIns="76200" rIns="127000" bIns="76200" rtlCol="0" anchor="t"/>
          <a:lstStyle/>
          <a:p>
            <a:pPr indent="0" marL="0">
              <a:spcAft>
                <a:spcPts val="200"/>
              </a:spcAft>
              <a:buNone/>
            </a:pPr>
            <a:r>
              <a:rPr lang="en-US" sz="1900" b="1" dirty="0">
                <a:solidFill>
                  <a:schemeClr val="tx1"/>
                </a:solidFill>
                <a:latin typeface="Arial" pitchFamily="34" charset="0"/>
                <a:ea typeface="Arial" pitchFamily="34" charset="-122"/>
                <a:cs typeface="Arial" pitchFamily="34" charset="-120"/>
              </a:rPr>
              <a:t>Khafji</a:t>
            </a:r>
            <a:endParaRPr lang="en-US" sz="1900" dirty="0"/>
          </a:p>
          <a:p>
            <a:pPr indent="0" marL="0">
              <a:spcAft>
                <a:spcPts val="200"/>
              </a:spcAft>
              <a:buNone/>
            </a:pPr>
            <a:r>
              <a:rPr lang="en-US" sz="1700" b="1" dirty="0">
                <a:solidFill>
                  <a:schemeClr val="accent1"/>
                </a:solidFill>
                <a:latin typeface="Arial" pitchFamily="34" charset="0"/>
                <a:ea typeface="Arial" pitchFamily="34" charset="-122"/>
                <a:cs typeface="Arial" pitchFamily="34" charset="-120"/>
              </a:rPr>
              <a:t>28.5° API  ·  2.85% S</a:t>
            </a:r>
            <a:endParaRPr lang="en-US" sz="1900" dirty="0"/>
          </a:p>
          <a:p>
            <a:pPr indent="0" marL="0">
              <a:spcAft>
                <a:spcPts val="200"/>
              </a:spcAft>
              <a:buNone/>
            </a:pPr>
            <a:r>
              <a:rPr lang="en-US" sz="1500" dirty="0">
                <a:solidFill>
                  <a:schemeClr val="tx2"/>
                </a:solidFill>
                <a:latin typeface="Arial" pitchFamily="34" charset="0"/>
                <a:ea typeface="Arial" pitchFamily="34" charset="-122"/>
                <a:cs typeface="Arial" pitchFamily="34" charset="-120"/>
              </a:rPr>
              <a:t>Partitioned Zone, offshore</a:t>
            </a:r>
            <a:endParaRPr lang="en-US" sz="1900" dirty="0"/>
          </a:p>
        </p:txBody>
      </p:sp>
      <p:sp>
        <p:nvSpPr>
          <p:cNvPr id="21" name="crudes_s_18"/>
          <p:cNvSpPr/>
          <p:nvPr/>
        </p:nvSpPr>
        <p:spPr>
          <a:xfrm>
            <a:off x="6071079" y="3246120"/>
            <a:ext cx="310896" cy="310896"/>
          </a:xfrm>
          <a:prstGeom prst="ellipse">
            <a:avLst/>
          </a:prstGeom>
          <a:solidFill>
            <a:srgbClr val="F5F5F7"/>
          </a:solidFill>
          <a:ln w="38100">
            <a:solidFill>
              <a:srgbClr val="0B0B0F"/>
            </a:solidFill>
            <a:prstDash val="solid"/>
          </a:ln>
          <a:effectLst>
            <a:outerShdw sx="100000" sy="100000" kx="0" ky="0" algn="bl" rotWithShape="0" blurRad="127000" dist="50800" dir="5400000">
              <a:srgbClr val="FF9F0A">
                <a:alpha val="90000"/>
              </a:srgbClr>
            </a:outerShdw>
          </a:effectLst>
        </p:spPr>
      </p:sp>
      <p:sp>
        <p:nvSpPr>
          <p:cNvPr id="22" name="crudes_s_19"/>
          <p:cNvSpPr/>
          <p:nvPr/>
        </p:nvSpPr>
        <p:spPr>
          <a:xfrm>
            <a:off x="6219212" y="2862072"/>
            <a:ext cx="14630" cy="356616"/>
          </a:xfrm>
          <a:prstGeom prst="rect">
            <a:avLst/>
          </a:prstGeom>
          <a:solidFill>
            <a:srgbClr val="3A3A3C"/>
          </a:solidFill>
          <a:ln/>
        </p:spPr>
      </p:sp>
      <p:sp>
        <p:nvSpPr>
          <p:cNvPr id="23" name="crudes_t_20"/>
          <p:cNvSpPr txBox="1"/>
          <p:nvPr/>
        </p:nvSpPr>
        <p:spPr>
          <a:xfrm>
            <a:off x="4786347" y="1783080"/>
            <a:ext cx="2880360" cy="1078992"/>
          </a:xfrm>
          <a:prstGeom prst="roundRect">
            <a:avLst>
              <a:gd name="adj" fmla="val 10169"/>
            </a:avLst>
          </a:prstGeom>
          <a:solidFill>
            <a:srgbClr val="1C1C1E"/>
          </a:solidFill>
          <a:ln/>
        </p:spPr>
        <p:txBody>
          <a:bodyPr wrap="square" lIns="152400" tIns="76200" rIns="127000" bIns="76200" rtlCol="0" anchor="t"/>
          <a:lstStyle/>
          <a:p>
            <a:pPr indent="0" marL="0">
              <a:spcAft>
                <a:spcPts val="200"/>
              </a:spcAft>
              <a:buNone/>
            </a:pPr>
            <a:r>
              <a:rPr lang="en-US" sz="1900" b="1" dirty="0">
                <a:solidFill>
                  <a:schemeClr val="tx1"/>
                </a:solidFill>
                <a:latin typeface="Arial" pitchFamily="34" charset="0"/>
                <a:ea typeface="Arial" pitchFamily="34" charset="-122"/>
                <a:cs typeface="Arial" pitchFamily="34" charset="-120"/>
              </a:rPr>
              <a:t>Kuwait Export Crude</a:t>
            </a:r>
            <a:endParaRPr lang="en-US" sz="1900" dirty="0"/>
          </a:p>
          <a:p>
            <a:pPr indent="0" marL="0">
              <a:spcAft>
                <a:spcPts val="200"/>
              </a:spcAft>
              <a:buNone/>
            </a:pPr>
            <a:r>
              <a:rPr lang="en-US" sz="1700" b="1" dirty="0">
                <a:solidFill>
                  <a:schemeClr val="accent1"/>
                </a:solidFill>
                <a:latin typeface="Arial" pitchFamily="34" charset="0"/>
                <a:ea typeface="Arial" pitchFamily="34" charset="-122"/>
                <a:cs typeface="Arial" pitchFamily="34" charset="-120"/>
              </a:rPr>
              <a:t>30.5° API  ·  2.5% S</a:t>
            </a:r>
            <a:endParaRPr lang="en-US" sz="1900" dirty="0"/>
          </a:p>
          <a:p>
            <a:pPr indent="0" marL="0">
              <a:spcAft>
                <a:spcPts val="200"/>
              </a:spcAft>
              <a:buNone/>
            </a:pPr>
            <a:r>
              <a:rPr lang="en-US" sz="1500" dirty="0">
                <a:solidFill>
                  <a:schemeClr val="tx2"/>
                </a:solidFill>
                <a:latin typeface="Arial" pitchFamily="34" charset="0"/>
                <a:ea typeface="Arial" pitchFamily="34" charset="-122"/>
                <a:cs typeface="Arial" pitchFamily="34" charset="-120"/>
              </a:rPr>
              <a:t>Main export blend (KEC)</a:t>
            </a:r>
            <a:endParaRPr lang="en-US" sz="1900" dirty="0"/>
          </a:p>
        </p:txBody>
      </p:sp>
      <p:sp>
        <p:nvSpPr>
          <p:cNvPr id="24" name="crudes_s_21"/>
          <p:cNvSpPr/>
          <p:nvPr/>
        </p:nvSpPr>
        <p:spPr>
          <a:xfrm>
            <a:off x="10644850" y="3246120"/>
            <a:ext cx="310896" cy="310896"/>
          </a:xfrm>
          <a:prstGeom prst="ellipse">
            <a:avLst/>
          </a:prstGeom>
          <a:solidFill>
            <a:srgbClr val="F5F5F7"/>
          </a:solidFill>
          <a:ln w="38100">
            <a:solidFill>
              <a:srgbClr val="0B0B0F"/>
            </a:solidFill>
            <a:prstDash val="solid"/>
          </a:ln>
          <a:effectLst>
            <a:outerShdw sx="100000" sy="100000" kx="0" ky="0" algn="bl" rotWithShape="0" blurRad="127000" dist="50800" dir="5400000">
              <a:srgbClr val="FF9F0A">
                <a:alpha val="90000"/>
              </a:srgbClr>
            </a:outerShdw>
          </a:effectLst>
        </p:spPr>
      </p:sp>
      <p:sp>
        <p:nvSpPr>
          <p:cNvPr id="25" name="crudes_s_22"/>
          <p:cNvSpPr/>
          <p:nvPr/>
        </p:nvSpPr>
        <p:spPr>
          <a:xfrm>
            <a:off x="10792983" y="2862072"/>
            <a:ext cx="14630" cy="356616"/>
          </a:xfrm>
          <a:prstGeom prst="rect">
            <a:avLst/>
          </a:prstGeom>
          <a:solidFill>
            <a:srgbClr val="3A3A3C"/>
          </a:solidFill>
          <a:ln/>
        </p:spPr>
      </p:sp>
      <p:sp>
        <p:nvSpPr>
          <p:cNvPr id="26" name="crudes_t_23"/>
          <p:cNvSpPr txBox="1"/>
          <p:nvPr/>
        </p:nvSpPr>
        <p:spPr>
          <a:xfrm>
            <a:off x="8762695" y="1783080"/>
            <a:ext cx="2880360" cy="1078992"/>
          </a:xfrm>
          <a:prstGeom prst="roundRect">
            <a:avLst>
              <a:gd name="adj" fmla="val 10169"/>
            </a:avLst>
          </a:prstGeom>
          <a:solidFill>
            <a:srgbClr val="1C1C1E"/>
          </a:solidFill>
          <a:ln/>
        </p:spPr>
        <p:txBody>
          <a:bodyPr wrap="square" lIns="152400" tIns="76200" rIns="127000" bIns="76200" rtlCol="0" anchor="t"/>
          <a:lstStyle/>
          <a:p>
            <a:pPr indent="0" marL="0">
              <a:spcAft>
                <a:spcPts val="200"/>
              </a:spcAft>
              <a:buNone/>
            </a:pPr>
            <a:r>
              <a:rPr lang="en-US" sz="1900" b="1" dirty="0">
                <a:solidFill>
                  <a:schemeClr val="tx1"/>
                </a:solidFill>
                <a:latin typeface="Arial" pitchFamily="34" charset="0"/>
                <a:ea typeface="Arial" pitchFamily="34" charset="-122"/>
                <a:cs typeface="Arial" pitchFamily="34" charset="-120"/>
              </a:rPr>
              <a:t>Kuwait Super Light</a:t>
            </a:r>
            <a:endParaRPr lang="en-US" sz="1900" dirty="0"/>
          </a:p>
          <a:p>
            <a:pPr indent="0" marL="0">
              <a:spcAft>
                <a:spcPts val="200"/>
              </a:spcAft>
              <a:buNone/>
            </a:pPr>
            <a:r>
              <a:rPr lang="en-US" sz="1700" b="1" dirty="0">
                <a:solidFill>
                  <a:schemeClr val="accent1"/>
                </a:solidFill>
                <a:latin typeface="Arial" pitchFamily="34" charset="0"/>
                <a:ea typeface="Arial" pitchFamily="34" charset="-122"/>
                <a:cs typeface="Arial" pitchFamily="34" charset="-120"/>
              </a:rPr>
              <a:t>48° API  ·  0.4% S</a:t>
            </a:r>
            <a:endParaRPr lang="en-US" sz="1900" dirty="0"/>
          </a:p>
          <a:p>
            <a:pPr indent="0" marL="0">
              <a:spcAft>
                <a:spcPts val="200"/>
              </a:spcAft>
              <a:buNone/>
            </a:pPr>
            <a:r>
              <a:rPr lang="en-US" sz="1500" dirty="0">
                <a:solidFill>
                  <a:schemeClr val="tx2"/>
                </a:solidFill>
                <a:latin typeface="Arial" pitchFamily="34" charset="0"/>
                <a:ea typeface="Arial" pitchFamily="34" charset="-122"/>
                <a:cs typeface="Arial" pitchFamily="34" charset="-120"/>
              </a:rPr>
              <a:t>Jurassic, North Kuwait</a:t>
            </a:r>
            <a:endParaRPr lang="en-US" sz="1900" dirty="0"/>
          </a:p>
        </p:txBody>
      </p:sp>
      <p:sp>
        <p:nvSpPr>
          <p:cNvPr id="27" name="crudes_t_24"/>
          <p:cNvSpPr txBox="1"/>
          <p:nvPr/>
        </p:nvSpPr>
        <p:spPr>
          <a:xfrm>
            <a:off x="548640" y="5559552"/>
            <a:ext cx="96012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API gravity = 141.5 / SG − 131.5   ·   higher API = lighter oil   ·   S = sulfur content (wt%)</a:t>
            </a:r>
            <a:endParaRPr lang="en-US" sz="1400" dirty="0"/>
          </a:p>
        </p:txBody>
      </p:sp>
      <p:sp>
        <p:nvSpPr>
          <p:cNvPr id="28" name="crudes_t_25"/>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OIES (2021); Energy Intelligence crude profiles; S&amp;P Global (2018, 2020); EIA (2023). API classes per API/US definitions.</a:t>
            </a:r>
            <a:endParaRPr lang="en-US" sz="1200" dirty="0"/>
          </a:p>
        </p:txBody>
      </p:sp>
      <p:sp>
        <p:nvSpPr>
          <p:cNvPr id="29" name="crudes_home_26">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30" name="crudes_i_27"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31" name="crudes_s_28">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8"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1500"/>
                                        <p:tgtEl>
                                          <p:spTgt spid="4"/>
                                        </p:tgtEl>
                                      </p:cBhvr>
                                    </p:animEffect>
                                  </p:childTnLst>
                                </p:cTn>
                              </p:par>
                              <p:par>
                                <p:cTn id="15" presetID="10" presetClass="entr" presetSubtype="0" fill="hold" grpId="0" nodeType="withEffect">
                                  <p:stCondLst>
                                    <p:cond delay="9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600"/>
                                        <p:tgtEl>
                                          <p:spTgt spid="5"/>
                                        </p:tgtEl>
                                      </p:cBhvr>
                                    </p:animEffect>
                                  </p:childTnLst>
                                </p:cTn>
                              </p:par>
                              <p:par>
                                <p:cTn id="18" presetID="10" presetClass="entr" presetSubtype="0" fill="hold" grpId="0" nodeType="withEffect">
                                  <p:stCondLst>
                                    <p:cond delay="90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600"/>
                                        <p:tgtEl>
                                          <p:spTgt spid="8"/>
                                        </p:tgtEl>
                                      </p:cBhvr>
                                    </p:animEffect>
                                  </p:childTnLst>
                                </p:cTn>
                              </p:par>
                              <p:par>
                                <p:cTn id="21" presetID="10" presetClass="entr" presetSubtype="0" fill="hold" grpId="0" nodeType="withEffect">
                                  <p:stCondLst>
                                    <p:cond delay="9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600"/>
                                        <p:tgtEl>
                                          <p:spTgt spid="9"/>
                                        </p:tgtEl>
                                      </p:cBhvr>
                                    </p:animEffect>
                                  </p:childTnLst>
                                </p:cTn>
                              </p:par>
                              <p:par>
                                <p:cTn id="24" presetID="10" presetClass="entr" presetSubtype="0" fill="hold" grpId="0" nodeType="withEffect">
                                  <p:stCondLst>
                                    <p:cond delay="100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600"/>
                                        <p:tgtEl>
                                          <p:spTgt spid="10"/>
                                        </p:tgtEl>
                                      </p:cBhvr>
                                    </p:animEffect>
                                  </p:childTnLst>
                                </p:cTn>
                              </p:par>
                              <p:par>
                                <p:cTn id="27" presetID="10" presetClass="entr" presetSubtype="0" fill="hold" grpId="0" nodeType="withEffect">
                                  <p:stCondLst>
                                    <p:cond delay="100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600"/>
                                        <p:tgtEl>
                                          <p:spTgt spid="11"/>
                                        </p:tgtEl>
                                      </p:cBhvr>
                                    </p:animEffect>
                                  </p:childTnLst>
                                </p:cTn>
                              </p:par>
                              <p:par>
                                <p:cTn id="30" presetID="10" presetClass="entr" presetSubtype="0" fill="hold" grpId="0" nodeType="withEffect">
                                  <p:stCondLst>
                                    <p:cond delay="10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600"/>
                                        <p:tgtEl>
                                          <p:spTgt spid="12"/>
                                        </p:tgtEl>
                                      </p:cBhvr>
                                    </p:animEffect>
                                  </p:childTnLst>
                                </p:cTn>
                              </p:par>
                              <p:par>
                                <p:cTn id="33" presetID="10" presetClass="entr" presetSubtype="0" fill="hold" grpId="0" nodeType="withEffect">
                                  <p:stCondLst>
                                    <p:cond delay="100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600"/>
                                        <p:tgtEl>
                                          <p:spTgt spid="13"/>
                                        </p:tgtEl>
                                      </p:cBhvr>
                                    </p:animEffect>
                                  </p:childTnLst>
                                </p:cTn>
                              </p:par>
                              <p:par>
                                <p:cTn id="36" presetID="10" presetClass="entr" presetSubtype="0" fill="hold" grpId="0" nodeType="withEffect">
                                  <p:stCondLst>
                                    <p:cond delay="100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600"/>
                                        <p:tgtEl>
                                          <p:spTgt spid="14"/>
                                        </p:tgtEl>
                                      </p:cBhvr>
                                    </p:animEffect>
                                  </p:childTnLst>
                                </p:cTn>
                              </p:par>
                              <p:par>
                                <p:cTn id="39" presetID="10" presetClass="entr" presetSubtype="0" fill="hold" grpId="0" nodeType="withEffect">
                                  <p:stCondLst>
                                    <p:cond delay="1020"/>
                                  </p:stCondLst>
                                  <p:childTnLst>
                                    <p:set>
                                      <p:cBhvr>
                                        <p:cTn id="37" dur="1" fill="hold">
                                          <p:stCondLst>
                                            <p:cond delay="0"/>
                                          </p:stCondLst>
                                        </p:cTn>
                                        <p:tgtEl>
                                          <p:spTgt spid="6"/>
                                        </p:tgtEl>
                                        <p:attrNameLst>
                                          <p:attrName>style.visibility</p:attrName>
                                        </p:attrNameLst>
                                      </p:cBhvr>
                                      <p:to>
                                        <p:strVal val="visible"/>
                                      </p:to>
                                    </p:set>
                                    <p:animEffect transition="in" filter="fade">
                                      <p:cBhvr>
                                        <p:cTn id="38" dur="600"/>
                                        <p:tgtEl>
                                          <p:spTgt spid="6"/>
                                        </p:tgtEl>
                                      </p:cBhvr>
                                    </p:animEffect>
                                  </p:childTnLst>
                                </p:cTn>
                              </p:par>
                              <p:par>
                                <p:cTn id="42" presetID="10" presetClass="entr" presetSubtype="0" fill="hold" grpId="0" nodeType="withEffect">
                                  <p:stCondLst>
                                    <p:cond delay="114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600"/>
                                        <p:tgtEl>
                                          <p:spTgt spid="7"/>
                                        </p:tgtEl>
                                      </p:cBhvr>
                                    </p:animEffect>
                                  </p:childTnLst>
                                </p:cTn>
                              </p:par>
                              <p:par>
                                <p:cTn id="47" presetID="53" presetClass="entr" presetSubtype="16" fill="hold" grpId="0" nodeType="withEffect">
                                  <p:stCondLst>
                                    <p:cond delay="1300"/>
                                  </p:stCondLst>
                                  <p:childTnLst>
                                    <p:set>
                                      <p:cBhvr>
                                        <p:cTn id="43" dur="1" fill="hold">
                                          <p:stCondLst>
                                            <p:cond delay="0"/>
                                          </p:stCondLst>
                                        </p:cTn>
                                        <p:tgtEl>
                                          <p:spTgt spid="15"/>
                                        </p:tgtEl>
                                        <p:attrNameLst>
                                          <p:attrName>style.visibility</p:attrName>
                                        </p:attrNameLst>
                                      </p:cBhvr>
                                      <p:to>
                                        <p:strVal val="visible"/>
                                      </p:to>
                                    </p:set>
                                    <p:anim calcmode="lin" valueType="num">
                                      <p:cBhvr>
                                        <p:cTn id="44" dur="500" fill="hold" decel="100000"/>
                                        <p:tgtEl>
                                          <p:spTgt spid="15"/>
                                        </p:tgtEl>
                                        <p:attrNameLst>
                                          <p:attrName>ppt_w</p:attrName>
                                        </p:attrNameLst>
                                      </p:cBhvr>
                                      <p:tavLst>
                                        <p:tav tm="0">
                                          <p:val>
                                            <p:strVal val="#ppt_w*0.70"/>
                                          </p:val>
                                        </p:tav>
                                        <p:tav tm="100000">
                                          <p:val>
                                            <p:strVal val="#ppt_w"/>
                                          </p:val>
                                        </p:tav>
                                      </p:tavLst>
                                    </p:anim>
                                    <p:anim calcmode="lin" valueType="num">
                                      <p:cBhvr>
                                        <p:cTn id="45" dur="500" fill="hold" decel="100000"/>
                                        <p:tgtEl>
                                          <p:spTgt spid="15"/>
                                        </p:tgtEl>
                                        <p:attrNameLst>
                                          <p:attrName>ppt_h</p:attrName>
                                        </p:attrNameLst>
                                      </p:cBhvr>
                                      <p:tavLst>
                                        <p:tav tm="0">
                                          <p:val>
                                            <p:strVal val="#ppt_h*0.70"/>
                                          </p:val>
                                        </p:tav>
                                        <p:tav tm="100000">
                                          <p:val>
                                            <p:strVal val="#ppt_h"/>
                                          </p:val>
                                        </p:tav>
                                      </p:tavLst>
                                    </p:anim>
                                    <p:animEffect transition="in" filter="fade">
                                      <p:cBhvr>
                                        <p:cTn id="46" dur="500"/>
                                        <p:tgtEl>
                                          <p:spTgt spid="15"/>
                                        </p:tgtEl>
                                      </p:cBhvr>
                                    </p:animEffect>
                                  </p:childTnLst>
                                </p:cTn>
                              </p:par>
                              <p:par>
                                <p:cTn id="50" presetID="10" presetClass="entr" presetSubtype="0" fill="hold" grpId="0" nodeType="withEffect">
                                  <p:stCondLst>
                                    <p:cond delay="140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00"/>
                                        <p:tgtEl>
                                          <p:spTgt spid="16"/>
                                        </p:tgtEl>
                                      </p:cBhvr>
                                    </p:animEffect>
                                  </p:childTnLst>
                                </p:cTn>
                              </p:par>
                              <p:par>
                                <p:cTn id="55" presetID="42" presetClass="entr" presetSubtype="0" fill="hold" grpId="0" nodeType="withEffect">
                                  <p:stCondLst>
                                    <p:cond delay="140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p:cTn id="53" dur="700" fill="hold" decel="100000"/>
                                        <p:tgtEl>
                                          <p:spTgt spid="17"/>
                                        </p:tgtEl>
                                        <p:attrNameLst>
                                          <p:attrName>ppt_x</p:attrName>
                                        </p:attrNameLst>
                                      </p:cBhvr>
                                      <p:tavLst>
                                        <p:tav tm="0">
                                          <p:val>
                                            <p:strVal val="#ppt_x"/>
                                          </p:val>
                                        </p:tav>
                                        <p:tav tm="100000">
                                          <p:val>
                                            <p:strVal val="#ppt_x"/>
                                          </p:val>
                                        </p:tav>
                                      </p:tavLst>
                                    </p:anim>
                                    <p:anim calcmode="lin" valueType="num">
                                      <p:cBhvr>
                                        <p:cTn id="54" dur="700" fill="hold" decel="100000"/>
                                        <p:tgtEl>
                                          <p:spTgt spid="17"/>
                                        </p:tgtEl>
                                        <p:attrNameLst>
                                          <p:attrName>ppt_y</p:attrName>
                                        </p:attrNameLst>
                                      </p:cBhvr>
                                      <p:tavLst>
                                        <p:tav tm="0">
                                          <p:val>
                                            <p:strVal val="#ppt_y+0.04"/>
                                          </p:val>
                                        </p:tav>
                                        <p:tav tm="100000">
                                          <p:val>
                                            <p:strVal val="#ppt_y"/>
                                          </p:val>
                                        </p:tav>
                                      </p:tavLst>
                                    </p:anim>
                                  </p:childTnLst>
                                </p:cTn>
                              </p:par>
                              <p:par>
                                <p:cTn id="60" presetID="53" presetClass="entr" presetSubtype="16" fill="hold" grpId="0" nodeType="withEffect">
                                  <p:stCondLst>
                                    <p:cond delay="1560"/>
                                  </p:stCondLst>
                                  <p:childTnLst>
                                    <p:set>
                                      <p:cBhvr>
                                        <p:cTn id="56" dur="1" fill="hold">
                                          <p:stCondLst>
                                            <p:cond delay="0"/>
                                          </p:stCondLst>
                                        </p:cTn>
                                        <p:tgtEl>
                                          <p:spTgt spid="18"/>
                                        </p:tgtEl>
                                        <p:attrNameLst>
                                          <p:attrName>style.visibility</p:attrName>
                                        </p:attrNameLst>
                                      </p:cBhvr>
                                      <p:to>
                                        <p:strVal val="visible"/>
                                      </p:to>
                                    </p:set>
                                    <p:anim calcmode="lin" valueType="num">
                                      <p:cBhvr>
                                        <p:cTn id="57" dur="500" fill="hold" decel="100000"/>
                                        <p:tgtEl>
                                          <p:spTgt spid="18"/>
                                        </p:tgtEl>
                                        <p:attrNameLst>
                                          <p:attrName>ppt_w</p:attrName>
                                        </p:attrNameLst>
                                      </p:cBhvr>
                                      <p:tavLst>
                                        <p:tav tm="0">
                                          <p:val>
                                            <p:strVal val="#ppt_w*0.70"/>
                                          </p:val>
                                        </p:tav>
                                        <p:tav tm="100000">
                                          <p:val>
                                            <p:strVal val="#ppt_w"/>
                                          </p:val>
                                        </p:tav>
                                      </p:tavLst>
                                    </p:anim>
                                    <p:anim calcmode="lin" valueType="num">
                                      <p:cBhvr>
                                        <p:cTn id="58" dur="500" fill="hold" decel="100000"/>
                                        <p:tgtEl>
                                          <p:spTgt spid="18"/>
                                        </p:tgtEl>
                                        <p:attrNameLst>
                                          <p:attrName>ppt_h</p:attrName>
                                        </p:attrNameLst>
                                      </p:cBhvr>
                                      <p:tavLst>
                                        <p:tav tm="0">
                                          <p:val>
                                            <p:strVal val="#ppt_h*0.70"/>
                                          </p:val>
                                        </p:tav>
                                        <p:tav tm="100000">
                                          <p:val>
                                            <p:strVal val="#ppt_h"/>
                                          </p:val>
                                        </p:tav>
                                      </p:tavLst>
                                    </p:anim>
                                    <p:animEffect transition="in" filter="fade">
                                      <p:cBhvr>
                                        <p:cTn id="59" dur="500"/>
                                        <p:tgtEl>
                                          <p:spTgt spid="18"/>
                                        </p:tgtEl>
                                      </p:cBhvr>
                                    </p:animEffect>
                                  </p:childTnLst>
                                </p:cTn>
                              </p:par>
                              <p:par>
                                <p:cTn id="63" presetID="10" presetClass="entr" presetSubtype="0" fill="hold" grpId="0" nodeType="withEffect">
                                  <p:stCondLst>
                                    <p:cond delay="166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400"/>
                                        <p:tgtEl>
                                          <p:spTgt spid="19"/>
                                        </p:tgtEl>
                                      </p:cBhvr>
                                    </p:animEffect>
                                  </p:childTnLst>
                                </p:cTn>
                              </p:par>
                              <p:par>
                                <p:cTn id="68" presetID="42" presetClass="entr" presetSubtype="0" fill="hold" grpId="0" nodeType="withEffect">
                                  <p:stCondLst>
                                    <p:cond delay="166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700"/>
                                        <p:tgtEl>
                                          <p:spTgt spid="20"/>
                                        </p:tgtEl>
                                      </p:cBhvr>
                                    </p:animEffect>
                                    <p:anim calcmode="lin" valueType="num">
                                      <p:cBhvr>
                                        <p:cTn id="66" dur="700" fill="hold" decel="100000"/>
                                        <p:tgtEl>
                                          <p:spTgt spid="20"/>
                                        </p:tgtEl>
                                        <p:attrNameLst>
                                          <p:attrName>ppt_x</p:attrName>
                                        </p:attrNameLst>
                                      </p:cBhvr>
                                      <p:tavLst>
                                        <p:tav tm="0">
                                          <p:val>
                                            <p:strVal val="#ppt_x"/>
                                          </p:val>
                                        </p:tav>
                                        <p:tav tm="100000">
                                          <p:val>
                                            <p:strVal val="#ppt_x"/>
                                          </p:val>
                                        </p:tav>
                                      </p:tavLst>
                                    </p:anim>
                                    <p:anim calcmode="lin" valueType="num">
                                      <p:cBhvr>
                                        <p:cTn id="67" dur="700" fill="hold" decel="100000"/>
                                        <p:tgtEl>
                                          <p:spTgt spid="20"/>
                                        </p:tgtEl>
                                        <p:attrNameLst>
                                          <p:attrName>ppt_y</p:attrName>
                                        </p:attrNameLst>
                                      </p:cBhvr>
                                      <p:tavLst>
                                        <p:tav tm="0">
                                          <p:val>
                                            <p:strVal val="#ppt_y+0.04"/>
                                          </p:val>
                                        </p:tav>
                                        <p:tav tm="100000">
                                          <p:val>
                                            <p:strVal val="#ppt_y"/>
                                          </p:val>
                                        </p:tav>
                                      </p:tavLst>
                                    </p:anim>
                                  </p:childTnLst>
                                </p:cTn>
                              </p:par>
                              <p:par>
                                <p:cTn id="73" presetID="53" presetClass="entr" presetSubtype="16" fill="hold" grpId="0" nodeType="withEffect">
                                  <p:stCondLst>
                                    <p:cond delay="1820"/>
                                  </p:stCondLst>
                                  <p:childTnLst>
                                    <p:set>
                                      <p:cBhvr>
                                        <p:cTn id="69" dur="1" fill="hold">
                                          <p:stCondLst>
                                            <p:cond delay="0"/>
                                          </p:stCondLst>
                                        </p:cTn>
                                        <p:tgtEl>
                                          <p:spTgt spid="21"/>
                                        </p:tgtEl>
                                        <p:attrNameLst>
                                          <p:attrName>style.visibility</p:attrName>
                                        </p:attrNameLst>
                                      </p:cBhvr>
                                      <p:to>
                                        <p:strVal val="visible"/>
                                      </p:to>
                                    </p:set>
                                    <p:anim calcmode="lin" valueType="num">
                                      <p:cBhvr>
                                        <p:cTn id="70" dur="500" fill="hold" decel="100000"/>
                                        <p:tgtEl>
                                          <p:spTgt spid="21"/>
                                        </p:tgtEl>
                                        <p:attrNameLst>
                                          <p:attrName>ppt_w</p:attrName>
                                        </p:attrNameLst>
                                      </p:cBhvr>
                                      <p:tavLst>
                                        <p:tav tm="0">
                                          <p:val>
                                            <p:strVal val="#ppt_w*0.70"/>
                                          </p:val>
                                        </p:tav>
                                        <p:tav tm="100000">
                                          <p:val>
                                            <p:strVal val="#ppt_w"/>
                                          </p:val>
                                        </p:tav>
                                      </p:tavLst>
                                    </p:anim>
                                    <p:anim calcmode="lin" valueType="num">
                                      <p:cBhvr>
                                        <p:cTn id="71" dur="500" fill="hold" decel="100000"/>
                                        <p:tgtEl>
                                          <p:spTgt spid="21"/>
                                        </p:tgtEl>
                                        <p:attrNameLst>
                                          <p:attrName>ppt_h</p:attrName>
                                        </p:attrNameLst>
                                      </p:cBhvr>
                                      <p:tavLst>
                                        <p:tav tm="0">
                                          <p:val>
                                            <p:strVal val="#ppt_h*0.70"/>
                                          </p:val>
                                        </p:tav>
                                        <p:tav tm="100000">
                                          <p:val>
                                            <p:strVal val="#ppt_h"/>
                                          </p:val>
                                        </p:tav>
                                      </p:tavLst>
                                    </p:anim>
                                    <p:animEffect transition="in" filter="fade">
                                      <p:cBhvr>
                                        <p:cTn id="72" dur="500"/>
                                        <p:tgtEl>
                                          <p:spTgt spid="21"/>
                                        </p:tgtEl>
                                      </p:cBhvr>
                                    </p:animEffect>
                                  </p:childTnLst>
                                </p:cTn>
                              </p:par>
                              <p:par>
                                <p:cTn id="76" presetID="10" presetClass="entr" presetSubtype="0" fill="hold" grpId="0" nodeType="withEffect">
                                  <p:stCondLst>
                                    <p:cond delay="192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par>
                                <p:cTn id="81" presetID="42" presetClass="entr" presetSubtype="0" fill="hold" grpId="0" nodeType="withEffect">
                                  <p:stCondLst>
                                    <p:cond delay="192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p:cTn id="79" dur="700" fill="hold" decel="100000"/>
                                        <p:tgtEl>
                                          <p:spTgt spid="23"/>
                                        </p:tgtEl>
                                        <p:attrNameLst>
                                          <p:attrName>ppt_x</p:attrName>
                                        </p:attrNameLst>
                                      </p:cBhvr>
                                      <p:tavLst>
                                        <p:tav tm="0">
                                          <p:val>
                                            <p:strVal val="#ppt_x"/>
                                          </p:val>
                                        </p:tav>
                                        <p:tav tm="100000">
                                          <p:val>
                                            <p:strVal val="#ppt_x"/>
                                          </p:val>
                                        </p:tav>
                                      </p:tavLst>
                                    </p:anim>
                                    <p:anim calcmode="lin" valueType="num">
                                      <p:cBhvr>
                                        <p:cTn id="80" dur="700" fill="hold" decel="100000"/>
                                        <p:tgtEl>
                                          <p:spTgt spid="23"/>
                                        </p:tgtEl>
                                        <p:attrNameLst>
                                          <p:attrName>ppt_y</p:attrName>
                                        </p:attrNameLst>
                                      </p:cBhvr>
                                      <p:tavLst>
                                        <p:tav tm="0">
                                          <p:val>
                                            <p:strVal val="#ppt_y+0.04"/>
                                          </p:val>
                                        </p:tav>
                                        <p:tav tm="100000">
                                          <p:val>
                                            <p:strVal val="#ppt_y"/>
                                          </p:val>
                                        </p:tav>
                                      </p:tavLst>
                                    </p:anim>
                                  </p:childTnLst>
                                </p:cTn>
                              </p:par>
                              <p:par>
                                <p:cTn id="86" presetID="53" presetClass="entr" presetSubtype="16" fill="hold" grpId="0" nodeType="withEffect">
                                  <p:stCondLst>
                                    <p:cond delay="2080"/>
                                  </p:stCondLst>
                                  <p:childTnLst>
                                    <p:set>
                                      <p:cBhvr>
                                        <p:cTn id="82" dur="1" fill="hold">
                                          <p:stCondLst>
                                            <p:cond delay="0"/>
                                          </p:stCondLst>
                                        </p:cTn>
                                        <p:tgtEl>
                                          <p:spTgt spid="24"/>
                                        </p:tgtEl>
                                        <p:attrNameLst>
                                          <p:attrName>style.visibility</p:attrName>
                                        </p:attrNameLst>
                                      </p:cBhvr>
                                      <p:to>
                                        <p:strVal val="visible"/>
                                      </p:to>
                                    </p:set>
                                    <p:anim calcmode="lin" valueType="num">
                                      <p:cBhvr>
                                        <p:cTn id="83" dur="500" fill="hold" decel="100000"/>
                                        <p:tgtEl>
                                          <p:spTgt spid="24"/>
                                        </p:tgtEl>
                                        <p:attrNameLst>
                                          <p:attrName>ppt_w</p:attrName>
                                        </p:attrNameLst>
                                      </p:cBhvr>
                                      <p:tavLst>
                                        <p:tav tm="0">
                                          <p:val>
                                            <p:strVal val="#ppt_w*0.70"/>
                                          </p:val>
                                        </p:tav>
                                        <p:tav tm="100000">
                                          <p:val>
                                            <p:strVal val="#ppt_w"/>
                                          </p:val>
                                        </p:tav>
                                      </p:tavLst>
                                    </p:anim>
                                    <p:anim calcmode="lin" valueType="num">
                                      <p:cBhvr>
                                        <p:cTn id="84" dur="500" fill="hold" decel="100000"/>
                                        <p:tgtEl>
                                          <p:spTgt spid="24"/>
                                        </p:tgtEl>
                                        <p:attrNameLst>
                                          <p:attrName>ppt_h</p:attrName>
                                        </p:attrNameLst>
                                      </p:cBhvr>
                                      <p:tavLst>
                                        <p:tav tm="0">
                                          <p:val>
                                            <p:strVal val="#ppt_h*0.70"/>
                                          </p:val>
                                        </p:tav>
                                        <p:tav tm="100000">
                                          <p:val>
                                            <p:strVal val="#ppt_h"/>
                                          </p:val>
                                        </p:tav>
                                      </p:tavLst>
                                    </p:anim>
                                    <p:animEffect transition="in" filter="fade">
                                      <p:cBhvr>
                                        <p:cTn id="85" dur="500"/>
                                        <p:tgtEl>
                                          <p:spTgt spid="24"/>
                                        </p:tgtEl>
                                      </p:cBhvr>
                                    </p:animEffect>
                                  </p:childTnLst>
                                </p:cTn>
                              </p:par>
                              <p:par>
                                <p:cTn id="89" presetID="10" presetClass="entr" presetSubtype="0" fill="hold" grpId="0" nodeType="withEffect">
                                  <p:stCondLst>
                                    <p:cond delay="2180"/>
                                  </p:stCondLst>
                                  <p:childTnLst>
                                    <p:set>
                                      <p:cBhvr>
                                        <p:cTn id="87" dur="1" fill="hold">
                                          <p:stCondLst>
                                            <p:cond delay="0"/>
                                          </p:stCondLst>
                                        </p:cTn>
                                        <p:tgtEl>
                                          <p:spTgt spid="25"/>
                                        </p:tgtEl>
                                        <p:attrNameLst>
                                          <p:attrName>style.visibility</p:attrName>
                                        </p:attrNameLst>
                                      </p:cBhvr>
                                      <p:to>
                                        <p:strVal val="visible"/>
                                      </p:to>
                                    </p:set>
                                    <p:animEffect transition="in" filter="fade">
                                      <p:cBhvr>
                                        <p:cTn id="88" dur="400"/>
                                        <p:tgtEl>
                                          <p:spTgt spid="25"/>
                                        </p:tgtEl>
                                      </p:cBhvr>
                                    </p:animEffect>
                                  </p:childTnLst>
                                </p:cTn>
                              </p:par>
                              <p:par>
                                <p:cTn id="94" presetID="42" presetClass="entr" presetSubtype="0" fill="hold" grpId="0" nodeType="withEffect">
                                  <p:stCondLst>
                                    <p:cond delay="218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p:cTn id="92" dur="700" fill="hold" decel="100000"/>
                                        <p:tgtEl>
                                          <p:spTgt spid="26"/>
                                        </p:tgtEl>
                                        <p:attrNameLst>
                                          <p:attrName>ppt_x</p:attrName>
                                        </p:attrNameLst>
                                      </p:cBhvr>
                                      <p:tavLst>
                                        <p:tav tm="0">
                                          <p:val>
                                            <p:strVal val="#ppt_x"/>
                                          </p:val>
                                        </p:tav>
                                        <p:tav tm="100000">
                                          <p:val>
                                            <p:strVal val="#ppt_x"/>
                                          </p:val>
                                        </p:tav>
                                      </p:tavLst>
                                    </p:anim>
                                    <p:anim calcmode="lin" valueType="num">
                                      <p:cBhvr>
                                        <p:cTn id="93" dur="700" fill="hold" decel="100000"/>
                                        <p:tgtEl>
                                          <p:spTgt spid="26"/>
                                        </p:tgtEl>
                                        <p:attrNameLst>
                                          <p:attrName>ppt_y</p:attrName>
                                        </p:attrNameLst>
                                      </p:cBhvr>
                                      <p:tavLst>
                                        <p:tav tm="0">
                                          <p:val>
                                            <p:strVal val="#ppt_y+0.04"/>
                                          </p:val>
                                        </p:tav>
                                        <p:tav tm="100000">
                                          <p:val>
                                            <p:strVal val="#ppt_y"/>
                                          </p:val>
                                        </p:tav>
                                      </p:tavLst>
                                    </p:anim>
                                  </p:childTnLst>
                                </p:cTn>
                              </p:par>
                              <p:par>
                                <p:cTn id="97" presetID="10" presetClass="entr" presetSubtype="0" fill="hold" grpId="0" nodeType="withEffect">
                                  <p:stCondLst>
                                    <p:cond delay="24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7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9" grpId="0" animBg="1"/>
      <p:bldP spid="10" grpId="0" animBg="1"/>
      <p:bldP spid="11" grpId="0" animBg="1"/>
      <p:bldP spid="12" grpId="0" animBg="1"/>
      <p:bldP spid="13" grpId="0" animBg="1"/>
      <p:bldP spid="14" grpId="0" animBg="1"/>
      <p:bldP spid="6" grpId="0" animBg="1"/>
      <p:bldP spid="7"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8.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01 — HISTORY &amp; TYPES</a:t>
            </a:r>
            <a:endParaRPr lang="en-US" sz="1500" dirty="0"/>
          </a:p>
        </p:txBody>
      </p:sp>
      <p:sp>
        <p:nvSpPr>
          <p:cNvPr id="3" name="gastype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Gas: mostly a by-product of oil</a:t>
            </a:r>
            <a:endParaRPr lang="en-US" sz="3800" dirty="0"/>
          </a:p>
        </p:txBody>
      </p:sp>
      <p:graphicFrame>
        <p:nvGraphicFramePr>
          <p:cNvPr id="4" name="gastypes_donut" descr=""/>
          <p:cNvGraphicFramePr/>
          <p:nvPr/>
        </p:nvGraphicFramePr>
        <p:xfrm>
          <a:off x="640080" y="1783080"/>
          <a:ext cx="3931920" cy="3931920"/>
        </p:xfrm>
        <a:graphic xmlns:a="http://schemas.openxmlformats.org/drawingml/2006/main">
          <a:graphicData uri="http://schemas.openxmlformats.org/drawingml/2006/chart">
            <c:chart xmlns:c="http://schemas.openxmlformats.org/drawingml/2006/chart" r:id="rId1"/>
          </a:graphicData>
        </a:graphic>
      </p:graphicFrame>
      <p:sp>
        <p:nvSpPr>
          <p:cNvPr id="5" name="gastypes_t_1"/>
          <p:cNvSpPr txBox="1"/>
          <p:nvPr/>
        </p:nvSpPr>
        <p:spPr>
          <a:xfrm>
            <a:off x="1508760" y="3017520"/>
            <a:ext cx="2194560" cy="822960"/>
          </a:xfrm>
          <a:prstGeom prst="rect">
            <a:avLst/>
          </a:prstGeom>
          <a:noFill/>
          <a:ln/>
        </p:spPr>
        <p:txBody>
          <a:bodyPr wrap="square" lIns="0" tIns="0" rIns="0" bIns="0" rtlCol="0" anchor="t"/>
          <a:lstStyle/>
          <a:p>
            <a:pPr algn="ctr" indent="0" marL="0">
              <a:buNone/>
            </a:pPr>
            <a:r>
              <a:rPr lang="en-US" sz="5400" b="1" dirty="0">
                <a:solidFill>
                  <a:schemeClr val="tx1"/>
                </a:solidFill>
                <a:latin typeface="Arial" pitchFamily="34" charset="0"/>
                <a:ea typeface="Arial" pitchFamily="34" charset="-122"/>
                <a:cs typeface="Arial" pitchFamily="34" charset="-120"/>
              </a:rPr>
              <a:t>70%</a:t>
            </a:r>
            <a:endParaRPr lang="en-US" sz="5400" dirty="0"/>
          </a:p>
        </p:txBody>
      </p:sp>
      <p:sp>
        <p:nvSpPr>
          <p:cNvPr id="6" name="gastypes_t_2"/>
          <p:cNvSpPr txBox="1"/>
          <p:nvPr/>
        </p:nvSpPr>
        <p:spPr>
          <a:xfrm>
            <a:off x="1600200" y="3822192"/>
            <a:ext cx="2011680" cy="320040"/>
          </a:xfrm>
          <a:prstGeom prst="rect">
            <a:avLst/>
          </a:prstGeom>
          <a:noFill/>
          <a:ln/>
        </p:spPr>
        <p:txBody>
          <a:bodyPr wrap="square" lIns="0" tIns="0" rIns="0" bIns="0" rtlCol="0" anchor="t"/>
          <a:lstStyle/>
          <a:p>
            <a:pPr algn="ctr" indent="0" marL="0">
              <a:buNone/>
            </a:pPr>
            <a:r>
              <a:rPr lang="en-US" sz="1400" dirty="0">
                <a:solidFill>
                  <a:schemeClr val="tx2"/>
                </a:solidFill>
                <a:latin typeface="Arial" pitchFamily="34" charset="0"/>
                <a:ea typeface="Arial" pitchFamily="34" charset="-122"/>
                <a:cs typeface="Arial" pitchFamily="34" charset="-120"/>
              </a:rPr>
              <a:t>associated gas, 2021</a:t>
            </a:r>
            <a:endParaRPr lang="en-US" sz="1400" dirty="0"/>
          </a:p>
        </p:txBody>
      </p:sp>
      <p:sp>
        <p:nvSpPr>
          <p:cNvPr id="7" name="gastypes_s_3"/>
          <p:cNvSpPr/>
          <p:nvPr/>
        </p:nvSpPr>
        <p:spPr>
          <a:xfrm>
            <a:off x="5257800" y="1874520"/>
            <a:ext cx="731520" cy="731520"/>
          </a:xfrm>
          <a:prstGeom prst="ellipse">
            <a:avLst/>
          </a:prstGeom>
          <a:solidFill>
            <a:srgbClr val="2C2C2E"/>
          </a:solidFill>
          <a:ln/>
        </p:spPr>
      </p:sp>
      <p:pic>
        <p:nvPicPr>
          <p:cNvPr id="8" name="gastypes_i_4" descr="preencoded.png">    </p:cNvPr>
          <p:cNvPicPr>
            <a:picLocks noChangeAspect="1"/>
          </p:cNvPicPr>
          <p:nvPr/>
        </p:nvPicPr>
        <p:blipFill>
          <a:blip r:embed="rId2"/>
          <a:stretch>
            <a:fillRect/>
          </a:stretch>
        </p:blipFill>
        <p:spPr>
          <a:xfrm>
            <a:off x="5431536" y="2048256"/>
            <a:ext cx="384048" cy="384048"/>
          </a:xfrm>
          <a:prstGeom prst="rect">
            <a:avLst/>
          </a:prstGeom>
        </p:spPr>
      </p:pic>
      <p:sp>
        <p:nvSpPr>
          <p:cNvPr id="9" name="gastypes_t_5"/>
          <p:cNvSpPr txBox="1"/>
          <p:nvPr/>
        </p:nvSpPr>
        <p:spPr>
          <a:xfrm>
            <a:off x="6263640" y="1856232"/>
            <a:ext cx="5394960"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Associated gas</a:t>
            </a:r>
            <a:endParaRPr lang="en-US" sz="2200" dirty="0"/>
          </a:p>
        </p:txBody>
      </p:sp>
      <p:sp>
        <p:nvSpPr>
          <p:cNvPr id="10" name="gastypes_t_6"/>
          <p:cNvSpPr txBox="1"/>
          <p:nvPr/>
        </p:nvSpPr>
        <p:spPr>
          <a:xfrm>
            <a:off x="6263640" y="2267712"/>
            <a:ext cx="5394960" cy="59436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Released with crude oil; output rises and falls with oil quotas</a:t>
            </a:r>
            <a:endParaRPr lang="en-US" sz="1600" dirty="0"/>
          </a:p>
        </p:txBody>
      </p:sp>
      <p:sp>
        <p:nvSpPr>
          <p:cNvPr id="11" name="gastypes_s_7"/>
          <p:cNvSpPr/>
          <p:nvPr/>
        </p:nvSpPr>
        <p:spPr>
          <a:xfrm>
            <a:off x="5257800" y="3063240"/>
            <a:ext cx="731520" cy="731520"/>
          </a:xfrm>
          <a:prstGeom prst="ellipse">
            <a:avLst/>
          </a:prstGeom>
          <a:solidFill>
            <a:srgbClr val="2C2C2E"/>
          </a:solidFill>
          <a:ln/>
        </p:spPr>
      </p:sp>
      <p:pic>
        <p:nvPicPr>
          <p:cNvPr id="12" name="gastypes_i_8" descr="preencoded.png">    </p:cNvPr>
          <p:cNvPicPr>
            <a:picLocks noChangeAspect="1"/>
          </p:cNvPicPr>
          <p:nvPr/>
        </p:nvPicPr>
        <p:blipFill>
          <a:blip r:embed="rId3"/>
          <a:stretch>
            <a:fillRect/>
          </a:stretch>
        </p:blipFill>
        <p:spPr>
          <a:xfrm>
            <a:off x="5431536" y="3236976"/>
            <a:ext cx="384048" cy="384048"/>
          </a:xfrm>
          <a:prstGeom prst="rect">
            <a:avLst/>
          </a:prstGeom>
        </p:spPr>
      </p:pic>
      <p:sp>
        <p:nvSpPr>
          <p:cNvPr id="13" name="gastypes_t_9"/>
          <p:cNvSpPr txBox="1"/>
          <p:nvPr/>
        </p:nvSpPr>
        <p:spPr>
          <a:xfrm>
            <a:off x="6263640" y="3044952"/>
            <a:ext cx="5394960"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Non-associated Jurassic gas</a:t>
            </a:r>
            <a:endParaRPr lang="en-US" sz="2200" dirty="0"/>
          </a:p>
        </p:txBody>
      </p:sp>
      <p:sp>
        <p:nvSpPr>
          <p:cNvPr id="14" name="gastypes_t_10"/>
          <p:cNvSpPr txBox="1"/>
          <p:nvPr/>
        </p:nvSpPr>
        <p:spPr>
          <a:xfrm>
            <a:off x="6263640" y="3456432"/>
            <a:ext cx="5394960" cy="59436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Deep, high-pressure, sour gas in North Kuwait; on stream since 2018</a:t>
            </a:r>
            <a:endParaRPr lang="en-US" sz="1600" dirty="0"/>
          </a:p>
        </p:txBody>
      </p:sp>
      <p:sp>
        <p:nvSpPr>
          <p:cNvPr id="15" name="gastypes_s_11"/>
          <p:cNvSpPr/>
          <p:nvPr/>
        </p:nvSpPr>
        <p:spPr>
          <a:xfrm>
            <a:off x="5257800" y="4251960"/>
            <a:ext cx="731520" cy="731520"/>
          </a:xfrm>
          <a:prstGeom prst="ellipse">
            <a:avLst/>
          </a:prstGeom>
          <a:solidFill>
            <a:srgbClr val="2C2C2E"/>
          </a:solidFill>
          <a:ln/>
        </p:spPr>
      </p:sp>
      <p:pic>
        <p:nvPicPr>
          <p:cNvPr id="16" name="gastypes_i_12" descr="preencoded.png">    </p:cNvPr>
          <p:cNvPicPr>
            <a:picLocks noChangeAspect="1"/>
          </p:cNvPicPr>
          <p:nvPr/>
        </p:nvPicPr>
        <p:blipFill>
          <a:blip r:embed="rId4"/>
          <a:stretch>
            <a:fillRect/>
          </a:stretch>
        </p:blipFill>
        <p:spPr>
          <a:xfrm>
            <a:off x="5431536" y="4425696"/>
            <a:ext cx="384048" cy="384048"/>
          </a:xfrm>
          <a:prstGeom prst="rect">
            <a:avLst/>
          </a:prstGeom>
        </p:spPr>
      </p:pic>
      <p:sp>
        <p:nvSpPr>
          <p:cNvPr id="17" name="gastypes_t_13"/>
          <p:cNvSpPr txBox="1"/>
          <p:nvPr/>
        </p:nvSpPr>
        <p:spPr>
          <a:xfrm>
            <a:off x="6263640" y="4233672"/>
            <a:ext cx="5394960" cy="411480"/>
          </a:xfrm>
          <a:prstGeom prst="rect">
            <a:avLst/>
          </a:prstGeom>
          <a:noFill/>
          <a:ln/>
        </p:spPr>
        <p:txBody>
          <a:bodyPr wrap="square" lIns="0" tIns="0" rIns="0" bIns="0" rtlCol="0" anchor="t"/>
          <a:lstStyle/>
          <a:p>
            <a:pPr indent="0" marL="0">
              <a:buNone/>
            </a:pPr>
            <a:r>
              <a:rPr lang="en-US" sz="2200" b="1" dirty="0">
                <a:solidFill>
                  <a:schemeClr val="tx1"/>
                </a:solidFill>
                <a:latin typeface="Arial" pitchFamily="34" charset="0"/>
                <a:ea typeface="Arial" pitchFamily="34" charset="-122"/>
                <a:cs typeface="Arial" pitchFamily="34" charset="-120"/>
              </a:rPr>
              <a:t>Imported LNG</a:t>
            </a:r>
            <a:endParaRPr lang="en-US" sz="2200" dirty="0"/>
          </a:p>
        </p:txBody>
      </p:sp>
      <p:sp>
        <p:nvSpPr>
          <p:cNvPr id="18" name="gastypes_t_14"/>
          <p:cNvSpPr txBox="1"/>
          <p:nvPr/>
        </p:nvSpPr>
        <p:spPr>
          <a:xfrm>
            <a:off x="6263640" y="4645152"/>
            <a:ext cx="5394960" cy="59436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Since 2009; about 40% of the gas used in 2024 was imported</a:t>
            </a:r>
            <a:endParaRPr lang="en-US" sz="1600" dirty="0"/>
          </a:p>
        </p:txBody>
      </p:sp>
      <p:sp>
        <p:nvSpPr>
          <p:cNvPr id="19" name="gastypes_t_15"/>
          <p:cNvSpPr txBox="1"/>
          <p:nvPr/>
        </p:nvSpPr>
        <p:spPr>
          <a:xfrm>
            <a:off x="5257800" y="5440680"/>
            <a:ext cx="6400800" cy="365760"/>
          </a:xfrm>
          <a:prstGeom prst="rect">
            <a:avLst/>
          </a:prstGeom>
          <a:noFill/>
          <a:ln/>
        </p:spPr>
        <p:txBody>
          <a:bodyPr wrap="square" lIns="0" tIns="0" rIns="0" bIns="0" rtlCol="0" anchor="t"/>
          <a:lstStyle/>
          <a:p>
            <a:pPr indent="0" marL="0">
              <a:buNone/>
            </a:pPr>
            <a:r>
              <a:rPr lang="en-US" sz="1700" b="1" dirty="0">
                <a:solidFill>
                  <a:schemeClr val="accent2"/>
                </a:solidFill>
                <a:latin typeface="Arial" pitchFamily="34" charset="0"/>
                <a:ea typeface="Arial" pitchFamily="34" charset="-122"/>
                <a:cs typeface="Arial" pitchFamily="34" charset="-120"/>
              </a:rPr>
              <a:t>63 Tcf </a:t>
            </a:r>
            <a:pPr indent="0" marL="0">
              <a:buNone/>
            </a:pPr>
            <a:r>
              <a:rPr lang="en-US" sz="1700" dirty="0">
                <a:solidFill>
                  <a:schemeClr val="tx2"/>
                </a:solidFill>
                <a:latin typeface="Arial" pitchFamily="34" charset="0"/>
                <a:ea typeface="Arial" pitchFamily="34" charset="-122"/>
                <a:cs typeface="Arial" pitchFamily="34" charset="-120"/>
              </a:rPr>
              <a:t>(1.78 trillion m³) proven gas reserves, &lt;1% of world</a:t>
            </a:r>
            <a:endParaRPr lang="en-US" sz="1700" dirty="0"/>
          </a:p>
        </p:txBody>
      </p:sp>
      <p:sp>
        <p:nvSpPr>
          <p:cNvPr id="20" name="gastypes_t_16"/>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EIA Country Analysis Brief: Kuwait (2023); Energy Institute Statistical Review (2025); S&amp;P Global (2018); OPEC ASB.</a:t>
            </a:r>
            <a:endParaRPr lang="en-US" sz="1200" dirty="0"/>
          </a:p>
        </p:txBody>
      </p:sp>
      <p:sp>
        <p:nvSpPr>
          <p:cNvPr id="21" name="gastypes_home_17">
            <a:hlinkClick r:id="rId5"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22" name="gastypes_i_18" descr="preencoded.png">    </p:cNvPr>
          <p:cNvPicPr>
            <a:picLocks noChangeAspect="1"/>
          </p:cNvPicPr>
          <p:nvPr/>
        </p:nvPicPr>
        <p:blipFill>
          <a:blip r:embed="rId6"/>
          <a:stretch>
            <a:fillRect/>
          </a:stretch>
        </p:blipFill>
        <p:spPr>
          <a:xfrm>
            <a:off x="10719511" y="6355080"/>
            <a:ext cx="219456" cy="219456"/>
          </a:xfrm>
          <a:prstGeom prst="rect">
            <a:avLst/>
          </a:prstGeom>
        </p:spPr>
      </p:pic>
      <p:sp>
        <p:nvSpPr>
          <p:cNvPr id="23" name="gastypes_s_19">
            <a:hlinkClick r:id="rId7"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4" presetID="53" presetClass="entr" presetSubtype="16"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 calcmode="lin" valueType="num">
                                      <p:cBhvr>
                                        <p:cTn id="11" dur="1100" fill="hold" decel="100000"/>
                                        <p:tgtEl>
                                          <p:spTgt spid="4"/>
                                        </p:tgtEl>
                                        <p:attrNameLst>
                                          <p:attrName>ppt_w</p:attrName>
                                        </p:attrNameLst>
                                      </p:cBhvr>
                                      <p:tavLst>
                                        <p:tav tm="0">
                                          <p:val>
                                            <p:strVal val="#ppt_w*0.70"/>
                                          </p:val>
                                        </p:tav>
                                        <p:tav tm="100000">
                                          <p:val>
                                            <p:strVal val="#ppt_w"/>
                                          </p:val>
                                        </p:tav>
                                      </p:tavLst>
                                    </p:anim>
                                    <p:anim calcmode="lin" valueType="num">
                                      <p:cBhvr>
                                        <p:cTn id="12" dur="1100" fill="hold" decel="100000"/>
                                        <p:tgtEl>
                                          <p:spTgt spid="4"/>
                                        </p:tgtEl>
                                        <p:attrNameLst>
                                          <p:attrName>ppt_h</p:attrName>
                                        </p:attrNameLst>
                                      </p:cBhvr>
                                      <p:tavLst>
                                        <p:tav tm="0">
                                          <p:val>
                                            <p:strVal val="#ppt_h*0.70"/>
                                          </p:val>
                                        </p:tav>
                                        <p:tav tm="100000">
                                          <p:val>
                                            <p:strVal val="#ppt_h"/>
                                          </p:val>
                                        </p:tav>
                                      </p:tavLst>
                                    </p:anim>
                                    <p:animEffect transition="in" filter="fade">
                                      <p:cBhvr>
                                        <p:cTn id="13" dur="1100"/>
                                        <p:tgtEl>
                                          <p:spTgt spid="4"/>
                                        </p:tgtEl>
                                      </p:cBhvr>
                                    </p:animEffect>
                                  </p:childTnLst>
                                </p:cTn>
                              </p:par>
                              <p:par>
                                <p:cTn id="17" presetID="10" presetClass="entr" presetSubtype="0" fill="hold" grpId="0" nodeType="withEffect">
                                  <p:stCondLst>
                                    <p:cond delay="9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childTnLst>
                                </p:cTn>
                              </p:par>
                              <p:par>
                                <p:cTn id="22" presetID="53" presetClass="entr" presetSubtype="16" fill="hold" grpId="0" nodeType="withEffect">
                                  <p:stCondLst>
                                    <p:cond delay="900"/>
                                  </p:stCondLst>
                                  <p:childTnLst>
                                    <p:set>
                                      <p:cBhvr>
                                        <p:cTn id="18" dur="1" fill="hold">
                                          <p:stCondLst>
                                            <p:cond delay="0"/>
                                          </p:stCondLst>
                                        </p:cTn>
                                        <p:tgtEl>
                                          <p:spTgt spid="7"/>
                                        </p:tgtEl>
                                        <p:attrNameLst>
                                          <p:attrName>style.visibility</p:attrName>
                                        </p:attrNameLst>
                                      </p:cBhvr>
                                      <p:to>
                                        <p:strVal val="visible"/>
                                      </p:to>
                                    </p:set>
                                    <p:anim calcmode="lin" valueType="num">
                                      <p:cBhvr>
                                        <p:cTn id="19" dur="600" fill="hold" decel="100000"/>
                                        <p:tgtEl>
                                          <p:spTgt spid="7"/>
                                        </p:tgtEl>
                                        <p:attrNameLst>
                                          <p:attrName>ppt_w</p:attrName>
                                        </p:attrNameLst>
                                      </p:cBhvr>
                                      <p:tavLst>
                                        <p:tav tm="0">
                                          <p:val>
                                            <p:strVal val="#ppt_w*0.70"/>
                                          </p:val>
                                        </p:tav>
                                        <p:tav tm="100000">
                                          <p:val>
                                            <p:strVal val="#ppt_w"/>
                                          </p:val>
                                        </p:tav>
                                      </p:tavLst>
                                    </p:anim>
                                    <p:anim calcmode="lin" valueType="num">
                                      <p:cBhvr>
                                        <p:cTn id="20" dur="600" fill="hold" decel="100000"/>
                                        <p:tgtEl>
                                          <p:spTgt spid="7"/>
                                        </p:tgtEl>
                                        <p:attrNameLst>
                                          <p:attrName>ppt_h</p:attrName>
                                        </p:attrNameLst>
                                      </p:cBhvr>
                                      <p:tavLst>
                                        <p:tav tm="0">
                                          <p:val>
                                            <p:strVal val="#ppt_h*0.70"/>
                                          </p:val>
                                        </p:tav>
                                        <p:tav tm="100000">
                                          <p:val>
                                            <p:strVal val="#ppt_h"/>
                                          </p:val>
                                        </p:tav>
                                      </p:tavLst>
                                    </p:anim>
                                    <p:animEffect transition="in" filter="fade">
                                      <p:cBhvr>
                                        <p:cTn id="21" dur="600"/>
                                        <p:tgtEl>
                                          <p:spTgt spid="7"/>
                                        </p:tgtEl>
                                      </p:cBhvr>
                                    </p:animEffect>
                                  </p:childTnLst>
                                </p:cTn>
                              </p:par>
                              <p:par>
                                <p:cTn id="27" presetID="53" presetClass="entr" presetSubtype="16" fill="hold" grpId="0" nodeType="withEffect">
                                  <p:stCondLst>
                                    <p:cond delay="900"/>
                                  </p:stCondLst>
                                  <p:childTnLst>
                                    <p:set>
                                      <p:cBhvr>
                                        <p:cTn id="23" dur="1" fill="hold">
                                          <p:stCondLst>
                                            <p:cond delay="0"/>
                                          </p:stCondLst>
                                        </p:cTn>
                                        <p:tgtEl>
                                          <p:spTgt spid="8"/>
                                        </p:tgtEl>
                                        <p:attrNameLst>
                                          <p:attrName>style.visibility</p:attrName>
                                        </p:attrNameLst>
                                      </p:cBhvr>
                                      <p:to>
                                        <p:strVal val="visible"/>
                                      </p:to>
                                    </p:set>
                                    <p:anim calcmode="lin" valueType="num">
                                      <p:cBhvr>
                                        <p:cTn id="24" dur="600" fill="hold" decel="100000"/>
                                        <p:tgtEl>
                                          <p:spTgt spid="8"/>
                                        </p:tgtEl>
                                        <p:attrNameLst>
                                          <p:attrName>ppt_w</p:attrName>
                                        </p:attrNameLst>
                                      </p:cBhvr>
                                      <p:tavLst>
                                        <p:tav tm="0">
                                          <p:val>
                                            <p:strVal val="#ppt_w*0.70"/>
                                          </p:val>
                                        </p:tav>
                                        <p:tav tm="100000">
                                          <p:val>
                                            <p:strVal val="#ppt_w"/>
                                          </p:val>
                                        </p:tav>
                                      </p:tavLst>
                                    </p:anim>
                                    <p:anim calcmode="lin" valueType="num">
                                      <p:cBhvr>
                                        <p:cTn id="25" dur="600" fill="hold" decel="100000"/>
                                        <p:tgtEl>
                                          <p:spTgt spid="8"/>
                                        </p:tgtEl>
                                        <p:attrNameLst>
                                          <p:attrName>ppt_h</p:attrName>
                                        </p:attrNameLst>
                                      </p:cBhvr>
                                      <p:tavLst>
                                        <p:tav tm="0">
                                          <p:val>
                                            <p:strVal val="#ppt_h*0.70"/>
                                          </p:val>
                                        </p:tav>
                                        <p:tav tm="100000">
                                          <p:val>
                                            <p:strVal val="#ppt_h"/>
                                          </p:val>
                                        </p:tav>
                                      </p:tavLst>
                                    </p:anim>
                                    <p:animEffect transition="in" filter="fade">
                                      <p:cBhvr>
                                        <p:cTn id="26" dur="600"/>
                                        <p:tgtEl>
                                          <p:spTgt spid="8"/>
                                        </p:tgtEl>
                                      </p:cBhvr>
                                    </p:animEffect>
                                  </p:childTnLst>
                                </p:cTn>
                              </p:par>
                              <p:par>
                                <p:cTn id="30" presetID="10" presetClass="entr" presetSubtype="0" fill="hold" grpId="0" nodeType="withEffect">
                                  <p:stCondLst>
                                    <p:cond delay="10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700"/>
                                        <p:tgtEl>
                                          <p:spTgt spid="6"/>
                                        </p:tgtEl>
                                      </p:cBhvr>
                                    </p:animEffect>
                                  </p:childTnLst>
                                </p:cTn>
                              </p:par>
                              <p:par>
                                <p:cTn id="35" presetID="42" presetClass="entr" presetSubtype="0" fill="hold" grpId="0" nodeType="withEffect">
                                  <p:stCondLst>
                                    <p:cond delay="10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700"/>
                                        <p:tgtEl>
                                          <p:spTgt spid="9"/>
                                        </p:tgtEl>
                                      </p:cBhvr>
                                    </p:animEffect>
                                    <p:anim calcmode="lin" valueType="num">
                                      <p:cBhvr>
                                        <p:cTn id="33" dur="700" fill="hold" decel="100000"/>
                                        <p:tgtEl>
                                          <p:spTgt spid="9"/>
                                        </p:tgtEl>
                                        <p:attrNameLst>
                                          <p:attrName>ppt_x</p:attrName>
                                        </p:attrNameLst>
                                      </p:cBhvr>
                                      <p:tavLst>
                                        <p:tav tm="0">
                                          <p:val>
                                            <p:strVal val="#ppt_x"/>
                                          </p:val>
                                        </p:tav>
                                        <p:tav tm="100000">
                                          <p:val>
                                            <p:strVal val="#ppt_x"/>
                                          </p:val>
                                        </p:tav>
                                      </p:tavLst>
                                    </p:anim>
                                    <p:anim calcmode="lin" valueType="num">
                                      <p:cBhvr>
                                        <p:cTn id="34" dur="700" fill="hold" decel="100000"/>
                                        <p:tgtEl>
                                          <p:spTgt spid="9"/>
                                        </p:tgtEl>
                                        <p:attrNameLst>
                                          <p:attrName>ppt_y</p:attrName>
                                        </p:attrNameLst>
                                      </p:cBhvr>
                                      <p:tavLst>
                                        <p:tav tm="0">
                                          <p:val>
                                            <p:strVal val="#ppt_y+0.04"/>
                                          </p:val>
                                        </p:tav>
                                        <p:tav tm="100000">
                                          <p:val>
                                            <p:strVal val="#ppt_y"/>
                                          </p:val>
                                        </p:tav>
                                      </p:tavLst>
                                    </p:anim>
                                  </p:childTnLst>
                                </p:cTn>
                              </p:par>
                              <p:par>
                                <p:cTn id="38" presetID="10" presetClass="entr" presetSubtype="0" fill="hold" grpId="0" nodeType="withEffect">
                                  <p:stCondLst>
                                    <p:cond delay="110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700"/>
                                        <p:tgtEl>
                                          <p:spTgt spid="10"/>
                                        </p:tgtEl>
                                      </p:cBhvr>
                                    </p:animEffect>
                                  </p:childTnLst>
                                </p:cTn>
                              </p:par>
                              <p:par>
                                <p:cTn id="43" presetID="53" presetClass="entr" presetSubtype="16" fill="hold" grpId="0" nodeType="withEffect">
                                  <p:stCondLst>
                                    <p:cond delay="1180"/>
                                  </p:stCondLst>
                                  <p:childTnLst>
                                    <p:set>
                                      <p:cBhvr>
                                        <p:cTn id="39" dur="1" fill="hold">
                                          <p:stCondLst>
                                            <p:cond delay="0"/>
                                          </p:stCondLst>
                                        </p:cTn>
                                        <p:tgtEl>
                                          <p:spTgt spid="11"/>
                                        </p:tgtEl>
                                        <p:attrNameLst>
                                          <p:attrName>style.visibility</p:attrName>
                                        </p:attrNameLst>
                                      </p:cBhvr>
                                      <p:to>
                                        <p:strVal val="visible"/>
                                      </p:to>
                                    </p:set>
                                    <p:anim calcmode="lin" valueType="num">
                                      <p:cBhvr>
                                        <p:cTn id="40" dur="600" fill="hold" decel="100000"/>
                                        <p:tgtEl>
                                          <p:spTgt spid="11"/>
                                        </p:tgtEl>
                                        <p:attrNameLst>
                                          <p:attrName>ppt_w</p:attrName>
                                        </p:attrNameLst>
                                      </p:cBhvr>
                                      <p:tavLst>
                                        <p:tav tm="0">
                                          <p:val>
                                            <p:strVal val="#ppt_w*0.70"/>
                                          </p:val>
                                        </p:tav>
                                        <p:tav tm="100000">
                                          <p:val>
                                            <p:strVal val="#ppt_w"/>
                                          </p:val>
                                        </p:tav>
                                      </p:tavLst>
                                    </p:anim>
                                    <p:anim calcmode="lin" valueType="num">
                                      <p:cBhvr>
                                        <p:cTn id="41" dur="600" fill="hold" decel="100000"/>
                                        <p:tgtEl>
                                          <p:spTgt spid="11"/>
                                        </p:tgtEl>
                                        <p:attrNameLst>
                                          <p:attrName>ppt_h</p:attrName>
                                        </p:attrNameLst>
                                      </p:cBhvr>
                                      <p:tavLst>
                                        <p:tav tm="0">
                                          <p:val>
                                            <p:strVal val="#ppt_h*0.70"/>
                                          </p:val>
                                        </p:tav>
                                        <p:tav tm="100000">
                                          <p:val>
                                            <p:strVal val="#ppt_h"/>
                                          </p:val>
                                        </p:tav>
                                      </p:tavLst>
                                    </p:anim>
                                    <p:animEffect transition="in" filter="fade">
                                      <p:cBhvr>
                                        <p:cTn id="42" dur="600"/>
                                        <p:tgtEl>
                                          <p:spTgt spid="11"/>
                                        </p:tgtEl>
                                      </p:cBhvr>
                                    </p:animEffect>
                                  </p:childTnLst>
                                </p:cTn>
                              </p:par>
                              <p:par>
                                <p:cTn id="48" presetID="53" presetClass="entr" presetSubtype="16" fill="hold" grpId="0" nodeType="withEffect">
                                  <p:stCondLst>
                                    <p:cond delay="1180"/>
                                  </p:stCondLst>
                                  <p:childTnLst>
                                    <p:set>
                                      <p:cBhvr>
                                        <p:cTn id="44" dur="1" fill="hold">
                                          <p:stCondLst>
                                            <p:cond delay="0"/>
                                          </p:stCondLst>
                                        </p:cTn>
                                        <p:tgtEl>
                                          <p:spTgt spid="12"/>
                                        </p:tgtEl>
                                        <p:attrNameLst>
                                          <p:attrName>style.visibility</p:attrName>
                                        </p:attrNameLst>
                                      </p:cBhvr>
                                      <p:to>
                                        <p:strVal val="visible"/>
                                      </p:to>
                                    </p:set>
                                    <p:anim calcmode="lin" valueType="num">
                                      <p:cBhvr>
                                        <p:cTn id="45" dur="600" fill="hold" decel="100000"/>
                                        <p:tgtEl>
                                          <p:spTgt spid="12"/>
                                        </p:tgtEl>
                                        <p:attrNameLst>
                                          <p:attrName>ppt_w</p:attrName>
                                        </p:attrNameLst>
                                      </p:cBhvr>
                                      <p:tavLst>
                                        <p:tav tm="0">
                                          <p:val>
                                            <p:strVal val="#ppt_w*0.70"/>
                                          </p:val>
                                        </p:tav>
                                        <p:tav tm="100000">
                                          <p:val>
                                            <p:strVal val="#ppt_w"/>
                                          </p:val>
                                        </p:tav>
                                      </p:tavLst>
                                    </p:anim>
                                    <p:anim calcmode="lin" valueType="num">
                                      <p:cBhvr>
                                        <p:cTn id="46" dur="600" fill="hold" decel="100000"/>
                                        <p:tgtEl>
                                          <p:spTgt spid="12"/>
                                        </p:tgtEl>
                                        <p:attrNameLst>
                                          <p:attrName>ppt_h</p:attrName>
                                        </p:attrNameLst>
                                      </p:cBhvr>
                                      <p:tavLst>
                                        <p:tav tm="0">
                                          <p:val>
                                            <p:strVal val="#ppt_h*0.70"/>
                                          </p:val>
                                        </p:tav>
                                        <p:tav tm="100000">
                                          <p:val>
                                            <p:strVal val="#ppt_h"/>
                                          </p:val>
                                        </p:tav>
                                      </p:tavLst>
                                    </p:anim>
                                    <p:animEffect transition="in" filter="fade">
                                      <p:cBhvr>
                                        <p:cTn id="47" dur="600"/>
                                        <p:tgtEl>
                                          <p:spTgt spid="12"/>
                                        </p:tgtEl>
                                      </p:cBhvr>
                                    </p:animEffect>
                                  </p:childTnLst>
                                </p:cTn>
                              </p:par>
                              <p:par>
                                <p:cTn id="53" presetID="42" presetClass="entr" presetSubtype="0" fill="hold" grpId="0" nodeType="withEffect">
                                  <p:stCondLst>
                                    <p:cond delay="128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700"/>
                                        <p:tgtEl>
                                          <p:spTgt spid="13"/>
                                        </p:tgtEl>
                                      </p:cBhvr>
                                    </p:animEffect>
                                    <p:anim calcmode="lin" valueType="num">
                                      <p:cBhvr>
                                        <p:cTn id="51" dur="700" fill="hold" decel="100000"/>
                                        <p:tgtEl>
                                          <p:spTgt spid="13"/>
                                        </p:tgtEl>
                                        <p:attrNameLst>
                                          <p:attrName>ppt_x</p:attrName>
                                        </p:attrNameLst>
                                      </p:cBhvr>
                                      <p:tavLst>
                                        <p:tav tm="0">
                                          <p:val>
                                            <p:strVal val="#ppt_x"/>
                                          </p:val>
                                        </p:tav>
                                        <p:tav tm="100000">
                                          <p:val>
                                            <p:strVal val="#ppt_x"/>
                                          </p:val>
                                        </p:tav>
                                      </p:tavLst>
                                    </p:anim>
                                    <p:anim calcmode="lin" valueType="num">
                                      <p:cBhvr>
                                        <p:cTn id="52" dur="700" fill="hold" decel="100000"/>
                                        <p:tgtEl>
                                          <p:spTgt spid="13"/>
                                        </p:tgtEl>
                                        <p:attrNameLst>
                                          <p:attrName>ppt_y</p:attrName>
                                        </p:attrNameLst>
                                      </p:cBhvr>
                                      <p:tavLst>
                                        <p:tav tm="0">
                                          <p:val>
                                            <p:strVal val="#ppt_y+0.04"/>
                                          </p:val>
                                        </p:tav>
                                        <p:tav tm="100000">
                                          <p:val>
                                            <p:strVal val="#ppt_y"/>
                                          </p:val>
                                        </p:tav>
                                      </p:tavLst>
                                    </p:anim>
                                  </p:childTnLst>
                                </p:cTn>
                              </p:par>
                              <p:par>
                                <p:cTn id="56" presetID="10" presetClass="entr" presetSubtype="0" fill="hold" grpId="0" nodeType="withEffect">
                                  <p:stCondLst>
                                    <p:cond delay="138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700"/>
                                        <p:tgtEl>
                                          <p:spTgt spid="14"/>
                                        </p:tgtEl>
                                      </p:cBhvr>
                                    </p:animEffect>
                                  </p:childTnLst>
                                </p:cTn>
                              </p:par>
                              <p:par>
                                <p:cTn id="61" presetID="53" presetClass="entr" presetSubtype="16" fill="hold" grpId="0" nodeType="withEffect">
                                  <p:stCondLst>
                                    <p:cond delay="1460"/>
                                  </p:stCondLst>
                                  <p:childTnLst>
                                    <p:set>
                                      <p:cBhvr>
                                        <p:cTn id="57" dur="1" fill="hold">
                                          <p:stCondLst>
                                            <p:cond delay="0"/>
                                          </p:stCondLst>
                                        </p:cTn>
                                        <p:tgtEl>
                                          <p:spTgt spid="15"/>
                                        </p:tgtEl>
                                        <p:attrNameLst>
                                          <p:attrName>style.visibility</p:attrName>
                                        </p:attrNameLst>
                                      </p:cBhvr>
                                      <p:to>
                                        <p:strVal val="visible"/>
                                      </p:to>
                                    </p:set>
                                    <p:anim calcmode="lin" valueType="num">
                                      <p:cBhvr>
                                        <p:cTn id="58" dur="600" fill="hold" decel="100000"/>
                                        <p:tgtEl>
                                          <p:spTgt spid="15"/>
                                        </p:tgtEl>
                                        <p:attrNameLst>
                                          <p:attrName>ppt_w</p:attrName>
                                        </p:attrNameLst>
                                      </p:cBhvr>
                                      <p:tavLst>
                                        <p:tav tm="0">
                                          <p:val>
                                            <p:strVal val="#ppt_w*0.70"/>
                                          </p:val>
                                        </p:tav>
                                        <p:tav tm="100000">
                                          <p:val>
                                            <p:strVal val="#ppt_w"/>
                                          </p:val>
                                        </p:tav>
                                      </p:tavLst>
                                    </p:anim>
                                    <p:anim calcmode="lin" valueType="num">
                                      <p:cBhvr>
                                        <p:cTn id="59" dur="600" fill="hold" decel="100000"/>
                                        <p:tgtEl>
                                          <p:spTgt spid="15"/>
                                        </p:tgtEl>
                                        <p:attrNameLst>
                                          <p:attrName>ppt_h</p:attrName>
                                        </p:attrNameLst>
                                      </p:cBhvr>
                                      <p:tavLst>
                                        <p:tav tm="0">
                                          <p:val>
                                            <p:strVal val="#ppt_h*0.70"/>
                                          </p:val>
                                        </p:tav>
                                        <p:tav tm="100000">
                                          <p:val>
                                            <p:strVal val="#ppt_h"/>
                                          </p:val>
                                        </p:tav>
                                      </p:tavLst>
                                    </p:anim>
                                    <p:animEffect transition="in" filter="fade">
                                      <p:cBhvr>
                                        <p:cTn id="60" dur="600"/>
                                        <p:tgtEl>
                                          <p:spTgt spid="15"/>
                                        </p:tgtEl>
                                      </p:cBhvr>
                                    </p:animEffect>
                                  </p:childTnLst>
                                </p:cTn>
                              </p:par>
                              <p:par>
                                <p:cTn id="66" presetID="53" presetClass="entr" presetSubtype="16" fill="hold" grpId="0" nodeType="withEffect">
                                  <p:stCondLst>
                                    <p:cond delay="1460"/>
                                  </p:stCondLst>
                                  <p:childTnLst>
                                    <p:set>
                                      <p:cBhvr>
                                        <p:cTn id="62" dur="1" fill="hold">
                                          <p:stCondLst>
                                            <p:cond delay="0"/>
                                          </p:stCondLst>
                                        </p:cTn>
                                        <p:tgtEl>
                                          <p:spTgt spid="16"/>
                                        </p:tgtEl>
                                        <p:attrNameLst>
                                          <p:attrName>style.visibility</p:attrName>
                                        </p:attrNameLst>
                                      </p:cBhvr>
                                      <p:to>
                                        <p:strVal val="visible"/>
                                      </p:to>
                                    </p:set>
                                    <p:anim calcmode="lin" valueType="num">
                                      <p:cBhvr>
                                        <p:cTn id="63" dur="600" fill="hold" decel="100000"/>
                                        <p:tgtEl>
                                          <p:spTgt spid="16"/>
                                        </p:tgtEl>
                                        <p:attrNameLst>
                                          <p:attrName>ppt_w</p:attrName>
                                        </p:attrNameLst>
                                      </p:cBhvr>
                                      <p:tavLst>
                                        <p:tav tm="0">
                                          <p:val>
                                            <p:strVal val="#ppt_w*0.70"/>
                                          </p:val>
                                        </p:tav>
                                        <p:tav tm="100000">
                                          <p:val>
                                            <p:strVal val="#ppt_w"/>
                                          </p:val>
                                        </p:tav>
                                      </p:tavLst>
                                    </p:anim>
                                    <p:anim calcmode="lin" valueType="num">
                                      <p:cBhvr>
                                        <p:cTn id="64" dur="600" fill="hold" decel="100000"/>
                                        <p:tgtEl>
                                          <p:spTgt spid="16"/>
                                        </p:tgtEl>
                                        <p:attrNameLst>
                                          <p:attrName>ppt_h</p:attrName>
                                        </p:attrNameLst>
                                      </p:cBhvr>
                                      <p:tavLst>
                                        <p:tav tm="0">
                                          <p:val>
                                            <p:strVal val="#ppt_h*0.70"/>
                                          </p:val>
                                        </p:tav>
                                        <p:tav tm="100000">
                                          <p:val>
                                            <p:strVal val="#ppt_h"/>
                                          </p:val>
                                        </p:tav>
                                      </p:tavLst>
                                    </p:anim>
                                    <p:animEffect transition="in" filter="fade">
                                      <p:cBhvr>
                                        <p:cTn id="65" dur="600"/>
                                        <p:tgtEl>
                                          <p:spTgt spid="16"/>
                                        </p:tgtEl>
                                      </p:cBhvr>
                                    </p:animEffect>
                                  </p:childTnLst>
                                </p:cTn>
                              </p:par>
                              <p:par>
                                <p:cTn id="71" presetID="42" presetClass="entr" presetSubtype="0" fill="hold" grpId="0" nodeType="withEffect">
                                  <p:stCondLst>
                                    <p:cond delay="156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700"/>
                                        <p:tgtEl>
                                          <p:spTgt spid="17"/>
                                        </p:tgtEl>
                                      </p:cBhvr>
                                    </p:animEffect>
                                    <p:anim calcmode="lin" valueType="num">
                                      <p:cBhvr>
                                        <p:cTn id="69" dur="700" fill="hold" decel="100000"/>
                                        <p:tgtEl>
                                          <p:spTgt spid="17"/>
                                        </p:tgtEl>
                                        <p:attrNameLst>
                                          <p:attrName>ppt_x</p:attrName>
                                        </p:attrNameLst>
                                      </p:cBhvr>
                                      <p:tavLst>
                                        <p:tav tm="0">
                                          <p:val>
                                            <p:strVal val="#ppt_x"/>
                                          </p:val>
                                        </p:tav>
                                        <p:tav tm="100000">
                                          <p:val>
                                            <p:strVal val="#ppt_x"/>
                                          </p:val>
                                        </p:tav>
                                      </p:tavLst>
                                    </p:anim>
                                    <p:anim calcmode="lin" valueType="num">
                                      <p:cBhvr>
                                        <p:cTn id="70" dur="700" fill="hold" decel="100000"/>
                                        <p:tgtEl>
                                          <p:spTgt spid="17"/>
                                        </p:tgtEl>
                                        <p:attrNameLst>
                                          <p:attrName>ppt_y</p:attrName>
                                        </p:attrNameLst>
                                      </p:cBhvr>
                                      <p:tavLst>
                                        <p:tav tm="0">
                                          <p:val>
                                            <p:strVal val="#ppt_y+0.04"/>
                                          </p:val>
                                        </p:tav>
                                        <p:tav tm="100000">
                                          <p:val>
                                            <p:strVal val="#ppt_y"/>
                                          </p:val>
                                        </p:tav>
                                      </p:tavLst>
                                    </p:anim>
                                  </p:childTnLst>
                                </p:cTn>
                              </p:par>
                              <p:par>
                                <p:cTn id="74" presetID="10" presetClass="entr" presetSubtype="0" fill="hold" grpId="0" nodeType="withEffect">
                                  <p:stCondLst>
                                    <p:cond delay="166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700"/>
                                        <p:tgtEl>
                                          <p:spTgt spid="18"/>
                                        </p:tgtEl>
                                      </p:cBhvr>
                                    </p:animEffect>
                                  </p:childTnLst>
                                </p:cTn>
                              </p:par>
                              <p:par>
                                <p:cTn id="77" presetID="10" presetClass="entr" presetSubtype="0" fill="hold" grpId="0" nodeType="withEffect">
                                  <p:stCondLst>
                                    <p:cond delay="200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7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4" grpId="0">
        <p:bldAsOne/>
      </p:bldGraphic>
      <p:bldP spid="5" grpId="0" animBg="1"/>
      <p:bldP spid="7" grpId="0" animBg="1"/>
      <p:bldP spid="6" grpId="0" animBg="1"/>
      <p:bldP spid="9" grpId="0" animBg="1"/>
      <p:bldP spid="10" grpId="0" animBg="1"/>
      <p:bldP spid="11" grpId="0" animBg="1"/>
      <p:bldP spid="13" grpId="0" animBg="1"/>
      <p:bldP spid="14" grpId="0" animBg="1"/>
      <p:bldP spid="15" grpId="0" animBg="1"/>
      <p:bldP spid="17" grpId="0" animBg="1"/>
      <p:bldP spid="18" grpId="0" animBg="1"/>
      <p:bldP spid="19" grpId="0" animBg="1"/>
    </p:bldLst>
  </p:timing>
</p:sld>
</file>

<file path=ppt/slides/slide9.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drop" descr="/home/user/shahad-research/build/assets/drop.png">    </p:cNvPr>
          <p:cNvPicPr>
            <a:picLocks noChangeAspect="1"/>
          </p:cNvPicPr>
          <p:nvPr/>
        </p:nvPicPr>
        <p:blipFill>
          <a:blip r:embed="rId1"/>
          <a:stretch>
            <a:fillRect/>
          </a:stretch>
        </p:blipFill>
        <p:spPr>
          <a:xfrm>
            <a:off x="914400" y="1051560"/>
            <a:ext cx="3474720" cy="4389120"/>
          </a:xfrm>
          <a:prstGeom prst="rect">
            <a:avLst/>
          </a:prstGeom>
        </p:spPr>
      </p:pic>
      <p:sp>
        <p:nvSpPr>
          <p:cNvPr id="3" name="!!kicker"/>
          <p:cNvSpPr txBox="1"/>
          <p:nvPr/>
        </p:nvSpPr>
        <p:spPr>
          <a:xfrm>
            <a:off x="4846320" y="1371600"/>
            <a:ext cx="4114800" cy="155448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02</a:t>
            </a:r>
            <a:endParaRPr lang="en-US" sz="12000" dirty="0"/>
          </a:p>
        </p:txBody>
      </p:sp>
      <p:sp>
        <p:nvSpPr>
          <p:cNvPr id="4" name="sec2_t_1"/>
          <p:cNvSpPr txBox="1"/>
          <p:nvPr/>
        </p:nvSpPr>
        <p:spPr>
          <a:xfrm>
            <a:off x="4846320" y="2971800"/>
            <a:ext cx="6766560" cy="914400"/>
          </a:xfrm>
          <a:prstGeom prst="rect">
            <a:avLst/>
          </a:prstGeom>
          <a:noFill/>
          <a:ln/>
        </p:spPr>
        <p:txBody>
          <a:bodyPr wrap="square" lIns="0" tIns="0" rIns="0" bIns="0" rtlCol="0" anchor="t"/>
          <a:lstStyle/>
          <a:p>
            <a:pPr indent="0" marL="0">
              <a:buNone/>
            </a:pPr>
            <a:r>
              <a:rPr lang="en-US" sz="5000" b="1" dirty="0">
                <a:solidFill>
                  <a:schemeClr val="tx1"/>
                </a:solidFill>
                <a:latin typeface="Arial" pitchFamily="34" charset="0"/>
                <a:ea typeface="Arial" pitchFamily="34" charset="-122"/>
                <a:cs typeface="Arial" pitchFamily="34" charset="-120"/>
              </a:rPr>
              <a:t>Resources &amp; Growth</a:t>
            </a:r>
            <a:endParaRPr lang="en-US" sz="5000" dirty="0"/>
          </a:p>
        </p:txBody>
      </p:sp>
      <p:sp>
        <p:nvSpPr>
          <p:cNvPr id="5" name="sec2_t_2"/>
          <p:cNvSpPr txBox="1"/>
          <p:nvPr/>
        </p:nvSpPr>
        <p:spPr>
          <a:xfrm>
            <a:off x="4846320" y="3931920"/>
            <a:ext cx="6400800" cy="82296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Reserves, output and an industry built around them</a:t>
            </a:r>
            <a:endParaRPr lang="en-US" sz="2200" dirty="0"/>
          </a:p>
        </p:txBody>
      </p:sp>
      <p:sp>
        <p:nvSpPr>
          <p:cNvPr id="6" name="sec2_s_3"/>
          <p:cNvSpPr/>
          <p:nvPr/>
        </p:nvSpPr>
        <p:spPr>
          <a:xfrm>
            <a:off x="4864608" y="5029200"/>
            <a:ext cx="128016" cy="128016"/>
          </a:xfrm>
          <a:prstGeom prst="ellipse">
            <a:avLst/>
          </a:prstGeom>
          <a:solidFill>
            <a:srgbClr val="3A3A3C"/>
          </a:solidFill>
          <a:ln/>
        </p:spPr>
      </p:sp>
      <p:sp>
        <p:nvSpPr>
          <p:cNvPr id="7" name="sec2_s_4"/>
          <p:cNvSpPr/>
          <p:nvPr/>
        </p:nvSpPr>
        <p:spPr>
          <a:xfrm>
            <a:off x="5157216" y="5029200"/>
            <a:ext cx="128016" cy="128016"/>
          </a:xfrm>
          <a:prstGeom prst="ellipse">
            <a:avLst/>
          </a:prstGeom>
          <a:solidFill>
            <a:srgbClr val="FF9F0A"/>
          </a:solidFill>
          <a:ln/>
        </p:spPr>
      </p:sp>
      <p:sp>
        <p:nvSpPr>
          <p:cNvPr id="8" name="sec2_s_5"/>
          <p:cNvSpPr/>
          <p:nvPr/>
        </p:nvSpPr>
        <p:spPr>
          <a:xfrm>
            <a:off x="5449824" y="5029200"/>
            <a:ext cx="128016" cy="128016"/>
          </a:xfrm>
          <a:prstGeom prst="ellipse">
            <a:avLst/>
          </a:prstGeom>
          <a:solidFill>
            <a:srgbClr val="3A3A3C"/>
          </a:solidFill>
          <a:ln/>
        </p:spPr>
      </p:sp>
      <p:sp>
        <p:nvSpPr>
          <p:cNvPr id="9" name="sec2_s_6"/>
          <p:cNvSpPr/>
          <p:nvPr/>
        </p:nvSpPr>
        <p:spPr>
          <a:xfrm>
            <a:off x="5742432" y="5029200"/>
            <a:ext cx="128016" cy="128016"/>
          </a:xfrm>
          <a:prstGeom prst="ellipse">
            <a:avLst/>
          </a:prstGeom>
          <a:solidFill>
            <a:srgbClr val="3A3A3C"/>
          </a:solidFill>
          <a:ln/>
        </p:spPr>
      </p:sp>
      <p:sp>
        <p:nvSpPr>
          <p:cNvPr id="10" name="sec2_home_7">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1" name="sec2_i_8"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2" name="sec2_s_9">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1300" fill="hold" decel="100000"/>
                                        <p:tgtEl>
                                          <p:spTgt spid="2"/>
                                        </p:tgtEl>
                                        <p:attrNameLst>
                                          <p:attrName>ppt_w</p:attrName>
                                        </p:attrNameLst>
                                      </p:cBhvr>
                                      <p:tavLst>
                                        <p:tav tm="0">
                                          <p:val>
                                            <p:strVal val="#ppt_w*0.70"/>
                                          </p:val>
                                        </p:tav>
                                        <p:tav tm="100000">
                                          <p:val>
                                            <p:strVal val="#ppt_w"/>
                                          </p:val>
                                        </p:tav>
                                      </p:tavLst>
                                    </p:anim>
                                    <p:anim calcmode="lin" valueType="num">
                                      <p:cBhvr>
                                        <p:cTn id="7" dur="1300" fill="hold" decel="100000"/>
                                        <p:tgtEl>
                                          <p:spTgt spid="2"/>
                                        </p:tgtEl>
                                        <p:attrNameLst>
                                          <p:attrName>ppt_h</p:attrName>
                                        </p:attrNameLst>
                                      </p:cBhvr>
                                      <p:tavLst>
                                        <p:tav tm="0">
                                          <p:val>
                                            <p:strVal val="#ppt_h*0.70"/>
                                          </p:val>
                                        </p:tav>
                                        <p:tav tm="100000">
                                          <p:val>
                                            <p:strVal val="#ppt_h"/>
                                          </p:val>
                                        </p:tav>
                                      </p:tavLst>
                                    </p:anim>
                                    <p:animEffect transition="in" filter="fade">
                                      <p:cBhvr>
                                        <p:cTn id="8" dur="1300"/>
                                        <p:tgtEl>
                                          <p:spTgt spid="2"/>
                                        </p:tgtEl>
                                      </p:cBhvr>
                                    </p:animEffect>
                                  </p:childTnLst>
                                </p:cTn>
                              </p:par>
                              <p:par>
                                <p:cTn id="14" presetID="42" presetClass="entr" presetSubtype="0"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900"/>
                                        <p:tgtEl>
                                          <p:spTgt spid="4"/>
                                        </p:tgtEl>
                                      </p:cBhvr>
                                    </p:animEffect>
                                    <p:anim calcmode="lin" valueType="num">
                                      <p:cBhvr>
                                        <p:cTn id="12" dur="900" fill="hold" decel="100000"/>
                                        <p:tgtEl>
                                          <p:spTgt spid="4"/>
                                        </p:tgtEl>
                                        <p:attrNameLst>
                                          <p:attrName>ppt_x</p:attrName>
                                        </p:attrNameLst>
                                      </p:cBhvr>
                                      <p:tavLst>
                                        <p:tav tm="0">
                                          <p:val>
                                            <p:strVal val="#ppt_x"/>
                                          </p:val>
                                        </p:tav>
                                        <p:tav tm="100000">
                                          <p:val>
                                            <p:strVal val="#ppt_x"/>
                                          </p:val>
                                        </p:tav>
                                      </p:tavLst>
                                    </p:anim>
                                    <p:anim calcmode="lin" valueType="num">
                                      <p:cBhvr>
                                        <p:cTn id="13" dur="900" fill="hold" decel="100000"/>
                                        <p:tgtEl>
                                          <p:spTgt spid="4"/>
                                        </p:tgtEl>
                                        <p:attrNameLst>
                                          <p:attrName>ppt_y</p:attrName>
                                        </p:attrNameLst>
                                      </p:cBhvr>
                                      <p:tavLst>
                                        <p:tav tm="0">
                                          <p:val>
                                            <p:strVal val="#ppt_y+0.04"/>
                                          </p:val>
                                        </p:tav>
                                        <p:tav tm="100000">
                                          <p:val>
                                            <p:strVal val="#ppt_y"/>
                                          </p:val>
                                        </p:tav>
                                      </p:tavLst>
                                    </p:anim>
                                  </p:childTnLst>
                                </p:cTn>
                              </p:par>
                              <p:par>
                                <p:cTn id="17" presetID="10" presetClass="entr" presetSubtype="0" fill="hold" grpId="0" nodeType="withEffect">
                                  <p:stCondLst>
                                    <p:cond delay="7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900"/>
                                        <p:tgtEl>
                                          <p:spTgt spid="5"/>
                                        </p:tgtEl>
                                      </p:cBhvr>
                                    </p:animEffect>
                                  </p:childTnLst>
                                </p:cTn>
                              </p:par>
                              <p:par>
                                <p:cTn id="20" presetID="10" presetClass="entr" presetSubtype="0" fill="hold" grpId="0" nodeType="withEffect">
                                  <p:stCondLst>
                                    <p:cond delay="10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childTnLst>
                                </p:cTn>
                              </p:par>
                              <p:par>
                                <p:cTn id="23" presetID="10" presetClass="entr" presetSubtype="0" fill="hold" grpId="0" nodeType="withEffect">
                                  <p:stCondLst>
                                    <p:cond delay="10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childTnLst>
                                </p:cTn>
                              </p:par>
                              <p:par>
                                <p:cTn id="26" presetID="10" presetClass="entr" presetSubtype="0" fill="hold" grpId="0" nodeType="withEffect">
                                  <p:stCondLst>
                                    <p:cond delay="10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childTnLst>
                                </p:cTn>
                              </p:par>
                              <p:par>
                                <p:cTn id="29" presetID="10" presetClass="entr" presetSubtype="0" fill="hold" grpId="0" nodeType="withEffect">
                                  <p:stCondLst>
                                    <p:cond delay="10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0.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3" name="reserve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Seventh-largest oil reserves on Earth</a:t>
            </a:r>
            <a:endParaRPr lang="en-US" sz="3800" dirty="0"/>
          </a:p>
        </p:txBody>
      </p:sp>
      <p:sp>
        <p:nvSpPr>
          <p:cNvPr id="4" name="reserves_t_1"/>
          <p:cNvSpPr txBox="1"/>
          <p:nvPr/>
        </p:nvSpPr>
        <p:spPr>
          <a:xfrm>
            <a:off x="548640" y="1828800"/>
            <a:ext cx="6035040" cy="1600200"/>
          </a:xfrm>
          <a:prstGeom prst="rect">
            <a:avLst/>
          </a:prstGeom>
          <a:noFill/>
          <a:ln/>
        </p:spPr>
        <p:txBody>
          <a:bodyPr wrap="square" lIns="0" tIns="0" rIns="0" bIns="0" rtlCol="0" anchor="t"/>
          <a:lstStyle/>
          <a:p>
            <a:pPr indent="0" marL="0">
              <a:buNone/>
            </a:pPr>
            <a:r>
              <a:rPr lang="en-US" sz="13000" b="1" dirty="0">
                <a:solidFill>
                  <a:schemeClr val="accent1"/>
                </a:solidFill>
                <a:latin typeface="Arial" pitchFamily="34" charset="0"/>
                <a:ea typeface="Arial" pitchFamily="34" charset="-122"/>
                <a:cs typeface="Arial" pitchFamily="34" charset="-120"/>
              </a:rPr>
              <a:t>101.5</a:t>
            </a:r>
            <a:endParaRPr lang="en-US" sz="13000" dirty="0"/>
          </a:p>
        </p:txBody>
      </p:sp>
      <p:sp>
        <p:nvSpPr>
          <p:cNvPr id="5" name="reserves_t_2"/>
          <p:cNvSpPr txBox="1"/>
          <p:nvPr/>
        </p:nvSpPr>
        <p:spPr>
          <a:xfrm>
            <a:off x="548640" y="3611880"/>
            <a:ext cx="5852160" cy="4572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billion barrels of proven crude oil</a:t>
            </a:r>
            <a:endParaRPr lang="en-US" sz="2600" dirty="0"/>
          </a:p>
        </p:txBody>
      </p:sp>
      <p:sp>
        <p:nvSpPr>
          <p:cNvPr id="6" name="reserves_t_3"/>
          <p:cNvSpPr txBox="1"/>
          <p:nvPr/>
        </p:nvSpPr>
        <p:spPr>
          <a:xfrm>
            <a:off x="548640" y="4160520"/>
            <a:ext cx="5486400" cy="777240"/>
          </a:xfrm>
          <a:prstGeom prst="rect">
            <a:avLst/>
          </a:prstGeom>
          <a:noFill/>
          <a:ln/>
        </p:spPr>
        <p:txBody>
          <a:bodyPr wrap="square" lIns="0" tIns="0" rIns="0" bIns="0" rtlCol="0" anchor="t"/>
          <a:lstStyle/>
          <a:p>
            <a:pPr indent="0" marL="0">
              <a:buNone/>
            </a:pPr>
            <a:r>
              <a:rPr lang="en-US" sz="1700" dirty="0">
                <a:solidFill>
                  <a:schemeClr val="tx2"/>
                </a:solidFill>
                <a:latin typeface="Arial" pitchFamily="34" charset="0"/>
                <a:ea typeface="Arial" pitchFamily="34" charset="-122"/>
                <a:cs typeface="Arial" pitchFamily="34" charset="-120"/>
              </a:rPr>
              <a:t>Unchanged in official statistics since about 2010: additions have offset about one billion barrels produced each year.</a:t>
            </a:r>
            <a:endParaRPr lang="en-US" sz="1700" dirty="0"/>
          </a:p>
        </p:txBody>
      </p:sp>
      <p:sp>
        <p:nvSpPr>
          <p:cNvPr id="7" name="reserves_t_4"/>
          <p:cNvSpPr txBox="1"/>
          <p:nvPr/>
        </p:nvSpPr>
        <p:spPr>
          <a:xfrm>
            <a:off x="548640" y="5074920"/>
            <a:ext cx="5486400" cy="41148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≈100 years </a:t>
            </a:r>
            <a:pPr indent="0" marL="0">
              <a:buNone/>
            </a:pPr>
            <a:r>
              <a:rPr lang="en-US" sz="1700" dirty="0">
                <a:solidFill>
                  <a:schemeClr val="tx2"/>
                </a:solidFill>
                <a:latin typeface="Arial" pitchFamily="34" charset="0"/>
                <a:ea typeface="Arial" pitchFamily="34" charset="-122"/>
                <a:cs typeface="Arial" pitchFamily="34" charset="-120"/>
              </a:rPr>
              <a:t>of output left at today's rate</a:t>
            </a:r>
            <a:endParaRPr lang="en-US" sz="1700" dirty="0"/>
          </a:p>
        </p:txBody>
      </p:sp>
      <p:graphicFrame>
        <p:nvGraphicFramePr>
          <p:cNvPr id="8" name="reserves_share" descr=""/>
          <p:cNvGraphicFramePr/>
          <p:nvPr/>
        </p:nvGraphicFramePr>
        <p:xfrm>
          <a:off x="6949440" y="1737360"/>
          <a:ext cx="4114800" cy="4114800"/>
        </p:xfrm>
        <a:graphic xmlns:a="http://schemas.openxmlformats.org/drawingml/2006/main">
          <a:graphicData uri="http://schemas.openxmlformats.org/drawingml/2006/chart">
            <c:chart xmlns:c="http://schemas.openxmlformats.org/drawingml/2006/chart" r:id="rId1"/>
          </a:graphicData>
        </a:graphic>
      </p:graphicFrame>
      <p:sp>
        <p:nvSpPr>
          <p:cNvPr id="9" name="reserves_t_5"/>
          <p:cNvSpPr txBox="1"/>
          <p:nvPr/>
        </p:nvSpPr>
        <p:spPr>
          <a:xfrm>
            <a:off x="7635240" y="3200400"/>
            <a:ext cx="2743200" cy="822960"/>
          </a:xfrm>
          <a:prstGeom prst="rect">
            <a:avLst/>
          </a:prstGeom>
          <a:noFill/>
          <a:ln/>
        </p:spPr>
        <p:txBody>
          <a:bodyPr wrap="square" lIns="0" tIns="0" rIns="0" bIns="0" rtlCol="0" anchor="t"/>
          <a:lstStyle/>
          <a:p>
            <a:pPr algn="ctr" indent="0" marL="0">
              <a:buNone/>
            </a:pPr>
            <a:r>
              <a:rPr lang="en-US" sz="5400" b="1" dirty="0">
                <a:solidFill>
                  <a:schemeClr val="tx1"/>
                </a:solidFill>
                <a:latin typeface="Arial" pitchFamily="34" charset="0"/>
                <a:ea typeface="Arial" pitchFamily="34" charset="-122"/>
                <a:cs typeface="Arial" pitchFamily="34" charset="-120"/>
              </a:rPr>
              <a:t>6.5%</a:t>
            </a:r>
            <a:endParaRPr lang="en-US" sz="5400" dirty="0"/>
          </a:p>
        </p:txBody>
      </p:sp>
      <p:sp>
        <p:nvSpPr>
          <p:cNvPr id="10" name="reserves_t_6"/>
          <p:cNvSpPr txBox="1"/>
          <p:nvPr/>
        </p:nvSpPr>
        <p:spPr>
          <a:xfrm>
            <a:off x="7635240" y="3977640"/>
            <a:ext cx="2743200" cy="36576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of world reserves</a:t>
            </a:r>
            <a:endParaRPr lang="en-US" sz="1600" dirty="0"/>
          </a:p>
        </p:txBody>
      </p:sp>
      <p:sp>
        <p:nvSpPr>
          <p:cNvPr id="11" name="reserves_t_7"/>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OPEC ASB 2025, 2026 (world 1,567–1,572 bn bbl); EIA (2023); bp (2021). Includes half of the Partitioned Zone.</a:t>
            </a:r>
            <a:endParaRPr lang="en-US" sz="1200" dirty="0"/>
          </a:p>
        </p:txBody>
      </p:sp>
      <p:sp>
        <p:nvSpPr>
          <p:cNvPr id="12" name="reserves_home_8">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3" name="reserves_i_9"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4" name="reserves_s_10">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4" presetID="53" presetClass="entr" presetSubtype="16"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 calcmode="lin" valueType="num">
                                      <p:cBhvr>
                                        <p:cTn id="11" dur="1100" fill="hold" decel="100000"/>
                                        <p:tgtEl>
                                          <p:spTgt spid="4"/>
                                        </p:tgtEl>
                                        <p:attrNameLst>
                                          <p:attrName>ppt_w</p:attrName>
                                        </p:attrNameLst>
                                      </p:cBhvr>
                                      <p:tavLst>
                                        <p:tav tm="0">
                                          <p:val>
                                            <p:strVal val="#ppt_w*0.70"/>
                                          </p:val>
                                        </p:tav>
                                        <p:tav tm="100000">
                                          <p:val>
                                            <p:strVal val="#ppt_w"/>
                                          </p:val>
                                        </p:tav>
                                      </p:tavLst>
                                    </p:anim>
                                    <p:anim calcmode="lin" valueType="num">
                                      <p:cBhvr>
                                        <p:cTn id="12" dur="1100" fill="hold" decel="100000"/>
                                        <p:tgtEl>
                                          <p:spTgt spid="4"/>
                                        </p:tgtEl>
                                        <p:attrNameLst>
                                          <p:attrName>ppt_h</p:attrName>
                                        </p:attrNameLst>
                                      </p:cBhvr>
                                      <p:tavLst>
                                        <p:tav tm="0">
                                          <p:val>
                                            <p:strVal val="#ppt_h*0.70"/>
                                          </p:val>
                                        </p:tav>
                                        <p:tav tm="100000">
                                          <p:val>
                                            <p:strVal val="#ppt_h"/>
                                          </p:val>
                                        </p:tav>
                                      </p:tavLst>
                                    </p:anim>
                                    <p:animEffect transition="in" filter="fade">
                                      <p:cBhvr>
                                        <p:cTn id="13" dur="1100"/>
                                        <p:tgtEl>
                                          <p:spTgt spid="4"/>
                                        </p:tgtEl>
                                      </p:cBhvr>
                                    </p:animEffect>
                                  </p:childTnLst>
                                </p:cTn>
                              </p:par>
                              <p:par>
                                <p:cTn id="19" presetID="53" presetClass="entr" presetSubtype="16" fill="hold" grpId="0" nodeType="withEffect">
                                  <p:stCondLst>
                                    <p:cond delay="500"/>
                                  </p:stCondLst>
                                  <p:childTnLst>
                                    <p:set>
                                      <p:cBhvr>
                                        <p:cTn id="15" dur="1" fill="hold">
                                          <p:stCondLst>
                                            <p:cond delay="0"/>
                                          </p:stCondLst>
                                        </p:cTn>
                                        <p:tgtEl>
                                          <p:spTgt spid="8"/>
                                        </p:tgtEl>
                                        <p:attrNameLst>
                                          <p:attrName>style.visibility</p:attrName>
                                        </p:attrNameLst>
                                      </p:cBhvr>
                                      <p:to>
                                        <p:strVal val="visible"/>
                                      </p:to>
                                    </p:set>
                                    <p:anim calcmode="lin" valueType="num">
                                      <p:cBhvr>
                                        <p:cTn id="16" dur="1200" fill="hold" decel="100000"/>
                                        <p:tgtEl>
                                          <p:spTgt spid="8"/>
                                        </p:tgtEl>
                                        <p:attrNameLst>
                                          <p:attrName>ppt_w</p:attrName>
                                        </p:attrNameLst>
                                      </p:cBhvr>
                                      <p:tavLst>
                                        <p:tav tm="0">
                                          <p:val>
                                            <p:strVal val="#ppt_w*0.70"/>
                                          </p:val>
                                        </p:tav>
                                        <p:tav tm="100000">
                                          <p:val>
                                            <p:strVal val="#ppt_w"/>
                                          </p:val>
                                        </p:tav>
                                      </p:tavLst>
                                    </p:anim>
                                    <p:anim calcmode="lin" valueType="num">
                                      <p:cBhvr>
                                        <p:cTn id="17" dur="1200" fill="hold" decel="100000"/>
                                        <p:tgtEl>
                                          <p:spTgt spid="8"/>
                                        </p:tgtEl>
                                        <p:attrNameLst>
                                          <p:attrName>ppt_h</p:attrName>
                                        </p:attrNameLst>
                                      </p:cBhvr>
                                      <p:tavLst>
                                        <p:tav tm="0">
                                          <p:val>
                                            <p:strVal val="#ppt_h*0.70"/>
                                          </p:val>
                                        </p:tav>
                                        <p:tav tm="100000">
                                          <p:val>
                                            <p:strVal val="#ppt_h"/>
                                          </p:val>
                                        </p:tav>
                                      </p:tavLst>
                                    </p:anim>
                                    <p:animEffect transition="in" filter="fade">
                                      <p:cBhvr>
                                        <p:cTn id="18" dur="1200"/>
                                        <p:tgtEl>
                                          <p:spTgt spid="8"/>
                                        </p:tgtEl>
                                      </p:cBhvr>
                                    </p:animEffect>
                                  </p:childTnLst>
                                </p:cTn>
                              </p:par>
                              <p:par>
                                <p:cTn id="24" presetID="42" presetClass="entr" presetSubtype="0" fill="hold" grpId="0" nodeType="withEffect">
                                  <p:stCondLst>
                                    <p:cond delay="60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800"/>
                                        <p:tgtEl>
                                          <p:spTgt spid="5"/>
                                        </p:tgtEl>
                                      </p:cBhvr>
                                    </p:animEffect>
                                    <p:anim calcmode="lin" valueType="num">
                                      <p:cBhvr>
                                        <p:cTn id="22" dur="800" fill="hold" decel="100000"/>
                                        <p:tgtEl>
                                          <p:spTgt spid="5"/>
                                        </p:tgtEl>
                                        <p:attrNameLst>
                                          <p:attrName>ppt_x</p:attrName>
                                        </p:attrNameLst>
                                      </p:cBhvr>
                                      <p:tavLst>
                                        <p:tav tm="0">
                                          <p:val>
                                            <p:strVal val="#ppt_x"/>
                                          </p:val>
                                        </p:tav>
                                        <p:tav tm="100000">
                                          <p:val>
                                            <p:strVal val="#ppt_x"/>
                                          </p:val>
                                        </p:tav>
                                      </p:tavLst>
                                    </p:anim>
                                    <p:anim calcmode="lin" valueType="num">
                                      <p:cBhvr>
                                        <p:cTn id="23" dur="800" fill="hold" decel="100000"/>
                                        <p:tgtEl>
                                          <p:spTgt spid="5"/>
                                        </p:tgtEl>
                                        <p:attrNameLst>
                                          <p:attrName>ppt_y</p:attrName>
                                        </p:attrNameLst>
                                      </p:cBhvr>
                                      <p:tavLst>
                                        <p:tav tm="0">
                                          <p:val>
                                            <p:strVal val="#ppt_y+0.04"/>
                                          </p:val>
                                        </p:tav>
                                        <p:tav tm="100000">
                                          <p:val>
                                            <p:strVal val="#ppt_y"/>
                                          </p:val>
                                        </p:tav>
                                      </p:tavLst>
                                    </p:anim>
                                  </p:childTnLst>
                                </p:cTn>
                              </p:par>
                              <p:par>
                                <p:cTn id="27" presetID="10" presetClass="entr" presetSubtype="0" fill="hold" grpId="0" nodeType="withEffect">
                                  <p:stCondLst>
                                    <p:cond delay="90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800"/>
                                        <p:tgtEl>
                                          <p:spTgt spid="6"/>
                                        </p:tgtEl>
                                      </p:cBhvr>
                                    </p:animEffect>
                                  </p:childTnLst>
                                </p:cTn>
                              </p:par>
                              <p:par>
                                <p:cTn id="30" presetID="10" presetClass="entr" presetSubtype="0" fill="hold" grpId="0" nodeType="withEffect">
                                  <p:stCondLst>
                                    <p:cond delay="115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800"/>
                                        <p:tgtEl>
                                          <p:spTgt spid="7"/>
                                        </p:tgtEl>
                                      </p:cBhvr>
                                    </p:animEffect>
                                  </p:childTnLst>
                                </p:cTn>
                              </p:par>
                              <p:par>
                                <p:cTn id="33" presetID="10" presetClass="entr" presetSubtype="0" fill="hold" grpId="0" nodeType="withEffect">
                                  <p:stCondLst>
                                    <p:cond delay="13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700"/>
                                        <p:tgtEl>
                                          <p:spTgt spid="9"/>
                                        </p:tgtEl>
                                      </p:cBhvr>
                                    </p:animEffect>
                                  </p:childTnLst>
                                </p:cTn>
                              </p:par>
                              <p:par>
                                <p:cTn id="36" presetID="10" presetClass="entr" presetSubtype="0" fill="hold" grpId="0" nodeType="withEffect">
                                  <p:stCondLst>
                                    <p:cond delay="140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7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Graphic spid="8" grpId="0">
        <p:bldAsOne/>
      </p:bldGraphic>
      <p:bldP spid="5" grpId="0" animBg="1"/>
      <p:bldP spid="6" grpId="0" animBg="1"/>
      <p:bldP spid="7" grpId="0" animBg="1"/>
      <p:bldP spid="9" grpId="0" animBg="1"/>
      <p:bldP spid="10" grpId="0" animBg="1"/>
    </p:bldLst>
  </p:timing>
</p:sld>
</file>

<file path=ppt/slides/slide11.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3" name="production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Eight decades of output</a:t>
            </a:r>
            <a:endParaRPr lang="en-US" sz="3800" dirty="0"/>
          </a:p>
        </p:txBody>
      </p:sp>
      <p:graphicFrame>
        <p:nvGraphicFramePr>
          <p:cNvPr id="4" name="production_chart" descr=""/>
          <p:cNvGraphicFramePr/>
          <p:nvPr/>
        </p:nvGraphicFramePr>
        <p:xfrm>
          <a:off x="502920" y="1737360"/>
          <a:ext cx="11155680" cy="4114800"/>
        </p:xfrm>
        <a:graphic xmlns:a="http://schemas.openxmlformats.org/drawingml/2006/main">
          <a:graphicData uri="http://schemas.openxmlformats.org/drawingml/2006/chart">
            <c:chart xmlns:c="http://schemas.openxmlformats.org/drawingml/2006/chart" r:id="rId1"/>
          </a:graphicData>
        </a:graphic>
      </p:graphicFrame>
      <p:sp>
        <p:nvSpPr>
          <p:cNvPr id="5" name="production_s_1"/>
          <p:cNvSpPr/>
          <p:nvPr/>
        </p:nvSpPr>
        <p:spPr>
          <a:xfrm>
            <a:off x="1956870" y="5169600"/>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6" name="production_t_2"/>
          <p:cNvSpPr txBox="1"/>
          <p:nvPr/>
        </p:nvSpPr>
        <p:spPr>
          <a:xfrm>
            <a:off x="1042470" y="3477960"/>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1946</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first exports</a:t>
            </a:r>
            <a:endParaRPr lang="en-US" sz="1600" dirty="0"/>
          </a:p>
        </p:txBody>
      </p:sp>
      <p:sp>
        <p:nvSpPr>
          <p:cNvPr id="7" name="production_s_3"/>
          <p:cNvSpPr/>
          <p:nvPr/>
        </p:nvSpPr>
        <p:spPr>
          <a:xfrm>
            <a:off x="2041909" y="4081464"/>
            <a:ext cx="12802" cy="1069848"/>
          </a:xfrm>
          <a:prstGeom prst="rect">
            <a:avLst/>
          </a:prstGeom>
          <a:solidFill>
            <a:srgbClr val="8E8E93"/>
          </a:solidFill>
          <a:ln/>
        </p:spPr>
      </p:sp>
      <p:sp>
        <p:nvSpPr>
          <p:cNvPr id="8" name="production_s_4"/>
          <p:cNvSpPr/>
          <p:nvPr/>
        </p:nvSpPr>
        <p:spPr>
          <a:xfrm>
            <a:off x="5027963" y="2044233"/>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9" name="production_t_5"/>
          <p:cNvSpPr txBox="1"/>
          <p:nvPr/>
        </p:nvSpPr>
        <p:spPr>
          <a:xfrm>
            <a:off x="4113563" y="1294425"/>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1972 · 3.34 mb/d</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all-time peak</a:t>
            </a:r>
            <a:endParaRPr lang="en-US" sz="1600" dirty="0"/>
          </a:p>
        </p:txBody>
      </p:sp>
      <p:sp>
        <p:nvSpPr>
          <p:cNvPr id="10" name="production_s_6"/>
          <p:cNvSpPr/>
          <p:nvPr/>
        </p:nvSpPr>
        <p:spPr>
          <a:xfrm>
            <a:off x="7272223" y="5010651"/>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11" name="production_t_7"/>
          <p:cNvSpPr txBox="1"/>
          <p:nvPr/>
        </p:nvSpPr>
        <p:spPr>
          <a:xfrm>
            <a:off x="7564831" y="4644891"/>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1991 · 0.19 mb/d</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invasion and fires</a:t>
            </a:r>
            <a:endParaRPr lang="en-US" sz="1600" dirty="0"/>
          </a:p>
        </p:txBody>
      </p:sp>
      <p:sp>
        <p:nvSpPr>
          <p:cNvPr id="12" name="production_s_8"/>
          <p:cNvSpPr/>
          <p:nvPr/>
        </p:nvSpPr>
        <p:spPr>
          <a:xfrm>
            <a:off x="10225197" y="2221992"/>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13" name="production_t_9"/>
          <p:cNvSpPr txBox="1"/>
          <p:nvPr/>
        </p:nvSpPr>
        <p:spPr>
          <a:xfrm>
            <a:off x="9310797" y="1472184"/>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2016 · 3.15 mb/d</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post-war high</a:t>
            </a:r>
            <a:endParaRPr lang="en-US" sz="1600" dirty="0"/>
          </a:p>
        </p:txBody>
      </p:sp>
      <p:sp>
        <p:nvSpPr>
          <p:cNvPr id="14" name="production_s_10"/>
          <p:cNvSpPr/>
          <p:nvPr/>
        </p:nvSpPr>
        <p:spPr>
          <a:xfrm>
            <a:off x="11170149" y="2618894"/>
            <a:ext cx="182880" cy="182880"/>
          </a:xfrm>
          <a:prstGeom prst="ellipse">
            <a:avLst/>
          </a:prstGeom>
          <a:solidFill>
            <a:srgbClr val="F5F5F7"/>
          </a:solidFill>
          <a:ln w="31750">
            <a:solidFill>
              <a:srgbClr val="FF9F0A"/>
            </a:solidFill>
            <a:prstDash val="solid"/>
          </a:ln>
          <a:effectLst>
            <a:outerShdw sx="100000" sy="100000" kx="0" ky="0" algn="bl" rotWithShape="0" blurRad="127000" dist="50800" dir="5400000">
              <a:srgbClr val="FF9F0A">
                <a:alpha val="80000"/>
              </a:srgbClr>
            </a:outerShdw>
          </a:effectLst>
        </p:spPr>
      </p:sp>
      <p:sp>
        <p:nvSpPr>
          <p:cNvPr id="15" name="production_t_11"/>
          <p:cNvSpPr txBox="1"/>
          <p:nvPr/>
        </p:nvSpPr>
        <p:spPr>
          <a:xfrm>
            <a:off x="9631375" y="2911502"/>
            <a:ext cx="2011680" cy="566928"/>
          </a:xfrm>
          <a:prstGeom prst="rect">
            <a:avLst/>
          </a:prstGeom>
          <a:noFill/>
          <a:ln/>
        </p:spPr>
        <p:txBody>
          <a:bodyPr wrap="square" lIns="0" tIns="0" rIns="0" bIns="0" rtlCol="0" anchor="t"/>
          <a:lstStyle/>
          <a:p>
            <a:pPr algn="ctr" indent="0" marL="0">
              <a:buNone/>
            </a:pPr>
            <a:r>
              <a:rPr lang="en-US" sz="1600" b="1" dirty="0">
                <a:solidFill>
                  <a:schemeClr val="tx1"/>
                </a:solidFill>
                <a:latin typeface="Arial" pitchFamily="34" charset="0"/>
                <a:ea typeface="Arial" pitchFamily="34" charset="-122"/>
                <a:cs typeface="Arial" pitchFamily="34" charset="-120"/>
              </a:rPr>
              <a:t>2024 · 2.7 mb/d</a:t>
            </a:r>
            <a:endParaRPr lang="en-US" sz="1600" dirty="0"/>
          </a:p>
          <a:p>
            <a:pPr algn="ctr" indent="0" marL="0">
              <a:buNone/>
            </a:pPr>
            <a:r>
              <a:rPr lang="en-US" sz="1600" dirty="0">
                <a:solidFill>
                  <a:schemeClr val="tx2"/>
                </a:solidFill>
                <a:latin typeface="Arial" pitchFamily="34" charset="0"/>
                <a:ea typeface="Arial" pitchFamily="34" charset="-122"/>
                <a:cs typeface="Arial" pitchFamily="34" charset="-120"/>
              </a:rPr>
              <a:t>OPEC+ cuts</a:t>
            </a:r>
            <a:endParaRPr lang="en-US" sz="1600" dirty="0"/>
          </a:p>
        </p:txBody>
      </p:sp>
      <p:sp>
        <p:nvSpPr>
          <p:cNvPr id="16" name="production_t_12"/>
          <p:cNvSpPr txBox="1"/>
          <p:nvPr/>
        </p:nvSpPr>
        <p:spPr>
          <a:xfrm>
            <a:off x="1371600" y="1691640"/>
            <a:ext cx="3657600" cy="27432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thousand barrels per day</a:t>
            </a:r>
            <a:endParaRPr lang="en-US" sz="1400" dirty="0"/>
          </a:p>
        </p:txBody>
      </p:sp>
      <p:sp>
        <p:nvSpPr>
          <p:cNvPr id="17" name="production_t_13"/>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Energy Institute Statistical Review of World Energy (2025), total oil incl. NGLs (some years derived from EI energy data); 1946–55 from KOC/KPC records.</a:t>
            </a:r>
            <a:endParaRPr lang="en-US" sz="1200" dirty="0"/>
          </a:p>
        </p:txBody>
      </p:sp>
      <p:sp>
        <p:nvSpPr>
          <p:cNvPr id="18" name="production_home_14">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9" name="production_i_15"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20" name="production_s_16">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8"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2600"/>
                                        <p:tgtEl>
                                          <p:spTgt spid="4"/>
                                        </p:tgtEl>
                                      </p:cBhvr>
                                    </p:animEffect>
                                  </p:childTnLst>
                                </p:cTn>
                              </p:par>
                              <p:par>
                                <p:cTn id="15" presetID="10" presetClass="entr" presetSubtype="0" fill="hold" grpId="0" nodeType="withEffect">
                                  <p:stCondLst>
                                    <p:cond delay="30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600"/>
                                        <p:tgtEl>
                                          <p:spTgt spid="16"/>
                                        </p:tgtEl>
                                      </p:cBhvr>
                                    </p:animEffect>
                                  </p:childTnLst>
                                </p:cTn>
                              </p:par>
                              <p:par>
                                <p:cTn id="20" presetID="53" presetClass="entr" presetSubtype="16" fill="hold" grpId="0" nodeType="withEffect">
                                  <p:stCondLst>
                                    <p:cond delay="560"/>
                                  </p:stCondLst>
                                  <p:childTnLst>
                                    <p:set>
                                      <p:cBhvr>
                                        <p:cTn id="16" dur="1" fill="hold">
                                          <p:stCondLst>
                                            <p:cond delay="0"/>
                                          </p:stCondLst>
                                        </p:cTn>
                                        <p:tgtEl>
                                          <p:spTgt spid="5"/>
                                        </p:tgtEl>
                                        <p:attrNameLst>
                                          <p:attrName>style.visibility</p:attrName>
                                        </p:attrNameLst>
                                      </p:cBhvr>
                                      <p:to>
                                        <p:strVal val="visible"/>
                                      </p:to>
                                    </p:set>
                                    <p:anim calcmode="lin" valueType="num">
                                      <p:cBhvr>
                                        <p:cTn id="17" dur="500" fill="hold" decel="100000"/>
                                        <p:tgtEl>
                                          <p:spTgt spid="5"/>
                                        </p:tgtEl>
                                        <p:attrNameLst>
                                          <p:attrName>ppt_w</p:attrName>
                                        </p:attrNameLst>
                                      </p:cBhvr>
                                      <p:tavLst>
                                        <p:tav tm="0">
                                          <p:val>
                                            <p:strVal val="#ppt_w*0.70"/>
                                          </p:val>
                                        </p:tav>
                                        <p:tav tm="100000">
                                          <p:val>
                                            <p:strVal val="#ppt_w"/>
                                          </p:val>
                                        </p:tav>
                                      </p:tavLst>
                                    </p:anim>
                                    <p:anim calcmode="lin" valueType="num">
                                      <p:cBhvr>
                                        <p:cTn id="18" dur="500" fill="hold" decel="100000"/>
                                        <p:tgtEl>
                                          <p:spTgt spid="5"/>
                                        </p:tgtEl>
                                        <p:attrNameLst>
                                          <p:attrName>ppt_h</p:attrName>
                                        </p:attrNameLst>
                                      </p:cBhvr>
                                      <p:tavLst>
                                        <p:tav tm="0">
                                          <p:val>
                                            <p:strVal val="#ppt_h*0.70"/>
                                          </p:val>
                                        </p:tav>
                                        <p:tav tm="100000">
                                          <p:val>
                                            <p:strVal val="#ppt_h"/>
                                          </p:val>
                                        </p:tav>
                                      </p:tavLst>
                                    </p:anim>
                                    <p:animEffect transition="in" filter="fade">
                                      <p:cBhvr>
                                        <p:cTn id="19" dur="500"/>
                                        <p:tgtEl>
                                          <p:spTgt spid="5"/>
                                        </p:tgtEl>
                                      </p:cBhvr>
                                    </p:animEffect>
                                  </p:childTnLst>
                                </p:cTn>
                              </p:par>
                              <p:par>
                                <p:cTn id="23" presetID="10" presetClass="entr" presetSubtype="0" fill="hold" grpId="0" nodeType="withEffect">
                                  <p:stCondLst>
                                    <p:cond delay="66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par>
                                <p:cTn id="26" presetID="10" presetClass="entr" presetSubtype="0" fill="hold" grpId="0" nodeType="withEffect">
                                  <p:stCondLst>
                                    <p:cond delay="66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600"/>
                                        <p:tgtEl>
                                          <p:spTgt spid="7"/>
                                        </p:tgtEl>
                                      </p:cBhvr>
                                    </p:animEffect>
                                  </p:childTnLst>
                                </p:cTn>
                              </p:par>
                              <p:par>
                                <p:cTn id="31" presetID="53" presetClass="entr" presetSubtype="16" fill="hold" grpId="0" nodeType="withEffect">
                                  <p:stCondLst>
                                    <p:cond delay="1276"/>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decel="100000"/>
                                        <p:tgtEl>
                                          <p:spTgt spid="8"/>
                                        </p:tgtEl>
                                        <p:attrNameLst>
                                          <p:attrName>ppt_w</p:attrName>
                                        </p:attrNameLst>
                                      </p:cBhvr>
                                      <p:tavLst>
                                        <p:tav tm="0">
                                          <p:val>
                                            <p:strVal val="#ppt_w*0.70"/>
                                          </p:val>
                                        </p:tav>
                                        <p:tav tm="100000">
                                          <p:val>
                                            <p:strVal val="#ppt_w"/>
                                          </p:val>
                                        </p:tav>
                                      </p:tavLst>
                                    </p:anim>
                                    <p:anim calcmode="lin" valueType="num">
                                      <p:cBhvr>
                                        <p:cTn id="29" dur="500" fill="hold" decel="100000"/>
                                        <p:tgtEl>
                                          <p:spTgt spid="8"/>
                                        </p:tgtEl>
                                        <p:attrNameLst>
                                          <p:attrName>ppt_h</p:attrName>
                                        </p:attrNameLst>
                                      </p:cBhvr>
                                      <p:tavLst>
                                        <p:tav tm="0">
                                          <p:val>
                                            <p:strVal val="#ppt_h*0.70"/>
                                          </p:val>
                                        </p:tav>
                                        <p:tav tm="100000">
                                          <p:val>
                                            <p:strVal val="#ppt_h"/>
                                          </p:val>
                                        </p:tav>
                                      </p:tavLst>
                                    </p:anim>
                                    <p:animEffect transition="in" filter="fade">
                                      <p:cBhvr>
                                        <p:cTn id="30" dur="500"/>
                                        <p:tgtEl>
                                          <p:spTgt spid="8"/>
                                        </p:tgtEl>
                                      </p:cBhvr>
                                    </p:animEffect>
                                  </p:childTnLst>
                                </p:cTn>
                              </p:par>
                              <p:par>
                                <p:cTn id="34" presetID="10" presetClass="entr" presetSubtype="0" fill="hold" grpId="0" nodeType="withEffect">
                                  <p:stCondLst>
                                    <p:cond delay="1376"/>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00"/>
                                        <p:tgtEl>
                                          <p:spTgt spid="9"/>
                                        </p:tgtEl>
                                      </p:cBhvr>
                                    </p:animEffect>
                                  </p:childTnLst>
                                </p:cTn>
                              </p:par>
                              <p:par>
                                <p:cTn id="39" presetID="53" presetClass="entr" presetSubtype="16" fill="hold" grpId="0" nodeType="withEffect">
                                  <p:stCondLst>
                                    <p:cond delay="1799"/>
                                  </p:stCondLst>
                                  <p:childTnLst>
                                    <p:set>
                                      <p:cBhvr>
                                        <p:cTn id="35" dur="1" fill="hold">
                                          <p:stCondLst>
                                            <p:cond delay="0"/>
                                          </p:stCondLst>
                                        </p:cTn>
                                        <p:tgtEl>
                                          <p:spTgt spid="10"/>
                                        </p:tgtEl>
                                        <p:attrNameLst>
                                          <p:attrName>style.visibility</p:attrName>
                                        </p:attrNameLst>
                                      </p:cBhvr>
                                      <p:to>
                                        <p:strVal val="visible"/>
                                      </p:to>
                                    </p:set>
                                    <p:anim calcmode="lin" valueType="num">
                                      <p:cBhvr>
                                        <p:cTn id="36" dur="500" fill="hold" decel="100000"/>
                                        <p:tgtEl>
                                          <p:spTgt spid="10"/>
                                        </p:tgtEl>
                                        <p:attrNameLst>
                                          <p:attrName>ppt_w</p:attrName>
                                        </p:attrNameLst>
                                      </p:cBhvr>
                                      <p:tavLst>
                                        <p:tav tm="0">
                                          <p:val>
                                            <p:strVal val="#ppt_w*0.70"/>
                                          </p:val>
                                        </p:tav>
                                        <p:tav tm="100000">
                                          <p:val>
                                            <p:strVal val="#ppt_w"/>
                                          </p:val>
                                        </p:tav>
                                      </p:tavLst>
                                    </p:anim>
                                    <p:anim calcmode="lin" valueType="num">
                                      <p:cBhvr>
                                        <p:cTn id="37" dur="500" fill="hold" decel="100000"/>
                                        <p:tgtEl>
                                          <p:spTgt spid="10"/>
                                        </p:tgtEl>
                                        <p:attrNameLst>
                                          <p:attrName>ppt_h</p:attrName>
                                        </p:attrNameLst>
                                      </p:cBhvr>
                                      <p:tavLst>
                                        <p:tav tm="0">
                                          <p:val>
                                            <p:strVal val="#ppt_h*0.70"/>
                                          </p:val>
                                        </p:tav>
                                        <p:tav tm="100000">
                                          <p:val>
                                            <p:strVal val="#ppt_h"/>
                                          </p:val>
                                        </p:tav>
                                      </p:tavLst>
                                    </p:anim>
                                    <p:animEffect transition="in" filter="fade">
                                      <p:cBhvr>
                                        <p:cTn id="38" dur="500"/>
                                        <p:tgtEl>
                                          <p:spTgt spid="10"/>
                                        </p:tgtEl>
                                      </p:cBhvr>
                                    </p:animEffect>
                                  </p:childTnLst>
                                </p:cTn>
                              </p:par>
                              <p:par>
                                <p:cTn id="42" presetID="10" presetClass="entr" presetSubtype="0" fill="hold" grpId="0" nodeType="withEffect">
                                  <p:stCondLst>
                                    <p:cond delay="1899"/>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childTnLst>
                                </p:cTn>
                              </p:par>
                              <p:par>
                                <p:cTn id="47" presetID="53" presetClass="entr" presetSubtype="16" fill="hold" grpId="0" nodeType="withEffect">
                                  <p:stCondLst>
                                    <p:cond delay="2487"/>
                                  </p:stCondLst>
                                  <p:childTnLst>
                                    <p:set>
                                      <p:cBhvr>
                                        <p:cTn id="43" dur="1" fill="hold">
                                          <p:stCondLst>
                                            <p:cond delay="0"/>
                                          </p:stCondLst>
                                        </p:cTn>
                                        <p:tgtEl>
                                          <p:spTgt spid="12"/>
                                        </p:tgtEl>
                                        <p:attrNameLst>
                                          <p:attrName>style.visibility</p:attrName>
                                        </p:attrNameLst>
                                      </p:cBhvr>
                                      <p:to>
                                        <p:strVal val="visible"/>
                                      </p:to>
                                    </p:set>
                                    <p:anim calcmode="lin" valueType="num">
                                      <p:cBhvr>
                                        <p:cTn id="44" dur="500" fill="hold" decel="100000"/>
                                        <p:tgtEl>
                                          <p:spTgt spid="12"/>
                                        </p:tgtEl>
                                        <p:attrNameLst>
                                          <p:attrName>ppt_w</p:attrName>
                                        </p:attrNameLst>
                                      </p:cBhvr>
                                      <p:tavLst>
                                        <p:tav tm="0">
                                          <p:val>
                                            <p:strVal val="#ppt_w*0.70"/>
                                          </p:val>
                                        </p:tav>
                                        <p:tav tm="100000">
                                          <p:val>
                                            <p:strVal val="#ppt_w"/>
                                          </p:val>
                                        </p:tav>
                                      </p:tavLst>
                                    </p:anim>
                                    <p:anim calcmode="lin" valueType="num">
                                      <p:cBhvr>
                                        <p:cTn id="45" dur="500" fill="hold" decel="100000"/>
                                        <p:tgtEl>
                                          <p:spTgt spid="12"/>
                                        </p:tgtEl>
                                        <p:attrNameLst>
                                          <p:attrName>ppt_h</p:attrName>
                                        </p:attrNameLst>
                                      </p:cBhvr>
                                      <p:tavLst>
                                        <p:tav tm="0">
                                          <p:val>
                                            <p:strVal val="#ppt_h*0.70"/>
                                          </p:val>
                                        </p:tav>
                                        <p:tav tm="100000">
                                          <p:val>
                                            <p:strVal val="#ppt_h"/>
                                          </p:val>
                                        </p:tav>
                                      </p:tavLst>
                                    </p:anim>
                                    <p:animEffect transition="in" filter="fade">
                                      <p:cBhvr>
                                        <p:cTn id="46" dur="500"/>
                                        <p:tgtEl>
                                          <p:spTgt spid="12"/>
                                        </p:tgtEl>
                                      </p:cBhvr>
                                    </p:animEffect>
                                  </p:childTnLst>
                                </p:cTn>
                              </p:par>
                              <p:par>
                                <p:cTn id="50" presetID="10" presetClass="entr" presetSubtype="0" fill="hold" grpId="0" nodeType="withEffect">
                                  <p:stCondLst>
                                    <p:cond delay="2587"/>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5" presetID="53" presetClass="entr" presetSubtype="16" fill="hold" grpId="0" nodeType="withEffect">
                                  <p:stCondLst>
                                    <p:cond delay="2707"/>
                                  </p:stCondLst>
                                  <p:childTnLst>
                                    <p:set>
                                      <p:cBhvr>
                                        <p:cTn id="51" dur="1" fill="hold">
                                          <p:stCondLst>
                                            <p:cond delay="0"/>
                                          </p:stCondLst>
                                        </p:cTn>
                                        <p:tgtEl>
                                          <p:spTgt spid="14"/>
                                        </p:tgtEl>
                                        <p:attrNameLst>
                                          <p:attrName>style.visibility</p:attrName>
                                        </p:attrNameLst>
                                      </p:cBhvr>
                                      <p:to>
                                        <p:strVal val="visible"/>
                                      </p:to>
                                    </p:set>
                                    <p:anim calcmode="lin" valueType="num">
                                      <p:cBhvr>
                                        <p:cTn id="52" dur="500" fill="hold" decel="100000"/>
                                        <p:tgtEl>
                                          <p:spTgt spid="14"/>
                                        </p:tgtEl>
                                        <p:attrNameLst>
                                          <p:attrName>ppt_w</p:attrName>
                                        </p:attrNameLst>
                                      </p:cBhvr>
                                      <p:tavLst>
                                        <p:tav tm="0">
                                          <p:val>
                                            <p:strVal val="#ppt_w*0.70"/>
                                          </p:val>
                                        </p:tav>
                                        <p:tav tm="100000">
                                          <p:val>
                                            <p:strVal val="#ppt_w"/>
                                          </p:val>
                                        </p:tav>
                                      </p:tavLst>
                                    </p:anim>
                                    <p:anim calcmode="lin" valueType="num">
                                      <p:cBhvr>
                                        <p:cTn id="53" dur="500" fill="hold" decel="100000"/>
                                        <p:tgtEl>
                                          <p:spTgt spid="14"/>
                                        </p:tgtEl>
                                        <p:attrNameLst>
                                          <p:attrName>ppt_h</p:attrName>
                                        </p:attrNameLst>
                                      </p:cBhvr>
                                      <p:tavLst>
                                        <p:tav tm="0">
                                          <p:val>
                                            <p:strVal val="#ppt_h*0.70"/>
                                          </p:val>
                                        </p:tav>
                                        <p:tav tm="100000">
                                          <p:val>
                                            <p:strVal val="#ppt_h"/>
                                          </p:val>
                                        </p:tav>
                                      </p:tavLst>
                                    </p:anim>
                                    <p:animEffect transition="in" filter="fade">
                                      <p:cBhvr>
                                        <p:cTn id="54" dur="500"/>
                                        <p:tgtEl>
                                          <p:spTgt spid="14"/>
                                        </p:tgtEl>
                                      </p:cBhvr>
                                    </p:animEffect>
                                  </p:childTnLst>
                                </p:cTn>
                              </p:par>
                              <p:par>
                                <p:cTn id="58" presetID="10" presetClass="entr" presetSubtype="0" fill="hold" grpId="0" nodeType="withEffect">
                                  <p:stCondLst>
                                    <p:cond delay="2807"/>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4" grpId="0">
        <p:bldAsOne/>
      </p:bldGraphic>
      <p:bldP spid="16"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2.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3" name="gasbalance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Burning more gas than it produces</a:t>
            </a:r>
            <a:endParaRPr lang="en-US" sz="3800" dirty="0"/>
          </a:p>
        </p:txBody>
      </p:sp>
      <p:graphicFrame>
        <p:nvGraphicFramePr>
          <p:cNvPr id="4" name="gasbalance_area" descr=""/>
          <p:cNvGraphicFramePr/>
          <p:nvPr/>
        </p:nvGraphicFramePr>
        <p:xfrm>
          <a:off x="457200" y="1783080"/>
          <a:ext cx="7589520" cy="4069080"/>
        </p:xfrm>
        <a:graphic xmlns:a="http://schemas.openxmlformats.org/drawingml/2006/main">
          <a:graphicData uri="http://schemas.openxmlformats.org/drawingml/2006/chart">
            <c:chart xmlns:c="http://schemas.openxmlformats.org/drawingml/2006/chart" r:id="rId1"/>
          </a:graphicData>
        </a:graphic>
      </p:graphicFrame>
      <p:sp>
        <p:nvSpPr>
          <p:cNvPr id="5" name="gasbalance_t_1"/>
          <p:cNvSpPr txBox="1"/>
          <p:nvPr/>
        </p:nvSpPr>
        <p:spPr>
          <a:xfrm>
            <a:off x="5623560" y="2487168"/>
            <a:ext cx="2194560" cy="3200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LNG imports</a:t>
            </a:r>
            <a:endParaRPr lang="en-US" sz="1600" dirty="0"/>
          </a:p>
        </p:txBody>
      </p:sp>
      <p:sp>
        <p:nvSpPr>
          <p:cNvPr id="6" name="gasbalance_t_2"/>
          <p:cNvSpPr txBox="1"/>
          <p:nvPr/>
        </p:nvSpPr>
        <p:spPr>
          <a:xfrm>
            <a:off x="5120640" y="4206240"/>
            <a:ext cx="2651760" cy="32004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Domestic production</a:t>
            </a:r>
            <a:endParaRPr lang="en-US" sz="1600" dirty="0"/>
          </a:p>
        </p:txBody>
      </p:sp>
      <p:sp>
        <p:nvSpPr>
          <p:cNvPr id="7" name="gasbalance_t_3"/>
          <p:cNvSpPr txBox="1"/>
          <p:nvPr/>
        </p:nvSpPr>
        <p:spPr>
          <a:xfrm>
            <a:off x="1143000" y="1783080"/>
            <a:ext cx="2743200" cy="27432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billion m³ per year</a:t>
            </a:r>
            <a:endParaRPr lang="en-US" sz="1400" dirty="0"/>
          </a:p>
        </p:txBody>
      </p:sp>
      <p:sp>
        <p:nvSpPr>
          <p:cNvPr id="8" name="gasbalance_t_4"/>
          <p:cNvSpPr txBox="1"/>
          <p:nvPr/>
        </p:nvSpPr>
        <p:spPr>
          <a:xfrm>
            <a:off x="8503920" y="1828800"/>
            <a:ext cx="3108960" cy="1280160"/>
          </a:xfrm>
          <a:prstGeom prst="rect">
            <a:avLst/>
          </a:prstGeom>
          <a:noFill/>
          <a:ln/>
        </p:spPr>
        <p:txBody>
          <a:bodyPr wrap="square" lIns="0" tIns="0" rIns="0" bIns="0" rtlCol="0" anchor="t"/>
          <a:lstStyle/>
          <a:p>
            <a:pPr indent="0" marL="0">
              <a:buNone/>
            </a:pPr>
            <a:r>
              <a:rPr lang="en-US" sz="9600" b="1" dirty="0">
                <a:solidFill>
                  <a:schemeClr val="accent2"/>
                </a:solidFill>
                <a:latin typeface="Arial" pitchFamily="34" charset="0"/>
                <a:ea typeface="Arial" pitchFamily="34" charset="-122"/>
                <a:cs typeface="Arial" pitchFamily="34" charset="-120"/>
              </a:rPr>
              <a:t>40%</a:t>
            </a:r>
            <a:endParaRPr lang="en-US" sz="9600" dirty="0"/>
          </a:p>
        </p:txBody>
      </p:sp>
      <p:sp>
        <p:nvSpPr>
          <p:cNvPr id="9" name="gasbalance_t_5"/>
          <p:cNvSpPr txBox="1"/>
          <p:nvPr/>
        </p:nvSpPr>
        <p:spPr>
          <a:xfrm>
            <a:off x="8503920" y="3154680"/>
            <a:ext cx="3108960" cy="86868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of the gas Kuwait used in 2024 was imported as LNG</a:t>
            </a:r>
            <a:endParaRPr lang="en-US" sz="1900" dirty="0"/>
          </a:p>
        </p:txBody>
      </p:sp>
      <p:sp>
        <p:nvSpPr>
          <p:cNvPr id="10" name="gasbalance_t_6"/>
          <p:cNvSpPr txBox="1"/>
          <p:nvPr/>
        </p:nvSpPr>
        <p:spPr>
          <a:xfrm>
            <a:off x="8503920" y="4114800"/>
            <a:ext cx="3108960" cy="128016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≈15 bcm produced vs ≈25 bcm consumed. Imports began in 2009; the Al-Zour LNG terminal opened in 2021.</a:t>
            </a:r>
            <a:endParaRPr lang="en-US" sz="1600" dirty="0"/>
          </a:p>
        </p:txBody>
      </p:sp>
      <p:sp>
        <p:nvSpPr>
          <p:cNvPr id="11" name="gasbalance_t_7"/>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 Energy Institute Statistical Review of World Energy (2025), via Our World in Data; converted at 10 TWh ≈ 1 bcm.</a:t>
            </a:r>
            <a:endParaRPr lang="en-US" sz="1200" dirty="0"/>
          </a:p>
        </p:txBody>
      </p:sp>
      <p:sp>
        <p:nvSpPr>
          <p:cNvPr id="12" name="gasbalance_home_8">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3" name="gasbalance_i_9"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4" name="gasbalance_s_10">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8"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2000"/>
                                        <p:tgtEl>
                                          <p:spTgt spid="4"/>
                                        </p:tgtEl>
                                      </p:cBhvr>
                                    </p:animEffect>
                                  </p:childTnLst>
                                </p:cTn>
                              </p:par>
                              <p:par>
                                <p:cTn id="17" presetID="53" presetClass="entr" presetSubtype="16" fill="hold" grpId="0" nodeType="withEffect">
                                  <p:stCondLst>
                                    <p:cond delay="1500"/>
                                  </p:stCondLst>
                                  <p:childTnLst>
                                    <p:set>
                                      <p:cBhvr>
                                        <p:cTn id="13" dur="1" fill="hold">
                                          <p:stCondLst>
                                            <p:cond delay="0"/>
                                          </p:stCondLst>
                                        </p:cTn>
                                        <p:tgtEl>
                                          <p:spTgt spid="8"/>
                                        </p:tgtEl>
                                        <p:attrNameLst>
                                          <p:attrName>style.visibility</p:attrName>
                                        </p:attrNameLst>
                                      </p:cBhvr>
                                      <p:to>
                                        <p:strVal val="visible"/>
                                      </p:to>
                                    </p:set>
                                    <p:anim calcmode="lin" valueType="num">
                                      <p:cBhvr>
                                        <p:cTn id="14" dur="900" fill="hold" decel="100000"/>
                                        <p:tgtEl>
                                          <p:spTgt spid="8"/>
                                        </p:tgtEl>
                                        <p:attrNameLst>
                                          <p:attrName>ppt_w</p:attrName>
                                        </p:attrNameLst>
                                      </p:cBhvr>
                                      <p:tavLst>
                                        <p:tav tm="0">
                                          <p:val>
                                            <p:strVal val="#ppt_w*0.70"/>
                                          </p:val>
                                        </p:tav>
                                        <p:tav tm="100000">
                                          <p:val>
                                            <p:strVal val="#ppt_w"/>
                                          </p:val>
                                        </p:tav>
                                      </p:tavLst>
                                    </p:anim>
                                    <p:anim calcmode="lin" valueType="num">
                                      <p:cBhvr>
                                        <p:cTn id="15" dur="900" fill="hold" decel="100000"/>
                                        <p:tgtEl>
                                          <p:spTgt spid="8"/>
                                        </p:tgtEl>
                                        <p:attrNameLst>
                                          <p:attrName>ppt_h</p:attrName>
                                        </p:attrNameLst>
                                      </p:cBhvr>
                                      <p:tavLst>
                                        <p:tav tm="0">
                                          <p:val>
                                            <p:strVal val="#ppt_h*0.70"/>
                                          </p:val>
                                        </p:tav>
                                        <p:tav tm="100000">
                                          <p:val>
                                            <p:strVal val="#ppt_h"/>
                                          </p:val>
                                        </p:tav>
                                      </p:tavLst>
                                    </p:anim>
                                    <p:animEffect transition="in" filter="fade">
                                      <p:cBhvr>
                                        <p:cTn id="16" dur="900"/>
                                        <p:tgtEl>
                                          <p:spTgt spid="8"/>
                                        </p:tgtEl>
                                      </p:cBhvr>
                                    </p:animEffect>
                                  </p:childTnLst>
                                </p:cTn>
                              </p:par>
                              <p:par>
                                <p:cTn id="20" presetID="10" presetClass="entr" presetSubtype="0" fill="hold" grpId="0" nodeType="withEffect">
                                  <p:stCondLst>
                                    <p:cond delay="18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600"/>
                                        <p:tgtEl>
                                          <p:spTgt spid="5"/>
                                        </p:tgtEl>
                                      </p:cBhvr>
                                    </p:animEffect>
                                  </p:childTnLst>
                                </p:cTn>
                              </p:par>
                              <p:par>
                                <p:cTn id="23" presetID="10" presetClass="entr" presetSubtype="0" fill="hold" grpId="0" nodeType="withEffect">
                                  <p:stCondLst>
                                    <p:cond delay="18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par>
                                <p:cTn id="26" presetID="10" presetClass="entr" presetSubtype="0" fill="hold" grpId="0" nodeType="withEffect">
                                  <p:stCondLst>
                                    <p:cond delay="18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600"/>
                                        <p:tgtEl>
                                          <p:spTgt spid="7"/>
                                        </p:tgtEl>
                                      </p:cBhvr>
                                    </p:animEffect>
                                  </p:childTnLst>
                                </p:cTn>
                              </p:par>
                              <p:par>
                                <p:cTn id="31" presetID="42" presetClass="entr" presetSubtype="0" fill="hold" grpId="0" nodeType="withEffect">
                                  <p:stCondLst>
                                    <p:cond delay="18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700"/>
                                        <p:tgtEl>
                                          <p:spTgt spid="9"/>
                                        </p:tgtEl>
                                      </p:cBhvr>
                                    </p:animEffect>
                                    <p:anim calcmode="lin" valueType="num">
                                      <p:cBhvr>
                                        <p:cTn id="29" dur="700" fill="hold" decel="100000"/>
                                        <p:tgtEl>
                                          <p:spTgt spid="9"/>
                                        </p:tgtEl>
                                        <p:attrNameLst>
                                          <p:attrName>ppt_x</p:attrName>
                                        </p:attrNameLst>
                                      </p:cBhvr>
                                      <p:tavLst>
                                        <p:tav tm="0">
                                          <p:val>
                                            <p:strVal val="#ppt_x"/>
                                          </p:val>
                                        </p:tav>
                                        <p:tav tm="100000">
                                          <p:val>
                                            <p:strVal val="#ppt_x"/>
                                          </p:val>
                                        </p:tav>
                                      </p:tavLst>
                                    </p:anim>
                                    <p:anim calcmode="lin" valueType="num">
                                      <p:cBhvr>
                                        <p:cTn id="30" dur="700" fill="hold" decel="100000"/>
                                        <p:tgtEl>
                                          <p:spTgt spid="9"/>
                                        </p:tgtEl>
                                        <p:attrNameLst>
                                          <p:attrName>ppt_y</p:attrName>
                                        </p:attrNameLst>
                                      </p:cBhvr>
                                      <p:tavLst>
                                        <p:tav tm="0">
                                          <p:val>
                                            <p:strVal val="#ppt_y+0.04"/>
                                          </p:val>
                                        </p:tav>
                                        <p:tav tm="100000">
                                          <p:val>
                                            <p:strVal val="#ppt_y"/>
                                          </p:val>
                                        </p:tav>
                                      </p:tavLst>
                                    </p:anim>
                                  </p:childTnLst>
                                </p:cTn>
                              </p:par>
                              <p:par>
                                <p:cTn id="34" presetID="10" presetClass="entr" presetSubtype="0" fill="hold" grpId="0" nodeType="withEffect">
                                  <p:stCondLst>
                                    <p:cond delay="21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7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4" grpId="0">
        <p:bldAsOne/>
      </p:bldGraphic>
      <p:bldP spid="8" grpId="0" animBg="1"/>
      <p:bldP spid="5" grpId="0" animBg="1"/>
      <p:bldP spid="6" grpId="0" animBg="1"/>
      <p:bldP spid="7" grpId="0" animBg="1"/>
      <p:bldP spid="9" grpId="0" animBg="1"/>
      <p:bldP spid="10" grpId="0" animBg="1"/>
    </p:bldLst>
  </p:timing>
</p:sld>
</file>

<file path=ppt/slides/slide13.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3" name="chain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One state company, the whole chain</a:t>
            </a:r>
            <a:endParaRPr lang="en-US" sz="3800" dirty="0"/>
          </a:p>
        </p:txBody>
      </p:sp>
      <p:sp>
        <p:nvSpPr>
          <p:cNvPr id="4" name="chain_t_1"/>
          <p:cNvSpPr txBox="1"/>
          <p:nvPr/>
        </p:nvSpPr>
        <p:spPr>
          <a:xfrm>
            <a:off x="548640" y="1783080"/>
            <a:ext cx="11094415" cy="566928"/>
          </a:xfrm>
          <a:prstGeom prst="roundRect">
            <a:avLst>
              <a:gd name="adj" fmla="val 19355"/>
            </a:avLst>
          </a:prstGeom>
          <a:solidFill>
            <a:srgbClr val="1C1C1E"/>
          </a:solidFill>
          <a:ln/>
        </p:spPr>
        <p:txBody>
          <a:bodyPr wrap="square" lIns="254000" tIns="0" rIns="254000" bIns="0" rtlCol="0" anchor="ctr"/>
          <a:lstStyle/>
          <a:p>
            <a:pPr algn="ctr" indent="0" marL="0">
              <a:buNone/>
            </a:pPr>
            <a:r>
              <a:rPr lang="en-US" sz="1800" b="1" dirty="0">
                <a:solidFill>
                  <a:schemeClr val="tx1"/>
                </a:solidFill>
                <a:latin typeface="Arial" pitchFamily="34" charset="0"/>
                <a:ea typeface="Arial" pitchFamily="34" charset="-122"/>
                <a:cs typeface="Arial" pitchFamily="34" charset="-120"/>
              </a:rPr>
              <a:t>KUWAIT PETROLEUM CORPORATION (KPC)</a:t>
            </a:r>
            <a:pPr algn="ctr" indent="0" marL="0">
              <a:buNone/>
            </a:pPr>
            <a:r>
              <a:rPr lang="en-US" sz="1800" dirty="0">
                <a:solidFill>
                  <a:schemeClr val="tx2"/>
                </a:solidFill>
                <a:latin typeface="Arial" pitchFamily="34" charset="0"/>
                <a:ea typeface="Arial" pitchFamily="34" charset="-122"/>
                <a:cs typeface="Arial" pitchFamily="34" charset="-120"/>
              </a:rPr>
              <a:t>   ·   state-owned holding company, est. 1980</a:t>
            </a:r>
            <a:endParaRPr lang="en-US" sz="1800" dirty="0"/>
          </a:p>
        </p:txBody>
      </p:sp>
      <p:sp>
        <p:nvSpPr>
          <p:cNvPr id="5" name="chain_s_2"/>
          <p:cNvSpPr/>
          <p:nvPr/>
        </p:nvSpPr>
        <p:spPr>
          <a:xfrm>
            <a:off x="1038118"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6" name="chain_i_3" descr="preencoded.png">    </p:cNvPr>
          <p:cNvPicPr>
            <a:picLocks noChangeAspect="1"/>
          </p:cNvPicPr>
          <p:nvPr/>
        </p:nvPicPr>
        <p:blipFill>
          <a:blip r:embed="rId1"/>
          <a:stretch>
            <a:fillRect/>
          </a:stretch>
        </p:blipFill>
        <p:spPr>
          <a:xfrm>
            <a:off x="1266718" y="2926080"/>
            <a:ext cx="548640" cy="548640"/>
          </a:xfrm>
          <a:prstGeom prst="rect">
            <a:avLst/>
          </a:prstGeom>
        </p:spPr>
      </p:pic>
      <p:sp>
        <p:nvSpPr>
          <p:cNvPr id="7" name="chain_t_4"/>
          <p:cNvSpPr txBox="1"/>
          <p:nvPr/>
        </p:nvSpPr>
        <p:spPr>
          <a:xfrm>
            <a:off x="548640"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Upstream</a:t>
            </a:r>
            <a:endParaRPr lang="en-US" sz="2000" dirty="0"/>
          </a:p>
        </p:txBody>
      </p:sp>
      <p:sp>
        <p:nvSpPr>
          <p:cNvPr id="8" name="chain_t_5"/>
          <p:cNvSpPr txBox="1"/>
          <p:nvPr/>
        </p:nvSpPr>
        <p:spPr>
          <a:xfrm>
            <a:off x="548640" y="4343400"/>
            <a:ext cx="1984797" cy="1188720"/>
          </a:xfrm>
          <a:prstGeom prst="rect">
            <a:avLst/>
          </a:prstGeom>
          <a:noFill/>
          <a:ln/>
        </p:spPr>
        <p:txBody>
          <a:bodyPr wrap="square" lIns="0" tIns="0" rIns="0" bIns="0" rtlCol="0" anchor="t"/>
          <a:lstStyle/>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KOC: Kuwait fields</a:t>
            </a:r>
            <a:endParaRPr lang="en-US" sz="1500" dirty="0"/>
          </a:p>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KGOC: Partitioned Zone</a:t>
            </a:r>
            <a:endParaRPr lang="en-US" sz="1500" dirty="0"/>
          </a:p>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KUFPEC: abroad</a:t>
            </a:r>
            <a:endParaRPr lang="en-US" sz="1500" dirty="0"/>
          </a:p>
        </p:txBody>
      </p:sp>
      <p:pic>
        <p:nvPicPr>
          <p:cNvPr id="9" name="chain_i_6" descr="preencoded.png">    </p:cNvPr>
          <p:cNvPicPr>
            <a:picLocks noChangeAspect="1"/>
          </p:cNvPicPr>
          <p:nvPr/>
        </p:nvPicPr>
        <p:blipFill>
          <a:blip r:embed="rId2"/>
          <a:stretch>
            <a:fillRect/>
          </a:stretch>
        </p:blipFill>
        <p:spPr>
          <a:xfrm>
            <a:off x="2524293" y="3044952"/>
            <a:ext cx="310896" cy="310896"/>
          </a:xfrm>
          <a:prstGeom prst="rect">
            <a:avLst/>
          </a:prstGeom>
        </p:spPr>
      </p:pic>
      <p:sp>
        <p:nvSpPr>
          <p:cNvPr id="10" name="chain_s_7"/>
          <p:cNvSpPr/>
          <p:nvPr/>
        </p:nvSpPr>
        <p:spPr>
          <a:xfrm>
            <a:off x="3315523"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11" name="chain_i_8" descr="preencoded.png">    </p:cNvPr>
          <p:cNvPicPr>
            <a:picLocks noChangeAspect="1"/>
          </p:cNvPicPr>
          <p:nvPr/>
        </p:nvPicPr>
        <p:blipFill>
          <a:blip r:embed="rId3"/>
          <a:stretch>
            <a:fillRect/>
          </a:stretch>
        </p:blipFill>
        <p:spPr>
          <a:xfrm>
            <a:off x="3544123" y="2926080"/>
            <a:ext cx="548640" cy="548640"/>
          </a:xfrm>
          <a:prstGeom prst="rect">
            <a:avLst/>
          </a:prstGeom>
        </p:spPr>
      </p:pic>
      <p:sp>
        <p:nvSpPr>
          <p:cNvPr id="12" name="chain_t_9"/>
          <p:cNvSpPr txBox="1"/>
          <p:nvPr/>
        </p:nvSpPr>
        <p:spPr>
          <a:xfrm>
            <a:off x="2826045"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Shipping</a:t>
            </a:r>
            <a:endParaRPr lang="en-US" sz="2000" dirty="0"/>
          </a:p>
        </p:txBody>
      </p:sp>
      <p:sp>
        <p:nvSpPr>
          <p:cNvPr id="13" name="chain_t_10"/>
          <p:cNvSpPr txBox="1"/>
          <p:nvPr/>
        </p:nvSpPr>
        <p:spPr>
          <a:xfrm>
            <a:off x="2826045" y="4343400"/>
            <a:ext cx="1984797" cy="1188720"/>
          </a:xfrm>
          <a:prstGeom prst="rect">
            <a:avLst/>
          </a:prstGeom>
          <a:noFill/>
          <a:ln/>
        </p:spPr>
        <p:txBody>
          <a:bodyPr wrap="square" lIns="0" tIns="0" rIns="0" bIns="0" rtlCol="0" anchor="t"/>
          <a:lstStyle/>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KOTC tankers</a:t>
            </a:r>
            <a:endParaRPr lang="en-US" sz="1500" dirty="0"/>
          </a:p>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(since 1957)</a:t>
            </a:r>
            <a:endParaRPr lang="en-US" sz="1500" dirty="0"/>
          </a:p>
        </p:txBody>
      </p:sp>
      <p:pic>
        <p:nvPicPr>
          <p:cNvPr id="14" name="chain_i_11" descr="preencoded.png">    </p:cNvPr>
          <p:cNvPicPr>
            <a:picLocks noChangeAspect="1"/>
          </p:cNvPicPr>
          <p:nvPr/>
        </p:nvPicPr>
        <p:blipFill>
          <a:blip r:embed="rId4"/>
          <a:stretch>
            <a:fillRect/>
          </a:stretch>
        </p:blipFill>
        <p:spPr>
          <a:xfrm>
            <a:off x="4801697" y="3044952"/>
            <a:ext cx="310896" cy="310896"/>
          </a:xfrm>
          <a:prstGeom prst="rect">
            <a:avLst/>
          </a:prstGeom>
        </p:spPr>
      </p:pic>
      <p:sp>
        <p:nvSpPr>
          <p:cNvPr id="15" name="chain_s_12"/>
          <p:cNvSpPr/>
          <p:nvPr/>
        </p:nvSpPr>
        <p:spPr>
          <a:xfrm>
            <a:off x="5592928"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16" name="chain_i_13" descr="preencoded.png">    </p:cNvPr>
          <p:cNvPicPr>
            <a:picLocks noChangeAspect="1"/>
          </p:cNvPicPr>
          <p:nvPr/>
        </p:nvPicPr>
        <p:blipFill>
          <a:blip r:embed="rId5"/>
          <a:stretch>
            <a:fillRect/>
          </a:stretch>
        </p:blipFill>
        <p:spPr>
          <a:xfrm>
            <a:off x="5821528" y="2926080"/>
            <a:ext cx="548640" cy="548640"/>
          </a:xfrm>
          <a:prstGeom prst="rect">
            <a:avLst/>
          </a:prstGeom>
        </p:spPr>
      </p:pic>
      <p:sp>
        <p:nvSpPr>
          <p:cNvPr id="17" name="chain_t_14"/>
          <p:cNvSpPr txBox="1"/>
          <p:nvPr/>
        </p:nvSpPr>
        <p:spPr>
          <a:xfrm>
            <a:off x="5103449"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Refining</a:t>
            </a:r>
            <a:endParaRPr lang="en-US" sz="2000" dirty="0"/>
          </a:p>
        </p:txBody>
      </p:sp>
      <p:sp>
        <p:nvSpPr>
          <p:cNvPr id="18" name="chain_t_15"/>
          <p:cNvSpPr txBox="1"/>
          <p:nvPr/>
        </p:nvSpPr>
        <p:spPr>
          <a:xfrm>
            <a:off x="5103449" y="4343400"/>
            <a:ext cx="1984797" cy="1188720"/>
          </a:xfrm>
          <a:prstGeom prst="rect">
            <a:avLst/>
          </a:prstGeom>
          <a:noFill/>
          <a:ln/>
        </p:spPr>
        <p:txBody>
          <a:bodyPr wrap="square" lIns="0" tIns="0" rIns="0" bIns="0" rtlCol="0" anchor="t"/>
          <a:lstStyle/>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KNPC: two refineries</a:t>
            </a:r>
            <a:endParaRPr lang="en-US" sz="1500" dirty="0"/>
          </a:p>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KIPIC: Al-Zour</a:t>
            </a:r>
            <a:endParaRPr lang="en-US" sz="1500" dirty="0"/>
          </a:p>
        </p:txBody>
      </p:sp>
      <p:pic>
        <p:nvPicPr>
          <p:cNvPr id="19" name="chain_i_16" descr="preencoded.png">    </p:cNvPr>
          <p:cNvPicPr>
            <a:picLocks noChangeAspect="1"/>
          </p:cNvPicPr>
          <p:nvPr/>
        </p:nvPicPr>
        <p:blipFill>
          <a:blip r:embed="rId6"/>
          <a:stretch>
            <a:fillRect/>
          </a:stretch>
        </p:blipFill>
        <p:spPr>
          <a:xfrm>
            <a:off x="7079102" y="3044952"/>
            <a:ext cx="310896" cy="310896"/>
          </a:xfrm>
          <a:prstGeom prst="rect">
            <a:avLst/>
          </a:prstGeom>
        </p:spPr>
      </p:pic>
      <p:sp>
        <p:nvSpPr>
          <p:cNvPr id="20" name="chain_s_17"/>
          <p:cNvSpPr/>
          <p:nvPr/>
        </p:nvSpPr>
        <p:spPr>
          <a:xfrm>
            <a:off x="7870332"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21" name="chain_i_18" descr="preencoded.png">    </p:cNvPr>
          <p:cNvPicPr>
            <a:picLocks noChangeAspect="1"/>
          </p:cNvPicPr>
          <p:nvPr/>
        </p:nvPicPr>
        <p:blipFill>
          <a:blip r:embed="rId7"/>
          <a:stretch>
            <a:fillRect/>
          </a:stretch>
        </p:blipFill>
        <p:spPr>
          <a:xfrm>
            <a:off x="8098932" y="2926080"/>
            <a:ext cx="548640" cy="548640"/>
          </a:xfrm>
          <a:prstGeom prst="rect">
            <a:avLst/>
          </a:prstGeom>
        </p:spPr>
      </p:pic>
      <p:sp>
        <p:nvSpPr>
          <p:cNvPr id="22" name="chain_t_19"/>
          <p:cNvSpPr txBox="1"/>
          <p:nvPr/>
        </p:nvSpPr>
        <p:spPr>
          <a:xfrm>
            <a:off x="7380854"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Petrochemicals</a:t>
            </a:r>
            <a:endParaRPr lang="en-US" sz="2000" dirty="0"/>
          </a:p>
        </p:txBody>
      </p:sp>
      <p:sp>
        <p:nvSpPr>
          <p:cNvPr id="23" name="chain_t_20"/>
          <p:cNvSpPr txBox="1"/>
          <p:nvPr/>
        </p:nvSpPr>
        <p:spPr>
          <a:xfrm>
            <a:off x="7380854" y="4343400"/>
            <a:ext cx="1984797" cy="1188720"/>
          </a:xfrm>
          <a:prstGeom prst="rect">
            <a:avLst/>
          </a:prstGeom>
          <a:noFill/>
          <a:ln/>
        </p:spPr>
        <p:txBody>
          <a:bodyPr wrap="square" lIns="0" tIns="0" rIns="0" bIns="0" rtlCol="0" anchor="t"/>
          <a:lstStyle/>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PIC (since 1963)</a:t>
            </a:r>
            <a:endParaRPr lang="en-US" sz="1500" dirty="0"/>
          </a:p>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EQUATE group</a:t>
            </a:r>
            <a:endParaRPr lang="en-US" sz="1500" dirty="0"/>
          </a:p>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(with Dow)</a:t>
            </a:r>
            <a:endParaRPr lang="en-US" sz="1500" dirty="0"/>
          </a:p>
        </p:txBody>
      </p:sp>
      <p:pic>
        <p:nvPicPr>
          <p:cNvPr id="24" name="chain_i_21" descr="preencoded.png">    </p:cNvPr>
          <p:cNvPicPr>
            <a:picLocks noChangeAspect="1"/>
          </p:cNvPicPr>
          <p:nvPr/>
        </p:nvPicPr>
        <p:blipFill>
          <a:blip r:embed="rId8"/>
          <a:stretch>
            <a:fillRect/>
          </a:stretch>
        </p:blipFill>
        <p:spPr>
          <a:xfrm>
            <a:off x="9356507" y="3044952"/>
            <a:ext cx="310896" cy="310896"/>
          </a:xfrm>
          <a:prstGeom prst="rect">
            <a:avLst/>
          </a:prstGeom>
        </p:spPr>
      </p:pic>
      <p:sp>
        <p:nvSpPr>
          <p:cNvPr id="25" name="chain_s_22"/>
          <p:cNvSpPr/>
          <p:nvPr/>
        </p:nvSpPr>
        <p:spPr>
          <a:xfrm>
            <a:off x="10147737" y="2697480"/>
            <a:ext cx="1005840" cy="1005840"/>
          </a:xfrm>
          <a:prstGeom prst="ellipse">
            <a:avLst/>
          </a:prstGeom>
          <a:solidFill>
            <a:srgbClr val="2C2C2E"/>
          </a:solidFill>
          <a:ln/>
          <a:effectLst>
            <a:outerShdw sx="100000" sy="100000" kx="0" ky="0" algn="bl" rotWithShape="0" blurRad="203200" dist="50800" dir="5400000">
              <a:srgbClr val="FF9F0A">
                <a:alpha val="35000"/>
              </a:srgbClr>
            </a:outerShdw>
          </a:effectLst>
        </p:spPr>
      </p:sp>
      <p:pic>
        <p:nvPicPr>
          <p:cNvPr id="26" name="chain_i_23" descr="preencoded.png">    </p:cNvPr>
          <p:cNvPicPr>
            <a:picLocks noChangeAspect="1"/>
          </p:cNvPicPr>
          <p:nvPr/>
        </p:nvPicPr>
        <p:blipFill>
          <a:blip r:embed="rId9"/>
          <a:stretch>
            <a:fillRect/>
          </a:stretch>
        </p:blipFill>
        <p:spPr>
          <a:xfrm>
            <a:off x="10376337" y="2926080"/>
            <a:ext cx="548640" cy="548640"/>
          </a:xfrm>
          <a:prstGeom prst="rect">
            <a:avLst/>
          </a:prstGeom>
        </p:spPr>
      </p:pic>
      <p:sp>
        <p:nvSpPr>
          <p:cNvPr id="27" name="chain_t_24"/>
          <p:cNvSpPr txBox="1"/>
          <p:nvPr/>
        </p:nvSpPr>
        <p:spPr>
          <a:xfrm>
            <a:off x="9658259" y="3886200"/>
            <a:ext cx="1984797" cy="411480"/>
          </a:xfrm>
          <a:prstGeom prst="rect">
            <a:avLst/>
          </a:prstGeom>
          <a:noFill/>
          <a:ln/>
        </p:spPr>
        <p:txBody>
          <a:bodyPr wrap="square" lIns="0" tIns="0" rIns="0" bIns="0" rtlCol="0" anchor="t"/>
          <a:lstStyle/>
          <a:p>
            <a:pPr algn="ctr" indent="0" marL="0">
              <a:buNone/>
            </a:pPr>
            <a:r>
              <a:rPr lang="en-US" sz="2000" b="1" dirty="0">
                <a:solidFill>
                  <a:schemeClr val="tx1"/>
                </a:solidFill>
                <a:latin typeface="Arial" pitchFamily="34" charset="0"/>
                <a:ea typeface="Arial" pitchFamily="34" charset="-122"/>
                <a:cs typeface="Arial" pitchFamily="34" charset="-120"/>
              </a:rPr>
              <a:t>Marketing</a:t>
            </a:r>
            <a:endParaRPr lang="en-US" sz="2000" dirty="0"/>
          </a:p>
        </p:txBody>
      </p:sp>
      <p:sp>
        <p:nvSpPr>
          <p:cNvPr id="28" name="chain_t_25"/>
          <p:cNvSpPr txBox="1"/>
          <p:nvPr/>
        </p:nvSpPr>
        <p:spPr>
          <a:xfrm>
            <a:off x="9658259" y="4343400"/>
            <a:ext cx="1984797" cy="1188720"/>
          </a:xfrm>
          <a:prstGeom prst="rect">
            <a:avLst/>
          </a:prstGeom>
          <a:noFill/>
          <a:ln/>
        </p:spPr>
        <p:txBody>
          <a:bodyPr wrap="square" lIns="0" tIns="0" rIns="0" bIns="0" rtlCol="0" anchor="t"/>
          <a:lstStyle/>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KPI: Q8 brand</a:t>
            </a:r>
            <a:endParaRPr lang="en-US" sz="1500" dirty="0"/>
          </a:p>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fuels and refining</a:t>
            </a:r>
            <a:endParaRPr lang="en-US" sz="1500" dirty="0"/>
          </a:p>
          <a:p>
            <a:pPr algn="ctr" indent="0" marL="0">
              <a:spcAft>
                <a:spcPts val="300"/>
              </a:spcAft>
              <a:buNone/>
            </a:pPr>
            <a:r>
              <a:rPr lang="en-US" sz="1500" dirty="0">
                <a:solidFill>
                  <a:schemeClr val="tx2"/>
                </a:solidFill>
                <a:latin typeface="Arial" pitchFamily="34" charset="0"/>
                <a:ea typeface="Arial" pitchFamily="34" charset="-122"/>
                <a:cs typeface="Arial" pitchFamily="34" charset="-120"/>
              </a:rPr>
              <a:t>abroad</a:t>
            </a:r>
            <a:endParaRPr lang="en-US" sz="1500" dirty="0"/>
          </a:p>
        </p:txBody>
      </p:sp>
      <p:sp>
        <p:nvSpPr>
          <p:cNvPr id="29" name="chain_t_26"/>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KPC (n.d.); KOC (n.d.); KNPC (n.d.); KIPIC (n.d.); KOTC (n.d.); PIC (n.d.); Britannica.</a:t>
            </a:r>
            <a:endParaRPr lang="en-US" sz="1200" dirty="0"/>
          </a:p>
        </p:txBody>
      </p:sp>
      <p:sp>
        <p:nvSpPr>
          <p:cNvPr id="30" name="chain_home_27">
            <a:hlinkClick r:id="rId10"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31" name="chain_i_28" descr="preencoded.png">    </p:cNvPr>
          <p:cNvPicPr>
            <a:picLocks noChangeAspect="1"/>
          </p:cNvPicPr>
          <p:nvPr/>
        </p:nvPicPr>
        <p:blipFill>
          <a:blip r:embed="rId11"/>
          <a:stretch>
            <a:fillRect/>
          </a:stretch>
        </p:blipFill>
        <p:spPr>
          <a:xfrm>
            <a:off x="10719511" y="6355080"/>
            <a:ext cx="219456" cy="219456"/>
          </a:xfrm>
          <a:prstGeom prst="rect">
            <a:avLst/>
          </a:prstGeom>
        </p:spPr>
      </p:pic>
      <p:sp>
        <p:nvSpPr>
          <p:cNvPr id="32" name="chain_s_29">
            <a:hlinkClick r:id="rId12"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10" presetClass="entr" presetSubtype="0"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800"/>
                                        <p:tgtEl>
                                          <p:spTgt spid="4"/>
                                        </p:tgtEl>
                                      </p:cBhvr>
                                    </p:animEffect>
                                  </p:childTnLst>
                                </p:cTn>
                              </p:par>
                              <p:par>
                                <p:cTn id="17" presetID="53" presetClass="entr" presetSubtype="16" fill="hold" grpId="0" nodeType="withEffect">
                                  <p:stCondLst>
                                    <p:cond delay="600"/>
                                  </p:stCondLst>
                                  <p:childTnLst>
                                    <p:set>
                                      <p:cBhvr>
                                        <p:cTn id="13" dur="1" fill="hold">
                                          <p:stCondLst>
                                            <p:cond delay="0"/>
                                          </p:stCondLst>
                                        </p:cTn>
                                        <p:tgtEl>
                                          <p:spTgt spid="5"/>
                                        </p:tgtEl>
                                        <p:attrNameLst>
                                          <p:attrName>style.visibility</p:attrName>
                                        </p:attrNameLst>
                                      </p:cBhvr>
                                      <p:to>
                                        <p:strVal val="visible"/>
                                      </p:to>
                                    </p:set>
                                    <p:anim calcmode="lin" valueType="num">
                                      <p:cBhvr>
                                        <p:cTn id="14" dur="600" fill="hold" decel="100000"/>
                                        <p:tgtEl>
                                          <p:spTgt spid="5"/>
                                        </p:tgtEl>
                                        <p:attrNameLst>
                                          <p:attrName>ppt_w</p:attrName>
                                        </p:attrNameLst>
                                      </p:cBhvr>
                                      <p:tavLst>
                                        <p:tav tm="0">
                                          <p:val>
                                            <p:strVal val="#ppt_w*0.70"/>
                                          </p:val>
                                        </p:tav>
                                        <p:tav tm="100000">
                                          <p:val>
                                            <p:strVal val="#ppt_w"/>
                                          </p:val>
                                        </p:tav>
                                      </p:tavLst>
                                    </p:anim>
                                    <p:anim calcmode="lin" valueType="num">
                                      <p:cBhvr>
                                        <p:cTn id="15" dur="600" fill="hold" decel="100000"/>
                                        <p:tgtEl>
                                          <p:spTgt spid="5"/>
                                        </p:tgtEl>
                                        <p:attrNameLst>
                                          <p:attrName>ppt_h</p:attrName>
                                        </p:attrNameLst>
                                      </p:cBhvr>
                                      <p:tavLst>
                                        <p:tav tm="0">
                                          <p:val>
                                            <p:strVal val="#ppt_h*0.70"/>
                                          </p:val>
                                        </p:tav>
                                        <p:tav tm="100000">
                                          <p:val>
                                            <p:strVal val="#ppt_h"/>
                                          </p:val>
                                        </p:tav>
                                      </p:tavLst>
                                    </p:anim>
                                    <p:animEffect transition="in" filter="fade">
                                      <p:cBhvr>
                                        <p:cTn id="16" dur="600"/>
                                        <p:tgtEl>
                                          <p:spTgt spid="5"/>
                                        </p:tgtEl>
                                      </p:cBhvr>
                                    </p:animEffect>
                                  </p:childTnLst>
                                </p:cTn>
                              </p:par>
                              <p:par>
                                <p:cTn id="22" presetID="53" presetClass="entr" presetSubtype="16" fill="hold" grpId="0" nodeType="withEffect">
                                  <p:stCondLst>
                                    <p:cond delay="600"/>
                                  </p:stCondLst>
                                  <p:childTnLst>
                                    <p:set>
                                      <p:cBhvr>
                                        <p:cTn id="18" dur="1" fill="hold">
                                          <p:stCondLst>
                                            <p:cond delay="0"/>
                                          </p:stCondLst>
                                        </p:cTn>
                                        <p:tgtEl>
                                          <p:spTgt spid="6"/>
                                        </p:tgtEl>
                                        <p:attrNameLst>
                                          <p:attrName>style.visibility</p:attrName>
                                        </p:attrNameLst>
                                      </p:cBhvr>
                                      <p:to>
                                        <p:strVal val="visible"/>
                                      </p:to>
                                    </p:set>
                                    <p:anim calcmode="lin" valueType="num">
                                      <p:cBhvr>
                                        <p:cTn id="19" dur="600" fill="hold" decel="100000"/>
                                        <p:tgtEl>
                                          <p:spTgt spid="6"/>
                                        </p:tgtEl>
                                        <p:attrNameLst>
                                          <p:attrName>ppt_w</p:attrName>
                                        </p:attrNameLst>
                                      </p:cBhvr>
                                      <p:tavLst>
                                        <p:tav tm="0">
                                          <p:val>
                                            <p:strVal val="#ppt_w*0.70"/>
                                          </p:val>
                                        </p:tav>
                                        <p:tav tm="100000">
                                          <p:val>
                                            <p:strVal val="#ppt_w"/>
                                          </p:val>
                                        </p:tav>
                                      </p:tavLst>
                                    </p:anim>
                                    <p:anim calcmode="lin" valueType="num">
                                      <p:cBhvr>
                                        <p:cTn id="20" dur="600" fill="hold" decel="100000"/>
                                        <p:tgtEl>
                                          <p:spTgt spid="6"/>
                                        </p:tgtEl>
                                        <p:attrNameLst>
                                          <p:attrName>ppt_h</p:attrName>
                                        </p:attrNameLst>
                                      </p:cBhvr>
                                      <p:tavLst>
                                        <p:tav tm="0">
                                          <p:val>
                                            <p:strVal val="#ppt_h*0.70"/>
                                          </p:val>
                                        </p:tav>
                                        <p:tav tm="100000">
                                          <p:val>
                                            <p:strVal val="#ppt_h"/>
                                          </p:val>
                                        </p:tav>
                                      </p:tavLst>
                                    </p:anim>
                                    <p:animEffect transition="in" filter="fade">
                                      <p:cBhvr>
                                        <p:cTn id="21" dur="600"/>
                                        <p:tgtEl>
                                          <p:spTgt spid="6"/>
                                        </p:tgtEl>
                                      </p:cBhvr>
                                    </p:animEffect>
                                  </p:childTnLst>
                                </p:cTn>
                              </p:par>
                              <p:par>
                                <p:cTn id="27" presetID="42" presetClass="entr" presetSubtype="0" fill="hold" grpId="0" nodeType="withEffect">
                                  <p:stCondLst>
                                    <p:cond delay="7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fill="hold" decel="100000"/>
                                        <p:tgtEl>
                                          <p:spTgt spid="7"/>
                                        </p:tgtEl>
                                        <p:attrNameLst>
                                          <p:attrName>ppt_x</p:attrName>
                                        </p:attrNameLst>
                                      </p:cBhvr>
                                      <p:tavLst>
                                        <p:tav tm="0">
                                          <p:val>
                                            <p:strVal val="#ppt_x"/>
                                          </p:val>
                                        </p:tav>
                                        <p:tav tm="100000">
                                          <p:val>
                                            <p:strVal val="#ppt_x"/>
                                          </p:val>
                                        </p:tav>
                                      </p:tavLst>
                                    </p:anim>
                                    <p:anim calcmode="lin" valueType="num">
                                      <p:cBhvr>
                                        <p:cTn id="26" dur="600" fill="hold" decel="100000"/>
                                        <p:tgtEl>
                                          <p:spTgt spid="7"/>
                                        </p:tgtEl>
                                        <p:attrNameLst>
                                          <p:attrName>ppt_y</p:attrName>
                                        </p:attrNameLst>
                                      </p:cBhvr>
                                      <p:tavLst>
                                        <p:tav tm="0">
                                          <p:val>
                                            <p:strVal val="#ppt_y+0.04"/>
                                          </p:val>
                                        </p:tav>
                                        <p:tav tm="100000">
                                          <p:val>
                                            <p:strVal val="#ppt_y"/>
                                          </p:val>
                                        </p:tav>
                                      </p:tavLst>
                                    </p:anim>
                                  </p:childTnLst>
                                </p:cTn>
                              </p:par>
                              <p:par>
                                <p:cTn id="30" presetID="10" presetClass="entr" presetSubtype="0" fill="hold" grpId="0" nodeType="withEffect">
                                  <p:stCondLst>
                                    <p:cond delay="8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childTnLst>
                                </p:cTn>
                              </p:par>
                              <p:par>
                                <p:cTn id="33" presetID="10" presetClass="entr" presetSubtype="0" fill="hold" grpId="0" nodeType="withEffect">
                                  <p:stCondLst>
                                    <p:cond delay="85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00"/>
                                        <p:tgtEl>
                                          <p:spTgt spid="9"/>
                                        </p:tgtEl>
                                      </p:cBhvr>
                                    </p:animEffect>
                                  </p:childTnLst>
                                </p:cTn>
                              </p:par>
                              <p:par>
                                <p:cTn id="38" presetID="53" presetClass="entr" presetSubtype="16" fill="hold" grpId="0" nodeType="withEffect">
                                  <p:stCondLst>
                                    <p:cond delay="920"/>
                                  </p:stCondLst>
                                  <p:childTnLst>
                                    <p:set>
                                      <p:cBhvr>
                                        <p:cTn id="34" dur="1" fill="hold">
                                          <p:stCondLst>
                                            <p:cond delay="0"/>
                                          </p:stCondLst>
                                        </p:cTn>
                                        <p:tgtEl>
                                          <p:spTgt spid="10"/>
                                        </p:tgtEl>
                                        <p:attrNameLst>
                                          <p:attrName>style.visibility</p:attrName>
                                        </p:attrNameLst>
                                      </p:cBhvr>
                                      <p:to>
                                        <p:strVal val="visible"/>
                                      </p:to>
                                    </p:set>
                                    <p:anim calcmode="lin" valueType="num">
                                      <p:cBhvr>
                                        <p:cTn id="35" dur="600" fill="hold" decel="100000"/>
                                        <p:tgtEl>
                                          <p:spTgt spid="10"/>
                                        </p:tgtEl>
                                        <p:attrNameLst>
                                          <p:attrName>ppt_w</p:attrName>
                                        </p:attrNameLst>
                                      </p:cBhvr>
                                      <p:tavLst>
                                        <p:tav tm="0">
                                          <p:val>
                                            <p:strVal val="#ppt_w*0.70"/>
                                          </p:val>
                                        </p:tav>
                                        <p:tav tm="100000">
                                          <p:val>
                                            <p:strVal val="#ppt_w"/>
                                          </p:val>
                                        </p:tav>
                                      </p:tavLst>
                                    </p:anim>
                                    <p:anim calcmode="lin" valueType="num">
                                      <p:cBhvr>
                                        <p:cTn id="36" dur="600" fill="hold" decel="100000"/>
                                        <p:tgtEl>
                                          <p:spTgt spid="10"/>
                                        </p:tgtEl>
                                        <p:attrNameLst>
                                          <p:attrName>ppt_h</p:attrName>
                                        </p:attrNameLst>
                                      </p:cBhvr>
                                      <p:tavLst>
                                        <p:tav tm="0">
                                          <p:val>
                                            <p:strVal val="#ppt_h*0.70"/>
                                          </p:val>
                                        </p:tav>
                                        <p:tav tm="100000">
                                          <p:val>
                                            <p:strVal val="#ppt_h"/>
                                          </p:val>
                                        </p:tav>
                                      </p:tavLst>
                                    </p:anim>
                                    <p:animEffect transition="in" filter="fade">
                                      <p:cBhvr>
                                        <p:cTn id="37" dur="600"/>
                                        <p:tgtEl>
                                          <p:spTgt spid="10"/>
                                        </p:tgtEl>
                                      </p:cBhvr>
                                    </p:animEffect>
                                  </p:childTnLst>
                                </p:cTn>
                              </p:par>
                              <p:par>
                                <p:cTn id="43" presetID="53" presetClass="entr" presetSubtype="16" fill="hold" grpId="0" nodeType="withEffect">
                                  <p:stCondLst>
                                    <p:cond delay="920"/>
                                  </p:stCondLst>
                                  <p:childTnLst>
                                    <p:set>
                                      <p:cBhvr>
                                        <p:cTn id="39" dur="1" fill="hold">
                                          <p:stCondLst>
                                            <p:cond delay="0"/>
                                          </p:stCondLst>
                                        </p:cTn>
                                        <p:tgtEl>
                                          <p:spTgt spid="11"/>
                                        </p:tgtEl>
                                        <p:attrNameLst>
                                          <p:attrName>style.visibility</p:attrName>
                                        </p:attrNameLst>
                                      </p:cBhvr>
                                      <p:to>
                                        <p:strVal val="visible"/>
                                      </p:to>
                                    </p:set>
                                    <p:anim calcmode="lin" valueType="num">
                                      <p:cBhvr>
                                        <p:cTn id="40" dur="600" fill="hold" decel="100000"/>
                                        <p:tgtEl>
                                          <p:spTgt spid="11"/>
                                        </p:tgtEl>
                                        <p:attrNameLst>
                                          <p:attrName>ppt_w</p:attrName>
                                        </p:attrNameLst>
                                      </p:cBhvr>
                                      <p:tavLst>
                                        <p:tav tm="0">
                                          <p:val>
                                            <p:strVal val="#ppt_w*0.70"/>
                                          </p:val>
                                        </p:tav>
                                        <p:tav tm="100000">
                                          <p:val>
                                            <p:strVal val="#ppt_w"/>
                                          </p:val>
                                        </p:tav>
                                      </p:tavLst>
                                    </p:anim>
                                    <p:anim calcmode="lin" valueType="num">
                                      <p:cBhvr>
                                        <p:cTn id="41" dur="600" fill="hold" decel="100000"/>
                                        <p:tgtEl>
                                          <p:spTgt spid="11"/>
                                        </p:tgtEl>
                                        <p:attrNameLst>
                                          <p:attrName>ppt_h</p:attrName>
                                        </p:attrNameLst>
                                      </p:cBhvr>
                                      <p:tavLst>
                                        <p:tav tm="0">
                                          <p:val>
                                            <p:strVal val="#ppt_h*0.70"/>
                                          </p:val>
                                        </p:tav>
                                        <p:tav tm="100000">
                                          <p:val>
                                            <p:strVal val="#ppt_h"/>
                                          </p:val>
                                        </p:tav>
                                      </p:tavLst>
                                    </p:anim>
                                    <p:animEffect transition="in" filter="fade">
                                      <p:cBhvr>
                                        <p:cTn id="42" dur="600"/>
                                        <p:tgtEl>
                                          <p:spTgt spid="11"/>
                                        </p:tgtEl>
                                      </p:cBhvr>
                                    </p:animEffect>
                                  </p:childTnLst>
                                </p:cTn>
                              </p:par>
                              <p:par>
                                <p:cTn id="48" presetID="42" presetClass="entr" presetSubtype="0" fill="hold" grpId="0" nodeType="withEffect">
                                  <p:stCondLst>
                                    <p:cond delay="102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00"/>
                                        <p:tgtEl>
                                          <p:spTgt spid="12"/>
                                        </p:tgtEl>
                                      </p:cBhvr>
                                    </p:animEffect>
                                    <p:anim calcmode="lin" valueType="num">
                                      <p:cBhvr>
                                        <p:cTn id="46" dur="600" fill="hold" decel="100000"/>
                                        <p:tgtEl>
                                          <p:spTgt spid="12"/>
                                        </p:tgtEl>
                                        <p:attrNameLst>
                                          <p:attrName>ppt_x</p:attrName>
                                        </p:attrNameLst>
                                      </p:cBhvr>
                                      <p:tavLst>
                                        <p:tav tm="0">
                                          <p:val>
                                            <p:strVal val="#ppt_x"/>
                                          </p:val>
                                        </p:tav>
                                        <p:tav tm="100000">
                                          <p:val>
                                            <p:strVal val="#ppt_x"/>
                                          </p:val>
                                        </p:tav>
                                      </p:tavLst>
                                    </p:anim>
                                    <p:anim calcmode="lin" valueType="num">
                                      <p:cBhvr>
                                        <p:cTn id="47" dur="600" fill="hold" decel="100000"/>
                                        <p:tgtEl>
                                          <p:spTgt spid="12"/>
                                        </p:tgtEl>
                                        <p:attrNameLst>
                                          <p:attrName>ppt_y</p:attrName>
                                        </p:attrNameLst>
                                      </p:cBhvr>
                                      <p:tavLst>
                                        <p:tav tm="0">
                                          <p:val>
                                            <p:strVal val="#ppt_y+0.04"/>
                                          </p:val>
                                        </p:tav>
                                        <p:tav tm="100000">
                                          <p:val>
                                            <p:strVal val="#ppt_y"/>
                                          </p:val>
                                        </p:tav>
                                      </p:tavLst>
                                    </p:anim>
                                  </p:childTnLst>
                                </p:cTn>
                              </p:par>
                              <p:par>
                                <p:cTn id="51" presetID="10" presetClass="entr" presetSubtype="0" fill="hold" grpId="0" nodeType="withEffect">
                                  <p:stCondLst>
                                    <p:cond delay="112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600"/>
                                        <p:tgtEl>
                                          <p:spTgt spid="13"/>
                                        </p:tgtEl>
                                      </p:cBhvr>
                                    </p:animEffect>
                                  </p:childTnLst>
                                </p:cTn>
                              </p:par>
                              <p:par>
                                <p:cTn id="54" presetID="10" presetClass="entr" presetSubtype="0" fill="hold" grpId="0" nodeType="withEffect">
                                  <p:stCondLst>
                                    <p:cond delay="117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400"/>
                                        <p:tgtEl>
                                          <p:spTgt spid="14"/>
                                        </p:tgtEl>
                                      </p:cBhvr>
                                    </p:animEffect>
                                  </p:childTnLst>
                                </p:cTn>
                              </p:par>
                              <p:par>
                                <p:cTn id="59" presetID="53" presetClass="entr" presetSubtype="16" fill="hold" grpId="0" nodeType="withEffect">
                                  <p:stCondLst>
                                    <p:cond delay="1240"/>
                                  </p:stCondLst>
                                  <p:childTnLst>
                                    <p:set>
                                      <p:cBhvr>
                                        <p:cTn id="55" dur="1" fill="hold">
                                          <p:stCondLst>
                                            <p:cond delay="0"/>
                                          </p:stCondLst>
                                        </p:cTn>
                                        <p:tgtEl>
                                          <p:spTgt spid="15"/>
                                        </p:tgtEl>
                                        <p:attrNameLst>
                                          <p:attrName>style.visibility</p:attrName>
                                        </p:attrNameLst>
                                      </p:cBhvr>
                                      <p:to>
                                        <p:strVal val="visible"/>
                                      </p:to>
                                    </p:set>
                                    <p:anim calcmode="lin" valueType="num">
                                      <p:cBhvr>
                                        <p:cTn id="56" dur="600" fill="hold" decel="100000"/>
                                        <p:tgtEl>
                                          <p:spTgt spid="15"/>
                                        </p:tgtEl>
                                        <p:attrNameLst>
                                          <p:attrName>ppt_w</p:attrName>
                                        </p:attrNameLst>
                                      </p:cBhvr>
                                      <p:tavLst>
                                        <p:tav tm="0">
                                          <p:val>
                                            <p:strVal val="#ppt_w*0.70"/>
                                          </p:val>
                                        </p:tav>
                                        <p:tav tm="100000">
                                          <p:val>
                                            <p:strVal val="#ppt_w"/>
                                          </p:val>
                                        </p:tav>
                                      </p:tavLst>
                                    </p:anim>
                                    <p:anim calcmode="lin" valueType="num">
                                      <p:cBhvr>
                                        <p:cTn id="57" dur="600" fill="hold" decel="100000"/>
                                        <p:tgtEl>
                                          <p:spTgt spid="15"/>
                                        </p:tgtEl>
                                        <p:attrNameLst>
                                          <p:attrName>ppt_h</p:attrName>
                                        </p:attrNameLst>
                                      </p:cBhvr>
                                      <p:tavLst>
                                        <p:tav tm="0">
                                          <p:val>
                                            <p:strVal val="#ppt_h*0.70"/>
                                          </p:val>
                                        </p:tav>
                                        <p:tav tm="100000">
                                          <p:val>
                                            <p:strVal val="#ppt_h"/>
                                          </p:val>
                                        </p:tav>
                                      </p:tavLst>
                                    </p:anim>
                                    <p:animEffect transition="in" filter="fade">
                                      <p:cBhvr>
                                        <p:cTn id="58" dur="600"/>
                                        <p:tgtEl>
                                          <p:spTgt spid="15"/>
                                        </p:tgtEl>
                                      </p:cBhvr>
                                    </p:animEffect>
                                  </p:childTnLst>
                                </p:cTn>
                              </p:par>
                              <p:par>
                                <p:cTn id="64" presetID="53" presetClass="entr" presetSubtype="16" fill="hold" grpId="0" nodeType="withEffect">
                                  <p:stCondLst>
                                    <p:cond delay="1240"/>
                                  </p:stCondLst>
                                  <p:childTnLst>
                                    <p:set>
                                      <p:cBhvr>
                                        <p:cTn id="60" dur="1" fill="hold">
                                          <p:stCondLst>
                                            <p:cond delay="0"/>
                                          </p:stCondLst>
                                        </p:cTn>
                                        <p:tgtEl>
                                          <p:spTgt spid="16"/>
                                        </p:tgtEl>
                                        <p:attrNameLst>
                                          <p:attrName>style.visibility</p:attrName>
                                        </p:attrNameLst>
                                      </p:cBhvr>
                                      <p:to>
                                        <p:strVal val="visible"/>
                                      </p:to>
                                    </p:set>
                                    <p:anim calcmode="lin" valueType="num">
                                      <p:cBhvr>
                                        <p:cTn id="61" dur="600" fill="hold" decel="100000"/>
                                        <p:tgtEl>
                                          <p:spTgt spid="16"/>
                                        </p:tgtEl>
                                        <p:attrNameLst>
                                          <p:attrName>ppt_w</p:attrName>
                                        </p:attrNameLst>
                                      </p:cBhvr>
                                      <p:tavLst>
                                        <p:tav tm="0">
                                          <p:val>
                                            <p:strVal val="#ppt_w*0.70"/>
                                          </p:val>
                                        </p:tav>
                                        <p:tav tm="100000">
                                          <p:val>
                                            <p:strVal val="#ppt_w"/>
                                          </p:val>
                                        </p:tav>
                                      </p:tavLst>
                                    </p:anim>
                                    <p:anim calcmode="lin" valueType="num">
                                      <p:cBhvr>
                                        <p:cTn id="62" dur="600" fill="hold" decel="100000"/>
                                        <p:tgtEl>
                                          <p:spTgt spid="16"/>
                                        </p:tgtEl>
                                        <p:attrNameLst>
                                          <p:attrName>ppt_h</p:attrName>
                                        </p:attrNameLst>
                                      </p:cBhvr>
                                      <p:tavLst>
                                        <p:tav tm="0">
                                          <p:val>
                                            <p:strVal val="#ppt_h*0.70"/>
                                          </p:val>
                                        </p:tav>
                                        <p:tav tm="100000">
                                          <p:val>
                                            <p:strVal val="#ppt_h"/>
                                          </p:val>
                                        </p:tav>
                                      </p:tavLst>
                                    </p:anim>
                                    <p:animEffect transition="in" filter="fade">
                                      <p:cBhvr>
                                        <p:cTn id="63" dur="600"/>
                                        <p:tgtEl>
                                          <p:spTgt spid="16"/>
                                        </p:tgtEl>
                                      </p:cBhvr>
                                    </p:animEffect>
                                  </p:childTnLst>
                                </p:cTn>
                              </p:par>
                              <p:par>
                                <p:cTn id="69" presetID="42" presetClass="entr" presetSubtype="0" fill="hold" grpId="0" nodeType="withEffect">
                                  <p:stCondLst>
                                    <p:cond delay="134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600"/>
                                        <p:tgtEl>
                                          <p:spTgt spid="17"/>
                                        </p:tgtEl>
                                      </p:cBhvr>
                                    </p:animEffect>
                                    <p:anim calcmode="lin" valueType="num">
                                      <p:cBhvr>
                                        <p:cTn id="67" dur="600" fill="hold" decel="100000"/>
                                        <p:tgtEl>
                                          <p:spTgt spid="17"/>
                                        </p:tgtEl>
                                        <p:attrNameLst>
                                          <p:attrName>ppt_x</p:attrName>
                                        </p:attrNameLst>
                                      </p:cBhvr>
                                      <p:tavLst>
                                        <p:tav tm="0">
                                          <p:val>
                                            <p:strVal val="#ppt_x"/>
                                          </p:val>
                                        </p:tav>
                                        <p:tav tm="100000">
                                          <p:val>
                                            <p:strVal val="#ppt_x"/>
                                          </p:val>
                                        </p:tav>
                                      </p:tavLst>
                                    </p:anim>
                                    <p:anim calcmode="lin" valueType="num">
                                      <p:cBhvr>
                                        <p:cTn id="68" dur="600" fill="hold" decel="100000"/>
                                        <p:tgtEl>
                                          <p:spTgt spid="17"/>
                                        </p:tgtEl>
                                        <p:attrNameLst>
                                          <p:attrName>ppt_y</p:attrName>
                                        </p:attrNameLst>
                                      </p:cBhvr>
                                      <p:tavLst>
                                        <p:tav tm="0">
                                          <p:val>
                                            <p:strVal val="#ppt_y+0.04"/>
                                          </p:val>
                                        </p:tav>
                                        <p:tav tm="100000">
                                          <p:val>
                                            <p:strVal val="#ppt_y"/>
                                          </p:val>
                                        </p:tav>
                                      </p:tavLst>
                                    </p:anim>
                                  </p:childTnLst>
                                </p:cTn>
                              </p:par>
                              <p:par>
                                <p:cTn id="72" presetID="10" presetClass="entr" presetSubtype="0" fill="hold" grpId="0" nodeType="withEffect">
                                  <p:stCondLst>
                                    <p:cond delay="144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600"/>
                                        <p:tgtEl>
                                          <p:spTgt spid="18"/>
                                        </p:tgtEl>
                                      </p:cBhvr>
                                    </p:animEffect>
                                  </p:childTnLst>
                                </p:cTn>
                              </p:par>
                              <p:par>
                                <p:cTn id="75" presetID="10" presetClass="entr" presetSubtype="0" fill="hold" grpId="0" nodeType="withEffect">
                                  <p:stCondLst>
                                    <p:cond delay="149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400"/>
                                        <p:tgtEl>
                                          <p:spTgt spid="19"/>
                                        </p:tgtEl>
                                      </p:cBhvr>
                                    </p:animEffect>
                                  </p:childTnLst>
                                </p:cTn>
                              </p:par>
                              <p:par>
                                <p:cTn id="80" presetID="53" presetClass="entr" presetSubtype="16" fill="hold" grpId="0" nodeType="withEffect">
                                  <p:stCondLst>
                                    <p:cond delay="1560"/>
                                  </p:stCondLst>
                                  <p:childTnLst>
                                    <p:set>
                                      <p:cBhvr>
                                        <p:cTn id="76" dur="1" fill="hold">
                                          <p:stCondLst>
                                            <p:cond delay="0"/>
                                          </p:stCondLst>
                                        </p:cTn>
                                        <p:tgtEl>
                                          <p:spTgt spid="20"/>
                                        </p:tgtEl>
                                        <p:attrNameLst>
                                          <p:attrName>style.visibility</p:attrName>
                                        </p:attrNameLst>
                                      </p:cBhvr>
                                      <p:to>
                                        <p:strVal val="visible"/>
                                      </p:to>
                                    </p:set>
                                    <p:anim calcmode="lin" valueType="num">
                                      <p:cBhvr>
                                        <p:cTn id="77" dur="600" fill="hold" decel="100000"/>
                                        <p:tgtEl>
                                          <p:spTgt spid="20"/>
                                        </p:tgtEl>
                                        <p:attrNameLst>
                                          <p:attrName>ppt_w</p:attrName>
                                        </p:attrNameLst>
                                      </p:cBhvr>
                                      <p:tavLst>
                                        <p:tav tm="0">
                                          <p:val>
                                            <p:strVal val="#ppt_w*0.70"/>
                                          </p:val>
                                        </p:tav>
                                        <p:tav tm="100000">
                                          <p:val>
                                            <p:strVal val="#ppt_w"/>
                                          </p:val>
                                        </p:tav>
                                      </p:tavLst>
                                    </p:anim>
                                    <p:anim calcmode="lin" valueType="num">
                                      <p:cBhvr>
                                        <p:cTn id="78" dur="600" fill="hold" decel="100000"/>
                                        <p:tgtEl>
                                          <p:spTgt spid="20"/>
                                        </p:tgtEl>
                                        <p:attrNameLst>
                                          <p:attrName>ppt_h</p:attrName>
                                        </p:attrNameLst>
                                      </p:cBhvr>
                                      <p:tavLst>
                                        <p:tav tm="0">
                                          <p:val>
                                            <p:strVal val="#ppt_h*0.70"/>
                                          </p:val>
                                        </p:tav>
                                        <p:tav tm="100000">
                                          <p:val>
                                            <p:strVal val="#ppt_h"/>
                                          </p:val>
                                        </p:tav>
                                      </p:tavLst>
                                    </p:anim>
                                    <p:animEffect transition="in" filter="fade">
                                      <p:cBhvr>
                                        <p:cTn id="79" dur="600"/>
                                        <p:tgtEl>
                                          <p:spTgt spid="20"/>
                                        </p:tgtEl>
                                      </p:cBhvr>
                                    </p:animEffect>
                                  </p:childTnLst>
                                </p:cTn>
                              </p:par>
                              <p:par>
                                <p:cTn id="85" presetID="53" presetClass="entr" presetSubtype="16" fill="hold" grpId="0" nodeType="withEffect">
                                  <p:stCondLst>
                                    <p:cond delay="1560"/>
                                  </p:stCondLst>
                                  <p:childTnLst>
                                    <p:set>
                                      <p:cBhvr>
                                        <p:cTn id="81" dur="1" fill="hold">
                                          <p:stCondLst>
                                            <p:cond delay="0"/>
                                          </p:stCondLst>
                                        </p:cTn>
                                        <p:tgtEl>
                                          <p:spTgt spid="21"/>
                                        </p:tgtEl>
                                        <p:attrNameLst>
                                          <p:attrName>style.visibility</p:attrName>
                                        </p:attrNameLst>
                                      </p:cBhvr>
                                      <p:to>
                                        <p:strVal val="visible"/>
                                      </p:to>
                                    </p:set>
                                    <p:anim calcmode="lin" valueType="num">
                                      <p:cBhvr>
                                        <p:cTn id="82" dur="600" fill="hold" decel="100000"/>
                                        <p:tgtEl>
                                          <p:spTgt spid="21"/>
                                        </p:tgtEl>
                                        <p:attrNameLst>
                                          <p:attrName>ppt_w</p:attrName>
                                        </p:attrNameLst>
                                      </p:cBhvr>
                                      <p:tavLst>
                                        <p:tav tm="0">
                                          <p:val>
                                            <p:strVal val="#ppt_w*0.70"/>
                                          </p:val>
                                        </p:tav>
                                        <p:tav tm="100000">
                                          <p:val>
                                            <p:strVal val="#ppt_w"/>
                                          </p:val>
                                        </p:tav>
                                      </p:tavLst>
                                    </p:anim>
                                    <p:anim calcmode="lin" valueType="num">
                                      <p:cBhvr>
                                        <p:cTn id="83" dur="600" fill="hold" decel="100000"/>
                                        <p:tgtEl>
                                          <p:spTgt spid="21"/>
                                        </p:tgtEl>
                                        <p:attrNameLst>
                                          <p:attrName>ppt_h</p:attrName>
                                        </p:attrNameLst>
                                      </p:cBhvr>
                                      <p:tavLst>
                                        <p:tav tm="0">
                                          <p:val>
                                            <p:strVal val="#ppt_h*0.70"/>
                                          </p:val>
                                        </p:tav>
                                        <p:tav tm="100000">
                                          <p:val>
                                            <p:strVal val="#ppt_h"/>
                                          </p:val>
                                        </p:tav>
                                      </p:tavLst>
                                    </p:anim>
                                    <p:animEffect transition="in" filter="fade">
                                      <p:cBhvr>
                                        <p:cTn id="84" dur="600"/>
                                        <p:tgtEl>
                                          <p:spTgt spid="21"/>
                                        </p:tgtEl>
                                      </p:cBhvr>
                                    </p:animEffect>
                                  </p:childTnLst>
                                </p:cTn>
                              </p:par>
                              <p:par>
                                <p:cTn id="90" presetID="42" presetClass="entr" presetSubtype="0" fill="hold" grpId="0" nodeType="withEffect">
                                  <p:stCondLst>
                                    <p:cond delay="166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600"/>
                                        <p:tgtEl>
                                          <p:spTgt spid="22"/>
                                        </p:tgtEl>
                                      </p:cBhvr>
                                    </p:animEffect>
                                    <p:anim calcmode="lin" valueType="num">
                                      <p:cBhvr>
                                        <p:cTn id="88" dur="600" fill="hold" decel="100000"/>
                                        <p:tgtEl>
                                          <p:spTgt spid="22"/>
                                        </p:tgtEl>
                                        <p:attrNameLst>
                                          <p:attrName>ppt_x</p:attrName>
                                        </p:attrNameLst>
                                      </p:cBhvr>
                                      <p:tavLst>
                                        <p:tav tm="0">
                                          <p:val>
                                            <p:strVal val="#ppt_x"/>
                                          </p:val>
                                        </p:tav>
                                        <p:tav tm="100000">
                                          <p:val>
                                            <p:strVal val="#ppt_x"/>
                                          </p:val>
                                        </p:tav>
                                      </p:tavLst>
                                    </p:anim>
                                    <p:anim calcmode="lin" valueType="num">
                                      <p:cBhvr>
                                        <p:cTn id="89" dur="600" fill="hold" decel="100000"/>
                                        <p:tgtEl>
                                          <p:spTgt spid="22"/>
                                        </p:tgtEl>
                                        <p:attrNameLst>
                                          <p:attrName>ppt_y</p:attrName>
                                        </p:attrNameLst>
                                      </p:cBhvr>
                                      <p:tavLst>
                                        <p:tav tm="0">
                                          <p:val>
                                            <p:strVal val="#ppt_y+0.04"/>
                                          </p:val>
                                        </p:tav>
                                        <p:tav tm="100000">
                                          <p:val>
                                            <p:strVal val="#ppt_y"/>
                                          </p:val>
                                        </p:tav>
                                      </p:tavLst>
                                    </p:anim>
                                  </p:childTnLst>
                                </p:cTn>
                              </p:par>
                              <p:par>
                                <p:cTn id="93" presetID="10" presetClass="entr" presetSubtype="0" fill="hold" grpId="0" nodeType="withEffect">
                                  <p:stCondLst>
                                    <p:cond delay="176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600"/>
                                        <p:tgtEl>
                                          <p:spTgt spid="23"/>
                                        </p:tgtEl>
                                      </p:cBhvr>
                                    </p:animEffect>
                                  </p:childTnLst>
                                </p:cTn>
                              </p:par>
                              <p:par>
                                <p:cTn id="96" presetID="10" presetClass="entr" presetSubtype="0" fill="hold" grpId="0" nodeType="withEffect">
                                  <p:stCondLst>
                                    <p:cond delay="1810"/>
                                  </p:stCondLst>
                                  <p:childTnLst>
                                    <p:set>
                                      <p:cBhvr>
                                        <p:cTn id="94" dur="1" fill="hold">
                                          <p:stCondLst>
                                            <p:cond delay="0"/>
                                          </p:stCondLst>
                                        </p:cTn>
                                        <p:tgtEl>
                                          <p:spTgt spid="24"/>
                                        </p:tgtEl>
                                        <p:attrNameLst>
                                          <p:attrName>style.visibility</p:attrName>
                                        </p:attrNameLst>
                                      </p:cBhvr>
                                      <p:to>
                                        <p:strVal val="visible"/>
                                      </p:to>
                                    </p:set>
                                    <p:animEffect transition="in" filter="fade">
                                      <p:cBhvr>
                                        <p:cTn id="95" dur="400"/>
                                        <p:tgtEl>
                                          <p:spTgt spid="24"/>
                                        </p:tgtEl>
                                      </p:cBhvr>
                                    </p:animEffect>
                                  </p:childTnLst>
                                </p:cTn>
                              </p:par>
                              <p:par>
                                <p:cTn id="101" presetID="53" presetClass="entr" presetSubtype="16" fill="hold" grpId="0" nodeType="withEffect">
                                  <p:stCondLst>
                                    <p:cond delay="1880"/>
                                  </p:stCondLst>
                                  <p:childTnLst>
                                    <p:set>
                                      <p:cBhvr>
                                        <p:cTn id="97" dur="1" fill="hold">
                                          <p:stCondLst>
                                            <p:cond delay="0"/>
                                          </p:stCondLst>
                                        </p:cTn>
                                        <p:tgtEl>
                                          <p:spTgt spid="25"/>
                                        </p:tgtEl>
                                        <p:attrNameLst>
                                          <p:attrName>style.visibility</p:attrName>
                                        </p:attrNameLst>
                                      </p:cBhvr>
                                      <p:to>
                                        <p:strVal val="visible"/>
                                      </p:to>
                                    </p:set>
                                    <p:anim calcmode="lin" valueType="num">
                                      <p:cBhvr>
                                        <p:cTn id="98" dur="600" fill="hold" decel="100000"/>
                                        <p:tgtEl>
                                          <p:spTgt spid="25"/>
                                        </p:tgtEl>
                                        <p:attrNameLst>
                                          <p:attrName>ppt_w</p:attrName>
                                        </p:attrNameLst>
                                      </p:cBhvr>
                                      <p:tavLst>
                                        <p:tav tm="0">
                                          <p:val>
                                            <p:strVal val="#ppt_w*0.70"/>
                                          </p:val>
                                        </p:tav>
                                        <p:tav tm="100000">
                                          <p:val>
                                            <p:strVal val="#ppt_w"/>
                                          </p:val>
                                        </p:tav>
                                      </p:tavLst>
                                    </p:anim>
                                    <p:anim calcmode="lin" valueType="num">
                                      <p:cBhvr>
                                        <p:cTn id="99" dur="600" fill="hold" decel="100000"/>
                                        <p:tgtEl>
                                          <p:spTgt spid="25"/>
                                        </p:tgtEl>
                                        <p:attrNameLst>
                                          <p:attrName>ppt_h</p:attrName>
                                        </p:attrNameLst>
                                      </p:cBhvr>
                                      <p:tavLst>
                                        <p:tav tm="0">
                                          <p:val>
                                            <p:strVal val="#ppt_h*0.70"/>
                                          </p:val>
                                        </p:tav>
                                        <p:tav tm="100000">
                                          <p:val>
                                            <p:strVal val="#ppt_h"/>
                                          </p:val>
                                        </p:tav>
                                      </p:tavLst>
                                    </p:anim>
                                    <p:animEffect transition="in" filter="fade">
                                      <p:cBhvr>
                                        <p:cTn id="100" dur="600"/>
                                        <p:tgtEl>
                                          <p:spTgt spid="25"/>
                                        </p:tgtEl>
                                      </p:cBhvr>
                                    </p:animEffect>
                                  </p:childTnLst>
                                </p:cTn>
                              </p:par>
                              <p:par>
                                <p:cTn id="106" presetID="53" presetClass="entr" presetSubtype="16" fill="hold" grpId="0" nodeType="withEffect">
                                  <p:stCondLst>
                                    <p:cond delay="1880"/>
                                  </p:stCondLst>
                                  <p:childTnLst>
                                    <p:set>
                                      <p:cBhvr>
                                        <p:cTn id="102" dur="1" fill="hold">
                                          <p:stCondLst>
                                            <p:cond delay="0"/>
                                          </p:stCondLst>
                                        </p:cTn>
                                        <p:tgtEl>
                                          <p:spTgt spid="26"/>
                                        </p:tgtEl>
                                        <p:attrNameLst>
                                          <p:attrName>style.visibility</p:attrName>
                                        </p:attrNameLst>
                                      </p:cBhvr>
                                      <p:to>
                                        <p:strVal val="visible"/>
                                      </p:to>
                                    </p:set>
                                    <p:anim calcmode="lin" valueType="num">
                                      <p:cBhvr>
                                        <p:cTn id="103" dur="600" fill="hold" decel="100000"/>
                                        <p:tgtEl>
                                          <p:spTgt spid="26"/>
                                        </p:tgtEl>
                                        <p:attrNameLst>
                                          <p:attrName>ppt_w</p:attrName>
                                        </p:attrNameLst>
                                      </p:cBhvr>
                                      <p:tavLst>
                                        <p:tav tm="0">
                                          <p:val>
                                            <p:strVal val="#ppt_w*0.70"/>
                                          </p:val>
                                        </p:tav>
                                        <p:tav tm="100000">
                                          <p:val>
                                            <p:strVal val="#ppt_w"/>
                                          </p:val>
                                        </p:tav>
                                      </p:tavLst>
                                    </p:anim>
                                    <p:anim calcmode="lin" valueType="num">
                                      <p:cBhvr>
                                        <p:cTn id="104" dur="600" fill="hold" decel="100000"/>
                                        <p:tgtEl>
                                          <p:spTgt spid="26"/>
                                        </p:tgtEl>
                                        <p:attrNameLst>
                                          <p:attrName>ppt_h</p:attrName>
                                        </p:attrNameLst>
                                      </p:cBhvr>
                                      <p:tavLst>
                                        <p:tav tm="0">
                                          <p:val>
                                            <p:strVal val="#ppt_h*0.70"/>
                                          </p:val>
                                        </p:tav>
                                        <p:tav tm="100000">
                                          <p:val>
                                            <p:strVal val="#ppt_h"/>
                                          </p:val>
                                        </p:tav>
                                      </p:tavLst>
                                    </p:anim>
                                    <p:animEffect transition="in" filter="fade">
                                      <p:cBhvr>
                                        <p:cTn id="105" dur="600"/>
                                        <p:tgtEl>
                                          <p:spTgt spid="26"/>
                                        </p:tgtEl>
                                      </p:cBhvr>
                                    </p:animEffect>
                                  </p:childTnLst>
                                </p:cTn>
                              </p:par>
                              <p:par>
                                <p:cTn id="111" presetID="42" presetClass="entr" presetSubtype="0" fill="hold" grpId="0" nodeType="withEffect">
                                  <p:stCondLst>
                                    <p:cond delay="198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8" dur="600"/>
                                        <p:tgtEl>
                                          <p:spTgt spid="27"/>
                                        </p:tgtEl>
                                      </p:cBhvr>
                                    </p:animEffect>
                                    <p:anim calcmode="lin" valueType="num">
                                      <p:cBhvr>
                                        <p:cTn id="109" dur="600" fill="hold" decel="100000"/>
                                        <p:tgtEl>
                                          <p:spTgt spid="27"/>
                                        </p:tgtEl>
                                        <p:attrNameLst>
                                          <p:attrName>ppt_x</p:attrName>
                                        </p:attrNameLst>
                                      </p:cBhvr>
                                      <p:tavLst>
                                        <p:tav tm="0">
                                          <p:val>
                                            <p:strVal val="#ppt_x"/>
                                          </p:val>
                                        </p:tav>
                                        <p:tav tm="100000">
                                          <p:val>
                                            <p:strVal val="#ppt_x"/>
                                          </p:val>
                                        </p:tav>
                                      </p:tavLst>
                                    </p:anim>
                                    <p:anim calcmode="lin" valueType="num">
                                      <p:cBhvr>
                                        <p:cTn id="110" dur="600" fill="hold" decel="100000"/>
                                        <p:tgtEl>
                                          <p:spTgt spid="27"/>
                                        </p:tgtEl>
                                        <p:attrNameLst>
                                          <p:attrName>ppt_y</p:attrName>
                                        </p:attrNameLst>
                                      </p:cBhvr>
                                      <p:tavLst>
                                        <p:tav tm="0">
                                          <p:val>
                                            <p:strVal val="#ppt_y+0.04"/>
                                          </p:val>
                                        </p:tav>
                                        <p:tav tm="100000">
                                          <p:val>
                                            <p:strVal val="#ppt_y"/>
                                          </p:val>
                                        </p:tav>
                                      </p:tavLst>
                                    </p:anim>
                                  </p:childTnLst>
                                </p:cTn>
                              </p:par>
                              <p:par>
                                <p:cTn id="114" presetID="10" presetClass="entr" presetSubtype="0" fill="hold" grpId="0" nodeType="withEffect">
                                  <p:stCondLst>
                                    <p:cond delay="2080"/>
                                  </p:stCondLst>
                                  <p:childTnLst>
                                    <p:set>
                                      <p:cBhvr>
                                        <p:cTn id="112" dur="1" fill="hold">
                                          <p:stCondLst>
                                            <p:cond delay="0"/>
                                          </p:stCondLst>
                                        </p:cTn>
                                        <p:tgtEl>
                                          <p:spTgt spid="28"/>
                                        </p:tgtEl>
                                        <p:attrNameLst>
                                          <p:attrName>style.visibility</p:attrName>
                                        </p:attrNameLst>
                                      </p:cBhvr>
                                      <p:to>
                                        <p:strVal val="visible"/>
                                      </p:to>
                                    </p:set>
                                    <p:animEffect transition="in" filter="fade">
                                      <p:cBhvr>
                                        <p:cTn id="113"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10" grpId="0" animBg="1"/>
      <p:bldP spid="12" grpId="0" animBg="1"/>
      <p:bldP spid="13" grpId="0" animBg="1"/>
      <p:bldP spid="15" grpId="0" animBg="1"/>
      <p:bldP spid="17" grpId="0" animBg="1"/>
      <p:bldP spid="18" grpId="0" animBg="1"/>
      <p:bldP spid="20" grpId="0" animBg="1"/>
      <p:bldP spid="22" grpId="0" animBg="1"/>
      <p:bldP spid="23" grpId="0" animBg="1"/>
      <p:bldP spid="25" grpId="0" animBg="1"/>
      <p:bldP spid="27" grpId="0" animBg="1"/>
      <p:bldP spid="28" grpId="0" animBg="1"/>
    </p:bldLst>
  </p:timing>
</p:sld>
</file>

<file path=ppt/slides/slide14.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02 — RESOURCES &amp; GROWTH</a:t>
            </a:r>
            <a:endParaRPr lang="en-US" sz="1500" dirty="0"/>
          </a:p>
        </p:txBody>
      </p:sp>
      <p:sp>
        <p:nvSpPr>
          <p:cNvPr id="3" name="refining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Refining capacity more than doubled</a:t>
            </a:r>
            <a:endParaRPr lang="en-US" sz="3800" dirty="0"/>
          </a:p>
        </p:txBody>
      </p:sp>
      <p:sp>
        <p:nvSpPr>
          <p:cNvPr id="4" name="refining_s_1"/>
          <p:cNvSpPr/>
          <p:nvPr/>
        </p:nvSpPr>
        <p:spPr>
          <a:xfrm>
            <a:off x="914400" y="4003766"/>
            <a:ext cx="1325880" cy="1116874"/>
          </a:xfrm>
          <a:prstGeom prst="roundRect">
            <a:avLst>
              <a:gd name="adj" fmla="val 8187"/>
            </a:avLst>
          </a:prstGeom>
          <a:solidFill>
            <a:srgbClr val="636366"/>
          </a:solidFill>
          <a:ln/>
        </p:spPr>
      </p:sp>
      <p:sp>
        <p:nvSpPr>
          <p:cNvPr id="5" name="refining_t_2"/>
          <p:cNvSpPr txBox="1"/>
          <p:nvPr/>
        </p:nvSpPr>
        <p:spPr>
          <a:xfrm>
            <a:off x="640080" y="3226526"/>
            <a:ext cx="1874520" cy="731520"/>
          </a:xfrm>
          <a:prstGeom prst="rect">
            <a:avLst/>
          </a:prstGeom>
          <a:noFill/>
          <a:ln/>
        </p:spPr>
        <p:txBody>
          <a:bodyPr wrap="square" lIns="0" tIns="0" rIns="0" bIns="0" rtlCol="0" anchor="t"/>
          <a:lstStyle/>
          <a:p>
            <a:pPr algn="ctr" indent="0" marL="0">
              <a:buNone/>
            </a:pPr>
            <a:r>
              <a:rPr lang="en-US" sz="4800" b="1" dirty="0">
                <a:solidFill>
                  <a:schemeClr val="tx1"/>
                </a:solidFill>
                <a:latin typeface="Arial" pitchFamily="34" charset="0"/>
                <a:ea typeface="Arial" pitchFamily="34" charset="-122"/>
                <a:cs typeface="Arial" pitchFamily="34" charset="-120"/>
              </a:rPr>
              <a:t>0.6</a:t>
            </a:r>
            <a:endParaRPr lang="en-US" sz="4800" dirty="0"/>
          </a:p>
        </p:txBody>
      </p:sp>
      <p:sp>
        <p:nvSpPr>
          <p:cNvPr id="6" name="refining_t_3"/>
          <p:cNvSpPr txBox="1"/>
          <p:nvPr/>
        </p:nvSpPr>
        <p:spPr>
          <a:xfrm>
            <a:off x="640080" y="5230368"/>
            <a:ext cx="1874520" cy="32004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Jan 2021</a:t>
            </a:r>
            <a:endParaRPr lang="en-US" sz="1600" dirty="0"/>
          </a:p>
        </p:txBody>
      </p:sp>
      <p:sp>
        <p:nvSpPr>
          <p:cNvPr id="7" name="refining_s_4"/>
          <p:cNvSpPr/>
          <p:nvPr/>
        </p:nvSpPr>
        <p:spPr>
          <a:xfrm>
            <a:off x="2834640" y="2514600"/>
            <a:ext cx="1325880" cy="2606040"/>
          </a:xfrm>
          <a:prstGeom prst="roundRect">
            <a:avLst>
              <a:gd name="adj" fmla="val 6897"/>
            </a:avLst>
          </a:prstGeom>
          <a:solidFill>
            <a:srgbClr val="FF9F0A"/>
          </a:solidFill>
          <a:ln/>
          <a:effectLst>
            <a:outerShdw sx="100000" sy="100000" kx="0" ky="0" algn="bl" rotWithShape="0" blurRad="228600" dist="50800" dir="5400000">
              <a:srgbClr val="FF9F0A">
                <a:alpha val="45000"/>
              </a:srgbClr>
            </a:outerShdw>
          </a:effectLst>
        </p:spPr>
      </p:sp>
      <p:sp>
        <p:nvSpPr>
          <p:cNvPr id="8" name="refining_t_5"/>
          <p:cNvSpPr txBox="1"/>
          <p:nvPr/>
        </p:nvSpPr>
        <p:spPr>
          <a:xfrm>
            <a:off x="2560320" y="1737360"/>
            <a:ext cx="1874520" cy="731520"/>
          </a:xfrm>
          <a:prstGeom prst="rect">
            <a:avLst/>
          </a:prstGeom>
          <a:noFill/>
          <a:ln/>
        </p:spPr>
        <p:txBody>
          <a:bodyPr wrap="square" lIns="0" tIns="0" rIns="0" bIns="0" rtlCol="0" anchor="t"/>
          <a:lstStyle/>
          <a:p>
            <a:pPr algn="ctr" indent="0" marL="0">
              <a:buNone/>
            </a:pPr>
            <a:r>
              <a:rPr lang="en-US" sz="4800" b="1" dirty="0">
                <a:solidFill>
                  <a:schemeClr val="accent1"/>
                </a:solidFill>
                <a:latin typeface="Arial" pitchFamily="34" charset="0"/>
                <a:ea typeface="Arial" pitchFamily="34" charset="-122"/>
                <a:cs typeface="Arial" pitchFamily="34" charset="-120"/>
              </a:rPr>
              <a:t>1.4</a:t>
            </a:r>
            <a:endParaRPr lang="en-US" sz="4800" dirty="0"/>
          </a:p>
        </p:txBody>
      </p:sp>
      <p:sp>
        <p:nvSpPr>
          <p:cNvPr id="9" name="refining_t_6"/>
          <p:cNvSpPr txBox="1"/>
          <p:nvPr/>
        </p:nvSpPr>
        <p:spPr>
          <a:xfrm>
            <a:off x="2560320" y="5230368"/>
            <a:ext cx="1874520" cy="320040"/>
          </a:xfrm>
          <a:prstGeom prst="rect">
            <a:avLst/>
          </a:prstGeom>
          <a:noFill/>
          <a:ln/>
        </p:spPr>
        <p:txBody>
          <a:bodyPr wrap="square" lIns="0" tIns="0" rIns="0" bIns="0" rtlCol="0" anchor="t"/>
          <a:lstStyle/>
          <a:p>
            <a:pPr algn="ctr" indent="0" marL="0">
              <a:buNone/>
            </a:pPr>
            <a:r>
              <a:rPr lang="en-US" sz="1600" dirty="0">
                <a:solidFill>
                  <a:schemeClr val="tx2"/>
                </a:solidFill>
                <a:latin typeface="Arial" pitchFamily="34" charset="0"/>
                <a:ea typeface="Arial" pitchFamily="34" charset="-122"/>
                <a:cs typeface="Arial" pitchFamily="34" charset="-120"/>
              </a:rPr>
              <a:t>Jul 2023</a:t>
            </a:r>
            <a:endParaRPr lang="en-US" sz="1600" dirty="0"/>
          </a:p>
        </p:txBody>
      </p:sp>
      <p:sp>
        <p:nvSpPr>
          <p:cNvPr id="10" name="refining_t_7"/>
          <p:cNvSpPr txBox="1"/>
          <p:nvPr/>
        </p:nvSpPr>
        <p:spPr>
          <a:xfrm>
            <a:off x="914400" y="5577840"/>
            <a:ext cx="3291840" cy="320040"/>
          </a:xfrm>
          <a:prstGeom prst="rect">
            <a:avLst/>
          </a:prstGeom>
          <a:noFill/>
          <a:ln/>
        </p:spPr>
        <p:txBody>
          <a:bodyPr wrap="square" lIns="0" tIns="0" rIns="0" bIns="0" rtlCol="0" anchor="t"/>
          <a:lstStyle/>
          <a:p>
            <a:pPr algn="ctr" indent="0" marL="0">
              <a:buNone/>
            </a:pPr>
            <a:r>
              <a:rPr lang="en-US" sz="1500" dirty="0">
                <a:solidFill>
                  <a:schemeClr val="tx2"/>
                </a:solidFill>
                <a:latin typeface="Arial" pitchFamily="34" charset="0"/>
                <a:ea typeface="Arial" pitchFamily="34" charset="-122"/>
                <a:cs typeface="Arial" pitchFamily="34" charset="-120"/>
              </a:rPr>
              <a:t>million b/d</a:t>
            </a:r>
            <a:endParaRPr lang="en-US" sz="1500" dirty="0"/>
          </a:p>
        </p:txBody>
      </p:sp>
      <p:sp>
        <p:nvSpPr>
          <p:cNvPr id="11" name="refining_t_8"/>
          <p:cNvSpPr txBox="1"/>
          <p:nvPr/>
        </p:nvSpPr>
        <p:spPr>
          <a:xfrm>
            <a:off x="5120640" y="1874520"/>
            <a:ext cx="2743200" cy="384048"/>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Al-Zour</a:t>
            </a:r>
            <a:endParaRPr lang="en-US" sz="2100" dirty="0"/>
          </a:p>
        </p:txBody>
      </p:sp>
      <p:sp>
        <p:nvSpPr>
          <p:cNvPr id="12" name="refining_t_9"/>
          <p:cNvSpPr txBox="1"/>
          <p:nvPr/>
        </p:nvSpPr>
        <p:spPr>
          <a:xfrm>
            <a:off x="5120640" y="2276856"/>
            <a:ext cx="3108960" cy="32004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KIPIC · full capacity 2024</a:t>
            </a:r>
            <a:endParaRPr lang="en-US" sz="1400" dirty="0"/>
          </a:p>
        </p:txBody>
      </p:sp>
      <p:sp>
        <p:nvSpPr>
          <p:cNvPr id="13" name="refining_s_10"/>
          <p:cNvSpPr/>
          <p:nvPr/>
        </p:nvSpPr>
        <p:spPr>
          <a:xfrm>
            <a:off x="7818120" y="1993392"/>
            <a:ext cx="2926080" cy="384048"/>
          </a:xfrm>
          <a:prstGeom prst="roundRect">
            <a:avLst>
              <a:gd name="adj" fmla="val 19048"/>
            </a:avLst>
          </a:prstGeom>
          <a:solidFill>
            <a:srgbClr val="FF9F0A"/>
          </a:solidFill>
          <a:ln/>
        </p:spPr>
      </p:sp>
      <p:sp>
        <p:nvSpPr>
          <p:cNvPr id="14" name="refining_t_11"/>
          <p:cNvSpPr txBox="1"/>
          <p:nvPr/>
        </p:nvSpPr>
        <p:spPr>
          <a:xfrm>
            <a:off x="10853928" y="1929384"/>
            <a:ext cx="822960" cy="50292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615</a:t>
            </a:r>
            <a:endParaRPr lang="en-US" sz="2200" dirty="0"/>
          </a:p>
        </p:txBody>
      </p:sp>
      <p:sp>
        <p:nvSpPr>
          <p:cNvPr id="15" name="refining_t_12"/>
          <p:cNvSpPr txBox="1"/>
          <p:nvPr/>
        </p:nvSpPr>
        <p:spPr>
          <a:xfrm>
            <a:off x="5120640" y="2898648"/>
            <a:ext cx="2743200" cy="384048"/>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Mina Abdullah</a:t>
            </a:r>
            <a:endParaRPr lang="en-US" sz="2100" dirty="0"/>
          </a:p>
        </p:txBody>
      </p:sp>
      <p:sp>
        <p:nvSpPr>
          <p:cNvPr id="16" name="refining_t_13"/>
          <p:cNvSpPr txBox="1"/>
          <p:nvPr/>
        </p:nvSpPr>
        <p:spPr>
          <a:xfrm>
            <a:off x="5120640" y="3300984"/>
            <a:ext cx="3108960" cy="32004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KNPC · Clean Fuels Project</a:t>
            </a:r>
            <a:endParaRPr lang="en-US" sz="1400" dirty="0"/>
          </a:p>
        </p:txBody>
      </p:sp>
      <p:sp>
        <p:nvSpPr>
          <p:cNvPr id="17" name="refining_s_14"/>
          <p:cNvSpPr/>
          <p:nvPr/>
        </p:nvSpPr>
        <p:spPr>
          <a:xfrm>
            <a:off x="7818120" y="3017520"/>
            <a:ext cx="2160066" cy="384048"/>
          </a:xfrm>
          <a:prstGeom prst="roundRect">
            <a:avLst>
              <a:gd name="adj" fmla="val 19048"/>
            </a:avLst>
          </a:prstGeom>
          <a:solidFill>
            <a:srgbClr val="8A5A12"/>
          </a:solidFill>
          <a:ln/>
        </p:spPr>
      </p:sp>
      <p:sp>
        <p:nvSpPr>
          <p:cNvPr id="18" name="refining_t_15"/>
          <p:cNvSpPr txBox="1"/>
          <p:nvPr/>
        </p:nvSpPr>
        <p:spPr>
          <a:xfrm>
            <a:off x="10087914" y="2953512"/>
            <a:ext cx="822960" cy="50292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454</a:t>
            </a:r>
            <a:endParaRPr lang="en-US" sz="2200" dirty="0"/>
          </a:p>
        </p:txBody>
      </p:sp>
      <p:sp>
        <p:nvSpPr>
          <p:cNvPr id="19" name="refining_t_16"/>
          <p:cNvSpPr txBox="1"/>
          <p:nvPr/>
        </p:nvSpPr>
        <p:spPr>
          <a:xfrm>
            <a:off x="5120640" y="3922776"/>
            <a:ext cx="2743200" cy="384048"/>
          </a:xfrm>
          <a:prstGeom prst="rect">
            <a:avLst/>
          </a:prstGeom>
          <a:noFill/>
          <a:ln/>
        </p:spPr>
        <p:txBody>
          <a:bodyPr wrap="square" lIns="0" tIns="0" rIns="0" bIns="0" rtlCol="0" anchor="t"/>
          <a:lstStyle/>
          <a:p>
            <a:pPr indent="0" marL="0">
              <a:buNone/>
            </a:pPr>
            <a:r>
              <a:rPr lang="en-US" sz="2100" b="1" dirty="0">
                <a:solidFill>
                  <a:schemeClr val="tx1"/>
                </a:solidFill>
                <a:latin typeface="Arial" pitchFamily="34" charset="0"/>
                <a:ea typeface="Arial" pitchFamily="34" charset="-122"/>
                <a:cs typeface="Arial" pitchFamily="34" charset="-120"/>
              </a:rPr>
              <a:t>Mina Al-Ahmadi</a:t>
            </a:r>
            <a:endParaRPr lang="en-US" sz="2100" dirty="0"/>
          </a:p>
        </p:txBody>
      </p:sp>
      <p:sp>
        <p:nvSpPr>
          <p:cNvPr id="20" name="refining_t_17"/>
          <p:cNvSpPr txBox="1"/>
          <p:nvPr/>
        </p:nvSpPr>
        <p:spPr>
          <a:xfrm>
            <a:off x="5120640" y="4325112"/>
            <a:ext cx="3108960" cy="32004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KNPC · Clean Fuels Project</a:t>
            </a:r>
            <a:endParaRPr lang="en-US" sz="1400" dirty="0"/>
          </a:p>
        </p:txBody>
      </p:sp>
      <p:sp>
        <p:nvSpPr>
          <p:cNvPr id="21" name="refining_s_18"/>
          <p:cNvSpPr/>
          <p:nvPr/>
        </p:nvSpPr>
        <p:spPr>
          <a:xfrm>
            <a:off x="7818120" y="4041648"/>
            <a:ext cx="1646217" cy="384048"/>
          </a:xfrm>
          <a:prstGeom prst="roundRect">
            <a:avLst>
              <a:gd name="adj" fmla="val 19048"/>
            </a:avLst>
          </a:prstGeom>
          <a:solidFill>
            <a:srgbClr val="8A5A12"/>
          </a:solidFill>
          <a:ln/>
        </p:spPr>
      </p:sp>
      <p:sp>
        <p:nvSpPr>
          <p:cNvPr id="22" name="refining_t_19"/>
          <p:cNvSpPr txBox="1"/>
          <p:nvPr/>
        </p:nvSpPr>
        <p:spPr>
          <a:xfrm>
            <a:off x="9574065" y="3977640"/>
            <a:ext cx="822960" cy="502920"/>
          </a:xfrm>
          <a:prstGeom prst="rect">
            <a:avLst/>
          </a:prstGeom>
          <a:noFill/>
          <a:ln/>
        </p:spPr>
        <p:txBody>
          <a:bodyPr wrap="square" lIns="0" tIns="0" rIns="0" bIns="0" rtlCol="0" anchor="ctr"/>
          <a:lstStyle/>
          <a:p>
            <a:pPr indent="0" marL="0">
              <a:buNone/>
            </a:pPr>
            <a:r>
              <a:rPr lang="en-US" sz="2200" b="1" dirty="0">
                <a:solidFill>
                  <a:schemeClr val="tx1"/>
                </a:solidFill>
                <a:latin typeface="Arial" pitchFamily="34" charset="0"/>
                <a:ea typeface="Arial" pitchFamily="34" charset="-122"/>
                <a:cs typeface="Arial" pitchFamily="34" charset="-120"/>
              </a:rPr>
              <a:t>346</a:t>
            </a:r>
            <a:endParaRPr lang="en-US" sz="2200" dirty="0"/>
          </a:p>
        </p:txBody>
      </p:sp>
      <p:sp>
        <p:nvSpPr>
          <p:cNvPr id="23" name="refining_t_20"/>
          <p:cNvSpPr txBox="1"/>
          <p:nvPr/>
        </p:nvSpPr>
        <p:spPr>
          <a:xfrm>
            <a:off x="5120640" y="4937760"/>
            <a:ext cx="6492240" cy="365760"/>
          </a:xfrm>
          <a:prstGeom prst="rect">
            <a:avLst/>
          </a:prstGeom>
          <a:noFill/>
          <a:ln/>
        </p:spPr>
        <p:txBody>
          <a:bodyPr wrap="square" lIns="0" tIns="0" rIns="0" bIns="0" rtlCol="0" anchor="t"/>
          <a:lstStyle/>
          <a:p>
            <a:pPr indent="0" marL="0">
              <a:buNone/>
            </a:pPr>
            <a:r>
              <a:rPr lang="en-US" sz="1800" b="1" dirty="0">
                <a:solidFill>
                  <a:schemeClr val="accent1"/>
                </a:solidFill>
                <a:latin typeface="Arial" pitchFamily="34" charset="0"/>
                <a:ea typeface="Arial" pitchFamily="34" charset="-122"/>
                <a:cs typeface="Arial" pitchFamily="34" charset="-120"/>
              </a:rPr>
              <a:t>= 1,415 kb/d </a:t>
            </a:r>
            <a:pPr indent="0" marL="0">
              <a:buNone/>
            </a:pPr>
            <a:r>
              <a:rPr lang="en-US" sz="1800" dirty="0">
                <a:solidFill>
                  <a:schemeClr val="tx2"/>
                </a:solidFill>
                <a:latin typeface="Arial" pitchFamily="34" charset="0"/>
                <a:ea typeface="Arial" pitchFamily="34" charset="-122"/>
                <a:cs typeface="Arial" pitchFamily="34" charset="-120"/>
              </a:rPr>
              <a:t>of crude distillation in Kuwait</a:t>
            </a:r>
            <a:endParaRPr lang="en-US" sz="1800" dirty="0"/>
          </a:p>
        </p:txBody>
      </p:sp>
      <p:sp>
        <p:nvSpPr>
          <p:cNvPr id="24" name="refining_t_21"/>
          <p:cNvSpPr txBox="1"/>
          <p:nvPr/>
        </p:nvSpPr>
        <p:spPr>
          <a:xfrm>
            <a:off x="5120640" y="5349240"/>
            <a:ext cx="64922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Plus Oman: </a:t>
            </a:r>
            <a:pPr indent="0" marL="0">
              <a:buNone/>
            </a:pPr>
            <a:r>
              <a:rPr lang="en-US" sz="1600" dirty="0">
                <a:solidFill>
                  <a:schemeClr val="tx2"/>
                </a:solidFill>
                <a:latin typeface="Arial" pitchFamily="34" charset="0"/>
                <a:ea typeface="Arial" pitchFamily="34" charset="-122"/>
                <a:cs typeface="Arial" pitchFamily="34" charset="-120"/>
              </a:rPr>
              <a:t>Kuwait (KPI) co-owns the 230 kb/d Duqm refinery with OQ.</a:t>
            </a:r>
            <a:endParaRPr lang="en-US" sz="1600" dirty="0"/>
          </a:p>
        </p:txBody>
      </p:sp>
      <p:sp>
        <p:nvSpPr>
          <p:cNvPr id="25" name="refining_t_22"/>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EIA, Today in Energy (2023); KNPC refinery pages; KIPIC (2024); S&amp;P Global (2024). Capacities in thousand b/d.</a:t>
            </a:r>
            <a:endParaRPr lang="en-US" sz="1200" dirty="0"/>
          </a:p>
        </p:txBody>
      </p:sp>
      <p:sp>
        <p:nvSpPr>
          <p:cNvPr id="26" name="refining_home_23">
            <a:hlinkClick r:id="rId1"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27" name="refining_i_24" descr="preencoded.png">    </p:cNvPr>
          <p:cNvPicPr>
            <a:picLocks noChangeAspect="1"/>
          </p:cNvPicPr>
          <p:nvPr/>
        </p:nvPicPr>
        <p:blipFill>
          <a:blip r:embed="rId2"/>
          <a:stretch>
            <a:fillRect/>
          </a:stretch>
        </p:blipFill>
        <p:spPr>
          <a:xfrm>
            <a:off x="10719511" y="6355080"/>
            <a:ext cx="219456" cy="219456"/>
          </a:xfrm>
          <a:prstGeom prst="rect">
            <a:avLst/>
          </a:prstGeom>
        </p:spPr>
      </p:pic>
      <p:sp>
        <p:nvSpPr>
          <p:cNvPr id="28" name="refining_s_25">
            <a:hlinkClick r:id="rId3"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4"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Effect transition="in" filter="wipe(down)">
                                      <p:cBhvr>
                                        <p:cTn id="11" dur="900"/>
                                        <p:tgtEl>
                                          <p:spTgt spid="4"/>
                                        </p:tgtEl>
                                      </p:cBhvr>
                                    </p:animEffect>
                                  </p:childTnLst>
                                </p:cTn>
                              </p:par>
                              <p:par>
                                <p:cTn id="15" presetID="10" presetClass="entr" presetSubtype="0" fill="hold" grpId="0" nodeType="withEffect">
                                  <p:stCondLst>
                                    <p:cond delay="30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childTnLst>
                                </p:cTn>
                              </p:par>
                              <p:par>
                                <p:cTn id="18" presetID="10" presetClass="entr" presetSubtype="0" fill="hold" grpId="0" nodeType="withEffect">
                                  <p:stCondLst>
                                    <p:cond delay="3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600"/>
                                        <p:tgtEl>
                                          <p:spTgt spid="10"/>
                                        </p:tgtEl>
                                      </p:cBhvr>
                                    </p:animEffect>
                                  </p:childTnLst>
                                </p:cTn>
                              </p:par>
                              <p:par>
                                <p:cTn id="21" presetID="10" presetClass="entr" presetSubtype="0" fill="hold" grpId="0" nodeType="withEffect">
                                  <p:stCondLst>
                                    <p:cond delay="80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600"/>
                                        <p:tgtEl>
                                          <p:spTgt spid="5"/>
                                        </p:tgtEl>
                                      </p:cBhvr>
                                    </p:animEffect>
                                  </p:childTnLst>
                                </p:cTn>
                              </p:par>
                              <p:par>
                                <p:cTn id="24" presetID="22" presetClass="entr" presetSubtype="4" fill="hold" grpId="0" nodeType="withEffect">
                                  <p:stCondLst>
                                    <p:cond delay="800"/>
                                  </p:stCondLst>
                                  <p:childTnLst>
                                    <p:set>
                                      <p:cBhvr>
                                        <p:cTn id="22" dur="1" fill="hold">
                                          <p:stCondLst>
                                            <p:cond delay="0"/>
                                          </p:stCondLst>
                                        </p:cTn>
                                        <p:tgtEl>
                                          <p:spTgt spid="7"/>
                                        </p:tgtEl>
                                        <p:attrNameLst>
                                          <p:attrName>style.visibility</p:attrName>
                                        </p:attrNameLst>
                                      </p:cBhvr>
                                      <p:to>
                                        <p:strVal val="visible"/>
                                      </p:to>
                                    </p:set>
                                    <p:animEffect transition="in" filter="wipe(down)">
                                      <p:cBhvr>
                                        <p:cTn id="23" dur="900"/>
                                        <p:tgtEl>
                                          <p:spTgt spid="7"/>
                                        </p:tgtEl>
                                      </p:cBhvr>
                                    </p:animEffect>
                                  </p:childTnLst>
                                </p:cTn>
                              </p:par>
                              <p:par>
                                <p:cTn id="27" presetID="10" presetClass="entr" presetSubtype="0" fill="hold" grpId="0" nodeType="withEffect">
                                  <p:stCondLst>
                                    <p:cond delay="8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30" presetID="10" presetClass="entr" presetSubtype="0" fill="hold" grpId="0" nodeType="withEffect">
                                  <p:stCondLst>
                                    <p:cond delay="13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childTnLst>
                                </p:cTn>
                              </p:par>
                              <p:par>
                                <p:cTn id="35" presetID="42" presetClass="entr" presetSubtype="0" fill="hold" grpId="0" nodeType="withEffect">
                                  <p:stCondLst>
                                    <p:cond delay="1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fill="hold" decel="100000"/>
                                        <p:tgtEl>
                                          <p:spTgt spid="11"/>
                                        </p:tgtEl>
                                        <p:attrNameLst>
                                          <p:attrName>ppt_x</p:attrName>
                                        </p:attrNameLst>
                                      </p:cBhvr>
                                      <p:tavLst>
                                        <p:tav tm="0">
                                          <p:val>
                                            <p:strVal val="#ppt_x"/>
                                          </p:val>
                                        </p:tav>
                                        <p:tav tm="100000">
                                          <p:val>
                                            <p:strVal val="#ppt_x"/>
                                          </p:val>
                                        </p:tav>
                                      </p:tavLst>
                                    </p:anim>
                                    <p:anim calcmode="lin" valueType="num">
                                      <p:cBhvr>
                                        <p:cTn id="34" dur="600" fill="hold" decel="100000"/>
                                        <p:tgtEl>
                                          <p:spTgt spid="11"/>
                                        </p:tgtEl>
                                        <p:attrNameLst>
                                          <p:attrName>ppt_y</p:attrName>
                                        </p:attrNameLst>
                                      </p:cBhvr>
                                      <p:tavLst>
                                        <p:tav tm="0">
                                          <p:val>
                                            <p:strVal val="#ppt_y+0.04"/>
                                          </p:val>
                                        </p:tav>
                                        <p:tav tm="100000">
                                          <p:val>
                                            <p:strVal val="#ppt_y"/>
                                          </p:val>
                                        </p:tav>
                                      </p:tavLst>
                                    </p:anim>
                                  </p:childTnLst>
                                </p:cTn>
                              </p:par>
                              <p:par>
                                <p:cTn id="38" presetID="10" presetClass="entr" presetSubtype="0" fill="hold" grpId="0" nodeType="withEffect">
                                  <p:stCondLst>
                                    <p:cond delay="14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41" presetID="22" presetClass="entr" presetSubtype="8" fill="hold" grpId="0" nodeType="withEffect">
                                  <p:stCondLst>
                                    <p:cond delay="1400"/>
                                  </p:stCondLst>
                                  <p:childTnLst>
                                    <p:set>
                                      <p:cBhvr>
                                        <p:cTn id="39" dur="1" fill="hold">
                                          <p:stCondLst>
                                            <p:cond delay="0"/>
                                          </p:stCondLst>
                                        </p:cTn>
                                        <p:tgtEl>
                                          <p:spTgt spid="13"/>
                                        </p:tgtEl>
                                        <p:attrNameLst>
                                          <p:attrName>style.visibility</p:attrName>
                                        </p:attrNameLst>
                                      </p:cBhvr>
                                      <p:to>
                                        <p:strVal val="visible"/>
                                      </p:to>
                                    </p:set>
                                    <p:animEffect transition="in" filter="wipe(left)">
                                      <p:cBhvr>
                                        <p:cTn id="40" dur="800"/>
                                        <p:tgtEl>
                                          <p:spTgt spid="13"/>
                                        </p:tgtEl>
                                      </p:cBhvr>
                                    </p:animEffect>
                                  </p:childTnLst>
                                </p:cTn>
                              </p:par>
                              <p:par>
                                <p:cTn id="46" presetID="42" presetClass="entr" presetSubtype="0" fill="hold" grpId="0" nodeType="withEffect">
                                  <p:stCondLst>
                                    <p:cond delay="158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anim calcmode="lin" valueType="num">
                                      <p:cBhvr>
                                        <p:cTn id="44" dur="600" fill="hold" decel="100000"/>
                                        <p:tgtEl>
                                          <p:spTgt spid="15"/>
                                        </p:tgtEl>
                                        <p:attrNameLst>
                                          <p:attrName>ppt_x</p:attrName>
                                        </p:attrNameLst>
                                      </p:cBhvr>
                                      <p:tavLst>
                                        <p:tav tm="0">
                                          <p:val>
                                            <p:strVal val="#ppt_x"/>
                                          </p:val>
                                        </p:tav>
                                        <p:tav tm="100000">
                                          <p:val>
                                            <p:strVal val="#ppt_x"/>
                                          </p:val>
                                        </p:tav>
                                      </p:tavLst>
                                    </p:anim>
                                    <p:anim calcmode="lin" valueType="num">
                                      <p:cBhvr>
                                        <p:cTn id="45" dur="600" fill="hold" decel="100000"/>
                                        <p:tgtEl>
                                          <p:spTgt spid="15"/>
                                        </p:tgtEl>
                                        <p:attrNameLst>
                                          <p:attrName>ppt_y</p:attrName>
                                        </p:attrNameLst>
                                      </p:cBhvr>
                                      <p:tavLst>
                                        <p:tav tm="0">
                                          <p:val>
                                            <p:strVal val="#ppt_y+0.04"/>
                                          </p:val>
                                        </p:tav>
                                        <p:tav tm="100000">
                                          <p:val>
                                            <p:strVal val="#ppt_y"/>
                                          </p:val>
                                        </p:tav>
                                      </p:tavLst>
                                    </p:anim>
                                  </p:childTnLst>
                                </p:cTn>
                              </p:par>
                              <p:par>
                                <p:cTn id="49" presetID="10" presetClass="entr" presetSubtype="0" fill="hold" grpId="0" nodeType="withEffect">
                                  <p:stCondLst>
                                    <p:cond delay="168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600"/>
                                        <p:tgtEl>
                                          <p:spTgt spid="16"/>
                                        </p:tgtEl>
                                      </p:cBhvr>
                                    </p:animEffect>
                                  </p:childTnLst>
                                </p:cTn>
                              </p:par>
                              <p:par>
                                <p:cTn id="52" presetID="22" presetClass="entr" presetSubtype="8" fill="hold" grpId="0" nodeType="withEffect">
                                  <p:stCondLst>
                                    <p:cond delay="1680"/>
                                  </p:stCondLst>
                                  <p:childTnLst>
                                    <p:set>
                                      <p:cBhvr>
                                        <p:cTn id="50" dur="1" fill="hold">
                                          <p:stCondLst>
                                            <p:cond delay="0"/>
                                          </p:stCondLst>
                                        </p:cTn>
                                        <p:tgtEl>
                                          <p:spTgt spid="17"/>
                                        </p:tgtEl>
                                        <p:attrNameLst>
                                          <p:attrName>style.visibility</p:attrName>
                                        </p:attrNameLst>
                                      </p:cBhvr>
                                      <p:to>
                                        <p:strVal val="visible"/>
                                      </p:to>
                                    </p:set>
                                    <p:animEffect transition="in" filter="wipe(left)">
                                      <p:cBhvr>
                                        <p:cTn id="51" dur="800"/>
                                        <p:tgtEl>
                                          <p:spTgt spid="17"/>
                                        </p:tgtEl>
                                      </p:cBhvr>
                                    </p:animEffect>
                                  </p:childTnLst>
                                </p:cTn>
                              </p:par>
                              <p:par>
                                <p:cTn id="57" presetID="42" presetClass="entr" presetSubtype="0" fill="hold" grpId="0" nodeType="withEffect">
                                  <p:stCondLst>
                                    <p:cond delay="186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anim calcmode="lin" valueType="num">
                                      <p:cBhvr>
                                        <p:cTn id="55" dur="600" fill="hold" decel="100000"/>
                                        <p:tgtEl>
                                          <p:spTgt spid="19"/>
                                        </p:tgtEl>
                                        <p:attrNameLst>
                                          <p:attrName>ppt_x</p:attrName>
                                        </p:attrNameLst>
                                      </p:cBhvr>
                                      <p:tavLst>
                                        <p:tav tm="0">
                                          <p:val>
                                            <p:strVal val="#ppt_x"/>
                                          </p:val>
                                        </p:tav>
                                        <p:tav tm="100000">
                                          <p:val>
                                            <p:strVal val="#ppt_x"/>
                                          </p:val>
                                        </p:tav>
                                      </p:tavLst>
                                    </p:anim>
                                    <p:anim calcmode="lin" valueType="num">
                                      <p:cBhvr>
                                        <p:cTn id="56" dur="600" fill="hold" decel="100000"/>
                                        <p:tgtEl>
                                          <p:spTgt spid="19"/>
                                        </p:tgtEl>
                                        <p:attrNameLst>
                                          <p:attrName>ppt_y</p:attrName>
                                        </p:attrNameLst>
                                      </p:cBhvr>
                                      <p:tavLst>
                                        <p:tav tm="0">
                                          <p:val>
                                            <p:strVal val="#ppt_y+0.04"/>
                                          </p:val>
                                        </p:tav>
                                        <p:tav tm="100000">
                                          <p:val>
                                            <p:strVal val="#ppt_y"/>
                                          </p:val>
                                        </p:tav>
                                      </p:tavLst>
                                    </p:anim>
                                  </p:childTnLst>
                                </p:cTn>
                              </p:par>
                              <p:par>
                                <p:cTn id="60" presetID="10" presetClass="entr" presetSubtype="0" fill="hold" grpId="0" nodeType="withEffect">
                                  <p:stCondLst>
                                    <p:cond delay="190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500"/>
                                        <p:tgtEl>
                                          <p:spTgt spid="14"/>
                                        </p:tgtEl>
                                      </p:cBhvr>
                                    </p:animEffect>
                                  </p:childTnLst>
                                </p:cTn>
                              </p:par>
                              <p:par>
                                <p:cTn id="63" presetID="10" presetClass="entr" presetSubtype="0" fill="hold" grpId="0" nodeType="withEffect">
                                  <p:stCondLst>
                                    <p:cond delay="196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600"/>
                                        <p:tgtEl>
                                          <p:spTgt spid="20"/>
                                        </p:tgtEl>
                                      </p:cBhvr>
                                    </p:animEffect>
                                  </p:childTnLst>
                                </p:cTn>
                              </p:par>
                              <p:par>
                                <p:cTn id="66" presetID="22" presetClass="entr" presetSubtype="8" fill="hold" grpId="0" nodeType="withEffect">
                                  <p:stCondLst>
                                    <p:cond delay="1960"/>
                                  </p:stCondLst>
                                  <p:childTnLst>
                                    <p:set>
                                      <p:cBhvr>
                                        <p:cTn id="64" dur="1" fill="hold">
                                          <p:stCondLst>
                                            <p:cond delay="0"/>
                                          </p:stCondLst>
                                        </p:cTn>
                                        <p:tgtEl>
                                          <p:spTgt spid="21"/>
                                        </p:tgtEl>
                                        <p:attrNameLst>
                                          <p:attrName>style.visibility</p:attrName>
                                        </p:attrNameLst>
                                      </p:cBhvr>
                                      <p:to>
                                        <p:strVal val="visible"/>
                                      </p:to>
                                    </p:set>
                                    <p:animEffect transition="in" filter="wipe(left)">
                                      <p:cBhvr>
                                        <p:cTn id="65" dur="800"/>
                                        <p:tgtEl>
                                          <p:spTgt spid="21"/>
                                        </p:tgtEl>
                                      </p:cBhvr>
                                    </p:animEffect>
                                  </p:childTnLst>
                                </p:cTn>
                              </p:par>
                              <p:par>
                                <p:cTn id="69" presetID="10" presetClass="entr" presetSubtype="0" fill="hold" grpId="0" nodeType="withEffect">
                                  <p:stCondLst>
                                    <p:cond delay="218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childTnLst>
                                </p:cTn>
                              </p:par>
                              <p:par>
                                <p:cTn id="72" presetID="10" presetClass="entr" presetSubtype="0" fill="hold" grpId="0" nodeType="withEffect">
                                  <p:stCondLst>
                                    <p:cond delay="230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childTnLst>
                                </p:cTn>
                              </p:par>
                              <p:par>
                                <p:cTn id="75" presetID="10" presetClass="entr" presetSubtype="0" fill="hold" grpId="0" nodeType="withEffect">
                                  <p:stCondLst>
                                    <p:cond delay="246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500"/>
                                        <p:tgtEl>
                                          <p:spTgt spid="22"/>
                                        </p:tgtEl>
                                      </p:cBhvr>
                                    </p:animEffect>
                                  </p:childTnLst>
                                </p:cTn>
                              </p:par>
                              <p:par>
                                <p:cTn id="78" presetID="10" presetClass="entr" presetSubtype="0" fill="hold" grpId="0" nodeType="withEffect">
                                  <p:stCondLst>
                                    <p:cond delay="250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10" grpId="0" animBg="1"/>
      <p:bldP spid="5" grpId="0" animBg="1"/>
      <p:bldP spid="7" grpId="0" animBg="1"/>
      <p:bldP spid="9" grpId="0" animBg="1"/>
      <p:bldP spid="8" grpId="0" animBg="1"/>
      <p:bldP spid="11" grpId="0" animBg="1"/>
      <p:bldP spid="12" grpId="0" animBg="1"/>
      <p:bldP spid="13" grpId="0" animBg="1"/>
      <p:bldP spid="15" grpId="0" animBg="1"/>
      <p:bldP spid="16" grpId="0" animBg="1"/>
      <p:bldP spid="17" grpId="0" animBg="1"/>
      <p:bldP spid="19" grpId="0" animBg="1"/>
      <p:bldP spid="14" grpId="0" animBg="1"/>
      <p:bldP spid="20" grpId="0" animBg="1"/>
      <p:bldP spid="21" grpId="0" animBg="1"/>
      <p:bldP spid="18" grpId="0" animBg="1"/>
      <p:bldP spid="23" grpId="0" animBg="1"/>
      <p:bldP spid="22" grpId="0" animBg="1"/>
      <p:bldP spid="24" grpId="0" animBg="1"/>
    </p:bldLst>
  </p:timing>
</p:sld>
</file>

<file path=ppt/slides/slide15.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drop" descr="/home/user/shahad-research/build/assets/drop.png">    </p:cNvPr>
          <p:cNvPicPr>
            <a:picLocks noChangeAspect="1"/>
          </p:cNvPicPr>
          <p:nvPr/>
        </p:nvPicPr>
        <p:blipFill>
          <a:blip r:embed="rId1"/>
          <a:stretch>
            <a:fillRect/>
          </a:stretch>
        </p:blipFill>
        <p:spPr>
          <a:xfrm>
            <a:off x="914400" y="1051560"/>
            <a:ext cx="3474720" cy="4389120"/>
          </a:xfrm>
          <a:prstGeom prst="rect">
            <a:avLst/>
          </a:prstGeom>
        </p:spPr>
      </p:pic>
      <p:sp>
        <p:nvSpPr>
          <p:cNvPr id="3" name="!!kicker"/>
          <p:cNvSpPr txBox="1"/>
          <p:nvPr/>
        </p:nvSpPr>
        <p:spPr>
          <a:xfrm>
            <a:off x="4846320" y="1371600"/>
            <a:ext cx="4114800" cy="155448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03</a:t>
            </a:r>
            <a:endParaRPr lang="en-US" sz="12000" dirty="0"/>
          </a:p>
        </p:txBody>
      </p:sp>
      <p:sp>
        <p:nvSpPr>
          <p:cNvPr id="4" name="sec3_t_1"/>
          <p:cNvSpPr txBox="1"/>
          <p:nvPr/>
        </p:nvSpPr>
        <p:spPr>
          <a:xfrm>
            <a:off x="4846320" y="2971800"/>
            <a:ext cx="6766560" cy="914400"/>
          </a:xfrm>
          <a:prstGeom prst="rect">
            <a:avLst/>
          </a:prstGeom>
          <a:noFill/>
          <a:ln/>
        </p:spPr>
        <p:txBody>
          <a:bodyPr wrap="square" lIns="0" tIns="0" rIns="0" bIns="0" rtlCol="0" anchor="t"/>
          <a:lstStyle/>
          <a:p>
            <a:pPr indent="0" marL="0">
              <a:buNone/>
            </a:pPr>
            <a:r>
              <a:rPr lang="en-US" sz="5000" b="1" dirty="0">
                <a:solidFill>
                  <a:schemeClr val="tx1"/>
                </a:solidFill>
                <a:latin typeface="Arial" pitchFamily="34" charset="0"/>
                <a:ea typeface="Arial" pitchFamily="34" charset="-122"/>
                <a:cs typeface="Arial" pitchFamily="34" charset="-120"/>
              </a:rPr>
              <a:t>Where the Oil Lies</a:t>
            </a:r>
            <a:endParaRPr lang="en-US" sz="5000" dirty="0"/>
          </a:p>
        </p:txBody>
      </p:sp>
      <p:sp>
        <p:nvSpPr>
          <p:cNvPr id="5" name="sec3_t_2"/>
          <p:cNvSpPr txBox="1"/>
          <p:nvPr/>
        </p:nvSpPr>
        <p:spPr>
          <a:xfrm>
            <a:off x="4846320" y="3931920"/>
            <a:ext cx="6400800" cy="82296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Fields, regions and the rocks that hold them</a:t>
            </a:r>
            <a:endParaRPr lang="en-US" sz="2200" dirty="0"/>
          </a:p>
        </p:txBody>
      </p:sp>
      <p:sp>
        <p:nvSpPr>
          <p:cNvPr id="6" name="sec3_s_3"/>
          <p:cNvSpPr/>
          <p:nvPr/>
        </p:nvSpPr>
        <p:spPr>
          <a:xfrm>
            <a:off x="4864608" y="5029200"/>
            <a:ext cx="128016" cy="128016"/>
          </a:xfrm>
          <a:prstGeom prst="ellipse">
            <a:avLst/>
          </a:prstGeom>
          <a:solidFill>
            <a:srgbClr val="3A3A3C"/>
          </a:solidFill>
          <a:ln/>
        </p:spPr>
      </p:sp>
      <p:sp>
        <p:nvSpPr>
          <p:cNvPr id="7" name="sec3_s_4"/>
          <p:cNvSpPr/>
          <p:nvPr/>
        </p:nvSpPr>
        <p:spPr>
          <a:xfrm>
            <a:off x="5157216" y="5029200"/>
            <a:ext cx="128016" cy="128016"/>
          </a:xfrm>
          <a:prstGeom prst="ellipse">
            <a:avLst/>
          </a:prstGeom>
          <a:solidFill>
            <a:srgbClr val="3A3A3C"/>
          </a:solidFill>
          <a:ln/>
        </p:spPr>
      </p:sp>
      <p:sp>
        <p:nvSpPr>
          <p:cNvPr id="8" name="sec3_s_5"/>
          <p:cNvSpPr/>
          <p:nvPr/>
        </p:nvSpPr>
        <p:spPr>
          <a:xfrm>
            <a:off x="5449824" y="5029200"/>
            <a:ext cx="128016" cy="128016"/>
          </a:xfrm>
          <a:prstGeom prst="ellipse">
            <a:avLst/>
          </a:prstGeom>
          <a:solidFill>
            <a:srgbClr val="FF9F0A"/>
          </a:solidFill>
          <a:ln/>
        </p:spPr>
      </p:sp>
      <p:sp>
        <p:nvSpPr>
          <p:cNvPr id="9" name="sec3_s_6"/>
          <p:cNvSpPr/>
          <p:nvPr/>
        </p:nvSpPr>
        <p:spPr>
          <a:xfrm>
            <a:off x="5742432" y="5029200"/>
            <a:ext cx="128016" cy="128016"/>
          </a:xfrm>
          <a:prstGeom prst="ellipse">
            <a:avLst/>
          </a:prstGeom>
          <a:solidFill>
            <a:srgbClr val="3A3A3C"/>
          </a:solidFill>
          <a:ln/>
        </p:spPr>
      </p:sp>
      <p:sp>
        <p:nvSpPr>
          <p:cNvPr id="10" name="sec3_home_7">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1" name="sec3_i_8"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2" name="sec3_s_9">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1300" fill="hold" decel="100000"/>
                                        <p:tgtEl>
                                          <p:spTgt spid="2"/>
                                        </p:tgtEl>
                                        <p:attrNameLst>
                                          <p:attrName>ppt_w</p:attrName>
                                        </p:attrNameLst>
                                      </p:cBhvr>
                                      <p:tavLst>
                                        <p:tav tm="0">
                                          <p:val>
                                            <p:strVal val="#ppt_w*0.70"/>
                                          </p:val>
                                        </p:tav>
                                        <p:tav tm="100000">
                                          <p:val>
                                            <p:strVal val="#ppt_w"/>
                                          </p:val>
                                        </p:tav>
                                      </p:tavLst>
                                    </p:anim>
                                    <p:anim calcmode="lin" valueType="num">
                                      <p:cBhvr>
                                        <p:cTn id="7" dur="1300" fill="hold" decel="100000"/>
                                        <p:tgtEl>
                                          <p:spTgt spid="2"/>
                                        </p:tgtEl>
                                        <p:attrNameLst>
                                          <p:attrName>ppt_h</p:attrName>
                                        </p:attrNameLst>
                                      </p:cBhvr>
                                      <p:tavLst>
                                        <p:tav tm="0">
                                          <p:val>
                                            <p:strVal val="#ppt_h*0.70"/>
                                          </p:val>
                                        </p:tav>
                                        <p:tav tm="100000">
                                          <p:val>
                                            <p:strVal val="#ppt_h"/>
                                          </p:val>
                                        </p:tav>
                                      </p:tavLst>
                                    </p:anim>
                                    <p:animEffect transition="in" filter="fade">
                                      <p:cBhvr>
                                        <p:cTn id="8" dur="1300"/>
                                        <p:tgtEl>
                                          <p:spTgt spid="2"/>
                                        </p:tgtEl>
                                      </p:cBhvr>
                                    </p:animEffect>
                                  </p:childTnLst>
                                </p:cTn>
                              </p:par>
                              <p:par>
                                <p:cTn id="14" presetID="42" presetClass="entr" presetSubtype="0"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900"/>
                                        <p:tgtEl>
                                          <p:spTgt spid="4"/>
                                        </p:tgtEl>
                                      </p:cBhvr>
                                    </p:animEffect>
                                    <p:anim calcmode="lin" valueType="num">
                                      <p:cBhvr>
                                        <p:cTn id="12" dur="900" fill="hold" decel="100000"/>
                                        <p:tgtEl>
                                          <p:spTgt spid="4"/>
                                        </p:tgtEl>
                                        <p:attrNameLst>
                                          <p:attrName>ppt_x</p:attrName>
                                        </p:attrNameLst>
                                      </p:cBhvr>
                                      <p:tavLst>
                                        <p:tav tm="0">
                                          <p:val>
                                            <p:strVal val="#ppt_x"/>
                                          </p:val>
                                        </p:tav>
                                        <p:tav tm="100000">
                                          <p:val>
                                            <p:strVal val="#ppt_x"/>
                                          </p:val>
                                        </p:tav>
                                      </p:tavLst>
                                    </p:anim>
                                    <p:anim calcmode="lin" valueType="num">
                                      <p:cBhvr>
                                        <p:cTn id="13" dur="900" fill="hold" decel="100000"/>
                                        <p:tgtEl>
                                          <p:spTgt spid="4"/>
                                        </p:tgtEl>
                                        <p:attrNameLst>
                                          <p:attrName>ppt_y</p:attrName>
                                        </p:attrNameLst>
                                      </p:cBhvr>
                                      <p:tavLst>
                                        <p:tav tm="0">
                                          <p:val>
                                            <p:strVal val="#ppt_y+0.04"/>
                                          </p:val>
                                        </p:tav>
                                        <p:tav tm="100000">
                                          <p:val>
                                            <p:strVal val="#ppt_y"/>
                                          </p:val>
                                        </p:tav>
                                      </p:tavLst>
                                    </p:anim>
                                  </p:childTnLst>
                                </p:cTn>
                              </p:par>
                              <p:par>
                                <p:cTn id="17" presetID="10" presetClass="entr" presetSubtype="0" fill="hold" grpId="0" nodeType="withEffect">
                                  <p:stCondLst>
                                    <p:cond delay="7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900"/>
                                        <p:tgtEl>
                                          <p:spTgt spid="5"/>
                                        </p:tgtEl>
                                      </p:cBhvr>
                                    </p:animEffect>
                                  </p:childTnLst>
                                </p:cTn>
                              </p:par>
                              <p:par>
                                <p:cTn id="20" presetID="10" presetClass="entr" presetSubtype="0" fill="hold" grpId="0" nodeType="withEffect">
                                  <p:stCondLst>
                                    <p:cond delay="10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childTnLst>
                                </p:cTn>
                              </p:par>
                              <p:par>
                                <p:cTn id="23" presetID="10" presetClass="entr" presetSubtype="0" fill="hold" grpId="0" nodeType="withEffect">
                                  <p:stCondLst>
                                    <p:cond delay="10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childTnLst>
                                </p:cTn>
                              </p:par>
                              <p:par>
                                <p:cTn id="26" presetID="10" presetClass="entr" presetSubtype="0" fill="hold" grpId="0" nodeType="withEffect">
                                  <p:stCondLst>
                                    <p:cond delay="10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childTnLst>
                                </p:cTn>
                              </p:par>
                              <p:par>
                                <p:cTn id="29" presetID="10" presetClass="entr" presetSubtype="0" fill="hold" grpId="0" nodeType="withEffect">
                                  <p:stCondLst>
                                    <p:cond delay="10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6.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a:t>
            </a:r>
            <a:endParaRPr lang="en-US" sz="1500" dirty="0"/>
          </a:p>
        </p:txBody>
      </p:sp>
      <p:sp>
        <p:nvSpPr>
          <p:cNvPr id="3" name="map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Kuwait's oil and gas map</a:t>
            </a:r>
            <a:endParaRPr lang="en-US" sz="3800" dirty="0"/>
          </a:p>
        </p:txBody>
      </p:sp>
      <p:pic>
        <p:nvPicPr>
          <p:cNvPr id="4" name="!!map" descr="/home/user/shahad-research/build/assets/map_dark.png">    </p:cNvPr>
          <p:cNvPicPr>
            <a:picLocks noChangeAspect="1"/>
          </p:cNvPicPr>
          <p:nvPr/>
        </p:nvPicPr>
        <p:blipFill>
          <a:blip r:embed="rId1"/>
          <a:stretch>
            <a:fillRect/>
          </a:stretch>
        </p:blipFill>
        <p:spPr>
          <a:xfrm>
            <a:off x="914400" y="1600200"/>
            <a:ext cx="5414312" cy="4343400"/>
          </a:xfrm>
          <a:prstGeom prst="rect">
            <a:avLst/>
          </a:prstGeom>
        </p:spPr>
      </p:pic>
      <p:sp>
        <p:nvSpPr>
          <p:cNvPr id="5" name="!!f_burgan"/>
          <p:cNvSpPr/>
          <p:nvPr/>
        </p:nvSpPr>
        <p:spPr>
          <a:xfrm>
            <a:off x="3953637" y="4017373"/>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6" name="!!f_khashman"/>
          <p:cNvSpPr/>
          <p:nvPr/>
        </p:nvSpPr>
        <p:spPr>
          <a:xfrm>
            <a:off x="3853170" y="3616343"/>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7" name="!!f_raudhatain"/>
          <p:cNvSpPr/>
          <p:nvPr/>
        </p:nvSpPr>
        <p:spPr>
          <a:xfrm>
            <a:off x="3580049" y="2217964"/>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8" name="!!f_sabriya"/>
          <p:cNvSpPr/>
          <p:nvPr/>
        </p:nvSpPr>
        <p:spPr>
          <a:xfrm>
            <a:off x="3831513" y="2393986"/>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9" name="!!f_bahra"/>
          <p:cNvSpPr/>
          <p:nvPr/>
        </p:nvSpPr>
        <p:spPr>
          <a:xfrm>
            <a:off x="3957847" y="2776619"/>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0" name="!!f_ratqa"/>
          <p:cNvSpPr/>
          <p:nvPr/>
        </p:nvSpPr>
        <p:spPr>
          <a:xfrm>
            <a:off x="3050047" y="2271957"/>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1" name="!!f_abdali"/>
          <p:cNvSpPr/>
          <p:nvPr/>
        </p:nvSpPr>
        <p:spPr>
          <a:xfrm>
            <a:off x="3706984" y="194930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2" name="!!f_minagish"/>
          <p:cNvSpPr/>
          <p:nvPr/>
        </p:nvSpPr>
        <p:spPr>
          <a:xfrm>
            <a:off x="3179390" y="4013236"/>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3" name="!!f_ummgudair"/>
          <p:cNvSpPr/>
          <p:nvPr/>
        </p:nvSpPr>
        <p:spPr>
          <a:xfrm>
            <a:off x="3513873" y="4371267"/>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4" name="!!f_abduliyah"/>
          <p:cNvSpPr/>
          <p:nvPr/>
        </p:nvSpPr>
        <p:spPr>
          <a:xfrm>
            <a:off x="3486802" y="3920381"/>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5" name="!!f_dharif"/>
          <p:cNvSpPr/>
          <p:nvPr/>
        </p:nvSpPr>
        <p:spPr>
          <a:xfrm>
            <a:off x="3640207" y="3665982"/>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6" name="!!f_kramaru"/>
          <p:cNvSpPr/>
          <p:nvPr/>
        </p:nvSpPr>
        <p:spPr>
          <a:xfrm>
            <a:off x="2851522" y="331230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7" name="!!f_wafra"/>
          <p:cNvSpPr/>
          <p:nvPr/>
        </p:nvSpPr>
        <p:spPr>
          <a:xfrm>
            <a:off x="3871218" y="4944183"/>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8" name="!!f_khafji"/>
          <p:cNvSpPr/>
          <p:nvPr/>
        </p:nvSpPr>
        <p:spPr>
          <a:xfrm>
            <a:off x="5680802" y="5014287"/>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9" name="!!f_hout"/>
          <p:cNvSpPr/>
          <p:nvPr/>
        </p:nvSpPr>
        <p:spPr>
          <a:xfrm>
            <a:off x="5726522" y="4439521"/>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0" name="!!f_dorra"/>
          <p:cNvSpPr/>
          <p:nvPr/>
        </p:nvSpPr>
        <p:spPr>
          <a:xfrm>
            <a:off x="6041756" y="4151811"/>
            <a:ext cx="274320" cy="274320"/>
          </a:xfrm>
          <a:prstGeom prst="ellipse">
            <a:avLst/>
          </a:prstGeom>
          <a:solidFill>
            <a:srgbClr val="64D2FF"/>
          </a:solidFill>
          <a:ln/>
          <a:effectLst>
            <a:outerShdw sx="100000" sy="100000" kx="0" ky="0" algn="bl" rotWithShape="0" blurRad="228600" dist="50800" dir="5400000">
              <a:srgbClr val="64D2FF">
                <a:alpha val="90000"/>
              </a:srgbClr>
            </a:outerShdw>
          </a:effectLst>
        </p:spPr>
      </p:sp>
      <p:sp>
        <p:nvSpPr>
          <p:cNvPr id="21" name="!!f_nokhatha"/>
          <p:cNvSpPr/>
          <p:nvPr/>
        </p:nvSpPr>
        <p:spPr>
          <a:xfrm>
            <a:off x="5340301" y="3233710"/>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2" name="!!f_jlaiaa"/>
          <p:cNvSpPr/>
          <p:nvPr/>
        </p:nvSpPr>
        <p:spPr>
          <a:xfrm>
            <a:off x="5315035" y="445813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3" name="!!f_kwcity"/>
          <p:cNvSpPr/>
          <p:nvPr/>
        </p:nvSpPr>
        <p:spPr>
          <a:xfrm rot="2700000">
            <a:off x="4046521" y="3343003"/>
            <a:ext cx="146304" cy="146304"/>
          </a:xfrm>
          <a:prstGeom prst="rect">
            <a:avLst/>
          </a:prstGeom>
          <a:solidFill>
            <a:srgbClr val="F5F5F7"/>
          </a:solidFill>
          <a:ln/>
        </p:spPr>
      </p:sp>
      <p:sp>
        <p:nvSpPr>
          <p:cNvPr id="24" name="!!f_ahmadi"/>
          <p:cNvSpPr/>
          <p:nvPr/>
        </p:nvSpPr>
        <p:spPr>
          <a:xfrm rot="2700000">
            <a:off x="4391232" y="3973830"/>
            <a:ext cx="146304" cy="146304"/>
          </a:xfrm>
          <a:prstGeom prst="rect">
            <a:avLst/>
          </a:prstGeom>
          <a:solidFill>
            <a:srgbClr val="F5F5F7"/>
          </a:solidFill>
          <a:ln/>
        </p:spPr>
      </p:sp>
      <p:sp>
        <p:nvSpPr>
          <p:cNvPr id="25" name="!!f_abdullah"/>
          <p:cNvSpPr/>
          <p:nvPr/>
        </p:nvSpPr>
        <p:spPr>
          <a:xfrm rot="2700000">
            <a:off x="4391232" y="4077244"/>
            <a:ext cx="146304" cy="146304"/>
          </a:xfrm>
          <a:prstGeom prst="rect">
            <a:avLst/>
          </a:prstGeom>
          <a:solidFill>
            <a:srgbClr val="F5F5F7"/>
          </a:solidFill>
          <a:ln/>
        </p:spPr>
      </p:sp>
      <p:sp>
        <p:nvSpPr>
          <p:cNvPr id="26" name="!!f_zour"/>
          <p:cNvSpPr/>
          <p:nvPr/>
        </p:nvSpPr>
        <p:spPr>
          <a:xfrm rot="2700000">
            <a:off x="4811744" y="4664637"/>
            <a:ext cx="146304" cy="146304"/>
          </a:xfrm>
          <a:prstGeom prst="rect">
            <a:avLst/>
          </a:prstGeom>
          <a:solidFill>
            <a:srgbClr val="F5F5F7"/>
          </a:solidFill>
          <a:ln/>
        </p:spPr>
      </p:sp>
      <p:sp>
        <p:nvSpPr>
          <p:cNvPr id="27" name="map_t_1"/>
          <p:cNvSpPr txBox="1"/>
          <p:nvPr/>
        </p:nvSpPr>
        <p:spPr>
          <a:xfrm>
            <a:off x="4209669" y="4264261"/>
            <a:ext cx="1737360" cy="274320"/>
          </a:xfrm>
          <a:prstGeom prst="rect">
            <a:avLst/>
          </a:prstGeom>
          <a:noFill/>
          <a:ln/>
        </p:spPr>
        <p:txBody>
          <a:bodyPr wrap="square" lIns="0" tIns="0" rIns="0" bIns="0" rtlCol="0" anchor="t"/>
          <a:lstStyle/>
          <a:p>
            <a:pPr algn="l" indent="0" marL="0">
              <a:buNone/>
            </a:pPr>
            <a:r>
              <a:rPr lang="en-US" sz="1300" b="1" dirty="0">
                <a:solidFill>
                  <a:schemeClr val="tx1"/>
                </a:solidFill>
                <a:latin typeface="Arial" pitchFamily="34" charset="0"/>
                <a:ea typeface="Arial" pitchFamily="34" charset="-122"/>
                <a:cs typeface="Arial" pitchFamily="34" charset="-120"/>
              </a:rPr>
              <a:t>Greater Burgan</a:t>
            </a:r>
            <a:endParaRPr lang="en-US" sz="1300" dirty="0"/>
          </a:p>
        </p:txBody>
      </p:sp>
      <p:sp>
        <p:nvSpPr>
          <p:cNvPr id="28" name="map_t_2"/>
          <p:cNvSpPr txBox="1"/>
          <p:nvPr/>
        </p:nvSpPr>
        <p:spPr>
          <a:xfrm>
            <a:off x="1842689" y="1897924"/>
            <a:ext cx="1737360" cy="274320"/>
          </a:xfrm>
          <a:prstGeom prst="rect">
            <a:avLst/>
          </a:prstGeom>
          <a:noFill/>
          <a:ln/>
        </p:spPr>
        <p:txBody>
          <a:bodyPr wrap="square" lIns="0" tIns="0" rIns="0" bIns="0" rtlCol="0" anchor="t"/>
          <a:lstStyle/>
          <a:p>
            <a:pPr algn="r" indent="0" marL="0">
              <a:buNone/>
            </a:pPr>
            <a:r>
              <a:rPr lang="en-US" sz="1300" b="1" dirty="0">
                <a:solidFill>
                  <a:schemeClr val="tx1"/>
                </a:solidFill>
                <a:latin typeface="Arial" pitchFamily="34" charset="0"/>
                <a:ea typeface="Arial" pitchFamily="34" charset="-122"/>
                <a:cs typeface="Arial" pitchFamily="34" charset="-120"/>
              </a:rPr>
              <a:t>Raudhatain</a:t>
            </a:r>
            <a:endParaRPr lang="en-US" sz="1300" dirty="0"/>
          </a:p>
        </p:txBody>
      </p:sp>
      <p:sp>
        <p:nvSpPr>
          <p:cNvPr id="29" name="map_t_3"/>
          <p:cNvSpPr txBox="1"/>
          <p:nvPr/>
        </p:nvSpPr>
        <p:spPr>
          <a:xfrm>
            <a:off x="4078401" y="2366554"/>
            <a:ext cx="1737360" cy="274320"/>
          </a:xfrm>
          <a:prstGeom prst="rect">
            <a:avLst/>
          </a:prstGeom>
          <a:noFill/>
          <a:ln/>
        </p:spPr>
        <p:txBody>
          <a:bodyPr wrap="square" lIns="0" tIns="0" rIns="0" bIns="0" rtlCol="0" anchor="t"/>
          <a:lstStyle/>
          <a:p>
            <a:pPr algn="l" indent="0" marL="0">
              <a:buNone/>
            </a:pPr>
            <a:r>
              <a:rPr lang="en-US" sz="1300" b="1" dirty="0">
                <a:solidFill>
                  <a:schemeClr val="tx1"/>
                </a:solidFill>
                <a:latin typeface="Arial" pitchFamily="34" charset="0"/>
                <a:ea typeface="Arial" pitchFamily="34" charset="-122"/>
                <a:cs typeface="Arial" pitchFamily="34" charset="-120"/>
              </a:rPr>
              <a:t>Sabriya</a:t>
            </a:r>
            <a:endParaRPr lang="en-US" sz="1300" dirty="0"/>
          </a:p>
        </p:txBody>
      </p:sp>
      <p:sp>
        <p:nvSpPr>
          <p:cNvPr id="30" name="map_t_4"/>
          <p:cNvSpPr txBox="1"/>
          <p:nvPr/>
        </p:nvSpPr>
        <p:spPr>
          <a:xfrm>
            <a:off x="4204735" y="2749187"/>
            <a:ext cx="1737360" cy="274320"/>
          </a:xfrm>
          <a:prstGeom prst="rect">
            <a:avLst/>
          </a:prstGeom>
          <a:noFill/>
          <a:ln/>
        </p:spPr>
        <p:txBody>
          <a:bodyPr wrap="square" lIns="0" tIns="0" rIns="0" bIns="0" rtlCol="0" anchor="t"/>
          <a:lstStyle/>
          <a:p>
            <a:pPr algn="l" indent="0" marL="0">
              <a:buNone/>
            </a:pPr>
            <a:r>
              <a:rPr lang="en-US" sz="1300" b="1" dirty="0">
                <a:solidFill>
                  <a:schemeClr val="tx1"/>
                </a:solidFill>
                <a:latin typeface="Arial" pitchFamily="34" charset="0"/>
                <a:ea typeface="Arial" pitchFamily="34" charset="-122"/>
                <a:cs typeface="Arial" pitchFamily="34" charset="-120"/>
              </a:rPr>
              <a:t>Bahra</a:t>
            </a:r>
            <a:endParaRPr lang="en-US" sz="1300" dirty="0"/>
          </a:p>
        </p:txBody>
      </p:sp>
      <p:sp>
        <p:nvSpPr>
          <p:cNvPr id="31" name="map_t_5"/>
          <p:cNvSpPr txBox="1"/>
          <p:nvPr/>
        </p:nvSpPr>
        <p:spPr>
          <a:xfrm>
            <a:off x="1239535" y="2454837"/>
            <a:ext cx="1737360" cy="274320"/>
          </a:xfrm>
          <a:prstGeom prst="rect">
            <a:avLst/>
          </a:prstGeom>
          <a:noFill/>
          <a:ln/>
        </p:spPr>
        <p:txBody>
          <a:bodyPr wrap="square" lIns="0" tIns="0" rIns="0" bIns="0" rtlCol="0" anchor="t"/>
          <a:lstStyle/>
          <a:p>
            <a:pPr algn="r" indent="0" marL="0">
              <a:buNone/>
            </a:pPr>
            <a:r>
              <a:rPr lang="en-US" sz="1300" b="1" dirty="0">
                <a:solidFill>
                  <a:schemeClr val="tx1"/>
                </a:solidFill>
                <a:latin typeface="Arial" pitchFamily="34" charset="0"/>
                <a:ea typeface="Arial" pitchFamily="34" charset="-122"/>
                <a:cs typeface="Arial" pitchFamily="34" charset="-120"/>
              </a:rPr>
              <a:t>Ratqa (heavy oil)</a:t>
            </a:r>
            <a:endParaRPr lang="en-US" sz="1300" dirty="0"/>
          </a:p>
        </p:txBody>
      </p:sp>
      <p:sp>
        <p:nvSpPr>
          <p:cNvPr id="32" name="map_t_6"/>
          <p:cNvSpPr txBox="1"/>
          <p:nvPr/>
        </p:nvSpPr>
        <p:spPr>
          <a:xfrm>
            <a:off x="3944728" y="1885297"/>
            <a:ext cx="1737360" cy="274320"/>
          </a:xfrm>
          <a:prstGeom prst="rect">
            <a:avLst/>
          </a:prstGeom>
          <a:noFill/>
          <a:ln/>
        </p:spPr>
        <p:txBody>
          <a:bodyPr wrap="square" lIns="0" tIns="0" rIns="0" bIns="0" rtlCol="0" anchor="t"/>
          <a:lstStyle/>
          <a:p>
            <a:pPr algn="l" indent="0" marL="0">
              <a:buNone/>
            </a:pPr>
            <a:r>
              <a:rPr lang="en-US" sz="1300" b="1" dirty="0">
                <a:solidFill>
                  <a:schemeClr val="tx1"/>
                </a:solidFill>
                <a:latin typeface="Arial" pitchFamily="34" charset="0"/>
                <a:ea typeface="Arial" pitchFamily="34" charset="-122"/>
                <a:cs typeface="Arial" pitchFamily="34" charset="-120"/>
              </a:rPr>
              <a:t>Abdali</a:t>
            </a:r>
            <a:endParaRPr lang="en-US" sz="1300" dirty="0"/>
          </a:p>
        </p:txBody>
      </p:sp>
      <p:sp>
        <p:nvSpPr>
          <p:cNvPr id="33" name="map_t_7"/>
          <p:cNvSpPr txBox="1"/>
          <p:nvPr/>
        </p:nvSpPr>
        <p:spPr>
          <a:xfrm>
            <a:off x="1414598" y="4013236"/>
            <a:ext cx="1737360" cy="274320"/>
          </a:xfrm>
          <a:prstGeom prst="rect">
            <a:avLst/>
          </a:prstGeom>
          <a:noFill/>
          <a:ln/>
        </p:spPr>
        <p:txBody>
          <a:bodyPr wrap="square" lIns="0" tIns="0" rIns="0" bIns="0" rtlCol="0" anchor="t"/>
          <a:lstStyle/>
          <a:p>
            <a:pPr algn="r" indent="0" marL="0">
              <a:buNone/>
            </a:pPr>
            <a:r>
              <a:rPr lang="en-US" sz="1300" b="1" dirty="0">
                <a:solidFill>
                  <a:schemeClr val="tx1"/>
                </a:solidFill>
                <a:latin typeface="Arial" pitchFamily="34" charset="0"/>
                <a:ea typeface="Arial" pitchFamily="34" charset="-122"/>
                <a:cs typeface="Arial" pitchFamily="34" charset="-120"/>
              </a:rPr>
              <a:t>Minagish</a:t>
            </a:r>
            <a:endParaRPr lang="en-US" sz="1300" dirty="0"/>
          </a:p>
        </p:txBody>
      </p:sp>
      <p:sp>
        <p:nvSpPr>
          <p:cNvPr id="34" name="map_t_8"/>
          <p:cNvSpPr txBox="1"/>
          <p:nvPr/>
        </p:nvSpPr>
        <p:spPr>
          <a:xfrm>
            <a:off x="1703361" y="4371267"/>
            <a:ext cx="1737360" cy="274320"/>
          </a:xfrm>
          <a:prstGeom prst="rect">
            <a:avLst/>
          </a:prstGeom>
          <a:noFill/>
          <a:ln/>
        </p:spPr>
        <p:txBody>
          <a:bodyPr wrap="square" lIns="0" tIns="0" rIns="0" bIns="0" rtlCol="0" anchor="t"/>
          <a:lstStyle/>
          <a:p>
            <a:pPr algn="r" indent="0" marL="0">
              <a:buNone/>
            </a:pPr>
            <a:r>
              <a:rPr lang="en-US" sz="1300" b="1" dirty="0">
                <a:solidFill>
                  <a:schemeClr val="tx1"/>
                </a:solidFill>
                <a:latin typeface="Arial" pitchFamily="34" charset="0"/>
                <a:ea typeface="Arial" pitchFamily="34" charset="-122"/>
                <a:cs typeface="Arial" pitchFamily="34" charset="-120"/>
              </a:rPr>
              <a:t>Umm Gudair</a:t>
            </a:r>
            <a:endParaRPr lang="en-US" sz="1300" dirty="0"/>
          </a:p>
        </p:txBody>
      </p:sp>
      <p:sp>
        <p:nvSpPr>
          <p:cNvPr id="35" name="map_t_9"/>
          <p:cNvSpPr txBox="1"/>
          <p:nvPr/>
        </p:nvSpPr>
        <p:spPr>
          <a:xfrm>
            <a:off x="1041010" y="3266585"/>
            <a:ext cx="1737360" cy="274320"/>
          </a:xfrm>
          <a:prstGeom prst="rect">
            <a:avLst/>
          </a:prstGeom>
          <a:noFill/>
          <a:ln/>
        </p:spPr>
        <p:txBody>
          <a:bodyPr wrap="square" lIns="0" tIns="0" rIns="0" bIns="0" rtlCol="0" anchor="t"/>
          <a:lstStyle/>
          <a:p>
            <a:pPr algn="r" indent="0" marL="0">
              <a:buNone/>
            </a:pPr>
            <a:r>
              <a:rPr lang="en-US" sz="1300" b="1" dirty="0">
                <a:solidFill>
                  <a:schemeClr val="tx1"/>
                </a:solidFill>
                <a:latin typeface="Arial" pitchFamily="34" charset="0"/>
                <a:ea typeface="Arial" pitchFamily="34" charset="-122"/>
                <a:cs typeface="Arial" pitchFamily="34" charset="-120"/>
              </a:rPr>
              <a:t>Kra Al-Maru</a:t>
            </a:r>
            <a:endParaRPr lang="en-US" sz="1300" dirty="0"/>
          </a:p>
        </p:txBody>
      </p:sp>
      <p:sp>
        <p:nvSpPr>
          <p:cNvPr id="36" name="map_t_10"/>
          <p:cNvSpPr txBox="1"/>
          <p:nvPr/>
        </p:nvSpPr>
        <p:spPr>
          <a:xfrm>
            <a:off x="4118106" y="4916751"/>
            <a:ext cx="1737360" cy="274320"/>
          </a:xfrm>
          <a:prstGeom prst="rect">
            <a:avLst/>
          </a:prstGeom>
          <a:noFill/>
          <a:ln/>
        </p:spPr>
        <p:txBody>
          <a:bodyPr wrap="square" lIns="0" tIns="0" rIns="0" bIns="0" rtlCol="0" anchor="t"/>
          <a:lstStyle/>
          <a:p>
            <a:pPr algn="l" indent="0" marL="0">
              <a:buNone/>
            </a:pPr>
            <a:r>
              <a:rPr lang="en-US" sz="1300" b="1" dirty="0">
                <a:solidFill>
                  <a:schemeClr val="tx1"/>
                </a:solidFill>
                <a:latin typeface="Arial" pitchFamily="34" charset="0"/>
                <a:ea typeface="Arial" pitchFamily="34" charset="-122"/>
                <a:cs typeface="Arial" pitchFamily="34" charset="-120"/>
              </a:rPr>
              <a:t>Wafra</a:t>
            </a:r>
            <a:endParaRPr lang="en-US" sz="1300" dirty="0"/>
          </a:p>
        </p:txBody>
      </p:sp>
      <p:sp>
        <p:nvSpPr>
          <p:cNvPr id="37" name="map_t_11"/>
          <p:cNvSpPr txBox="1"/>
          <p:nvPr/>
        </p:nvSpPr>
        <p:spPr>
          <a:xfrm>
            <a:off x="6000842" y="5032575"/>
            <a:ext cx="1737360" cy="274320"/>
          </a:xfrm>
          <a:prstGeom prst="rect">
            <a:avLst/>
          </a:prstGeom>
          <a:noFill/>
          <a:ln/>
        </p:spPr>
        <p:txBody>
          <a:bodyPr wrap="square" lIns="0" tIns="0" rIns="0" bIns="0" rtlCol="0" anchor="t"/>
          <a:lstStyle/>
          <a:p>
            <a:pPr algn="l" indent="0" marL="0">
              <a:buNone/>
            </a:pPr>
            <a:r>
              <a:rPr lang="en-US" sz="1300" b="1" dirty="0">
                <a:solidFill>
                  <a:schemeClr val="tx1"/>
                </a:solidFill>
                <a:latin typeface="Arial" pitchFamily="34" charset="0"/>
                <a:ea typeface="Arial" pitchFamily="34" charset="-122"/>
                <a:cs typeface="Arial" pitchFamily="34" charset="-120"/>
              </a:rPr>
              <a:t>Khafji</a:t>
            </a:r>
            <a:endParaRPr lang="en-US" sz="1300" dirty="0"/>
          </a:p>
        </p:txBody>
      </p:sp>
      <p:sp>
        <p:nvSpPr>
          <p:cNvPr id="38" name="map_t_12"/>
          <p:cNvSpPr txBox="1"/>
          <p:nvPr/>
        </p:nvSpPr>
        <p:spPr>
          <a:xfrm>
            <a:off x="6361796" y="4170099"/>
            <a:ext cx="1737360" cy="274320"/>
          </a:xfrm>
          <a:prstGeom prst="rect">
            <a:avLst/>
          </a:prstGeom>
          <a:noFill/>
          <a:ln/>
        </p:spPr>
        <p:txBody>
          <a:bodyPr wrap="square" lIns="0" tIns="0" rIns="0" bIns="0" rtlCol="0" anchor="t"/>
          <a:lstStyle/>
          <a:p>
            <a:pPr algn="l" indent="0" marL="0">
              <a:buNone/>
            </a:pPr>
            <a:r>
              <a:rPr lang="en-US" sz="1300" b="1" dirty="0">
                <a:solidFill>
                  <a:schemeClr val="tx1"/>
                </a:solidFill>
                <a:latin typeface="Arial" pitchFamily="34" charset="0"/>
                <a:ea typeface="Arial" pitchFamily="34" charset="-122"/>
                <a:cs typeface="Arial" pitchFamily="34" charset="-120"/>
              </a:rPr>
              <a:t>Dorra (gas)</a:t>
            </a:r>
            <a:endParaRPr lang="en-US" sz="1300" dirty="0"/>
          </a:p>
        </p:txBody>
      </p:sp>
      <p:sp>
        <p:nvSpPr>
          <p:cNvPr id="39" name="map_t_13"/>
          <p:cNvSpPr txBox="1"/>
          <p:nvPr/>
        </p:nvSpPr>
        <p:spPr>
          <a:xfrm>
            <a:off x="5587189" y="3206278"/>
            <a:ext cx="1737360" cy="274320"/>
          </a:xfrm>
          <a:prstGeom prst="rect">
            <a:avLst/>
          </a:prstGeom>
          <a:noFill/>
          <a:ln/>
        </p:spPr>
        <p:txBody>
          <a:bodyPr wrap="square" lIns="0" tIns="0" rIns="0" bIns="0" rtlCol="0" anchor="t"/>
          <a:lstStyle/>
          <a:p>
            <a:pPr algn="l" indent="0" marL="0">
              <a:buNone/>
            </a:pPr>
            <a:r>
              <a:rPr lang="en-US" sz="1300" b="1" dirty="0">
                <a:solidFill>
                  <a:schemeClr val="tx1"/>
                </a:solidFill>
                <a:latin typeface="Arial" pitchFamily="34" charset="0"/>
                <a:ea typeface="Arial" pitchFamily="34" charset="-122"/>
                <a:cs typeface="Arial" pitchFamily="34" charset="-120"/>
              </a:rPr>
              <a:t>Al-Nokhatha (2024)</a:t>
            </a:r>
            <a:endParaRPr lang="en-US" sz="1300" dirty="0"/>
          </a:p>
        </p:txBody>
      </p:sp>
      <p:sp>
        <p:nvSpPr>
          <p:cNvPr id="40" name="map_t_14"/>
          <p:cNvSpPr txBox="1"/>
          <p:nvPr/>
        </p:nvSpPr>
        <p:spPr>
          <a:xfrm>
            <a:off x="4256833" y="3288139"/>
            <a:ext cx="1737360" cy="274320"/>
          </a:xfrm>
          <a:prstGeom prst="rect">
            <a:avLst/>
          </a:prstGeom>
          <a:noFill/>
          <a:ln/>
        </p:spPr>
        <p:txBody>
          <a:bodyPr wrap="square" lIns="0" tIns="0" rIns="0" bIns="0" rtlCol="0" anchor="t"/>
          <a:lstStyle/>
          <a:p>
            <a:pPr algn="l" indent="0" marL="0">
              <a:buNone/>
            </a:pPr>
            <a:r>
              <a:rPr lang="en-US" sz="1300" dirty="0">
                <a:solidFill>
                  <a:schemeClr val="tx2"/>
                </a:solidFill>
                <a:latin typeface="Arial" pitchFamily="34" charset="0"/>
                <a:ea typeface="Arial" pitchFamily="34" charset="-122"/>
                <a:cs typeface="Arial" pitchFamily="34" charset="-120"/>
              </a:rPr>
              <a:t>Kuwait City</a:t>
            </a:r>
            <a:endParaRPr lang="en-US" sz="1300" dirty="0"/>
          </a:p>
        </p:txBody>
      </p:sp>
      <p:sp>
        <p:nvSpPr>
          <p:cNvPr id="41" name="map_t_15"/>
          <p:cNvSpPr txBox="1"/>
          <p:nvPr/>
        </p:nvSpPr>
        <p:spPr>
          <a:xfrm>
            <a:off x="5022056" y="4609773"/>
            <a:ext cx="1737360" cy="274320"/>
          </a:xfrm>
          <a:prstGeom prst="rect">
            <a:avLst/>
          </a:prstGeom>
          <a:noFill/>
          <a:ln/>
        </p:spPr>
        <p:txBody>
          <a:bodyPr wrap="square" lIns="0" tIns="0" rIns="0" bIns="0" rtlCol="0" anchor="t"/>
          <a:lstStyle/>
          <a:p>
            <a:pPr algn="l" indent="0" marL="0">
              <a:buNone/>
            </a:pPr>
            <a:r>
              <a:rPr lang="en-US" sz="1300" dirty="0">
                <a:solidFill>
                  <a:schemeClr val="tx2"/>
                </a:solidFill>
                <a:latin typeface="Arial" pitchFamily="34" charset="0"/>
                <a:ea typeface="Arial" pitchFamily="34" charset="-122"/>
                <a:cs typeface="Arial" pitchFamily="34" charset="-120"/>
              </a:rPr>
              <a:t>Al-Zour</a:t>
            </a:r>
            <a:endParaRPr lang="en-US" sz="1300" dirty="0"/>
          </a:p>
        </p:txBody>
      </p:sp>
      <p:sp>
        <p:nvSpPr>
          <p:cNvPr id="42" name="map_t_16"/>
          <p:cNvSpPr txBox="1"/>
          <p:nvPr/>
        </p:nvSpPr>
        <p:spPr>
          <a:xfrm>
            <a:off x="809744" y="1628503"/>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IRAQ</a:t>
            </a:r>
            <a:endParaRPr lang="en-US" sz="1300" dirty="0"/>
          </a:p>
        </p:txBody>
      </p:sp>
      <p:sp>
        <p:nvSpPr>
          <p:cNvPr id="43" name="map_t_17"/>
          <p:cNvSpPr txBox="1"/>
          <p:nvPr/>
        </p:nvSpPr>
        <p:spPr>
          <a:xfrm>
            <a:off x="1170698" y="5496197"/>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SAUDI ARABIA</a:t>
            </a:r>
            <a:endParaRPr lang="en-US" sz="1300" dirty="0"/>
          </a:p>
        </p:txBody>
      </p:sp>
      <p:sp>
        <p:nvSpPr>
          <p:cNvPr id="44" name="map_t_18"/>
          <p:cNvSpPr txBox="1"/>
          <p:nvPr/>
        </p:nvSpPr>
        <p:spPr>
          <a:xfrm>
            <a:off x="4599763" y="3634740"/>
            <a:ext cx="2194560" cy="274320"/>
          </a:xfrm>
          <a:prstGeom prst="rect">
            <a:avLst/>
          </a:prstGeom>
          <a:noFill/>
          <a:ln/>
        </p:spPr>
        <p:txBody>
          <a:bodyPr wrap="square" lIns="0" tIns="0" rIns="0" bIns="0" rtlCol="0" anchor="t"/>
          <a:lstStyle/>
          <a:p>
            <a:pPr algn="ctr" indent="0" marL="0">
              <a:buNone/>
            </a:pPr>
            <a:r>
              <a:rPr lang="en-US" sz="1300" spc="400" kern="0" dirty="0">
                <a:solidFill>
                  <a:srgbClr val="8E8E93"/>
                </a:solidFill>
                <a:latin typeface="Arial" pitchFamily="34" charset="0"/>
                <a:ea typeface="Arial" pitchFamily="34" charset="-122"/>
                <a:cs typeface="Arial" pitchFamily="34" charset="-120"/>
              </a:rPr>
              <a:t>ARABIAN GULF</a:t>
            </a:r>
            <a:endParaRPr lang="en-US" sz="1300" dirty="0"/>
          </a:p>
        </p:txBody>
      </p:sp>
      <p:sp>
        <p:nvSpPr>
          <p:cNvPr id="45" name="map_t_19"/>
          <p:cNvSpPr txBox="1"/>
          <p:nvPr/>
        </p:nvSpPr>
        <p:spPr>
          <a:xfrm>
            <a:off x="7726680" y="1783080"/>
            <a:ext cx="3916375" cy="320040"/>
          </a:xfrm>
          <a:prstGeom prst="rect">
            <a:avLst/>
          </a:prstGeom>
          <a:noFill/>
          <a:ln/>
        </p:spPr>
        <p:txBody>
          <a:bodyPr wrap="square" lIns="0" tIns="0" rIns="0" bIns="0" rtlCol="0" anchor="t"/>
          <a:lstStyle/>
          <a:p>
            <a:pPr indent="0" marL="0">
              <a:buNone/>
            </a:pPr>
            <a:r>
              <a:rPr lang="en-US" sz="1500" dirty="0">
                <a:solidFill>
                  <a:schemeClr val="accent1"/>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Oil   </a:t>
            </a:r>
            <a:pPr indent="0" marL="0">
              <a:buNone/>
            </a:pPr>
            <a:r>
              <a:rPr lang="en-US" sz="1500" dirty="0">
                <a:solidFill>
                  <a:schemeClr val="accent2"/>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Gas   </a:t>
            </a:r>
            <a:pPr indent="0" marL="0">
              <a:buNone/>
            </a:pPr>
            <a:r>
              <a:rPr lang="en-US" sz="1500" dirty="0">
                <a:solidFill>
                  <a:schemeClr val="tx1"/>
                </a:solidFill>
                <a:latin typeface="Arial" pitchFamily="34" charset="0"/>
                <a:ea typeface="Arial" pitchFamily="34" charset="-122"/>
                <a:cs typeface="Arial" pitchFamily="34" charset="-120"/>
              </a:rPr>
              <a:t>◆  </a:t>
            </a:r>
            <a:pPr indent="0" marL="0">
              <a:buNone/>
            </a:pPr>
            <a:r>
              <a:rPr lang="en-US" sz="1500" dirty="0">
                <a:solidFill>
                  <a:schemeClr val="tx2"/>
                </a:solidFill>
                <a:latin typeface="Arial" pitchFamily="34" charset="0"/>
                <a:ea typeface="Arial" pitchFamily="34" charset="-122"/>
                <a:cs typeface="Arial" pitchFamily="34" charset="-120"/>
              </a:rPr>
              <a:t>Refinery / port</a:t>
            </a:r>
            <a:endParaRPr lang="en-US" sz="1500" dirty="0"/>
          </a:p>
        </p:txBody>
      </p:sp>
      <p:sp>
        <p:nvSpPr>
          <p:cNvPr id="46" name="map_t_20"/>
          <p:cNvSpPr txBox="1"/>
          <p:nvPr/>
        </p:nvSpPr>
        <p:spPr>
          <a:xfrm>
            <a:off x="7726680" y="2176272"/>
            <a:ext cx="3916375" cy="292608"/>
          </a:xfrm>
          <a:prstGeom prst="rect">
            <a:avLst/>
          </a:prstGeom>
          <a:noFill/>
          <a:ln/>
        </p:spPr>
        <p:txBody>
          <a:bodyPr wrap="square" lIns="0" tIns="0" rIns="0" bIns="0" rtlCol="0" anchor="t"/>
          <a:lstStyle/>
          <a:p>
            <a:pPr indent="0" marL="0">
              <a:buNone/>
            </a:pPr>
            <a:r>
              <a:rPr lang="en-US" sz="1400" i="1" dirty="0">
                <a:solidFill>
                  <a:schemeClr val="tx2"/>
                </a:solidFill>
                <a:latin typeface="Arial" pitchFamily="34" charset="0"/>
                <a:ea typeface="Arial" pitchFamily="34" charset="-122"/>
                <a:cs typeface="Arial" pitchFamily="34" charset="-120"/>
              </a:rPr>
              <a:t>Click a region to see its fields</a:t>
            </a:r>
            <a:endParaRPr lang="en-US" sz="1400" dirty="0"/>
          </a:p>
        </p:txBody>
      </p:sp>
      <p:sp>
        <p:nvSpPr>
          <p:cNvPr id="47" name="map_reg0"/>
          <p:cNvSpPr txBox="1"/>
          <p:nvPr/>
        </p:nvSpPr>
        <p:spPr>
          <a:xfrm>
            <a:off x="7726680" y="2578608"/>
            <a:ext cx="3916375" cy="475488"/>
          </a:xfrm>
          <a:prstGeom prst="roundRect">
            <a:avLst>
              <a:gd name="adj" fmla="val 50000"/>
            </a:avLst>
          </a:prstGeom>
          <a:solidFill>
            <a:srgbClr val="1C1C1E"/>
          </a:solidFill>
          <a:ln/>
        </p:spPr>
        <p:txBody>
          <a:bodyPr wrap="square" lIns="43180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South &amp; East Kuwait</a:t>
            </a:r>
            <a:endParaRPr lang="en-US" sz="1700" dirty="0"/>
          </a:p>
        </p:txBody>
      </p:sp>
      <p:sp>
        <p:nvSpPr>
          <p:cNvPr id="48" name="map_s_21"/>
          <p:cNvSpPr/>
          <p:nvPr/>
        </p:nvSpPr>
        <p:spPr>
          <a:xfrm>
            <a:off x="7909560" y="2729484"/>
            <a:ext cx="173736" cy="173736"/>
          </a:xfrm>
          <a:prstGeom prst="ellipse">
            <a:avLst/>
          </a:prstGeom>
          <a:solidFill>
            <a:srgbClr val="FF9F0A"/>
          </a:solidFill>
          <a:ln/>
        </p:spPr>
      </p:sp>
      <p:sp>
        <p:nvSpPr>
          <p:cNvPr id="49" name="map_pop0"/>
          <p:cNvSpPr txBox="1"/>
          <p:nvPr/>
        </p:nvSpPr>
        <p:spPr>
          <a:xfrm>
            <a:off x="7726680" y="4956048"/>
            <a:ext cx="3916375" cy="896112"/>
          </a:xfrm>
          <a:prstGeom prst="roundRect">
            <a:avLst>
              <a:gd name="adj" fmla="val 12245"/>
            </a:avLst>
          </a:prstGeom>
          <a:solidFill>
            <a:srgbClr val="2C2C2E"/>
          </a:solidFill>
          <a:ln/>
        </p:spPr>
        <p:txBody>
          <a:bodyPr wrap="square" lIns="152400" tIns="50800" rIns="127000" bIns="50800" rtlCol="0" anchor="ctr"/>
          <a:lstStyle/>
          <a:p>
            <a:pPr indent="0" marL="0">
              <a:buNone/>
            </a:pPr>
            <a:r>
              <a:rPr lang="en-US" sz="1600" b="1" dirty="0">
                <a:solidFill>
                  <a:schemeClr val="tx1"/>
                </a:solidFill>
                <a:latin typeface="Arial" pitchFamily="34" charset="0"/>
                <a:ea typeface="Arial" pitchFamily="34" charset="-122"/>
                <a:cs typeface="Arial" pitchFamily="34" charset="-120"/>
              </a:rPr>
              <a:t>South &amp; East Kuwait</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Greater Burgan (Burgan, Magwa, Ahmadi), Khashman</a:t>
            </a:r>
            <a:endParaRPr lang="en-US" sz="1600" dirty="0"/>
          </a:p>
        </p:txBody>
      </p:sp>
      <p:sp>
        <p:nvSpPr>
          <p:cNvPr id="50" name="map_reg1"/>
          <p:cNvSpPr txBox="1"/>
          <p:nvPr/>
        </p:nvSpPr>
        <p:spPr>
          <a:xfrm>
            <a:off x="7726680" y="3163824"/>
            <a:ext cx="3916375" cy="475488"/>
          </a:xfrm>
          <a:prstGeom prst="roundRect">
            <a:avLst>
              <a:gd name="adj" fmla="val 50000"/>
            </a:avLst>
          </a:prstGeom>
          <a:solidFill>
            <a:srgbClr val="1C1C1E"/>
          </a:solidFill>
          <a:ln/>
        </p:spPr>
        <p:txBody>
          <a:bodyPr wrap="square" lIns="43180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North Kuwait</a:t>
            </a:r>
            <a:endParaRPr lang="en-US" sz="1700" dirty="0"/>
          </a:p>
        </p:txBody>
      </p:sp>
      <p:sp>
        <p:nvSpPr>
          <p:cNvPr id="51" name="map_s_22"/>
          <p:cNvSpPr/>
          <p:nvPr/>
        </p:nvSpPr>
        <p:spPr>
          <a:xfrm>
            <a:off x="7909560" y="3314700"/>
            <a:ext cx="173736" cy="173736"/>
          </a:xfrm>
          <a:prstGeom prst="ellipse">
            <a:avLst/>
          </a:prstGeom>
          <a:solidFill>
            <a:srgbClr val="FF9F0A"/>
          </a:solidFill>
          <a:ln/>
        </p:spPr>
      </p:sp>
      <p:sp>
        <p:nvSpPr>
          <p:cNvPr id="52" name="map_pop1"/>
          <p:cNvSpPr txBox="1"/>
          <p:nvPr/>
        </p:nvSpPr>
        <p:spPr>
          <a:xfrm>
            <a:off x="7726680" y="4956048"/>
            <a:ext cx="3916375" cy="896112"/>
          </a:xfrm>
          <a:prstGeom prst="roundRect">
            <a:avLst>
              <a:gd name="adj" fmla="val 12245"/>
            </a:avLst>
          </a:prstGeom>
          <a:solidFill>
            <a:srgbClr val="2C2C2E"/>
          </a:solidFill>
          <a:ln/>
        </p:spPr>
        <p:txBody>
          <a:bodyPr wrap="square" lIns="152400" tIns="50800" rIns="127000" bIns="50800" rtlCol="0" anchor="ctr"/>
          <a:lstStyle/>
          <a:p>
            <a:pPr indent="0" marL="0">
              <a:buNone/>
            </a:pPr>
            <a:r>
              <a:rPr lang="en-US" sz="1600" b="1" dirty="0">
                <a:solidFill>
                  <a:schemeClr val="tx1"/>
                </a:solidFill>
                <a:latin typeface="Arial" pitchFamily="34" charset="0"/>
                <a:ea typeface="Arial" pitchFamily="34" charset="-122"/>
                <a:cs typeface="Arial" pitchFamily="34" charset="-120"/>
              </a:rPr>
              <a:t>North Kuwait</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Raudhatain, Sabriya, Bahra, Ratqa, Abdali, Umm Niqa</a:t>
            </a:r>
            <a:endParaRPr lang="en-US" sz="1600" dirty="0"/>
          </a:p>
        </p:txBody>
      </p:sp>
      <p:sp>
        <p:nvSpPr>
          <p:cNvPr id="53" name="map_reg2"/>
          <p:cNvSpPr txBox="1"/>
          <p:nvPr/>
        </p:nvSpPr>
        <p:spPr>
          <a:xfrm>
            <a:off x="7726680" y="3749040"/>
            <a:ext cx="3916375" cy="475488"/>
          </a:xfrm>
          <a:prstGeom prst="roundRect">
            <a:avLst>
              <a:gd name="adj" fmla="val 50000"/>
            </a:avLst>
          </a:prstGeom>
          <a:solidFill>
            <a:srgbClr val="1C1C1E"/>
          </a:solidFill>
          <a:ln/>
        </p:spPr>
        <p:txBody>
          <a:bodyPr wrap="square" lIns="43180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West Kuwait</a:t>
            </a:r>
            <a:endParaRPr lang="en-US" sz="1700" dirty="0"/>
          </a:p>
        </p:txBody>
      </p:sp>
      <p:sp>
        <p:nvSpPr>
          <p:cNvPr id="54" name="map_s_23"/>
          <p:cNvSpPr/>
          <p:nvPr/>
        </p:nvSpPr>
        <p:spPr>
          <a:xfrm>
            <a:off x="7909560" y="3899916"/>
            <a:ext cx="173736" cy="173736"/>
          </a:xfrm>
          <a:prstGeom prst="ellipse">
            <a:avLst/>
          </a:prstGeom>
          <a:solidFill>
            <a:srgbClr val="FF9F0A"/>
          </a:solidFill>
          <a:ln/>
        </p:spPr>
      </p:sp>
      <p:sp>
        <p:nvSpPr>
          <p:cNvPr id="55" name="map_pop2"/>
          <p:cNvSpPr txBox="1"/>
          <p:nvPr/>
        </p:nvSpPr>
        <p:spPr>
          <a:xfrm>
            <a:off x="7726680" y="4956048"/>
            <a:ext cx="3916375" cy="896112"/>
          </a:xfrm>
          <a:prstGeom prst="roundRect">
            <a:avLst>
              <a:gd name="adj" fmla="val 12245"/>
            </a:avLst>
          </a:prstGeom>
          <a:solidFill>
            <a:srgbClr val="2C2C2E"/>
          </a:solidFill>
          <a:ln/>
        </p:spPr>
        <p:txBody>
          <a:bodyPr wrap="square" lIns="152400" tIns="50800" rIns="127000" bIns="50800" rtlCol="0" anchor="ctr"/>
          <a:lstStyle/>
          <a:p>
            <a:pPr indent="0" marL="0">
              <a:buNone/>
            </a:pPr>
            <a:r>
              <a:rPr lang="en-US" sz="1600" b="1" dirty="0">
                <a:solidFill>
                  <a:schemeClr val="tx1"/>
                </a:solidFill>
                <a:latin typeface="Arial" pitchFamily="34" charset="0"/>
                <a:ea typeface="Arial" pitchFamily="34" charset="-122"/>
                <a:cs typeface="Arial" pitchFamily="34" charset="-120"/>
              </a:rPr>
              <a:t>West Kuwait</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Minagish, Umm Gudair, Abduliyah, Dharif, Kra Al-Maru</a:t>
            </a:r>
            <a:endParaRPr lang="en-US" sz="1600" dirty="0"/>
          </a:p>
        </p:txBody>
      </p:sp>
      <p:sp>
        <p:nvSpPr>
          <p:cNvPr id="56" name="map_reg3"/>
          <p:cNvSpPr txBox="1"/>
          <p:nvPr/>
        </p:nvSpPr>
        <p:spPr>
          <a:xfrm>
            <a:off x="7726680" y="4334256"/>
            <a:ext cx="3916375" cy="475488"/>
          </a:xfrm>
          <a:prstGeom prst="roundRect">
            <a:avLst>
              <a:gd name="adj" fmla="val 50000"/>
            </a:avLst>
          </a:prstGeom>
          <a:solidFill>
            <a:srgbClr val="1C1C1E"/>
          </a:solidFill>
          <a:ln/>
        </p:spPr>
        <p:txBody>
          <a:bodyPr wrap="square" lIns="431800" tIns="0" rIns="0" bIns="0" rtlCol="0" anchor="ctr"/>
          <a:lstStyle/>
          <a:p>
            <a:pPr indent="0" marL="0">
              <a:buNone/>
            </a:pPr>
            <a:r>
              <a:rPr lang="en-US" sz="1700" b="1" dirty="0">
                <a:solidFill>
                  <a:schemeClr val="tx1"/>
                </a:solidFill>
                <a:latin typeface="Arial" pitchFamily="34" charset="0"/>
                <a:ea typeface="Arial" pitchFamily="34" charset="-122"/>
                <a:cs typeface="Arial" pitchFamily="34" charset="-120"/>
              </a:rPr>
              <a:t>Partitioned Zone &amp; offshore</a:t>
            </a:r>
            <a:endParaRPr lang="en-US" sz="1700" dirty="0"/>
          </a:p>
        </p:txBody>
      </p:sp>
      <p:sp>
        <p:nvSpPr>
          <p:cNvPr id="57" name="map_s_24"/>
          <p:cNvSpPr/>
          <p:nvPr/>
        </p:nvSpPr>
        <p:spPr>
          <a:xfrm>
            <a:off x="7909560" y="4485132"/>
            <a:ext cx="173736" cy="173736"/>
          </a:xfrm>
          <a:prstGeom prst="ellipse">
            <a:avLst/>
          </a:prstGeom>
          <a:solidFill>
            <a:srgbClr val="64D2FF"/>
          </a:solidFill>
          <a:ln/>
        </p:spPr>
      </p:sp>
      <p:sp>
        <p:nvSpPr>
          <p:cNvPr id="58" name="map_pop3"/>
          <p:cNvSpPr txBox="1"/>
          <p:nvPr/>
        </p:nvSpPr>
        <p:spPr>
          <a:xfrm>
            <a:off x="7726680" y="4956048"/>
            <a:ext cx="3916375" cy="896112"/>
          </a:xfrm>
          <a:prstGeom prst="roundRect">
            <a:avLst>
              <a:gd name="adj" fmla="val 12245"/>
            </a:avLst>
          </a:prstGeom>
          <a:solidFill>
            <a:srgbClr val="2C2C2E"/>
          </a:solidFill>
          <a:ln/>
        </p:spPr>
        <p:txBody>
          <a:bodyPr wrap="square" lIns="152400" tIns="50800" rIns="127000" bIns="50800" rtlCol="0" anchor="ctr"/>
          <a:lstStyle/>
          <a:p>
            <a:pPr indent="0" marL="0">
              <a:buNone/>
            </a:pPr>
            <a:r>
              <a:rPr lang="en-US" sz="1600" b="1" dirty="0">
                <a:solidFill>
                  <a:schemeClr val="tx1"/>
                </a:solidFill>
                <a:latin typeface="Arial" pitchFamily="34" charset="0"/>
                <a:ea typeface="Arial" pitchFamily="34" charset="-122"/>
                <a:cs typeface="Arial" pitchFamily="34" charset="-120"/>
              </a:rPr>
              <a:t>Partitioned Zone &amp; offshore</a:t>
            </a:r>
            <a:endParaRPr lang="en-US" sz="1600" dirty="0"/>
          </a:p>
          <a:p>
            <a:pPr indent="0" marL="0">
              <a:buNone/>
            </a:pPr>
            <a:r>
              <a:rPr lang="en-US" sz="1400" dirty="0">
                <a:solidFill>
                  <a:schemeClr val="tx2"/>
                </a:solidFill>
                <a:latin typeface="Arial" pitchFamily="34" charset="0"/>
                <a:ea typeface="Arial" pitchFamily="34" charset="-122"/>
                <a:cs typeface="Arial" pitchFamily="34" charset="-120"/>
              </a:rPr>
              <a:t>Wafra, Khafji, Hout, Dorra gas; new: Al-Nokhatha, Al-Jlaiaa</a:t>
            </a:r>
            <a:endParaRPr lang="en-US" sz="1600" dirty="0"/>
          </a:p>
        </p:txBody>
      </p:sp>
      <p:sp>
        <p:nvSpPr>
          <p:cNvPr id="59" name="map_t_25"/>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KOC (n.d.); Naqi et al. (2023) Petroleum geology of Kuwait; EIA (2023); KGOC; field positions approximate. Base map: Natural Earth.</a:t>
            </a:r>
            <a:endParaRPr lang="en-US" sz="1200" dirty="0"/>
          </a:p>
        </p:txBody>
      </p:sp>
      <p:sp>
        <p:nvSpPr>
          <p:cNvPr id="60" name="map_home_26">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61" name="map_i_27"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62" name="map_s_28">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10" presetClass="entr" presetSubtype="0"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1200"/>
                                        <p:tgtEl>
                                          <p:spTgt spid="4"/>
                                        </p:tgtEl>
                                      </p:cBhvr>
                                    </p:animEffect>
                                  </p:childTnLst>
                                </p:cTn>
                              </p:par>
                              <p:par>
                                <p:cTn id="15" presetID="10" presetClass="entr" presetSubtype="0" fill="hold" grpId="0" nodeType="withEffect">
                                  <p:stCondLst>
                                    <p:cond delay="600"/>
                                  </p:stCondLst>
                                  <p:childTnLst>
                                    <p:set>
                                      <p:cBhvr>
                                        <p:cTn id="13" dur="1" fill="hold">
                                          <p:stCondLst>
                                            <p:cond delay="0"/>
                                          </p:stCondLst>
                                        </p:cTn>
                                        <p:tgtEl>
                                          <p:spTgt spid="42"/>
                                        </p:tgtEl>
                                        <p:attrNameLst>
                                          <p:attrName>style.visibility</p:attrName>
                                        </p:attrNameLst>
                                      </p:cBhvr>
                                      <p:to>
                                        <p:strVal val="visible"/>
                                      </p:to>
                                    </p:set>
                                    <p:animEffect transition="in" filter="fade">
                                      <p:cBhvr>
                                        <p:cTn id="14" dur="800"/>
                                        <p:tgtEl>
                                          <p:spTgt spid="42"/>
                                        </p:tgtEl>
                                      </p:cBhvr>
                                    </p:animEffect>
                                  </p:childTnLst>
                                </p:cTn>
                              </p:par>
                              <p:par>
                                <p:cTn id="18" presetID="10" presetClass="entr" presetSubtype="0" fill="hold" grpId="0" nodeType="withEffect">
                                  <p:stCondLst>
                                    <p:cond delay="600"/>
                                  </p:stCondLst>
                                  <p:childTnLst>
                                    <p:set>
                                      <p:cBhvr>
                                        <p:cTn id="16" dur="1" fill="hold">
                                          <p:stCondLst>
                                            <p:cond delay="0"/>
                                          </p:stCondLst>
                                        </p:cTn>
                                        <p:tgtEl>
                                          <p:spTgt spid="43"/>
                                        </p:tgtEl>
                                        <p:attrNameLst>
                                          <p:attrName>style.visibility</p:attrName>
                                        </p:attrNameLst>
                                      </p:cBhvr>
                                      <p:to>
                                        <p:strVal val="visible"/>
                                      </p:to>
                                    </p:set>
                                    <p:animEffect transition="in" filter="fade">
                                      <p:cBhvr>
                                        <p:cTn id="17" dur="800"/>
                                        <p:tgtEl>
                                          <p:spTgt spid="43"/>
                                        </p:tgtEl>
                                      </p:cBhvr>
                                    </p:animEffect>
                                  </p:childTnLst>
                                </p:cTn>
                              </p:par>
                              <p:par>
                                <p:cTn id="21" presetID="10" presetClass="entr" presetSubtype="0" fill="hold" grpId="0" nodeType="withEffect">
                                  <p:stCondLst>
                                    <p:cond delay="600"/>
                                  </p:stCondLst>
                                  <p:childTnLst>
                                    <p:set>
                                      <p:cBhvr>
                                        <p:cTn id="19" dur="1" fill="hold">
                                          <p:stCondLst>
                                            <p:cond delay="0"/>
                                          </p:stCondLst>
                                        </p:cTn>
                                        <p:tgtEl>
                                          <p:spTgt spid="44"/>
                                        </p:tgtEl>
                                        <p:attrNameLst>
                                          <p:attrName>style.visibility</p:attrName>
                                        </p:attrNameLst>
                                      </p:cBhvr>
                                      <p:to>
                                        <p:strVal val="visible"/>
                                      </p:to>
                                    </p:set>
                                    <p:animEffect transition="in" filter="fade">
                                      <p:cBhvr>
                                        <p:cTn id="20" dur="800"/>
                                        <p:tgtEl>
                                          <p:spTgt spid="44"/>
                                        </p:tgtEl>
                                      </p:cBhvr>
                                    </p:animEffect>
                                  </p:childTnLst>
                                </p:cTn>
                              </p:par>
                              <p:par>
                                <p:cTn id="26" presetID="53" presetClass="entr" presetSubtype="16" fill="hold" grpId="0" nodeType="withEffect">
                                  <p:stCondLst>
                                    <p:cond delay="900"/>
                                  </p:stCondLst>
                                  <p:childTnLst>
                                    <p:set>
                                      <p:cBhvr>
                                        <p:cTn id="22" dur="1" fill="hold">
                                          <p:stCondLst>
                                            <p:cond delay="0"/>
                                          </p:stCondLst>
                                        </p:cTn>
                                        <p:tgtEl>
                                          <p:spTgt spid="5"/>
                                        </p:tgtEl>
                                        <p:attrNameLst>
                                          <p:attrName>style.visibility</p:attrName>
                                        </p:attrNameLst>
                                      </p:cBhvr>
                                      <p:to>
                                        <p:strVal val="visible"/>
                                      </p:to>
                                    </p:set>
                                    <p:anim calcmode="lin" valueType="num">
                                      <p:cBhvr>
                                        <p:cTn id="23" dur="500" fill="hold" decel="100000"/>
                                        <p:tgtEl>
                                          <p:spTgt spid="5"/>
                                        </p:tgtEl>
                                        <p:attrNameLst>
                                          <p:attrName>ppt_w</p:attrName>
                                        </p:attrNameLst>
                                      </p:cBhvr>
                                      <p:tavLst>
                                        <p:tav tm="0">
                                          <p:val>
                                            <p:strVal val="#ppt_w*0.70"/>
                                          </p:val>
                                        </p:tav>
                                        <p:tav tm="100000">
                                          <p:val>
                                            <p:strVal val="#ppt_w"/>
                                          </p:val>
                                        </p:tav>
                                      </p:tavLst>
                                    </p:anim>
                                    <p:anim calcmode="lin" valueType="num">
                                      <p:cBhvr>
                                        <p:cTn id="24" dur="500" fill="hold" decel="100000"/>
                                        <p:tgtEl>
                                          <p:spTgt spid="5"/>
                                        </p:tgtEl>
                                        <p:attrNameLst>
                                          <p:attrName>ppt_h</p:attrName>
                                        </p:attrNameLst>
                                      </p:cBhvr>
                                      <p:tavLst>
                                        <p:tav tm="0">
                                          <p:val>
                                            <p:strVal val="#ppt_h*0.70"/>
                                          </p:val>
                                        </p:tav>
                                        <p:tav tm="100000">
                                          <p:val>
                                            <p:strVal val="#ppt_h"/>
                                          </p:val>
                                        </p:tav>
                                      </p:tavLst>
                                    </p:anim>
                                    <p:animEffect transition="in" filter="fade">
                                      <p:cBhvr>
                                        <p:cTn id="25" dur="500"/>
                                        <p:tgtEl>
                                          <p:spTgt spid="5"/>
                                        </p:tgtEl>
                                      </p:cBhvr>
                                    </p:animEffect>
                                  </p:childTnLst>
                                </p:cTn>
                              </p:par>
                              <p:par>
                                <p:cTn id="31" presetID="53" presetClass="entr" presetSubtype="16" fill="hold" grpId="0" nodeType="withEffect">
                                  <p:stCondLst>
                                    <p:cond delay="970"/>
                                  </p:stCondLst>
                                  <p:childTnLst>
                                    <p:set>
                                      <p:cBhvr>
                                        <p:cTn id="27" dur="1" fill="hold">
                                          <p:stCondLst>
                                            <p:cond delay="0"/>
                                          </p:stCondLst>
                                        </p:cTn>
                                        <p:tgtEl>
                                          <p:spTgt spid="6"/>
                                        </p:tgtEl>
                                        <p:attrNameLst>
                                          <p:attrName>style.visibility</p:attrName>
                                        </p:attrNameLst>
                                      </p:cBhvr>
                                      <p:to>
                                        <p:strVal val="visible"/>
                                      </p:to>
                                    </p:set>
                                    <p:anim calcmode="lin" valueType="num">
                                      <p:cBhvr>
                                        <p:cTn id="28" dur="500" fill="hold" decel="100000"/>
                                        <p:tgtEl>
                                          <p:spTgt spid="6"/>
                                        </p:tgtEl>
                                        <p:attrNameLst>
                                          <p:attrName>ppt_w</p:attrName>
                                        </p:attrNameLst>
                                      </p:cBhvr>
                                      <p:tavLst>
                                        <p:tav tm="0">
                                          <p:val>
                                            <p:strVal val="#ppt_w*0.70"/>
                                          </p:val>
                                        </p:tav>
                                        <p:tav tm="100000">
                                          <p:val>
                                            <p:strVal val="#ppt_w"/>
                                          </p:val>
                                        </p:tav>
                                      </p:tavLst>
                                    </p:anim>
                                    <p:anim calcmode="lin" valueType="num">
                                      <p:cBhvr>
                                        <p:cTn id="29" dur="500" fill="hold" decel="100000"/>
                                        <p:tgtEl>
                                          <p:spTgt spid="6"/>
                                        </p:tgtEl>
                                        <p:attrNameLst>
                                          <p:attrName>ppt_h</p:attrName>
                                        </p:attrNameLst>
                                      </p:cBhvr>
                                      <p:tavLst>
                                        <p:tav tm="0">
                                          <p:val>
                                            <p:strVal val="#ppt_h*0.70"/>
                                          </p:val>
                                        </p:tav>
                                        <p:tav tm="100000">
                                          <p:val>
                                            <p:strVal val="#ppt_h"/>
                                          </p:val>
                                        </p:tav>
                                      </p:tavLst>
                                    </p:anim>
                                    <p:animEffect transition="in" filter="fade">
                                      <p:cBhvr>
                                        <p:cTn id="30" dur="500"/>
                                        <p:tgtEl>
                                          <p:spTgt spid="6"/>
                                        </p:tgtEl>
                                      </p:cBhvr>
                                    </p:animEffect>
                                  </p:childTnLst>
                                </p:cTn>
                              </p:par>
                              <p:par>
                                <p:cTn id="36" presetID="53" presetClass="entr" presetSubtype="16" fill="hold" grpId="0" nodeType="withEffect">
                                  <p:stCondLst>
                                    <p:cond delay="1040"/>
                                  </p:stCondLst>
                                  <p:childTnLst>
                                    <p:set>
                                      <p:cBhvr>
                                        <p:cTn id="32" dur="1" fill="hold">
                                          <p:stCondLst>
                                            <p:cond delay="0"/>
                                          </p:stCondLst>
                                        </p:cTn>
                                        <p:tgtEl>
                                          <p:spTgt spid="7"/>
                                        </p:tgtEl>
                                        <p:attrNameLst>
                                          <p:attrName>style.visibility</p:attrName>
                                        </p:attrNameLst>
                                      </p:cBhvr>
                                      <p:to>
                                        <p:strVal val="visible"/>
                                      </p:to>
                                    </p:set>
                                    <p:anim calcmode="lin" valueType="num">
                                      <p:cBhvr>
                                        <p:cTn id="33" dur="500" fill="hold" decel="100000"/>
                                        <p:tgtEl>
                                          <p:spTgt spid="7"/>
                                        </p:tgtEl>
                                        <p:attrNameLst>
                                          <p:attrName>ppt_w</p:attrName>
                                        </p:attrNameLst>
                                      </p:cBhvr>
                                      <p:tavLst>
                                        <p:tav tm="0">
                                          <p:val>
                                            <p:strVal val="#ppt_w*0.70"/>
                                          </p:val>
                                        </p:tav>
                                        <p:tav tm="100000">
                                          <p:val>
                                            <p:strVal val="#ppt_w"/>
                                          </p:val>
                                        </p:tav>
                                      </p:tavLst>
                                    </p:anim>
                                    <p:anim calcmode="lin" valueType="num">
                                      <p:cBhvr>
                                        <p:cTn id="34" dur="500" fill="hold" decel="100000"/>
                                        <p:tgtEl>
                                          <p:spTgt spid="7"/>
                                        </p:tgtEl>
                                        <p:attrNameLst>
                                          <p:attrName>ppt_h</p:attrName>
                                        </p:attrNameLst>
                                      </p:cBhvr>
                                      <p:tavLst>
                                        <p:tav tm="0">
                                          <p:val>
                                            <p:strVal val="#ppt_h*0.70"/>
                                          </p:val>
                                        </p:tav>
                                        <p:tav tm="100000">
                                          <p:val>
                                            <p:strVal val="#ppt_h"/>
                                          </p:val>
                                        </p:tav>
                                      </p:tavLst>
                                    </p:anim>
                                    <p:animEffect transition="in" filter="fade">
                                      <p:cBhvr>
                                        <p:cTn id="35" dur="500"/>
                                        <p:tgtEl>
                                          <p:spTgt spid="7"/>
                                        </p:tgtEl>
                                      </p:cBhvr>
                                    </p:animEffect>
                                  </p:childTnLst>
                                </p:cTn>
                              </p:par>
                              <p:par>
                                <p:cTn id="41" presetID="53" presetClass="entr" presetSubtype="16" fill="hold" grpId="0" nodeType="withEffect">
                                  <p:stCondLst>
                                    <p:cond delay="1110"/>
                                  </p:stCondLst>
                                  <p:childTnLst>
                                    <p:set>
                                      <p:cBhvr>
                                        <p:cTn id="37" dur="1" fill="hold">
                                          <p:stCondLst>
                                            <p:cond delay="0"/>
                                          </p:stCondLst>
                                        </p:cTn>
                                        <p:tgtEl>
                                          <p:spTgt spid="8"/>
                                        </p:tgtEl>
                                        <p:attrNameLst>
                                          <p:attrName>style.visibility</p:attrName>
                                        </p:attrNameLst>
                                      </p:cBhvr>
                                      <p:to>
                                        <p:strVal val="visible"/>
                                      </p:to>
                                    </p:set>
                                    <p:anim calcmode="lin" valueType="num">
                                      <p:cBhvr>
                                        <p:cTn id="38" dur="500" fill="hold" decel="100000"/>
                                        <p:tgtEl>
                                          <p:spTgt spid="8"/>
                                        </p:tgtEl>
                                        <p:attrNameLst>
                                          <p:attrName>ppt_w</p:attrName>
                                        </p:attrNameLst>
                                      </p:cBhvr>
                                      <p:tavLst>
                                        <p:tav tm="0">
                                          <p:val>
                                            <p:strVal val="#ppt_w*0.70"/>
                                          </p:val>
                                        </p:tav>
                                        <p:tav tm="100000">
                                          <p:val>
                                            <p:strVal val="#ppt_w"/>
                                          </p:val>
                                        </p:tav>
                                      </p:tavLst>
                                    </p:anim>
                                    <p:anim calcmode="lin" valueType="num">
                                      <p:cBhvr>
                                        <p:cTn id="39" dur="500" fill="hold" decel="100000"/>
                                        <p:tgtEl>
                                          <p:spTgt spid="8"/>
                                        </p:tgtEl>
                                        <p:attrNameLst>
                                          <p:attrName>ppt_h</p:attrName>
                                        </p:attrNameLst>
                                      </p:cBhvr>
                                      <p:tavLst>
                                        <p:tav tm="0">
                                          <p:val>
                                            <p:strVal val="#ppt_h*0.70"/>
                                          </p:val>
                                        </p:tav>
                                        <p:tav tm="100000">
                                          <p:val>
                                            <p:strVal val="#ppt_h"/>
                                          </p:val>
                                        </p:tav>
                                      </p:tavLst>
                                    </p:anim>
                                    <p:animEffect transition="in" filter="fade">
                                      <p:cBhvr>
                                        <p:cTn id="40" dur="500"/>
                                        <p:tgtEl>
                                          <p:spTgt spid="8"/>
                                        </p:tgtEl>
                                      </p:cBhvr>
                                    </p:animEffect>
                                  </p:childTnLst>
                                </p:cTn>
                              </p:par>
                              <p:par>
                                <p:cTn id="46" presetID="53" presetClass="entr" presetSubtype="16" fill="hold" grpId="0" nodeType="withEffect">
                                  <p:stCondLst>
                                    <p:cond delay="1180"/>
                                  </p:stCondLst>
                                  <p:childTnLst>
                                    <p:set>
                                      <p:cBhvr>
                                        <p:cTn id="42" dur="1" fill="hold">
                                          <p:stCondLst>
                                            <p:cond delay="0"/>
                                          </p:stCondLst>
                                        </p:cTn>
                                        <p:tgtEl>
                                          <p:spTgt spid="9"/>
                                        </p:tgtEl>
                                        <p:attrNameLst>
                                          <p:attrName>style.visibility</p:attrName>
                                        </p:attrNameLst>
                                      </p:cBhvr>
                                      <p:to>
                                        <p:strVal val="visible"/>
                                      </p:to>
                                    </p:set>
                                    <p:anim calcmode="lin" valueType="num">
                                      <p:cBhvr>
                                        <p:cTn id="43" dur="500" fill="hold" decel="100000"/>
                                        <p:tgtEl>
                                          <p:spTgt spid="9"/>
                                        </p:tgtEl>
                                        <p:attrNameLst>
                                          <p:attrName>ppt_w</p:attrName>
                                        </p:attrNameLst>
                                      </p:cBhvr>
                                      <p:tavLst>
                                        <p:tav tm="0">
                                          <p:val>
                                            <p:strVal val="#ppt_w*0.70"/>
                                          </p:val>
                                        </p:tav>
                                        <p:tav tm="100000">
                                          <p:val>
                                            <p:strVal val="#ppt_w"/>
                                          </p:val>
                                        </p:tav>
                                      </p:tavLst>
                                    </p:anim>
                                    <p:anim calcmode="lin" valueType="num">
                                      <p:cBhvr>
                                        <p:cTn id="44" dur="500" fill="hold" decel="100000"/>
                                        <p:tgtEl>
                                          <p:spTgt spid="9"/>
                                        </p:tgtEl>
                                        <p:attrNameLst>
                                          <p:attrName>ppt_h</p:attrName>
                                        </p:attrNameLst>
                                      </p:cBhvr>
                                      <p:tavLst>
                                        <p:tav tm="0">
                                          <p:val>
                                            <p:strVal val="#ppt_h*0.70"/>
                                          </p:val>
                                        </p:tav>
                                        <p:tav tm="100000">
                                          <p:val>
                                            <p:strVal val="#ppt_h"/>
                                          </p:val>
                                        </p:tav>
                                      </p:tavLst>
                                    </p:anim>
                                    <p:animEffect transition="in" filter="fade">
                                      <p:cBhvr>
                                        <p:cTn id="45" dur="500"/>
                                        <p:tgtEl>
                                          <p:spTgt spid="9"/>
                                        </p:tgtEl>
                                      </p:cBhvr>
                                    </p:animEffect>
                                  </p:childTnLst>
                                </p:cTn>
                              </p:par>
                              <p:par>
                                <p:cTn id="51" presetID="53" presetClass="entr" presetSubtype="16" fill="hold" grpId="0" nodeType="withEffect">
                                  <p:stCondLst>
                                    <p:cond delay="1250"/>
                                  </p:stCondLst>
                                  <p:childTnLst>
                                    <p:set>
                                      <p:cBhvr>
                                        <p:cTn id="47" dur="1" fill="hold">
                                          <p:stCondLst>
                                            <p:cond delay="0"/>
                                          </p:stCondLst>
                                        </p:cTn>
                                        <p:tgtEl>
                                          <p:spTgt spid="10"/>
                                        </p:tgtEl>
                                        <p:attrNameLst>
                                          <p:attrName>style.visibility</p:attrName>
                                        </p:attrNameLst>
                                      </p:cBhvr>
                                      <p:to>
                                        <p:strVal val="visible"/>
                                      </p:to>
                                    </p:set>
                                    <p:anim calcmode="lin" valueType="num">
                                      <p:cBhvr>
                                        <p:cTn id="48" dur="500" fill="hold" decel="100000"/>
                                        <p:tgtEl>
                                          <p:spTgt spid="10"/>
                                        </p:tgtEl>
                                        <p:attrNameLst>
                                          <p:attrName>ppt_w</p:attrName>
                                        </p:attrNameLst>
                                      </p:cBhvr>
                                      <p:tavLst>
                                        <p:tav tm="0">
                                          <p:val>
                                            <p:strVal val="#ppt_w*0.70"/>
                                          </p:val>
                                        </p:tav>
                                        <p:tav tm="100000">
                                          <p:val>
                                            <p:strVal val="#ppt_w"/>
                                          </p:val>
                                        </p:tav>
                                      </p:tavLst>
                                    </p:anim>
                                    <p:anim calcmode="lin" valueType="num">
                                      <p:cBhvr>
                                        <p:cTn id="49" dur="500" fill="hold" decel="100000"/>
                                        <p:tgtEl>
                                          <p:spTgt spid="10"/>
                                        </p:tgtEl>
                                        <p:attrNameLst>
                                          <p:attrName>ppt_h</p:attrName>
                                        </p:attrNameLst>
                                      </p:cBhvr>
                                      <p:tavLst>
                                        <p:tav tm="0">
                                          <p:val>
                                            <p:strVal val="#ppt_h*0.70"/>
                                          </p:val>
                                        </p:tav>
                                        <p:tav tm="100000">
                                          <p:val>
                                            <p:strVal val="#ppt_h"/>
                                          </p:val>
                                        </p:tav>
                                      </p:tavLst>
                                    </p:anim>
                                    <p:animEffect transition="in" filter="fade">
                                      <p:cBhvr>
                                        <p:cTn id="50" dur="500"/>
                                        <p:tgtEl>
                                          <p:spTgt spid="10"/>
                                        </p:tgtEl>
                                      </p:cBhvr>
                                    </p:animEffect>
                                  </p:childTnLst>
                                </p:cTn>
                              </p:par>
                              <p:par>
                                <p:cTn id="56" presetID="53" presetClass="entr" presetSubtype="16" fill="hold" grpId="0" nodeType="withEffect">
                                  <p:stCondLst>
                                    <p:cond delay="1320"/>
                                  </p:stCondLst>
                                  <p:childTnLst>
                                    <p:set>
                                      <p:cBhvr>
                                        <p:cTn id="52" dur="1" fill="hold">
                                          <p:stCondLst>
                                            <p:cond delay="0"/>
                                          </p:stCondLst>
                                        </p:cTn>
                                        <p:tgtEl>
                                          <p:spTgt spid="11"/>
                                        </p:tgtEl>
                                        <p:attrNameLst>
                                          <p:attrName>style.visibility</p:attrName>
                                        </p:attrNameLst>
                                      </p:cBhvr>
                                      <p:to>
                                        <p:strVal val="visible"/>
                                      </p:to>
                                    </p:set>
                                    <p:anim calcmode="lin" valueType="num">
                                      <p:cBhvr>
                                        <p:cTn id="53" dur="500" fill="hold" decel="100000"/>
                                        <p:tgtEl>
                                          <p:spTgt spid="11"/>
                                        </p:tgtEl>
                                        <p:attrNameLst>
                                          <p:attrName>ppt_w</p:attrName>
                                        </p:attrNameLst>
                                      </p:cBhvr>
                                      <p:tavLst>
                                        <p:tav tm="0">
                                          <p:val>
                                            <p:strVal val="#ppt_w*0.70"/>
                                          </p:val>
                                        </p:tav>
                                        <p:tav tm="100000">
                                          <p:val>
                                            <p:strVal val="#ppt_w"/>
                                          </p:val>
                                        </p:tav>
                                      </p:tavLst>
                                    </p:anim>
                                    <p:anim calcmode="lin" valueType="num">
                                      <p:cBhvr>
                                        <p:cTn id="54" dur="500" fill="hold" decel="100000"/>
                                        <p:tgtEl>
                                          <p:spTgt spid="11"/>
                                        </p:tgtEl>
                                        <p:attrNameLst>
                                          <p:attrName>ppt_h</p:attrName>
                                        </p:attrNameLst>
                                      </p:cBhvr>
                                      <p:tavLst>
                                        <p:tav tm="0">
                                          <p:val>
                                            <p:strVal val="#ppt_h*0.70"/>
                                          </p:val>
                                        </p:tav>
                                        <p:tav tm="100000">
                                          <p:val>
                                            <p:strVal val="#ppt_h"/>
                                          </p:val>
                                        </p:tav>
                                      </p:tavLst>
                                    </p:anim>
                                    <p:animEffect transition="in" filter="fade">
                                      <p:cBhvr>
                                        <p:cTn id="55" dur="500"/>
                                        <p:tgtEl>
                                          <p:spTgt spid="11"/>
                                        </p:tgtEl>
                                      </p:cBhvr>
                                    </p:animEffect>
                                  </p:childTnLst>
                                </p:cTn>
                              </p:par>
                              <p:par>
                                <p:cTn id="61" presetID="53" presetClass="entr" presetSubtype="16" fill="hold" grpId="0" nodeType="withEffect">
                                  <p:stCondLst>
                                    <p:cond delay="1390"/>
                                  </p:stCondLst>
                                  <p:childTnLst>
                                    <p:set>
                                      <p:cBhvr>
                                        <p:cTn id="57" dur="1" fill="hold">
                                          <p:stCondLst>
                                            <p:cond delay="0"/>
                                          </p:stCondLst>
                                        </p:cTn>
                                        <p:tgtEl>
                                          <p:spTgt spid="12"/>
                                        </p:tgtEl>
                                        <p:attrNameLst>
                                          <p:attrName>style.visibility</p:attrName>
                                        </p:attrNameLst>
                                      </p:cBhvr>
                                      <p:to>
                                        <p:strVal val="visible"/>
                                      </p:to>
                                    </p:set>
                                    <p:anim calcmode="lin" valueType="num">
                                      <p:cBhvr>
                                        <p:cTn id="58" dur="500" fill="hold" decel="100000"/>
                                        <p:tgtEl>
                                          <p:spTgt spid="12"/>
                                        </p:tgtEl>
                                        <p:attrNameLst>
                                          <p:attrName>ppt_w</p:attrName>
                                        </p:attrNameLst>
                                      </p:cBhvr>
                                      <p:tavLst>
                                        <p:tav tm="0">
                                          <p:val>
                                            <p:strVal val="#ppt_w*0.70"/>
                                          </p:val>
                                        </p:tav>
                                        <p:tav tm="100000">
                                          <p:val>
                                            <p:strVal val="#ppt_w"/>
                                          </p:val>
                                        </p:tav>
                                      </p:tavLst>
                                    </p:anim>
                                    <p:anim calcmode="lin" valueType="num">
                                      <p:cBhvr>
                                        <p:cTn id="59" dur="500" fill="hold" decel="100000"/>
                                        <p:tgtEl>
                                          <p:spTgt spid="12"/>
                                        </p:tgtEl>
                                        <p:attrNameLst>
                                          <p:attrName>ppt_h</p:attrName>
                                        </p:attrNameLst>
                                      </p:cBhvr>
                                      <p:tavLst>
                                        <p:tav tm="0">
                                          <p:val>
                                            <p:strVal val="#ppt_h*0.70"/>
                                          </p:val>
                                        </p:tav>
                                        <p:tav tm="100000">
                                          <p:val>
                                            <p:strVal val="#ppt_h"/>
                                          </p:val>
                                        </p:tav>
                                      </p:tavLst>
                                    </p:anim>
                                    <p:animEffect transition="in" filter="fade">
                                      <p:cBhvr>
                                        <p:cTn id="60" dur="500"/>
                                        <p:tgtEl>
                                          <p:spTgt spid="12"/>
                                        </p:tgtEl>
                                      </p:cBhvr>
                                    </p:animEffect>
                                  </p:childTnLst>
                                </p:cTn>
                              </p:par>
                              <p:par>
                                <p:cTn id="66" presetID="53" presetClass="entr" presetSubtype="16" fill="hold" grpId="0" nodeType="withEffect">
                                  <p:stCondLst>
                                    <p:cond delay="1460"/>
                                  </p:stCondLst>
                                  <p:childTnLst>
                                    <p:set>
                                      <p:cBhvr>
                                        <p:cTn id="62" dur="1" fill="hold">
                                          <p:stCondLst>
                                            <p:cond delay="0"/>
                                          </p:stCondLst>
                                        </p:cTn>
                                        <p:tgtEl>
                                          <p:spTgt spid="13"/>
                                        </p:tgtEl>
                                        <p:attrNameLst>
                                          <p:attrName>style.visibility</p:attrName>
                                        </p:attrNameLst>
                                      </p:cBhvr>
                                      <p:to>
                                        <p:strVal val="visible"/>
                                      </p:to>
                                    </p:set>
                                    <p:anim calcmode="lin" valueType="num">
                                      <p:cBhvr>
                                        <p:cTn id="63" dur="500" fill="hold" decel="100000"/>
                                        <p:tgtEl>
                                          <p:spTgt spid="13"/>
                                        </p:tgtEl>
                                        <p:attrNameLst>
                                          <p:attrName>ppt_w</p:attrName>
                                        </p:attrNameLst>
                                      </p:cBhvr>
                                      <p:tavLst>
                                        <p:tav tm="0">
                                          <p:val>
                                            <p:strVal val="#ppt_w*0.70"/>
                                          </p:val>
                                        </p:tav>
                                        <p:tav tm="100000">
                                          <p:val>
                                            <p:strVal val="#ppt_w"/>
                                          </p:val>
                                        </p:tav>
                                      </p:tavLst>
                                    </p:anim>
                                    <p:anim calcmode="lin" valueType="num">
                                      <p:cBhvr>
                                        <p:cTn id="64" dur="500" fill="hold" decel="100000"/>
                                        <p:tgtEl>
                                          <p:spTgt spid="13"/>
                                        </p:tgtEl>
                                        <p:attrNameLst>
                                          <p:attrName>ppt_h</p:attrName>
                                        </p:attrNameLst>
                                      </p:cBhvr>
                                      <p:tavLst>
                                        <p:tav tm="0">
                                          <p:val>
                                            <p:strVal val="#ppt_h*0.70"/>
                                          </p:val>
                                        </p:tav>
                                        <p:tav tm="100000">
                                          <p:val>
                                            <p:strVal val="#ppt_h"/>
                                          </p:val>
                                        </p:tav>
                                      </p:tavLst>
                                    </p:anim>
                                    <p:animEffect transition="in" filter="fade">
                                      <p:cBhvr>
                                        <p:cTn id="65" dur="500"/>
                                        <p:tgtEl>
                                          <p:spTgt spid="13"/>
                                        </p:tgtEl>
                                      </p:cBhvr>
                                    </p:animEffect>
                                  </p:childTnLst>
                                </p:cTn>
                              </p:par>
                              <p:par>
                                <p:cTn id="71" presetID="53" presetClass="entr" presetSubtype="16" fill="hold" grpId="0" nodeType="withEffect">
                                  <p:stCondLst>
                                    <p:cond delay="1530"/>
                                  </p:stCondLst>
                                  <p:childTnLst>
                                    <p:set>
                                      <p:cBhvr>
                                        <p:cTn id="67" dur="1" fill="hold">
                                          <p:stCondLst>
                                            <p:cond delay="0"/>
                                          </p:stCondLst>
                                        </p:cTn>
                                        <p:tgtEl>
                                          <p:spTgt spid="14"/>
                                        </p:tgtEl>
                                        <p:attrNameLst>
                                          <p:attrName>style.visibility</p:attrName>
                                        </p:attrNameLst>
                                      </p:cBhvr>
                                      <p:to>
                                        <p:strVal val="visible"/>
                                      </p:to>
                                    </p:set>
                                    <p:anim calcmode="lin" valueType="num">
                                      <p:cBhvr>
                                        <p:cTn id="68" dur="500" fill="hold" decel="100000"/>
                                        <p:tgtEl>
                                          <p:spTgt spid="14"/>
                                        </p:tgtEl>
                                        <p:attrNameLst>
                                          <p:attrName>ppt_w</p:attrName>
                                        </p:attrNameLst>
                                      </p:cBhvr>
                                      <p:tavLst>
                                        <p:tav tm="0">
                                          <p:val>
                                            <p:strVal val="#ppt_w*0.70"/>
                                          </p:val>
                                        </p:tav>
                                        <p:tav tm="100000">
                                          <p:val>
                                            <p:strVal val="#ppt_w"/>
                                          </p:val>
                                        </p:tav>
                                      </p:tavLst>
                                    </p:anim>
                                    <p:anim calcmode="lin" valueType="num">
                                      <p:cBhvr>
                                        <p:cTn id="69" dur="500" fill="hold" decel="100000"/>
                                        <p:tgtEl>
                                          <p:spTgt spid="14"/>
                                        </p:tgtEl>
                                        <p:attrNameLst>
                                          <p:attrName>ppt_h</p:attrName>
                                        </p:attrNameLst>
                                      </p:cBhvr>
                                      <p:tavLst>
                                        <p:tav tm="0">
                                          <p:val>
                                            <p:strVal val="#ppt_h*0.70"/>
                                          </p:val>
                                        </p:tav>
                                        <p:tav tm="100000">
                                          <p:val>
                                            <p:strVal val="#ppt_h"/>
                                          </p:val>
                                        </p:tav>
                                      </p:tavLst>
                                    </p:anim>
                                    <p:animEffect transition="in" filter="fade">
                                      <p:cBhvr>
                                        <p:cTn id="70" dur="500"/>
                                        <p:tgtEl>
                                          <p:spTgt spid="14"/>
                                        </p:tgtEl>
                                      </p:cBhvr>
                                    </p:animEffect>
                                  </p:childTnLst>
                                </p:cTn>
                              </p:par>
                              <p:par>
                                <p:cTn id="76" presetID="53" presetClass="entr" presetSubtype="16" fill="hold" grpId="0" nodeType="withEffect">
                                  <p:stCondLst>
                                    <p:cond delay="1600"/>
                                  </p:stCondLst>
                                  <p:childTnLst>
                                    <p:set>
                                      <p:cBhvr>
                                        <p:cTn id="72" dur="1" fill="hold">
                                          <p:stCondLst>
                                            <p:cond delay="0"/>
                                          </p:stCondLst>
                                        </p:cTn>
                                        <p:tgtEl>
                                          <p:spTgt spid="15"/>
                                        </p:tgtEl>
                                        <p:attrNameLst>
                                          <p:attrName>style.visibility</p:attrName>
                                        </p:attrNameLst>
                                      </p:cBhvr>
                                      <p:to>
                                        <p:strVal val="visible"/>
                                      </p:to>
                                    </p:set>
                                    <p:anim calcmode="lin" valueType="num">
                                      <p:cBhvr>
                                        <p:cTn id="73" dur="500" fill="hold" decel="100000"/>
                                        <p:tgtEl>
                                          <p:spTgt spid="15"/>
                                        </p:tgtEl>
                                        <p:attrNameLst>
                                          <p:attrName>ppt_w</p:attrName>
                                        </p:attrNameLst>
                                      </p:cBhvr>
                                      <p:tavLst>
                                        <p:tav tm="0">
                                          <p:val>
                                            <p:strVal val="#ppt_w*0.70"/>
                                          </p:val>
                                        </p:tav>
                                        <p:tav tm="100000">
                                          <p:val>
                                            <p:strVal val="#ppt_w"/>
                                          </p:val>
                                        </p:tav>
                                      </p:tavLst>
                                    </p:anim>
                                    <p:anim calcmode="lin" valueType="num">
                                      <p:cBhvr>
                                        <p:cTn id="74" dur="500" fill="hold" decel="100000"/>
                                        <p:tgtEl>
                                          <p:spTgt spid="15"/>
                                        </p:tgtEl>
                                        <p:attrNameLst>
                                          <p:attrName>ppt_h</p:attrName>
                                        </p:attrNameLst>
                                      </p:cBhvr>
                                      <p:tavLst>
                                        <p:tav tm="0">
                                          <p:val>
                                            <p:strVal val="#ppt_h*0.70"/>
                                          </p:val>
                                        </p:tav>
                                        <p:tav tm="100000">
                                          <p:val>
                                            <p:strVal val="#ppt_h"/>
                                          </p:val>
                                        </p:tav>
                                      </p:tavLst>
                                    </p:anim>
                                    <p:animEffect transition="in" filter="fade">
                                      <p:cBhvr>
                                        <p:cTn id="75" dur="500"/>
                                        <p:tgtEl>
                                          <p:spTgt spid="15"/>
                                        </p:tgtEl>
                                      </p:cBhvr>
                                    </p:animEffect>
                                  </p:childTnLst>
                                </p:cTn>
                              </p:par>
                              <p:par>
                                <p:cTn id="81" presetID="53" presetClass="entr" presetSubtype="16" fill="hold" grpId="0" nodeType="withEffect">
                                  <p:stCondLst>
                                    <p:cond delay="1670"/>
                                  </p:stCondLst>
                                  <p:childTnLst>
                                    <p:set>
                                      <p:cBhvr>
                                        <p:cTn id="77" dur="1" fill="hold">
                                          <p:stCondLst>
                                            <p:cond delay="0"/>
                                          </p:stCondLst>
                                        </p:cTn>
                                        <p:tgtEl>
                                          <p:spTgt spid="16"/>
                                        </p:tgtEl>
                                        <p:attrNameLst>
                                          <p:attrName>style.visibility</p:attrName>
                                        </p:attrNameLst>
                                      </p:cBhvr>
                                      <p:to>
                                        <p:strVal val="visible"/>
                                      </p:to>
                                    </p:set>
                                    <p:anim calcmode="lin" valueType="num">
                                      <p:cBhvr>
                                        <p:cTn id="78" dur="500" fill="hold" decel="100000"/>
                                        <p:tgtEl>
                                          <p:spTgt spid="16"/>
                                        </p:tgtEl>
                                        <p:attrNameLst>
                                          <p:attrName>ppt_w</p:attrName>
                                        </p:attrNameLst>
                                      </p:cBhvr>
                                      <p:tavLst>
                                        <p:tav tm="0">
                                          <p:val>
                                            <p:strVal val="#ppt_w*0.70"/>
                                          </p:val>
                                        </p:tav>
                                        <p:tav tm="100000">
                                          <p:val>
                                            <p:strVal val="#ppt_w"/>
                                          </p:val>
                                        </p:tav>
                                      </p:tavLst>
                                    </p:anim>
                                    <p:anim calcmode="lin" valueType="num">
                                      <p:cBhvr>
                                        <p:cTn id="79" dur="500" fill="hold" decel="100000"/>
                                        <p:tgtEl>
                                          <p:spTgt spid="16"/>
                                        </p:tgtEl>
                                        <p:attrNameLst>
                                          <p:attrName>ppt_h</p:attrName>
                                        </p:attrNameLst>
                                      </p:cBhvr>
                                      <p:tavLst>
                                        <p:tav tm="0">
                                          <p:val>
                                            <p:strVal val="#ppt_h*0.70"/>
                                          </p:val>
                                        </p:tav>
                                        <p:tav tm="100000">
                                          <p:val>
                                            <p:strVal val="#ppt_h"/>
                                          </p:val>
                                        </p:tav>
                                      </p:tavLst>
                                    </p:anim>
                                    <p:animEffect transition="in" filter="fade">
                                      <p:cBhvr>
                                        <p:cTn id="80" dur="500"/>
                                        <p:tgtEl>
                                          <p:spTgt spid="16"/>
                                        </p:tgtEl>
                                      </p:cBhvr>
                                    </p:animEffect>
                                  </p:childTnLst>
                                </p:cTn>
                              </p:par>
                              <p:par>
                                <p:cTn id="84" presetID="10" presetClass="entr" presetSubtype="0" fill="hold" grpId="0" nodeType="withEffect">
                                  <p:stCondLst>
                                    <p:cond delay="170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600"/>
                                        <p:tgtEl>
                                          <p:spTgt spid="27"/>
                                        </p:tgtEl>
                                      </p:cBhvr>
                                    </p:animEffect>
                                  </p:childTnLst>
                                </p:cTn>
                              </p:par>
                              <p:par>
                                <p:cTn id="87" presetID="10" presetClass="entr" presetSubtype="0" fill="hold" grpId="0" nodeType="withEffect">
                                  <p:stCondLst>
                                    <p:cond delay="170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600"/>
                                        <p:tgtEl>
                                          <p:spTgt spid="28"/>
                                        </p:tgtEl>
                                      </p:cBhvr>
                                    </p:animEffect>
                                  </p:childTnLst>
                                </p:cTn>
                              </p:par>
                              <p:par>
                                <p:cTn id="90" presetID="10" presetClass="entr" presetSubtype="0" fill="hold" grpId="0" nodeType="withEffect">
                                  <p:stCondLst>
                                    <p:cond delay="170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600"/>
                                        <p:tgtEl>
                                          <p:spTgt spid="29"/>
                                        </p:tgtEl>
                                      </p:cBhvr>
                                    </p:animEffect>
                                  </p:childTnLst>
                                </p:cTn>
                              </p:par>
                              <p:par>
                                <p:cTn id="93" presetID="10" presetClass="entr" presetSubtype="0" fill="hold" grpId="0" nodeType="withEffect">
                                  <p:stCondLst>
                                    <p:cond delay="170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600"/>
                                        <p:tgtEl>
                                          <p:spTgt spid="30"/>
                                        </p:tgtEl>
                                      </p:cBhvr>
                                    </p:animEffect>
                                  </p:childTnLst>
                                </p:cTn>
                              </p:par>
                              <p:par>
                                <p:cTn id="96" presetID="10" presetClass="entr" presetSubtype="0" fill="hold" grpId="0" nodeType="withEffect">
                                  <p:stCondLst>
                                    <p:cond delay="170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600"/>
                                        <p:tgtEl>
                                          <p:spTgt spid="31"/>
                                        </p:tgtEl>
                                      </p:cBhvr>
                                    </p:animEffect>
                                  </p:childTnLst>
                                </p:cTn>
                              </p:par>
                              <p:par>
                                <p:cTn id="99" presetID="10" presetClass="entr" presetSubtype="0" fill="hold" grpId="0" nodeType="withEffect">
                                  <p:stCondLst>
                                    <p:cond delay="170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600"/>
                                        <p:tgtEl>
                                          <p:spTgt spid="32"/>
                                        </p:tgtEl>
                                      </p:cBhvr>
                                    </p:animEffect>
                                  </p:childTnLst>
                                </p:cTn>
                              </p:par>
                              <p:par>
                                <p:cTn id="102" presetID="10" presetClass="entr" presetSubtype="0" fill="hold" grpId="0" nodeType="withEffect">
                                  <p:stCondLst>
                                    <p:cond delay="170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600"/>
                                        <p:tgtEl>
                                          <p:spTgt spid="33"/>
                                        </p:tgtEl>
                                      </p:cBhvr>
                                    </p:animEffect>
                                  </p:childTnLst>
                                </p:cTn>
                              </p:par>
                              <p:par>
                                <p:cTn id="105" presetID="10" presetClass="entr" presetSubtype="0" fill="hold" grpId="0" nodeType="withEffect">
                                  <p:stCondLst>
                                    <p:cond delay="170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600"/>
                                        <p:tgtEl>
                                          <p:spTgt spid="34"/>
                                        </p:tgtEl>
                                      </p:cBhvr>
                                    </p:animEffect>
                                  </p:childTnLst>
                                </p:cTn>
                              </p:par>
                              <p:par>
                                <p:cTn id="108" presetID="10" presetClass="entr" presetSubtype="0" fill="hold" grpId="0" nodeType="withEffect">
                                  <p:stCondLst>
                                    <p:cond delay="170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600"/>
                                        <p:tgtEl>
                                          <p:spTgt spid="35"/>
                                        </p:tgtEl>
                                      </p:cBhvr>
                                    </p:animEffect>
                                  </p:childTnLst>
                                </p:cTn>
                              </p:par>
                              <p:par>
                                <p:cTn id="111" presetID="10" presetClass="entr" presetSubtype="0" fill="hold" grpId="0" nodeType="withEffect">
                                  <p:stCondLst>
                                    <p:cond delay="170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600"/>
                                        <p:tgtEl>
                                          <p:spTgt spid="36"/>
                                        </p:tgtEl>
                                      </p:cBhvr>
                                    </p:animEffect>
                                  </p:childTnLst>
                                </p:cTn>
                              </p:par>
                              <p:par>
                                <p:cTn id="114" presetID="10" presetClass="entr" presetSubtype="0" fill="hold" grpId="0" nodeType="withEffect">
                                  <p:stCondLst>
                                    <p:cond delay="1700"/>
                                  </p:stCondLst>
                                  <p:childTnLst>
                                    <p:set>
                                      <p:cBhvr>
                                        <p:cTn id="112" dur="1" fill="hold">
                                          <p:stCondLst>
                                            <p:cond delay="0"/>
                                          </p:stCondLst>
                                        </p:cTn>
                                        <p:tgtEl>
                                          <p:spTgt spid="37"/>
                                        </p:tgtEl>
                                        <p:attrNameLst>
                                          <p:attrName>style.visibility</p:attrName>
                                        </p:attrNameLst>
                                      </p:cBhvr>
                                      <p:to>
                                        <p:strVal val="visible"/>
                                      </p:to>
                                    </p:set>
                                    <p:animEffect transition="in" filter="fade">
                                      <p:cBhvr>
                                        <p:cTn id="113" dur="600"/>
                                        <p:tgtEl>
                                          <p:spTgt spid="37"/>
                                        </p:tgtEl>
                                      </p:cBhvr>
                                    </p:animEffect>
                                  </p:childTnLst>
                                </p:cTn>
                              </p:par>
                              <p:par>
                                <p:cTn id="117" presetID="10" presetClass="entr" presetSubtype="0" fill="hold" grpId="0" nodeType="withEffect">
                                  <p:stCondLst>
                                    <p:cond delay="170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6" dur="600"/>
                                        <p:tgtEl>
                                          <p:spTgt spid="38"/>
                                        </p:tgtEl>
                                      </p:cBhvr>
                                    </p:animEffect>
                                  </p:childTnLst>
                                </p:cTn>
                              </p:par>
                              <p:par>
                                <p:cTn id="120" presetID="10" presetClass="entr" presetSubtype="0" fill="hold" grpId="0" nodeType="withEffect">
                                  <p:stCondLst>
                                    <p:cond delay="170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9" dur="600"/>
                                        <p:tgtEl>
                                          <p:spTgt spid="39"/>
                                        </p:tgtEl>
                                      </p:cBhvr>
                                    </p:animEffect>
                                  </p:childTnLst>
                                </p:cTn>
                              </p:par>
                              <p:par>
                                <p:cTn id="123" presetID="10" presetClass="entr" presetSubtype="0" fill="hold" grpId="0" nodeType="withEffect">
                                  <p:stCondLst>
                                    <p:cond delay="170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600"/>
                                        <p:tgtEl>
                                          <p:spTgt spid="40"/>
                                        </p:tgtEl>
                                      </p:cBhvr>
                                    </p:animEffect>
                                  </p:childTnLst>
                                </p:cTn>
                              </p:par>
                              <p:par>
                                <p:cTn id="126" presetID="10" presetClass="entr" presetSubtype="0" fill="hold" grpId="0" nodeType="withEffect">
                                  <p:stCondLst>
                                    <p:cond delay="170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600"/>
                                        <p:tgtEl>
                                          <p:spTgt spid="41"/>
                                        </p:tgtEl>
                                      </p:cBhvr>
                                    </p:animEffect>
                                  </p:childTnLst>
                                </p:cTn>
                              </p:par>
                              <p:par>
                                <p:cTn id="131" presetID="53" presetClass="entr" presetSubtype="16" fill="hold" grpId="0" nodeType="withEffect">
                                  <p:stCondLst>
                                    <p:cond delay="1740"/>
                                  </p:stCondLst>
                                  <p:childTnLst>
                                    <p:set>
                                      <p:cBhvr>
                                        <p:cTn id="127" dur="1" fill="hold">
                                          <p:stCondLst>
                                            <p:cond delay="0"/>
                                          </p:stCondLst>
                                        </p:cTn>
                                        <p:tgtEl>
                                          <p:spTgt spid="17"/>
                                        </p:tgtEl>
                                        <p:attrNameLst>
                                          <p:attrName>style.visibility</p:attrName>
                                        </p:attrNameLst>
                                      </p:cBhvr>
                                      <p:to>
                                        <p:strVal val="visible"/>
                                      </p:to>
                                    </p:set>
                                    <p:anim calcmode="lin" valueType="num">
                                      <p:cBhvr>
                                        <p:cTn id="128" dur="500" fill="hold" decel="100000"/>
                                        <p:tgtEl>
                                          <p:spTgt spid="17"/>
                                        </p:tgtEl>
                                        <p:attrNameLst>
                                          <p:attrName>ppt_w</p:attrName>
                                        </p:attrNameLst>
                                      </p:cBhvr>
                                      <p:tavLst>
                                        <p:tav tm="0">
                                          <p:val>
                                            <p:strVal val="#ppt_w*0.70"/>
                                          </p:val>
                                        </p:tav>
                                        <p:tav tm="100000">
                                          <p:val>
                                            <p:strVal val="#ppt_w"/>
                                          </p:val>
                                        </p:tav>
                                      </p:tavLst>
                                    </p:anim>
                                    <p:anim calcmode="lin" valueType="num">
                                      <p:cBhvr>
                                        <p:cTn id="129" dur="500" fill="hold" decel="100000"/>
                                        <p:tgtEl>
                                          <p:spTgt spid="17"/>
                                        </p:tgtEl>
                                        <p:attrNameLst>
                                          <p:attrName>ppt_h</p:attrName>
                                        </p:attrNameLst>
                                      </p:cBhvr>
                                      <p:tavLst>
                                        <p:tav tm="0">
                                          <p:val>
                                            <p:strVal val="#ppt_h*0.70"/>
                                          </p:val>
                                        </p:tav>
                                        <p:tav tm="100000">
                                          <p:val>
                                            <p:strVal val="#ppt_h"/>
                                          </p:val>
                                        </p:tav>
                                      </p:tavLst>
                                    </p:anim>
                                    <p:animEffect transition="in" filter="fade">
                                      <p:cBhvr>
                                        <p:cTn id="130" dur="500"/>
                                        <p:tgtEl>
                                          <p:spTgt spid="17"/>
                                        </p:tgtEl>
                                      </p:cBhvr>
                                    </p:animEffect>
                                  </p:childTnLst>
                                </p:cTn>
                              </p:par>
                              <p:par>
                                <p:cTn id="136" presetID="53" presetClass="entr" presetSubtype="16" fill="hold" grpId="0" nodeType="withEffect">
                                  <p:stCondLst>
                                    <p:cond delay="1810"/>
                                  </p:stCondLst>
                                  <p:childTnLst>
                                    <p:set>
                                      <p:cBhvr>
                                        <p:cTn id="132" dur="1" fill="hold">
                                          <p:stCondLst>
                                            <p:cond delay="0"/>
                                          </p:stCondLst>
                                        </p:cTn>
                                        <p:tgtEl>
                                          <p:spTgt spid="18"/>
                                        </p:tgtEl>
                                        <p:attrNameLst>
                                          <p:attrName>style.visibility</p:attrName>
                                        </p:attrNameLst>
                                      </p:cBhvr>
                                      <p:to>
                                        <p:strVal val="visible"/>
                                      </p:to>
                                    </p:set>
                                    <p:anim calcmode="lin" valueType="num">
                                      <p:cBhvr>
                                        <p:cTn id="133" dur="500" fill="hold" decel="100000"/>
                                        <p:tgtEl>
                                          <p:spTgt spid="18"/>
                                        </p:tgtEl>
                                        <p:attrNameLst>
                                          <p:attrName>ppt_w</p:attrName>
                                        </p:attrNameLst>
                                      </p:cBhvr>
                                      <p:tavLst>
                                        <p:tav tm="0">
                                          <p:val>
                                            <p:strVal val="#ppt_w*0.70"/>
                                          </p:val>
                                        </p:tav>
                                        <p:tav tm="100000">
                                          <p:val>
                                            <p:strVal val="#ppt_w"/>
                                          </p:val>
                                        </p:tav>
                                      </p:tavLst>
                                    </p:anim>
                                    <p:anim calcmode="lin" valueType="num">
                                      <p:cBhvr>
                                        <p:cTn id="134" dur="500" fill="hold" decel="100000"/>
                                        <p:tgtEl>
                                          <p:spTgt spid="18"/>
                                        </p:tgtEl>
                                        <p:attrNameLst>
                                          <p:attrName>ppt_h</p:attrName>
                                        </p:attrNameLst>
                                      </p:cBhvr>
                                      <p:tavLst>
                                        <p:tav tm="0">
                                          <p:val>
                                            <p:strVal val="#ppt_h*0.70"/>
                                          </p:val>
                                        </p:tav>
                                        <p:tav tm="100000">
                                          <p:val>
                                            <p:strVal val="#ppt_h"/>
                                          </p:val>
                                        </p:tav>
                                      </p:tavLst>
                                    </p:anim>
                                    <p:animEffect transition="in" filter="fade">
                                      <p:cBhvr>
                                        <p:cTn id="135" dur="500"/>
                                        <p:tgtEl>
                                          <p:spTgt spid="18"/>
                                        </p:tgtEl>
                                      </p:cBhvr>
                                    </p:animEffect>
                                  </p:childTnLst>
                                </p:cTn>
                              </p:par>
                              <p:par>
                                <p:cTn id="141" presetID="53" presetClass="entr" presetSubtype="16" fill="hold" grpId="0" nodeType="withEffect">
                                  <p:stCondLst>
                                    <p:cond delay="1880"/>
                                  </p:stCondLst>
                                  <p:childTnLst>
                                    <p:set>
                                      <p:cBhvr>
                                        <p:cTn id="137" dur="1" fill="hold">
                                          <p:stCondLst>
                                            <p:cond delay="0"/>
                                          </p:stCondLst>
                                        </p:cTn>
                                        <p:tgtEl>
                                          <p:spTgt spid="19"/>
                                        </p:tgtEl>
                                        <p:attrNameLst>
                                          <p:attrName>style.visibility</p:attrName>
                                        </p:attrNameLst>
                                      </p:cBhvr>
                                      <p:to>
                                        <p:strVal val="visible"/>
                                      </p:to>
                                    </p:set>
                                    <p:anim calcmode="lin" valueType="num">
                                      <p:cBhvr>
                                        <p:cTn id="138" dur="500" fill="hold" decel="100000"/>
                                        <p:tgtEl>
                                          <p:spTgt spid="19"/>
                                        </p:tgtEl>
                                        <p:attrNameLst>
                                          <p:attrName>ppt_w</p:attrName>
                                        </p:attrNameLst>
                                      </p:cBhvr>
                                      <p:tavLst>
                                        <p:tav tm="0">
                                          <p:val>
                                            <p:strVal val="#ppt_w*0.70"/>
                                          </p:val>
                                        </p:tav>
                                        <p:tav tm="100000">
                                          <p:val>
                                            <p:strVal val="#ppt_w"/>
                                          </p:val>
                                        </p:tav>
                                      </p:tavLst>
                                    </p:anim>
                                    <p:anim calcmode="lin" valueType="num">
                                      <p:cBhvr>
                                        <p:cTn id="139" dur="500" fill="hold" decel="100000"/>
                                        <p:tgtEl>
                                          <p:spTgt spid="19"/>
                                        </p:tgtEl>
                                        <p:attrNameLst>
                                          <p:attrName>ppt_h</p:attrName>
                                        </p:attrNameLst>
                                      </p:cBhvr>
                                      <p:tavLst>
                                        <p:tav tm="0">
                                          <p:val>
                                            <p:strVal val="#ppt_h*0.70"/>
                                          </p:val>
                                        </p:tav>
                                        <p:tav tm="100000">
                                          <p:val>
                                            <p:strVal val="#ppt_h"/>
                                          </p:val>
                                        </p:tav>
                                      </p:tavLst>
                                    </p:anim>
                                    <p:animEffect transition="in" filter="fade">
                                      <p:cBhvr>
                                        <p:cTn id="140" dur="500"/>
                                        <p:tgtEl>
                                          <p:spTgt spid="19"/>
                                        </p:tgtEl>
                                      </p:cBhvr>
                                    </p:animEffect>
                                  </p:childTnLst>
                                </p:cTn>
                              </p:par>
                              <p:par>
                                <p:cTn id="144" presetID="10" presetClass="entr" presetSubtype="0" fill="hold" grpId="0" nodeType="withEffect">
                                  <p:stCondLst>
                                    <p:cond delay="1900"/>
                                  </p:stCondLst>
                                  <p:childTnLst>
                                    <p:set>
                                      <p:cBhvr>
                                        <p:cTn id="142" dur="1" fill="hold">
                                          <p:stCondLst>
                                            <p:cond delay="0"/>
                                          </p:stCondLst>
                                        </p:cTn>
                                        <p:tgtEl>
                                          <p:spTgt spid="45"/>
                                        </p:tgtEl>
                                        <p:attrNameLst>
                                          <p:attrName>style.visibility</p:attrName>
                                        </p:attrNameLst>
                                      </p:cBhvr>
                                      <p:to>
                                        <p:strVal val="visible"/>
                                      </p:to>
                                    </p:set>
                                    <p:animEffect transition="in" filter="fade">
                                      <p:cBhvr>
                                        <p:cTn id="143" dur="600"/>
                                        <p:tgtEl>
                                          <p:spTgt spid="45"/>
                                        </p:tgtEl>
                                      </p:cBhvr>
                                    </p:animEffect>
                                  </p:childTnLst>
                                </p:cTn>
                              </p:par>
                              <p:par>
                                <p:cTn id="149" presetID="53" presetClass="entr" presetSubtype="16" fill="hold" grpId="0" nodeType="withEffect">
                                  <p:stCondLst>
                                    <p:cond delay="1950"/>
                                  </p:stCondLst>
                                  <p:childTnLst>
                                    <p:set>
                                      <p:cBhvr>
                                        <p:cTn id="145" dur="1" fill="hold">
                                          <p:stCondLst>
                                            <p:cond delay="0"/>
                                          </p:stCondLst>
                                        </p:cTn>
                                        <p:tgtEl>
                                          <p:spTgt spid="20"/>
                                        </p:tgtEl>
                                        <p:attrNameLst>
                                          <p:attrName>style.visibility</p:attrName>
                                        </p:attrNameLst>
                                      </p:cBhvr>
                                      <p:to>
                                        <p:strVal val="visible"/>
                                      </p:to>
                                    </p:set>
                                    <p:anim calcmode="lin" valueType="num">
                                      <p:cBhvr>
                                        <p:cTn id="146" dur="500" fill="hold" decel="100000"/>
                                        <p:tgtEl>
                                          <p:spTgt spid="20"/>
                                        </p:tgtEl>
                                        <p:attrNameLst>
                                          <p:attrName>ppt_w</p:attrName>
                                        </p:attrNameLst>
                                      </p:cBhvr>
                                      <p:tavLst>
                                        <p:tav tm="0">
                                          <p:val>
                                            <p:strVal val="#ppt_w*0.70"/>
                                          </p:val>
                                        </p:tav>
                                        <p:tav tm="100000">
                                          <p:val>
                                            <p:strVal val="#ppt_w"/>
                                          </p:val>
                                        </p:tav>
                                      </p:tavLst>
                                    </p:anim>
                                    <p:anim calcmode="lin" valueType="num">
                                      <p:cBhvr>
                                        <p:cTn id="147" dur="500" fill="hold" decel="100000"/>
                                        <p:tgtEl>
                                          <p:spTgt spid="20"/>
                                        </p:tgtEl>
                                        <p:attrNameLst>
                                          <p:attrName>ppt_h</p:attrName>
                                        </p:attrNameLst>
                                      </p:cBhvr>
                                      <p:tavLst>
                                        <p:tav tm="0">
                                          <p:val>
                                            <p:strVal val="#ppt_h*0.70"/>
                                          </p:val>
                                        </p:tav>
                                        <p:tav tm="100000">
                                          <p:val>
                                            <p:strVal val="#ppt_h"/>
                                          </p:val>
                                        </p:tav>
                                      </p:tavLst>
                                    </p:anim>
                                    <p:animEffect transition="in" filter="fade">
                                      <p:cBhvr>
                                        <p:cTn id="148" dur="500"/>
                                        <p:tgtEl>
                                          <p:spTgt spid="20"/>
                                        </p:tgtEl>
                                      </p:cBhvr>
                                    </p:animEffect>
                                  </p:childTnLst>
                                </p:cTn>
                              </p:par>
                              <p:par>
                                <p:cTn id="154" presetID="42" presetClass="entr" presetSubtype="0" fill="hold" grpId="0" nodeType="withEffect">
                                  <p:stCondLst>
                                    <p:cond delay="2000"/>
                                  </p:stCondLst>
                                  <p:childTnLst>
                                    <p:set>
                                      <p:cBhvr>
                                        <p:cTn id="150" dur="1" fill="hold">
                                          <p:stCondLst>
                                            <p:cond delay="0"/>
                                          </p:stCondLst>
                                        </p:cTn>
                                        <p:tgtEl>
                                          <p:spTgt spid="47"/>
                                        </p:tgtEl>
                                        <p:attrNameLst>
                                          <p:attrName>style.visibility</p:attrName>
                                        </p:attrNameLst>
                                      </p:cBhvr>
                                      <p:to>
                                        <p:strVal val="visible"/>
                                      </p:to>
                                    </p:set>
                                    <p:animEffect transition="in" filter="fade">
                                      <p:cBhvr>
                                        <p:cTn id="151" dur="600"/>
                                        <p:tgtEl>
                                          <p:spTgt spid="47"/>
                                        </p:tgtEl>
                                      </p:cBhvr>
                                    </p:animEffect>
                                    <p:anim calcmode="lin" valueType="num">
                                      <p:cBhvr>
                                        <p:cTn id="152" dur="600" fill="hold" decel="100000"/>
                                        <p:tgtEl>
                                          <p:spTgt spid="47"/>
                                        </p:tgtEl>
                                        <p:attrNameLst>
                                          <p:attrName>ppt_x</p:attrName>
                                        </p:attrNameLst>
                                      </p:cBhvr>
                                      <p:tavLst>
                                        <p:tav tm="0">
                                          <p:val>
                                            <p:strVal val="#ppt_x"/>
                                          </p:val>
                                        </p:tav>
                                        <p:tav tm="100000">
                                          <p:val>
                                            <p:strVal val="#ppt_x"/>
                                          </p:val>
                                        </p:tav>
                                      </p:tavLst>
                                    </p:anim>
                                    <p:anim calcmode="lin" valueType="num">
                                      <p:cBhvr>
                                        <p:cTn id="153" dur="600" fill="hold" decel="100000"/>
                                        <p:tgtEl>
                                          <p:spTgt spid="47"/>
                                        </p:tgtEl>
                                        <p:attrNameLst>
                                          <p:attrName>ppt_y</p:attrName>
                                        </p:attrNameLst>
                                      </p:cBhvr>
                                      <p:tavLst>
                                        <p:tav tm="0">
                                          <p:val>
                                            <p:strVal val="#ppt_y+0.04"/>
                                          </p:val>
                                        </p:tav>
                                        <p:tav tm="100000">
                                          <p:val>
                                            <p:strVal val="#ppt_y"/>
                                          </p:val>
                                        </p:tav>
                                      </p:tavLst>
                                    </p:anim>
                                  </p:childTnLst>
                                </p:cTn>
                              </p:par>
                              <p:par>
                                <p:cTn id="159" presetID="53" presetClass="entr" presetSubtype="16" fill="hold" grpId="0" nodeType="withEffect">
                                  <p:stCondLst>
                                    <p:cond delay="2000"/>
                                  </p:stCondLst>
                                  <p:childTnLst>
                                    <p:set>
                                      <p:cBhvr>
                                        <p:cTn id="155" dur="1" fill="hold">
                                          <p:stCondLst>
                                            <p:cond delay="0"/>
                                          </p:stCondLst>
                                        </p:cTn>
                                        <p:tgtEl>
                                          <p:spTgt spid="48"/>
                                        </p:tgtEl>
                                        <p:attrNameLst>
                                          <p:attrName>style.visibility</p:attrName>
                                        </p:attrNameLst>
                                      </p:cBhvr>
                                      <p:to>
                                        <p:strVal val="visible"/>
                                      </p:to>
                                    </p:set>
                                    <p:anim calcmode="lin" valueType="num">
                                      <p:cBhvr>
                                        <p:cTn id="156" dur="600" fill="hold" decel="100000"/>
                                        <p:tgtEl>
                                          <p:spTgt spid="48"/>
                                        </p:tgtEl>
                                        <p:attrNameLst>
                                          <p:attrName>ppt_w</p:attrName>
                                        </p:attrNameLst>
                                      </p:cBhvr>
                                      <p:tavLst>
                                        <p:tav tm="0">
                                          <p:val>
                                            <p:strVal val="#ppt_w*0.70"/>
                                          </p:val>
                                        </p:tav>
                                        <p:tav tm="100000">
                                          <p:val>
                                            <p:strVal val="#ppt_w"/>
                                          </p:val>
                                        </p:tav>
                                      </p:tavLst>
                                    </p:anim>
                                    <p:anim calcmode="lin" valueType="num">
                                      <p:cBhvr>
                                        <p:cTn id="157" dur="600" fill="hold" decel="100000"/>
                                        <p:tgtEl>
                                          <p:spTgt spid="48"/>
                                        </p:tgtEl>
                                        <p:attrNameLst>
                                          <p:attrName>ppt_h</p:attrName>
                                        </p:attrNameLst>
                                      </p:cBhvr>
                                      <p:tavLst>
                                        <p:tav tm="0">
                                          <p:val>
                                            <p:strVal val="#ppt_h*0.70"/>
                                          </p:val>
                                        </p:tav>
                                        <p:tav tm="100000">
                                          <p:val>
                                            <p:strVal val="#ppt_h"/>
                                          </p:val>
                                        </p:tav>
                                      </p:tavLst>
                                    </p:anim>
                                    <p:animEffect transition="in" filter="fade">
                                      <p:cBhvr>
                                        <p:cTn id="158" dur="600"/>
                                        <p:tgtEl>
                                          <p:spTgt spid="48"/>
                                        </p:tgtEl>
                                      </p:cBhvr>
                                    </p:animEffect>
                                  </p:childTnLst>
                                </p:cTn>
                              </p:par>
                              <p:par>
                                <p:cTn id="164" presetID="53" presetClass="entr" presetSubtype="16" fill="hold" grpId="0" nodeType="withEffect">
                                  <p:stCondLst>
                                    <p:cond delay="2020"/>
                                  </p:stCondLst>
                                  <p:childTnLst>
                                    <p:set>
                                      <p:cBhvr>
                                        <p:cTn id="160" dur="1" fill="hold">
                                          <p:stCondLst>
                                            <p:cond delay="0"/>
                                          </p:stCondLst>
                                        </p:cTn>
                                        <p:tgtEl>
                                          <p:spTgt spid="21"/>
                                        </p:tgtEl>
                                        <p:attrNameLst>
                                          <p:attrName>style.visibility</p:attrName>
                                        </p:attrNameLst>
                                      </p:cBhvr>
                                      <p:to>
                                        <p:strVal val="visible"/>
                                      </p:to>
                                    </p:set>
                                    <p:anim calcmode="lin" valueType="num">
                                      <p:cBhvr>
                                        <p:cTn id="161" dur="500" fill="hold" decel="100000"/>
                                        <p:tgtEl>
                                          <p:spTgt spid="21"/>
                                        </p:tgtEl>
                                        <p:attrNameLst>
                                          <p:attrName>ppt_w</p:attrName>
                                        </p:attrNameLst>
                                      </p:cBhvr>
                                      <p:tavLst>
                                        <p:tav tm="0">
                                          <p:val>
                                            <p:strVal val="#ppt_w*0.70"/>
                                          </p:val>
                                        </p:tav>
                                        <p:tav tm="100000">
                                          <p:val>
                                            <p:strVal val="#ppt_w"/>
                                          </p:val>
                                        </p:tav>
                                      </p:tavLst>
                                    </p:anim>
                                    <p:anim calcmode="lin" valueType="num">
                                      <p:cBhvr>
                                        <p:cTn id="162" dur="500" fill="hold" decel="100000"/>
                                        <p:tgtEl>
                                          <p:spTgt spid="21"/>
                                        </p:tgtEl>
                                        <p:attrNameLst>
                                          <p:attrName>ppt_h</p:attrName>
                                        </p:attrNameLst>
                                      </p:cBhvr>
                                      <p:tavLst>
                                        <p:tav tm="0">
                                          <p:val>
                                            <p:strVal val="#ppt_h*0.70"/>
                                          </p:val>
                                        </p:tav>
                                        <p:tav tm="100000">
                                          <p:val>
                                            <p:strVal val="#ppt_h"/>
                                          </p:val>
                                        </p:tav>
                                      </p:tavLst>
                                    </p:anim>
                                    <p:animEffect transition="in" filter="fade">
                                      <p:cBhvr>
                                        <p:cTn id="163" dur="500"/>
                                        <p:tgtEl>
                                          <p:spTgt spid="21"/>
                                        </p:tgtEl>
                                      </p:cBhvr>
                                    </p:animEffect>
                                  </p:childTnLst>
                                </p:cTn>
                              </p:par>
                              <p:par>
                                <p:cTn id="169" presetID="53" presetClass="entr" presetSubtype="16" fill="hold" grpId="0" nodeType="withEffect">
                                  <p:stCondLst>
                                    <p:cond delay="2090"/>
                                  </p:stCondLst>
                                  <p:childTnLst>
                                    <p:set>
                                      <p:cBhvr>
                                        <p:cTn id="165" dur="1" fill="hold">
                                          <p:stCondLst>
                                            <p:cond delay="0"/>
                                          </p:stCondLst>
                                        </p:cTn>
                                        <p:tgtEl>
                                          <p:spTgt spid="22"/>
                                        </p:tgtEl>
                                        <p:attrNameLst>
                                          <p:attrName>style.visibility</p:attrName>
                                        </p:attrNameLst>
                                      </p:cBhvr>
                                      <p:to>
                                        <p:strVal val="visible"/>
                                      </p:to>
                                    </p:set>
                                    <p:anim calcmode="lin" valueType="num">
                                      <p:cBhvr>
                                        <p:cTn id="166" dur="500" fill="hold" decel="100000"/>
                                        <p:tgtEl>
                                          <p:spTgt spid="22"/>
                                        </p:tgtEl>
                                        <p:attrNameLst>
                                          <p:attrName>ppt_w</p:attrName>
                                        </p:attrNameLst>
                                      </p:cBhvr>
                                      <p:tavLst>
                                        <p:tav tm="0">
                                          <p:val>
                                            <p:strVal val="#ppt_w*0.70"/>
                                          </p:val>
                                        </p:tav>
                                        <p:tav tm="100000">
                                          <p:val>
                                            <p:strVal val="#ppt_w"/>
                                          </p:val>
                                        </p:tav>
                                      </p:tavLst>
                                    </p:anim>
                                    <p:anim calcmode="lin" valueType="num">
                                      <p:cBhvr>
                                        <p:cTn id="167" dur="500" fill="hold" decel="100000"/>
                                        <p:tgtEl>
                                          <p:spTgt spid="22"/>
                                        </p:tgtEl>
                                        <p:attrNameLst>
                                          <p:attrName>ppt_h</p:attrName>
                                        </p:attrNameLst>
                                      </p:cBhvr>
                                      <p:tavLst>
                                        <p:tav tm="0">
                                          <p:val>
                                            <p:strVal val="#ppt_h*0.70"/>
                                          </p:val>
                                        </p:tav>
                                        <p:tav tm="100000">
                                          <p:val>
                                            <p:strVal val="#ppt_h"/>
                                          </p:val>
                                        </p:tav>
                                      </p:tavLst>
                                    </p:anim>
                                    <p:animEffect transition="in" filter="fade">
                                      <p:cBhvr>
                                        <p:cTn id="168" dur="500"/>
                                        <p:tgtEl>
                                          <p:spTgt spid="22"/>
                                        </p:tgtEl>
                                      </p:cBhvr>
                                    </p:animEffect>
                                  </p:childTnLst>
                                </p:cTn>
                              </p:par>
                              <p:par>
                                <p:cTn id="172" presetID="10" presetClass="entr" presetSubtype="0" fill="hold" grpId="0" nodeType="withEffect">
                                  <p:stCondLst>
                                    <p:cond delay="210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600"/>
                                        <p:tgtEl>
                                          <p:spTgt spid="46"/>
                                        </p:tgtEl>
                                      </p:cBhvr>
                                    </p:animEffect>
                                  </p:childTnLst>
                                </p:cTn>
                              </p:par>
                              <p:par>
                                <p:cTn id="177" presetID="42" presetClass="entr" presetSubtype="0" fill="hold" grpId="0" nodeType="withEffect">
                                  <p:stCondLst>
                                    <p:cond delay="2150"/>
                                  </p:stCondLst>
                                  <p:childTnLst>
                                    <p:set>
                                      <p:cBhvr>
                                        <p:cTn id="173" dur="1" fill="hold">
                                          <p:stCondLst>
                                            <p:cond delay="0"/>
                                          </p:stCondLst>
                                        </p:cTn>
                                        <p:tgtEl>
                                          <p:spTgt spid="50"/>
                                        </p:tgtEl>
                                        <p:attrNameLst>
                                          <p:attrName>style.visibility</p:attrName>
                                        </p:attrNameLst>
                                      </p:cBhvr>
                                      <p:to>
                                        <p:strVal val="visible"/>
                                      </p:to>
                                    </p:set>
                                    <p:animEffect transition="in" filter="fade">
                                      <p:cBhvr>
                                        <p:cTn id="174" dur="600"/>
                                        <p:tgtEl>
                                          <p:spTgt spid="50"/>
                                        </p:tgtEl>
                                      </p:cBhvr>
                                    </p:animEffect>
                                    <p:anim calcmode="lin" valueType="num">
                                      <p:cBhvr>
                                        <p:cTn id="175" dur="600" fill="hold" decel="100000"/>
                                        <p:tgtEl>
                                          <p:spTgt spid="50"/>
                                        </p:tgtEl>
                                        <p:attrNameLst>
                                          <p:attrName>ppt_x</p:attrName>
                                        </p:attrNameLst>
                                      </p:cBhvr>
                                      <p:tavLst>
                                        <p:tav tm="0">
                                          <p:val>
                                            <p:strVal val="#ppt_x"/>
                                          </p:val>
                                        </p:tav>
                                        <p:tav tm="100000">
                                          <p:val>
                                            <p:strVal val="#ppt_x"/>
                                          </p:val>
                                        </p:tav>
                                      </p:tavLst>
                                    </p:anim>
                                    <p:anim calcmode="lin" valueType="num">
                                      <p:cBhvr>
                                        <p:cTn id="176" dur="600" fill="hold" decel="100000"/>
                                        <p:tgtEl>
                                          <p:spTgt spid="50"/>
                                        </p:tgtEl>
                                        <p:attrNameLst>
                                          <p:attrName>ppt_y</p:attrName>
                                        </p:attrNameLst>
                                      </p:cBhvr>
                                      <p:tavLst>
                                        <p:tav tm="0">
                                          <p:val>
                                            <p:strVal val="#ppt_y+0.04"/>
                                          </p:val>
                                        </p:tav>
                                        <p:tav tm="100000">
                                          <p:val>
                                            <p:strVal val="#ppt_y"/>
                                          </p:val>
                                        </p:tav>
                                      </p:tavLst>
                                    </p:anim>
                                  </p:childTnLst>
                                </p:cTn>
                              </p:par>
                              <p:par>
                                <p:cTn id="182" presetID="53" presetClass="entr" presetSubtype="16" fill="hold" grpId="0" nodeType="withEffect">
                                  <p:stCondLst>
                                    <p:cond delay="2150"/>
                                  </p:stCondLst>
                                  <p:childTnLst>
                                    <p:set>
                                      <p:cBhvr>
                                        <p:cTn id="178" dur="1" fill="hold">
                                          <p:stCondLst>
                                            <p:cond delay="0"/>
                                          </p:stCondLst>
                                        </p:cTn>
                                        <p:tgtEl>
                                          <p:spTgt spid="51"/>
                                        </p:tgtEl>
                                        <p:attrNameLst>
                                          <p:attrName>style.visibility</p:attrName>
                                        </p:attrNameLst>
                                      </p:cBhvr>
                                      <p:to>
                                        <p:strVal val="visible"/>
                                      </p:to>
                                    </p:set>
                                    <p:anim calcmode="lin" valueType="num">
                                      <p:cBhvr>
                                        <p:cTn id="179" dur="600" fill="hold" decel="100000"/>
                                        <p:tgtEl>
                                          <p:spTgt spid="51"/>
                                        </p:tgtEl>
                                        <p:attrNameLst>
                                          <p:attrName>ppt_w</p:attrName>
                                        </p:attrNameLst>
                                      </p:cBhvr>
                                      <p:tavLst>
                                        <p:tav tm="0">
                                          <p:val>
                                            <p:strVal val="#ppt_w*0.70"/>
                                          </p:val>
                                        </p:tav>
                                        <p:tav tm="100000">
                                          <p:val>
                                            <p:strVal val="#ppt_w"/>
                                          </p:val>
                                        </p:tav>
                                      </p:tavLst>
                                    </p:anim>
                                    <p:anim calcmode="lin" valueType="num">
                                      <p:cBhvr>
                                        <p:cTn id="180" dur="600" fill="hold" decel="100000"/>
                                        <p:tgtEl>
                                          <p:spTgt spid="51"/>
                                        </p:tgtEl>
                                        <p:attrNameLst>
                                          <p:attrName>ppt_h</p:attrName>
                                        </p:attrNameLst>
                                      </p:cBhvr>
                                      <p:tavLst>
                                        <p:tav tm="0">
                                          <p:val>
                                            <p:strVal val="#ppt_h*0.70"/>
                                          </p:val>
                                        </p:tav>
                                        <p:tav tm="100000">
                                          <p:val>
                                            <p:strVal val="#ppt_h"/>
                                          </p:val>
                                        </p:tav>
                                      </p:tavLst>
                                    </p:anim>
                                    <p:animEffect transition="in" filter="fade">
                                      <p:cBhvr>
                                        <p:cTn id="181" dur="600"/>
                                        <p:tgtEl>
                                          <p:spTgt spid="51"/>
                                        </p:tgtEl>
                                      </p:cBhvr>
                                    </p:animEffect>
                                  </p:childTnLst>
                                </p:cTn>
                              </p:par>
                              <p:par>
                                <p:cTn id="187" presetID="53" presetClass="entr" presetSubtype="16" fill="hold" grpId="0" nodeType="withEffect">
                                  <p:stCondLst>
                                    <p:cond delay="2160"/>
                                  </p:stCondLst>
                                  <p:childTnLst>
                                    <p:set>
                                      <p:cBhvr>
                                        <p:cTn id="183" dur="1" fill="hold">
                                          <p:stCondLst>
                                            <p:cond delay="0"/>
                                          </p:stCondLst>
                                        </p:cTn>
                                        <p:tgtEl>
                                          <p:spTgt spid="23"/>
                                        </p:tgtEl>
                                        <p:attrNameLst>
                                          <p:attrName>style.visibility</p:attrName>
                                        </p:attrNameLst>
                                      </p:cBhvr>
                                      <p:to>
                                        <p:strVal val="visible"/>
                                      </p:to>
                                    </p:set>
                                    <p:anim calcmode="lin" valueType="num">
                                      <p:cBhvr>
                                        <p:cTn id="184" dur="500" fill="hold" decel="100000"/>
                                        <p:tgtEl>
                                          <p:spTgt spid="23"/>
                                        </p:tgtEl>
                                        <p:attrNameLst>
                                          <p:attrName>ppt_w</p:attrName>
                                        </p:attrNameLst>
                                      </p:cBhvr>
                                      <p:tavLst>
                                        <p:tav tm="0">
                                          <p:val>
                                            <p:strVal val="#ppt_w*0.70"/>
                                          </p:val>
                                        </p:tav>
                                        <p:tav tm="100000">
                                          <p:val>
                                            <p:strVal val="#ppt_w"/>
                                          </p:val>
                                        </p:tav>
                                      </p:tavLst>
                                    </p:anim>
                                    <p:anim calcmode="lin" valueType="num">
                                      <p:cBhvr>
                                        <p:cTn id="185" dur="500" fill="hold" decel="100000"/>
                                        <p:tgtEl>
                                          <p:spTgt spid="23"/>
                                        </p:tgtEl>
                                        <p:attrNameLst>
                                          <p:attrName>ppt_h</p:attrName>
                                        </p:attrNameLst>
                                      </p:cBhvr>
                                      <p:tavLst>
                                        <p:tav tm="0">
                                          <p:val>
                                            <p:strVal val="#ppt_h*0.70"/>
                                          </p:val>
                                        </p:tav>
                                        <p:tav tm="100000">
                                          <p:val>
                                            <p:strVal val="#ppt_h"/>
                                          </p:val>
                                        </p:tav>
                                      </p:tavLst>
                                    </p:anim>
                                    <p:animEffect transition="in" filter="fade">
                                      <p:cBhvr>
                                        <p:cTn id="186" dur="500"/>
                                        <p:tgtEl>
                                          <p:spTgt spid="23"/>
                                        </p:tgtEl>
                                      </p:cBhvr>
                                    </p:animEffect>
                                  </p:childTnLst>
                                </p:cTn>
                              </p:par>
                              <p:par>
                                <p:cTn id="192" presetID="53" presetClass="entr" presetSubtype="16" fill="hold" grpId="0" nodeType="withEffect">
                                  <p:stCondLst>
                                    <p:cond delay="2230"/>
                                  </p:stCondLst>
                                  <p:childTnLst>
                                    <p:set>
                                      <p:cBhvr>
                                        <p:cTn id="188" dur="1" fill="hold">
                                          <p:stCondLst>
                                            <p:cond delay="0"/>
                                          </p:stCondLst>
                                        </p:cTn>
                                        <p:tgtEl>
                                          <p:spTgt spid="24"/>
                                        </p:tgtEl>
                                        <p:attrNameLst>
                                          <p:attrName>style.visibility</p:attrName>
                                        </p:attrNameLst>
                                      </p:cBhvr>
                                      <p:to>
                                        <p:strVal val="visible"/>
                                      </p:to>
                                    </p:set>
                                    <p:anim calcmode="lin" valueType="num">
                                      <p:cBhvr>
                                        <p:cTn id="189" dur="500" fill="hold" decel="100000"/>
                                        <p:tgtEl>
                                          <p:spTgt spid="24"/>
                                        </p:tgtEl>
                                        <p:attrNameLst>
                                          <p:attrName>ppt_w</p:attrName>
                                        </p:attrNameLst>
                                      </p:cBhvr>
                                      <p:tavLst>
                                        <p:tav tm="0">
                                          <p:val>
                                            <p:strVal val="#ppt_w*0.70"/>
                                          </p:val>
                                        </p:tav>
                                        <p:tav tm="100000">
                                          <p:val>
                                            <p:strVal val="#ppt_w"/>
                                          </p:val>
                                        </p:tav>
                                      </p:tavLst>
                                    </p:anim>
                                    <p:anim calcmode="lin" valueType="num">
                                      <p:cBhvr>
                                        <p:cTn id="190" dur="500" fill="hold" decel="100000"/>
                                        <p:tgtEl>
                                          <p:spTgt spid="24"/>
                                        </p:tgtEl>
                                        <p:attrNameLst>
                                          <p:attrName>ppt_h</p:attrName>
                                        </p:attrNameLst>
                                      </p:cBhvr>
                                      <p:tavLst>
                                        <p:tav tm="0">
                                          <p:val>
                                            <p:strVal val="#ppt_h*0.70"/>
                                          </p:val>
                                        </p:tav>
                                        <p:tav tm="100000">
                                          <p:val>
                                            <p:strVal val="#ppt_h"/>
                                          </p:val>
                                        </p:tav>
                                      </p:tavLst>
                                    </p:anim>
                                    <p:animEffect transition="in" filter="fade">
                                      <p:cBhvr>
                                        <p:cTn id="191" dur="500"/>
                                        <p:tgtEl>
                                          <p:spTgt spid="24"/>
                                        </p:tgtEl>
                                      </p:cBhvr>
                                    </p:animEffect>
                                  </p:childTnLst>
                                </p:cTn>
                              </p:par>
                              <p:par>
                                <p:cTn id="197" presetID="53" presetClass="entr" presetSubtype="16" fill="hold" grpId="0" nodeType="withEffect">
                                  <p:stCondLst>
                                    <p:cond delay="2300"/>
                                  </p:stCondLst>
                                  <p:childTnLst>
                                    <p:set>
                                      <p:cBhvr>
                                        <p:cTn id="193" dur="1" fill="hold">
                                          <p:stCondLst>
                                            <p:cond delay="0"/>
                                          </p:stCondLst>
                                        </p:cTn>
                                        <p:tgtEl>
                                          <p:spTgt spid="25"/>
                                        </p:tgtEl>
                                        <p:attrNameLst>
                                          <p:attrName>style.visibility</p:attrName>
                                        </p:attrNameLst>
                                      </p:cBhvr>
                                      <p:to>
                                        <p:strVal val="visible"/>
                                      </p:to>
                                    </p:set>
                                    <p:anim calcmode="lin" valueType="num">
                                      <p:cBhvr>
                                        <p:cTn id="194" dur="500" fill="hold" decel="100000"/>
                                        <p:tgtEl>
                                          <p:spTgt spid="25"/>
                                        </p:tgtEl>
                                        <p:attrNameLst>
                                          <p:attrName>ppt_w</p:attrName>
                                        </p:attrNameLst>
                                      </p:cBhvr>
                                      <p:tavLst>
                                        <p:tav tm="0">
                                          <p:val>
                                            <p:strVal val="#ppt_w*0.70"/>
                                          </p:val>
                                        </p:tav>
                                        <p:tav tm="100000">
                                          <p:val>
                                            <p:strVal val="#ppt_w"/>
                                          </p:val>
                                        </p:tav>
                                      </p:tavLst>
                                    </p:anim>
                                    <p:anim calcmode="lin" valueType="num">
                                      <p:cBhvr>
                                        <p:cTn id="195" dur="500" fill="hold" decel="100000"/>
                                        <p:tgtEl>
                                          <p:spTgt spid="25"/>
                                        </p:tgtEl>
                                        <p:attrNameLst>
                                          <p:attrName>ppt_h</p:attrName>
                                        </p:attrNameLst>
                                      </p:cBhvr>
                                      <p:tavLst>
                                        <p:tav tm="0">
                                          <p:val>
                                            <p:strVal val="#ppt_h*0.70"/>
                                          </p:val>
                                        </p:tav>
                                        <p:tav tm="100000">
                                          <p:val>
                                            <p:strVal val="#ppt_h"/>
                                          </p:val>
                                        </p:tav>
                                      </p:tavLst>
                                    </p:anim>
                                    <p:animEffect transition="in" filter="fade">
                                      <p:cBhvr>
                                        <p:cTn id="196" dur="500"/>
                                        <p:tgtEl>
                                          <p:spTgt spid="25"/>
                                        </p:tgtEl>
                                      </p:cBhvr>
                                    </p:animEffect>
                                  </p:childTnLst>
                                </p:cTn>
                              </p:par>
                              <p:par>
                                <p:cTn id="202" presetID="42" presetClass="entr" presetSubtype="0" fill="hold" grpId="0" nodeType="withEffect">
                                  <p:stCondLst>
                                    <p:cond delay="2300"/>
                                  </p:stCondLst>
                                  <p:childTnLst>
                                    <p:set>
                                      <p:cBhvr>
                                        <p:cTn id="198" dur="1" fill="hold">
                                          <p:stCondLst>
                                            <p:cond delay="0"/>
                                          </p:stCondLst>
                                        </p:cTn>
                                        <p:tgtEl>
                                          <p:spTgt spid="53"/>
                                        </p:tgtEl>
                                        <p:attrNameLst>
                                          <p:attrName>style.visibility</p:attrName>
                                        </p:attrNameLst>
                                      </p:cBhvr>
                                      <p:to>
                                        <p:strVal val="visible"/>
                                      </p:to>
                                    </p:set>
                                    <p:animEffect transition="in" filter="fade">
                                      <p:cBhvr>
                                        <p:cTn id="199" dur="600"/>
                                        <p:tgtEl>
                                          <p:spTgt spid="53"/>
                                        </p:tgtEl>
                                      </p:cBhvr>
                                    </p:animEffect>
                                    <p:anim calcmode="lin" valueType="num">
                                      <p:cBhvr>
                                        <p:cTn id="200" dur="600" fill="hold" decel="100000"/>
                                        <p:tgtEl>
                                          <p:spTgt spid="53"/>
                                        </p:tgtEl>
                                        <p:attrNameLst>
                                          <p:attrName>ppt_x</p:attrName>
                                        </p:attrNameLst>
                                      </p:cBhvr>
                                      <p:tavLst>
                                        <p:tav tm="0">
                                          <p:val>
                                            <p:strVal val="#ppt_x"/>
                                          </p:val>
                                        </p:tav>
                                        <p:tav tm="100000">
                                          <p:val>
                                            <p:strVal val="#ppt_x"/>
                                          </p:val>
                                        </p:tav>
                                      </p:tavLst>
                                    </p:anim>
                                    <p:anim calcmode="lin" valueType="num">
                                      <p:cBhvr>
                                        <p:cTn id="201" dur="600" fill="hold" decel="100000"/>
                                        <p:tgtEl>
                                          <p:spTgt spid="53"/>
                                        </p:tgtEl>
                                        <p:attrNameLst>
                                          <p:attrName>ppt_y</p:attrName>
                                        </p:attrNameLst>
                                      </p:cBhvr>
                                      <p:tavLst>
                                        <p:tav tm="0">
                                          <p:val>
                                            <p:strVal val="#ppt_y+0.04"/>
                                          </p:val>
                                        </p:tav>
                                        <p:tav tm="100000">
                                          <p:val>
                                            <p:strVal val="#ppt_y"/>
                                          </p:val>
                                        </p:tav>
                                      </p:tavLst>
                                    </p:anim>
                                  </p:childTnLst>
                                </p:cTn>
                              </p:par>
                              <p:par>
                                <p:cTn id="207" presetID="53" presetClass="entr" presetSubtype="16" fill="hold" grpId="0" nodeType="withEffect">
                                  <p:stCondLst>
                                    <p:cond delay="2300"/>
                                  </p:stCondLst>
                                  <p:childTnLst>
                                    <p:set>
                                      <p:cBhvr>
                                        <p:cTn id="203" dur="1" fill="hold">
                                          <p:stCondLst>
                                            <p:cond delay="0"/>
                                          </p:stCondLst>
                                        </p:cTn>
                                        <p:tgtEl>
                                          <p:spTgt spid="54"/>
                                        </p:tgtEl>
                                        <p:attrNameLst>
                                          <p:attrName>style.visibility</p:attrName>
                                        </p:attrNameLst>
                                      </p:cBhvr>
                                      <p:to>
                                        <p:strVal val="visible"/>
                                      </p:to>
                                    </p:set>
                                    <p:anim calcmode="lin" valueType="num">
                                      <p:cBhvr>
                                        <p:cTn id="204" dur="600" fill="hold" decel="100000"/>
                                        <p:tgtEl>
                                          <p:spTgt spid="54"/>
                                        </p:tgtEl>
                                        <p:attrNameLst>
                                          <p:attrName>ppt_w</p:attrName>
                                        </p:attrNameLst>
                                      </p:cBhvr>
                                      <p:tavLst>
                                        <p:tav tm="0">
                                          <p:val>
                                            <p:strVal val="#ppt_w*0.70"/>
                                          </p:val>
                                        </p:tav>
                                        <p:tav tm="100000">
                                          <p:val>
                                            <p:strVal val="#ppt_w"/>
                                          </p:val>
                                        </p:tav>
                                      </p:tavLst>
                                    </p:anim>
                                    <p:anim calcmode="lin" valueType="num">
                                      <p:cBhvr>
                                        <p:cTn id="205" dur="600" fill="hold" decel="100000"/>
                                        <p:tgtEl>
                                          <p:spTgt spid="54"/>
                                        </p:tgtEl>
                                        <p:attrNameLst>
                                          <p:attrName>ppt_h</p:attrName>
                                        </p:attrNameLst>
                                      </p:cBhvr>
                                      <p:tavLst>
                                        <p:tav tm="0">
                                          <p:val>
                                            <p:strVal val="#ppt_h*0.70"/>
                                          </p:val>
                                        </p:tav>
                                        <p:tav tm="100000">
                                          <p:val>
                                            <p:strVal val="#ppt_h"/>
                                          </p:val>
                                        </p:tav>
                                      </p:tavLst>
                                    </p:anim>
                                    <p:animEffect transition="in" filter="fade">
                                      <p:cBhvr>
                                        <p:cTn id="206" dur="600"/>
                                        <p:tgtEl>
                                          <p:spTgt spid="54"/>
                                        </p:tgtEl>
                                      </p:cBhvr>
                                    </p:animEffect>
                                  </p:childTnLst>
                                </p:cTn>
                              </p:par>
                              <p:par>
                                <p:cTn id="212" presetID="53" presetClass="entr" presetSubtype="16" fill="hold" grpId="0" nodeType="withEffect">
                                  <p:stCondLst>
                                    <p:cond delay="2370"/>
                                  </p:stCondLst>
                                  <p:childTnLst>
                                    <p:set>
                                      <p:cBhvr>
                                        <p:cTn id="208" dur="1" fill="hold">
                                          <p:stCondLst>
                                            <p:cond delay="0"/>
                                          </p:stCondLst>
                                        </p:cTn>
                                        <p:tgtEl>
                                          <p:spTgt spid="26"/>
                                        </p:tgtEl>
                                        <p:attrNameLst>
                                          <p:attrName>style.visibility</p:attrName>
                                        </p:attrNameLst>
                                      </p:cBhvr>
                                      <p:to>
                                        <p:strVal val="visible"/>
                                      </p:to>
                                    </p:set>
                                    <p:anim calcmode="lin" valueType="num">
                                      <p:cBhvr>
                                        <p:cTn id="209" dur="500" fill="hold" decel="100000"/>
                                        <p:tgtEl>
                                          <p:spTgt spid="26"/>
                                        </p:tgtEl>
                                        <p:attrNameLst>
                                          <p:attrName>ppt_w</p:attrName>
                                        </p:attrNameLst>
                                      </p:cBhvr>
                                      <p:tavLst>
                                        <p:tav tm="0">
                                          <p:val>
                                            <p:strVal val="#ppt_w*0.70"/>
                                          </p:val>
                                        </p:tav>
                                        <p:tav tm="100000">
                                          <p:val>
                                            <p:strVal val="#ppt_w"/>
                                          </p:val>
                                        </p:tav>
                                      </p:tavLst>
                                    </p:anim>
                                    <p:anim calcmode="lin" valueType="num">
                                      <p:cBhvr>
                                        <p:cTn id="210" dur="500" fill="hold" decel="100000"/>
                                        <p:tgtEl>
                                          <p:spTgt spid="26"/>
                                        </p:tgtEl>
                                        <p:attrNameLst>
                                          <p:attrName>ppt_h</p:attrName>
                                        </p:attrNameLst>
                                      </p:cBhvr>
                                      <p:tavLst>
                                        <p:tav tm="0">
                                          <p:val>
                                            <p:strVal val="#ppt_h*0.70"/>
                                          </p:val>
                                        </p:tav>
                                        <p:tav tm="100000">
                                          <p:val>
                                            <p:strVal val="#ppt_h"/>
                                          </p:val>
                                        </p:tav>
                                      </p:tavLst>
                                    </p:anim>
                                    <p:animEffect transition="in" filter="fade">
                                      <p:cBhvr>
                                        <p:cTn id="211" dur="500"/>
                                        <p:tgtEl>
                                          <p:spTgt spid="26"/>
                                        </p:tgtEl>
                                      </p:cBhvr>
                                    </p:animEffect>
                                  </p:childTnLst>
                                </p:cTn>
                              </p:par>
                              <p:par>
                                <p:cTn id="217" presetID="42" presetClass="entr" presetSubtype="0" fill="hold" grpId="0" nodeType="withEffect">
                                  <p:stCondLst>
                                    <p:cond delay="2450"/>
                                  </p:stCondLst>
                                  <p:childTnLst>
                                    <p:set>
                                      <p:cBhvr>
                                        <p:cTn id="213" dur="1" fill="hold">
                                          <p:stCondLst>
                                            <p:cond delay="0"/>
                                          </p:stCondLst>
                                        </p:cTn>
                                        <p:tgtEl>
                                          <p:spTgt spid="56"/>
                                        </p:tgtEl>
                                        <p:attrNameLst>
                                          <p:attrName>style.visibility</p:attrName>
                                        </p:attrNameLst>
                                      </p:cBhvr>
                                      <p:to>
                                        <p:strVal val="visible"/>
                                      </p:to>
                                    </p:set>
                                    <p:animEffect transition="in" filter="fade">
                                      <p:cBhvr>
                                        <p:cTn id="214" dur="600"/>
                                        <p:tgtEl>
                                          <p:spTgt spid="56"/>
                                        </p:tgtEl>
                                      </p:cBhvr>
                                    </p:animEffect>
                                    <p:anim calcmode="lin" valueType="num">
                                      <p:cBhvr>
                                        <p:cTn id="215" dur="600" fill="hold" decel="100000"/>
                                        <p:tgtEl>
                                          <p:spTgt spid="56"/>
                                        </p:tgtEl>
                                        <p:attrNameLst>
                                          <p:attrName>ppt_x</p:attrName>
                                        </p:attrNameLst>
                                      </p:cBhvr>
                                      <p:tavLst>
                                        <p:tav tm="0">
                                          <p:val>
                                            <p:strVal val="#ppt_x"/>
                                          </p:val>
                                        </p:tav>
                                        <p:tav tm="100000">
                                          <p:val>
                                            <p:strVal val="#ppt_x"/>
                                          </p:val>
                                        </p:tav>
                                      </p:tavLst>
                                    </p:anim>
                                    <p:anim calcmode="lin" valueType="num">
                                      <p:cBhvr>
                                        <p:cTn id="216" dur="600" fill="hold" decel="100000"/>
                                        <p:tgtEl>
                                          <p:spTgt spid="56"/>
                                        </p:tgtEl>
                                        <p:attrNameLst>
                                          <p:attrName>ppt_y</p:attrName>
                                        </p:attrNameLst>
                                      </p:cBhvr>
                                      <p:tavLst>
                                        <p:tav tm="0">
                                          <p:val>
                                            <p:strVal val="#ppt_y+0.04"/>
                                          </p:val>
                                        </p:tav>
                                        <p:tav tm="100000">
                                          <p:val>
                                            <p:strVal val="#ppt_y"/>
                                          </p:val>
                                        </p:tav>
                                      </p:tavLst>
                                    </p:anim>
                                  </p:childTnLst>
                                </p:cTn>
                              </p:par>
                              <p:par>
                                <p:cTn id="222" presetID="53" presetClass="entr" presetSubtype="16" fill="hold" grpId="0" nodeType="withEffect">
                                  <p:stCondLst>
                                    <p:cond delay="2450"/>
                                  </p:stCondLst>
                                  <p:childTnLst>
                                    <p:set>
                                      <p:cBhvr>
                                        <p:cTn id="218" dur="1" fill="hold">
                                          <p:stCondLst>
                                            <p:cond delay="0"/>
                                          </p:stCondLst>
                                        </p:cTn>
                                        <p:tgtEl>
                                          <p:spTgt spid="57"/>
                                        </p:tgtEl>
                                        <p:attrNameLst>
                                          <p:attrName>style.visibility</p:attrName>
                                        </p:attrNameLst>
                                      </p:cBhvr>
                                      <p:to>
                                        <p:strVal val="visible"/>
                                      </p:to>
                                    </p:set>
                                    <p:anim calcmode="lin" valueType="num">
                                      <p:cBhvr>
                                        <p:cTn id="219" dur="600" fill="hold" decel="100000"/>
                                        <p:tgtEl>
                                          <p:spTgt spid="57"/>
                                        </p:tgtEl>
                                        <p:attrNameLst>
                                          <p:attrName>ppt_w</p:attrName>
                                        </p:attrNameLst>
                                      </p:cBhvr>
                                      <p:tavLst>
                                        <p:tav tm="0">
                                          <p:val>
                                            <p:strVal val="#ppt_w*0.70"/>
                                          </p:val>
                                        </p:tav>
                                        <p:tav tm="100000">
                                          <p:val>
                                            <p:strVal val="#ppt_w"/>
                                          </p:val>
                                        </p:tav>
                                      </p:tavLst>
                                    </p:anim>
                                    <p:anim calcmode="lin" valueType="num">
                                      <p:cBhvr>
                                        <p:cTn id="220" dur="600" fill="hold" decel="100000"/>
                                        <p:tgtEl>
                                          <p:spTgt spid="57"/>
                                        </p:tgtEl>
                                        <p:attrNameLst>
                                          <p:attrName>ppt_h</p:attrName>
                                        </p:attrNameLst>
                                      </p:cBhvr>
                                      <p:tavLst>
                                        <p:tav tm="0">
                                          <p:val>
                                            <p:strVal val="#ppt_h*0.70"/>
                                          </p:val>
                                        </p:tav>
                                        <p:tav tm="100000">
                                          <p:val>
                                            <p:strVal val="#ppt_h"/>
                                          </p:val>
                                        </p:tav>
                                      </p:tavLst>
                                    </p:anim>
                                    <p:animEffect transition="in" filter="fade">
                                      <p:cBhvr>
                                        <p:cTn id="221" dur="6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23" restart="whenNotActive" fill="hold" evtFilter="cancelBubble" nodeType="interactiveSeq">
                <p:stCondLst>
                  <p:cond evt="onClick" delay="0">
                    <p:tgtEl>
                      <p:spTgt spid="47"/>
                    </p:tgtEl>
                  </p:cond>
                </p:stCondLst>
                <p:endSync evt="end" delay="0">
                  <p:rtn val="all"/>
                </p:endSync>
                <p:childTnLst>
                  <p:par>
                    <p:cTn id="224" fill="hold">
                      <p:stCondLst>
                        <p:cond delay="0"/>
                      </p:stCondLst>
                      <p:childTnLst>
                        <p:par>
                          <p:cTn id="225" fill="hold">
                            <p:stCondLst>
                              <p:cond delay="0"/>
                            </p:stCondLst>
                            <p:childTnLst>
                              <p:par>
                                <p:cTn id="230" presetID="53" presetClass="entr" presetSubtype="16" fill="hold" grpId="0" nodeType="clickEffect">
                                  <p:stCondLst>
                                    <p:cond delay="0"/>
                                  </p:stCondLst>
                                  <p:childTnLst>
                                    <p:set>
                                      <p:cBhvr>
                                        <p:cTn id="226" dur="1" fill="hold">
                                          <p:stCondLst>
                                            <p:cond delay="0"/>
                                          </p:stCondLst>
                                        </p:cTn>
                                        <p:tgtEl>
                                          <p:spTgt spid="49"/>
                                        </p:tgtEl>
                                        <p:attrNameLst>
                                          <p:attrName>style.visibility</p:attrName>
                                        </p:attrNameLst>
                                      </p:cBhvr>
                                      <p:to>
                                        <p:strVal val="visible"/>
                                      </p:to>
                                    </p:set>
                                    <p:anim calcmode="lin" valueType="num">
                                      <p:cBhvr>
                                        <p:cTn id="227" dur="400" fill="hold" decel="100000"/>
                                        <p:tgtEl>
                                          <p:spTgt spid="49"/>
                                        </p:tgtEl>
                                        <p:attrNameLst>
                                          <p:attrName>ppt_w</p:attrName>
                                        </p:attrNameLst>
                                      </p:cBhvr>
                                      <p:tavLst>
                                        <p:tav tm="0">
                                          <p:val>
                                            <p:strVal val="#ppt_w*0.70"/>
                                          </p:val>
                                        </p:tav>
                                        <p:tav tm="100000">
                                          <p:val>
                                            <p:strVal val="#ppt_w"/>
                                          </p:val>
                                        </p:tav>
                                      </p:tavLst>
                                    </p:anim>
                                    <p:anim calcmode="lin" valueType="num">
                                      <p:cBhvr>
                                        <p:cTn id="228" dur="400" fill="hold" decel="100000"/>
                                        <p:tgtEl>
                                          <p:spTgt spid="49"/>
                                        </p:tgtEl>
                                        <p:attrNameLst>
                                          <p:attrName>ppt_h</p:attrName>
                                        </p:attrNameLst>
                                      </p:cBhvr>
                                      <p:tavLst>
                                        <p:tav tm="0">
                                          <p:val>
                                            <p:strVal val="#ppt_h*0.70"/>
                                          </p:val>
                                        </p:tav>
                                        <p:tav tm="100000">
                                          <p:val>
                                            <p:strVal val="#ppt_h"/>
                                          </p:val>
                                        </p:tav>
                                      </p:tavLst>
                                    </p:anim>
                                    <p:animEffect transition="in" filter="fade">
                                      <p:cBhvr>
                                        <p:cTn id="229" dur="400"/>
                                        <p:tgtEl>
                                          <p:spTgt spid="49"/>
                                        </p:tgtEl>
                                      </p:cBhvr>
                                    </p:animEffect>
                                  </p:childTnLst>
                                </p:cTn>
                              </p:par>
                              <p:par>
                                <p:cTn id="233" presetID="10" presetClass="exit" presetSubtype="0" fill="hold" grpId="0" nodeType="withEffect">
                                  <p:stCondLst>
                                    <p:cond delay="0"/>
                                  </p:stCondLst>
                                  <p:childTnLst>
                                    <p:animEffect transition="out" filter="fade">
                                      <p:cBhvr>
                                        <p:cTn id="231" dur="250"/>
                                        <p:tgtEl>
                                          <p:spTgt spid="52"/>
                                        </p:tgtEl>
                                      </p:cBhvr>
                                    </p:animEffect>
                                    <p:set>
                                      <p:cBhvr>
                                        <p:cTn id="232" dur="1" fill="hold">
                                          <p:stCondLst>
                                            <p:cond delay="249"/>
                                          </p:stCondLst>
                                        </p:cTn>
                                        <p:tgtEl>
                                          <p:spTgt spid="52"/>
                                        </p:tgtEl>
                                        <p:attrNameLst>
                                          <p:attrName>style.visibility</p:attrName>
                                        </p:attrNameLst>
                                      </p:cBhvr>
                                      <p:to>
                                        <p:strVal val="hidden"/>
                                      </p:to>
                                    </p:set>
                                  </p:childTnLst>
                                </p:cTn>
                              </p:par>
                              <p:par>
                                <p:cTn id="236" presetID="10" presetClass="exit" presetSubtype="0" fill="hold" grpId="0" nodeType="withEffect">
                                  <p:stCondLst>
                                    <p:cond delay="0"/>
                                  </p:stCondLst>
                                  <p:childTnLst>
                                    <p:animEffect transition="out" filter="fade">
                                      <p:cBhvr>
                                        <p:cTn id="234" dur="250"/>
                                        <p:tgtEl>
                                          <p:spTgt spid="55"/>
                                        </p:tgtEl>
                                      </p:cBhvr>
                                    </p:animEffect>
                                    <p:set>
                                      <p:cBhvr>
                                        <p:cTn id="235" dur="1" fill="hold">
                                          <p:stCondLst>
                                            <p:cond delay="249"/>
                                          </p:stCondLst>
                                        </p:cTn>
                                        <p:tgtEl>
                                          <p:spTgt spid="55"/>
                                        </p:tgtEl>
                                        <p:attrNameLst>
                                          <p:attrName>style.visibility</p:attrName>
                                        </p:attrNameLst>
                                      </p:cBhvr>
                                      <p:to>
                                        <p:strVal val="hidden"/>
                                      </p:to>
                                    </p:set>
                                  </p:childTnLst>
                                </p:cTn>
                              </p:par>
                              <p:par>
                                <p:cTn id="239" presetID="10" presetClass="exit" presetSubtype="0" fill="hold" grpId="0" nodeType="withEffect">
                                  <p:stCondLst>
                                    <p:cond delay="0"/>
                                  </p:stCondLst>
                                  <p:childTnLst>
                                    <p:animEffect transition="out" filter="fade">
                                      <p:cBhvr>
                                        <p:cTn id="237" dur="250"/>
                                        <p:tgtEl>
                                          <p:spTgt spid="58"/>
                                        </p:tgtEl>
                                      </p:cBhvr>
                                    </p:animEffect>
                                    <p:set>
                                      <p:cBhvr>
                                        <p:cTn id="238" dur="1" fill="hold">
                                          <p:stCondLst>
                                            <p:cond delay="249"/>
                                          </p:stCondLst>
                                        </p:cTn>
                                        <p:tgtEl>
                                          <p:spTgt spid="58"/>
                                        </p:tgtEl>
                                        <p:attrNameLst>
                                          <p:attrName>style.visibility</p:attrName>
                                        </p:attrNameLst>
                                      </p:cBhvr>
                                      <p:to>
                                        <p:strVal val="hidden"/>
                                      </p:to>
                                    </p:set>
                                  </p:childTnLst>
                                </p:cTn>
                              </p:par>
                            </p:childTnLst>
                          </p:cTn>
                        </p:par>
                      </p:childTnLst>
                    </p:cTn>
                  </p:par>
                </p:childTnLst>
              </p:cTn>
              <p:nextCondLst>
                <p:cond evt="onClick" delay="0">
                  <p:tgtEl>
                    <p:spTgt spid="47"/>
                  </p:tgtEl>
                </p:cond>
              </p:nextCondLst>
            </p:seq>
            <p:seq concurrent="1" nextAc="seek">
              <p:cTn id="240" restart="whenNotActive" fill="hold" evtFilter="cancelBubble" nodeType="interactiveSeq">
                <p:stCondLst>
                  <p:cond evt="onClick" delay="0">
                    <p:tgtEl>
                      <p:spTgt spid="50"/>
                    </p:tgtEl>
                  </p:cond>
                </p:stCondLst>
                <p:endSync evt="end" delay="0">
                  <p:rtn val="all"/>
                </p:endSync>
                <p:childTnLst>
                  <p:par>
                    <p:cTn id="241" fill="hold">
                      <p:stCondLst>
                        <p:cond delay="0"/>
                      </p:stCondLst>
                      <p:childTnLst>
                        <p:par>
                          <p:cTn id="242" fill="hold">
                            <p:stCondLst>
                              <p:cond delay="0"/>
                            </p:stCondLst>
                            <p:childTnLst>
                              <p:par>
                                <p:cTn id="247" presetID="53" presetClass="entr" presetSubtype="16" fill="hold" grpId="1" nodeType="clickEffect">
                                  <p:stCondLst>
                                    <p:cond delay="0"/>
                                  </p:stCondLst>
                                  <p:childTnLst>
                                    <p:set>
                                      <p:cBhvr>
                                        <p:cTn id="243" dur="1" fill="hold">
                                          <p:stCondLst>
                                            <p:cond delay="0"/>
                                          </p:stCondLst>
                                        </p:cTn>
                                        <p:tgtEl>
                                          <p:spTgt spid="52"/>
                                        </p:tgtEl>
                                        <p:attrNameLst>
                                          <p:attrName>style.visibility</p:attrName>
                                        </p:attrNameLst>
                                      </p:cBhvr>
                                      <p:to>
                                        <p:strVal val="visible"/>
                                      </p:to>
                                    </p:set>
                                    <p:anim calcmode="lin" valueType="num">
                                      <p:cBhvr>
                                        <p:cTn id="244" dur="400" fill="hold" decel="100000"/>
                                        <p:tgtEl>
                                          <p:spTgt spid="52"/>
                                        </p:tgtEl>
                                        <p:attrNameLst>
                                          <p:attrName>ppt_w</p:attrName>
                                        </p:attrNameLst>
                                      </p:cBhvr>
                                      <p:tavLst>
                                        <p:tav tm="0">
                                          <p:val>
                                            <p:strVal val="#ppt_w*0.70"/>
                                          </p:val>
                                        </p:tav>
                                        <p:tav tm="100000">
                                          <p:val>
                                            <p:strVal val="#ppt_w"/>
                                          </p:val>
                                        </p:tav>
                                      </p:tavLst>
                                    </p:anim>
                                    <p:anim calcmode="lin" valueType="num">
                                      <p:cBhvr>
                                        <p:cTn id="245" dur="400" fill="hold" decel="100000"/>
                                        <p:tgtEl>
                                          <p:spTgt spid="52"/>
                                        </p:tgtEl>
                                        <p:attrNameLst>
                                          <p:attrName>ppt_h</p:attrName>
                                        </p:attrNameLst>
                                      </p:cBhvr>
                                      <p:tavLst>
                                        <p:tav tm="0">
                                          <p:val>
                                            <p:strVal val="#ppt_h*0.70"/>
                                          </p:val>
                                        </p:tav>
                                        <p:tav tm="100000">
                                          <p:val>
                                            <p:strVal val="#ppt_h"/>
                                          </p:val>
                                        </p:tav>
                                      </p:tavLst>
                                    </p:anim>
                                    <p:animEffect transition="in" filter="fade">
                                      <p:cBhvr>
                                        <p:cTn id="246" dur="400"/>
                                        <p:tgtEl>
                                          <p:spTgt spid="52"/>
                                        </p:tgtEl>
                                      </p:cBhvr>
                                    </p:animEffect>
                                  </p:childTnLst>
                                </p:cTn>
                              </p:par>
                              <p:par>
                                <p:cTn id="250" presetID="10" presetClass="exit" presetSubtype="0" fill="hold" grpId="1" nodeType="withEffect">
                                  <p:stCondLst>
                                    <p:cond delay="0"/>
                                  </p:stCondLst>
                                  <p:childTnLst>
                                    <p:animEffect transition="out" filter="fade">
                                      <p:cBhvr>
                                        <p:cTn id="248" dur="250"/>
                                        <p:tgtEl>
                                          <p:spTgt spid="49"/>
                                        </p:tgtEl>
                                      </p:cBhvr>
                                    </p:animEffect>
                                    <p:set>
                                      <p:cBhvr>
                                        <p:cTn id="249" dur="1" fill="hold">
                                          <p:stCondLst>
                                            <p:cond delay="249"/>
                                          </p:stCondLst>
                                        </p:cTn>
                                        <p:tgtEl>
                                          <p:spTgt spid="49"/>
                                        </p:tgtEl>
                                        <p:attrNameLst>
                                          <p:attrName>style.visibility</p:attrName>
                                        </p:attrNameLst>
                                      </p:cBhvr>
                                      <p:to>
                                        <p:strVal val="hidden"/>
                                      </p:to>
                                    </p:set>
                                  </p:childTnLst>
                                </p:cTn>
                              </p:par>
                              <p:par>
                                <p:cTn id="253" presetID="10" presetClass="exit" presetSubtype="0" fill="hold" grpId="1" nodeType="withEffect">
                                  <p:stCondLst>
                                    <p:cond delay="0"/>
                                  </p:stCondLst>
                                  <p:childTnLst>
                                    <p:animEffect transition="out" filter="fade">
                                      <p:cBhvr>
                                        <p:cTn id="251" dur="250"/>
                                        <p:tgtEl>
                                          <p:spTgt spid="55"/>
                                        </p:tgtEl>
                                      </p:cBhvr>
                                    </p:animEffect>
                                    <p:set>
                                      <p:cBhvr>
                                        <p:cTn id="252" dur="1" fill="hold">
                                          <p:stCondLst>
                                            <p:cond delay="249"/>
                                          </p:stCondLst>
                                        </p:cTn>
                                        <p:tgtEl>
                                          <p:spTgt spid="55"/>
                                        </p:tgtEl>
                                        <p:attrNameLst>
                                          <p:attrName>style.visibility</p:attrName>
                                        </p:attrNameLst>
                                      </p:cBhvr>
                                      <p:to>
                                        <p:strVal val="hidden"/>
                                      </p:to>
                                    </p:set>
                                  </p:childTnLst>
                                </p:cTn>
                              </p:par>
                              <p:par>
                                <p:cTn id="256" presetID="10" presetClass="exit" presetSubtype="0" fill="hold" grpId="1" nodeType="withEffect">
                                  <p:stCondLst>
                                    <p:cond delay="0"/>
                                  </p:stCondLst>
                                  <p:childTnLst>
                                    <p:animEffect transition="out" filter="fade">
                                      <p:cBhvr>
                                        <p:cTn id="254" dur="250"/>
                                        <p:tgtEl>
                                          <p:spTgt spid="58"/>
                                        </p:tgtEl>
                                      </p:cBhvr>
                                    </p:animEffect>
                                    <p:set>
                                      <p:cBhvr>
                                        <p:cTn id="255" dur="1" fill="hold">
                                          <p:stCondLst>
                                            <p:cond delay="249"/>
                                          </p:stCondLst>
                                        </p:cTn>
                                        <p:tgtEl>
                                          <p:spTgt spid="58"/>
                                        </p:tgtEl>
                                        <p:attrNameLst>
                                          <p:attrName>style.visibility</p:attrName>
                                        </p:attrNameLst>
                                      </p:cBhvr>
                                      <p:to>
                                        <p:strVal val="hidden"/>
                                      </p:to>
                                    </p:set>
                                  </p:childTnLst>
                                </p:cTn>
                              </p:par>
                            </p:childTnLst>
                          </p:cTn>
                        </p:par>
                      </p:childTnLst>
                    </p:cTn>
                  </p:par>
                </p:childTnLst>
              </p:cTn>
              <p:nextCondLst>
                <p:cond evt="onClick" delay="0">
                  <p:tgtEl>
                    <p:spTgt spid="50"/>
                  </p:tgtEl>
                </p:cond>
              </p:nextCondLst>
            </p:seq>
            <p:seq concurrent="1" nextAc="seek">
              <p:cTn id="257" restart="whenNotActive" fill="hold" evtFilter="cancelBubble" nodeType="interactiveSeq">
                <p:stCondLst>
                  <p:cond evt="onClick" delay="0">
                    <p:tgtEl>
                      <p:spTgt spid="53"/>
                    </p:tgtEl>
                  </p:cond>
                </p:stCondLst>
                <p:endSync evt="end" delay="0">
                  <p:rtn val="all"/>
                </p:endSync>
                <p:childTnLst>
                  <p:par>
                    <p:cTn id="258" fill="hold">
                      <p:stCondLst>
                        <p:cond delay="0"/>
                      </p:stCondLst>
                      <p:childTnLst>
                        <p:par>
                          <p:cTn id="259" fill="hold">
                            <p:stCondLst>
                              <p:cond delay="0"/>
                            </p:stCondLst>
                            <p:childTnLst>
                              <p:par>
                                <p:cTn id="264" presetID="53" presetClass="entr" presetSubtype="16" fill="hold" grpId="2" nodeType="clickEffect">
                                  <p:stCondLst>
                                    <p:cond delay="0"/>
                                  </p:stCondLst>
                                  <p:childTnLst>
                                    <p:set>
                                      <p:cBhvr>
                                        <p:cTn id="260" dur="1" fill="hold">
                                          <p:stCondLst>
                                            <p:cond delay="0"/>
                                          </p:stCondLst>
                                        </p:cTn>
                                        <p:tgtEl>
                                          <p:spTgt spid="55"/>
                                        </p:tgtEl>
                                        <p:attrNameLst>
                                          <p:attrName>style.visibility</p:attrName>
                                        </p:attrNameLst>
                                      </p:cBhvr>
                                      <p:to>
                                        <p:strVal val="visible"/>
                                      </p:to>
                                    </p:set>
                                    <p:anim calcmode="lin" valueType="num">
                                      <p:cBhvr>
                                        <p:cTn id="261" dur="400" fill="hold" decel="100000"/>
                                        <p:tgtEl>
                                          <p:spTgt spid="55"/>
                                        </p:tgtEl>
                                        <p:attrNameLst>
                                          <p:attrName>ppt_w</p:attrName>
                                        </p:attrNameLst>
                                      </p:cBhvr>
                                      <p:tavLst>
                                        <p:tav tm="0">
                                          <p:val>
                                            <p:strVal val="#ppt_w*0.70"/>
                                          </p:val>
                                        </p:tav>
                                        <p:tav tm="100000">
                                          <p:val>
                                            <p:strVal val="#ppt_w"/>
                                          </p:val>
                                        </p:tav>
                                      </p:tavLst>
                                    </p:anim>
                                    <p:anim calcmode="lin" valueType="num">
                                      <p:cBhvr>
                                        <p:cTn id="262" dur="400" fill="hold" decel="100000"/>
                                        <p:tgtEl>
                                          <p:spTgt spid="55"/>
                                        </p:tgtEl>
                                        <p:attrNameLst>
                                          <p:attrName>ppt_h</p:attrName>
                                        </p:attrNameLst>
                                      </p:cBhvr>
                                      <p:tavLst>
                                        <p:tav tm="0">
                                          <p:val>
                                            <p:strVal val="#ppt_h*0.70"/>
                                          </p:val>
                                        </p:tav>
                                        <p:tav tm="100000">
                                          <p:val>
                                            <p:strVal val="#ppt_h"/>
                                          </p:val>
                                        </p:tav>
                                      </p:tavLst>
                                    </p:anim>
                                    <p:animEffect transition="in" filter="fade">
                                      <p:cBhvr>
                                        <p:cTn id="263" dur="400"/>
                                        <p:tgtEl>
                                          <p:spTgt spid="55"/>
                                        </p:tgtEl>
                                      </p:cBhvr>
                                    </p:animEffect>
                                  </p:childTnLst>
                                </p:cTn>
                              </p:par>
                              <p:par>
                                <p:cTn id="267" presetID="10" presetClass="exit" presetSubtype="0" fill="hold" grpId="2" nodeType="withEffect">
                                  <p:stCondLst>
                                    <p:cond delay="0"/>
                                  </p:stCondLst>
                                  <p:childTnLst>
                                    <p:animEffect transition="out" filter="fade">
                                      <p:cBhvr>
                                        <p:cTn id="265" dur="250"/>
                                        <p:tgtEl>
                                          <p:spTgt spid="49"/>
                                        </p:tgtEl>
                                      </p:cBhvr>
                                    </p:animEffect>
                                    <p:set>
                                      <p:cBhvr>
                                        <p:cTn id="266" dur="1" fill="hold">
                                          <p:stCondLst>
                                            <p:cond delay="249"/>
                                          </p:stCondLst>
                                        </p:cTn>
                                        <p:tgtEl>
                                          <p:spTgt spid="49"/>
                                        </p:tgtEl>
                                        <p:attrNameLst>
                                          <p:attrName>style.visibility</p:attrName>
                                        </p:attrNameLst>
                                      </p:cBhvr>
                                      <p:to>
                                        <p:strVal val="hidden"/>
                                      </p:to>
                                    </p:set>
                                  </p:childTnLst>
                                </p:cTn>
                              </p:par>
                              <p:par>
                                <p:cTn id="270" presetID="10" presetClass="exit" presetSubtype="0" fill="hold" grpId="2" nodeType="withEffect">
                                  <p:stCondLst>
                                    <p:cond delay="0"/>
                                  </p:stCondLst>
                                  <p:childTnLst>
                                    <p:animEffect transition="out" filter="fade">
                                      <p:cBhvr>
                                        <p:cTn id="268" dur="250"/>
                                        <p:tgtEl>
                                          <p:spTgt spid="52"/>
                                        </p:tgtEl>
                                      </p:cBhvr>
                                    </p:animEffect>
                                    <p:set>
                                      <p:cBhvr>
                                        <p:cTn id="269" dur="1" fill="hold">
                                          <p:stCondLst>
                                            <p:cond delay="249"/>
                                          </p:stCondLst>
                                        </p:cTn>
                                        <p:tgtEl>
                                          <p:spTgt spid="52"/>
                                        </p:tgtEl>
                                        <p:attrNameLst>
                                          <p:attrName>style.visibility</p:attrName>
                                        </p:attrNameLst>
                                      </p:cBhvr>
                                      <p:to>
                                        <p:strVal val="hidden"/>
                                      </p:to>
                                    </p:set>
                                  </p:childTnLst>
                                </p:cTn>
                              </p:par>
                              <p:par>
                                <p:cTn id="273" presetID="10" presetClass="exit" presetSubtype="0" fill="hold" grpId="2" nodeType="withEffect">
                                  <p:stCondLst>
                                    <p:cond delay="0"/>
                                  </p:stCondLst>
                                  <p:childTnLst>
                                    <p:animEffect transition="out" filter="fade">
                                      <p:cBhvr>
                                        <p:cTn id="271" dur="250"/>
                                        <p:tgtEl>
                                          <p:spTgt spid="58"/>
                                        </p:tgtEl>
                                      </p:cBhvr>
                                    </p:animEffect>
                                    <p:set>
                                      <p:cBhvr>
                                        <p:cTn id="272" dur="1" fill="hold">
                                          <p:stCondLst>
                                            <p:cond delay="249"/>
                                          </p:stCondLst>
                                        </p:cTn>
                                        <p:tgtEl>
                                          <p:spTgt spid="58"/>
                                        </p:tgtEl>
                                        <p:attrNameLst>
                                          <p:attrName>style.visibility</p:attrName>
                                        </p:attrNameLst>
                                      </p:cBhvr>
                                      <p:to>
                                        <p:strVal val="hidden"/>
                                      </p:to>
                                    </p:set>
                                  </p:childTnLst>
                                </p:cTn>
                              </p:par>
                            </p:childTnLst>
                          </p:cTn>
                        </p:par>
                      </p:childTnLst>
                    </p:cTn>
                  </p:par>
                </p:childTnLst>
              </p:cTn>
              <p:nextCondLst>
                <p:cond evt="onClick" delay="0">
                  <p:tgtEl>
                    <p:spTgt spid="53"/>
                  </p:tgtEl>
                </p:cond>
              </p:nextCondLst>
            </p:seq>
            <p:seq concurrent="1" nextAc="seek">
              <p:cTn id="274" restart="whenNotActive" fill="hold" evtFilter="cancelBubble" nodeType="interactiveSeq">
                <p:stCondLst>
                  <p:cond evt="onClick" delay="0">
                    <p:tgtEl>
                      <p:spTgt spid="56"/>
                    </p:tgtEl>
                  </p:cond>
                </p:stCondLst>
                <p:endSync evt="end" delay="0">
                  <p:rtn val="all"/>
                </p:endSync>
                <p:childTnLst>
                  <p:par>
                    <p:cTn id="275" fill="hold">
                      <p:stCondLst>
                        <p:cond delay="0"/>
                      </p:stCondLst>
                      <p:childTnLst>
                        <p:par>
                          <p:cTn id="276" fill="hold">
                            <p:stCondLst>
                              <p:cond delay="0"/>
                            </p:stCondLst>
                            <p:childTnLst>
                              <p:par>
                                <p:cTn id="281" presetID="53" presetClass="entr" presetSubtype="16" fill="hold" grpId="3" nodeType="clickEffect">
                                  <p:stCondLst>
                                    <p:cond delay="0"/>
                                  </p:stCondLst>
                                  <p:childTnLst>
                                    <p:set>
                                      <p:cBhvr>
                                        <p:cTn id="277" dur="1" fill="hold">
                                          <p:stCondLst>
                                            <p:cond delay="0"/>
                                          </p:stCondLst>
                                        </p:cTn>
                                        <p:tgtEl>
                                          <p:spTgt spid="58"/>
                                        </p:tgtEl>
                                        <p:attrNameLst>
                                          <p:attrName>style.visibility</p:attrName>
                                        </p:attrNameLst>
                                      </p:cBhvr>
                                      <p:to>
                                        <p:strVal val="visible"/>
                                      </p:to>
                                    </p:set>
                                    <p:anim calcmode="lin" valueType="num">
                                      <p:cBhvr>
                                        <p:cTn id="278" dur="400" fill="hold" decel="100000"/>
                                        <p:tgtEl>
                                          <p:spTgt spid="58"/>
                                        </p:tgtEl>
                                        <p:attrNameLst>
                                          <p:attrName>ppt_w</p:attrName>
                                        </p:attrNameLst>
                                      </p:cBhvr>
                                      <p:tavLst>
                                        <p:tav tm="0">
                                          <p:val>
                                            <p:strVal val="#ppt_w*0.70"/>
                                          </p:val>
                                        </p:tav>
                                        <p:tav tm="100000">
                                          <p:val>
                                            <p:strVal val="#ppt_w"/>
                                          </p:val>
                                        </p:tav>
                                      </p:tavLst>
                                    </p:anim>
                                    <p:anim calcmode="lin" valueType="num">
                                      <p:cBhvr>
                                        <p:cTn id="279" dur="400" fill="hold" decel="100000"/>
                                        <p:tgtEl>
                                          <p:spTgt spid="58"/>
                                        </p:tgtEl>
                                        <p:attrNameLst>
                                          <p:attrName>ppt_h</p:attrName>
                                        </p:attrNameLst>
                                      </p:cBhvr>
                                      <p:tavLst>
                                        <p:tav tm="0">
                                          <p:val>
                                            <p:strVal val="#ppt_h*0.70"/>
                                          </p:val>
                                        </p:tav>
                                        <p:tav tm="100000">
                                          <p:val>
                                            <p:strVal val="#ppt_h"/>
                                          </p:val>
                                        </p:tav>
                                      </p:tavLst>
                                    </p:anim>
                                    <p:animEffect transition="in" filter="fade">
                                      <p:cBhvr>
                                        <p:cTn id="280" dur="400"/>
                                        <p:tgtEl>
                                          <p:spTgt spid="58"/>
                                        </p:tgtEl>
                                      </p:cBhvr>
                                    </p:animEffect>
                                  </p:childTnLst>
                                </p:cTn>
                              </p:par>
                              <p:par>
                                <p:cTn id="284" presetID="10" presetClass="exit" presetSubtype="0" fill="hold" grpId="3" nodeType="withEffect">
                                  <p:stCondLst>
                                    <p:cond delay="0"/>
                                  </p:stCondLst>
                                  <p:childTnLst>
                                    <p:animEffect transition="out" filter="fade">
                                      <p:cBhvr>
                                        <p:cTn id="282" dur="250"/>
                                        <p:tgtEl>
                                          <p:spTgt spid="49"/>
                                        </p:tgtEl>
                                      </p:cBhvr>
                                    </p:animEffect>
                                    <p:set>
                                      <p:cBhvr>
                                        <p:cTn id="283" dur="1" fill="hold">
                                          <p:stCondLst>
                                            <p:cond delay="249"/>
                                          </p:stCondLst>
                                        </p:cTn>
                                        <p:tgtEl>
                                          <p:spTgt spid="49"/>
                                        </p:tgtEl>
                                        <p:attrNameLst>
                                          <p:attrName>style.visibility</p:attrName>
                                        </p:attrNameLst>
                                      </p:cBhvr>
                                      <p:to>
                                        <p:strVal val="hidden"/>
                                      </p:to>
                                    </p:set>
                                  </p:childTnLst>
                                </p:cTn>
                              </p:par>
                              <p:par>
                                <p:cTn id="287" presetID="10" presetClass="exit" presetSubtype="0" fill="hold" grpId="3" nodeType="withEffect">
                                  <p:stCondLst>
                                    <p:cond delay="0"/>
                                  </p:stCondLst>
                                  <p:childTnLst>
                                    <p:animEffect transition="out" filter="fade">
                                      <p:cBhvr>
                                        <p:cTn id="285" dur="250"/>
                                        <p:tgtEl>
                                          <p:spTgt spid="52"/>
                                        </p:tgtEl>
                                      </p:cBhvr>
                                    </p:animEffect>
                                    <p:set>
                                      <p:cBhvr>
                                        <p:cTn id="286" dur="1" fill="hold">
                                          <p:stCondLst>
                                            <p:cond delay="249"/>
                                          </p:stCondLst>
                                        </p:cTn>
                                        <p:tgtEl>
                                          <p:spTgt spid="52"/>
                                        </p:tgtEl>
                                        <p:attrNameLst>
                                          <p:attrName>style.visibility</p:attrName>
                                        </p:attrNameLst>
                                      </p:cBhvr>
                                      <p:to>
                                        <p:strVal val="hidden"/>
                                      </p:to>
                                    </p:set>
                                  </p:childTnLst>
                                </p:cTn>
                              </p:par>
                              <p:par>
                                <p:cTn id="290" presetID="10" presetClass="exit" presetSubtype="0" fill="hold" grpId="3" nodeType="withEffect">
                                  <p:stCondLst>
                                    <p:cond delay="0"/>
                                  </p:stCondLst>
                                  <p:childTnLst>
                                    <p:animEffect transition="out" filter="fade">
                                      <p:cBhvr>
                                        <p:cTn id="288" dur="250"/>
                                        <p:tgtEl>
                                          <p:spTgt spid="55"/>
                                        </p:tgtEl>
                                      </p:cBhvr>
                                    </p:animEffect>
                                    <p:set>
                                      <p:cBhvr>
                                        <p:cTn id="289" dur="1" fill="hold">
                                          <p:stCondLst>
                                            <p:cond delay="249"/>
                                          </p:stCondLst>
                                        </p:cTn>
                                        <p:tgtEl>
                                          <p:spTgt spid="55"/>
                                        </p:tgtEl>
                                        <p:attrNameLst>
                                          <p:attrName>style.visibility</p:attrName>
                                        </p:attrNameLst>
                                      </p:cBhvr>
                                      <p:to>
                                        <p:strVal val="hidden"/>
                                      </p:to>
                                    </p:set>
                                  </p:childTnLst>
                                </p:cTn>
                              </p:par>
                            </p:childTnLst>
                          </p:cTn>
                        </p:par>
                      </p:childTnLst>
                    </p:cTn>
                  </p:par>
                </p:childTnLst>
              </p:cTn>
              <p:nextCondLst>
                <p:cond evt="onClick" delay="0">
                  <p:tgtEl>
                    <p:spTgt spid="56"/>
                  </p:tgtEl>
                </p:cond>
              </p:nextCondLst>
            </p:seq>
          </p:childTnLst>
        </p:cTn>
      </p:par>
    </p:tnLst>
    <p:bldLst>
      <p:bldP spid="3" grpId="0" animBg="1"/>
      <p:bldP spid="42" grpId="0" animBg="1"/>
      <p:bldP spid="43" grpId="0" animBg="1"/>
      <p:bldP spid="4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17" grpId="0" animBg="1"/>
      <p:bldP spid="18" grpId="0" animBg="1"/>
      <p:bldP spid="19" grpId="0" animBg="1"/>
      <p:bldP spid="45" grpId="0" animBg="1"/>
      <p:bldP spid="20" grpId="0" animBg="1"/>
      <p:bldP spid="47" grpId="0" animBg="1"/>
      <p:bldP spid="48" grpId="0" animBg="1"/>
      <p:bldP spid="21" grpId="0" animBg="1"/>
      <p:bldP spid="22" grpId="0" animBg="1"/>
      <p:bldP spid="46" grpId="0" animBg="1"/>
      <p:bldP spid="50" grpId="0" animBg="1"/>
      <p:bldP spid="51" grpId="0" animBg="1"/>
      <p:bldP spid="23" grpId="0" animBg="1"/>
      <p:bldP spid="24" grpId="0" animBg="1"/>
      <p:bldP spid="25" grpId="0" animBg="1"/>
      <p:bldP spid="53" grpId="0" animBg="1"/>
      <p:bldP spid="54" grpId="0" animBg="1"/>
      <p:bldP spid="26" grpId="0" animBg="1"/>
      <p:bldP spid="56" grpId="0" animBg="1"/>
      <p:bldP spid="57" grpId="0" animBg="1"/>
      <p:bldP spid="49" grpId="0" animBg="1"/>
      <p:bldP spid="52" grpId="0" animBg="1"/>
      <p:bldP spid="55" grpId="0" animBg="1"/>
      <p:bldP spid="58" grpId="0" animBg="1"/>
      <p:bldP spid="52" grpId="1" animBg="1"/>
      <p:bldP spid="49" grpId="1" animBg="1"/>
      <p:bldP spid="55" grpId="1" animBg="1"/>
      <p:bldP spid="58" grpId="1" animBg="1"/>
      <p:bldP spid="55" grpId="2" animBg="1"/>
      <p:bldP spid="49" grpId="2" animBg="1"/>
      <p:bldP spid="52" grpId="2" animBg="1"/>
      <p:bldP spid="58" grpId="2" animBg="1"/>
      <p:bldP spid="58" grpId="3" animBg="1"/>
      <p:bldP spid="49" grpId="3" animBg="1"/>
      <p:bldP spid="52" grpId="3" animBg="1"/>
      <p:bldP spid="55" grpId="3" animBg="1"/>
    </p:bldLst>
  </p:timing>
</p:sld>
</file>

<file path=ppt/slides/slide17.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a:t>
            </a:r>
            <a:endParaRPr lang="en-US" sz="1500" dirty="0"/>
          </a:p>
        </p:txBody>
      </p:sp>
      <p:sp>
        <p:nvSpPr>
          <p:cNvPr id="3" name="region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Four producing areas</a:t>
            </a:r>
            <a:endParaRPr lang="en-US" sz="3800" dirty="0"/>
          </a:p>
        </p:txBody>
      </p:sp>
      <p:pic>
        <p:nvPicPr>
          <p:cNvPr id="4" name="!!map" descr="/home/user/shahad-research/build/assets/map_dark.png">    </p:cNvPr>
          <p:cNvPicPr>
            <a:picLocks noChangeAspect="1"/>
          </p:cNvPicPr>
          <p:nvPr/>
        </p:nvPicPr>
        <p:blipFill>
          <a:blip r:embed="rId1"/>
          <a:stretch>
            <a:fillRect/>
          </a:stretch>
        </p:blipFill>
        <p:spPr>
          <a:xfrm>
            <a:off x="274320" y="1783080"/>
            <a:ext cx="4901378" cy="3931920"/>
          </a:xfrm>
          <a:prstGeom prst="rect">
            <a:avLst/>
          </a:prstGeom>
        </p:spPr>
      </p:pic>
      <p:sp>
        <p:nvSpPr>
          <p:cNvPr id="5" name="!!f_burgan"/>
          <p:cNvSpPr/>
          <p:nvPr/>
        </p:nvSpPr>
        <p:spPr>
          <a:xfrm>
            <a:off x="3012635" y="3958263"/>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6" name="!!f_khashman"/>
          <p:cNvSpPr/>
          <p:nvPr/>
        </p:nvSpPr>
        <p:spPr>
          <a:xfrm>
            <a:off x="2926018" y="3599557"/>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7" name="!!f_raudhatain"/>
          <p:cNvSpPr/>
          <p:nvPr/>
        </p:nvSpPr>
        <p:spPr>
          <a:xfrm>
            <a:off x="2674440" y="2329325"/>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8" name="!!f_sabriya"/>
          <p:cNvSpPr/>
          <p:nvPr/>
        </p:nvSpPr>
        <p:spPr>
          <a:xfrm>
            <a:off x="2906412" y="2493003"/>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9" name="!!f_bahra"/>
          <p:cNvSpPr/>
          <p:nvPr/>
        </p:nvSpPr>
        <p:spPr>
          <a:xfrm>
            <a:off x="3020778" y="2839386"/>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0" name="!!f_ratqa"/>
          <p:cNvSpPr/>
          <p:nvPr/>
        </p:nvSpPr>
        <p:spPr>
          <a:xfrm>
            <a:off x="2198980" y="2382535"/>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1" name="!!f_abdali"/>
          <p:cNvSpPr/>
          <p:nvPr/>
        </p:nvSpPr>
        <p:spPr>
          <a:xfrm>
            <a:off x="2793680" y="2090449"/>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2" name="!!f_minagish"/>
          <p:cNvSpPr/>
          <p:nvPr/>
        </p:nvSpPr>
        <p:spPr>
          <a:xfrm>
            <a:off x="2311738" y="3954519"/>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3" name="!!f_ummgudair"/>
          <p:cNvSpPr/>
          <p:nvPr/>
        </p:nvSpPr>
        <p:spPr>
          <a:xfrm>
            <a:off x="2618865" y="4282963"/>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4" name="!!f_abduliyah"/>
          <p:cNvSpPr/>
          <p:nvPr/>
        </p:nvSpPr>
        <p:spPr>
          <a:xfrm>
            <a:off x="2594358" y="3874792"/>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5" name="!!f_dharif"/>
          <p:cNvSpPr/>
          <p:nvPr/>
        </p:nvSpPr>
        <p:spPr>
          <a:xfrm>
            <a:off x="2733230" y="3644494"/>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6" name="!!f_kramaru"/>
          <p:cNvSpPr/>
          <p:nvPr/>
        </p:nvSpPr>
        <p:spPr>
          <a:xfrm>
            <a:off x="2019263" y="3324323"/>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7" name="!!f_wafra"/>
          <p:cNvSpPr/>
          <p:nvPr/>
        </p:nvSpPr>
        <p:spPr>
          <a:xfrm>
            <a:off x="2942356" y="4801601"/>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18" name="!!f_khafji"/>
          <p:cNvSpPr/>
          <p:nvPr/>
        </p:nvSpPr>
        <p:spPr>
          <a:xfrm>
            <a:off x="4576174" y="4860733"/>
            <a:ext cx="274320" cy="274320"/>
          </a:xfrm>
          <a:prstGeom prst="ellipse">
            <a:avLst/>
          </a:prstGeom>
          <a:solidFill>
            <a:srgbClr val="FF9F0A"/>
          </a:solidFill>
          <a:ln/>
          <a:effectLst>
            <a:outerShdw sx="100000" sy="100000" kx="0" ky="0" algn="bl" rotWithShape="0" blurRad="228600" dist="50800" dir="5400000">
              <a:srgbClr val="FF9F0A">
                <a:alpha val="90000"/>
              </a:srgbClr>
            </a:outerShdw>
          </a:effectLst>
        </p:spPr>
      </p:sp>
      <p:sp>
        <p:nvSpPr>
          <p:cNvPr id="19" name="!!f_hout"/>
          <p:cNvSpPr/>
          <p:nvPr/>
        </p:nvSpPr>
        <p:spPr>
          <a:xfrm>
            <a:off x="4621894" y="4344750"/>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0" name="!!f_dorra"/>
          <p:cNvSpPr/>
          <p:nvPr/>
        </p:nvSpPr>
        <p:spPr>
          <a:xfrm>
            <a:off x="4902933" y="4079966"/>
            <a:ext cx="274320" cy="274320"/>
          </a:xfrm>
          <a:prstGeom prst="ellipse">
            <a:avLst/>
          </a:prstGeom>
          <a:solidFill>
            <a:srgbClr val="64D2FF"/>
          </a:solidFill>
          <a:ln/>
          <a:effectLst>
            <a:outerShdw sx="100000" sy="100000" kx="0" ky="0" algn="bl" rotWithShape="0" blurRad="228600" dist="50800" dir="5400000">
              <a:srgbClr val="64D2FF">
                <a:alpha val="90000"/>
              </a:srgbClr>
            </a:outerShdw>
          </a:effectLst>
        </p:spPr>
      </p:sp>
      <p:sp>
        <p:nvSpPr>
          <p:cNvPr id="21" name="!!f_nokhatha"/>
          <p:cNvSpPr/>
          <p:nvPr/>
        </p:nvSpPr>
        <p:spPr>
          <a:xfrm>
            <a:off x="4272263" y="3253174"/>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2" name="!!f_jlaiaa"/>
          <p:cNvSpPr/>
          <p:nvPr/>
        </p:nvSpPr>
        <p:spPr>
          <a:xfrm>
            <a:off x="4249390" y="4361601"/>
            <a:ext cx="182880" cy="182880"/>
          </a:xfrm>
          <a:prstGeom prst="ellipse">
            <a:avLst/>
          </a:prstGeom>
          <a:solidFill>
            <a:srgbClr val="FF9F0A"/>
          </a:solidFill>
          <a:ln/>
          <a:effectLst>
            <a:outerShdw sx="100000" sy="100000" kx="0" ky="0" algn="bl" rotWithShape="0" blurRad="127000" dist="50800" dir="5400000">
              <a:srgbClr val="FF9F0A">
                <a:alpha val="90000"/>
              </a:srgbClr>
            </a:outerShdw>
          </a:effectLst>
        </p:spPr>
      </p:sp>
      <p:sp>
        <p:nvSpPr>
          <p:cNvPr id="23" name="!!f_kwcity"/>
          <p:cNvSpPr/>
          <p:nvPr/>
        </p:nvSpPr>
        <p:spPr>
          <a:xfrm rot="2700000">
            <a:off x="3102783" y="3353845"/>
            <a:ext cx="146304" cy="146304"/>
          </a:xfrm>
          <a:prstGeom prst="rect">
            <a:avLst/>
          </a:prstGeom>
          <a:solidFill>
            <a:srgbClr val="F5F5F7"/>
          </a:solidFill>
          <a:ln/>
        </p:spPr>
      </p:sp>
      <p:sp>
        <p:nvSpPr>
          <p:cNvPr id="24" name="!!f_ahmadi"/>
          <p:cNvSpPr/>
          <p:nvPr/>
        </p:nvSpPr>
        <p:spPr>
          <a:xfrm rot="2700000">
            <a:off x="3414838" y="3924910"/>
            <a:ext cx="146304" cy="146304"/>
          </a:xfrm>
          <a:prstGeom prst="rect">
            <a:avLst/>
          </a:prstGeom>
          <a:solidFill>
            <a:srgbClr val="F5F5F7"/>
          </a:solidFill>
          <a:ln/>
        </p:spPr>
      </p:sp>
      <p:sp>
        <p:nvSpPr>
          <p:cNvPr id="25" name="!!f_abdullah"/>
          <p:cNvSpPr/>
          <p:nvPr/>
        </p:nvSpPr>
        <p:spPr>
          <a:xfrm rot="2700000">
            <a:off x="3414838" y="4018527"/>
            <a:ext cx="146304" cy="146304"/>
          </a:xfrm>
          <a:prstGeom prst="rect">
            <a:avLst/>
          </a:prstGeom>
          <a:solidFill>
            <a:srgbClr val="F5F5F7"/>
          </a:solidFill>
          <a:ln/>
        </p:spPr>
      </p:sp>
      <p:sp>
        <p:nvSpPr>
          <p:cNvPr id="26" name="!!f_zour"/>
          <p:cNvSpPr/>
          <p:nvPr/>
        </p:nvSpPr>
        <p:spPr>
          <a:xfrm rot="2700000">
            <a:off x="3795512" y="4550272"/>
            <a:ext cx="146304" cy="146304"/>
          </a:xfrm>
          <a:prstGeom prst="rect">
            <a:avLst/>
          </a:prstGeom>
          <a:solidFill>
            <a:srgbClr val="F5F5F7"/>
          </a:solidFill>
          <a:ln/>
        </p:spPr>
      </p:sp>
      <p:sp>
        <p:nvSpPr>
          <p:cNvPr id="27" name="regions_s_1"/>
          <p:cNvSpPr/>
          <p:nvPr/>
        </p:nvSpPr>
        <p:spPr>
          <a:xfrm>
            <a:off x="5532120" y="1783080"/>
            <a:ext cx="6110935" cy="932688"/>
          </a:xfrm>
          <a:prstGeom prst="roundRect">
            <a:avLst>
              <a:gd name="adj" fmla="val 13725"/>
            </a:avLst>
          </a:prstGeom>
          <a:solidFill>
            <a:srgbClr val="1C1C1E"/>
          </a:solidFill>
          <a:ln/>
        </p:spPr>
      </p:sp>
      <p:sp>
        <p:nvSpPr>
          <p:cNvPr id="28" name="regions_s_2"/>
          <p:cNvSpPr/>
          <p:nvPr/>
        </p:nvSpPr>
        <p:spPr>
          <a:xfrm>
            <a:off x="5760720" y="1938528"/>
            <a:ext cx="182880" cy="182880"/>
          </a:xfrm>
          <a:prstGeom prst="ellipse">
            <a:avLst/>
          </a:prstGeom>
          <a:solidFill>
            <a:srgbClr val="FF9F0A"/>
          </a:solidFill>
          <a:ln/>
        </p:spPr>
      </p:sp>
      <p:sp>
        <p:nvSpPr>
          <p:cNvPr id="29" name="regions_t_3"/>
          <p:cNvSpPr txBox="1"/>
          <p:nvPr/>
        </p:nvSpPr>
        <p:spPr>
          <a:xfrm>
            <a:off x="6062472" y="1874520"/>
            <a:ext cx="5379415"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South &amp; East Kuwait</a:t>
            </a:r>
            <a:endParaRPr lang="en-US" sz="1800" dirty="0"/>
          </a:p>
        </p:txBody>
      </p:sp>
      <p:sp>
        <p:nvSpPr>
          <p:cNvPr id="30" name="regions_t_4"/>
          <p:cNvSpPr txBox="1"/>
          <p:nvPr/>
        </p:nvSpPr>
        <p:spPr>
          <a:xfrm>
            <a:off x="6062472" y="2176272"/>
            <a:ext cx="5379415" cy="246888"/>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Greater Burgan (Burgan, Magwa, Ahmadi), Khashman</a:t>
            </a:r>
            <a:endParaRPr lang="en-US" sz="1500" dirty="0"/>
          </a:p>
        </p:txBody>
      </p:sp>
      <p:sp>
        <p:nvSpPr>
          <p:cNvPr id="31" name="regions_t_5"/>
          <p:cNvSpPr txBox="1"/>
          <p:nvPr/>
        </p:nvSpPr>
        <p:spPr>
          <a:xfrm>
            <a:off x="6062472" y="2423160"/>
            <a:ext cx="5379415" cy="2286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World's second-largest oil field; Burgan and Wara sandstones</a:t>
            </a:r>
            <a:endParaRPr lang="en-US" sz="1400" dirty="0"/>
          </a:p>
        </p:txBody>
      </p:sp>
      <p:sp>
        <p:nvSpPr>
          <p:cNvPr id="32" name="regions_s_6"/>
          <p:cNvSpPr/>
          <p:nvPr/>
        </p:nvSpPr>
        <p:spPr>
          <a:xfrm>
            <a:off x="5532120" y="2825496"/>
            <a:ext cx="6110935" cy="932688"/>
          </a:xfrm>
          <a:prstGeom prst="roundRect">
            <a:avLst>
              <a:gd name="adj" fmla="val 13725"/>
            </a:avLst>
          </a:prstGeom>
          <a:solidFill>
            <a:srgbClr val="1C1C1E"/>
          </a:solidFill>
          <a:ln/>
        </p:spPr>
      </p:sp>
      <p:sp>
        <p:nvSpPr>
          <p:cNvPr id="33" name="regions_s_7"/>
          <p:cNvSpPr/>
          <p:nvPr/>
        </p:nvSpPr>
        <p:spPr>
          <a:xfrm>
            <a:off x="5760720" y="2980944"/>
            <a:ext cx="182880" cy="182880"/>
          </a:xfrm>
          <a:prstGeom prst="ellipse">
            <a:avLst/>
          </a:prstGeom>
          <a:solidFill>
            <a:srgbClr val="FF9F0A"/>
          </a:solidFill>
          <a:ln/>
        </p:spPr>
      </p:sp>
      <p:sp>
        <p:nvSpPr>
          <p:cNvPr id="34" name="regions_t_8"/>
          <p:cNvSpPr txBox="1"/>
          <p:nvPr/>
        </p:nvSpPr>
        <p:spPr>
          <a:xfrm>
            <a:off x="6062472" y="2916936"/>
            <a:ext cx="5379415"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North Kuwait</a:t>
            </a:r>
            <a:endParaRPr lang="en-US" sz="1800" dirty="0"/>
          </a:p>
        </p:txBody>
      </p:sp>
      <p:sp>
        <p:nvSpPr>
          <p:cNvPr id="35" name="regions_t_9"/>
          <p:cNvSpPr txBox="1"/>
          <p:nvPr/>
        </p:nvSpPr>
        <p:spPr>
          <a:xfrm>
            <a:off x="6062472" y="3218688"/>
            <a:ext cx="5379415" cy="246888"/>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Raudhatain, Sabriya, Bahra, Ratqa, Abdali, Umm Niqa</a:t>
            </a:r>
            <a:endParaRPr lang="en-US" sz="1500" dirty="0"/>
          </a:p>
        </p:txBody>
      </p:sp>
      <p:sp>
        <p:nvSpPr>
          <p:cNvPr id="36" name="regions_t_10"/>
          <p:cNvSpPr txBox="1"/>
          <p:nvPr/>
        </p:nvSpPr>
        <p:spPr>
          <a:xfrm>
            <a:off x="6062472" y="3465576"/>
            <a:ext cx="5379415" cy="2286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Cretaceous oil, deep Jurassic gas and Lower Fars heavy oil</a:t>
            </a:r>
            <a:endParaRPr lang="en-US" sz="1400" dirty="0"/>
          </a:p>
        </p:txBody>
      </p:sp>
      <p:sp>
        <p:nvSpPr>
          <p:cNvPr id="37" name="regions_s_11"/>
          <p:cNvSpPr/>
          <p:nvPr/>
        </p:nvSpPr>
        <p:spPr>
          <a:xfrm>
            <a:off x="5532120" y="3867912"/>
            <a:ext cx="6110935" cy="932688"/>
          </a:xfrm>
          <a:prstGeom prst="roundRect">
            <a:avLst>
              <a:gd name="adj" fmla="val 13725"/>
            </a:avLst>
          </a:prstGeom>
          <a:solidFill>
            <a:srgbClr val="1C1C1E"/>
          </a:solidFill>
          <a:ln/>
        </p:spPr>
      </p:sp>
      <p:sp>
        <p:nvSpPr>
          <p:cNvPr id="38" name="regions_s_12"/>
          <p:cNvSpPr/>
          <p:nvPr/>
        </p:nvSpPr>
        <p:spPr>
          <a:xfrm>
            <a:off x="5760720" y="4023360"/>
            <a:ext cx="182880" cy="182880"/>
          </a:xfrm>
          <a:prstGeom prst="ellipse">
            <a:avLst/>
          </a:prstGeom>
          <a:solidFill>
            <a:srgbClr val="FF9F0A"/>
          </a:solidFill>
          <a:ln/>
        </p:spPr>
      </p:sp>
      <p:sp>
        <p:nvSpPr>
          <p:cNvPr id="39" name="regions_t_13"/>
          <p:cNvSpPr txBox="1"/>
          <p:nvPr/>
        </p:nvSpPr>
        <p:spPr>
          <a:xfrm>
            <a:off x="6062472" y="3959352"/>
            <a:ext cx="5379415"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West Kuwait</a:t>
            </a:r>
            <a:endParaRPr lang="en-US" sz="1800" dirty="0"/>
          </a:p>
        </p:txBody>
      </p:sp>
      <p:sp>
        <p:nvSpPr>
          <p:cNvPr id="40" name="regions_t_14"/>
          <p:cNvSpPr txBox="1"/>
          <p:nvPr/>
        </p:nvSpPr>
        <p:spPr>
          <a:xfrm>
            <a:off x="6062472" y="4261104"/>
            <a:ext cx="5379415" cy="246888"/>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Minagish, Umm Gudair, Abduliyah, Dharif, Kra Al-Maru</a:t>
            </a:r>
            <a:endParaRPr lang="en-US" sz="1500" dirty="0"/>
          </a:p>
        </p:txBody>
      </p:sp>
      <p:sp>
        <p:nvSpPr>
          <p:cNvPr id="41" name="regions_t_15"/>
          <p:cNvSpPr txBox="1"/>
          <p:nvPr/>
        </p:nvSpPr>
        <p:spPr>
          <a:xfrm>
            <a:off x="6062472" y="4507992"/>
            <a:ext cx="5379415" cy="2286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Minagish Oolite and Ratawi reservoirs; 22–26° API oil</a:t>
            </a:r>
            <a:endParaRPr lang="en-US" sz="1400" dirty="0"/>
          </a:p>
        </p:txBody>
      </p:sp>
      <p:sp>
        <p:nvSpPr>
          <p:cNvPr id="42" name="regions_s_16"/>
          <p:cNvSpPr/>
          <p:nvPr/>
        </p:nvSpPr>
        <p:spPr>
          <a:xfrm>
            <a:off x="5532120" y="4910328"/>
            <a:ext cx="6110935" cy="932688"/>
          </a:xfrm>
          <a:prstGeom prst="roundRect">
            <a:avLst>
              <a:gd name="adj" fmla="val 13725"/>
            </a:avLst>
          </a:prstGeom>
          <a:solidFill>
            <a:srgbClr val="1C1C1E"/>
          </a:solidFill>
          <a:ln/>
        </p:spPr>
      </p:sp>
      <p:sp>
        <p:nvSpPr>
          <p:cNvPr id="43" name="regions_s_17"/>
          <p:cNvSpPr/>
          <p:nvPr/>
        </p:nvSpPr>
        <p:spPr>
          <a:xfrm>
            <a:off x="5760720" y="5065776"/>
            <a:ext cx="182880" cy="182880"/>
          </a:xfrm>
          <a:prstGeom prst="ellipse">
            <a:avLst/>
          </a:prstGeom>
          <a:solidFill>
            <a:srgbClr val="64D2FF"/>
          </a:solidFill>
          <a:ln/>
        </p:spPr>
      </p:sp>
      <p:sp>
        <p:nvSpPr>
          <p:cNvPr id="44" name="regions_t_18"/>
          <p:cNvSpPr txBox="1"/>
          <p:nvPr/>
        </p:nvSpPr>
        <p:spPr>
          <a:xfrm>
            <a:off x="6062472" y="5001768"/>
            <a:ext cx="5379415"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Partitioned Zone &amp; offshore</a:t>
            </a:r>
            <a:endParaRPr lang="en-US" sz="1800" dirty="0"/>
          </a:p>
        </p:txBody>
      </p:sp>
      <p:sp>
        <p:nvSpPr>
          <p:cNvPr id="45" name="regions_t_19"/>
          <p:cNvSpPr txBox="1"/>
          <p:nvPr/>
        </p:nvSpPr>
        <p:spPr>
          <a:xfrm>
            <a:off x="6062472" y="5303520"/>
            <a:ext cx="5379415" cy="246888"/>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Wafra, Khafji, Hout, Dorra gas; new: Al-Nokhatha, Al-Jlaiaa</a:t>
            </a:r>
            <a:endParaRPr lang="en-US" sz="1500" dirty="0"/>
          </a:p>
        </p:txBody>
      </p:sp>
      <p:sp>
        <p:nvSpPr>
          <p:cNvPr id="46" name="regions_t_20"/>
          <p:cNvSpPr txBox="1"/>
          <p:nvPr/>
        </p:nvSpPr>
        <p:spPr>
          <a:xfrm>
            <a:off x="6062472" y="5550408"/>
            <a:ext cx="5379415" cy="2286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Shared 50:50 with Saudi Arabia; offshore finds since 2024</a:t>
            </a:r>
            <a:endParaRPr lang="en-US" sz="1400" dirty="0"/>
          </a:p>
        </p:txBody>
      </p:sp>
      <p:sp>
        <p:nvSpPr>
          <p:cNvPr id="47" name="regions_t_21"/>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KOC (n.d.); Naqi et al. (2023); EIA (2023); S&amp;P Global (2018); KPC (2024).</a:t>
            </a:r>
            <a:endParaRPr lang="en-US" sz="1200" dirty="0"/>
          </a:p>
        </p:txBody>
      </p:sp>
      <p:sp>
        <p:nvSpPr>
          <p:cNvPr id="48" name="regions_home_22">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49" name="regions_i_23"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50" name="regions_s_24">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4" presetID="53" presetClass="entr" presetSubtype="16" fill="hold" grpId="0" nodeType="withEffect">
                                  <p:stCondLst>
                                    <p:cond delay="500"/>
                                  </p:stCondLst>
                                  <p:childTnLst>
                                    <p:set>
                                      <p:cBhvr>
                                        <p:cTn id="10" dur="1" fill="hold">
                                          <p:stCondLst>
                                            <p:cond delay="0"/>
                                          </p:stCondLst>
                                        </p:cTn>
                                        <p:tgtEl>
                                          <p:spTgt spid="27"/>
                                        </p:tgtEl>
                                        <p:attrNameLst>
                                          <p:attrName>style.visibility</p:attrName>
                                        </p:attrNameLst>
                                      </p:cBhvr>
                                      <p:to>
                                        <p:strVal val="visible"/>
                                      </p:to>
                                    </p:set>
                                    <p:anim calcmode="lin" valueType="num">
                                      <p:cBhvr>
                                        <p:cTn id="11" dur="600" fill="hold" decel="100000"/>
                                        <p:tgtEl>
                                          <p:spTgt spid="27"/>
                                        </p:tgtEl>
                                        <p:attrNameLst>
                                          <p:attrName>ppt_w</p:attrName>
                                        </p:attrNameLst>
                                      </p:cBhvr>
                                      <p:tavLst>
                                        <p:tav tm="0">
                                          <p:val>
                                            <p:strVal val="#ppt_w*0.70"/>
                                          </p:val>
                                        </p:tav>
                                        <p:tav tm="100000">
                                          <p:val>
                                            <p:strVal val="#ppt_w"/>
                                          </p:val>
                                        </p:tav>
                                      </p:tavLst>
                                    </p:anim>
                                    <p:anim calcmode="lin" valueType="num">
                                      <p:cBhvr>
                                        <p:cTn id="12" dur="600" fill="hold" decel="100000"/>
                                        <p:tgtEl>
                                          <p:spTgt spid="27"/>
                                        </p:tgtEl>
                                        <p:attrNameLst>
                                          <p:attrName>ppt_h</p:attrName>
                                        </p:attrNameLst>
                                      </p:cBhvr>
                                      <p:tavLst>
                                        <p:tav tm="0">
                                          <p:val>
                                            <p:strVal val="#ppt_h*0.70"/>
                                          </p:val>
                                        </p:tav>
                                        <p:tav tm="100000">
                                          <p:val>
                                            <p:strVal val="#ppt_h"/>
                                          </p:val>
                                        </p:tav>
                                      </p:tavLst>
                                    </p:anim>
                                    <p:animEffect transition="in" filter="fade">
                                      <p:cBhvr>
                                        <p:cTn id="13" dur="600"/>
                                        <p:tgtEl>
                                          <p:spTgt spid="27"/>
                                        </p:tgtEl>
                                      </p:cBhvr>
                                    </p:animEffect>
                                  </p:childTnLst>
                                </p:cTn>
                              </p:par>
                              <p:par>
                                <p:cTn id="19" presetID="53" presetClass="entr" presetSubtype="16" fill="hold" grpId="0" nodeType="withEffect">
                                  <p:stCondLst>
                                    <p:cond delay="500"/>
                                  </p:stCondLst>
                                  <p:childTnLst>
                                    <p:set>
                                      <p:cBhvr>
                                        <p:cTn id="15" dur="1" fill="hold">
                                          <p:stCondLst>
                                            <p:cond delay="0"/>
                                          </p:stCondLst>
                                        </p:cTn>
                                        <p:tgtEl>
                                          <p:spTgt spid="28"/>
                                        </p:tgtEl>
                                        <p:attrNameLst>
                                          <p:attrName>style.visibility</p:attrName>
                                        </p:attrNameLst>
                                      </p:cBhvr>
                                      <p:to>
                                        <p:strVal val="visible"/>
                                      </p:to>
                                    </p:set>
                                    <p:anim calcmode="lin" valueType="num">
                                      <p:cBhvr>
                                        <p:cTn id="16" dur="600" fill="hold" decel="100000"/>
                                        <p:tgtEl>
                                          <p:spTgt spid="28"/>
                                        </p:tgtEl>
                                        <p:attrNameLst>
                                          <p:attrName>ppt_w</p:attrName>
                                        </p:attrNameLst>
                                      </p:cBhvr>
                                      <p:tavLst>
                                        <p:tav tm="0">
                                          <p:val>
                                            <p:strVal val="#ppt_w*0.70"/>
                                          </p:val>
                                        </p:tav>
                                        <p:tav tm="100000">
                                          <p:val>
                                            <p:strVal val="#ppt_w"/>
                                          </p:val>
                                        </p:tav>
                                      </p:tavLst>
                                    </p:anim>
                                    <p:anim calcmode="lin" valueType="num">
                                      <p:cBhvr>
                                        <p:cTn id="17" dur="600" fill="hold" decel="100000"/>
                                        <p:tgtEl>
                                          <p:spTgt spid="28"/>
                                        </p:tgtEl>
                                        <p:attrNameLst>
                                          <p:attrName>ppt_h</p:attrName>
                                        </p:attrNameLst>
                                      </p:cBhvr>
                                      <p:tavLst>
                                        <p:tav tm="0">
                                          <p:val>
                                            <p:strVal val="#ppt_h*0.70"/>
                                          </p:val>
                                        </p:tav>
                                        <p:tav tm="100000">
                                          <p:val>
                                            <p:strVal val="#ppt_h"/>
                                          </p:val>
                                        </p:tav>
                                      </p:tavLst>
                                    </p:anim>
                                    <p:animEffect transition="in" filter="fade">
                                      <p:cBhvr>
                                        <p:cTn id="18" dur="600"/>
                                        <p:tgtEl>
                                          <p:spTgt spid="28"/>
                                        </p:tgtEl>
                                      </p:cBhvr>
                                    </p:animEffect>
                                  </p:childTnLst>
                                </p:cTn>
                              </p:par>
                              <p:par>
                                <p:cTn id="24" presetID="42" presetClass="entr" presetSubtype="0" fill="hold" grpId="0" nodeType="withEffect">
                                  <p:stCondLst>
                                    <p:cond delay="60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600"/>
                                        <p:tgtEl>
                                          <p:spTgt spid="29"/>
                                        </p:tgtEl>
                                      </p:cBhvr>
                                    </p:animEffect>
                                    <p:anim calcmode="lin" valueType="num">
                                      <p:cBhvr>
                                        <p:cTn id="22" dur="600" fill="hold" decel="100000"/>
                                        <p:tgtEl>
                                          <p:spTgt spid="29"/>
                                        </p:tgtEl>
                                        <p:attrNameLst>
                                          <p:attrName>ppt_x</p:attrName>
                                        </p:attrNameLst>
                                      </p:cBhvr>
                                      <p:tavLst>
                                        <p:tav tm="0">
                                          <p:val>
                                            <p:strVal val="#ppt_x"/>
                                          </p:val>
                                        </p:tav>
                                        <p:tav tm="100000">
                                          <p:val>
                                            <p:strVal val="#ppt_x"/>
                                          </p:val>
                                        </p:tav>
                                      </p:tavLst>
                                    </p:anim>
                                    <p:anim calcmode="lin" valueType="num">
                                      <p:cBhvr>
                                        <p:cTn id="23" dur="600" fill="hold" decel="100000"/>
                                        <p:tgtEl>
                                          <p:spTgt spid="29"/>
                                        </p:tgtEl>
                                        <p:attrNameLst>
                                          <p:attrName>ppt_y</p:attrName>
                                        </p:attrNameLst>
                                      </p:cBhvr>
                                      <p:tavLst>
                                        <p:tav tm="0">
                                          <p:val>
                                            <p:strVal val="#ppt_y+0.04"/>
                                          </p:val>
                                        </p:tav>
                                        <p:tav tm="100000">
                                          <p:val>
                                            <p:strVal val="#ppt_y"/>
                                          </p:val>
                                        </p:tav>
                                      </p:tavLst>
                                    </p:anim>
                                  </p:childTnLst>
                                </p:cTn>
                              </p:par>
                              <p:par>
                                <p:cTn id="27" presetID="10" presetClass="entr" presetSubtype="0" fill="hold" grpId="0" nodeType="withEffect">
                                  <p:stCondLst>
                                    <p:cond delay="70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600"/>
                                        <p:tgtEl>
                                          <p:spTgt spid="30"/>
                                        </p:tgtEl>
                                      </p:cBhvr>
                                    </p:animEffect>
                                  </p:childTnLst>
                                </p:cTn>
                              </p:par>
                              <p:par>
                                <p:cTn id="32" presetID="53" presetClass="entr" presetSubtype="16" fill="hold" grpId="0" nodeType="withEffect">
                                  <p:stCondLst>
                                    <p:cond delay="720"/>
                                  </p:stCondLst>
                                  <p:childTnLst>
                                    <p:set>
                                      <p:cBhvr>
                                        <p:cTn id="28" dur="1" fill="hold">
                                          <p:stCondLst>
                                            <p:cond delay="0"/>
                                          </p:stCondLst>
                                        </p:cTn>
                                        <p:tgtEl>
                                          <p:spTgt spid="32"/>
                                        </p:tgtEl>
                                        <p:attrNameLst>
                                          <p:attrName>style.visibility</p:attrName>
                                        </p:attrNameLst>
                                      </p:cBhvr>
                                      <p:to>
                                        <p:strVal val="visible"/>
                                      </p:to>
                                    </p:set>
                                    <p:anim calcmode="lin" valueType="num">
                                      <p:cBhvr>
                                        <p:cTn id="29" dur="600" fill="hold" decel="100000"/>
                                        <p:tgtEl>
                                          <p:spTgt spid="32"/>
                                        </p:tgtEl>
                                        <p:attrNameLst>
                                          <p:attrName>ppt_w</p:attrName>
                                        </p:attrNameLst>
                                      </p:cBhvr>
                                      <p:tavLst>
                                        <p:tav tm="0">
                                          <p:val>
                                            <p:strVal val="#ppt_w*0.70"/>
                                          </p:val>
                                        </p:tav>
                                        <p:tav tm="100000">
                                          <p:val>
                                            <p:strVal val="#ppt_w"/>
                                          </p:val>
                                        </p:tav>
                                      </p:tavLst>
                                    </p:anim>
                                    <p:anim calcmode="lin" valueType="num">
                                      <p:cBhvr>
                                        <p:cTn id="30" dur="600" fill="hold" decel="100000"/>
                                        <p:tgtEl>
                                          <p:spTgt spid="32"/>
                                        </p:tgtEl>
                                        <p:attrNameLst>
                                          <p:attrName>ppt_h</p:attrName>
                                        </p:attrNameLst>
                                      </p:cBhvr>
                                      <p:tavLst>
                                        <p:tav tm="0">
                                          <p:val>
                                            <p:strVal val="#ppt_h*0.70"/>
                                          </p:val>
                                        </p:tav>
                                        <p:tav tm="100000">
                                          <p:val>
                                            <p:strVal val="#ppt_h"/>
                                          </p:val>
                                        </p:tav>
                                      </p:tavLst>
                                    </p:anim>
                                    <p:animEffect transition="in" filter="fade">
                                      <p:cBhvr>
                                        <p:cTn id="31" dur="600"/>
                                        <p:tgtEl>
                                          <p:spTgt spid="32"/>
                                        </p:tgtEl>
                                      </p:cBhvr>
                                    </p:animEffect>
                                  </p:childTnLst>
                                </p:cTn>
                              </p:par>
                              <p:par>
                                <p:cTn id="37" presetID="53" presetClass="entr" presetSubtype="16" fill="hold" grpId="0" nodeType="withEffect">
                                  <p:stCondLst>
                                    <p:cond delay="720"/>
                                  </p:stCondLst>
                                  <p:childTnLst>
                                    <p:set>
                                      <p:cBhvr>
                                        <p:cTn id="33" dur="1" fill="hold">
                                          <p:stCondLst>
                                            <p:cond delay="0"/>
                                          </p:stCondLst>
                                        </p:cTn>
                                        <p:tgtEl>
                                          <p:spTgt spid="33"/>
                                        </p:tgtEl>
                                        <p:attrNameLst>
                                          <p:attrName>style.visibility</p:attrName>
                                        </p:attrNameLst>
                                      </p:cBhvr>
                                      <p:to>
                                        <p:strVal val="visible"/>
                                      </p:to>
                                    </p:set>
                                    <p:anim calcmode="lin" valueType="num">
                                      <p:cBhvr>
                                        <p:cTn id="34" dur="600" fill="hold" decel="100000"/>
                                        <p:tgtEl>
                                          <p:spTgt spid="33"/>
                                        </p:tgtEl>
                                        <p:attrNameLst>
                                          <p:attrName>ppt_w</p:attrName>
                                        </p:attrNameLst>
                                      </p:cBhvr>
                                      <p:tavLst>
                                        <p:tav tm="0">
                                          <p:val>
                                            <p:strVal val="#ppt_w*0.70"/>
                                          </p:val>
                                        </p:tav>
                                        <p:tav tm="100000">
                                          <p:val>
                                            <p:strVal val="#ppt_w"/>
                                          </p:val>
                                        </p:tav>
                                      </p:tavLst>
                                    </p:anim>
                                    <p:anim calcmode="lin" valueType="num">
                                      <p:cBhvr>
                                        <p:cTn id="35" dur="600" fill="hold" decel="100000"/>
                                        <p:tgtEl>
                                          <p:spTgt spid="33"/>
                                        </p:tgtEl>
                                        <p:attrNameLst>
                                          <p:attrName>ppt_h</p:attrName>
                                        </p:attrNameLst>
                                      </p:cBhvr>
                                      <p:tavLst>
                                        <p:tav tm="0">
                                          <p:val>
                                            <p:strVal val="#ppt_h*0.70"/>
                                          </p:val>
                                        </p:tav>
                                        <p:tav tm="100000">
                                          <p:val>
                                            <p:strVal val="#ppt_h"/>
                                          </p:val>
                                        </p:tav>
                                      </p:tavLst>
                                    </p:anim>
                                    <p:animEffect transition="in" filter="fade">
                                      <p:cBhvr>
                                        <p:cTn id="36" dur="600"/>
                                        <p:tgtEl>
                                          <p:spTgt spid="33"/>
                                        </p:tgtEl>
                                      </p:cBhvr>
                                    </p:animEffect>
                                  </p:childTnLst>
                                </p:cTn>
                              </p:par>
                              <p:par>
                                <p:cTn id="40" presetID="10" presetClass="entr" presetSubtype="0" fill="hold" grpId="0" nodeType="withEffect">
                                  <p:stCondLst>
                                    <p:cond delay="80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600"/>
                                        <p:tgtEl>
                                          <p:spTgt spid="31"/>
                                        </p:tgtEl>
                                      </p:cBhvr>
                                    </p:animEffect>
                                  </p:childTnLst>
                                </p:cTn>
                              </p:par>
                              <p:par>
                                <p:cTn id="45" presetID="42" presetClass="entr" presetSubtype="0" fill="hold" grpId="0" nodeType="withEffect">
                                  <p:stCondLst>
                                    <p:cond delay="82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600"/>
                                        <p:tgtEl>
                                          <p:spTgt spid="34"/>
                                        </p:tgtEl>
                                      </p:cBhvr>
                                    </p:animEffect>
                                    <p:anim calcmode="lin" valueType="num">
                                      <p:cBhvr>
                                        <p:cTn id="43" dur="600" fill="hold" decel="100000"/>
                                        <p:tgtEl>
                                          <p:spTgt spid="34"/>
                                        </p:tgtEl>
                                        <p:attrNameLst>
                                          <p:attrName>ppt_x</p:attrName>
                                        </p:attrNameLst>
                                      </p:cBhvr>
                                      <p:tavLst>
                                        <p:tav tm="0">
                                          <p:val>
                                            <p:strVal val="#ppt_x"/>
                                          </p:val>
                                        </p:tav>
                                        <p:tav tm="100000">
                                          <p:val>
                                            <p:strVal val="#ppt_x"/>
                                          </p:val>
                                        </p:tav>
                                      </p:tavLst>
                                    </p:anim>
                                    <p:anim calcmode="lin" valueType="num">
                                      <p:cBhvr>
                                        <p:cTn id="44" dur="600" fill="hold" decel="100000"/>
                                        <p:tgtEl>
                                          <p:spTgt spid="34"/>
                                        </p:tgtEl>
                                        <p:attrNameLst>
                                          <p:attrName>ppt_y</p:attrName>
                                        </p:attrNameLst>
                                      </p:cBhvr>
                                      <p:tavLst>
                                        <p:tav tm="0">
                                          <p:val>
                                            <p:strVal val="#ppt_y+0.04"/>
                                          </p:val>
                                        </p:tav>
                                        <p:tav tm="100000">
                                          <p:val>
                                            <p:strVal val="#ppt_y"/>
                                          </p:val>
                                        </p:tav>
                                      </p:tavLst>
                                    </p:anim>
                                  </p:childTnLst>
                                </p:cTn>
                              </p:par>
                              <p:par>
                                <p:cTn id="48" presetID="10" presetClass="entr" presetSubtype="0" fill="hold" grpId="0" nodeType="withEffect">
                                  <p:stCondLst>
                                    <p:cond delay="92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600"/>
                                        <p:tgtEl>
                                          <p:spTgt spid="35"/>
                                        </p:tgtEl>
                                      </p:cBhvr>
                                    </p:animEffect>
                                  </p:childTnLst>
                                </p:cTn>
                              </p:par>
                              <p:par>
                                <p:cTn id="53" presetID="53" presetClass="entr" presetSubtype="16" fill="hold" grpId="0" nodeType="withEffect">
                                  <p:stCondLst>
                                    <p:cond delay="940"/>
                                  </p:stCondLst>
                                  <p:childTnLst>
                                    <p:set>
                                      <p:cBhvr>
                                        <p:cTn id="49" dur="1" fill="hold">
                                          <p:stCondLst>
                                            <p:cond delay="0"/>
                                          </p:stCondLst>
                                        </p:cTn>
                                        <p:tgtEl>
                                          <p:spTgt spid="37"/>
                                        </p:tgtEl>
                                        <p:attrNameLst>
                                          <p:attrName>style.visibility</p:attrName>
                                        </p:attrNameLst>
                                      </p:cBhvr>
                                      <p:to>
                                        <p:strVal val="visible"/>
                                      </p:to>
                                    </p:set>
                                    <p:anim calcmode="lin" valueType="num">
                                      <p:cBhvr>
                                        <p:cTn id="50" dur="600" fill="hold" decel="100000"/>
                                        <p:tgtEl>
                                          <p:spTgt spid="37"/>
                                        </p:tgtEl>
                                        <p:attrNameLst>
                                          <p:attrName>ppt_w</p:attrName>
                                        </p:attrNameLst>
                                      </p:cBhvr>
                                      <p:tavLst>
                                        <p:tav tm="0">
                                          <p:val>
                                            <p:strVal val="#ppt_w*0.70"/>
                                          </p:val>
                                        </p:tav>
                                        <p:tav tm="100000">
                                          <p:val>
                                            <p:strVal val="#ppt_w"/>
                                          </p:val>
                                        </p:tav>
                                      </p:tavLst>
                                    </p:anim>
                                    <p:anim calcmode="lin" valueType="num">
                                      <p:cBhvr>
                                        <p:cTn id="51" dur="600" fill="hold" decel="100000"/>
                                        <p:tgtEl>
                                          <p:spTgt spid="37"/>
                                        </p:tgtEl>
                                        <p:attrNameLst>
                                          <p:attrName>ppt_h</p:attrName>
                                        </p:attrNameLst>
                                      </p:cBhvr>
                                      <p:tavLst>
                                        <p:tav tm="0">
                                          <p:val>
                                            <p:strVal val="#ppt_h*0.70"/>
                                          </p:val>
                                        </p:tav>
                                        <p:tav tm="100000">
                                          <p:val>
                                            <p:strVal val="#ppt_h"/>
                                          </p:val>
                                        </p:tav>
                                      </p:tavLst>
                                    </p:anim>
                                    <p:animEffect transition="in" filter="fade">
                                      <p:cBhvr>
                                        <p:cTn id="52" dur="600"/>
                                        <p:tgtEl>
                                          <p:spTgt spid="37"/>
                                        </p:tgtEl>
                                      </p:cBhvr>
                                    </p:animEffect>
                                  </p:childTnLst>
                                </p:cTn>
                              </p:par>
                              <p:par>
                                <p:cTn id="58" presetID="53" presetClass="entr" presetSubtype="16" fill="hold" grpId="0" nodeType="withEffect">
                                  <p:stCondLst>
                                    <p:cond delay="940"/>
                                  </p:stCondLst>
                                  <p:childTnLst>
                                    <p:set>
                                      <p:cBhvr>
                                        <p:cTn id="54" dur="1" fill="hold">
                                          <p:stCondLst>
                                            <p:cond delay="0"/>
                                          </p:stCondLst>
                                        </p:cTn>
                                        <p:tgtEl>
                                          <p:spTgt spid="38"/>
                                        </p:tgtEl>
                                        <p:attrNameLst>
                                          <p:attrName>style.visibility</p:attrName>
                                        </p:attrNameLst>
                                      </p:cBhvr>
                                      <p:to>
                                        <p:strVal val="visible"/>
                                      </p:to>
                                    </p:set>
                                    <p:anim calcmode="lin" valueType="num">
                                      <p:cBhvr>
                                        <p:cTn id="55" dur="600" fill="hold" decel="100000"/>
                                        <p:tgtEl>
                                          <p:spTgt spid="38"/>
                                        </p:tgtEl>
                                        <p:attrNameLst>
                                          <p:attrName>ppt_w</p:attrName>
                                        </p:attrNameLst>
                                      </p:cBhvr>
                                      <p:tavLst>
                                        <p:tav tm="0">
                                          <p:val>
                                            <p:strVal val="#ppt_w*0.70"/>
                                          </p:val>
                                        </p:tav>
                                        <p:tav tm="100000">
                                          <p:val>
                                            <p:strVal val="#ppt_w"/>
                                          </p:val>
                                        </p:tav>
                                      </p:tavLst>
                                    </p:anim>
                                    <p:anim calcmode="lin" valueType="num">
                                      <p:cBhvr>
                                        <p:cTn id="56" dur="600" fill="hold" decel="100000"/>
                                        <p:tgtEl>
                                          <p:spTgt spid="38"/>
                                        </p:tgtEl>
                                        <p:attrNameLst>
                                          <p:attrName>ppt_h</p:attrName>
                                        </p:attrNameLst>
                                      </p:cBhvr>
                                      <p:tavLst>
                                        <p:tav tm="0">
                                          <p:val>
                                            <p:strVal val="#ppt_h*0.70"/>
                                          </p:val>
                                        </p:tav>
                                        <p:tav tm="100000">
                                          <p:val>
                                            <p:strVal val="#ppt_h"/>
                                          </p:val>
                                        </p:tav>
                                      </p:tavLst>
                                    </p:anim>
                                    <p:animEffect transition="in" filter="fade">
                                      <p:cBhvr>
                                        <p:cTn id="57" dur="600"/>
                                        <p:tgtEl>
                                          <p:spTgt spid="38"/>
                                        </p:tgtEl>
                                      </p:cBhvr>
                                    </p:animEffect>
                                  </p:childTnLst>
                                </p:cTn>
                              </p:par>
                              <p:par>
                                <p:cTn id="61" presetID="10" presetClass="entr" presetSubtype="0" fill="hold" grpId="0" nodeType="withEffect">
                                  <p:stCondLst>
                                    <p:cond delay="102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600"/>
                                        <p:tgtEl>
                                          <p:spTgt spid="36"/>
                                        </p:tgtEl>
                                      </p:cBhvr>
                                    </p:animEffect>
                                  </p:childTnLst>
                                </p:cTn>
                              </p:par>
                              <p:par>
                                <p:cTn id="66" presetID="42" presetClass="entr" presetSubtype="0" fill="hold" grpId="0" nodeType="withEffect">
                                  <p:stCondLst>
                                    <p:cond delay="104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600"/>
                                        <p:tgtEl>
                                          <p:spTgt spid="39"/>
                                        </p:tgtEl>
                                      </p:cBhvr>
                                    </p:animEffect>
                                    <p:anim calcmode="lin" valueType="num">
                                      <p:cBhvr>
                                        <p:cTn id="64" dur="600" fill="hold" decel="100000"/>
                                        <p:tgtEl>
                                          <p:spTgt spid="39"/>
                                        </p:tgtEl>
                                        <p:attrNameLst>
                                          <p:attrName>ppt_x</p:attrName>
                                        </p:attrNameLst>
                                      </p:cBhvr>
                                      <p:tavLst>
                                        <p:tav tm="0">
                                          <p:val>
                                            <p:strVal val="#ppt_x"/>
                                          </p:val>
                                        </p:tav>
                                        <p:tav tm="100000">
                                          <p:val>
                                            <p:strVal val="#ppt_x"/>
                                          </p:val>
                                        </p:tav>
                                      </p:tavLst>
                                    </p:anim>
                                    <p:anim calcmode="lin" valueType="num">
                                      <p:cBhvr>
                                        <p:cTn id="65" dur="600" fill="hold" decel="100000"/>
                                        <p:tgtEl>
                                          <p:spTgt spid="39"/>
                                        </p:tgtEl>
                                        <p:attrNameLst>
                                          <p:attrName>ppt_y</p:attrName>
                                        </p:attrNameLst>
                                      </p:cBhvr>
                                      <p:tavLst>
                                        <p:tav tm="0">
                                          <p:val>
                                            <p:strVal val="#ppt_y+0.04"/>
                                          </p:val>
                                        </p:tav>
                                        <p:tav tm="100000">
                                          <p:val>
                                            <p:strVal val="#ppt_y"/>
                                          </p:val>
                                        </p:tav>
                                      </p:tavLst>
                                    </p:anim>
                                  </p:childTnLst>
                                </p:cTn>
                              </p:par>
                              <p:par>
                                <p:cTn id="69" presetID="10" presetClass="entr" presetSubtype="0" fill="hold" grpId="0" nodeType="withEffect">
                                  <p:stCondLst>
                                    <p:cond delay="114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600"/>
                                        <p:tgtEl>
                                          <p:spTgt spid="40"/>
                                        </p:tgtEl>
                                      </p:cBhvr>
                                    </p:animEffect>
                                  </p:childTnLst>
                                </p:cTn>
                              </p:par>
                              <p:par>
                                <p:cTn id="74" presetID="53" presetClass="entr" presetSubtype="16" fill="hold" grpId="0" nodeType="withEffect">
                                  <p:stCondLst>
                                    <p:cond delay="1160"/>
                                  </p:stCondLst>
                                  <p:childTnLst>
                                    <p:set>
                                      <p:cBhvr>
                                        <p:cTn id="70" dur="1" fill="hold">
                                          <p:stCondLst>
                                            <p:cond delay="0"/>
                                          </p:stCondLst>
                                        </p:cTn>
                                        <p:tgtEl>
                                          <p:spTgt spid="42"/>
                                        </p:tgtEl>
                                        <p:attrNameLst>
                                          <p:attrName>style.visibility</p:attrName>
                                        </p:attrNameLst>
                                      </p:cBhvr>
                                      <p:to>
                                        <p:strVal val="visible"/>
                                      </p:to>
                                    </p:set>
                                    <p:anim calcmode="lin" valueType="num">
                                      <p:cBhvr>
                                        <p:cTn id="71" dur="600" fill="hold" decel="100000"/>
                                        <p:tgtEl>
                                          <p:spTgt spid="42"/>
                                        </p:tgtEl>
                                        <p:attrNameLst>
                                          <p:attrName>ppt_w</p:attrName>
                                        </p:attrNameLst>
                                      </p:cBhvr>
                                      <p:tavLst>
                                        <p:tav tm="0">
                                          <p:val>
                                            <p:strVal val="#ppt_w*0.70"/>
                                          </p:val>
                                        </p:tav>
                                        <p:tav tm="100000">
                                          <p:val>
                                            <p:strVal val="#ppt_w"/>
                                          </p:val>
                                        </p:tav>
                                      </p:tavLst>
                                    </p:anim>
                                    <p:anim calcmode="lin" valueType="num">
                                      <p:cBhvr>
                                        <p:cTn id="72" dur="600" fill="hold" decel="100000"/>
                                        <p:tgtEl>
                                          <p:spTgt spid="42"/>
                                        </p:tgtEl>
                                        <p:attrNameLst>
                                          <p:attrName>ppt_h</p:attrName>
                                        </p:attrNameLst>
                                      </p:cBhvr>
                                      <p:tavLst>
                                        <p:tav tm="0">
                                          <p:val>
                                            <p:strVal val="#ppt_h*0.70"/>
                                          </p:val>
                                        </p:tav>
                                        <p:tav tm="100000">
                                          <p:val>
                                            <p:strVal val="#ppt_h"/>
                                          </p:val>
                                        </p:tav>
                                      </p:tavLst>
                                    </p:anim>
                                    <p:animEffect transition="in" filter="fade">
                                      <p:cBhvr>
                                        <p:cTn id="73" dur="600"/>
                                        <p:tgtEl>
                                          <p:spTgt spid="42"/>
                                        </p:tgtEl>
                                      </p:cBhvr>
                                    </p:animEffect>
                                  </p:childTnLst>
                                </p:cTn>
                              </p:par>
                              <p:par>
                                <p:cTn id="79" presetID="53" presetClass="entr" presetSubtype="16" fill="hold" grpId="0" nodeType="withEffect">
                                  <p:stCondLst>
                                    <p:cond delay="1160"/>
                                  </p:stCondLst>
                                  <p:childTnLst>
                                    <p:set>
                                      <p:cBhvr>
                                        <p:cTn id="75" dur="1" fill="hold">
                                          <p:stCondLst>
                                            <p:cond delay="0"/>
                                          </p:stCondLst>
                                        </p:cTn>
                                        <p:tgtEl>
                                          <p:spTgt spid="43"/>
                                        </p:tgtEl>
                                        <p:attrNameLst>
                                          <p:attrName>style.visibility</p:attrName>
                                        </p:attrNameLst>
                                      </p:cBhvr>
                                      <p:to>
                                        <p:strVal val="visible"/>
                                      </p:to>
                                    </p:set>
                                    <p:anim calcmode="lin" valueType="num">
                                      <p:cBhvr>
                                        <p:cTn id="76" dur="600" fill="hold" decel="100000"/>
                                        <p:tgtEl>
                                          <p:spTgt spid="43"/>
                                        </p:tgtEl>
                                        <p:attrNameLst>
                                          <p:attrName>ppt_w</p:attrName>
                                        </p:attrNameLst>
                                      </p:cBhvr>
                                      <p:tavLst>
                                        <p:tav tm="0">
                                          <p:val>
                                            <p:strVal val="#ppt_w*0.70"/>
                                          </p:val>
                                        </p:tav>
                                        <p:tav tm="100000">
                                          <p:val>
                                            <p:strVal val="#ppt_w"/>
                                          </p:val>
                                        </p:tav>
                                      </p:tavLst>
                                    </p:anim>
                                    <p:anim calcmode="lin" valueType="num">
                                      <p:cBhvr>
                                        <p:cTn id="77" dur="600" fill="hold" decel="100000"/>
                                        <p:tgtEl>
                                          <p:spTgt spid="43"/>
                                        </p:tgtEl>
                                        <p:attrNameLst>
                                          <p:attrName>ppt_h</p:attrName>
                                        </p:attrNameLst>
                                      </p:cBhvr>
                                      <p:tavLst>
                                        <p:tav tm="0">
                                          <p:val>
                                            <p:strVal val="#ppt_h*0.70"/>
                                          </p:val>
                                        </p:tav>
                                        <p:tav tm="100000">
                                          <p:val>
                                            <p:strVal val="#ppt_h"/>
                                          </p:val>
                                        </p:tav>
                                      </p:tavLst>
                                    </p:anim>
                                    <p:animEffect transition="in" filter="fade">
                                      <p:cBhvr>
                                        <p:cTn id="78" dur="600"/>
                                        <p:tgtEl>
                                          <p:spTgt spid="43"/>
                                        </p:tgtEl>
                                      </p:cBhvr>
                                    </p:animEffect>
                                  </p:childTnLst>
                                </p:cTn>
                              </p:par>
                              <p:par>
                                <p:cTn id="82" presetID="10" presetClass="entr" presetSubtype="0" fill="hold" grpId="0" nodeType="withEffect">
                                  <p:stCondLst>
                                    <p:cond delay="1240"/>
                                  </p:stCondLst>
                                  <p:childTnLst>
                                    <p:set>
                                      <p:cBhvr>
                                        <p:cTn id="80" dur="1" fill="hold">
                                          <p:stCondLst>
                                            <p:cond delay="0"/>
                                          </p:stCondLst>
                                        </p:cTn>
                                        <p:tgtEl>
                                          <p:spTgt spid="41"/>
                                        </p:tgtEl>
                                        <p:attrNameLst>
                                          <p:attrName>style.visibility</p:attrName>
                                        </p:attrNameLst>
                                      </p:cBhvr>
                                      <p:to>
                                        <p:strVal val="visible"/>
                                      </p:to>
                                    </p:set>
                                    <p:animEffect transition="in" filter="fade">
                                      <p:cBhvr>
                                        <p:cTn id="81" dur="600"/>
                                        <p:tgtEl>
                                          <p:spTgt spid="41"/>
                                        </p:tgtEl>
                                      </p:cBhvr>
                                    </p:animEffect>
                                  </p:childTnLst>
                                </p:cTn>
                              </p:par>
                              <p:par>
                                <p:cTn id="87" presetID="42" presetClass="entr" presetSubtype="0" fill="hold" grpId="0" nodeType="withEffect">
                                  <p:stCondLst>
                                    <p:cond delay="126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600"/>
                                        <p:tgtEl>
                                          <p:spTgt spid="44"/>
                                        </p:tgtEl>
                                      </p:cBhvr>
                                    </p:animEffect>
                                    <p:anim calcmode="lin" valueType="num">
                                      <p:cBhvr>
                                        <p:cTn id="85" dur="600" fill="hold" decel="100000"/>
                                        <p:tgtEl>
                                          <p:spTgt spid="44"/>
                                        </p:tgtEl>
                                        <p:attrNameLst>
                                          <p:attrName>ppt_x</p:attrName>
                                        </p:attrNameLst>
                                      </p:cBhvr>
                                      <p:tavLst>
                                        <p:tav tm="0">
                                          <p:val>
                                            <p:strVal val="#ppt_x"/>
                                          </p:val>
                                        </p:tav>
                                        <p:tav tm="100000">
                                          <p:val>
                                            <p:strVal val="#ppt_x"/>
                                          </p:val>
                                        </p:tav>
                                      </p:tavLst>
                                    </p:anim>
                                    <p:anim calcmode="lin" valueType="num">
                                      <p:cBhvr>
                                        <p:cTn id="86" dur="600" fill="hold" decel="100000"/>
                                        <p:tgtEl>
                                          <p:spTgt spid="44"/>
                                        </p:tgtEl>
                                        <p:attrNameLst>
                                          <p:attrName>ppt_y</p:attrName>
                                        </p:attrNameLst>
                                      </p:cBhvr>
                                      <p:tavLst>
                                        <p:tav tm="0">
                                          <p:val>
                                            <p:strVal val="#ppt_y+0.04"/>
                                          </p:val>
                                        </p:tav>
                                        <p:tav tm="100000">
                                          <p:val>
                                            <p:strVal val="#ppt_y"/>
                                          </p:val>
                                        </p:tav>
                                      </p:tavLst>
                                    </p:anim>
                                  </p:childTnLst>
                                </p:cTn>
                              </p:par>
                              <p:par>
                                <p:cTn id="90" presetID="10" presetClass="entr" presetSubtype="0" fill="hold" grpId="0" nodeType="withEffect">
                                  <p:stCondLst>
                                    <p:cond delay="136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600"/>
                                        <p:tgtEl>
                                          <p:spTgt spid="45"/>
                                        </p:tgtEl>
                                      </p:cBhvr>
                                    </p:animEffect>
                                  </p:childTnLst>
                                </p:cTn>
                              </p:par>
                              <p:par>
                                <p:cTn id="93" presetID="10" presetClass="entr" presetSubtype="0" fill="hold" grpId="0" nodeType="withEffect">
                                  <p:stCondLst>
                                    <p:cond delay="146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29" grpId="0" animBg="1"/>
      <p:bldP spid="30" grpId="0" animBg="1"/>
      <p:bldP spid="32" grpId="0" animBg="1"/>
      <p:bldP spid="33" grpId="0" animBg="1"/>
      <p:bldP spid="31" grpId="0" animBg="1"/>
      <p:bldP spid="34" grpId="0" animBg="1"/>
      <p:bldP spid="35" grpId="0" animBg="1"/>
      <p:bldP spid="37" grpId="0" animBg="1"/>
      <p:bldP spid="38" grpId="0" animBg="1"/>
      <p:bldP spid="36" grpId="0" animBg="1"/>
      <p:bldP spid="39" grpId="0" animBg="1"/>
      <p:bldP spid="40" grpId="0" animBg="1"/>
      <p:bldP spid="42" grpId="0" animBg="1"/>
      <p:bldP spid="43" grpId="0" animBg="1"/>
      <p:bldP spid="41" grpId="0" animBg="1"/>
      <p:bldP spid="44" grpId="0" animBg="1"/>
      <p:bldP spid="45" grpId="0" animBg="1"/>
      <p:bldP spid="46" grpId="0" animBg="1"/>
    </p:bldLst>
  </p:timing>
</p:sld>
</file>

<file path=ppt/slides/slide18.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03 — RESERVOIR LOCATIONS</a:t>
            </a:r>
            <a:endParaRPr lang="en-US" sz="1500" dirty="0"/>
          </a:p>
        </p:txBody>
      </p:sp>
      <p:sp>
        <p:nvSpPr>
          <p:cNvPr id="3" name="strata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Reservoirs stacked from shallow to deep</a:t>
            </a:r>
            <a:endParaRPr lang="en-US" sz="3800" dirty="0"/>
          </a:p>
        </p:txBody>
      </p:sp>
      <p:pic>
        <p:nvPicPr>
          <p:cNvPr id="4" name="strata_i_1" descr="/home/user/shahad-research/build/assets/depth_arrow.png">    </p:cNvPr>
          <p:cNvPicPr>
            <a:picLocks noChangeAspect="1"/>
          </p:cNvPicPr>
          <p:nvPr/>
        </p:nvPicPr>
        <p:blipFill>
          <a:blip r:embed="rId1"/>
          <a:stretch>
            <a:fillRect/>
          </a:stretch>
        </p:blipFill>
        <p:spPr>
          <a:xfrm>
            <a:off x="548640" y="1783080"/>
            <a:ext cx="274320" cy="4023360"/>
          </a:xfrm>
          <a:prstGeom prst="rect">
            <a:avLst/>
          </a:prstGeom>
        </p:spPr>
      </p:pic>
      <p:sp>
        <p:nvSpPr>
          <p:cNvPr id="5" name="strata_s_2"/>
          <p:cNvSpPr/>
          <p:nvPr/>
        </p:nvSpPr>
        <p:spPr>
          <a:xfrm>
            <a:off x="1051560" y="1783080"/>
            <a:ext cx="1417320" cy="429768"/>
          </a:xfrm>
          <a:prstGeom prst="rect">
            <a:avLst/>
          </a:prstGeom>
          <a:solidFill>
            <a:srgbClr val="C98A2E"/>
          </a:solidFill>
          <a:ln/>
        </p:spPr>
      </p:sp>
      <p:sp>
        <p:nvSpPr>
          <p:cNvPr id="6" name="strata_t_3"/>
          <p:cNvSpPr txBox="1"/>
          <p:nvPr/>
        </p:nvSpPr>
        <p:spPr>
          <a:xfrm>
            <a:off x="2697480" y="1842516"/>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Lower Fars  </a:t>
            </a:r>
            <a:pPr indent="0" marL="0">
              <a:buNone/>
            </a:pPr>
            <a:r>
              <a:rPr lang="en-US" sz="1500" dirty="0">
                <a:solidFill>
                  <a:schemeClr val="tx2"/>
                </a:solidFill>
                <a:latin typeface="Arial" pitchFamily="34" charset="0"/>
                <a:ea typeface="Arial" pitchFamily="34" charset="-122"/>
                <a:cs typeface="Arial" pitchFamily="34" charset="-120"/>
              </a:rPr>
              <a:t>Miocene sandstone</a:t>
            </a:r>
            <a:endParaRPr lang="en-US" sz="1500" dirty="0"/>
          </a:p>
        </p:txBody>
      </p:sp>
      <p:sp>
        <p:nvSpPr>
          <p:cNvPr id="7" name="strata_s_4"/>
          <p:cNvSpPr/>
          <p:nvPr/>
        </p:nvSpPr>
        <p:spPr>
          <a:xfrm>
            <a:off x="1051560" y="2240280"/>
            <a:ext cx="1417320" cy="338328"/>
          </a:xfrm>
          <a:prstGeom prst="rect">
            <a:avLst/>
          </a:prstGeom>
          <a:solidFill>
            <a:srgbClr val="4E6E86"/>
          </a:solidFill>
          <a:ln/>
        </p:spPr>
      </p:sp>
      <p:sp>
        <p:nvSpPr>
          <p:cNvPr id="8" name="strata_t_5"/>
          <p:cNvSpPr txBox="1"/>
          <p:nvPr/>
        </p:nvSpPr>
        <p:spPr>
          <a:xfrm>
            <a:off x="2697480" y="2253996"/>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Mishrif  </a:t>
            </a:r>
            <a:pPr indent="0" marL="0">
              <a:buNone/>
            </a:pPr>
            <a:r>
              <a:rPr lang="en-US" sz="1500" dirty="0">
                <a:solidFill>
                  <a:schemeClr val="tx2"/>
                </a:solidFill>
                <a:latin typeface="Arial" pitchFamily="34" charset="0"/>
                <a:ea typeface="Arial" pitchFamily="34" charset="-122"/>
                <a:cs typeface="Arial" pitchFamily="34" charset="-120"/>
              </a:rPr>
              <a:t>Mid-Cretaceous carbonate</a:t>
            </a:r>
            <a:endParaRPr lang="en-US" sz="1500" dirty="0"/>
          </a:p>
        </p:txBody>
      </p:sp>
      <p:sp>
        <p:nvSpPr>
          <p:cNvPr id="9" name="strata_s_6"/>
          <p:cNvSpPr/>
          <p:nvPr/>
        </p:nvSpPr>
        <p:spPr>
          <a:xfrm>
            <a:off x="1051560" y="2606040"/>
            <a:ext cx="1417320" cy="301752"/>
          </a:xfrm>
          <a:prstGeom prst="rect">
            <a:avLst/>
          </a:prstGeom>
          <a:solidFill>
            <a:srgbClr val="C98A2E"/>
          </a:solidFill>
          <a:ln/>
        </p:spPr>
      </p:sp>
      <p:sp>
        <p:nvSpPr>
          <p:cNvPr id="10" name="strata_t_7"/>
          <p:cNvSpPr txBox="1"/>
          <p:nvPr/>
        </p:nvSpPr>
        <p:spPr>
          <a:xfrm>
            <a:off x="2697480" y="2601468"/>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Wara  </a:t>
            </a:r>
            <a:pPr indent="0" marL="0">
              <a:buNone/>
            </a:pPr>
            <a:r>
              <a:rPr lang="en-US" sz="1500" dirty="0">
                <a:solidFill>
                  <a:schemeClr val="tx2"/>
                </a:solidFill>
                <a:latin typeface="Arial" pitchFamily="34" charset="0"/>
                <a:ea typeface="Arial" pitchFamily="34" charset="-122"/>
                <a:cs typeface="Arial" pitchFamily="34" charset="-120"/>
              </a:rPr>
              <a:t>Mid-Cretaceous sandstone</a:t>
            </a:r>
            <a:endParaRPr lang="en-US" sz="1500" dirty="0"/>
          </a:p>
        </p:txBody>
      </p:sp>
      <p:sp>
        <p:nvSpPr>
          <p:cNvPr id="11" name="strata_s_8"/>
          <p:cNvSpPr/>
          <p:nvPr/>
        </p:nvSpPr>
        <p:spPr>
          <a:xfrm>
            <a:off x="1051560" y="2935224"/>
            <a:ext cx="1417320" cy="338328"/>
          </a:xfrm>
          <a:prstGeom prst="rect">
            <a:avLst/>
          </a:prstGeom>
          <a:solidFill>
            <a:srgbClr val="4E6E86"/>
          </a:solidFill>
          <a:ln/>
        </p:spPr>
      </p:sp>
      <p:sp>
        <p:nvSpPr>
          <p:cNvPr id="12" name="strata_t_9"/>
          <p:cNvSpPr txBox="1"/>
          <p:nvPr/>
        </p:nvSpPr>
        <p:spPr>
          <a:xfrm>
            <a:off x="2697480" y="2948940"/>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Mauddud  </a:t>
            </a:r>
            <a:pPr indent="0" marL="0">
              <a:buNone/>
            </a:pPr>
            <a:r>
              <a:rPr lang="en-US" sz="1500" dirty="0">
                <a:solidFill>
                  <a:schemeClr val="tx2"/>
                </a:solidFill>
                <a:latin typeface="Arial" pitchFamily="34" charset="0"/>
                <a:ea typeface="Arial" pitchFamily="34" charset="-122"/>
                <a:cs typeface="Arial" pitchFamily="34" charset="-120"/>
              </a:rPr>
              <a:t>Mid-Cretaceous carbonate</a:t>
            </a:r>
            <a:endParaRPr lang="en-US" sz="1500" dirty="0"/>
          </a:p>
        </p:txBody>
      </p:sp>
      <p:sp>
        <p:nvSpPr>
          <p:cNvPr id="13" name="strata_s_10"/>
          <p:cNvSpPr/>
          <p:nvPr/>
        </p:nvSpPr>
        <p:spPr>
          <a:xfrm>
            <a:off x="1051560" y="3300984"/>
            <a:ext cx="1417320" cy="576072"/>
          </a:xfrm>
          <a:prstGeom prst="rect">
            <a:avLst/>
          </a:prstGeom>
          <a:solidFill>
            <a:srgbClr val="C98A2E"/>
          </a:solidFill>
          <a:ln/>
        </p:spPr>
      </p:sp>
      <p:sp>
        <p:nvSpPr>
          <p:cNvPr id="14" name="strata_t_11"/>
          <p:cNvSpPr txBox="1"/>
          <p:nvPr/>
        </p:nvSpPr>
        <p:spPr>
          <a:xfrm>
            <a:off x="2697480" y="3433572"/>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Burgan  </a:t>
            </a:r>
            <a:pPr indent="0" marL="0">
              <a:buNone/>
            </a:pPr>
            <a:r>
              <a:rPr lang="en-US" sz="1500" dirty="0">
                <a:solidFill>
                  <a:schemeClr val="tx2"/>
                </a:solidFill>
                <a:latin typeface="Arial" pitchFamily="34" charset="0"/>
                <a:ea typeface="Arial" pitchFamily="34" charset="-122"/>
                <a:cs typeface="Arial" pitchFamily="34" charset="-120"/>
              </a:rPr>
              <a:t>Mid-Cretaceous (Albian) sandstone</a:t>
            </a:r>
            <a:endParaRPr lang="en-US" sz="1500" dirty="0"/>
          </a:p>
        </p:txBody>
      </p:sp>
      <p:sp>
        <p:nvSpPr>
          <p:cNvPr id="15" name="strata_s_12"/>
          <p:cNvSpPr/>
          <p:nvPr/>
        </p:nvSpPr>
        <p:spPr>
          <a:xfrm>
            <a:off x="1051560" y="3904488"/>
            <a:ext cx="1417320" cy="356616"/>
          </a:xfrm>
          <a:prstGeom prst="rect">
            <a:avLst/>
          </a:prstGeom>
          <a:solidFill>
            <a:srgbClr val="C98A2E"/>
          </a:solidFill>
          <a:ln/>
        </p:spPr>
      </p:sp>
      <p:sp>
        <p:nvSpPr>
          <p:cNvPr id="16" name="strata_t_13"/>
          <p:cNvSpPr txBox="1"/>
          <p:nvPr/>
        </p:nvSpPr>
        <p:spPr>
          <a:xfrm>
            <a:off x="2697480" y="3927348"/>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Zubair  </a:t>
            </a:r>
            <a:pPr indent="0" marL="0">
              <a:buNone/>
            </a:pPr>
            <a:r>
              <a:rPr lang="en-US" sz="1500" dirty="0">
                <a:solidFill>
                  <a:schemeClr val="tx2"/>
                </a:solidFill>
                <a:latin typeface="Arial" pitchFamily="34" charset="0"/>
                <a:ea typeface="Arial" pitchFamily="34" charset="-122"/>
                <a:cs typeface="Arial" pitchFamily="34" charset="-120"/>
              </a:rPr>
              <a:t>Early Cretaceous sandstone</a:t>
            </a:r>
            <a:endParaRPr lang="en-US" sz="1500" dirty="0"/>
          </a:p>
        </p:txBody>
      </p:sp>
      <p:sp>
        <p:nvSpPr>
          <p:cNvPr id="17" name="strata_s_14"/>
          <p:cNvSpPr/>
          <p:nvPr/>
        </p:nvSpPr>
        <p:spPr>
          <a:xfrm>
            <a:off x="1051560" y="4288536"/>
            <a:ext cx="1417320" cy="301752"/>
          </a:xfrm>
          <a:prstGeom prst="rect">
            <a:avLst/>
          </a:prstGeom>
          <a:solidFill>
            <a:srgbClr val="4E6E86"/>
          </a:solidFill>
          <a:ln/>
        </p:spPr>
      </p:sp>
      <p:sp>
        <p:nvSpPr>
          <p:cNvPr id="18" name="strata_t_15"/>
          <p:cNvSpPr txBox="1"/>
          <p:nvPr/>
        </p:nvSpPr>
        <p:spPr>
          <a:xfrm>
            <a:off x="2697480" y="4283964"/>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Ratawi  </a:t>
            </a:r>
            <a:pPr indent="0" marL="0">
              <a:buNone/>
            </a:pPr>
            <a:r>
              <a:rPr lang="en-US" sz="1500" dirty="0">
                <a:solidFill>
                  <a:schemeClr val="tx2"/>
                </a:solidFill>
                <a:latin typeface="Arial" pitchFamily="34" charset="0"/>
                <a:ea typeface="Arial" pitchFamily="34" charset="-122"/>
                <a:cs typeface="Arial" pitchFamily="34" charset="-120"/>
              </a:rPr>
              <a:t>Early Cretaceous limestone and shale</a:t>
            </a:r>
            <a:endParaRPr lang="en-US" sz="1500" dirty="0"/>
          </a:p>
        </p:txBody>
      </p:sp>
      <p:sp>
        <p:nvSpPr>
          <p:cNvPr id="19" name="strata_s_16"/>
          <p:cNvSpPr/>
          <p:nvPr/>
        </p:nvSpPr>
        <p:spPr>
          <a:xfrm>
            <a:off x="1051560" y="4617720"/>
            <a:ext cx="1417320" cy="356616"/>
          </a:xfrm>
          <a:prstGeom prst="rect">
            <a:avLst/>
          </a:prstGeom>
          <a:solidFill>
            <a:srgbClr val="4E6E86"/>
          </a:solidFill>
          <a:ln/>
        </p:spPr>
      </p:sp>
      <p:sp>
        <p:nvSpPr>
          <p:cNvPr id="20" name="strata_t_17"/>
          <p:cNvSpPr txBox="1"/>
          <p:nvPr/>
        </p:nvSpPr>
        <p:spPr>
          <a:xfrm>
            <a:off x="2697480" y="4640580"/>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Minagish  </a:t>
            </a:r>
            <a:pPr indent="0" marL="0">
              <a:buNone/>
            </a:pPr>
            <a:r>
              <a:rPr lang="en-US" sz="1500" dirty="0">
                <a:solidFill>
                  <a:schemeClr val="tx2"/>
                </a:solidFill>
                <a:latin typeface="Arial" pitchFamily="34" charset="0"/>
                <a:ea typeface="Arial" pitchFamily="34" charset="-122"/>
                <a:cs typeface="Arial" pitchFamily="34" charset="-120"/>
              </a:rPr>
              <a:t>Early Cretaceous oolitic limestone</a:t>
            </a:r>
            <a:endParaRPr lang="en-US" sz="1500" dirty="0"/>
          </a:p>
        </p:txBody>
      </p:sp>
      <p:sp>
        <p:nvSpPr>
          <p:cNvPr id="21" name="strata_s_18"/>
          <p:cNvSpPr/>
          <p:nvPr/>
        </p:nvSpPr>
        <p:spPr>
          <a:xfrm>
            <a:off x="1051560" y="5001768"/>
            <a:ext cx="1417320" cy="374904"/>
          </a:xfrm>
          <a:prstGeom prst="rect">
            <a:avLst/>
          </a:prstGeom>
          <a:solidFill>
            <a:srgbClr val="2F5D7C"/>
          </a:solidFill>
          <a:ln/>
        </p:spPr>
      </p:sp>
      <p:sp>
        <p:nvSpPr>
          <p:cNvPr id="22" name="strata_t_19"/>
          <p:cNvSpPr txBox="1"/>
          <p:nvPr/>
        </p:nvSpPr>
        <p:spPr>
          <a:xfrm>
            <a:off x="2697480" y="5033772"/>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Najmah / Sargelu  </a:t>
            </a:r>
            <a:pPr indent="0" marL="0">
              <a:buNone/>
            </a:pPr>
            <a:r>
              <a:rPr lang="en-US" sz="1500" dirty="0">
                <a:solidFill>
                  <a:schemeClr val="tx2"/>
                </a:solidFill>
                <a:latin typeface="Arial" pitchFamily="34" charset="0"/>
                <a:ea typeface="Arial" pitchFamily="34" charset="-122"/>
                <a:cs typeface="Arial" pitchFamily="34" charset="-120"/>
              </a:rPr>
              <a:t>Middle–Late Jurassic carbonates</a:t>
            </a:r>
            <a:endParaRPr lang="en-US" sz="1500" dirty="0"/>
          </a:p>
        </p:txBody>
      </p:sp>
      <p:sp>
        <p:nvSpPr>
          <p:cNvPr id="23" name="strata_s_20"/>
          <p:cNvSpPr/>
          <p:nvPr/>
        </p:nvSpPr>
        <p:spPr>
          <a:xfrm>
            <a:off x="1051560" y="5404104"/>
            <a:ext cx="1417320" cy="374904"/>
          </a:xfrm>
          <a:prstGeom prst="rect">
            <a:avLst/>
          </a:prstGeom>
          <a:solidFill>
            <a:srgbClr val="2F5D7C"/>
          </a:solidFill>
          <a:ln/>
        </p:spPr>
      </p:sp>
      <p:sp>
        <p:nvSpPr>
          <p:cNvPr id="24" name="strata_t_21"/>
          <p:cNvSpPr txBox="1"/>
          <p:nvPr/>
        </p:nvSpPr>
        <p:spPr>
          <a:xfrm>
            <a:off x="2697480" y="5436108"/>
            <a:ext cx="4572000" cy="310896"/>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Marrat  </a:t>
            </a:r>
            <a:pPr indent="0" marL="0">
              <a:buNone/>
            </a:pPr>
            <a:r>
              <a:rPr lang="en-US" sz="1500" dirty="0">
                <a:solidFill>
                  <a:schemeClr val="tx2"/>
                </a:solidFill>
                <a:latin typeface="Arial" pitchFamily="34" charset="0"/>
                <a:ea typeface="Arial" pitchFamily="34" charset="-122"/>
                <a:cs typeface="Arial" pitchFamily="34" charset="-120"/>
              </a:rPr>
              <a:t>Early Jurassic carbonate</a:t>
            </a:r>
            <a:endParaRPr lang="en-US" sz="1500" dirty="0"/>
          </a:p>
        </p:txBody>
      </p:sp>
      <p:sp>
        <p:nvSpPr>
          <p:cNvPr id="25" name="strata_s_22"/>
          <p:cNvSpPr/>
          <p:nvPr/>
        </p:nvSpPr>
        <p:spPr>
          <a:xfrm>
            <a:off x="7360920" y="1819656"/>
            <a:ext cx="45720" cy="356616"/>
          </a:xfrm>
          <a:prstGeom prst="rect">
            <a:avLst/>
          </a:prstGeom>
          <a:solidFill>
            <a:srgbClr val="FF9F0A"/>
          </a:solidFill>
          <a:ln/>
        </p:spPr>
      </p:sp>
      <p:sp>
        <p:nvSpPr>
          <p:cNvPr id="26" name="strata_t_23"/>
          <p:cNvSpPr txBox="1"/>
          <p:nvPr/>
        </p:nvSpPr>
        <p:spPr>
          <a:xfrm>
            <a:off x="7635240" y="1737360"/>
            <a:ext cx="4007815" cy="8686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Heavy oil</a:t>
            </a:r>
            <a:endParaRPr lang="en-US" sz="1800" dirty="0"/>
          </a:p>
          <a:p>
            <a:pPr indent="0" marL="0">
              <a:buNone/>
            </a:pPr>
            <a:r>
              <a:rPr lang="en-US" sz="1400" dirty="0">
                <a:solidFill>
                  <a:schemeClr val="tx2"/>
                </a:solidFill>
                <a:latin typeface="Arial" pitchFamily="34" charset="0"/>
                <a:ea typeface="Arial" pitchFamily="34" charset="-122"/>
                <a:cs typeface="Arial" pitchFamily="34" charset="-120"/>
              </a:rPr>
              <a:t>Shallow Lower Fars sands of North Kuwait (Ratqa area)</a:t>
            </a:r>
            <a:endParaRPr lang="en-US" sz="1800" dirty="0"/>
          </a:p>
        </p:txBody>
      </p:sp>
      <p:sp>
        <p:nvSpPr>
          <p:cNvPr id="27" name="strata_s_24"/>
          <p:cNvSpPr/>
          <p:nvPr/>
        </p:nvSpPr>
        <p:spPr>
          <a:xfrm>
            <a:off x="7360920" y="2276856"/>
            <a:ext cx="45720" cy="2660904"/>
          </a:xfrm>
          <a:prstGeom prst="rect">
            <a:avLst/>
          </a:prstGeom>
          <a:solidFill>
            <a:srgbClr val="FF9F0A"/>
          </a:solidFill>
          <a:ln/>
        </p:spPr>
      </p:sp>
      <p:sp>
        <p:nvSpPr>
          <p:cNvPr id="28" name="strata_t_25"/>
          <p:cNvSpPr txBox="1"/>
          <p:nvPr/>
        </p:nvSpPr>
        <p:spPr>
          <a:xfrm>
            <a:off x="7635240" y="2875788"/>
            <a:ext cx="4007815" cy="146304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Kuwait Export Crude</a:t>
            </a:r>
            <a:endParaRPr lang="en-US" sz="1800" dirty="0"/>
          </a:p>
          <a:p>
            <a:pPr indent="0" marL="0">
              <a:buNone/>
            </a:pPr>
            <a:r>
              <a:rPr lang="en-US" sz="1400" dirty="0">
                <a:solidFill>
                  <a:schemeClr val="tx2"/>
                </a:solidFill>
                <a:latin typeface="Arial" pitchFamily="34" charset="0"/>
                <a:ea typeface="Arial" pitchFamily="34" charset="-122"/>
                <a:cs typeface="Arial" pitchFamily="34" charset="-120"/>
              </a:rPr>
              <a:t>Cretaceous sandstones and carbonates: Greater Burgan, Raudhatain, Sabriya, Minagish, Umm Gudair</a:t>
            </a:r>
            <a:endParaRPr lang="en-US" sz="1800" dirty="0"/>
          </a:p>
        </p:txBody>
      </p:sp>
      <p:sp>
        <p:nvSpPr>
          <p:cNvPr id="29" name="strata_s_26"/>
          <p:cNvSpPr/>
          <p:nvPr/>
        </p:nvSpPr>
        <p:spPr>
          <a:xfrm>
            <a:off x="7360920" y="5038344"/>
            <a:ext cx="45720" cy="704088"/>
          </a:xfrm>
          <a:prstGeom prst="rect">
            <a:avLst/>
          </a:prstGeom>
          <a:solidFill>
            <a:srgbClr val="64D2FF"/>
          </a:solidFill>
          <a:ln/>
        </p:spPr>
      </p:sp>
      <p:sp>
        <p:nvSpPr>
          <p:cNvPr id="30" name="strata_t_27"/>
          <p:cNvSpPr txBox="1"/>
          <p:nvPr/>
        </p:nvSpPr>
        <p:spPr>
          <a:xfrm>
            <a:off x="7635240" y="4937760"/>
            <a:ext cx="4007815" cy="8686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Super-light oil &amp; sour gas</a:t>
            </a:r>
            <a:endParaRPr lang="en-US" sz="1800" dirty="0"/>
          </a:p>
          <a:p>
            <a:pPr indent="0" marL="0">
              <a:buNone/>
            </a:pPr>
            <a:r>
              <a:rPr lang="en-US" sz="1400" dirty="0">
                <a:solidFill>
                  <a:schemeClr val="tx2"/>
                </a:solidFill>
                <a:latin typeface="Arial" pitchFamily="34" charset="0"/>
                <a:ea typeface="Arial" pitchFamily="34" charset="-122"/>
                <a:cs typeface="Arial" pitchFamily="34" charset="-120"/>
              </a:rPr>
              <a:t>Deep Jurassic carbonates of North Kuwait, high pressure and temperature</a:t>
            </a:r>
            <a:endParaRPr lang="en-US" sz="1800" dirty="0"/>
          </a:p>
        </p:txBody>
      </p:sp>
      <p:sp>
        <p:nvSpPr>
          <p:cNvPr id="31" name="strata_t_28"/>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Naqi, Alsalem &amp; Qabazard (2023) in The Geology of Kuwait (Springer); KOC; S&amp;P Global (2018). Simplified, not to scale.</a:t>
            </a:r>
            <a:endParaRPr lang="en-US" sz="1200" dirty="0"/>
          </a:p>
        </p:txBody>
      </p:sp>
      <p:sp>
        <p:nvSpPr>
          <p:cNvPr id="32" name="strata_home_29">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33" name="strata_i_30"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34" name="strata_s_31">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1"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wipe(up)">
                                      <p:cBhvr>
                                        <p:cTn id="11" dur="1200"/>
                                        <p:tgtEl>
                                          <p:spTgt spid="4"/>
                                        </p:tgtEl>
                                      </p:cBhvr>
                                    </p:animEffect>
                                  </p:childTnLst>
                                </p:cTn>
                              </p:par>
                              <p:par>
                                <p:cTn id="15" presetID="22" presetClass="entr" presetSubtype="8" fill="hold" grpId="0" nodeType="withEffect">
                                  <p:stCondLst>
                                    <p:cond delay="300"/>
                                  </p:stCondLst>
                                  <p:childTnLst>
                                    <p:set>
                                      <p:cBhvr>
                                        <p:cTn id="13" dur="1" fill="hold">
                                          <p:stCondLst>
                                            <p:cond delay="0"/>
                                          </p:stCondLst>
                                        </p:cTn>
                                        <p:tgtEl>
                                          <p:spTgt spid="5"/>
                                        </p:tgtEl>
                                        <p:attrNameLst>
                                          <p:attrName>style.visibility</p:attrName>
                                        </p:attrNameLst>
                                      </p:cBhvr>
                                      <p:to>
                                        <p:strVal val="visible"/>
                                      </p:to>
                                    </p:set>
                                    <p:animEffect transition="in" filter="wipe(left)">
                                      <p:cBhvr>
                                        <p:cTn id="14" dur="500"/>
                                        <p:tgtEl>
                                          <p:spTgt spid="5"/>
                                        </p:tgtEl>
                                      </p:cBhvr>
                                    </p:animEffect>
                                  </p:childTnLst>
                                </p:cTn>
                              </p:par>
                              <p:par>
                                <p:cTn id="18" presetID="22" presetClass="entr" presetSubtype="8" fill="hold" grpId="0" nodeType="withEffect">
                                  <p:stCondLst>
                                    <p:cond delay="44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500"/>
                                        <p:tgtEl>
                                          <p:spTgt spid="7"/>
                                        </p:tgtEl>
                                      </p:cBhvr>
                                    </p:animEffect>
                                  </p:childTnLst>
                                </p:cTn>
                              </p:par>
                              <p:par>
                                <p:cTn id="21" presetID="10" presetClass="entr" presetSubtype="0" fill="hold" grpId="0" nodeType="withEffect">
                                  <p:stCondLst>
                                    <p:cond delay="45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par>
                                <p:cTn id="24" presetID="22" presetClass="entr" presetSubtype="8" fill="hold" grpId="0" nodeType="withEffect">
                                  <p:stCondLst>
                                    <p:cond delay="58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500"/>
                                        <p:tgtEl>
                                          <p:spTgt spid="9"/>
                                        </p:tgtEl>
                                      </p:cBhvr>
                                    </p:animEffect>
                                  </p:childTnLst>
                                </p:cTn>
                              </p:par>
                              <p:par>
                                <p:cTn id="27" presetID="10" presetClass="entr" presetSubtype="0" fill="hold" grpId="0" nodeType="withEffect">
                                  <p:stCondLst>
                                    <p:cond delay="59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par>
                                <p:cTn id="30" presetID="22" presetClass="entr" presetSubtype="8" fill="hold" grpId="0" nodeType="withEffect">
                                  <p:stCondLst>
                                    <p:cond delay="72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500"/>
                                        <p:tgtEl>
                                          <p:spTgt spid="11"/>
                                        </p:tgtEl>
                                      </p:cBhvr>
                                    </p:animEffect>
                                  </p:childTnLst>
                                </p:cTn>
                              </p:par>
                              <p:par>
                                <p:cTn id="33" presetID="10" presetClass="entr" presetSubtype="0" fill="hold" grpId="0" nodeType="withEffect">
                                  <p:stCondLst>
                                    <p:cond delay="73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par>
                                <p:cTn id="36" presetID="22" presetClass="entr" presetSubtype="8" fill="hold" grpId="0" nodeType="withEffect">
                                  <p:stCondLst>
                                    <p:cond delay="860"/>
                                  </p:stCondLst>
                                  <p:childTnLst>
                                    <p:set>
                                      <p:cBhvr>
                                        <p:cTn id="34" dur="1" fill="hold">
                                          <p:stCondLst>
                                            <p:cond delay="0"/>
                                          </p:stCondLst>
                                        </p:cTn>
                                        <p:tgtEl>
                                          <p:spTgt spid="13"/>
                                        </p:tgtEl>
                                        <p:attrNameLst>
                                          <p:attrName>style.visibility</p:attrName>
                                        </p:attrNameLst>
                                      </p:cBhvr>
                                      <p:to>
                                        <p:strVal val="visible"/>
                                      </p:to>
                                    </p:set>
                                    <p:animEffect transition="in" filter="wipe(left)">
                                      <p:cBhvr>
                                        <p:cTn id="35" dur="500"/>
                                        <p:tgtEl>
                                          <p:spTgt spid="13"/>
                                        </p:tgtEl>
                                      </p:cBhvr>
                                    </p:animEffect>
                                  </p:childTnLst>
                                </p:cTn>
                              </p:par>
                              <p:par>
                                <p:cTn id="39" presetID="10" presetClass="entr" presetSubtype="0" fill="hold" grpId="0" nodeType="withEffect">
                                  <p:stCondLst>
                                    <p:cond delay="8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42" presetID="22" presetClass="entr" presetSubtype="8" fill="hold" grpId="0" nodeType="withEffect">
                                  <p:stCondLst>
                                    <p:cond delay="1000"/>
                                  </p:stCondLst>
                                  <p:childTnLst>
                                    <p:set>
                                      <p:cBhvr>
                                        <p:cTn id="40" dur="1" fill="hold">
                                          <p:stCondLst>
                                            <p:cond delay="0"/>
                                          </p:stCondLst>
                                        </p:cTn>
                                        <p:tgtEl>
                                          <p:spTgt spid="15"/>
                                        </p:tgtEl>
                                        <p:attrNameLst>
                                          <p:attrName>style.visibility</p:attrName>
                                        </p:attrNameLst>
                                      </p:cBhvr>
                                      <p:to>
                                        <p:strVal val="visible"/>
                                      </p:to>
                                    </p:set>
                                    <p:animEffect transition="in" filter="wipe(left)">
                                      <p:cBhvr>
                                        <p:cTn id="41" dur="500"/>
                                        <p:tgtEl>
                                          <p:spTgt spid="15"/>
                                        </p:tgtEl>
                                      </p:cBhvr>
                                    </p:animEffect>
                                  </p:childTnLst>
                                </p:cTn>
                              </p:par>
                              <p:par>
                                <p:cTn id="45" presetID="10" presetClass="entr" presetSubtype="0" fill="hold" grpId="0" nodeType="withEffect">
                                  <p:stCondLst>
                                    <p:cond delay="10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8" presetID="22" presetClass="entr" presetSubtype="8" fill="hold" grpId="0" nodeType="withEffect">
                                  <p:stCondLst>
                                    <p:cond delay="1140"/>
                                  </p:stCondLst>
                                  <p:childTnLst>
                                    <p:set>
                                      <p:cBhvr>
                                        <p:cTn id="46" dur="1" fill="hold">
                                          <p:stCondLst>
                                            <p:cond delay="0"/>
                                          </p:stCondLst>
                                        </p:cTn>
                                        <p:tgtEl>
                                          <p:spTgt spid="17"/>
                                        </p:tgtEl>
                                        <p:attrNameLst>
                                          <p:attrName>style.visibility</p:attrName>
                                        </p:attrNameLst>
                                      </p:cBhvr>
                                      <p:to>
                                        <p:strVal val="visible"/>
                                      </p:to>
                                    </p:set>
                                    <p:animEffect transition="in" filter="wipe(left)">
                                      <p:cBhvr>
                                        <p:cTn id="47" dur="500"/>
                                        <p:tgtEl>
                                          <p:spTgt spid="17"/>
                                        </p:tgtEl>
                                      </p:cBhvr>
                                    </p:animEffect>
                                  </p:childTnLst>
                                </p:cTn>
                              </p:par>
                              <p:par>
                                <p:cTn id="51" presetID="10" presetClass="entr" presetSubtype="0" fill="hold" grpId="0" nodeType="withEffect">
                                  <p:stCondLst>
                                    <p:cond delay="115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4" presetID="22" presetClass="entr" presetSubtype="8" fill="hold" grpId="0" nodeType="withEffect">
                                  <p:stCondLst>
                                    <p:cond delay="1280"/>
                                  </p:stCondLst>
                                  <p:childTnLst>
                                    <p:set>
                                      <p:cBhvr>
                                        <p:cTn id="52" dur="1" fill="hold">
                                          <p:stCondLst>
                                            <p:cond delay="0"/>
                                          </p:stCondLst>
                                        </p:cTn>
                                        <p:tgtEl>
                                          <p:spTgt spid="19"/>
                                        </p:tgtEl>
                                        <p:attrNameLst>
                                          <p:attrName>style.visibility</p:attrName>
                                        </p:attrNameLst>
                                      </p:cBhvr>
                                      <p:to>
                                        <p:strVal val="visible"/>
                                      </p:to>
                                    </p:set>
                                    <p:animEffect transition="in" filter="wipe(left)">
                                      <p:cBhvr>
                                        <p:cTn id="53" dur="500"/>
                                        <p:tgtEl>
                                          <p:spTgt spid="19"/>
                                        </p:tgtEl>
                                      </p:cBhvr>
                                    </p:animEffect>
                                  </p:childTnLst>
                                </p:cTn>
                              </p:par>
                              <p:par>
                                <p:cTn id="57" presetID="10" presetClass="entr" presetSubtype="0" fill="hold" grpId="0" nodeType="withEffect">
                                  <p:stCondLst>
                                    <p:cond delay="129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60" presetID="22" presetClass="entr" presetSubtype="8" fill="hold" grpId="0" nodeType="withEffect">
                                  <p:stCondLst>
                                    <p:cond delay="1420"/>
                                  </p:stCondLst>
                                  <p:childTnLst>
                                    <p:set>
                                      <p:cBhvr>
                                        <p:cTn id="58" dur="1" fill="hold">
                                          <p:stCondLst>
                                            <p:cond delay="0"/>
                                          </p:stCondLst>
                                        </p:cTn>
                                        <p:tgtEl>
                                          <p:spTgt spid="21"/>
                                        </p:tgtEl>
                                        <p:attrNameLst>
                                          <p:attrName>style.visibility</p:attrName>
                                        </p:attrNameLst>
                                      </p:cBhvr>
                                      <p:to>
                                        <p:strVal val="visible"/>
                                      </p:to>
                                    </p:set>
                                    <p:animEffect transition="in" filter="wipe(left)">
                                      <p:cBhvr>
                                        <p:cTn id="59" dur="500"/>
                                        <p:tgtEl>
                                          <p:spTgt spid="21"/>
                                        </p:tgtEl>
                                      </p:cBhvr>
                                    </p:animEffect>
                                  </p:childTnLst>
                                </p:cTn>
                              </p:par>
                              <p:par>
                                <p:cTn id="63" presetID="10" presetClass="entr" presetSubtype="0" fill="hold" grpId="0" nodeType="withEffect">
                                  <p:stCondLst>
                                    <p:cond delay="143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6" presetID="22" presetClass="entr" presetSubtype="8" fill="hold" grpId="0" nodeType="withEffect">
                                  <p:stCondLst>
                                    <p:cond delay="1560"/>
                                  </p:stCondLst>
                                  <p:childTnLst>
                                    <p:set>
                                      <p:cBhvr>
                                        <p:cTn id="64" dur="1" fill="hold">
                                          <p:stCondLst>
                                            <p:cond delay="0"/>
                                          </p:stCondLst>
                                        </p:cTn>
                                        <p:tgtEl>
                                          <p:spTgt spid="23"/>
                                        </p:tgtEl>
                                        <p:attrNameLst>
                                          <p:attrName>style.visibility</p:attrName>
                                        </p:attrNameLst>
                                      </p:cBhvr>
                                      <p:to>
                                        <p:strVal val="visible"/>
                                      </p:to>
                                    </p:set>
                                    <p:animEffect transition="in" filter="wipe(left)">
                                      <p:cBhvr>
                                        <p:cTn id="65" dur="500"/>
                                        <p:tgtEl>
                                          <p:spTgt spid="23"/>
                                        </p:tgtEl>
                                      </p:cBhvr>
                                    </p:animEffect>
                                  </p:childTnLst>
                                </p:cTn>
                              </p:par>
                              <p:par>
                                <p:cTn id="69" presetID="10" presetClass="entr" presetSubtype="0" fill="hold" grpId="0" nodeType="withEffect">
                                  <p:stCondLst>
                                    <p:cond delay="157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par>
                                <p:cTn id="72" presetID="10" presetClass="entr" presetSubtype="0" fill="hold" grpId="0" nodeType="withEffect">
                                  <p:stCondLst>
                                    <p:cond delay="171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5" presetID="22" presetClass="entr" presetSubtype="1" fill="hold" grpId="0" nodeType="withEffect">
                                  <p:stCondLst>
                                    <p:cond delay="1900"/>
                                  </p:stCondLst>
                                  <p:childTnLst>
                                    <p:set>
                                      <p:cBhvr>
                                        <p:cTn id="73" dur="1" fill="hold">
                                          <p:stCondLst>
                                            <p:cond delay="0"/>
                                          </p:stCondLst>
                                        </p:cTn>
                                        <p:tgtEl>
                                          <p:spTgt spid="25"/>
                                        </p:tgtEl>
                                        <p:attrNameLst>
                                          <p:attrName>style.visibility</p:attrName>
                                        </p:attrNameLst>
                                      </p:cBhvr>
                                      <p:to>
                                        <p:strVal val="visible"/>
                                      </p:to>
                                    </p:set>
                                    <p:animEffect transition="in" filter="wipe(up)">
                                      <p:cBhvr>
                                        <p:cTn id="74" dur="500"/>
                                        <p:tgtEl>
                                          <p:spTgt spid="25"/>
                                        </p:tgtEl>
                                      </p:cBhvr>
                                    </p:animEffect>
                                  </p:childTnLst>
                                </p:cTn>
                              </p:par>
                              <p:par>
                                <p:cTn id="80" presetID="42" presetClass="entr" presetSubtype="0" fill="hold" grpId="0" nodeType="withEffect">
                                  <p:stCondLst>
                                    <p:cond delay="200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600"/>
                                        <p:tgtEl>
                                          <p:spTgt spid="26"/>
                                        </p:tgtEl>
                                      </p:cBhvr>
                                    </p:animEffect>
                                    <p:anim calcmode="lin" valueType="num">
                                      <p:cBhvr>
                                        <p:cTn id="78" dur="600" fill="hold" decel="100000"/>
                                        <p:tgtEl>
                                          <p:spTgt spid="26"/>
                                        </p:tgtEl>
                                        <p:attrNameLst>
                                          <p:attrName>ppt_x</p:attrName>
                                        </p:attrNameLst>
                                      </p:cBhvr>
                                      <p:tavLst>
                                        <p:tav tm="0">
                                          <p:val>
                                            <p:strVal val="#ppt_x"/>
                                          </p:val>
                                        </p:tav>
                                        <p:tav tm="100000">
                                          <p:val>
                                            <p:strVal val="#ppt_x"/>
                                          </p:val>
                                        </p:tav>
                                      </p:tavLst>
                                    </p:anim>
                                    <p:anim calcmode="lin" valueType="num">
                                      <p:cBhvr>
                                        <p:cTn id="79" dur="600" fill="hold" decel="100000"/>
                                        <p:tgtEl>
                                          <p:spTgt spid="26"/>
                                        </p:tgtEl>
                                        <p:attrNameLst>
                                          <p:attrName>ppt_y</p:attrName>
                                        </p:attrNameLst>
                                      </p:cBhvr>
                                      <p:tavLst>
                                        <p:tav tm="0">
                                          <p:val>
                                            <p:strVal val="#ppt_y+0.04"/>
                                          </p:val>
                                        </p:tav>
                                        <p:tav tm="100000">
                                          <p:val>
                                            <p:strVal val="#ppt_y"/>
                                          </p:val>
                                        </p:tav>
                                      </p:tavLst>
                                    </p:anim>
                                  </p:childTnLst>
                                </p:cTn>
                              </p:par>
                              <p:par>
                                <p:cTn id="83" presetID="22" presetClass="entr" presetSubtype="1" fill="hold" grpId="0" nodeType="withEffect">
                                  <p:stCondLst>
                                    <p:cond delay="2200"/>
                                  </p:stCondLst>
                                  <p:childTnLst>
                                    <p:set>
                                      <p:cBhvr>
                                        <p:cTn id="81" dur="1" fill="hold">
                                          <p:stCondLst>
                                            <p:cond delay="0"/>
                                          </p:stCondLst>
                                        </p:cTn>
                                        <p:tgtEl>
                                          <p:spTgt spid="27"/>
                                        </p:tgtEl>
                                        <p:attrNameLst>
                                          <p:attrName>style.visibility</p:attrName>
                                        </p:attrNameLst>
                                      </p:cBhvr>
                                      <p:to>
                                        <p:strVal val="visible"/>
                                      </p:to>
                                    </p:set>
                                    <p:animEffect transition="in" filter="wipe(up)">
                                      <p:cBhvr>
                                        <p:cTn id="82" dur="500"/>
                                        <p:tgtEl>
                                          <p:spTgt spid="27"/>
                                        </p:tgtEl>
                                      </p:cBhvr>
                                    </p:animEffect>
                                  </p:childTnLst>
                                </p:cTn>
                              </p:par>
                              <p:par>
                                <p:cTn id="88" presetID="42" presetClass="entr" presetSubtype="0" fill="hold" grpId="0" nodeType="withEffect">
                                  <p:stCondLst>
                                    <p:cond delay="230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600"/>
                                        <p:tgtEl>
                                          <p:spTgt spid="28"/>
                                        </p:tgtEl>
                                      </p:cBhvr>
                                    </p:animEffect>
                                    <p:anim calcmode="lin" valueType="num">
                                      <p:cBhvr>
                                        <p:cTn id="86" dur="600" fill="hold" decel="100000"/>
                                        <p:tgtEl>
                                          <p:spTgt spid="28"/>
                                        </p:tgtEl>
                                        <p:attrNameLst>
                                          <p:attrName>ppt_x</p:attrName>
                                        </p:attrNameLst>
                                      </p:cBhvr>
                                      <p:tavLst>
                                        <p:tav tm="0">
                                          <p:val>
                                            <p:strVal val="#ppt_x"/>
                                          </p:val>
                                        </p:tav>
                                        <p:tav tm="100000">
                                          <p:val>
                                            <p:strVal val="#ppt_x"/>
                                          </p:val>
                                        </p:tav>
                                      </p:tavLst>
                                    </p:anim>
                                    <p:anim calcmode="lin" valueType="num">
                                      <p:cBhvr>
                                        <p:cTn id="87" dur="600" fill="hold" decel="100000"/>
                                        <p:tgtEl>
                                          <p:spTgt spid="28"/>
                                        </p:tgtEl>
                                        <p:attrNameLst>
                                          <p:attrName>ppt_y</p:attrName>
                                        </p:attrNameLst>
                                      </p:cBhvr>
                                      <p:tavLst>
                                        <p:tav tm="0">
                                          <p:val>
                                            <p:strVal val="#ppt_y+0.04"/>
                                          </p:val>
                                        </p:tav>
                                        <p:tav tm="100000">
                                          <p:val>
                                            <p:strVal val="#ppt_y"/>
                                          </p:val>
                                        </p:tav>
                                      </p:tavLst>
                                    </p:anim>
                                  </p:childTnLst>
                                </p:cTn>
                              </p:par>
                              <p:par>
                                <p:cTn id="91" presetID="22" presetClass="entr" presetSubtype="1" fill="hold" grpId="0" nodeType="withEffect">
                                  <p:stCondLst>
                                    <p:cond delay="2500"/>
                                  </p:stCondLst>
                                  <p:childTnLst>
                                    <p:set>
                                      <p:cBhvr>
                                        <p:cTn id="89" dur="1" fill="hold">
                                          <p:stCondLst>
                                            <p:cond delay="0"/>
                                          </p:stCondLst>
                                        </p:cTn>
                                        <p:tgtEl>
                                          <p:spTgt spid="29"/>
                                        </p:tgtEl>
                                        <p:attrNameLst>
                                          <p:attrName>style.visibility</p:attrName>
                                        </p:attrNameLst>
                                      </p:cBhvr>
                                      <p:to>
                                        <p:strVal val="visible"/>
                                      </p:to>
                                    </p:set>
                                    <p:animEffect transition="in" filter="wipe(up)">
                                      <p:cBhvr>
                                        <p:cTn id="90" dur="500"/>
                                        <p:tgtEl>
                                          <p:spTgt spid="29"/>
                                        </p:tgtEl>
                                      </p:cBhvr>
                                    </p:animEffect>
                                  </p:childTnLst>
                                </p:cTn>
                              </p:par>
                              <p:par>
                                <p:cTn id="96" presetID="42" presetClass="entr" presetSubtype="0" fill="hold" grpId="0" nodeType="withEffect">
                                  <p:stCondLst>
                                    <p:cond delay="260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600"/>
                                        <p:tgtEl>
                                          <p:spTgt spid="30"/>
                                        </p:tgtEl>
                                      </p:cBhvr>
                                    </p:animEffect>
                                    <p:anim calcmode="lin" valueType="num">
                                      <p:cBhvr>
                                        <p:cTn id="94" dur="600" fill="hold" decel="100000"/>
                                        <p:tgtEl>
                                          <p:spTgt spid="30"/>
                                        </p:tgtEl>
                                        <p:attrNameLst>
                                          <p:attrName>ppt_x</p:attrName>
                                        </p:attrNameLst>
                                      </p:cBhvr>
                                      <p:tavLst>
                                        <p:tav tm="0">
                                          <p:val>
                                            <p:strVal val="#ppt_x"/>
                                          </p:val>
                                        </p:tav>
                                        <p:tav tm="100000">
                                          <p:val>
                                            <p:strVal val="#ppt_x"/>
                                          </p:val>
                                        </p:tav>
                                      </p:tavLst>
                                    </p:anim>
                                    <p:anim calcmode="lin" valueType="num">
                                      <p:cBhvr>
                                        <p:cTn id="95" dur="600" fill="hold" decel="100000"/>
                                        <p:tgtEl>
                                          <p:spTgt spid="30"/>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6" grpId="0" animBg="1"/>
      <p:bldP spid="9" grpId="0" animBg="1"/>
      <p:bldP spid="8" grpId="0" animBg="1"/>
      <p:bldP spid="11" grpId="0" animBg="1"/>
      <p:bldP spid="10" grpId="0" animBg="1"/>
      <p:bldP spid="13" grpId="0" animBg="1"/>
      <p:bldP spid="12" grpId="0" animBg="1"/>
      <p:bldP spid="15" grpId="0" animBg="1"/>
      <p:bldP spid="14" grpId="0" animBg="1"/>
      <p:bldP spid="17" grpId="0" animBg="1"/>
      <p:bldP spid="16" grpId="0" animBg="1"/>
      <p:bldP spid="19" grpId="0" animBg="1"/>
      <p:bldP spid="18" grpId="0" animBg="1"/>
      <p:bldP spid="21"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Lst>
  </p:timing>
</p:sld>
</file>

<file path=ppt/slides/slide19.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drop" descr="/home/user/shahad-research/build/assets/drop.png">    </p:cNvPr>
          <p:cNvPicPr>
            <a:picLocks noChangeAspect="1"/>
          </p:cNvPicPr>
          <p:nvPr/>
        </p:nvPicPr>
        <p:blipFill>
          <a:blip r:embed="rId1"/>
          <a:stretch>
            <a:fillRect/>
          </a:stretch>
        </p:blipFill>
        <p:spPr>
          <a:xfrm>
            <a:off x="914400" y="1051560"/>
            <a:ext cx="3474720" cy="4389120"/>
          </a:xfrm>
          <a:prstGeom prst="rect">
            <a:avLst/>
          </a:prstGeom>
        </p:spPr>
      </p:pic>
      <p:sp>
        <p:nvSpPr>
          <p:cNvPr id="3" name="!!kicker"/>
          <p:cNvSpPr txBox="1"/>
          <p:nvPr/>
        </p:nvSpPr>
        <p:spPr>
          <a:xfrm>
            <a:off x="4846320" y="1371600"/>
            <a:ext cx="4114800" cy="155448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04</a:t>
            </a:r>
            <a:endParaRPr lang="en-US" sz="12000" dirty="0"/>
          </a:p>
        </p:txBody>
      </p:sp>
      <p:sp>
        <p:nvSpPr>
          <p:cNvPr id="4" name="sec4_t_1"/>
          <p:cNvSpPr txBox="1"/>
          <p:nvPr/>
        </p:nvSpPr>
        <p:spPr>
          <a:xfrm>
            <a:off x="4846320" y="2971800"/>
            <a:ext cx="6766560" cy="914400"/>
          </a:xfrm>
          <a:prstGeom prst="rect">
            <a:avLst/>
          </a:prstGeom>
          <a:noFill/>
          <a:ln/>
        </p:spPr>
        <p:txBody>
          <a:bodyPr wrap="square" lIns="0" tIns="0" rIns="0" bIns="0" rtlCol="0" anchor="t"/>
          <a:lstStyle/>
          <a:p>
            <a:pPr indent="0" marL="0">
              <a:buNone/>
            </a:pPr>
            <a:r>
              <a:rPr lang="en-US" sz="5000" b="1" dirty="0">
                <a:solidFill>
                  <a:schemeClr val="tx1"/>
                </a:solidFill>
                <a:latin typeface="Arial" pitchFamily="34" charset="0"/>
                <a:ea typeface="Arial" pitchFamily="34" charset="-122"/>
                <a:cs typeface="Arial" pitchFamily="34" charset="-120"/>
              </a:rPr>
              <a:t>Exports &amp; Costs</a:t>
            </a:r>
            <a:endParaRPr lang="en-US" sz="5000" dirty="0"/>
          </a:p>
        </p:txBody>
      </p:sp>
      <p:sp>
        <p:nvSpPr>
          <p:cNvPr id="5" name="sec4_t_2"/>
          <p:cNvSpPr txBox="1"/>
          <p:nvPr/>
        </p:nvSpPr>
        <p:spPr>
          <a:xfrm>
            <a:off x="4846320" y="3931920"/>
            <a:ext cx="6400800" cy="822960"/>
          </a:xfrm>
          <a:prstGeom prst="rect">
            <a:avLst/>
          </a:prstGeom>
          <a:noFill/>
          <a:ln/>
        </p:spPr>
        <p:txBody>
          <a:bodyPr wrap="square" lIns="0" tIns="0" rIns="0" bIns="0" rtlCol="0" anchor="t"/>
          <a:lstStyle/>
          <a:p>
            <a:pPr indent="0" marL="0">
              <a:buNone/>
            </a:pPr>
            <a:r>
              <a:rPr lang="en-US" sz="2200" dirty="0">
                <a:solidFill>
                  <a:schemeClr val="tx2"/>
                </a:solidFill>
                <a:latin typeface="Arial" pitchFamily="34" charset="0"/>
                <a:ea typeface="Arial" pitchFamily="34" charset="-122"/>
                <a:cs typeface="Arial" pitchFamily="34" charset="-120"/>
              </a:rPr>
              <a:t>Who buys Kuwait's oil, and what it costs</a:t>
            </a:r>
            <a:endParaRPr lang="en-US" sz="2200" dirty="0"/>
          </a:p>
        </p:txBody>
      </p:sp>
      <p:sp>
        <p:nvSpPr>
          <p:cNvPr id="6" name="sec4_s_3"/>
          <p:cNvSpPr/>
          <p:nvPr/>
        </p:nvSpPr>
        <p:spPr>
          <a:xfrm>
            <a:off x="4864608" y="5029200"/>
            <a:ext cx="128016" cy="128016"/>
          </a:xfrm>
          <a:prstGeom prst="ellipse">
            <a:avLst/>
          </a:prstGeom>
          <a:solidFill>
            <a:srgbClr val="3A3A3C"/>
          </a:solidFill>
          <a:ln/>
        </p:spPr>
      </p:sp>
      <p:sp>
        <p:nvSpPr>
          <p:cNvPr id="7" name="sec4_s_4"/>
          <p:cNvSpPr/>
          <p:nvPr/>
        </p:nvSpPr>
        <p:spPr>
          <a:xfrm>
            <a:off x="5157216" y="5029200"/>
            <a:ext cx="128016" cy="128016"/>
          </a:xfrm>
          <a:prstGeom prst="ellipse">
            <a:avLst/>
          </a:prstGeom>
          <a:solidFill>
            <a:srgbClr val="3A3A3C"/>
          </a:solidFill>
          <a:ln/>
        </p:spPr>
      </p:sp>
      <p:sp>
        <p:nvSpPr>
          <p:cNvPr id="8" name="sec4_s_5"/>
          <p:cNvSpPr/>
          <p:nvPr/>
        </p:nvSpPr>
        <p:spPr>
          <a:xfrm>
            <a:off x="5449824" y="5029200"/>
            <a:ext cx="128016" cy="128016"/>
          </a:xfrm>
          <a:prstGeom prst="ellipse">
            <a:avLst/>
          </a:prstGeom>
          <a:solidFill>
            <a:srgbClr val="3A3A3C"/>
          </a:solidFill>
          <a:ln/>
        </p:spPr>
      </p:sp>
      <p:sp>
        <p:nvSpPr>
          <p:cNvPr id="9" name="sec4_s_6"/>
          <p:cNvSpPr/>
          <p:nvPr/>
        </p:nvSpPr>
        <p:spPr>
          <a:xfrm>
            <a:off x="5742432" y="5029200"/>
            <a:ext cx="128016" cy="128016"/>
          </a:xfrm>
          <a:prstGeom prst="ellipse">
            <a:avLst/>
          </a:prstGeom>
          <a:solidFill>
            <a:srgbClr val="FF9F0A"/>
          </a:solidFill>
          <a:ln/>
        </p:spPr>
      </p:sp>
      <p:sp>
        <p:nvSpPr>
          <p:cNvPr id="10" name="sec4_home_7">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1" name="sec4_i_8"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2" name="sec4_s_9">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1300" fill="hold" decel="100000"/>
                                        <p:tgtEl>
                                          <p:spTgt spid="2"/>
                                        </p:tgtEl>
                                        <p:attrNameLst>
                                          <p:attrName>ppt_w</p:attrName>
                                        </p:attrNameLst>
                                      </p:cBhvr>
                                      <p:tavLst>
                                        <p:tav tm="0">
                                          <p:val>
                                            <p:strVal val="#ppt_w*0.70"/>
                                          </p:val>
                                        </p:tav>
                                        <p:tav tm="100000">
                                          <p:val>
                                            <p:strVal val="#ppt_w"/>
                                          </p:val>
                                        </p:tav>
                                      </p:tavLst>
                                    </p:anim>
                                    <p:anim calcmode="lin" valueType="num">
                                      <p:cBhvr>
                                        <p:cTn id="7" dur="1300" fill="hold" decel="100000"/>
                                        <p:tgtEl>
                                          <p:spTgt spid="2"/>
                                        </p:tgtEl>
                                        <p:attrNameLst>
                                          <p:attrName>ppt_h</p:attrName>
                                        </p:attrNameLst>
                                      </p:cBhvr>
                                      <p:tavLst>
                                        <p:tav tm="0">
                                          <p:val>
                                            <p:strVal val="#ppt_h*0.70"/>
                                          </p:val>
                                        </p:tav>
                                        <p:tav tm="100000">
                                          <p:val>
                                            <p:strVal val="#ppt_h"/>
                                          </p:val>
                                        </p:tav>
                                      </p:tavLst>
                                    </p:anim>
                                    <p:animEffect transition="in" filter="fade">
                                      <p:cBhvr>
                                        <p:cTn id="8" dur="1300"/>
                                        <p:tgtEl>
                                          <p:spTgt spid="2"/>
                                        </p:tgtEl>
                                      </p:cBhvr>
                                    </p:animEffect>
                                  </p:childTnLst>
                                </p:cTn>
                              </p:par>
                              <p:par>
                                <p:cTn id="14" presetID="42" presetClass="entr" presetSubtype="0"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900"/>
                                        <p:tgtEl>
                                          <p:spTgt spid="4"/>
                                        </p:tgtEl>
                                      </p:cBhvr>
                                    </p:animEffect>
                                    <p:anim calcmode="lin" valueType="num">
                                      <p:cBhvr>
                                        <p:cTn id="12" dur="900" fill="hold" decel="100000"/>
                                        <p:tgtEl>
                                          <p:spTgt spid="4"/>
                                        </p:tgtEl>
                                        <p:attrNameLst>
                                          <p:attrName>ppt_x</p:attrName>
                                        </p:attrNameLst>
                                      </p:cBhvr>
                                      <p:tavLst>
                                        <p:tav tm="0">
                                          <p:val>
                                            <p:strVal val="#ppt_x"/>
                                          </p:val>
                                        </p:tav>
                                        <p:tav tm="100000">
                                          <p:val>
                                            <p:strVal val="#ppt_x"/>
                                          </p:val>
                                        </p:tav>
                                      </p:tavLst>
                                    </p:anim>
                                    <p:anim calcmode="lin" valueType="num">
                                      <p:cBhvr>
                                        <p:cTn id="13" dur="900" fill="hold" decel="100000"/>
                                        <p:tgtEl>
                                          <p:spTgt spid="4"/>
                                        </p:tgtEl>
                                        <p:attrNameLst>
                                          <p:attrName>ppt_y</p:attrName>
                                        </p:attrNameLst>
                                      </p:cBhvr>
                                      <p:tavLst>
                                        <p:tav tm="0">
                                          <p:val>
                                            <p:strVal val="#ppt_y+0.04"/>
                                          </p:val>
                                        </p:tav>
                                        <p:tav tm="100000">
                                          <p:val>
                                            <p:strVal val="#ppt_y"/>
                                          </p:val>
                                        </p:tav>
                                      </p:tavLst>
                                    </p:anim>
                                  </p:childTnLst>
                                </p:cTn>
                              </p:par>
                              <p:par>
                                <p:cTn id="17" presetID="10" presetClass="entr" presetSubtype="0" fill="hold" grpId="0" nodeType="withEffect">
                                  <p:stCondLst>
                                    <p:cond delay="7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900"/>
                                        <p:tgtEl>
                                          <p:spTgt spid="5"/>
                                        </p:tgtEl>
                                      </p:cBhvr>
                                    </p:animEffect>
                                  </p:childTnLst>
                                </p:cTn>
                              </p:par>
                              <p:par>
                                <p:cTn id="20" presetID="10" presetClass="entr" presetSubtype="0" fill="hold" grpId="0" nodeType="withEffect">
                                  <p:stCondLst>
                                    <p:cond delay="10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childTnLst>
                                </p:cTn>
                              </p:par>
                              <p:par>
                                <p:cTn id="23" presetID="10" presetClass="entr" presetSubtype="0" fill="hold" grpId="0" nodeType="withEffect">
                                  <p:stCondLst>
                                    <p:cond delay="10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childTnLst>
                                </p:cTn>
                              </p:par>
                              <p:par>
                                <p:cTn id="26" presetID="10" presetClass="entr" presetSubtype="0" fill="hold" grpId="0" nodeType="withEffect">
                                  <p:stCondLst>
                                    <p:cond delay="100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childTnLst>
                                </p:cTn>
                              </p:par>
                              <p:par>
                                <p:cTn id="29" presetID="10" presetClass="entr" presetSubtype="0" fill="hold" grpId="0" nodeType="withEffect">
                                  <p:stCondLst>
                                    <p:cond delay="10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20.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3" name="destination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Nine in ten barrels sail to Asia</a:t>
            </a:r>
            <a:endParaRPr lang="en-US" sz="3800" dirty="0"/>
          </a:p>
        </p:txBody>
      </p:sp>
      <p:sp>
        <p:nvSpPr>
          <p:cNvPr id="4" name="destinations_t_1"/>
          <p:cNvSpPr txBox="1"/>
          <p:nvPr/>
        </p:nvSpPr>
        <p:spPr>
          <a:xfrm>
            <a:off x="548640" y="1783080"/>
            <a:ext cx="4206240" cy="1463040"/>
          </a:xfrm>
          <a:prstGeom prst="rect">
            <a:avLst/>
          </a:prstGeom>
          <a:noFill/>
          <a:ln/>
        </p:spPr>
        <p:txBody>
          <a:bodyPr wrap="square" lIns="0" tIns="0" rIns="0" bIns="0" rtlCol="0" anchor="t"/>
          <a:lstStyle/>
          <a:p>
            <a:pPr indent="0" marL="0">
              <a:buNone/>
            </a:pPr>
            <a:r>
              <a:rPr lang="en-US" sz="12000" b="1" dirty="0">
                <a:solidFill>
                  <a:schemeClr val="accent1"/>
                </a:solidFill>
                <a:latin typeface="Arial" pitchFamily="34" charset="0"/>
                <a:ea typeface="Arial" pitchFamily="34" charset="-122"/>
                <a:cs typeface="Arial" pitchFamily="34" charset="-120"/>
              </a:rPr>
              <a:t>93%</a:t>
            </a:r>
            <a:endParaRPr lang="en-US" sz="12000" dirty="0"/>
          </a:p>
        </p:txBody>
      </p:sp>
      <p:sp>
        <p:nvSpPr>
          <p:cNvPr id="5" name="destinations_t_2"/>
          <p:cNvSpPr txBox="1"/>
          <p:nvPr/>
        </p:nvSpPr>
        <p:spPr>
          <a:xfrm>
            <a:off x="548640" y="3429000"/>
            <a:ext cx="4114800" cy="73152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of crude exports went to Asia-Pacific (2024, by volume)</a:t>
            </a:r>
            <a:endParaRPr lang="en-US" sz="2000" dirty="0"/>
          </a:p>
        </p:txBody>
      </p:sp>
      <p:sp>
        <p:nvSpPr>
          <p:cNvPr id="6" name="destinations_t_3"/>
          <p:cNvSpPr txBox="1"/>
          <p:nvPr/>
        </p:nvSpPr>
        <p:spPr>
          <a:xfrm>
            <a:off x="548640" y="4297680"/>
            <a:ext cx="3931920" cy="86868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The OPEC average is about 72%. China alone took 27% of the volume and a third of the value.</a:t>
            </a:r>
            <a:endParaRPr lang="en-US" sz="1600" dirty="0"/>
          </a:p>
        </p:txBody>
      </p:sp>
      <p:sp>
        <p:nvSpPr>
          <p:cNvPr id="7" name="destinations_t_4"/>
          <p:cNvSpPr txBox="1"/>
          <p:nvPr/>
        </p:nvSpPr>
        <p:spPr>
          <a:xfrm>
            <a:off x="5120640" y="1783080"/>
            <a:ext cx="6492240" cy="329184"/>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Top buyers by value, 2024 (total US$ 28.8 bn)</a:t>
            </a:r>
            <a:endParaRPr lang="en-US" sz="1600" dirty="0"/>
          </a:p>
        </p:txBody>
      </p:sp>
      <p:graphicFrame>
        <p:nvGraphicFramePr>
          <p:cNvPr id="8" name="destinations_bars" descr=""/>
          <p:cNvGraphicFramePr/>
          <p:nvPr/>
        </p:nvGraphicFramePr>
        <p:xfrm>
          <a:off x="4983480" y="21488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9" name="destinations_t_5"/>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Energy Institute (2025), crude trade by volume; OEC (2024 data) by value; OPEC ASB 2025.</a:t>
            </a:r>
            <a:endParaRPr lang="en-US" sz="1200" dirty="0"/>
          </a:p>
        </p:txBody>
      </p:sp>
      <p:sp>
        <p:nvSpPr>
          <p:cNvPr id="10" name="destinations_home_6">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1" name="destinations_i_7"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2" name="destinations_s_8">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4" presetID="53" presetClass="entr" presetSubtype="16"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 calcmode="lin" valueType="num">
                                      <p:cBhvr>
                                        <p:cTn id="11" dur="1000" fill="hold" decel="100000"/>
                                        <p:tgtEl>
                                          <p:spTgt spid="4"/>
                                        </p:tgtEl>
                                        <p:attrNameLst>
                                          <p:attrName>ppt_w</p:attrName>
                                        </p:attrNameLst>
                                      </p:cBhvr>
                                      <p:tavLst>
                                        <p:tav tm="0">
                                          <p:val>
                                            <p:strVal val="#ppt_w*0.70"/>
                                          </p:val>
                                        </p:tav>
                                        <p:tav tm="100000">
                                          <p:val>
                                            <p:strVal val="#ppt_w"/>
                                          </p:val>
                                        </p:tav>
                                      </p:tavLst>
                                    </p:anim>
                                    <p:anim calcmode="lin" valueType="num">
                                      <p:cBhvr>
                                        <p:cTn id="12" dur="1000" fill="hold" decel="100000"/>
                                        <p:tgtEl>
                                          <p:spTgt spid="4"/>
                                        </p:tgtEl>
                                        <p:attrNameLst>
                                          <p:attrName>ppt_h</p:attrName>
                                        </p:attrNameLst>
                                      </p:cBhvr>
                                      <p:tavLst>
                                        <p:tav tm="0">
                                          <p:val>
                                            <p:strVal val="#ppt_h*0.70"/>
                                          </p:val>
                                        </p:tav>
                                        <p:tav tm="100000">
                                          <p:val>
                                            <p:strVal val="#ppt_h"/>
                                          </p:val>
                                        </p:tav>
                                      </p:tavLst>
                                    </p:anim>
                                    <p:animEffect transition="in" filter="fade">
                                      <p:cBhvr>
                                        <p:cTn id="13" dur="1000"/>
                                        <p:tgtEl>
                                          <p:spTgt spid="4"/>
                                        </p:tgtEl>
                                      </p:cBhvr>
                                    </p:animEffect>
                                  </p:childTnLst>
                                </p:cTn>
                              </p:par>
                              <p:par>
                                <p:cTn id="17" presetID="10" presetClass="entr" presetSubtype="0" fill="hold" grpId="0" nodeType="withEffect">
                                  <p:stCondLst>
                                    <p:cond delay="4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childTnLst>
                                </p:cTn>
                              </p:par>
                              <p:par>
                                <p:cTn id="22" presetID="42" presetClass="entr" presetSubtype="0" fill="hold" grpId="0" nodeType="withEffect">
                                  <p:stCondLst>
                                    <p:cond delay="5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800"/>
                                        <p:tgtEl>
                                          <p:spTgt spid="5"/>
                                        </p:tgtEl>
                                      </p:cBhvr>
                                    </p:animEffect>
                                    <p:anim calcmode="lin" valueType="num">
                                      <p:cBhvr>
                                        <p:cTn id="20" dur="800" fill="hold" decel="100000"/>
                                        <p:tgtEl>
                                          <p:spTgt spid="5"/>
                                        </p:tgtEl>
                                        <p:attrNameLst>
                                          <p:attrName>ppt_x</p:attrName>
                                        </p:attrNameLst>
                                      </p:cBhvr>
                                      <p:tavLst>
                                        <p:tav tm="0">
                                          <p:val>
                                            <p:strVal val="#ppt_x"/>
                                          </p:val>
                                        </p:tav>
                                        <p:tav tm="100000">
                                          <p:val>
                                            <p:strVal val="#ppt_x"/>
                                          </p:val>
                                        </p:tav>
                                      </p:tavLst>
                                    </p:anim>
                                    <p:anim calcmode="lin" valueType="num">
                                      <p:cBhvr>
                                        <p:cTn id="21" dur="800" fill="hold" decel="100000"/>
                                        <p:tgtEl>
                                          <p:spTgt spid="5"/>
                                        </p:tgtEl>
                                        <p:attrNameLst>
                                          <p:attrName>ppt_y</p:attrName>
                                        </p:attrNameLst>
                                      </p:cBhvr>
                                      <p:tavLst>
                                        <p:tav tm="0">
                                          <p:val>
                                            <p:strVal val="#ppt_y+0.04"/>
                                          </p:val>
                                        </p:tav>
                                        <p:tav tm="100000">
                                          <p:val>
                                            <p:strVal val="#ppt_y"/>
                                          </p:val>
                                        </p:tav>
                                      </p:tavLst>
                                    </p:anim>
                                  </p:childTnLst>
                                </p:cTn>
                              </p:par>
                              <p:par>
                                <p:cTn id="25" presetID="22" presetClass="entr" presetSubtype="8" fill="hold" grpId="0" nodeType="withEffect">
                                  <p:stCondLst>
                                    <p:cond delay="70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1400"/>
                                        <p:tgtEl>
                                          <p:spTgt spid="8"/>
                                        </p:tgtEl>
                                      </p:cBhvr>
                                    </p:animEffect>
                                  </p:childTnLst>
                                </p:cTn>
                              </p:par>
                              <p:par>
                                <p:cTn id="28" presetID="10" presetClass="entr" presetSubtype="0" fill="hold" grpId="0" nodeType="withEffect">
                                  <p:stCondLst>
                                    <p:cond delay="80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7" grpId="0" animBg="1"/>
      <p:bldP spid="5" grpId="0" animBg="1"/>
      <p:bldGraphic spid="8" grpId="0">
        <p:bldAsOne/>
      </p:bldGraphic>
      <p:bldP spid="6" grpId="0" animBg="1"/>
    </p:bldLst>
  </p:timing>
</p:sld>
</file>

<file path=ppt/slides/slide21.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3" name="crudeproduct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Kuwait now exports fuels, not just crude</a:t>
            </a:r>
            <a:endParaRPr lang="en-US" sz="3800" dirty="0"/>
          </a:p>
        </p:txBody>
      </p:sp>
      <p:graphicFrame>
        <p:nvGraphicFramePr>
          <p:cNvPr id="4" name="crudeproducts_lines" descr=""/>
          <p:cNvGraphicFramePr/>
          <p:nvPr/>
        </p:nvGraphicFramePr>
        <p:xfrm>
          <a:off x="457200" y="1783080"/>
          <a:ext cx="7680960" cy="4069080"/>
        </p:xfrm>
        <a:graphic xmlns:a="http://schemas.openxmlformats.org/drawingml/2006/main">
          <a:graphicData uri="http://schemas.openxmlformats.org/drawingml/2006/chart">
            <c:chart xmlns:c="http://schemas.openxmlformats.org/drawingml/2006/chart" r:id="rId1"/>
          </a:graphicData>
        </a:graphic>
      </p:graphicFrame>
      <p:sp>
        <p:nvSpPr>
          <p:cNvPr id="5" name="crudeproducts_t_1"/>
          <p:cNvSpPr txBox="1"/>
          <p:nvPr/>
        </p:nvSpPr>
        <p:spPr>
          <a:xfrm>
            <a:off x="1226515" y="2122948"/>
            <a:ext cx="1828800" cy="32004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Crude oil</a:t>
            </a:r>
            <a:endParaRPr lang="en-US" sz="1700" dirty="0"/>
          </a:p>
        </p:txBody>
      </p:sp>
      <p:sp>
        <p:nvSpPr>
          <p:cNvPr id="6" name="crudeproducts_t_2"/>
          <p:cNvSpPr txBox="1"/>
          <p:nvPr/>
        </p:nvSpPr>
        <p:spPr>
          <a:xfrm>
            <a:off x="1226515" y="4596539"/>
            <a:ext cx="2377440" cy="32004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Refined products</a:t>
            </a:r>
            <a:endParaRPr lang="en-US" sz="1700" dirty="0"/>
          </a:p>
        </p:txBody>
      </p:sp>
      <p:sp>
        <p:nvSpPr>
          <p:cNvPr id="7" name="crudeproducts_t_3"/>
          <p:cNvSpPr txBox="1"/>
          <p:nvPr/>
        </p:nvSpPr>
        <p:spPr>
          <a:xfrm>
            <a:off x="1280160" y="1737360"/>
            <a:ext cx="3200400" cy="27432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thousand barrels per day</a:t>
            </a:r>
            <a:endParaRPr lang="en-US" sz="1400" dirty="0"/>
          </a:p>
        </p:txBody>
      </p:sp>
      <p:sp>
        <p:nvSpPr>
          <p:cNvPr id="8" name="crudeproducts_s_4"/>
          <p:cNvSpPr/>
          <p:nvPr/>
        </p:nvSpPr>
        <p:spPr>
          <a:xfrm>
            <a:off x="6437376" y="3404893"/>
            <a:ext cx="585216" cy="585216"/>
          </a:xfrm>
          <a:prstGeom prst="ellipse">
            <a:avLst/>
          </a:prstGeom>
          <a:solidFill>
            <a:srgbClr val="0B0B0F">
              <a:alpha val="0"/>
            </a:srgbClr>
          </a:solidFill>
          <a:ln w="31750">
            <a:solidFill>
              <a:srgbClr val="FFD60A"/>
            </a:solidFill>
            <a:prstDash val="solid"/>
          </a:ln>
          <a:effectLst>
            <a:outerShdw sx="100000" sy="100000" kx="0" ky="0" algn="bl" rotWithShape="0" blurRad="177800" dist="50800" dir="5400000">
              <a:srgbClr val="FFD60A">
                <a:alpha val="70000"/>
              </a:srgbClr>
            </a:outerShdw>
          </a:effectLst>
        </p:spPr>
      </p:sp>
      <p:sp>
        <p:nvSpPr>
          <p:cNvPr id="9" name="crudeproducts_t_5"/>
          <p:cNvSpPr txBox="1"/>
          <p:nvPr/>
        </p:nvSpPr>
        <p:spPr>
          <a:xfrm>
            <a:off x="8549640" y="1828800"/>
            <a:ext cx="3108960" cy="1097280"/>
          </a:xfrm>
          <a:prstGeom prst="rect">
            <a:avLst/>
          </a:prstGeom>
          <a:noFill/>
          <a:ln/>
        </p:spPr>
        <p:txBody>
          <a:bodyPr wrap="square" lIns="0" tIns="0" rIns="0" bIns="0" rtlCol="0" anchor="t"/>
          <a:lstStyle/>
          <a:p>
            <a:pPr indent="0" marL="0">
              <a:buNone/>
            </a:pPr>
            <a:r>
              <a:rPr lang="en-US" sz="8000" b="1" dirty="0">
                <a:solidFill>
                  <a:schemeClr val="accent3"/>
                </a:solidFill>
                <a:latin typeface="Arial" pitchFamily="34" charset="0"/>
                <a:ea typeface="Arial" pitchFamily="34" charset="-122"/>
                <a:cs typeface="Arial" pitchFamily="34" charset="-120"/>
              </a:rPr>
              <a:t>2024</a:t>
            </a:r>
            <a:endParaRPr lang="en-US" sz="8000" dirty="0"/>
          </a:p>
        </p:txBody>
      </p:sp>
      <p:sp>
        <p:nvSpPr>
          <p:cNvPr id="10" name="crudeproducts_t_6"/>
          <p:cNvSpPr txBox="1"/>
          <p:nvPr/>
        </p:nvSpPr>
        <p:spPr>
          <a:xfrm>
            <a:off x="8549640" y="2971800"/>
            <a:ext cx="3108960" cy="118872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the first year Kuwait's product exports (1.20 mb/d) beat its crude exports (1.18 mb/d)</a:t>
            </a:r>
            <a:endParaRPr lang="en-US" sz="1800" dirty="0"/>
          </a:p>
        </p:txBody>
      </p:sp>
      <p:sp>
        <p:nvSpPr>
          <p:cNvPr id="11" name="crudeproducts_t_7"/>
          <p:cNvSpPr txBox="1"/>
          <p:nvPr/>
        </p:nvSpPr>
        <p:spPr>
          <a:xfrm>
            <a:off x="8549640" y="4206240"/>
            <a:ext cx="3108960" cy="1280160"/>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Al-Zour ran at full capacity, so crude went to Kuwaiti refineries instead of tankers. Crude regained the lead in 2025.</a:t>
            </a:r>
            <a:endParaRPr lang="en-US" sz="1500" dirty="0"/>
          </a:p>
        </p:txBody>
      </p:sp>
      <p:sp>
        <p:nvSpPr>
          <p:cNvPr id="12" name="crudeproducts_t_8"/>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JODI-Oil World Database (annual averages of monthly data); MEES (2024, 2026); EIA, Today in Energy (2023).</a:t>
            </a:r>
            <a:endParaRPr lang="en-US" sz="1200" dirty="0"/>
          </a:p>
        </p:txBody>
      </p:sp>
      <p:sp>
        <p:nvSpPr>
          <p:cNvPr id="13" name="crudeproducts_home_9">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4" name="crudeproducts_i_10"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5" name="crudeproducts_s_11">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8"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2200"/>
                                        <p:tgtEl>
                                          <p:spTgt spid="4"/>
                                        </p:tgtEl>
                                      </p:cBhvr>
                                    </p:animEffect>
                                  </p:childTnLst>
                                </p:cTn>
                              </p:par>
                              <p:par>
                                <p:cTn id="15" presetID="10" presetClass="entr" presetSubtype="0" fill="hold" grpId="0" nodeType="withEffect">
                                  <p:stCondLst>
                                    <p:cond delay="6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700"/>
                                        <p:tgtEl>
                                          <p:spTgt spid="5"/>
                                        </p:tgtEl>
                                      </p:cBhvr>
                                    </p:animEffect>
                                  </p:childTnLst>
                                </p:cTn>
                              </p:par>
                              <p:par>
                                <p:cTn id="18" presetID="10" presetClass="entr" presetSubtype="0" fill="hold" grpId="0" nodeType="withEffect">
                                  <p:stCondLst>
                                    <p:cond delay="60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700"/>
                                        <p:tgtEl>
                                          <p:spTgt spid="6"/>
                                        </p:tgtEl>
                                      </p:cBhvr>
                                    </p:animEffect>
                                  </p:childTnLst>
                                </p:cTn>
                              </p:par>
                              <p:par>
                                <p:cTn id="21" presetID="10" presetClass="entr" presetSubtype="0" fill="hold" grpId="0" nodeType="withEffect">
                                  <p:stCondLst>
                                    <p:cond delay="6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700"/>
                                        <p:tgtEl>
                                          <p:spTgt spid="7"/>
                                        </p:tgtEl>
                                      </p:cBhvr>
                                    </p:animEffect>
                                  </p:childTnLst>
                                </p:cTn>
                              </p:par>
                              <p:par>
                                <p:cTn id="26" presetID="53" presetClass="entr" presetSubtype="16" fill="hold" grpId="0" nodeType="withEffect">
                                  <p:stCondLst>
                                    <p:cond delay="2100"/>
                                  </p:stCondLst>
                                  <p:childTnLst>
                                    <p:set>
                                      <p:cBhvr>
                                        <p:cTn id="22" dur="1" fill="hold">
                                          <p:stCondLst>
                                            <p:cond delay="0"/>
                                          </p:stCondLst>
                                        </p:cTn>
                                        <p:tgtEl>
                                          <p:spTgt spid="8"/>
                                        </p:tgtEl>
                                        <p:attrNameLst>
                                          <p:attrName>style.visibility</p:attrName>
                                        </p:attrNameLst>
                                      </p:cBhvr>
                                      <p:to>
                                        <p:strVal val="visible"/>
                                      </p:to>
                                    </p:set>
                                    <p:anim calcmode="lin" valueType="num">
                                      <p:cBhvr>
                                        <p:cTn id="23" dur="600" fill="hold" decel="100000"/>
                                        <p:tgtEl>
                                          <p:spTgt spid="8"/>
                                        </p:tgtEl>
                                        <p:attrNameLst>
                                          <p:attrName>ppt_w</p:attrName>
                                        </p:attrNameLst>
                                      </p:cBhvr>
                                      <p:tavLst>
                                        <p:tav tm="0">
                                          <p:val>
                                            <p:strVal val="#ppt_w*0.70"/>
                                          </p:val>
                                        </p:tav>
                                        <p:tav tm="100000">
                                          <p:val>
                                            <p:strVal val="#ppt_w"/>
                                          </p:val>
                                        </p:tav>
                                      </p:tavLst>
                                    </p:anim>
                                    <p:anim calcmode="lin" valueType="num">
                                      <p:cBhvr>
                                        <p:cTn id="24" dur="600" fill="hold" decel="100000"/>
                                        <p:tgtEl>
                                          <p:spTgt spid="8"/>
                                        </p:tgtEl>
                                        <p:attrNameLst>
                                          <p:attrName>ppt_h</p:attrName>
                                        </p:attrNameLst>
                                      </p:cBhvr>
                                      <p:tavLst>
                                        <p:tav tm="0">
                                          <p:val>
                                            <p:strVal val="#ppt_h*0.70"/>
                                          </p:val>
                                        </p:tav>
                                        <p:tav tm="100000">
                                          <p:val>
                                            <p:strVal val="#ppt_h"/>
                                          </p:val>
                                        </p:tav>
                                      </p:tavLst>
                                    </p:anim>
                                    <p:animEffect transition="in" filter="fade">
                                      <p:cBhvr>
                                        <p:cTn id="25" dur="600"/>
                                        <p:tgtEl>
                                          <p:spTgt spid="8"/>
                                        </p:tgtEl>
                                      </p:cBhvr>
                                    </p:animEffect>
                                  </p:childTnLst>
                                </p:cTn>
                              </p:par>
                              <p:par>
                                <p:cTn id="31" presetID="53" presetClass="entr" presetSubtype="16" fill="hold" grpId="0" nodeType="withEffect">
                                  <p:stCondLst>
                                    <p:cond delay="2300"/>
                                  </p:stCondLst>
                                  <p:childTnLst>
                                    <p:set>
                                      <p:cBhvr>
                                        <p:cTn id="27" dur="1" fill="hold">
                                          <p:stCondLst>
                                            <p:cond delay="0"/>
                                          </p:stCondLst>
                                        </p:cTn>
                                        <p:tgtEl>
                                          <p:spTgt spid="9"/>
                                        </p:tgtEl>
                                        <p:attrNameLst>
                                          <p:attrName>style.visibility</p:attrName>
                                        </p:attrNameLst>
                                      </p:cBhvr>
                                      <p:to>
                                        <p:strVal val="visible"/>
                                      </p:to>
                                    </p:set>
                                    <p:anim calcmode="lin" valueType="num">
                                      <p:cBhvr>
                                        <p:cTn id="28" dur="800" fill="hold" decel="100000"/>
                                        <p:tgtEl>
                                          <p:spTgt spid="9"/>
                                        </p:tgtEl>
                                        <p:attrNameLst>
                                          <p:attrName>ppt_w</p:attrName>
                                        </p:attrNameLst>
                                      </p:cBhvr>
                                      <p:tavLst>
                                        <p:tav tm="0">
                                          <p:val>
                                            <p:strVal val="#ppt_w*0.70"/>
                                          </p:val>
                                        </p:tav>
                                        <p:tav tm="100000">
                                          <p:val>
                                            <p:strVal val="#ppt_w"/>
                                          </p:val>
                                        </p:tav>
                                      </p:tavLst>
                                    </p:anim>
                                    <p:anim calcmode="lin" valueType="num">
                                      <p:cBhvr>
                                        <p:cTn id="29" dur="800" fill="hold" decel="100000"/>
                                        <p:tgtEl>
                                          <p:spTgt spid="9"/>
                                        </p:tgtEl>
                                        <p:attrNameLst>
                                          <p:attrName>ppt_h</p:attrName>
                                        </p:attrNameLst>
                                      </p:cBhvr>
                                      <p:tavLst>
                                        <p:tav tm="0">
                                          <p:val>
                                            <p:strVal val="#ppt_h*0.70"/>
                                          </p:val>
                                        </p:tav>
                                        <p:tav tm="100000">
                                          <p:val>
                                            <p:strVal val="#ppt_h"/>
                                          </p:val>
                                        </p:tav>
                                      </p:tavLst>
                                    </p:anim>
                                    <p:animEffect transition="in" filter="fade">
                                      <p:cBhvr>
                                        <p:cTn id="30" dur="800"/>
                                        <p:tgtEl>
                                          <p:spTgt spid="9"/>
                                        </p:tgtEl>
                                      </p:cBhvr>
                                    </p:animEffect>
                                  </p:childTnLst>
                                </p:cTn>
                              </p:par>
                              <p:par>
                                <p:cTn id="36" presetID="42" presetClass="entr" presetSubtype="0" fill="hold" grpId="0" nodeType="withEffect">
                                  <p:stCondLst>
                                    <p:cond delay="25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700"/>
                                        <p:tgtEl>
                                          <p:spTgt spid="10"/>
                                        </p:tgtEl>
                                      </p:cBhvr>
                                    </p:animEffect>
                                    <p:anim calcmode="lin" valueType="num">
                                      <p:cBhvr>
                                        <p:cTn id="34" dur="700" fill="hold" decel="100000"/>
                                        <p:tgtEl>
                                          <p:spTgt spid="10"/>
                                        </p:tgtEl>
                                        <p:attrNameLst>
                                          <p:attrName>ppt_x</p:attrName>
                                        </p:attrNameLst>
                                      </p:cBhvr>
                                      <p:tavLst>
                                        <p:tav tm="0">
                                          <p:val>
                                            <p:strVal val="#ppt_x"/>
                                          </p:val>
                                        </p:tav>
                                        <p:tav tm="100000">
                                          <p:val>
                                            <p:strVal val="#ppt_x"/>
                                          </p:val>
                                        </p:tav>
                                      </p:tavLst>
                                    </p:anim>
                                    <p:anim calcmode="lin" valueType="num">
                                      <p:cBhvr>
                                        <p:cTn id="35" dur="700" fill="hold" decel="100000"/>
                                        <p:tgtEl>
                                          <p:spTgt spid="10"/>
                                        </p:tgtEl>
                                        <p:attrNameLst>
                                          <p:attrName>ppt_y</p:attrName>
                                        </p:attrNameLst>
                                      </p:cBhvr>
                                      <p:tavLst>
                                        <p:tav tm="0">
                                          <p:val>
                                            <p:strVal val="#ppt_y+0.04"/>
                                          </p:val>
                                        </p:tav>
                                        <p:tav tm="100000">
                                          <p:val>
                                            <p:strVal val="#ppt_y"/>
                                          </p:val>
                                        </p:tav>
                                      </p:tavLst>
                                    </p:anim>
                                  </p:childTnLst>
                                </p:cTn>
                              </p:par>
                              <p:par>
                                <p:cTn id="39" presetID="10" presetClass="entr" presetSubtype="0" fill="hold" grpId="0" nodeType="withEffect">
                                  <p:stCondLst>
                                    <p:cond delay="270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7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4" grpId="0">
        <p:bldAsOne/>
      </p:bldGraphic>
      <p:bldP spid="5" grpId="0" animBg="1"/>
      <p:bldP spid="6" grpId="0" animBg="1"/>
      <p:bldP spid="7" grpId="0" animBg="1"/>
      <p:bldP spid="8" grpId="0" animBg="1"/>
      <p:bldP spid="9" grpId="0" animBg="1"/>
      <p:bldP spid="10" grpId="0" animBg="1"/>
      <p:bldP spid="11" grpId="0" animBg="1"/>
    </p:bldLst>
  </p:timing>
</p:sld>
</file>

<file path=ppt/slides/slide22.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3" name="price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The price of a barrel, 2000–2025</a:t>
            </a:r>
            <a:endParaRPr lang="en-US" sz="3800" dirty="0"/>
          </a:p>
        </p:txBody>
      </p:sp>
      <p:graphicFrame>
        <p:nvGraphicFramePr>
          <p:cNvPr id="4" name="prices_brent" descr=""/>
          <p:cNvGraphicFramePr/>
          <p:nvPr/>
        </p:nvGraphicFramePr>
        <p:xfrm>
          <a:off x="457200" y="1783080"/>
          <a:ext cx="7863840" cy="4069080"/>
        </p:xfrm>
        <a:graphic xmlns:a="http://schemas.openxmlformats.org/drawingml/2006/main">
          <a:graphicData uri="http://schemas.openxmlformats.org/drawingml/2006/chart">
            <c:chart xmlns:c="http://schemas.openxmlformats.org/drawingml/2006/chart" r:id="rId1"/>
          </a:graphicData>
        </a:graphic>
      </p:graphicFrame>
      <p:sp>
        <p:nvSpPr>
          <p:cNvPr id="5" name="prices_s_1"/>
          <p:cNvSpPr/>
          <p:nvPr/>
        </p:nvSpPr>
        <p:spPr>
          <a:xfrm>
            <a:off x="3345016" y="2675670"/>
            <a:ext cx="164592" cy="164592"/>
          </a:xfrm>
          <a:prstGeom prst="ellipse">
            <a:avLst/>
          </a:prstGeom>
          <a:solidFill>
            <a:srgbClr val="F5F5F7"/>
          </a:solidFill>
          <a:ln w="31750">
            <a:solidFill>
              <a:srgbClr val="FF9F0A"/>
            </a:solidFill>
            <a:prstDash val="solid"/>
          </a:ln>
        </p:spPr>
      </p:sp>
      <p:sp>
        <p:nvSpPr>
          <p:cNvPr id="6" name="prices_t_2"/>
          <p:cNvSpPr txBox="1"/>
          <p:nvPr/>
        </p:nvSpPr>
        <p:spPr>
          <a:xfrm>
            <a:off x="2467192" y="1980726"/>
            <a:ext cx="1920240" cy="566928"/>
          </a:xfrm>
          <a:prstGeom prst="rect">
            <a:avLst/>
          </a:prstGeom>
          <a:noFill/>
          <a:ln/>
        </p:spPr>
        <p:txBody>
          <a:bodyPr wrap="squar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2008</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$97 avg, $144 peak</a:t>
            </a:r>
            <a:endParaRPr lang="en-US" sz="1500" dirty="0"/>
          </a:p>
        </p:txBody>
      </p:sp>
      <p:sp>
        <p:nvSpPr>
          <p:cNvPr id="7" name="prices_s_3"/>
          <p:cNvSpPr/>
          <p:nvPr/>
        </p:nvSpPr>
        <p:spPr>
          <a:xfrm>
            <a:off x="5474302" y="4063715"/>
            <a:ext cx="164592" cy="164592"/>
          </a:xfrm>
          <a:prstGeom prst="ellipse">
            <a:avLst/>
          </a:prstGeom>
          <a:solidFill>
            <a:srgbClr val="F5F5F7"/>
          </a:solidFill>
          <a:ln w="31750">
            <a:solidFill>
              <a:srgbClr val="FF9F0A"/>
            </a:solidFill>
            <a:prstDash val="solid"/>
          </a:ln>
        </p:spPr>
      </p:sp>
      <p:sp>
        <p:nvSpPr>
          <p:cNvPr id="8" name="prices_t_4"/>
          <p:cNvSpPr txBox="1"/>
          <p:nvPr/>
        </p:nvSpPr>
        <p:spPr>
          <a:xfrm>
            <a:off x="4596478" y="4310603"/>
            <a:ext cx="1920240" cy="566928"/>
          </a:xfrm>
          <a:prstGeom prst="rect">
            <a:avLst/>
          </a:prstGeom>
          <a:noFill/>
          <a:ln/>
        </p:spPr>
        <p:txBody>
          <a:bodyPr wrap="squar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2016</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crash to $44</a:t>
            </a:r>
            <a:endParaRPr lang="en-US" sz="1500" dirty="0"/>
          </a:p>
        </p:txBody>
      </p:sp>
      <p:sp>
        <p:nvSpPr>
          <p:cNvPr id="9" name="prices_s_5"/>
          <p:cNvSpPr/>
          <p:nvPr/>
        </p:nvSpPr>
        <p:spPr>
          <a:xfrm>
            <a:off x="6538945" y="4107466"/>
            <a:ext cx="164592" cy="164592"/>
          </a:xfrm>
          <a:prstGeom prst="ellipse">
            <a:avLst/>
          </a:prstGeom>
          <a:solidFill>
            <a:srgbClr val="F5F5F7"/>
          </a:solidFill>
          <a:ln w="31750">
            <a:solidFill>
              <a:srgbClr val="FF9F0A"/>
            </a:solidFill>
            <a:prstDash val="solid"/>
          </a:ln>
        </p:spPr>
      </p:sp>
      <p:sp>
        <p:nvSpPr>
          <p:cNvPr id="10" name="prices_t_6"/>
          <p:cNvSpPr txBox="1"/>
          <p:nvPr/>
        </p:nvSpPr>
        <p:spPr>
          <a:xfrm>
            <a:off x="5661121" y="4354354"/>
            <a:ext cx="1920240" cy="566928"/>
          </a:xfrm>
          <a:prstGeom prst="rect">
            <a:avLst/>
          </a:prstGeom>
          <a:noFill/>
          <a:ln/>
        </p:spPr>
        <p:txBody>
          <a:bodyPr wrap="squar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2020</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COVID: $42</a:t>
            </a:r>
            <a:endParaRPr lang="en-US" sz="1500" dirty="0"/>
          </a:p>
        </p:txBody>
      </p:sp>
      <p:sp>
        <p:nvSpPr>
          <p:cNvPr id="11" name="prices_s_7"/>
          <p:cNvSpPr/>
          <p:nvPr/>
        </p:nvSpPr>
        <p:spPr>
          <a:xfrm>
            <a:off x="7071266" y="2571762"/>
            <a:ext cx="164592" cy="164592"/>
          </a:xfrm>
          <a:prstGeom prst="ellipse">
            <a:avLst/>
          </a:prstGeom>
          <a:solidFill>
            <a:srgbClr val="F5F5F7"/>
          </a:solidFill>
          <a:ln w="31750">
            <a:solidFill>
              <a:srgbClr val="FF9F0A"/>
            </a:solidFill>
            <a:prstDash val="solid"/>
          </a:ln>
        </p:spPr>
      </p:sp>
      <p:sp>
        <p:nvSpPr>
          <p:cNvPr id="12" name="prices_t_8"/>
          <p:cNvSpPr txBox="1"/>
          <p:nvPr/>
        </p:nvSpPr>
        <p:spPr>
          <a:xfrm>
            <a:off x="6193442" y="1876818"/>
            <a:ext cx="1920240" cy="566928"/>
          </a:xfrm>
          <a:prstGeom prst="rect">
            <a:avLst/>
          </a:prstGeom>
          <a:noFill/>
          <a:ln/>
        </p:spPr>
        <p:txBody>
          <a:bodyPr wrap="squar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2022</a:t>
            </a:r>
            <a:endParaRPr lang="en-US" sz="1500" dirty="0"/>
          </a:p>
          <a:p>
            <a:pPr algn="ctr" indent="0" marL="0">
              <a:buNone/>
            </a:pPr>
            <a:r>
              <a:rPr lang="en-US" sz="1500" dirty="0">
                <a:solidFill>
                  <a:schemeClr val="tx2"/>
                </a:solidFill>
                <a:latin typeface="Arial" pitchFamily="34" charset="0"/>
                <a:ea typeface="Arial" pitchFamily="34" charset="-122"/>
                <a:cs typeface="Arial" pitchFamily="34" charset="-120"/>
              </a:rPr>
              <a:t>war in Ukraine: $101</a:t>
            </a:r>
            <a:endParaRPr lang="en-US" sz="1500" dirty="0"/>
          </a:p>
        </p:txBody>
      </p:sp>
      <p:sp>
        <p:nvSpPr>
          <p:cNvPr id="13" name="prices_t_9"/>
          <p:cNvSpPr txBox="1"/>
          <p:nvPr/>
        </p:nvSpPr>
        <p:spPr>
          <a:xfrm>
            <a:off x="8641080" y="1783080"/>
            <a:ext cx="2999232" cy="2514600"/>
          </a:xfrm>
          <a:prstGeom prst="roundRect">
            <a:avLst>
              <a:gd name="adj" fmla="val 5091"/>
            </a:avLst>
          </a:prstGeom>
          <a:solidFill>
            <a:srgbClr val="1C1C1E"/>
          </a:solidFill>
          <a:ln/>
        </p:spPr>
        <p:txBody>
          <a:bodyPr wrap="square" lIns="177800" tIns="127000" rIns="152400" bIns="127000" rtlCol="0" anchor="t"/>
          <a:lstStyle/>
          <a:p>
            <a:pPr indent="0" marL="0">
              <a:spcAft>
                <a:spcPts val="600"/>
              </a:spcAft>
              <a:buNone/>
            </a:pPr>
            <a:r>
              <a:rPr lang="en-US" sz="1900" b="1" dirty="0">
                <a:solidFill>
                  <a:schemeClr val="tx1"/>
                </a:solidFill>
                <a:latin typeface="Arial" pitchFamily="34" charset="0"/>
                <a:ea typeface="Arial" pitchFamily="34" charset="-122"/>
                <a:cs typeface="Arial" pitchFamily="34" charset="-120"/>
              </a:rPr>
              <a:t>Kuwait Export Crude</a:t>
            </a:r>
            <a:endParaRPr lang="en-US" sz="1900" dirty="0"/>
          </a:p>
          <a:p>
            <a:pPr indent="0" marL="0">
              <a:spcAft>
                <a:spcPts val="600"/>
              </a:spcAft>
              <a:buNone/>
            </a:pPr>
            <a:r>
              <a:rPr lang="en-US" sz="2400" b="1" dirty="0">
                <a:solidFill>
                  <a:schemeClr val="accent1"/>
                </a:solidFill>
                <a:latin typeface="Arial" pitchFamily="34" charset="0"/>
                <a:ea typeface="Arial" pitchFamily="34" charset="-122"/>
                <a:cs typeface="Arial" pitchFamily="34" charset="-120"/>
              </a:rPr>
              <a:t>US$ 84.26  (2023)</a:t>
            </a:r>
            <a:endParaRPr lang="en-US" sz="1900" dirty="0"/>
          </a:p>
          <a:p>
            <a:pPr indent="0" marL="0">
              <a:spcAft>
                <a:spcPts val="600"/>
              </a:spcAft>
              <a:buNone/>
            </a:pPr>
            <a:r>
              <a:rPr lang="en-US" sz="2400" b="1" dirty="0">
                <a:solidFill>
                  <a:schemeClr val="accent1"/>
                </a:solidFill>
                <a:latin typeface="Arial" pitchFamily="34" charset="0"/>
                <a:ea typeface="Arial" pitchFamily="34" charset="-122"/>
                <a:cs typeface="Arial" pitchFamily="34" charset="-120"/>
              </a:rPr>
              <a:t>US$ 80.65  (2024)</a:t>
            </a:r>
            <a:endParaRPr lang="en-US" sz="1900" dirty="0"/>
          </a:p>
          <a:p>
            <a:pPr indent="0" marL="0">
              <a:spcAft>
                <a:spcPts val="600"/>
              </a:spcAft>
              <a:buNone/>
            </a:pPr>
            <a:r>
              <a:rPr lang="en-US" sz="1500" dirty="0">
                <a:solidFill>
                  <a:schemeClr val="tx2"/>
                </a:solidFill>
                <a:latin typeface="Arial" pitchFamily="34" charset="0"/>
                <a:ea typeface="Arial" pitchFamily="34" charset="-122"/>
                <a:cs typeface="Arial" pitchFamily="34" charset="-120"/>
              </a:rPr>
              <a:t>Medium-sour; KPC sets a monthly official selling price for each grade.</a:t>
            </a:r>
            <a:endParaRPr lang="en-US" sz="1900" dirty="0"/>
          </a:p>
        </p:txBody>
      </p:sp>
      <p:sp>
        <p:nvSpPr>
          <p:cNvPr id="14" name="prices_t_10"/>
          <p:cNvSpPr txBox="1"/>
          <p:nvPr/>
        </p:nvSpPr>
        <p:spPr>
          <a:xfrm>
            <a:off x="8641080" y="4480560"/>
            <a:ext cx="2999232" cy="1097280"/>
          </a:xfrm>
          <a:prstGeom prst="rect">
            <a:avLst/>
          </a:prstGeom>
          <a:noFill/>
          <a:ln/>
        </p:spPr>
        <p:txBody>
          <a:bodyPr wrap="square" lIns="0" tIns="0" rIns="0" bIns="0" rtlCol="0" anchor="t"/>
          <a:lstStyle/>
          <a:p>
            <a:pPr indent="0" marL="0">
              <a:buNone/>
            </a:pPr>
            <a:r>
              <a:rPr lang="en-US" sz="1500" b="1" dirty="0">
                <a:solidFill>
                  <a:schemeClr val="accent4"/>
                </a:solidFill>
                <a:latin typeface="Arial" pitchFamily="34" charset="0"/>
                <a:ea typeface="Arial" pitchFamily="34" charset="-122"/>
                <a:cs typeface="Arial" pitchFamily="34" charset="-120"/>
              </a:rPr>
              <a:t>2026 so far: </a:t>
            </a:r>
            <a:pPr indent="0" marL="0">
              <a:buNone/>
            </a:pPr>
            <a:r>
              <a:rPr lang="en-US" sz="1500" dirty="0">
                <a:solidFill>
                  <a:schemeClr val="tx2"/>
                </a:solidFill>
                <a:latin typeface="Arial" pitchFamily="34" charset="0"/>
                <a:ea typeface="Arial" pitchFamily="34" charset="-122"/>
                <a:cs typeface="Arial" pitchFamily="34" charset="-120"/>
              </a:rPr>
              <a:t>Brent averaged US$ 93.03 to September, peaking at $138 on 7 April.</a:t>
            </a:r>
            <a:endParaRPr lang="en-US" sz="1500" dirty="0"/>
          </a:p>
        </p:txBody>
      </p:sp>
      <p:sp>
        <p:nvSpPr>
          <p:cNvPr id="15" name="prices_t_11"/>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EIA Brent spot price (annual averages of daily data); OPEC Annual Report 2024 (Kuwait Export Crude).</a:t>
            </a:r>
            <a:endParaRPr lang="en-US" sz="1200" dirty="0"/>
          </a:p>
        </p:txBody>
      </p:sp>
      <p:sp>
        <p:nvSpPr>
          <p:cNvPr id="16" name="prices_home_12">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7" name="prices_i_13"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18" name="prices_s_14">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8"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2400"/>
                                        <p:tgtEl>
                                          <p:spTgt spid="4"/>
                                        </p:tgtEl>
                                      </p:cBhvr>
                                    </p:animEffect>
                                  </p:childTnLst>
                                </p:cTn>
                              </p:par>
                              <p:par>
                                <p:cTn id="17" presetID="42" presetClass="entr" presetSubtype="0" fill="hold" grpId="0" nodeType="withEffect">
                                  <p:stCondLst>
                                    <p:cond delay="9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800"/>
                                        <p:tgtEl>
                                          <p:spTgt spid="13"/>
                                        </p:tgtEl>
                                      </p:cBhvr>
                                    </p:animEffect>
                                    <p:anim calcmode="lin" valueType="num">
                                      <p:cBhvr>
                                        <p:cTn id="15" dur="800" fill="hold" decel="100000"/>
                                        <p:tgtEl>
                                          <p:spTgt spid="13"/>
                                        </p:tgtEl>
                                        <p:attrNameLst>
                                          <p:attrName>ppt_x</p:attrName>
                                        </p:attrNameLst>
                                      </p:cBhvr>
                                      <p:tavLst>
                                        <p:tav tm="0">
                                          <p:val>
                                            <p:strVal val="#ppt_x"/>
                                          </p:val>
                                        </p:tav>
                                        <p:tav tm="100000">
                                          <p:val>
                                            <p:strVal val="#ppt_x"/>
                                          </p:val>
                                        </p:tav>
                                      </p:tavLst>
                                    </p:anim>
                                    <p:anim calcmode="lin" valueType="num">
                                      <p:cBhvr>
                                        <p:cTn id="16" dur="800" fill="hold" decel="100000"/>
                                        <p:tgtEl>
                                          <p:spTgt spid="13"/>
                                        </p:tgtEl>
                                        <p:attrNameLst>
                                          <p:attrName>ppt_y</p:attrName>
                                        </p:attrNameLst>
                                      </p:cBhvr>
                                      <p:tavLst>
                                        <p:tav tm="0">
                                          <p:val>
                                            <p:strVal val="#ppt_y+0.04"/>
                                          </p:val>
                                        </p:tav>
                                        <p:tav tm="100000">
                                          <p:val>
                                            <p:strVal val="#ppt_y"/>
                                          </p:val>
                                        </p:tav>
                                      </p:tavLst>
                                    </p:anim>
                                  </p:childTnLst>
                                </p:cTn>
                              </p:par>
                              <p:par>
                                <p:cTn id="22" presetID="53" presetClass="entr" presetSubtype="16" fill="hold" grpId="0" nodeType="withEffect">
                                  <p:stCondLst>
                                    <p:cond delay="1106"/>
                                  </p:stCondLst>
                                  <p:childTnLst>
                                    <p:set>
                                      <p:cBhvr>
                                        <p:cTn id="18" dur="1" fill="hold">
                                          <p:stCondLst>
                                            <p:cond delay="0"/>
                                          </p:stCondLst>
                                        </p:cTn>
                                        <p:tgtEl>
                                          <p:spTgt spid="5"/>
                                        </p:tgtEl>
                                        <p:attrNameLst>
                                          <p:attrName>style.visibility</p:attrName>
                                        </p:attrNameLst>
                                      </p:cBhvr>
                                      <p:to>
                                        <p:strVal val="visible"/>
                                      </p:to>
                                    </p:set>
                                    <p:anim calcmode="lin" valueType="num">
                                      <p:cBhvr>
                                        <p:cTn id="19" dur="500" fill="hold" decel="100000"/>
                                        <p:tgtEl>
                                          <p:spTgt spid="5"/>
                                        </p:tgtEl>
                                        <p:attrNameLst>
                                          <p:attrName>ppt_w</p:attrName>
                                        </p:attrNameLst>
                                      </p:cBhvr>
                                      <p:tavLst>
                                        <p:tav tm="0">
                                          <p:val>
                                            <p:strVal val="#ppt_w*0.70"/>
                                          </p:val>
                                        </p:tav>
                                        <p:tav tm="100000">
                                          <p:val>
                                            <p:strVal val="#ppt_w"/>
                                          </p:val>
                                        </p:tav>
                                      </p:tavLst>
                                    </p:anim>
                                    <p:anim calcmode="lin" valueType="num">
                                      <p:cBhvr>
                                        <p:cTn id="20" dur="500" fill="hold" decel="100000"/>
                                        <p:tgtEl>
                                          <p:spTgt spid="5"/>
                                        </p:tgtEl>
                                        <p:attrNameLst>
                                          <p:attrName>ppt_h</p:attrName>
                                        </p:attrNameLst>
                                      </p:cBhvr>
                                      <p:tavLst>
                                        <p:tav tm="0">
                                          <p:val>
                                            <p:strVal val="#ppt_h*0.70"/>
                                          </p:val>
                                        </p:tav>
                                        <p:tav tm="100000">
                                          <p:val>
                                            <p:strVal val="#ppt_h"/>
                                          </p:val>
                                        </p:tav>
                                      </p:tavLst>
                                    </p:anim>
                                    <p:animEffect transition="in" filter="fade">
                                      <p:cBhvr>
                                        <p:cTn id="21" dur="500"/>
                                        <p:tgtEl>
                                          <p:spTgt spid="5"/>
                                        </p:tgtEl>
                                      </p:cBhvr>
                                    </p:animEffect>
                                  </p:childTnLst>
                                </p:cTn>
                              </p:par>
                              <p:par>
                                <p:cTn id="25" presetID="10" presetClass="entr" presetSubtype="0" fill="hold" grpId="0" nodeType="withEffect">
                                  <p:stCondLst>
                                    <p:cond delay="1206"/>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600"/>
                                        <p:tgtEl>
                                          <p:spTgt spid="6"/>
                                        </p:tgtEl>
                                      </p:cBhvr>
                                    </p:animEffect>
                                  </p:childTnLst>
                                </p:cTn>
                              </p:par>
                              <p:par>
                                <p:cTn id="28" presetID="10" presetClass="entr" presetSubtype="0" fill="hold" grpId="0" nodeType="withEffect">
                                  <p:stCondLst>
                                    <p:cond delay="13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700"/>
                                        <p:tgtEl>
                                          <p:spTgt spid="14"/>
                                        </p:tgtEl>
                                      </p:cBhvr>
                                    </p:animEffect>
                                  </p:childTnLst>
                                </p:cTn>
                              </p:par>
                              <p:par>
                                <p:cTn id="33" presetID="53" presetClass="entr" presetSubtype="16" fill="hold" grpId="0" nodeType="withEffect">
                                  <p:stCondLst>
                                    <p:cond delay="1756"/>
                                  </p:stCondLst>
                                  <p:childTnLst>
                                    <p:set>
                                      <p:cBhvr>
                                        <p:cTn id="29" dur="1" fill="hold">
                                          <p:stCondLst>
                                            <p:cond delay="0"/>
                                          </p:stCondLst>
                                        </p:cTn>
                                        <p:tgtEl>
                                          <p:spTgt spid="7"/>
                                        </p:tgtEl>
                                        <p:attrNameLst>
                                          <p:attrName>style.visibility</p:attrName>
                                        </p:attrNameLst>
                                      </p:cBhvr>
                                      <p:to>
                                        <p:strVal val="visible"/>
                                      </p:to>
                                    </p:set>
                                    <p:anim calcmode="lin" valueType="num">
                                      <p:cBhvr>
                                        <p:cTn id="30" dur="500" fill="hold" decel="100000"/>
                                        <p:tgtEl>
                                          <p:spTgt spid="7"/>
                                        </p:tgtEl>
                                        <p:attrNameLst>
                                          <p:attrName>ppt_w</p:attrName>
                                        </p:attrNameLst>
                                      </p:cBhvr>
                                      <p:tavLst>
                                        <p:tav tm="0">
                                          <p:val>
                                            <p:strVal val="#ppt_w*0.70"/>
                                          </p:val>
                                        </p:tav>
                                        <p:tav tm="100000">
                                          <p:val>
                                            <p:strVal val="#ppt_w"/>
                                          </p:val>
                                        </p:tav>
                                      </p:tavLst>
                                    </p:anim>
                                    <p:anim calcmode="lin" valueType="num">
                                      <p:cBhvr>
                                        <p:cTn id="31" dur="500" fill="hold" decel="100000"/>
                                        <p:tgtEl>
                                          <p:spTgt spid="7"/>
                                        </p:tgtEl>
                                        <p:attrNameLst>
                                          <p:attrName>ppt_h</p:attrName>
                                        </p:attrNameLst>
                                      </p:cBhvr>
                                      <p:tavLst>
                                        <p:tav tm="0">
                                          <p:val>
                                            <p:strVal val="#ppt_h*0.70"/>
                                          </p:val>
                                        </p:tav>
                                        <p:tav tm="100000">
                                          <p:val>
                                            <p:strVal val="#ppt_h"/>
                                          </p:val>
                                        </p:tav>
                                      </p:tavLst>
                                    </p:anim>
                                    <p:animEffect transition="in" filter="fade">
                                      <p:cBhvr>
                                        <p:cTn id="32" dur="500"/>
                                        <p:tgtEl>
                                          <p:spTgt spid="7"/>
                                        </p:tgtEl>
                                      </p:cBhvr>
                                    </p:animEffect>
                                  </p:childTnLst>
                                </p:cTn>
                              </p:par>
                              <p:par>
                                <p:cTn id="36" presetID="10" presetClass="entr" presetSubtype="0" fill="hold" grpId="0" nodeType="withEffect">
                                  <p:stCondLst>
                                    <p:cond delay="1856"/>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600"/>
                                        <p:tgtEl>
                                          <p:spTgt spid="8"/>
                                        </p:tgtEl>
                                      </p:cBhvr>
                                    </p:animEffect>
                                  </p:childTnLst>
                                </p:cTn>
                              </p:par>
                              <p:par>
                                <p:cTn id="41" presetID="53" presetClass="entr" presetSubtype="16" fill="hold" grpId="0" nodeType="withEffect">
                                  <p:stCondLst>
                                    <p:cond delay="2081"/>
                                  </p:stCondLst>
                                  <p:childTnLst>
                                    <p:set>
                                      <p:cBhvr>
                                        <p:cTn id="37" dur="1" fill="hold">
                                          <p:stCondLst>
                                            <p:cond delay="0"/>
                                          </p:stCondLst>
                                        </p:cTn>
                                        <p:tgtEl>
                                          <p:spTgt spid="9"/>
                                        </p:tgtEl>
                                        <p:attrNameLst>
                                          <p:attrName>style.visibility</p:attrName>
                                        </p:attrNameLst>
                                      </p:cBhvr>
                                      <p:to>
                                        <p:strVal val="visible"/>
                                      </p:to>
                                    </p:set>
                                    <p:anim calcmode="lin" valueType="num">
                                      <p:cBhvr>
                                        <p:cTn id="38" dur="500" fill="hold" decel="100000"/>
                                        <p:tgtEl>
                                          <p:spTgt spid="9"/>
                                        </p:tgtEl>
                                        <p:attrNameLst>
                                          <p:attrName>ppt_w</p:attrName>
                                        </p:attrNameLst>
                                      </p:cBhvr>
                                      <p:tavLst>
                                        <p:tav tm="0">
                                          <p:val>
                                            <p:strVal val="#ppt_w*0.70"/>
                                          </p:val>
                                        </p:tav>
                                        <p:tav tm="100000">
                                          <p:val>
                                            <p:strVal val="#ppt_w"/>
                                          </p:val>
                                        </p:tav>
                                      </p:tavLst>
                                    </p:anim>
                                    <p:anim calcmode="lin" valueType="num">
                                      <p:cBhvr>
                                        <p:cTn id="39" dur="500" fill="hold" decel="100000"/>
                                        <p:tgtEl>
                                          <p:spTgt spid="9"/>
                                        </p:tgtEl>
                                        <p:attrNameLst>
                                          <p:attrName>ppt_h</p:attrName>
                                        </p:attrNameLst>
                                      </p:cBhvr>
                                      <p:tavLst>
                                        <p:tav tm="0">
                                          <p:val>
                                            <p:strVal val="#ppt_h*0.70"/>
                                          </p:val>
                                        </p:tav>
                                        <p:tav tm="100000">
                                          <p:val>
                                            <p:strVal val="#ppt_h"/>
                                          </p:val>
                                        </p:tav>
                                      </p:tavLst>
                                    </p:anim>
                                    <p:animEffect transition="in" filter="fade">
                                      <p:cBhvr>
                                        <p:cTn id="40" dur="500"/>
                                        <p:tgtEl>
                                          <p:spTgt spid="9"/>
                                        </p:tgtEl>
                                      </p:cBhvr>
                                    </p:animEffect>
                                  </p:childTnLst>
                                </p:cTn>
                              </p:par>
                              <p:par>
                                <p:cTn id="44" presetID="10" presetClass="entr" presetSubtype="0" fill="hold" grpId="0" nodeType="withEffect">
                                  <p:stCondLst>
                                    <p:cond delay="2181"/>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childTnLst>
                                </p:cTn>
                              </p:par>
                              <p:par>
                                <p:cTn id="49" presetID="53" presetClass="entr" presetSubtype="16" fill="hold" grpId="0" nodeType="withEffect">
                                  <p:stCondLst>
                                    <p:cond delay="2244"/>
                                  </p:stCondLst>
                                  <p:childTnLst>
                                    <p:set>
                                      <p:cBhvr>
                                        <p:cTn id="45" dur="1" fill="hold">
                                          <p:stCondLst>
                                            <p:cond delay="0"/>
                                          </p:stCondLst>
                                        </p:cTn>
                                        <p:tgtEl>
                                          <p:spTgt spid="11"/>
                                        </p:tgtEl>
                                        <p:attrNameLst>
                                          <p:attrName>style.visibility</p:attrName>
                                        </p:attrNameLst>
                                      </p:cBhvr>
                                      <p:to>
                                        <p:strVal val="visible"/>
                                      </p:to>
                                    </p:set>
                                    <p:anim calcmode="lin" valueType="num">
                                      <p:cBhvr>
                                        <p:cTn id="46" dur="500" fill="hold" decel="100000"/>
                                        <p:tgtEl>
                                          <p:spTgt spid="11"/>
                                        </p:tgtEl>
                                        <p:attrNameLst>
                                          <p:attrName>ppt_w</p:attrName>
                                        </p:attrNameLst>
                                      </p:cBhvr>
                                      <p:tavLst>
                                        <p:tav tm="0">
                                          <p:val>
                                            <p:strVal val="#ppt_w*0.70"/>
                                          </p:val>
                                        </p:tav>
                                        <p:tav tm="100000">
                                          <p:val>
                                            <p:strVal val="#ppt_w"/>
                                          </p:val>
                                        </p:tav>
                                      </p:tavLst>
                                    </p:anim>
                                    <p:anim calcmode="lin" valueType="num">
                                      <p:cBhvr>
                                        <p:cTn id="47" dur="500" fill="hold" decel="100000"/>
                                        <p:tgtEl>
                                          <p:spTgt spid="11"/>
                                        </p:tgtEl>
                                        <p:attrNameLst>
                                          <p:attrName>ppt_h</p:attrName>
                                        </p:attrNameLst>
                                      </p:cBhvr>
                                      <p:tavLst>
                                        <p:tav tm="0">
                                          <p:val>
                                            <p:strVal val="#ppt_h*0.70"/>
                                          </p:val>
                                        </p:tav>
                                        <p:tav tm="100000">
                                          <p:val>
                                            <p:strVal val="#ppt_h"/>
                                          </p:val>
                                        </p:tav>
                                      </p:tavLst>
                                    </p:anim>
                                    <p:animEffect transition="in" filter="fade">
                                      <p:cBhvr>
                                        <p:cTn id="48" dur="500"/>
                                        <p:tgtEl>
                                          <p:spTgt spid="11"/>
                                        </p:tgtEl>
                                      </p:cBhvr>
                                    </p:animEffect>
                                  </p:childTnLst>
                                </p:cTn>
                              </p:par>
                              <p:par>
                                <p:cTn id="52" presetID="10" presetClass="entr" presetSubtype="0" fill="hold" grpId="0" nodeType="withEffect">
                                  <p:stCondLst>
                                    <p:cond delay="2344"/>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4" grpId="0">
        <p:bldAsOne/>
      </p:bldGraphic>
      <p:bldP spid="13" grpId="0" animBg="1"/>
      <p:bldP spid="5" grpId="0" animBg="1"/>
      <p:bldP spid="6" grpId="0" animBg="1"/>
      <p:bldP spid="14" grpId="0" animBg="1"/>
      <p:bldP spid="7" grpId="0" animBg="1"/>
      <p:bldP spid="8" grpId="0" animBg="1"/>
      <p:bldP spid="9" grpId="0" animBg="1"/>
      <p:bldP spid="10" grpId="0" animBg="1"/>
      <p:bldP spid="11" grpId="0" animBg="1"/>
      <p:bldP spid="12" grpId="0" animBg="1"/>
    </p:bldLst>
  </p:timing>
</p:sld>
</file>

<file path=ppt/slides/slide23.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3" name="cost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One of the cheapest barrels on Earth</a:t>
            </a:r>
            <a:endParaRPr lang="en-US" sz="3800" dirty="0"/>
          </a:p>
        </p:txBody>
      </p:sp>
      <p:sp>
        <p:nvSpPr>
          <p:cNvPr id="4" name="cost_t_1"/>
          <p:cNvSpPr txBox="1"/>
          <p:nvPr/>
        </p:nvSpPr>
        <p:spPr>
          <a:xfrm>
            <a:off x="548640" y="1947672"/>
            <a:ext cx="3657600"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Kuwait: cost per barrel</a:t>
            </a:r>
            <a:endParaRPr lang="en-US" sz="1800" dirty="0"/>
          </a:p>
        </p:txBody>
      </p:sp>
      <p:sp>
        <p:nvSpPr>
          <p:cNvPr id="5" name="cost_t_2"/>
          <p:cNvSpPr txBox="1"/>
          <p:nvPr/>
        </p:nvSpPr>
        <p:spPr>
          <a:xfrm>
            <a:off x="548640" y="2350008"/>
            <a:ext cx="36576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Rystad Energy via WSJ, 2016 estimate</a:t>
            </a:r>
            <a:endParaRPr lang="en-US" sz="1400" dirty="0"/>
          </a:p>
        </p:txBody>
      </p:sp>
      <p:sp>
        <p:nvSpPr>
          <p:cNvPr id="6" name="cost_s_3"/>
          <p:cNvSpPr/>
          <p:nvPr/>
        </p:nvSpPr>
        <p:spPr>
          <a:xfrm>
            <a:off x="4343400" y="2011680"/>
            <a:ext cx="603504" cy="530352"/>
          </a:xfrm>
          <a:prstGeom prst="roundRect">
            <a:avLst>
              <a:gd name="adj" fmla="val 17241"/>
            </a:avLst>
          </a:prstGeom>
          <a:solidFill>
            <a:srgbClr val="FF9F0A"/>
          </a:solidFill>
          <a:ln/>
          <a:effectLst>
            <a:outerShdw sx="100000" sy="100000" kx="0" ky="0" algn="bl" rotWithShape="0" blurRad="203200" dist="50800" dir="5400000">
              <a:srgbClr val="FF9F0A">
                <a:alpha val="60000"/>
              </a:srgbClr>
            </a:outerShdw>
          </a:effectLst>
        </p:spPr>
      </p:sp>
      <p:sp>
        <p:nvSpPr>
          <p:cNvPr id="7" name="cost_t_4"/>
          <p:cNvSpPr txBox="1"/>
          <p:nvPr/>
        </p:nvSpPr>
        <p:spPr>
          <a:xfrm>
            <a:off x="5084064" y="1984248"/>
            <a:ext cx="1463040" cy="585216"/>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 $8.50</a:t>
            </a:r>
            <a:endParaRPr lang="en-US" sz="2800" dirty="0"/>
          </a:p>
        </p:txBody>
      </p:sp>
      <p:sp>
        <p:nvSpPr>
          <p:cNvPr id="8" name="cost_t_5"/>
          <p:cNvSpPr txBox="1"/>
          <p:nvPr/>
        </p:nvSpPr>
        <p:spPr>
          <a:xfrm>
            <a:off x="548640" y="3136392"/>
            <a:ext cx="3657600"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UK North Sea: cost per barrel</a:t>
            </a:r>
            <a:endParaRPr lang="en-US" sz="1800" dirty="0"/>
          </a:p>
        </p:txBody>
      </p:sp>
      <p:sp>
        <p:nvSpPr>
          <p:cNvPr id="9" name="cost_t_6"/>
          <p:cNvSpPr txBox="1"/>
          <p:nvPr/>
        </p:nvSpPr>
        <p:spPr>
          <a:xfrm>
            <a:off x="548640" y="3538728"/>
            <a:ext cx="36576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same study, for comparison</a:t>
            </a:r>
            <a:endParaRPr lang="en-US" sz="1400" dirty="0"/>
          </a:p>
        </p:txBody>
      </p:sp>
      <p:sp>
        <p:nvSpPr>
          <p:cNvPr id="10" name="cost_s_7"/>
          <p:cNvSpPr/>
          <p:nvPr/>
        </p:nvSpPr>
        <p:spPr>
          <a:xfrm>
            <a:off x="4343400" y="3200400"/>
            <a:ext cx="3145321" cy="530352"/>
          </a:xfrm>
          <a:prstGeom prst="roundRect">
            <a:avLst>
              <a:gd name="adj" fmla="val 17241"/>
            </a:avLst>
          </a:prstGeom>
          <a:solidFill>
            <a:srgbClr val="636366"/>
          </a:solidFill>
          <a:ln/>
        </p:spPr>
      </p:sp>
      <p:sp>
        <p:nvSpPr>
          <p:cNvPr id="11" name="cost_t_8"/>
          <p:cNvSpPr txBox="1"/>
          <p:nvPr/>
        </p:nvSpPr>
        <p:spPr>
          <a:xfrm>
            <a:off x="7625881" y="3172968"/>
            <a:ext cx="1463040" cy="585216"/>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 $44</a:t>
            </a:r>
            <a:endParaRPr lang="en-US" sz="2800" dirty="0"/>
          </a:p>
        </p:txBody>
      </p:sp>
      <p:sp>
        <p:nvSpPr>
          <p:cNvPr id="12" name="cost_t_9"/>
          <p:cNvSpPr txBox="1"/>
          <p:nvPr/>
        </p:nvSpPr>
        <p:spPr>
          <a:xfrm>
            <a:off x="548640" y="4325112"/>
            <a:ext cx="3657600" cy="384048"/>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Kuwait crude: selling price</a:t>
            </a:r>
            <a:endParaRPr lang="en-US" sz="1800" dirty="0"/>
          </a:p>
        </p:txBody>
      </p:sp>
      <p:sp>
        <p:nvSpPr>
          <p:cNvPr id="13" name="cost_t_10"/>
          <p:cNvSpPr txBox="1"/>
          <p:nvPr/>
        </p:nvSpPr>
        <p:spPr>
          <a:xfrm>
            <a:off x="548640" y="4727448"/>
            <a:ext cx="3657600" cy="292608"/>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Kuwait Export Crude, OPEC, 2024</a:t>
            </a:r>
            <a:endParaRPr lang="en-US" sz="1400" dirty="0"/>
          </a:p>
        </p:txBody>
      </p:sp>
      <p:sp>
        <p:nvSpPr>
          <p:cNvPr id="14" name="cost_s_11"/>
          <p:cNvSpPr/>
          <p:nvPr/>
        </p:nvSpPr>
        <p:spPr>
          <a:xfrm>
            <a:off x="4343400" y="4389120"/>
            <a:ext cx="5726188" cy="530352"/>
          </a:xfrm>
          <a:prstGeom prst="roundRect">
            <a:avLst>
              <a:gd name="adj" fmla="val 17241"/>
            </a:avLst>
          </a:prstGeom>
          <a:solidFill>
            <a:srgbClr val="FFD60A"/>
          </a:solidFill>
          <a:ln/>
        </p:spPr>
      </p:sp>
      <p:sp>
        <p:nvSpPr>
          <p:cNvPr id="15" name="cost_t_12"/>
          <p:cNvSpPr txBox="1"/>
          <p:nvPr/>
        </p:nvSpPr>
        <p:spPr>
          <a:xfrm>
            <a:off x="10206748" y="4361688"/>
            <a:ext cx="1463040" cy="585216"/>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$80.65</a:t>
            </a:r>
            <a:endParaRPr lang="en-US" sz="2800" dirty="0"/>
          </a:p>
        </p:txBody>
      </p:sp>
      <p:sp>
        <p:nvSpPr>
          <p:cNvPr id="16" name="cost_t_13"/>
          <p:cNvSpPr txBox="1"/>
          <p:nvPr/>
        </p:nvSpPr>
        <p:spPr>
          <a:xfrm>
            <a:off x="548640" y="5120640"/>
            <a:ext cx="10972800" cy="54864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 $72 </a:t>
            </a:r>
            <a:pPr indent="0" marL="0">
              <a:buNone/>
            </a:pPr>
            <a:r>
              <a:rPr lang="en-US" sz="1700" dirty="0">
                <a:solidFill>
                  <a:schemeClr val="tx2"/>
                </a:solidFill>
                <a:latin typeface="Arial" pitchFamily="34" charset="0"/>
                <a:ea typeface="Arial" pitchFamily="34" charset="-122"/>
                <a:cs typeface="Arial" pitchFamily="34" charset="-120"/>
              </a:rPr>
              <a:t>gross margin on each barrel in 2024, before taxes and the state budget's needs</a:t>
            </a:r>
            <a:endParaRPr lang="en-US" sz="3000" dirty="0"/>
          </a:p>
        </p:txBody>
      </p:sp>
      <p:sp>
        <p:nvSpPr>
          <p:cNvPr id="17" name="cost_t_14"/>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Wall Street Journal (2016), Barrel breakdown (Rystad Energy data); OPEC Annual Report 2024.</a:t>
            </a:r>
            <a:endParaRPr lang="en-US" sz="1200" dirty="0"/>
          </a:p>
        </p:txBody>
      </p:sp>
      <p:sp>
        <p:nvSpPr>
          <p:cNvPr id="18" name="cost_home_15">
            <a:hlinkClick r:id="rId1"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19" name="cost_i_16" descr="preencoded.png">    </p:cNvPr>
          <p:cNvPicPr>
            <a:picLocks noChangeAspect="1"/>
          </p:cNvPicPr>
          <p:nvPr/>
        </p:nvPicPr>
        <p:blipFill>
          <a:blip r:embed="rId2"/>
          <a:stretch>
            <a:fillRect/>
          </a:stretch>
        </p:blipFill>
        <p:spPr>
          <a:xfrm>
            <a:off x="10719511" y="6355080"/>
            <a:ext cx="219456" cy="219456"/>
          </a:xfrm>
          <a:prstGeom prst="rect">
            <a:avLst/>
          </a:prstGeom>
        </p:spPr>
      </p:pic>
      <p:sp>
        <p:nvSpPr>
          <p:cNvPr id="20" name="cost_s_17">
            <a:hlinkClick r:id="rId3"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10" presetClass="entr" presetSubtype="0"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600"/>
                                        <p:tgtEl>
                                          <p:spTgt spid="4"/>
                                        </p:tgtEl>
                                      </p:cBhvr>
                                    </p:animEffect>
                                  </p:childTnLst>
                                </p:cTn>
                              </p:par>
                              <p:par>
                                <p:cTn id="15" presetID="22" presetClass="entr" presetSubtype="8" fill="hold" grpId="0" nodeType="withEffect">
                                  <p:stCondLst>
                                    <p:cond delay="300"/>
                                  </p:stCondLst>
                                  <p:childTnLst>
                                    <p:set>
                                      <p:cBhvr>
                                        <p:cTn id="13" dur="1" fill="hold">
                                          <p:stCondLst>
                                            <p:cond delay="0"/>
                                          </p:stCondLst>
                                        </p:cTn>
                                        <p:tgtEl>
                                          <p:spTgt spid="6"/>
                                        </p:tgtEl>
                                        <p:attrNameLst>
                                          <p:attrName>style.visibility</p:attrName>
                                        </p:attrNameLst>
                                      </p:cBhvr>
                                      <p:to>
                                        <p:strVal val="visible"/>
                                      </p:to>
                                    </p:set>
                                    <p:animEffect transition="in" filter="wipe(left)">
                                      <p:cBhvr>
                                        <p:cTn id="14" dur="900"/>
                                        <p:tgtEl>
                                          <p:spTgt spid="6"/>
                                        </p:tgtEl>
                                      </p:cBhvr>
                                    </p:animEffect>
                                  </p:childTnLst>
                                </p:cTn>
                              </p:par>
                              <p:par>
                                <p:cTn id="18" presetID="10" presetClass="entr" presetSubtype="0" fill="hold" grpId="0" nodeType="withEffect">
                                  <p:stCondLst>
                                    <p:cond delay="4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childTnLst>
                                </p:cTn>
                              </p:par>
                              <p:par>
                                <p:cTn id="21" presetID="10" presetClass="entr" presetSubtype="0" fill="hold" grpId="0" nodeType="withEffect">
                                  <p:stCondLst>
                                    <p:cond delay="7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00"/>
                                        <p:tgtEl>
                                          <p:spTgt spid="8"/>
                                        </p:tgtEl>
                                      </p:cBhvr>
                                    </p:animEffect>
                                  </p:childTnLst>
                                </p:cTn>
                              </p:par>
                              <p:par>
                                <p:cTn id="24" presetID="22" presetClass="entr" presetSubtype="8" fill="hold" grpId="0" nodeType="withEffect">
                                  <p:stCondLst>
                                    <p:cond delay="750"/>
                                  </p:stCondLst>
                                  <p:childTnLst>
                                    <p:set>
                                      <p:cBhvr>
                                        <p:cTn id="22" dur="1" fill="hold">
                                          <p:stCondLst>
                                            <p:cond delay="0"/>
                                          </p:stCondLst>
                                        </p:cTn>
                                        <p:tgtEl>
                                          <p:spTgt spid="10"/>
                                        </p:tgtEl>
                                        <p:attrNameLst>
                                          <p:attrName>style.visibility</p:attrName>
                                        </p:attrNameLst>
                                      </p:cBhvr>
                                      <p:to>
                                        <p:strVal val="visible"/>
                                      </p:to>
                                    </p:set>
                                    <p:animEffect transition="in" filter="wipe(left)">
                                      <p:cBhvr>
                                        <p:cTn id="23" dur="900"/>
                                        <p:tgtEl>
                                          <p:spTgt spid="10"/>
                                        </p:tgtEl>
                                      </p:cBhvr>
                                    </p:animEffect>
                                  </p:childTnLst>
                                </p:cTn>
                              </p:par>
                              <p:par>
                                <p:cTn id="27" presetID="10" presetClass="entr" presetSubtype="0" fill="hold" grpId="0" nodeType="withEffect">
                                  <p:stCondLst>
                                    <p:cond delay="8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30" presetID="10" presetClass="entr" presetSubtype="0" fill="hold" grpId="0" nodeType="withEffect">
                                  <p:stCondLst>
                                    <p:cond delay="100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3" presetID="10" presetClass="entr" presetSubtype="0" fill="hold" grpId="0" nodeType="withEffect">
                                  <p:stCondLst>
                                    <p:cond delay="12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600"/>
                                        <p:tgtEl>
                                          <p:spTgt spid="12"/>
                                        </p:tgtEl>
                                      </p:cBhvr>
                                    </p:animEffect>
                                  </p:childTnLst>
                                </p:cTn>
                              </p:par>
                              <p:par>
                                <p:cTn id="36" presetID="22" presetClass="entr" presetSubtype="8" fill="hold" grpId="0" nodeType="withEffect">
                                  <p:stCondLst>
                                    <p:cond delay="1200"/>
                                  </p:stCondLst>
                                  <p:childTnLst>
                                    <p:set>
                                      <p:cBhvr>
                                        <p:cTn id="34" dur="1" fill="hold">
                                          <p:stCondLst>
                                            <p:cond delay="0"/>
                                          </p:stCondLst>
                                        </p:cTn>
                                        <p:tgtEl>
                                          <p:spTgt spid="14"/>
                                        </p:tgtEl>
                                        <p:attrNameLst>
                                          <p:attrName>style.visibility</p:attrName>
                                        </p:attrNameLst>
                                      </p:cBhvr>
                                      <p:to>
                                        <p:strVal val="visible"/>
                                      </p:to>
                                    </p:set>
                                    <p:animEffect transition="in" filter="wipe(left)">
                                      <p:cBhvr>
                                        <p:cTn id="35" dur="900"/>
                                        <p:tgtEl>
                                          <p:spTgt spid="14"/>
                                        </p:tgtEl>
                                      </p:cBhvr>
                                    </p:animEffect>
                                  </p:childTnLst>
                                </p:cTn>
                              </p:par>
                              <p:par>
                                <p:cTn id="39" presetID="10" presetClass="entr" presetSubtype="0" fill="hold" grpId="0" nodeType="withEffect">
                                  <p:stCondLst>
                                    <p:cond delay="13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42" presetID="10" presetClass="entr" presetSubtype="0" fill="hold" grpId="0" nodeType="withEffect">
                                  <p:stCondLst>
                                    <p:cond delay="145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par>
                                <p:cTn id="45" presetID="10" presetClass="entr" presetSubtype="0" fill="hold" grpId="0" nodeType="withEffect">
                                  <p:stCondLst>
                                    <p:cond delay="190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50" presetID="42" presetClass="entr" presetSubtype="0" fill="hold" grpId="0" nodeType="withEffect">
                                  <p:stCondLst>
                                    <p:cond delay="190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800"/>
                                        <p:tgtEl>
                                          <p:spTgt spid="16"/>
                                        </p:tgtEl>
                                      </p:cBhvr>
                                    </p:animEffect>
                                    <p:anim calcmode="lin" valueType="num">
                                      <p:cBhvr>
                                        <p:cTn id="48" dur="800" fill="hold" decel="100000"/>
                                        <p:tgtEl>
                                          <p:spTgt spid="16"/>
                                        </p:tgtEl>
                                        <p:attrNameLst>
                                          <p:attrName>ppt_x</p:attrName>
                                        </p:attrNameLst>
                                      </p:cBhvr>
                                      <p:tavLst>
                                        <p:tav tm="0">
                                          <p:val>
                                            <p:strVal val="#ppt_x"/>
                                          </p:val>
                                        </p:tav>
                                        <p:tav tm="100000">
                                          <p:val>
                                            <p:strVal val="#ppt_x"/>
                                          </p:val>
                                        </p:tav>
                                      </p:tavLst>
                                    </p:anim>
                                    <p:anim calcmode="lin" valueType="num">
                                      <p:cBhvr>
                                        <p:cTn id="49" dur="800" fill="hold" decel="100000"/>
                                        <p:tgtEl>
                                          <p:spTgt spid="1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5" grpId="0" animBg="1"/>
      <p:bldP spid="8" grpId="0" animBg="1"/>
      <p:bldP spid="10" grpId="0" animBg="1"/>
      <p:bldP spid="9" grpId="0" animBg="1"/>
      <p:bldP spid="7" grpId="0" animBg="1"/>
      <p:bldP spid="12" grpId="0" animBg="1"/>
      <p:bldP spid="14" grpId="0" animBg="1"/>
      <p:bldP spid="13" grpId="0" animBg="1"/>
      <p:bldP spid="11" grpId="0" animBg="1"/>
      <p:bldP spid="15" grpId="0" animBg="1"/>
      <p:bldP spid="16" grpId="0" animBg="1"/>
    </p:bldLst>
  </p:timing>
</p:sld>
</file>

<file path=ppt/slides/slide24.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04 — EXPORTS &amp; COSTS</a:t>
            </a:r>
            <a:endParaRPr lang="en-US" sz="1500" dirty="0"/>
          </a:p>
        </p:txBody>
      </p:sp>
      <p:sp>
        <p:nvSpPr>
          <p:cNvPr id="3" name="lng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Where Kuwait's LNG comes from</a:t>
            </a:r>
            <a:endParaRPr lang="en-US" sz="3800" dirty="0"/>
          </a:p>
        </p:txBody>
      </p:sp>
      <p:graphicFrame>
        <p:nvGraphicFramePr>
          <p:cNvPr id="4" name="lng_lng" descr=""/>
          <p:cNvGraphicFramePr/>
          <p:nvPr/>
        </p:nvGraphicFramePr>
        <p:xfrm>
          <a:off x="548640" y="1783080"/>
          <a:ext cx="3931920" cy="3931920"/>
        </p:xfrm>
        <a:graphic xmlns:a="http://schemas.openxmlformats.org/drawingml/2006/main">
          <a:graphicData uri="http://schemas.openxmlformats.org/drawingml/2006/chart">
            <c:chart xmlns:c="http://schemas.openxmlformats.org/drawingml/2006/chart" r:id="rId1"/>
          </a:graphicData>
        </a:graphic>
      </p:graphicFrame>
      <p:sp>
        <p:nvSpPr>
          <p:cNvPr id="5" name="lng_t_1"/>
          <p:cNvSpPr txBox="1"/>
          <p:nvPr/>
        </p:nvSpPr>
        <p:spPr>
          <a:xfrm>
            <a:off x="1417320" y="3017520"/>
            <a:ext cx="2194560" cy="822960"/>
          </a:xfrm>
          <a:prstGeom prst="rect">
            <a:avLst/>
          </a:prstGeom>
          <a:noFill/>
          <a:ln/>
        </p:spPr>
        <p:txBody>
          <a:bodyPr wrap="square" lIns="0" tIns="0" rIns="0" bIns="0" rtlCol="0" anchor="t"/>
          <a:lstStyle/>
          <a:p>
            <a:pPr algn="ctr" indent="0" marL="0">
              <a:buNone/>
            </a:pPr>
            <a:r>
              <a:rPr lang="en-US" sz="5200" b="1" dirty="0">
                <a:solidFill>
                  <a:schemeClr val="tx1"/>
                </a:solidFill>
                <a:latin typeface="Arial" pitchFamily="34" charset="0"/>
                <a:ea typeface="Arial" pitchFamily="34" charset="-122"/>
                <a:cs typeface="Arial" pitchFamily="34" charset="-120"/>
              </a:rPr>
              <a:t>9.73</a:t>
            </a:r>
            <a:endParaRPr lang="en-US" sz="5200" dirty="0"/>
          </a:p>
        </p:txBody>
      </p:sp>
      <p:sp>
        <p:nvSpPr>
          <p:cNvPr id="6" name="lng_t_2"/>
          <p:cNvSpPr txBox="1"/>
          <p:nvPr/>
        </p:nvSpPr>
        <p:spPr>
          <a:xfrm>
            <a:off x="1463040" y="3840480"/>
            <a:ext cx="2103120" cy="320040"/>
          </a:xfrm>
          <a:prstGeom prst="rect">
            <a:avLst/>
          </a:prstGeom>
          <a:noFill/>
          <a:ln/>
        </p:spPr>
        <p:txBody>
          <a:bodyPr wrap="square" lIns="0" tIns="0" rIns="0" bIns="0" rtlCol="0" anchor="t"/>
          <a:lstStyle/>
          <a:p>
            <a:pPr algn="ctr" indent="0" marL="0">
              <a:buNone/>
            </a:pPr>
            <a:r>
              <a:rPr lang="en-US" sz="1400" dirty="0">
                <a:solidFill>
                  <a:schemeClr val="tx2"/>
                </a:solidFill>
                <a:latin typeface="Arial" pitchFamily="34" charset="0"/>
                <a:ea typeface="Arial" pitchFamily="34" charset="-122"/>
                <a:cs typeface="Arial" pitchFamily="34" charset="-120"/>
              </a:rPr>
              <a:t>bcm imported, 2024</a:t>
            </a:r>
            <a:endParaRPr lang="en-US" sz="1400" dirty="0"/>
          </a:p>
        </p:txBody>
      </p:sp>
      <p:sp>
        <p:nvSpPr>
          <p:cNvPr id="7" name="lng_s_3"/>
          <p:cNvSpPr/>
          <p:nvPr/>
        </p:nvSpPr>
        <p:spPr>
          <a:xfrm>
            <a:off x="4800600" y="1920240"/>
            <a:ext cx="182880" cy="182880"/>
          </a:xfrm>
          <a:prstGeom prst="ellipse">
            <a:avLst/>
          </a:prstGeom>
          <a:solidFill>
            <a:srgbClr val="64D2FF"/>
          </a:solidFill>
          <a:ln/>
        </p:spPr>
      </p:sp>
      <p:sp>
        <p:nvSpPr>
          <p:cNvPr id="8" name="lng_t_4"/>
          <p:cNvSpPr txBox="1"/>
          <p:nvPr/>
        </p:nvSpPr>
        <p:spPr>
          <a:xfrm>
            <a:off x="5120640" y="1828800"/>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Qatar  </a:t>
            </a:r>
            <a:pPr indent="0" marL="0">
              <a:buNone/>
            </a:pPr>
            <a:r>
              <a:rPr lang="en-US" sz="1600" dirty="0">
                <a:solidFill>
                  <a:schemeClr val="tx2"/>
                </a:solidFill>
                <a:latin typeface="Arial" pitchFamily="34" charset="0"/>
                <a:ea typeface="Arial" pitchFamily="34" charset="-122"/>
                <a:cs typeface="Arial" pitchFamily="34" charset="-120"/>
              </a:rPr>
              <a:t>61.4%</a:t>
            </a:r>
            <a:endParaRPr lang="en-US" sz="1600" dirty="0"/>
          </a:p>
        </p:txBody>
      </p:sp>
      <p:sp>
        <p:nvSpPr>
          <p:cNvPr id="9" name="lng_s_5"/>
          <p:cNvSpPr/>
          <p:nvPr/>
        </p:nvSpPr>
        <p:spPr>
          <a:xfrm>
            <a:off x="4800600" y="2350008"/>
            <a:ext cx="182880" cy="182880"/>
          </a:xfrm>
          <a:prstGeom prst="ellipse">
            <a:avLst/>
          </a:prstGeom>
          <a:solidFill>
            <a:srgbClr val="3A8FB7"/>
          </a:solidFill>
          <a:ln/>
        </p:spPr>
      </p:sp>
      <p:sp>
        <p:nvSpPr>
          <p:cNvPr id="10" name="lng_t_6"/>
          <p:cNvSpPr txBox="1"/>
          <p:nvPr/>
        </p:nvSpPr>
        <p:spPr>
          <a:xfrm>
            <a:off x="5120640" y="2258568"/>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Nigeria  </a:t>
            </a:r>
            <a:pPr indent="0" marL="0">
              <a:buNone/>
            </a:pPr>
            <a:r>
              <a:rPr lang="en-US" sz="1600" dirty="0">
                <a:solidFill>
                  <a:schemeClr val="tx2"/>
                </a:solidFill>
                <a:latin typeface="Arial" pitchFamily="34" charset="0"/>
                <a:ea typeface="Arial" pitchFamily="34" charset="-122"/>
                <a:cs typeface="Arial" pitchFamily="34" charset="-120"/>
              </a:rPr>
              <a:t>16.6%</a:t>
            </a:r>
            <a:endParaRPr lang="en-US" sz="1600" dirty="0"/>
          </a:p>
        </p:txBody>
      </p:sp>
      <p:sp>
        <p:nvSpPr>
          <p:cNvPr id="11" name="lng_s_7"/>
          <p:cNvSpPr/>
          <p:nvPr/>
        </p:nvSpPr>
        <p:spPr>
          <a:xfrm>
            <a:off x="4800600" y="2779776"/>
            <a:ext cx="182880" cy="182880"/>
          </a:xfrm>
          <a:prstGeom prst="ellipse">
            <a:avLst/>
          </a:prstGeom>
          <a:solidFill>
            <a:srgbClr val="2B6A88"/>
          </a:solidFill>
          <a:ln/>
        </p:spPr>
      </p:sp>
      <p:sp>
        <p:nvSpPr>
          <p:cNvPr id="12" name="lng_t_8"/>
          <p:cNvSpPr txBox="1"/>
          <p:nvPr/>
        </p:nvSpPr>
        <p:spPr>
          <a:xfrm>
            <a:off x="5120640" y="2688336"/>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United States  </a:t>
            </a:r>
            <a:pPr indent="0" marL="0">
              <a:buNone/>
            </a:pPr>
            <a:r>
              <a:rPr lang="en-US" sz="1600" dirty="0">
                <a:solidFill>
                  <a:schemeClr val="tx2"/>
                </a:solidFill>
                <a:latin typeface="Arial" pitchFamily="34" charset="0"/>
                <a:ea typeface="Arial" pitchFamily="34" charset="-122"/>
                <a:cs typeface="Arial" pitchFamily="34" charset="-120"/>
              </a:rPr>
              <a:t>9.5%</a:t>
            </a:r>
            <a:endParaRPr lang="en-US" sz="1600" dirty="0"/>
          </a:p>
        </p:txBody>
      </p:sp>
      <p:sp>
        <p:nvSpPr>
          <p:cNvPr id="13" name="lng_s_9"/>
          <p:cNvSpPr/>
          <p:nvPr/>
        </p:nvSpPr>
        <p:spPr>
          <a:xfrm>
            <a:off x="4800600" y="3209544"/>
            <a:ext cx="182880" cy="182880"/>
          </a:xfrm>
          <a:prstGeom prst="ellipse">
            <a:avLst/>
          </a:prstGeom>
          <a:solidFill>
            <a:srgbClr val="46566A"/>
          </a:solidFill>
          <a:ln/>
        </p:spPr>
      </p:sp>
      <p:sp>
        <p:nvSpPr>
          <p:cNvPr id="14" name="lng_t_10"/>
          <p:cNvSpPr txBox="1"/>
          <p:nvPr/>
        </p:nvSpPr>
        <p:spPr>
          <a:xfrm>
            <a:off x="5120640" y="3118104"/>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Angola  </a:t>
            </a:r>
            <a:pPr indent="0" marL="0">
              <a:buNone/>
            </a:pPr>
            <a:r>
              <a:rPr lang="en-US" sz="1600" dirty="0">
                <a:solidFill>
                  <a:schemeClr val="tx2"/>
                </a:solidFill>
                <a:latin typeface="Arial" pitchFamily="34" charset="0"/>
                <a:ea typeface="Arial" pitchFamily="34" charset="-122"/>
                <a:cs typeface="Arial" pitchFamily="34" charset="-120"/>
              </a:rPr>
              <a:t>3.7%</a:t>
            </a:r>
            <a:endParaRPr lang="en-US" sz="1600" dirty="0"/>
          </a:p>
        </p:txBody>
      </p:sp>
      <p:sp>
        <p:nvSpPr>
          <p:cNvPr id="15" name="lng_s_11"/>
          <p:cNvSpPr/>
          <p:nvPr/>
        </p:nvSpPr>
        <p:spPr>
          <a:xfrm>
            <a:off x="4800600" y="3639312"/>
            <a:ext cx="182880" cy="182880"/>
          </a:xfrm>
          <a:prstGeom prst="ellipse">
            <a:avLst/>
          </a:prstGeom>
          <a:solidFill>
            <a:srgbClr val="FFD60A"/>
          </a:solidFill>
          <a:ln/>
        </p:spPr>
      </p:sp>
      <p:sp>
        <p:nvSpPr>
          <p:cNvPr id="16" name="lng_t_12"/>
          <p:cNvSpPr txBox="1"/>
          <p:nvPr/>
        </p:nvSpPr>
        <p:spPr>
          <a:xfrm>
            <a:off x="5120640" y="3547872"/>
            <a:ext cx="2377440" cy="36576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Oman  </a:t>
            </a:r>
            <a:pPr indent="0" marL="0">
              <a:buNone/>
            </a:pPr>
            <a:r>
              <a:rPr lang="en-US" sz="1600" dirty="0">
                <a:solidFill>
                  <a:schemeClr val="tx2"/>
                </a:solidFill>
                <a:latin typeface="Arial" pitchFamily="34" charset="0"/>
                <a:ea typeface="Arial" pitchFamily="34" charset="-122"/>
                <a:cs typeface="Arial" pitchFamily="34" charset="-120"/>
              </a:rPr>
              <a:t>3%</a:t>
            </a:r>
            <a:endParaRPr lang="en-US" sz="1600" dirty="0"/>
          </a:p>
        </p:txBody>
      </p:sp>
      <p:sp>
        <p:nvSpPr>
          <p:cNvPr id="17" name="lng_s_13"/>
          <p:cNvSpPr/>
          <p:nvPr/>
        </p:nvSpPr>
        <p:spPr>
          <a:xfrm>
            <a:off x="4800600" y="4069080"/>
            <a:ext cx="182880" cy="182880"/>
          </a:xfrm>
          <a:prstGeom prst="ellipse">
            <a:avLst/>
          </a:prstGeom>
          <a:solidFill>
            <a:srgbClr val="5E5E63"/>
          </a:solidFill>
          <a:ln/>
        </p:spPr>
      </p:sp>
      <p:sp>
        <p:nvSpPr>
          <p:cNvPr id="18" name="lng_t_14"/>
          <p:cNvSpPr txBox="1"/>
          <p:nvPr/>
        </p:nvSpPr>
        <p:spPr>
          <a:xfrm>
            <a:off x="5120640" y="3977640"/>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Russia  </a:t>
            </a:r>
            <a:pPr indent="0" marL="0">
              <a:buNone/>
            </a:pPr>
            <a:r>
              <a:rPr lang="en-US" sz="1600" dirty="0">
                <a:solidFill>
                  <a:schemeClr val="tx2"/>
                </a:solidFill>
                <a:latin typeface="Arial" pitchFamily="34" charset="0"/>
                <a:ea typeface="Arial" pitchFamily="34" charset="-122"/>
                <a:cs typeface="Arial" pitchFamily="34" charset="-120"/>
              </a:rPr>
              <a:t>3%</a:t>
            </a:r>
            <a:endParaRPr lang="en-US" sz="1600" dirty="0"/>
          </a:p>
        </p:txBody>
      </p:sp>
      <p:sp>
        <p:nvSpPr>
          <p:cNvPr id="19" name="lng_s_15"/>
          <p:cNvSpPr/>
          <p:nvPr/>
        </p:nvSpPr>
        <p:spPr>
          <a:xfrm>
            <a:off x="4800600" y="4498848"/>
            <a:ext cx="182880" cy="182880"/>
          </a:xfrm>
          <a:prstGeom prst="ellipse">
            <a:avLst/>
          </a:prstGeom>
          <a:solidFill>
            <a:srgbClr val="48484A"/>
          </a:solidFill>
          <a:ln/>
        </p:spPr>
      </p:sp>
      <p:sp>
        <p:nvSpPr>
          <p:cNvPr id="20" name="lng_t_16"/>
          <p:cNvSpPr txBox="1"/>
          <p:nvPr/>
        </p:nvSpPr>
        <p:spPr>
          <a:xfrm>
            <a:off x="5120640" y="4407408"/>
            <a:ext cx="237744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Others  </a:t>
            </a:r>
            <a:pPr indent="0" marL="0">
              <a:buNone/>
            </a:pPr>
            <a:r>
              <a:rPr lang="en-US" sz="1600" dirty="0">
                <a:solidFill>
                  <a:schemeClr val="tx2"/>
                </a:solidFill>
                <a:latin typeface="Arial" pitchFamily="34" charset="0"/>
                <a:ea typeface="Arial" pitchFamily="34" charset="-122"/>
                <a:cs typeface="Arial" pitchFamily="34" charset="-120"/>
              </a:rPr>
              <a:t>2.9%</a:t>
            </a:r>
            <a:endParaRPr lang="en-US" sz="1600" dirty="0"/>
          </a:p>
        </p:txBody>
      </p:sp>
      <p:sp>
        <p:nvSpPr>
          <p:cNvPr id="21" name="lng_t_17"/>
          <p:cNvSpPr txBox="1"/>
          <p:nvPr/>
        </p:nvSpPr>
        <p:spPr>
          <a:xfrm>
            <a:off x="7863840" y="1828800"/>
            <a:ext cx="3749040" cy="64008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≈7.15 Mt</a:t>
            </a:r>
            <a:endParaRPr lang="en-US" sz="3600" dirty="0"/>
          </a:p>
        </p:txBody>
      </p:sp>
      <p:sp>
        <p:nvSpPr>
          <p:cNvPr id="22" name="lng_t_18"/>
          <p:cNvSpPr txBox="1"/>
          <p:nvPr/>
        </p:nvSpPr>
        <p:spPr>
          <a:xfrm>
            <a:off x="7863840" y="2468880"/>
            <a:ext cx="3749040" cy="566928"/>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of LNG in 2024, about 40% of all the gas Kuwait used</a:t>
            </a:r>
            <a:endParaRPr lang="en-US" sz="1500" dirty="0"/>
          </a:p>
        </p:txBody>
      </p:sp>
      <p:sp>
        <p:nvSpPr>
          <p:cNvPr id="23" name="lng_t_19"/>
          <p:cNvSpPr txBox="1"/>
          <p:nvPr/>
        </p:nvSpPr>
        <p:spPr>
          <a:xfrm>
            <a:off x="7863840" y="3154680"/>
            <a:ext cx="3749040" cy="64008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$33.98 → $11.91</a:t>
            </a:r>
            <a:endParaRPr lang="en-US" sz="3600" dirty="0"/>
          </a:p>
        </p:txBody>
      </p:sp>
      <p:sp>
        <p:nvSpPr>
          <p:cNvPr id="24" name="lng_t_20"/>
          <p:cNvSpPr txBox="1"/>
          <p:nvPr/>
        </p:nvSpPr>
        <p:spPr>
          <a:xfrm>
            <a:off x="7863840" y="3794760"/>
            <a:ext cx="3749040" cy="566928"/>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Asian spot LNG price (JKM) per MMBtu, 2022 → 2024</a:t>
            </a:r>
            <a:endParaRPr lang="en-US" sz="1500" dirty="0"/>
          </a:p>
        </p:txBody>
      </p:sp>
      <p:sp>
        <p:nvSpPr>
          <p:cNvPr id="25" name="lng_t_21"/>
          <p:cNvSpPr txBox="1"/>
          <p:nvPr/>
        </p:nvSpPr>
        <p:spPr>
          <a:xfrm>
            <a:off x="7863840" y="4480560"/>
            <a:ext cx="3749040" cy="64008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 $4 bn</a:t>
            </a:r>
            <a:endParaRPr lang="en-US" sz="3600" dirty="0"/>
          </a:p>
        </p:txBody>
      </p:sp>
      <p:sp>
        <p:nvSpPr>
          <p:cNvPr id="26" name="lng_t_22"/>
          <p:cNvSpPr txBox="1"/>
          <p:nvPr/>
        </p:nvSpPr>
        <p:spPr>
          <a:xfrm>
            <a:off x="7863840" y="5120640"/>
            <a:ext cx="3749040" cy="566928"/>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estimated 2024 import bill at spot prices (illustrative)</a:t>
            </a:r>
            <a:endParaRPr lang="en-US" sz="1500" dirty="0"/>
          </a:p>
        </p:txBody>
      </p:sp>
      <p:sp>
        <p:nvSpPr>
          <p:cNvPr id="27" name="lng_t_23"/>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 Energy Institute Statistical Review (2025): LNG trade, JKM prices. Bill = 7.15 Mt × 46.4 million MMBtu/Mt × $11.91 (estimate).</a:t>
            </a:r>
            <a:endParaRPr lang="en-US" sz="1200" dirty="0"/>
          </a:p>
        </p:txBody>
      </p:sp>
      <p:sp>
        <p:nvSpPr>
          <p:cNvPr id="28" name="lng_home_24">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29" name="lng_i_25"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30" name="lng_s_26">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4" presetID="53" presetClass="entr" presetSubtype="16"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 calcmode="lin" valueType="num">
                                      <p:cBhvr>
                                        <p:cTn id="11" dur="1100" fill="hold" decel="100000"/>
                                        <p:tgtEl>
                                          <p:spTgt spid="4"/>
                                        </p:tgtEl>
                                        <p:attrNameLst>
                                          <p:attrName>ppt_w</p:attrName>
                                        </p:attrNameLst>
                                      </p:cBhvr>
                                      <p:tavLst>
                                        <p:tav tm="0">
                                          <p:val>
                                            <p:strVal val="#ppt_w*0.70"/>
                                          </p:val>
                                        </p:tav>
                                        <p:tav tm="100000">
                                          <p:val>
                                            <p:strVal val="#ppt_w"/>
                                          </p:val>
                                        </p:tav>
                                      </p:tavLst>
                                    </p:anim>
                                    <p:anim calcmode="lin" valueType="num">
                                      <p:cBhvr>
                                        <p:cTn id="12" dur="1100" fill="hold" decel="100000"/>
                                        <p:tgtEl>
                                          <p:spTgt spid="4"/>
                                        </p:tgtEl>
                                        <p:attrNameLst>
                                          <p:attrName>ppt_h</p:attrName>
                                        </p:attrNameLst>
                                      </p:cBhvr>
                                      <p:tavLst>
                                        <p:tav tm="0">
                                          <p:val>
                                            <p:strVal val="#ppt_h*0.70"/>
                                          </p:val>
                                        </p:tav>
                                        <p:tav tm="100000">
                                          <p:val>
                                            <p:strVal val="#ppt_h"/>
                                          </p:val>
                                        </p:tav>
                                      </p:tavLst>
                                    </p:anim>
                                    <p:animEffect transition="in" filter="fade">
                                      <p:cBhvr>
                                        <p:cTn id="13" dur="1100"/>
                                        <p:tgtEl>
                                          <p:spTgt spid="4"/>
                                        </p:tgtEl>
                                      </p:cBhvr>
                                    </p:animEffect>
                                  </p:childTnLst>
                                </p:cTn>
                              </p:par>
                              <p:par>
                                <p:cTn id="17" presetID="10" presetClass="entr" presetSubtype="0" fill="hold" grpId="0" nodeType="withEffect">
                                  <p:stCondLst>
                                    <p:cond delay="8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par>
                                <p:cTn id="20" presetID="10" presetClass="entr" presetSubtype="0" fill="hold" grpId="0" nodeType="withEffect">
                                  <p:stCondLst>
                                    <p:cond delay="9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childTnLst>
                                </p:cTn>
                              </p:par>
                              <p:par>
                                <p:cTn id="25" presetID="53" presetClass="entr" presetSubtype="16" fill="hold" grpId="0" nodeType="withEffect">
                                  <p:stCondLst>
                                    <p:cond delay="900"/>
                                  </p:stCondLst>
                                  <p:childTnLst>
                                    <p:set>
                                      <p:cBhvr>
                                        <p:cTn id="21" dur="1" fill="hold">
                                          <p:stCondLst>
                                            <p:cond delay="0"/>
                                          </p:stCondLst>
                                        </p:cTn>
                                        <p:tgtEl>
                                          <p:spTgt spid="7"/>
                                        </p:tgtEl>
                                        <p:attrNameLst>
                                          <p:attrName>style.visibility</p:attrName>
                                        </p:attrNameLst>
                                      </p:cBhvr>
                                      <p:to>
                                        <p:strVal val="visible"/>
                                      </p:to>
                                    </p:set>
                                    <p:anim calcmode="lin" valueType="num">
                                      <p:cBhvr>
                                        <p:cTn id="22" dur="400" fill="hold" decel="100000"/>
                                        <p:tgtEl>
                                          <p:spTgt spid="7"/>
                                        </p:tgtEl>
                                        <p:attrNameLst>
                                          <p:attrName>ppt_w</p:attrName>
                                        </p:attrNameLst>
                                      </p:cBhvr>
                                      <p:tavLst>
                                        <p:tav tm="0">
                                          <p:val>
                                            <p:strVal val="#ppt_w*0.70"/>
                                          </p:val>
                                        </p:tav>
                                        <p:tav tm="100000">
                                          <p:val>
                                            <p:strVal val="#ppt_w"/>
                                          </p:val>
                                        </p:tav>
                                      </p:tavLst>
                                    </p:anim>
                                    <p:anim calcmode="lin" valueType="num">
                                      <p:cBhvr>
                                        <p:cTn id="23" dur="400" fill="hold" decel="100000"/>
                                        <p:tgtEl>
                                          <p:spTgt spid="7"/>
                                        </p:tgtEl>
                                        <p:attrNameLst>
                                          <p:attrName>ppt_h</p:attrName>
                                        </p:attrNameLst>
                                      </p:cBhvr>
                                      <p:tavLst>
                                        <p:tav tm="0">
                                          <p:val>
                                            <p:strVal val="#ppt_h*0.70"/>
                                          </p:val>
                                        </p:tav>
                                        <p:tav tm="100000">
                                          <p:val>
                                            <p:strVal val="#ppt_h"/>
                                          </p:val>
                                        </p:tav>
                                      </p:tavLst>
                                    </p:anim>
                                    <p:animEffect transition="in" filter="fade">
                                      <p:cBhvr>
                                        <p:cTn id="24" dur="400"/>
                                        <p:tgtEl>
                                          <p:spTgt spid="7"/>
                                        </p:tgtEl>
                                      </p:cBhvr>
                                    </p:animEffect>
                                  </p:childTnLst>
                                </p:cTn>
                              </p:par>
                              <p:par>
                                <p:cTn id="28" presetID="10" presetClass="entr" presetSubtype="0" fill="hold" grpId="0" nodeType="withEffect">
                                  <p:stCondLst>
                                    <p:cond delay="90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33" presetID="53" presetClass="entr" presetSubtype="16" fill="hold" grpId="0" nodeType="withEffect">
                                  <p:stCondLst>
                                    <p:cond delay="990"/>
                                  </p:stCondLst>
                                  <p:childTnLst>
                                    <p:set>
                                      <p:cBhvr>
                                        <p:cTn id="29" dur="1" fill="hold">
                                          <p:stCondLst>
                                            <p:cond delay="0"/>
                                          </p:stCondLst>
                                        </p:cTn>
                                        <p:tgtEl>
                                          <p:spTgt spid="9"/>
                                        </p:tgtEl>
                                        <p:attrNameLst>
                                          <p:attrName>style.visibility</p:attrName>
                                        </p:attrNameLst>
                                      </p:cBhvr>
                                      <p:to>
                                        <p:strVal val="visible"/>
                                      </p:to>
                                    </p:set>
                                    <p:anim calcmode="lin" valueType="num">
                                      <p:cBhvr>
                                        <p:cTn id="30" dur="400" fill="hold" decel="100000"/>
                                        <p:tgtEl>
                                          <p:spTgt spid="9"/>
                                        </p:tgtEl>
                                        <p:attrNameLst>
                                          <p:attrName>ppt_w</p:attrName>
                                        </p:attrNameLst>
                                      </p:cBhvr>
                                      <p:tavLst>
                                        <p:tav tm="0">
                                          <p:val>
                                            <p:strVal val="#ppt_w*0.70"/>
                                          </p:val>
                                        </p:tav>
                                        <p:tav tm="100000">
                                          <p:val>
                                            <p:strVal val="#ppt_w"/>
                                          </p:val>
                                        </p:tav>
                                      </p:tavLst>
                                    </p:anim>
                                    <p:anim calcmode="lin" valueType="num">
                                      <p:cBhvr>
                                        <p:cTn id="31" dur="400" fill="hold" decel="100000"/>
                                        <p:tgtEl>
                                          <p:spTgt spid="9"/>
                                        </p:tgtEl>
                                        <p:attrNameLst>
                                          <p:attrName>ppt_h</p:attrName>
                                        </p:attrNameLst>
                                      </p:cBhvr>
                                      <p:tavLst>
                                        <p:tav tm="0">
                                          <p:val>
                                            <p:strVal val="#ppt_h*0.70"/>
                                          </p:val>
                                        </p:tav>
                                        <p:tav tm="100000">
                                          <p:val>
                                            <p:strVal val="#ppt_h"/>
                                          </p:val>
                                        </p:tav>
                                      </p:tavLst>
                                    </p:anim>
                                    <p:animEffect transition="in" filter="fade">
                                      <p:cBhvr>
                                        <p:cTn id="32" dur="400"/>
                                        <p:tgtEl>
                                          <p:spTgt spid="9"/>
                                        </p:tgtEl>
                                      </p:cBhvr>
                                    </p:animEffect>
                                  </p:childTnLst>
                                </p:cTn>
                              </p:par>
                              <p:par>
                                <p:cTn id="36" presetID="10" presetClass="entr" presetSubtype="0" fill="hold" grpId="0" nodeType="withEffect">
                                  <p:stCondLst>
                                    <p:cond delay="99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41" presetID="53" presetClass="entr" presetSubtype="16" fill="hold" grpId="0" nodeType="withEffect">
                                  <p:stCondLst>
                                    <p:cond delay="108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00" fill="hold" decel="100000"/>
                                        <p:tgtEl>
                                          <p:spTgt spid="11"/>
                                        </p:tgtEl>
                                        <p:attrNameLst>
                                          <p:attrName>ppt_w</p:attrName>
                                        </p:attrNameLst>
                                      </p:cBhvr>
                                      <p:tavLst>
                                        <p:tav tm="0">
                                          <p:val>
                                            <p:strVal val="#ppt_w*0.70"/>
                                          </p:val>
                                        </p:tav>
                                        <p:tav tm="100000">
                                          <p:val>
                                            <p:strVal val="#ppt_w"/>
                                          </p:val>
                                        </p:tav>
                                      </p:tavLst>
                                    </p:anim>
                                    <p:anim calcmode="lin" valueType="num">
                                      <p:cBhvr>
                                        <p:cTn id="39" dur="400" fill="hold" decel="100000"/>
                                        <p:tgtEl>
                                          <p:spTgt spid="11"/>
                                        </p:tgtEl>
                                        <p:attrNameLst>
                                          <p:attrName>ppt_h</p:attrName>
                                        </p:attrNameLst>
                                      </p:cBhvr>
                                      <p:tavLst>
                                        <p:tav tm="0">
                                          <p:val>
                                            <p:strVal val="#ppt_h*0.70"/>
                                          </p:val>
                                        </p:tav>
                                        <p:tav tm="100000">
                                          <p:val>
                                            <p:strVal val="#ppt_h"/>
                                          </p:val>
                                        </p:tav>
                                      </p:tavLst>
                                    </p:anim>
                                    <p:animEffect transition="in" filter="fade">
                                      <p:cBhvr>
                                        <p:cTn id="40" dur="400"/>
                                        <p:tgtEl>
                                          <p:spTgt spid="11"/>
                                        </p:tgtEl>
                                      </p:cBhvr>
                                    </p:animEffect>
                                  </p:childTnLst>
                                </p:cTn>
                              </p:par>
                              <p:par>
                                <p:cTn id="44" presetID="10" presetClass="entr" presetSubtype="0" fill="hold" grpId="0" nodeType="withEffect">
                                  <p:stCondLst>
                                    <p:cond delay="108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par>
                                <p:cTn id="49" presetID="53" presetClass="entr" presetSubtype="16" fill="hold" grpId="0" nodeType="withEffect">
                                  <p:stCondLst>
                                    <p:cond delay="117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00" fill="hold" decel="100000"/>
                                        <p:tgtEl>
                                          <p:spTgt spid="13"/>
                                        </p:tgtEl>
                                        <p:attrNameLst>
                                          <p:attrName>ppt_w</p:attrName>
                                        </p:attrNameLst>
                                      </p:cBhvr>
                                      <p:tavLst>
                                        <p:tav tm="0">
                                          <p:val>
                                            <p:strVal val="#ppt_w*0.70"/>
                                          </p:val>
                                        </p:tav>
                                        <p:tav tm="100000">
                                          <p:val>
                                            <p:strVal val="#ppt_w"/>
                                          </p:val>
                                        </p:tav>
                                      </p:tavLst>
                                    </p:anim>
                                    <p:anim calcmode="lin" valueType="num">
                                      <p:cBhvr>
                                        <p:cTn id="47" dur="400" fill="hold" decel="100000"/>
                                        <p:tgtEl>
                                          <p:spTgt spid="13"/>
                                        </p:tgtEl>
                                        <p:attrNameLst>
                                          <p:attrName>ppt_h</p:attrName>
                                        </p:attrNameLst>
                                      </p:cBhvr>
                                      <p:tavLst>
                                        <p:tav tm="0">
                                          <p:val>
                                            <p:strVal val="#ppt_h*0.70"/>
                                          </p:val>
                                        </p:tav>
                                        <p:tav tm="100000">
                                          <p:val>
                                            <p:strVal val="#ppt_h"/>
                                          </p:val>
                                        </p:tav>
                                      </p:tavLst>
                                    </p:anim>
                                    <p:animEffect transition="in" filter="fade">
                                      <p:cBhvr>
                                        <p:cTn id="48" dur="400"/>
                                        <p:tgtEl>
                                          <p:spTgt spid="13"/>
                                        </p:tgtEl>
                                      </p:cBhvr>
                                    </p:animEffect>
                                  </p:childTnLst>
                                </p:cTn>
                              </p:par>
                              <p:par>
                                <p:cTn id="52" presetID="10" presetClass="entr" presetSubtype="0" fill="hold" grpId="0" nodeType="withEffect">
                                  <p:stCondLst>
                                    <p:cond delay="117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7" presetID="53" presetClass="entr" presetSubtype="16" fill="hold" grpId="0" nodeType="withEffect">
                                  <p:stCondLst>
                                    <p:cond delay="126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00" fill="hold" decel="100000"/>
                                        <p:tgtEl>
                                          <p:spTgt spid="15"/>
                                        </p:tgtEl>
                                        <p:attrNameLst>
                                          <p:attrName>ppt_w</p:attrName>
                                        </p:attrNameLst>
                                      </p:cBhvr>
                                      <p:tavLst>
                                        <p:tav tm="0">
                                          <p:val>
                                            <p:strVal val="#ppt_w*0.70"/>
                                          </p:val>
                                        </p:tav>
                                        <p:tav tm="100000">
                                          <p:val>
                                            <p:strVal val="#ppt_w"/>
                                          </p:val>
                                        </p:tav>
                                      </p:tavLst>
                                    </p:anim>
                                    <p:anim calcmode="lin" valueType="num">
                                      <p:cBhvr>
                                        <p:cTn id="55" dur="400" fill="hold" decel="100000"/>
                                        <p:tgtEl>
                                          <p:spTgt spid="15"/>
                                        </p:tgtEl>
                                        <p:attrNameLst>
                                          <p:attrName>ppt_h</p:attrName>
                                        </p:attrNameLst>
                                      </p:cBhvr>
                                      <p:tavLst>
                                        <p:tav tm="0">
                                          <p:val>
                                            <p:strVal val="#ppt_h*0.70"/>
                                          </p:val>
                                        </p:tav>
                                        <p:tav tm="100000">
                                          <p:val>
                                            <p:strVal val="#ppt_h"/>
                                          </p:val>
                                        </p:tav>
                                      </p:tavLst>
                                    </p:anim>
                                    <p:animEffect transition="in" filter="fade">
                                      <p:cBhvr>
                                        <p:cTn id="56" dur="400"/>
                                        <p:tgtEl>
                                          <p:spTgt spid="15"/>
                                        </p:tgtEl>
                                      </p:cBhvr>
                                    </p:animEffect>
                                  </p:childTnLst>
                                </p:cTn>
                              </p:par>
                              <p:par>
                                <p:cTn id="60" presetID="10" presetClass="entr" presetSubtype="0" fill="hold" grpId="0" nodeType="withEffect">
                                  <p:stCondLst>
                                    <p:cond delay="126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500"/>
                                        <p:tgtEl>
                                          <p:spTgt spid="16"/>
                                        </p:tgtEl>
                                      </p:cBhvr>
                                    </p:animEffect>
                                  </p:childTnLst>
                                </p:cTn>
                              </p:par>
                              <p:par>
                                <p:cTn id="65" presetID="53" presetClass="entr" presetSubtype="16" fill="hold" grpId="0" nodeType="withEffect">
                                  <p:stCondLst>
                                    <p:cond delay="135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00" fill="hold" decel="100000"/>
                                        <p:tgtEl>
                                          <p:spTgt spid="17"/>
                                        </p:tgtEl>
                                        <p:attrNameLst>
                                          <p:attrName>ppt_w</p:attrName>
                                        </p:attrNameLst>
                                      </p:cBhvr>
                                      <p:tavLst>
                                        <p:tav tm="0">
                                          <p:val>
                                            <p:strVal val="#ppt_w*0.70"/>
                                          </p:val>
                                        </p:tav>
                                        <p:tav tm="100000">
                                          <p:val>
                                            <p:strVal val="#ppt_w"/>
                                          </p:val>
                                        </p:tav>
                                      </p:tavLst>
                                    </p:anim>
                                    <p:anim calcmode="lin" valueType="num">
                                      <p:cBhvr>
                                        <p:cTn id="63" dur="400" fill="hold" decel="100000"/>
                                        <p:tgtEl>
                                          <p:spTgt spid="17"/>
                                        </p:tgtEl>
                                        <p:attrNameLst>
                                          <p:attrName>ppt_h</p:attrName>
                                        </p:attrNameLst>
                                      </p:cBhvr>
                                      <p:tavLst>
                                        <p:tav tm="0">
                                          <p:val>
                                            <p:strVal val="#ppt_h*0.70"/>
                                          </p:val>
                                        </p:tav>
                                        <p:tav tm="100000">
                                          <p:val>
                                            <p:strVal val="#ppt_h"/>
                                          </p:val>
                                        </p:tav>
                                      </p:tavLst>
                                    </p:anim>
                                    <p:animEffect transition="in" filter="fade">
                                      <p:cBhvr>
                                        <p:cTn id="64" dur="400"/>
                                        <p:tgtEl>
                                          <p:spTgt spid="17"/>
                                        </p:tgtEl>
                                      </p:cBhvr>
                                    </p:animEffect>
                                  </p:childTnLst>
                                </p:cTn>
                              </p:par>
                              <p:par>
                                <p:cTn id="68" presetID="10" presetClass="entr" presetSubtype="0" fill="hold" grpId="0" nodeType="withEffect">
                                  <p:stCondLst>
                                    <p:cond delay="135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childTnLst>
                                </p:cTn>
                              </p:par>
                              <p:par>
                                <p:cTn id="73" presetID="42" presetClass="entr" presetSubtype="0" fill="hold" grpId="0" nodeType="withEffect">
                                  <p:stCondLst>
                                    <p:cond delay="14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p:cTn id="71" dur="700" fill="hold" decel="100000"/>
                                        <p:tgtEl>
                                          <p:spTgt spid="21"/>
                                        </p:tgtEl>
                                        <p:attrNameLst>
                                          <p:attrName>ppt_x</p:attrName>
                                        </p:attrNameLst>
                                      </p:cBhvr>
                                      <p:tavLst>
                                        <p:tav tm="0">
                                          <p:val>
                                            <p:strVal val="#ppt_x"/>
                                          </p:val>
                                        </p:tav>
                                        <p:tav tm="100000">
                                          <p:val>
                                            <p:strVal val="#ppt_x"/>
                                          </p:val>
                                        </p:tav>
                                      </p:tavLst>
                                    </p:anim>
                                    <p:anim calcmode="lin" valueType="num">
                                      <p:cBhvr>
                                        <p:cTn id="72" dur="700" fill="hold" decel="100000"/>
                                        <p:tgtEl>
                                          <p:spTgt spid="21"/>
                                        </p:tgtEl>
                                        <p:attrNameLst>
                                          <p:attrName>ppt_y</p:attrName>
                                        </p:attrNameLst>
                                      </p:cBhvr>
                                      <p:tavLst>
                                        <p:tav tm="0">
                                          <p:val>
                                            <p:strVal val="#ppt_y+0.04"/>
                                          </p:val>
                                        </p:tav>
                                        <p:tav tm="100000">
                                          <p:val>
                                            <p:strVal val="#ppt_y"/>
                                          </p:val>
                                        </p:tav>
                                      </p:tavLst>
                                    </p:anim>
                                  </p:childTnLst>
                                </p:cTn>
                              </p:par>
                              <p:par>
                                <p:cTn id="78" presetID="53" presetClass="entr" presetSubtype="16" fill="hold" grpId="0" nodeType="withEffect">
                                  <p:stCondLst>
                                    <p:cond delay="1440"/>
                                  </p:stCondLst>
                                  <p:childTnLst>
                                    <p:set>
                                      <p:cBhvr>
                                        <p:cTn id="74" dur="1" fill="hold">
                                          <p:stCondLst>
                                            <p:cond delay="0"/>
                                          </p:stCondLst>
                                        </p:cTn>
                                        <p:tgtEl>
                                          <p:spTgt spid="19"/>
                                        </p:tgtEl>
                                        <p:attrNameLst>
                                          <p:attrName>style.visibility</p:attrName>
                                        </p:attrNameLst>
                                      </p:cBhvr>
                                      <p:to>
                                        <p:strVal val="visible"/>
                                      </p:to>
                                    </p:set>
                                    <p:anim calcmode="lin" valueType="num">
                                      <p:cBhvr>
                                        <p:cTn id="75" dur="400" fill="hold" decel="100000"/>
                                        <p:tgtEl>
                                          <p:spTgt spid="19"/>
                                        </p:tgtEl>
                                        <p:attrNameLst>
                                          <p:attrName>ppt_w</p:attrName>
                                        </p:attrNameLst>
                                      </p:cBhvr>
                                      <p:tavLst>
                                        <p:tav tm="0">
                                          <p:val>
                                            <p:strVal val="#ppt_w*0.70"/>
                                          </p:val>
                                        </p:tav>
                                        <p:tav tm="100000">
                                          <p:val>
                                            <p:strVal val="#ppt_w"/>
                                          </p:val>
                                        </p:tav>
                                      </p:tavLst>
                                    </p:anim>
                                    <p:anim calcmode="lin" valueType="num">
                                      <p:cBhvr>
                                        <p:cTn id="76" dur="400" fill="hold" decel="100000"/>
                                        <p:tgtEl>
                                          <p:spTgt spid="19"/>
                                        </p:tgtEl>
                                        <p:attrNameLst>
                                          <p:attrName>ppt_h</p:attrName>
                                        </p:attrNameLst>
                                      </p:cBhvr>
                                      <p:tavLst>
                                        <p:tav tm="0">
                                          <p:val>
                                            <p:strVal val="#ppt_h*0.70"/>
                                          </p:val>
                                        </p:tav>
                                        <p:tav tm="100000">
                                          <p:val>
                                            <p:strVal val="#ppt_h"/>
                                          </p:val>
                                        </p:tav>
                                      </p:tavLst>
                                    </p:anim>
                                    <p:animEffect transition="in" filter="fade">
                                      <p:cBhvr>
                                        <p:cTn id="77" dur="400"/>
                                        <p:tgtEl>
                                          <p:spTgt spid="19"/>
                                        </p:tgtEl>
                                      </p:cBhvr>
                                    </p:animEffect>
                                  </p:childTnLst>
                                </p:cTn>
                              </p:par>
                              <p:par>
                                <p:cTn id="81" presetID="10" presetClass="entr" presetSubtype="0" fill="hold" grpId="0" nodeType="withEffect">
                                  <p:stCondLst>
                                    <p:cond delay="144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childTnLst>
                                </p:cTn>
                              </p:par>
                              <p:par>
                                <p:cTn id="84" presetID="10" presetClass="entr" presetSubtype="0" fill="hold" grpId="0" nodeType="withEffect">
                                  <p:stCondLst>
                                    <p:cond delay="1550"/>
                                  </p:stCondLst>
                                  <p:childTnLst>
                                    <p:set>
                                      <p:cBhvr>
                                        <p:cTn id="82" dur="1" fill="hold">
                                          <p:stCondLst>
                                            <p:cond delay="0"/>
                                          </p:stCondLst>
                                        </p:cTn>
                                        <p:tgtEl>
                                          <p:spTgt spid="22"/>
                                        </p:tgtEl>
                                        <p:attrNameLst>
                                          <p:attrName>style.visibility</p:attrName>
                                        </p:attrNameLst>
                                      </p:cBhvr>
                                      <p:to>
                                        <p:strVal val="visible"/>
                                      </p:to>
                                    </p:set>
                                    <p:animEffect transition="in" filter="fade">
                                      <p:cBhvr>
                                        <p:cTn id="83" dur="600"/>
                                        <p:tgtEl>
                                          <p:spTgt spid="22"/>
                                        </p:tgtEl>
                                      </p:cBhvr>
                                    </p:animEffect>
                                  </p:childTnLst>
                                </p:cTn>
                              </p:par>
                              <p:par>
                                <p:cTn id="89" presetID="42" presetClass="entr" presetSubtype="0" fill="hold" grpId="0" nodeType="withEffect">
                                  <p:stCondLst>
                                    <p:cond delay="170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700"/>
                                        <p:tgtEl>
                                          <p:spTgt spid="23"/>
                                        </p:tgtEl>
                                      </p:cBhvr>
                                    </p:animEffect>
                                    <p:anim calcmode="lin" valueType="num">
                                      <p:cBhvr>
                                        <p:cTn id="87" dur="700" fill="hold" decel="100000"/>
                                        <p:tgtEl>
                                          <p:spTgt spid="23"/>
                                        </p:tgtEl>
                                        <p:attrNameLst>
                                          <p:attrName>ppt_x</p:attrName>
                                        </p:attrNameLst>
                                      </p:cBhvr>
                                      <p:tavLst>
                                        <p:tav tm="0">
                                          <p:val>
                                            <p:strVal val="#ppt_x"/>
                                          </p:val>
                                        </p:tav>
                                        <p:tav tm="100000">
                                          <p:val>
                                            <p:strVal val="#ppt_x"/>
                                          </p:val>
                                        </p:tav>
                                      </p:tavLst>
                                    </p:anim>
                                    <p:anim calcmode="lin" valueType="num">
                                      <p:cBhvr>
                                        <p:cTn id="88" dur="700" fill="hold" decel="100000"/>
                                        <p:tgtEl>
                                          <p:spTgt spid="23"/>
                                        </p:tgtEl>
                                        <p:attrNameLst>
                                          <p:attrName>ppt_y</p:attrName>
                                        </p:attrNameLst>
                                      </p:cBhvr>
                                      <p:tavLst>
                                        <p:tav tm="0">
                                          <p:val>
                                            <p:strVal val="#ppt_y+0.04"/>
                                          </p:val>
                                        </p:tav>
                                        <p:tav tm="100000">
                                          <p:val>
                                            <p:strVal val="#ppt_y"/>
                                          </p:val>
                                        </p:tav>
                                      </p:tavLst>
                                    </p:anim>
                                  </p:childTnLst>
                                </p:cTn>
                              </p:par>
                              <p:par>
                                <p:cTn id="92" presetID="10" presetClass="entr" presetSubtype="0" fill="hold" grpId="0" nodeType="withEffect">
                                  <p:stCondLst>
                                    <p:cond delay="1850"/>
                                  </p:stCondLst>
                                  <p:childTnLst>
                                    <p:set>
                                      <p:cBhvr>
                                        <p:cTn id="90" dur="1" fill="hold">
                                          <p:stCondLst>
                                            <p:cond delay="0"/>
                                          </p:stCondLst>
                                        </p:cTn>
                                        <p:tgtEl>
                                          <p:spTgt spid="24"/>
                                        </p:tgtEl>
                                        <p:attrNameLst>
                                          <p:attrName>style.visibility</p:attrName>
                                        </p:attrNameLst>
                                      </p:cBhvr>
                                      <p:to>
                                        <p:strVal val="visible"/>
                                      </p:to>
                                    </p:set>
                                    <p:animEffect transition="in" filter="fade">
                                      <p:cBhvr>
                                        <p:cTn id="91" dur="600"/>
                                        <p:tgtEl>
                                          <p:spTgt spid="24"/>
                                        </p:tgtEl>
                                      </p:cBhvr>
                                    </p:animEffect>
                                  </p:childTnLst>
                                </p:cTn>
                              </p:par>
                              <p:par>
                                <p:cTn id="97" presetID="42" presetClass="entr" presetSubtype="0" fill="hold" grpId="0" nodeType="withEffect">
                                  <p:stCondLst>
                                    <p:cond delay="200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700"/>
                                        <p:tgtEl>
                                          <p:spTgt spid="25"/>
                                        </p:tgtEl>
                                      </p:cBhvr>
                                    </p:animEffect>
                                    <p:anim calcmode="lin" valueType="num">
                                      <p:cBhvr>
                                        <p:cTn id="95" dur="700" fill="hold" decel="100000"/>
                                        <p:tgtEl>
                                          <p:spTgt spid="25"/>
                                        </p:tgtEl>
                                        <p:attrNameLst>
                                          <p:attrName>ppt_x</p:attrName>
                                        </p:attrNameLst>
                                      </p:cBhvr>
                                      <p:tavLst>
                                        <p:tav tm="0">
                                          <p:val>
                                            <p:strVal val="#ppt_x"/>
                                          </p:val>
                                        </p:tav>
                                        <p:tav tm="100000">
                                          <p:val>
                                            <p:strVal val="#ppt_x"/>
                                          </p:val>
                                        </p:tav>
                                      </p:tavLst>
                                    </p:anim>
                                    <p:anim calcmode="lin" valueType="num">
                                      <p:cBhvr>
                                        <p:cTn id="96" dur="700" fill="hold" decel="100000"/>
                                        <p:tgtEl>
                                          <p:spTgt spid="25"/>
                                        </p:tgtEl>
                                        <p:attrNameLst>
                                          <p:attrName>ppt_y</p:attrName>
                                        </p:attrNameLst>
                                      </p:cBhvr>
                                      <p:tavLst>
                                        <p:tav tm="0">
                                          <p:val>
                                            <p:strVal val="#ppt_y+0.04"/>
                                          </p:val>
                                        </p:tav>
                                        <p:tav tm="100000">
                                          <p:val>
                                            <p:strVal val="#ppt_y"/>
                                          </p:val>
                                        </p:tav>
                                      </p:tavLst>
                                    </p:anim>
                                  </p:childTnLst>
                                </p:cTn>
                              </p:par>
                              <p:par>
                                <p:cTn id="100" presetID="10" presetClass="entr" presetSubtype="0" fill="hold" grpId="0" nodeType="withEffect">
                                  <p:stCondLst>
                                    <p:cond delay="215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4" grpId="0">
        <p:bldAsOne/>
      </p:bldGraphic>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1" grpId="0" animBg="1"/>
      <p:bldP spid="19" grpId="0" animBg="1"/>
      <p:bldP spid="20" grpId="0" animBg="1"/>
      <p:bldP spid="22" grpId="0" animBg="1"/>
      <p:bldP spid="23" grpId="0" animBg="1"/>
      <p:bldP spid="24" grpId="0" animBg="1"/>
      <p:bldP spid="25" grpId="0" animBg="1"/>
      <p:bldP spid="26" grpId="0" animBg="1"/>
    </p:bldLst>
  </p:timing>
</p:sld>
</file>

<file path=ppt/slides/slide25.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2026 — A LIVE STRESS TEST</a:t>
            </a:r>
            <a:endParaRPr lang="en-US" sz="1500" dirty="0"/>
          </a:p>
        </p:txBody>
      </p:sp>
      <p:sp>
        <p:nvSpPr>
          <p:cNvPr id="3" name="hormuz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When the Strait of Hormuz closed</a:t>
            </a:r>
            <a:endParaRPr lang="en-US" sz="3800" dirty="0"/>
          </a:p>
        </p:txBody>
      </p:sp>
      <p:graphicFrame>
        <p:nvGraphicFramePr>
          <p:cNvPr id="4" name="hormuz_months" descr=""/>
          <p:cNvGraphicFramePr/>
          <p:nvPr/>
        </p:nvGraphicFramePr>
        <p:xfrm>
          <a:off x="457200" y="1828800"/>
          <a:ext cx="7223760" cy="3520440"/>
        </p:xfrm>
        <a:graphic xmlns:a="http://schemas.openxmlformats.org/drawingml/2006/main">
          <a:graphicData uri="http://schemas.openxmlformats.org/drawingml/2006/chart">
            <c:chart xmlns:c="http://schemas.openxmlformats.org/drawingml/2006/chart" r:id="rId1"/>
          </a:graphicData>
        </a:graphic>
      </p:graphicFrame>
      <p:sp>
        <p:nvSpPr>
          <p:cNvPr id="5" name="hormuz_t_1"/>
          <p:cNvSpPr txBox="1"/>
          <p:nvPr/>
        </p:nvSpPr>
        <p:spPr>
          <a:xfrm>
            <a:off x="640080" y="1783080"/>
            <a:ext cx="5486400" cy="292608"/>
          </a:xfrm>
          <a:prstGeom prst="rect">
            <a:avLst/>
          </a:prstGeom>
          <a:noFill/>
          <a:ln/>
        </p:spPr>
        <p:txBody>
          <a:bodyPr wrap="square" lIns="0" tIns="0" rIns="0" bIns="0" rtlCol="0" anchor="t"/>
          <a:lstStyle/>
          <a:p>
            <a:pPr indent="0" marL="0">
              <a:buNone/>
            </a:pPr>
            <a:r>
              <a:rPr lang="en-US" sz="1500" dirty="0">
                <a:solidFill>
                  <a:schemeClr val="tx2"/>
                </a:solidFill>
                <a:latin typeface="Arial" pitchFamily="34" charset="0"/>
                <a:ea typeface="Arial" pitchFamily="34" charset="-122"/>
                <a:cs typeface="Arial" pitchFamily="34" charset="-120"/>
              </a:rPr>
              <a:t>Kuwait crude exports, thousand b/d, 2026</a:t>
            </a:r>
            <a:endParaRPr lang="en-US" sz="1500" dirty="0"/>
          </a:p>
        </p:txBody>
      </p:sp>
      <p:sp>
        <p:nvSpPr>
          <p:cNvPr id="6" name="hormuz_t_2"/>
          <p:cNvSpPr txBox="1"/>
          <p:nvPr/>
        </p:nvSpPr>
        <p:spPr>
          <a:xfrm>
            <a:off x="763655" y="5394960"/>
            <a:ext cx="914400" cy="292608"/>
          </a:xfrm>
          <a:prstGeom prst="rect">
            <a:avLst/>
          </a:prstGeom>
          <a:noFill/>
          <a:ln/>
        </p:spPr>
        <p:txBody>
          <a:bodyPr wrap="square" lIns="0" tIns="0" rIns="0" bIns="0" rtlCol="0" anchor="t"/>
          <a:lstStyle/>
          <a:p>
            <a:pPr algn="ctr" indent="0" marL="0">
              <a:buNone/>
            </a:pPr>
            <a:r>
              <a:rPr lang="en-US" sz="1500" b="1" dirty="0">
                <a:solidFill>
                  <a:schemeClr val="tx2"/>
                </a:solidFill>
                <a:latin typeface="Arial" pitchFamily="34" charset="0"/>
                <a:ea typeface="Arial" pitchFamily="34" charset="-122"/>
                <a:cs typeface="Arial" pitchFamily="34" charset="-120"/>
              </a:rPr>
              <a:t>$67</a:t>
            </a:r>
            <a:endParaRPr lang="en-US" sz="1500" dirty="0"/>
          </a:p>
        </p:txBody>
      </p:sp>
      <p:sp>
        <p:nvSpPr>
          <p:cNvPr id="7" name="hormuz_t_3"/>
          <p:cNvSpPr txBox="1"/>
          <p:nvPr/>
        </p:nvSpPr>
        <p:spPr>
          <a:xfrm>
            <a:off x="1713063" y="5394960"/>
            <a:ext cx="914400" cy="292608"/>
          </a:xfrm>
          <a:prstGeom prst="rect">
            <a:avLst/>
          </a:prstGeom>
          <a:noFill/>
          <a:ln/>
        </p:spPr>
        <p:txBody>
          <a:bodyPr wrap="square" lIns="0" tIns="0" rIns="0" bIns="0" rtlCol="0" anchor="t"/>
          <a:lstStyle/>
          <a:p>
            <a:pPr algn="ctr" indent="0" marL="0">
              <a:buNone/>
            </a:pPr>
            <a:r>
              <a:rPr lang="en-US" sz="1500" b="1" dirty="0">
                <a:solidFill>
                  <a:schemeClr val="tx2"/>
                </a:solidFill>
                <a:latin typeface="Arial" pitchFamily="34" charset="0"/>
                <a:ea typeface="Arial" pitchFamily="34" charset="-122"/>
                <a:cs typeface="Arial" pitchFamily="34" charset="-120"/>
              </a:rPr>
              <a:t>$71</a:t>
            </a:r>
            <a:endParaRPr lang="en-US" sz="1500" dirty="0"/>
          </a:p>
        </p:txBody>
      </p:sp>
      <p:sp>
        <p:nvSpPr>
          <p:cNvPr id="8" name="hormuz_t_4"/>
          <p:cNvSpPr txBox="1"/>
          <p:nvPr/>
        </p:nvSpPr>
        <p:spPr>
          <a:xfrm>
            <a:off x="2662472" y="5394960"/>
            <a:ext cx="914400" cy="292608"/>
          </a:xfrm>
          <a:prstGeom prst="rect">
            <a:avLst/>
          </a:prstGeom>
          <a:noFill/>
          <a:ln/>
        </p:spPr>
        <p:txBody>
          <a:bodyPr wrap="square" lIns="0" tIns="0" rIns="0" bIns="0" rtlCol="0" anchor="t"/>
          <a:lstStyle/>
          <a:p>
            <a:pPr algn="ctr" indent="0" marL="0">
              <a:buNone/>
            </a:pPr>
            <a:r>
              <a:rPr lang="en-US" sz="1500" b="1" dirty="0">
                <a:solidFill>
                  <a:schemeClr val="accent4"/>
                </a:solidFill>
                <a:latin typeface="Arial" pitchFamily="34" charset="0"/>
                <a:ea typeface="Arial" pitchFamily="34" charset="-122"/>
                <a:cs typeface="Arial" pitchFamily="34" charset="-120"/>
              </a:rPr>
              <a:t>$103</a:t>
            </a:r>
            <a:endParaRPr lang="en-US" sz="1500" dirty="0"/>
          </a:p>
        </p:txBody>
      </p:sp>
      <p:sp>
        <p:nvSpPr>
          <p:cNvPr id="9" name="hormuz_t_5"/>
          <p:cNvSpPr txBox="1"/>
          <p:nvPr/>
        </p:nvSpPr>
        <p:spPr>
          <a:xfrm>
            <a:off x="3611880" y="5394960"/>
            <a:ext cx="914400" cy="292608"/>
          </a:xfrm>
          <a:prstGeom prst="rect">
            <a:avLst/>
          </a:prstGeom>
          <a:noFill/>
          <a:ln/>
        </p:spPr>
        <p:txBody>
          <a:bodyPr wrap="square" lIns="0" tIns="0" rIns="0" bIns="0" rtlCol="0" anchor="t"/>
          <a:lstStyle/>
          <a:p>
            <a:pPr algn="ctr" indent="0" marL="0">
              <a:buNone/>
            </a:pPr>
            <a:r>
              <a:rPr lang="en-US" sz="1500" b="1" dirty="0">
                <a:solidFill>
                  <a:schemeClr val="accent4"/>
                </a:solidFill>
                <a:latin typeface="Arial" pitchFamily="34" charset="0"/>
                <a:ea typeface="Arial" pitchFamily="34" charset="-122"/>
                <a:cs typeface="Arial" pitchFamily="34" charset="-120"/>
              </a:rPr>
              <a:t>$117</a:t>
            </a:r>
            <a:endParaRPr lang="en-US" sz="1500" dirty="0"/>
          </a:p>
        </p:txBody>
      </p:sp>
      <p:sp>
        <p:nvSpPr>
          <p:cNvPr id="10" name="hormuz_t_6"/>
          <p:cNvSpPr txBox="1"/>
          <p:nvPr/>
        </p:nvSpPr>
        <p:spPr>
          <a:xfrm>
            <a:off x="4561288" y="5394960"/>
            <a:ext cx="914400" cy="292608"/>
          </a:xfrm>
          <a:prstGeom prst="rect">
            <a:avLst/>
          </a:prstGeom>
          <a:noFill/>
          <a:ln/>
        </p:spPr>
        <p:txBody>
          <a:bodyPr wrap="square" lIns="0" tIns="0" rIns="0" bIns="0" rtlCol="0" anchor="t"/>
          <a:lstStyle/>
          <a:p>
            <a:pPr algn="ctr" indent="0" marL="0">
              <a:buNone/>
            </a:pPr>
            <a:r>
              <a:rPr lang="en-US" sz="1500" b="1" dirty="0">
                <a:solidFill>
                  <a:schemeClr val="accent4"/>
                </a:solidFill>
                <a:latin typeface="Arial" pitchFamily="34" charset="0"/>
                <a:ea typeface="Arial" pitchFamily="34" charset="-122"/>
                <a:cs typeface="Arial" pitchFamily="34" charset="-120"/>
              </a:rPr>
              <a:t>$107</a:t>
            </a:r>
            <a:endParaRPr lang="en-US" sz="1500" dirty="0"/>
          </a:p>
        </p:txBody>
      </p:sp>
      <p:sp>
        <p:nvSpPr>
          <p:cNvPr id="11" name="hormuz_t_7"/>
          <p:cNvSpPr txBox="1"/>
          <p:nvPr/>
        </p:nvSpPr>
        <p:spPr>
          <a:xfrm>
            <a:off x="5510697" y="5394960"/>
            <a:ext cx="914400" cy="292608"/>
          </a:xfrm>
          <a:prstGeom prst="rect">
            <a:avLst/>
          </a:prstGeom>
          <a:noFill/>
          <a:ln/>
        </p:spPr>
        <p:txBody>
          <a:bodyPr wrap="square" lIns="0" tIns="0" rIns="0" bIns="0" rtlCol="0" anchor="t"/>
          <a:lstStyle/>
          <a:p>
            <a:pPr algn="ctr" indent="0" marL="0">
              <a:buNone/>
            </a:pPr>
            <a:r>
              <a:rPr lang="en-US" sz="1500" b="1" dirty="0">
                <a:solidFill>
                  <a:schemeClr val="tx2"/>
                </a:solidFill>
                <a:latin typeface="Arial" pitchFamily="34" charset="0"/>
                <a:ea typeface="Arial" pitchFamily="34" charset="-122"/>
                <a:cs typeface="Arial" pitchFamily="34" charset="-120"/>
              </a:rPr>
              <a:t>$85</a:t>
            </a:r>
            <a:endParaRPr lang="en-US" sz="1500" dirty="0"/>
          </a:p>
        </p:txBody>
      </p:sp>
      <p:sp>
        <p:nvSpPr>
          <p:cNvPr id="12" name="hormuz_t_8"/>
          <p:cNvSpPr txBox="1"/>
          <p:nvPr/>
        </p:nvSpPr>
        <p:spPr>
          <a:xfrm>
            <a:off x="6460105" y="5394960"/>
            <a:ext cx="914400" cy="292608"/>
          </a:xfrm>
          <a:prstGeom prst="rect">
            <a:avLst/>
          </a:prstGeom>
          <a:noFill/>
          <a:ln/>
        </p:spPr>
        <p:txBody>
          <a:bodyPr wrap="square" lIns="0" tIns="0" rIns="0" bIns="0" rtlCol="0" anchor="t"/>
          <a:lstStyle/>
          <a:p>
            <a:pPr algn="ctr" indent="0" marL="0">
              <a:buNone/>
            </a:pPr>
            <a:r>
              <a:rPr lang="en-US" sz="1500" b="1" dirty="0">
                <a:solidFill>
                  <a:schemeClr val="tx2"/>
                </a:solidFill>
                <a:latin typeface="Arial" pitchFamily="34" charset="0"/>
                <a:ea typeface="Arial" pitchFamily="34" charset="-122"/>
                <a:cs typeface="Arial" pitchFamily="34" charset="-120"/>
              </a:rPr>
              <a:t>$84</a:t>
            </a:r>
            <a:endParaRPr lang="en-US" sz="1500" dirty="0"/>
          </a:p>
        </p:txBody>
      </p:sp>
      <p:sp>
        <p:nvSpPr>
          <p:cNvPr id="13" name="hormuz_t_9"/>
          <p:cNvSpPr txBox="1"/>
          <p:nvPr/>
        </p:nvSpPr>
        <p:spPr>
          <a:xfrm>
            <a:off x="883310" y="5669280"/>
            <a:ext cx="3657600" cy="256032"/>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Brent, monthly average (US$/bbl)</a:t>
            </a:r>
            <a:endParaRPr lang="en-US" sz="1200" dirty="0"/>
          </a:p>
        </p:txBody>
      </p:sp>
      <p:sp>
        <p:nvSpPr>
          <p:cNvPr id="14" name="hormuz_t_10"/>
          <p:cNvSpPr txBox="1"/>
          <p:nvPr/>
        </p:nvSpPr>
        <p:spPr>
          <a:xfrm>
            <a:off x="8092440" y="1810512"/>
            <a:ext cx="3566160" cy="512064"/>
          </a:xfrm>
          <a:prstGeom prst="rect">
            <a:avLst/>
          </a:prstGeom>
          <a:noFill/>
          <a:ln/>
        </p:spPr>
        <p:txBody>
          <a:bodyPr wrap="square" lIns="0" tIns="0" rIns="0" bIns="0" rtlCol="0" anchor="t"/>
          <a:lstStyle/>
          <a:p>
            <a:pPr indent="0" marL="0">
              <a:buNone/>
            </a:pPr>
            <a:r>
              <a:rPr lang="en-US" sz="3200" b="1" dirty="0">
                <a:solidFill>
                  <a:schemeClr val="accent4"/>
                </a:solidFill>
                <a:latin typeface="Arial" pitchFamily="34" charset="0"/>
                <a:ea typeface="Arial" pitchFamily="34" charset="-122"/>
                <a:cs typeface="Arial" pitchFamily="34" charset="-120"/>
              </a:rPr>
              <a:t>7 Mar</a:t>
            </a:r>
            <a:endParaRPr lang="en-US" sz="3200" dirty="0"/>
          </a:p>
        </p:txBody>
      </p:sp>
      <p:sp>
        <p:nvSpPr>
          <p:cNvPr id="15" name="hormuz_t_11"/>
          <p:cNvSpPr txBox="1"/>
          <p:nvPr/>
        </p:nvSpPr>
        <p:spPr>
          <a:xfrm>
            <a:off x="8092440" y="2304288"/>
            <a:ext cx="3566160" cy="4572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KPC declares force majeure as tankers stop transiting Hormuz</a:t>
            </a:r>
            <a:endParaRPr lang="en-US" sz="1400" dirty="0"/>
          </a:p>
        </p:txBody>
      </p:sp>
      <p:sp>
        <p:nvSpPr>
          <p:cNvPr id="16" name="hormuz_t_12"/>
          <p:cNvSpPr txBox="1"/>
          <p:nvPr/>
        </p:nvSpPr>
        <p:spPr>
          <a:xfrm>
            <a:off x="8092440" y="2798064"/>
            <a:ext cx="3566160" cy="512064"/>
          </a:xfrm>
          <a:prstGeom prst="rect">
            <a:avLst/>
          </a:prstGeom>
          <a:noFill/>
          <a:ln/>
        </p:spPr>
        <p:txBody>
          <a:bodyPr wrap="square" lIns="0" tIns="0" rIns="0" bIns="0" rtlCol="0" anchor="t"/>
          <a:lstStyle/>
          <a:p>
            <a:pPr indent="0" marL="0">
              <a:buNone/>
            </a:pPr>
            <a:r>
              <a:rPr lang="en-US" sz="3200" b="1" dirty="0">
                <a:solidFill>
                  <a:schemeClr val="accent4"/>
                </a:solidFill>
                <a:latin typeface="Arial" pitchFamily="34" charset="0"/>
                <a:ea typeface="Arial" pitchFamily="34" charset="-122"/>
                <a:cs typeface="Arial" pitchFamily="34" charset="-120"/>
              </a:rPr>
              <a:t>−98%</a:t>
            </a:r>
            <a:endParaRPr lang="en-US" sz="3200" dirty="0"/>
          </a:p>
        </p:txBody>
      </p:sp>
      <p:sp>
        <p:nvSpPr>
          <p:cNvPr id="17" name="hormuz_t_13"/>
          <p:cNvSpPr txBox="1"/>
          <p:nvPr/>
        </p:nvSpPr>
        <p:spPr>
          <a:xfrm>
            <a:off x="8092440" y="3291840"/>
            <a:ext cx="3566160" cy="4572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crude exports from 1,213 kb/d (Feb) to 24 kb/d (May)</a:t>
            </a:r>
            <a:endParaRPr lang="en-US" sz="1400" dirty="0"/>
          </a:p>
        </p:txBody>
      </p:sp>
      <p:sp>
        <p:nvSpPr>
          <p:cNvPr id="18" name="hormuz_t_14"/>
          <p:cNvSpPr txBox="1"/>
          <p:nvPr/>
        </p:nvSpPr>
        <p:spPr>
          <a:xfrm>
            <a:off x="8092440" y="3785616"/>
            <a:ext cx="3566160" cy="512064"/>
          </a:xfrm>
          <a:prstGeom prst="rect">
            <a:avLst/>
          </a:prstGeom>
          <a:noFill/>
          <a:ln/>
        </p:spPr>
        <p:txBody>
          <a:bodyPr wrap="square" lIns="0" tIns="0" rIns="0" bIns="0" rtlCol="0" anchor="t"/>
          <a:lstStyle/>
          <a:p>
            <a:pPr indent="0" marL="0">
              <a:buNone/>
            </a:pPr>
            <a:r>
              <a:rPr lang="en-US" sz="3200" b="1" dirty="0">
                <a:solidFill>
                  <a:schemeClr val="accent4"/>
                </a:solidFill>
                <a:latin typeface="Arial" pitchFamily="34" charset="0"/>
                <a:ea typeface="Arial" pitchFamily="34" charset="-122"/>
                <a:cs typeface="Arial" pitchFamily="34" charset="-120"/>
              </a:rPr>
              <a:t>$138</a:t>
            </a:r>
            <a:endParaRPr lang="en-US" sz="3200" dirty="0"/>
          </a:p>
        </p:txBody>
      </p:sp>
      <p:sp>
        <p:nvSpPr>
          <p:cNvPr id="19" name="hormuz_t_15"/>
          <p:cNvSpPr txBox="1"/>
          <p:nvPr/>
        </p:nvSpPr>
        <p:spPr>
          <a:xfrm>
            <a:off x="8092440" y="4279392"/>
            <a:ext cx="3566160" cy="4572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Brent peak on 7 April 2026</a:t>
            </a:r>
            <a:endParaRPr lang="en-US" sz="1400" dirty="0"/>
          </a:p>
        </p:txBody>
      </p:sp>
      <p:sp>
        <p:nvSpPr>
          <p:cNvPr id="20" name="hormuz_t_16"/>
          <p:cNvSpPr txBox="1"/>
          <p:nvPr/>
        </p:nvSpPr>
        <p:spPr>
          <a:xfrm>
            <a:off x="8092440" y="4773168"/>
            <a:ext cx="3566160" cy="512064"/>
          </a:xfrm>
          <a:prstGeom prst="rect">
            <a:avLst/>
          </a:prstGeom>
          <a:noFill/>
          <a:ln/>
        </p:spPr>
        <p:txBody>
          <a:bodyPr wrap="square" lIns="0" tIns="0" rIns="0" bIns="0" rtlCol="0" anchor="t"/>
          <a:lstStyle/>
          <a:p>
            <a:pPr indent="0" marL="0">
              <a:buNone/>
            </a:pPr>
            <a:r>
              <a:rPr lang="en-US" sz="3200" b="1" dirty="0">
                <a:solidFill>
                  <a:schemeClr val="accent1"/>
                </a:solidFill>
                <a:latin typeface="Arial" pitchFamily="34" charset="0"/>
                <a:ea typeface="Arial" pitchFamily="34" charset="-122"/>
                <a:cs typeface="Arial" pitchFamily="34" charset="-120"/>
              </a:rPr>
              <a:t>0</a:t>
            </a:r>
            <a:endParaRPr lang="en-US" sz="3200" dirty="0"/>
          </a:p>
        </p:txBody>
      </p:sp>
      <p:sp>
        <p:nvSpPr>
          <p:cNvPr id="21" name="hormuz_t_17"/>
          <p:cNvSpPr txBox="1"/>
          <p:nvPr/>
        </p:nvSpPr>
        <p:spPr>
          <a:xfrm>
            <a:off x="8092440" y="5266944"/>
            <a:ext cx="3566160" cy="457200"/>
          </a:xfrm>
          <a:prstGeom prst="rect">
            <a:avLst/>
          </a:prstGeom>
          <a:noFill/>
          <a:ln/>
        </p:spPr>
        <p:txBody>
          <a:bodyPr wrap="square" lIns="0" tIns="0" rIns="0" bIns="0" rtlCol="0" anchor="t"/>
          <a:lstStyle/>
          <a:p>
            <a:pPr indent="0" marL="0">
              <a:buNone/>
            </a:pPr>
            <a:r>
              <a:rPr lang="en-US" sz="1400" dirty="0">
                <a:solidFill>
                  <a:schemeClr val="tx2"/>
                </a:solidFill>
                <a:latin typeface="Arial" pitchFamily="34" charset="0"/>
                <a:ea typeface="Arial" pitchFamily="34" charset="-122"/>
                <a:cs typeface="Arial" pitchFamily="34" charset="-120"/>
              </a:rPr>
              <a:t>export routes that bypass the Gulf: every terminal is inside it</a:t>
            </a:r>
            <a:endParaRPr lang="en-US" sz="1400" dirty="0"/>
          </a:p>
        </p:txBody>
      </p:sp>
      <p:sp>
        <p:nvSpPr>
          <p:cNvPr id="22" name="hormuz_t_18"/>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Sources: JODI-Oil World Database (monthly, 2026); EIA Brent spot prices; Reuters via CNBC (7 Mar 2026). 2026 data are preliminary.</a:t>
            </a:r>
            <a:endParaRPr lang="en-US" sz="1200" dirty="0"/>
          </a:p>
        </p:txBody>
      </p:sp>
      <p:sp>
        <p:nvSpPr>
          <p:cNvPr id="23" name="hormuz_home_19">
            <a:hlinkClick r:id="rId2"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24" name="hormuz_i_20" descr="preencoded.png">    </p:cNvPr>
          <p:cNvPicPr>
            <a:picLocks noChangeAspect="1"/>
          </p:cNvPicPr>
          <p:nvPr/>
        </p:nvPicPr>
        <p:blipFill>
          <a:blip r:embed="rId3"/>
          <a:stretch>
            <a:fillRect/>
          </a:stretch>
        </p:blipFill>
        <p:spPr>
          <a:xfrm>
            <a:off x="10719511" y="6355080"/>
            <a:ext cx="219456" cy="219456"/>
          </a:xfrm>
          <a:prstGeom prst="rect">
            <a:avLst/>
          </a:prstGeom>
        </p:spPr>
      </p:pic>
      <p:sp>
        <p:nvSpPr>
          <p:cNvPr id="25" name="hormuz_s_21">
            <a:hlinkClick r:id="rId4"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22" presetClass="entr" presetSubtype="4"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Effect transition="in" filter="wipe(down)">
                                      <p:cBhvr>
                                        <p:cTn id="11" dur="1500"/>
                                        <p:tgtEl>
                                          <p:spTgt spid="4"/>
                                        </p:tgtEl>
                                      </p:cBhvr>
                                    </p:animEffect>
                                  </p:childTnLst>
                                </p:cTn>
                              </p:par>
                              <p:par>
                                <p:cTn id="15" presetID="10" presetClass="entr" presetSubtype="0" fill="hold" grpId="0" nodeType="withEffect">
                                  <p:stCondLst>
                                    <p:cond delay="3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600"/>
                                        <p:tgtEl>
                                          <p:spTgt spid="5"/>
                                        </p:tgtEl>
                                      </p:cBhvr>
                                    </p:animEffect>
                                  </p:childTnLst>
                                </p:cTn>
                              </p:par>
                              <p:par>
                                <p:cTn id="20" presetID="42" presetClass="entr" presetSubtype="0" fill="hold" grpId="0" nodeType="withEffect">
                                  <p:stCondLst>
                                    <p:cond delay="12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700"/>
                                        <p:tgtEl>
                                          <p:spTgt spid="14"/>
                                        </p:tgtEl>
                                      </p:cBhvr>
                                    </p:animEffect>
                                    <p:anim calcmode="lin" valueType="num">
                                      <p:cBhvr>
                                        <p:cTn id="18" dur="700" fill="hold" decel="100000"/>
                                        <p:tgtEl>
                                          <p:spTgt spid="14"/>
                                        </p:tgtEl>
                                        <p:attrNameLst>
                                          <p:attrName>ppt_x</p:attrName>
                                        </p:attrNameLst>
                                      </p:cBhvr>
                                      <p:tavLst>
                                        <p:tav tm="0">
                                          <p:val>
                                            <p:strVal val="#ppt_x"/>
                                          </p:val>
                                        </p:tav>
                                        <p:tav tm="100000">
                                          <p:val>
                                            <p:strVal val="#ppt_x"/>
                                          </p:val>
                                        </p:tav>
                                      </p:tavLst>
                                    </p:anim>
                                    <p:anim calcmode="lin" valueType="num">
                                      <p:cBhvr>
                                        <p:cTn id="19" dur="700" fill="hold" decel="100000"/>
                                        <p:tgtEl>
                                          <p:spTgt spid="14"/>
                                        </p:tgtEl>
                                        <p:attrNameLst>
                                          <p:attrName>ppt_y</p:attrName>
                                        </p:attrNameLst>
                                      </p:cBhvr>
                                      <p:tavLst>
                                        <p:tav tm="0">
                                          <p:val>
                                            <p:strVal val="#ppt_y+0.04"/>
                                          </p:val>
                                        </p:tav>
                                        <p:tav tm="100000">
                                          <p:val>
                                            <p:strVal val="#ppt_y"/>
                                          </p:val>
                                        </p:tav>
                                      </p:tavLst>
                                    </p:anim>
                                  </p:childTnLst>
                                </p:cTn>
                              </p:par>
                              <p:par>
                                <p:cTn id="23" presetID="10" presetClass="entr" presetSubtype="0" fill="hold" grpId="0" nodeType="withEffect">
                                  <p:stCondLst>
                                    <p:cond delay="135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600"/>
                                        <p:tgtEl>
                                          <p:spTgt spid="15"/>
                                        </p:tgtEl>
                                      </p:cBhvr>
                                    </p:animEffect>
                                  </p:childTnLst>
                                </p:cTn>
                              </p:par>
                              <p:par>
                                <p:cTn id="28" presetID="42" presetClass="entr" presetSubtype="0" fill="hold" grpId="0" nodeType="withEffect">
                                  <p:stCondLst>
                                    <p:cond delay="150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700"/>
                                        <p:tgtEl>
                                          <p:spTgt spid="16"/>
                                        </p:tgtEl>
                                      </p:cBhvr>
                                    </p:animEffect>
                                    <p:anim calcmode="lin" valueType="num">
                                      <p:cBhvr>
                                        <p:cTn id="26" dur="700" fill="hold" decel="100000"/>
                                        <p:tgtEl>
                                          <p:spTgt spid="16"/>
                                        </p:tgtEl>
                                        <p:attrNameLst>
                                          <p:attrName>ppt_x</p:attrName>
                                        </p:attrNameLst>
                                      </p:cBhvr>
                                      <p:tavLst>
                                        <p:tav tm="0">
                                          <p:val>
                                            <p:strVal val="#ppt_x"/>
                                          </p:val>
                                        </p:tav>
                                        <p:tav tm="100000">
                                          <p:val>
                                            <p:strVal val="#ppt_x"/>
                                          </p:val>
                                        </p:tav>
                                      </p:tavLst>
                                    </p:anim>
                                    <p:anim calcmode="lin" valueType="num">
                                      <p:cBhvr>
                                        <p:cTn id="27" dur="700" fill="hold" decel="100000"/>
                                        <p:tgtEl>
                                          <p:spTgt spid="16"/>
                                        </p:tgtEl>
                                        <p:attrNameLst>
                                          <p:attrName>ppt_y</p:attrName>
                                        </p:attrNameLst>
                                      </p:cBhvr>
                                      <p:tavLst>
                                        <p:tav tm="0">
                                          <p:val>
                                            <p:strVal val="#ppt_y+0.04"/>
                                          </p:val>
                                        </p:tav>
                                        <p:tav tm="100000">
                                          <p:val>
                                            <p:strVal val="#ppt_y"/>
                                          </p:val>
                                        </p:tav>
                                      </p:tavLst>
                                    </p:anim>
                                  </p:childTnLst>
                                </p:cTn>
                              </p:par>
                              <p:par>
                                <p:cTn id="31" presetID="10" presetClass="entr" presetSubtype="0" fill="hold" grpId="0" nodeType="withEffect">
                                  <p:stCondLst>
                                    <p:cond delay="160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500"/>
                                        <p:tgtEl>
                                          <p:spTgt spid="6"/>
                                        </p:tgtEl>
                                      </p:cBhvr>
                                    </p:animEffect>
                                  </p:childTnLst>
                                </p:cTn>
                              </p:par>
                              <p:par>
                                <p:cTn id="34" presetID="10" presetClass="entr" presetSubtype="0" fill="hold" grpId="0" nodeType="withEffect">
                                  <p:stCondLst>
                                    <p:cond delay="160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7" presetID="10" presetClass="entr" presetSubtype="0" fill="hold" grpId="0" nodeType="withEffect">
                                  <p:stCondLst>
                                    <p:cond delay="165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600"/>
                                        <p:tgtEl>
                                          <p:spTgt spid="17"/>
                                        </p:tgtEl>
                                      </p:cBhvr>
                                    </p:animEffect>
                                  </p:childTnLst>
                                </p:cTn>
                              </p:par>
                              <p:par>
                                <p:cTn id="40" presetID="10" presetClass="entr" presetSubtype="0" fill="hold" grpId="0" nodeType="withEffect">
                                  <p:stCondLst>
                                    <p:cond delay="168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childTnLst>
                                </p:cTn>
                              </p:par>
                              <p:par>
                                <p:cTn id="43" presetID="10" presetClass="entr" presetSubtype="0" fill="hold" grpId="0" nodeType="withEffect">
                                  <p:stCondLst>
                                    <p:cond delay="176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500"/>
                                        <p:tgtEl>
                                          <p:spTgt spid="8"/>
                                        </p:tgtEl>
                                      </p:cBhvr>
                                    </p:animEffect>
                                  </p:childTnLst>
                                </p:cTn>
                              </p:par>
                              <p:par>
                                <p:cTn id="48" presetID="42" presetClass="entr" presetSubtype="0" fill="hold" grpId="0" nodeType="withEffect">
                                  <p:stCondLst>
                                    <p:cond delay="180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700"/>
                                        <p:tgtEl>
                                          <p:spTgt spid="18"/>
                                        </p:tgtEl>
                                      </p:cBhvr>
                                    </p:animEffect>
                                    <p:anim calcmode="lin" valueType="num">
                                      <p:cBhvr>
                                        <p:cTn id="46" dur="700" fill="hold" decel="100000"/>
                                        <p:tgtEl>
                                          <p:spTgt spid="18"/>
                                        </p:tgtEl>
                                        <p:attrNameLst>
                                          <p:attrName>ppt_x</p:attrName>
                                        </p:attrNameLst>
                                      </p:cBhvr>
                                      <p:tavLst>
                                        <p:tav tm="0">
                                          <p:val>
                                            <p:strVal val="#ppt_x"/>
                                          </p:val>
                                        </p:tav>
                                        <p:tav tm="100000">
                                          <p:val>
                                            <p:strVal val="#ppt_x"/>
                                          </p:val>
                                        </p:tav>
                                      </p:tavLst>
                                    </p:anim>
                                    <p:anim calcmode="lin" valueType="num">
                                      <p:cBhvr>
                                        <p:cTn id="47" dur="700" fill="hold" decel="100000"/>
                                        <p:tgtEl>
                                          <p:spTgt spid="18"/>
                                        </p:tgtEl>
                                        <p:attrNameLst>
                                          <p:attrName>ppt_y</p:attrName>
                                        </p:attrNameLst>
                                      </p:cBhvr>
                                      <p:tavLst>
                                        <p:tav tm="0">
                                          <p:val>
                                            <p:strVal val="#ppt_y+0.04"/>
                                          </p:val>
                                        </p:tav>
                                        <p:tav tm="100000">
                                          <p:val>
                                            <p:strVal val="#ppt_y"/>
                                          </p:val>
                                        </p:tav>
                                      </p:tavLst>
                                    </p:anim>
                                  </p:childTnLst>
                                </p:cTn>
                              </p:par>
                              <p:par>
                                <p:cTn id="51" presetID="10" presetClass="entr" presetSubtype="0" fill="hold" grpId="0" nodeType="withEffect">
                                  <p:stCondLst>
                                    <p:cond delay="184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500"/>
                                        <p:tgtEl>
                                          <p:spTgt spid="9"/>
                                        </p:tgtEl>
                                      </p:cBhvr>
                                    </p:animEffect>
                                  </p:childTnLst>
                                </p:cTn>
                              </p:par>
                              <p:par>
                                <p:cTn id="54" presetID="10" presetClass="entr" presetSubtype="0" fill="hold" grpId="0" nodeType="withEffect">
                                  <p:stCondLst>
                                    <p:cond delay="1920"/>
                                  </p:stCondLst>
                                  <p:childTnLst>
                                    <p:set>
                                      <p:cBhvr>
                                        <p:cTn id="52" dur="1" fill="hold">
                                          <p:stCondLst>
                                            <p:cond delay="0"/>
                                          </p:stCondLst>
                                        </p:cTn>
                                        <p:tgtEl>
                                          <p:spTgt spid="10"/>
                                        </p:tgtEl>
                                        <p:attrNameLst>
                                          <p:attrName>style.visibility</p:attrName>
                                        </p:attrNameLst>
                                      </p:cBhvr>
                                      <p:to>
                                        <p:strVal val="visible"/>
                                      </p:to>
                                    </p:set>
                                    <p:animEffect transition="in" filter="fade">
                                      <p:cBhvr>
                                        <p:cTn id="53" dur="500"/>
                                        <p:tgtEl>
                                          <p:spTgt spid="10"/>
                                        </p:tgtEl>
                                      </p:cBhvr>
                                    </p:animEffect>
                                  </p:childTnLst>
                                </p:cTn>
                              </p:par>
                              <p:par>
                                <p:cTn id="57" presetID="10" presetClass="entr" presetSubtype="0" fill="hold" grpId="0" nodeType="withEffect">
                                  <p:stCondLst>
                                    <p:cond delay="195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60" presetID="10" presetClass="entr" presetSubtype="0" fill="hold" grpId="0" nodeType="withEffect">
                                  <p:stCondLst>
                                    <p:cond delay="2000"/>
                                  </p:stCondLst>
                                  <p:childTnLst>
                                    <p:set>
                                      <p:cBhvr>
                                        <p:cTn id="58" dur="1" fill="hold">
                                          <p:stCondLst>
                                            <p:cond delay="0"/>
                                          </p:stCondLst>
                                        </p:cTn>
                                        <p:tgtEl>
                                          <p:spTgt spid="11"/>
                                        </p:tgtEl>
                                        <p:attrNameLst>
                                          <p:attrName>style.visibility</p:attrName>
                                        </p:attrNameLst>
                                      </p:cBhvr>
                                      <p:to>
                                        <p:strVal val="visible"/>
                                      </p:to>
                                    </p:set>
                                    <p:animEffect transition="in" filter="fade">
                                      <p:cBhvr>
                                        <p:cTn id="59" dur="500"/>
                                        <p:tgtEl>
                                          <p:spTgt spid="11"/>
                                        </p:tgtEl>
                                      </p:cBhvr>
                                    </p:animEffect>
                                  </p:childTnLst>
                                </p:cTn>
                              </p:par>
                              <p:par>
                                <p:cTn id="63" presetID="10" presetClass="entr" presetSubtype="0" fill="hold" grpId="0" nodeType="withEffect">
                                  <p:stCondLst>
                                    <p:cond delay="2080"/>
                                  </p:stCondLst>
                                  <p:childTnLst>
                                    <p:set>
                                      <p:cBhvr>
                                        <p:cTn id="61" dur="1" fill="hold">
                                          <p:stCondLst>
                                            <p:cond delay="0"/>
                                          </p:stCondLst>
                                        </p:cTn>
                                        <p:tgtEl>
                                          <p:spTgt spid="12"/>
                                        </p:tgtEl>
                                        <p:attrNameLst>
                                          <p:attrName>style.visibility</p:attrName>
                                        </p:attrNameLst>
                                      </p:cBhvr>
                                      <p:to>
                                        <p:strVal val="visible"/>
                                      </p:to>
                                    </p:set>
                                    <p:animEffect transition="in" filter="fade">
                                      <p:cBhvr>
                                        <p:cTn id="62" dur="500"/>
                                        <p:tgtEl>
                                          <p:spTgt spid="12"/>
                                        </p:tgtEl>
                                      </p:cBhvr>
                                    </p:animEffect>
                                  </p:childTnLst>
                                </p:cTn>
                              </p:par>
                              <p:par>
                                <p:cTn id="68" presetID="42" presetClass="entr" presetSubtype="0" fill="hold" grpId="0" nodeType="withEffect">
                                  <p:stCondLst>
                                    <p:cond delay="210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700"/>
                                        <p:tgtEl>
                                          <p:spTgt spid="20"/>
                                        </p:tgtEl>
                                      </p:cBhvr>
                                    </p:animEffect>
                                    <p:anim calcmode="lin" valueType="num">
                                      <p:cBhvr>
                                        <p:cTn id="66" dur="700" fill="hold" decel="100000"/>
                                        <p:tgtEl>
                                          <p:spTgt spid="20"/>
                                        </p:tgtEl>
                                        <p:attrNameLst>
                                          <p:attrName>ppt_x</p:attrName>
                                        </p:attrNameLst>
                                      </p:cBhvr>
                                      <p:tavLst>
                                        <p:tav tm="0">
                                          <p:val>
                                            <p:strVal val="#ppt_x"/>
                                          </p:val>
                                        </p:tav>
                                        <p:tav tm="100000">
                                          <p:val>
                                            <p:strVal val="#ppt_x"/>
                                          </p:val>
                                        </p:tav>
                                      </p:tavLst>
                                    </p:anim>
                                    <p:anim calcmode="lin" valueType="num">
                                      <p:cBhvr>
                                        <p:cTn id="67" dur="700" fill="hold" decel="100000"/>
                                        <p:tgtEl>
                                          <p:spTgt spid="20"/>
                                        </p:tgtEl>
                                        <p:attrNameLst>
                                          <p:attrName>ppt_y</p:attrName>
                                        </p:attrNameLst>
                                      </p:cBhvr>
                                      <p:tavLst>
                                        <p:tav tm="0">
                                          <p:val>
                                            <p:strVal val="#ppt_y+0.04"/>
                                          </p:val>
                                        </p:tav>
                                        <p:tav tm="100000">
                                          <p:val>
                                            <p:strVal val="#ppt_y"/>
                                          </p:val>
                                        </p:tav>
                                      </p:tavLst>
                                    </p:anim>
                                  </p:childTnLst>
                                </p:cTn>
                              </p:par>
                              <p:par>
                                <p:cTn id="71" presetID="10" presetClass="entr" presetSubtype="0" fill="hold" grpId="0" nodeType="withEffect">
                                  <p:stCondLst>
                                    <p:cond delay="225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4" grpId="0">
        <p:bldAsOne/>
      </p:bldGraphic>
      <p:bldP spid="5" grpId="0" animBg="1"/>
      <p:bldP spid="14" grpId="0" animBg="1"/>
      <p:bldP spid="15" grpId="0" animBg="1"/>
      <p:bldP spid="16" grpId="0" animBg="1"/>
      <p:bldP spid="6" grpId="0" animBg="1"/>
      <p:bldP spid="13" grpId="0" animBg="1"/>
      <p:bldP spid="17" grpId="0" animBg="1"/>
      <p:bldP spid="7" grpId="0" animBg="1"/>
      <p:bldP spid="8" grpId="0" animBg="1"/>
      <p:bldP spid="18" grpId="0" animBg="1"/>
      <p:bldP spid="9" grpId="0" animBg="1"/>
      <p:bldP spid="10" grpId="0" animBg="1"/>
      <p:bldP spid="19" grpId="0" animBg="1"/>
      <p:bldP spid="11" grpId="0" animBg="1"/>
      <p:bldP spid="12" grpId="0" animBg="1"/>
      <p:bldP spid="20" grpId="0" animBg="1"/>
      <p:bldP spid="21" grpId="0" animBg="1"/>
    </p:bldLst>
  </p:timing>
</p:sld>
</file>

<file path=ppt/slides/slide26.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CONCLUSION</a:t>
            </a:r>
            <a:endParaRPr lang="en-US" sz="1500" dirty="0"/>
          </a:p>
        </p:txBody>
      </p:sp>
      <p:sp>
        <p:nvSpPr>
          <p:cNvPr id="3" name="takeaway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What the numbers say</a:t>
            </a:r>
            <a:endParaRPr lang="en-US" sz="3800" dirty="0"/>
          </a:p>
        </p:txBody>
      </p:sp>
      <p:sp>
        <p:nvSpPr>
          <p:cNvPr id="4" name="takeaways_s_1"/>
          <p:cNvSpPr/>
          <p:nvPr/>
        </p:nvSpPr>
        <p:spPr>
          <a:xfrm>
            <a:off x="548640" y="1783080"/>
            <a:ext cx="5410048" cy="1691640"/>
          </a:xfrm>
          <a:prstGeom prst="roundRect">
            <a:avLst>
              <a:gd name="adj" fmla="val 8649"/>
            </a:avLst>
          </a:prstGeom>
          <a:solidFill>
            <a:srgbClr val="1C1C1E"/>
          </a:solidFill>
          <a:ln/>
        </p:spPr>
      </p:sp>
      <p:sp>
        <p:nvSpPr>
          <p:cNvPr id="5" name="takeaways_s_2"/>
          <p:cNvSpPr/>
          <p:nvPr/>
        </p:nvSpPr>
        <p:spPr>
          <a:xfrm>
            <a:off x="868680" y="2167128"/>
            <a:ext cx="868680" cy="868680"/>
          </a:xfrm>
          <a:prstGeom prst="ellipse">
            <a:avLst/>
          </a:prstGeom>
          <a:solidFill>
            <a:srgbClr val="2C2C2E"/>
          </a:solidFill>
          <a:ln/>
        </p:spPr>
      </p:sp>
      <p:pic>
        <p:nvPicPr>
          <p:cNvPr id="6" name="takeaways_i_3" descr="preencoded.png">    </p:cNvPr>
          <p:cNvPicPr>
            <a:picLocks noChangeAspect="1"/>
          </p:cNvPicPr>
          <p:nvPr/>
        </p:nvPicPr>
        <p:blipFill>
          <a:blip r:embed="rId1"/>
          <a:stretch>
            <a:fillRect/>
          </a:stretch>
        </p:blipFill>
        <p:spPr>
          <a:xfrm>
            <a:off x="1088136" y="2386584"/>
            <a:ext cx="429768" cy="429768"/>
          </a:xfrm>
          <a:prstGeom prst="rect">
            <a:avLst/>
          </a:prstGeom>
        </p:spPr>
      </p:pic>
      <p:sp>
        <p:nvSpPr>
          <p:cNvPr id="7" name="takeaways_t_4"/>
          <p:cNvSpPr txBox="1"/>
          <p:nvPr/>
        </p:nvSpPr>
        <p:spPr>
          <a:xfrm>
            <a:off x="2011680" y="2075688"/>
            <a:ext cx="3672688" cy="457200"/>
          </a:xfrm>
          <a:prstGeom prst="rect">
            <a:avLst/>
          </a:prstGeom>
          <a:noFill/>
          <a:ln/>
        </p:spPr>
        <p:txBody>
          <a:bodyPr wrap="square" lIns="0" tIns="0" rIns="0" bIns="0" rtlCol="0" anchor="t"/>
          <a:lstStyle/>
          <a:p>
            <a:pPr indent="0" marL="0">
              <a:buNone/>
            </a:pPr>
            <a:r>
              <a:rPr lang="en-US" sz="2300" b="1" dirty="0">
                <a:solidFill>
                  <a:schemeClr val="tx1"/>
                </a:solidFill>
                <a:latin typeface="Arial" pitchFamily="34" charset="0"/>
                <a:ea typeface="Arial" pitchFamily="34" charset="-122"/>
                <a:cs typeface="Arial" pitchFamily="34" charset="-120"/>
              </a:rPr>
              <a:t>Vast, low-cost oil</a:t>
            </a:r>
            <a:endParaRPr lang="en-US" sz="2300" dirty="0"/>
          </a:p>
        </p:txBody>
      </p:sp>
      <p:sp>
        <p:nvSpPr>
          <p:cNvPr id="8" name="takeaways_t_5"/>
          <p:cNvSpPr txBox="1"/>
          <p:nvPr/>
        </p:nvSpPr>
        <p:spPr>
          <a:xfrm>
            <a:off x="2011680" y="2560320"/>
            <a:ext cx="3672688" cy="77724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101.5 bn barrels (6.5% of the world) at one of the lowest costs per barrel</a:t>
            </a:r>
            <a:endParaRPr lang="en-US" sz="1600" dirty="0"/>
          </a:p>
        </p:txBody>
      </p:sp>
      <p:sp>
        <p:nvSpPr>
          <p:cNvPr id="9" name="takeaways_s_6"/>
          <p:cNvSpPr/>
          <p:nvPr/>
        </p:nvSpPr>
        <p:spPr>
          <a:xfrm>
            <a:off x="6233008" y="1783080"/>
            <a:ext cx="5410048" cy="1691640"/>
          </a:xfrm>
          <a:prstGeom prst="roundRect">
            <a:avLst>
              <a:gd name="adj" fmla="val 8649"/>
            </a:avLst>
          </a:prstGeom>
          <a:solidFill>
            <a:srgbClr val="1C1C1E"/>
          </a:solidFill>
          <a:ln/>
        </p:spPr>
      </p:sp>
      <p:sp>
        <p:nvSpPr>
          <p:cNvPr id="10" name="takeaways_s_7"/>
          <p:cNvSpPr/>
          <p:nvPr/>
        </p:nvSpPr>
        <p:spPr>
          <a:xfrm>
            <a:off x="6553048" y="2167128"/>
            <a:ext cx="868680" cy="868680"/>
          </a:xfrm>
          <a:prstGeom prst="ellipse">
            <a:avLst/>
          </a:prstGeom>
          <a:solidFill>
            <a:srgbClr val="2C2C2E"/>
          </a:solidFill>
          <a:ln/>
        </p:spPr>
      </p:sp>
      <p:pic>
        <p:nvPicPr>
          <p:cNvPr id="11" name="takeaways_i_8" descr="preencoded.png">    </p:cNvPr>
          <p:cNvPicPr>
            <a:picLocks noChangeAspect="1"/>
          </p:cNvPicPr>
          <p:nvPr/>
        </p:nvPicPr>
        <p:blipFill>
          <a:blip r:embed="rId2"/>
          <a:stretch>
            <a:fillRect/>
          </a:stretch>
        </p:blipFill>
        <p:spPr>
          <a:xfrm>
            <a:off x="6772504" y="2386584"/>
            <a:ext cx="429768" cy="429768"/>
          </a:xfrm>
          <a:prstGeom prst="rect">
            <a:avLst/>
          </a:prstGeom>
        </p:spPr>
      </p:pic>
      <p:sp>
        <p:nvSpPr>
          <p:cNvPr id="12" name="takeaways_t_9"/>
          <p:cNvSpPr txBox="1"/>
          <p:nvPr/>
        </p:nvSpPr>
        <p:spPr>
          <a:xfrm>
            <a:off x="7696048" y="2075688"/>
            <a:ext cx="3672688" cy="457200"/>
          </a:xfrm>
          <a:prstGeom prst="rect">
            <a:avLst/>
          </a:prstGeom>
          <a:noFill/>
          <a:ln/>
        </p:spPr>
        <p:txBody>
          <a:bodyPr wrap="square" lIns="0" tIns="0" rIns="0" bIns="0" rtlCol="0" anchor="t"/>
          <a:lstStyle/>
          <a:p>
            <a:pPr indent="0" marL="0">
              <a:buNone/>
            </a:pPr>
            <a:r>
              <a:rPr lang="en-US" sz="2300" b="1" dirty="0">
                <a:solidFill>
                  <a:schemeClr val="tx1"/>
                </a:solidFill>
                <a:latin typeface="Arial" pitchFamily="34" charset="0"/>
                <a:ea typeface="Arial" pitchFamily="34" charset="-122"/>
                <a:cs typeface="Arial" pitchFamily="34" charset="-120"/>
              </a:rPr>
              <a:t>A growing gas gap</a:t>
            </a:r>
            <a:endParaRPr lang="en-US" sz="2300" dirty="0"/>
          </a:p>
        </p:txBody>
      </p:sp>
      <p:sp>
        <p:nvSpPr>
          <p:cNvPr id="13" name="takeaways_t_10"/>
          <p:cNvSpPr txBox="1"/>
          <p:nvPr/>
        </p:nvSpPr>
        <p:spPr>
          <a:xfrm>
            <a:off x="7696048" y="2560320"/>
            <a:ext cx="3672688" cy="77724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About 40% of the gas Kuwait uses is imported LNG, mostly from Qatar</a:t>
            </a:r>
            <a:endParaRPr lang="en-US" sz="1600" dirty="0"/>
          </a:p>
        </p:txBody>
      </p:sp>
      <p:sp>
        <p:nvSpPr>
          <p:cNvPr id="14" name="takeaways_s_11"/>
          <p:cNvSpPr/>
          <p:nvPr/>
        </p:nvSpPr>
        <p:spPr>
          <a:xfrm>
            <a:off x="548640" y="3749040"/>
            <a:ext cx="5410048" cy="1691640"/>
          </a:xfrm>
          <a:prstGeom prst="roundRect">
            <a:avLst>
              <a:gd name="adj" fmla="val 8649"/>
            </a:avLst>
          </a:prstGeom>
          <a:solidFill>
            <a:srgbClr val="1C1C1E"/>
          </a:solidFill>
          <a:ln/>
        </p:spPr>
      </p:sp>
      <p:sp>
        <p:nvSpPr>
          <p:cNvPr id="15" name="takeaways_s_12"/>
          <p:cNvSpPr/>
          <p:nvPr/>
        </p:nvSpPr>
        <p:spPr>
          <a:xfrm>
            <a:off x="868680" y="4133088"/>
            <a:ext cx="868680" cy="868680"/>
          </a:xfrm>
          <a:prstGeom prst="ellipse">
            <a:avLst/>
          </a:prstGeom>
          <a:solidFill>
            <a:srgbClr val="2C2C2E"/>
          </a:solidFill>
          <a:ln/>
        </p:spPr>
      </p:sp>
      <p:pic>
        <p:nvPicPr>
          <p:cNvPr id="16" name="takeaways_i_13" descr="preencoded.png">    </p:cNvPr>
          <p:cNvPicPr>
            <a:picLocks noChangeAspect="1"/>
          </p:cNvPicPr>
          <p:nvPr/>
        </p:nvPicPr>
        <p:blipFill>
          <a:blip r:embed="rId3"/>
          <a:stretch>
            <a:fillRect/>
          </a:stretch>
        </p:blipFill>
        <p:spPr>
          <a:xfrm>
            <a:off x="1088136" y="4352544"/>
            <a:ext cx="429768" cy="429768"/>
          </a:xfrm>
          <a:prstGeom prst="rect">
            <a:avLst/>
          </a:prstGeom>
        </p:spPr>
      </p:pic>
      <p:sp>
        <p:nvSpPr>
          <p:cNvPr id="17" name="takeaways_t_14"/>
          <p:cNvSpPr txBox="1"/>
          <p:nvPr/>
        </p:nvSpPr>
        <p:spPr>
          <a:xfrm>
            <a:off x="2011680" y="4041648"/>
            <a:ext cx="3672688" cy="457200"/>
          </a:xfrm>
          <a:prstGeom prst="rect">
            <a:avLst/>
          </a:prstGeom>
          <a:noFill/>
          <a:ln/>
        </p:spPr>
        <p:txBody>
          <a:bodyPr wrap="square" lIns="0" tIns="0" rIns="0" bIns="0" rtlCol="0" anchor="t"/>
          <a:lstStyle/>
          <a:p>
            <a:pPr indent="0" marL="0">
              <a:buNone/>
            </a:pPr>
            <a:r>
              <a:rPr lang="en-US" sz="2300" b="1" dirty="0">
                <a:solidFill>
                  <a:schemeClr val="tx1"/>
                </a:solidFill>
                <a:latin typeface="Arial" pitchFamily="34" charset="0"/>
                <a:ea typeface="Arial" pitchFamily="34" charset="-122"/>
                <a:cs typeface="Arial" pitchFamily="34" charset="-120"/>
              </a:rPr>
              <a:t>From crude to products</a:t>
            </a:r>
            <a:endParaRPr lang="en-US" sz="2300" dirty="0"/>
          </a:p>
        </p:txBody>
      </p:sp>
      <p:sp>
        <p:nvSpPr>
          <p:cNvPr id="18" name="takeaways_t_15"/>
          <p:cNvSpPr txBox="1"/>
          <p:nvPr/>
        </p:nvSpPr>
        <p:spPr>
          <a:xfrm>
            <a:off x="2011680" y="4526280"/>
            <a:ext cx="3672688" cy="77724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Al-Zour lifted refining to 1.4 mb/d; in 2024 product exports beat crude</a:t>
            </a:r>
            <a:endParaRPr lang="en-US" sz="1600" dirty="0"/>
          </a:p>
        </p:txBody>
      </p:sp>
      <p:sp>
        <p:nvSpPr>
          <p:cNvPr id="19" name="takeaways_s_16"/>
          <p:cNvSpPr/>
          <p:nvPr/>
        </p:nvSpPr>
        <p:spPr>
          <a:xfrm>
            <a:off x="6233008" y="3749040"/>
            <a:ext cx="5410048" cy="1691640"/>
          </a:xfrm>
          <a:prstGeom prst="roundRect">
            <a:avLst>
              <a:gd name="adj" fmla="val 8649"/>
            </a:avLst>
          </a:prstGeom>
          <a:solidFill>
            <a:srgbClr val="1C1C1E"/>
          </a:solidFill>
          <a:ln/>
        </p:spPr>
      </p:sp>
      <p:sp>
        <p:nvSpPr>
          <p:cNvPr id="20" name="takeaways_s_17"/>
          <p:cNvSpPr/>
          <p:nvPr/>
        </p:nvSpPr>
        <p:spPr>
          <a:xfrm>
            <a:off x="6553048" y="4133088"/>
            <a:ext cx="868680" cy="868680"/>
          </a:xfrm>
          <a:prstGeom prst="ellipse">
            <a:avLst/>
          </a:prstGeom>
          <a:solidFill>
            <a:srgbClr val="2C2C2E"/>
          </a:solidFill>
          <a:ln/>
        </p:spPr>
      </p:sp>
      <p:pic>
        <p:nvPicPr>
          <p:cNvPr id="21" name="takeaways_i_18" descr="preencoded.png">    </p:cNvPr>
          <p:cNvPicPr>
            <a:picLocks noChangeAspect="1"/>
          </p:cNvPicPr>
          <p:nvPr/>
        </p:nvPicPr>
        <p:blipFill>
          <a:blip r:embed="rId4"/>
          <a:stretch>
            <a:fillRect/>
          </a:stretch>
        </p:blipFill>
        <p:spPr>
          <a:xfrm>
            <a:off x="6772504" y="4352544"/>
            <a:ext cx="429768" cy="429768"/>
          </a:xfrm>
          <a:prstGeom prst="rect">
            <a:avLst/>
          </a:prstGeom>
        </p:spPr>
      </p:pic>
      <p:sp>
        <p:nvSpPr>
          <p:cNvPr id="22" name="takeaways_t_19"/>
          <p:cNvSpPr txBox="1"/>
          <p:nvPr/>
        </p:nvSpPr>
        <p:spPr>
          <a:xfrm>
            <a:off x="7696048" y="4041648"/>
            <a:ext cx="3672688" cy="457200"/>
          </a:xfrm>
          <a:prstGeom prst="rect">
            <a:avLst/>
          </a:prstGeom>
          <a:noFill/>
          <a:ln/>
        </p:spPr>
        <p:txBody>
          <a:bodyPr wrap="square" lIns="0" tIns="0" rIns="0" bIns="0" rtlCol="0" anchor="t"/>
          <a:lstStyle/>
          <a:p>
            <a:pPr indent="0" marL="0">
              <a:buNone/>
            </a:pPr>
            <a:r>
              <a:rPr lang="en-US" sz="2300" b="1" dirty="0">
                <a:solidFill>
                  <a:schemeClr val="tx1"/>
                </a:solidFill>
                <a:latin typeface="Arial" pitchFamily="34" charset="0"/>
                <a:ea typeface="Arial" pitchFamily="34" charset="-122"/>
                <a:cs typeface="Arial" pitchFamily="34" charset="-120"/>
              </a:rPr>
              <a:t>Asia-bound via Hormuz</a:t>
            </a:r>
            <a:endParaRPr lang="en-US" sz="2300" dirty="0"/>
          </a:p>
        </p:txBody>
      </p:sp>
      <p:sp>
        <p:nvSpPr>
          <p:cNvPr id="23" name="takeaways_t_20"/>
          <p:cNvSpPr txBox="1"/>
          <p:nvPr/>
        </p:nvSpPr>
        <p:spPr>
          <a:xfrm>
            <a:off x="7696048" y="4526280"/>
            <a:ext cx="3672688" cy="777240"/>
          </a:xfrm>
          <a:prstGeom prst="rect">
            <a:avLst/>
          </a:prstGeom>
          <a:noFill/>
          <a:ln/>
        </p:spPr>
        <p:txBody>
          <a:bodyPr wrap="square" lIns="0" tIns="0" rIns="0" bIns="0" rtlCol="0" anchor="t"/>
          <a:lstStyle/>
          <a:p>
            <a:pPr indent="0" marL="0">
              <a:buNone/>
            </a:pPr>
            <a:r>
              <a:rPr lang="en-US" sz="1600" dirty="0">
                <a:solidFill>
                  <a:schemeClr val="tx2"/>
                </a:solidFill>
                <a:latin typeface="Arial" pitchFamily="34" charset="0"/>
                <a:ea typeface="Arial" pitchFamily="34" charset="-122"/>
                <a:cs typeface="Arial" pitchFamily="34" charset="-120"/>
              </a:rPr>
              <a:t>93% of crude goes to Asia, and every export cargo must pass Hormuz</a:t>
            </a:r>
            <a:endParaRPr lang="en-US" sz="1600" dirty="0"/>
          </a:p>
        </p:txBody>
      </p:sp>
      <p:sp>
        <p:nvSpPr>
          <p:cNvPr id="24" name="takeaways_t_21"/>
          <p:cNvSpPr txBox="1"/>
          <p:nvPr/>
        </p:nvSpPr>
        <p:spPr>
          <a:xfrm>
            <a:off x="548640" y="5596128"/>
            <a:ext cx="10058400" cy="329184"/>
          </a:xfrm>
          <a:prstGeom prst="rect">
            <a:avLst/>
          </a:prstGeom>
          <a:noFill/>
          <a:ln/>
        </p:spPr>
        <p:txBody>
          <a:bodyPr wrap="square" lIns="0" tIns="0" rIns="0" bIns="0" rtlCol="0" anchor="t"/>
          <a:lstStyle/>
          <a:p>
            <a:pPr indent="0" marL="0">
              <a:buNone/>
            </a:pPr>
            <a:r>
              <a:rPr lang="en-US" sz="1600" b="1" dirty="0">
                <a:solidFill>
                  <a:schemeClr val="accent1"/>
                </a:solidFill>
                <a:latin typeface="Arial" pitchFamily="34" charset="0"/>
                <a:ea typeface="Arial" pitchFamily="34" charset="-122"/>
                <a:cs typeface="Arial" pitchFamily="34" charset="-120"/>
              </a:rPr>
              <a:t>Next: </a:t>
            </a:r>
            <a:pPr indent="0" marL="0">
              <a:buNone/>
            </a:pPr>
            <a:r>
              <a:rPr lang="en-US" sz="1600" dirty="0">
                <a:solidFill>
                  <a:schemeClr val="tx2"/>
                </a:solidFill>
                <a:latin typeface="Arial" pitchFamily="34" charset="0"/>
                <a:ea typeface="Arial" pitchFamily="34" charset="-122"/>
                <a:cs typeface="Arial" pitchFamily="34" charset="-120"/>
              </a:rPr>
              <a:t>KPC targets 4 million b/d of capacity by 2035, plus offshore discoveries and more non-associated gas.</a:t>
            </a:r>
            <a:endParaRPr lang="en-US" sz="1600" dirty="0"/>
          </a:p>
        </p:txBody>
      </p:sp>
      <p:sp>
        <p:nvSpPr>
          <p:cNvPr id="25" name="takeaways_home_22">
            <a:hlinkClick r:id="rId5"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26" name="takeaways_i_23" descr="preencoded.png">    </p:cNvPr>
          <p:cNvPicPr>
            <a:picLocks noChangeAspect="1"/>
          </p:cNvPicPr>
          <p:nvPr/>
        </p:nvPicPr>
        <p:blipFill>
          <a:blip r:embed="rId6"/>
          <a:stretch>
            <a:fillRect/>
          </a:stretch>
        </p:blipFill>
        <p:spPr>
          <a:xfrm>
            <a:off x="10719511" y="6355080"/>
            <a:ext cx="219456" cy="219456"/>
          </a:xfrm>
          <a:prstGeom prst="rect">
            <a:avLst/>
          </a:prstGeom>
        </p:spPr>
      </p:pic>
      <p:sp>
        <p:nvSpPr>
          <p:cNvPr id="27" name="takeaways_s_24">
            <a:hlinkClick r:id="rId7"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4" presetID="53" presetClass="entr" presetSubtype="16" fill="hold" grpId="0" nodeType="withEffect">
                                  <p:stCondLst>
                                    <p:cond delay="300"/>
                                  </p:stCondLst>
                                  <p:childTnLst>
                                    <p:set>
                                      <p:cBhvr>
                                        <p:cTn id="10" dur="1" fill="hold">
                                          <p:stCondLst>
                                            <p:cond delay="0"/>
                                          </p:stCondLst>
                                        </p:cTn>
                                        <p:tgtEl>
                                          <p:spTgt spid="4"/>
                                        </p:tgtEl>
                                        <p:attrNameLst>
                                          <p:attrName>style.visibility</p:attrName>
                                        </p:attrNameLst>
                                      </p:cBhvr>
                                      <p:to>
                                        <p:strVal val="visible"/>
                                      </p:to>
                                    </p:set>
                                    <p:anim calcmode="lin" valueType="num">
                                      <p:cBhvr>
                                        <p:cTn id="11" dur="600" fill="hold" decel="100000"/>
                                        <p:tgtEl>
                                          <p:spTgt spid="4"/>
                                        </p:tgtEl>
                                        <p:attrNameLst>
                                          <p:attrName>ppt_w</p:attrName>
                                        </p:attrNameLst>
                                      </p:cBhvr>
                                      <p:tavLst>
                                        <p:tav tm="0">
                                          <p:val>
                                            <p:strVal val="#ppt_w*0.70"/>
                                          </p:val>
                                        </p:tav>
                                        <p:tav tm="100000">
                                          <p:val>
                                            <p:strVal val="#ppt_w"/>
                                          </p:val>
                                        </p:tav>
                                      </p:tavLst>
                                    </p:anim>
                                    <p:anim calcmode="lin" valueType="num">
                                      <p:cBhvr>
                                        <p:cTn id="12" dur="600" fill="hold" decel="100000"/>
                                        <p:tgtEl>
                                          <p:spTgt spid="4"/>
                                        </p:tgtEl>
                                        <p:attrNameLst>
                                          <p:attrName>ppt_h</p:attrName>
                                        </p:attrNameLst>
                                      </p:cBhvr>
                                      <p:tavLst>
                                        <p:tav tm="0">
                                          <p:val>
                                            <p:strVal val="#ppt_h*0.70"/>
                                          </p:val>
                                        </p:tav>
                                        <p:tav tm="100000">
                                          <p:val>
                                            <p:strVal val="#ppt_h"/>
                                          </p:val>
                                        </p:tav>
                                      </p:tavLst>
                                    </p:anim>
                                    <p:animEffect transition="in" filter="fade">
                                      <p:cBhvr>
                                        <p:cTn id="13" dur="600"/>
                                        <p:tgtEl>
                                          <p:spTgt spid="4"/>
                                        </p:tgtEl>
                                      </p:cBhvr>
                                    </p:animEffect>
                                  </p:childTnLst>
                                </p:cTn>
                              </p:par>
                              <p:par>
                                <p:cTn id="19" presetID="53" presetClass="entr" presetSubtype="16" fill="hold" grpId="0" nodeType="withEffect">
                                  <p:stCondLst>
                                    <p:cond delay="300"/>
                                  </p:stCondLst>
                                  <p:childTnLst>
                                    <p:set>
                                      <p:cBhvr>
                                        <p:cTn id="15" dur="1" fill="hold">
                                          <p:stCondLst>
                                            <p:cond delay="0"/>
                                          </p:stCondLst>
                                        </p:cTn>
                                        <p:tgtEl>
                                          <p:spTgt spid="5"/>
                                        </p:tgtEl>
                                        <p:attrNameLst>
                                          <p:attrName>style.visibility</p:attrName>
                                        </p:attrNameLst>
                                      </p:cBhvr>
                                      <p:to>
                                        <p:strVal val="visible"/>
                                      </p:to>
                                    </p:set>
                                    <p:anim calcmode="lin" valueType="num">
                                      <p:cBhvr>
                                        <p:cTn id="16" dur="600" fill="hold" decel="100000"/>
                                        <p:tgtEl>
                                          <p:spTgt spid="5"/>
                                        </p:tgtEl>
                                        <p:attrNameLst>
                                          <p:attrName>ppt_w</p:attrName>
                                        </p:attrNameLst>
                                      </p:cBhvr>
                                      <p:tavLst>
                                        <p:tav tm="0">
                                          <p:val>
                                            <p:strVal val="#ppt_w*0.70"/>
                                          </p:val>
                                        </p:tav>
                                        <p:tav tm="100000">
                                          <p:val>
                                            <p:strVal val="#ppt_w"/>
                                          </p:val>
                                        </p:tav>
                                      </p:tavLst>
                                    </p:anim>
                                    <p:anim calcmode="lin" valueType="num">
                                      <p:cBhvr>
                                        <p:cTn id="17" dur="600" fill="hold" decel="100000"/>
                                        <p:tgtEl>
                                          <p:spTgt spid="5"/>
                                        </p:tgtEl>
                                        <p:attrNameLst>
                                          <p:attrName>ppt_h</p:attrName>
                                        </p:attrNameLst>
                                      </p:cBhvr>
                                      <p:tavLst>
                                        <p:tav tm="0">
                                          <p:val>
                                            <p:strVal val="#ppt_h*0.70"/>
                                          </p:val>
                                        </p:tav>
                                        <p:tav tm="100000">
                                          <p:val>
                                            <p:strVal val="#ppt_h"/>
                                          </p:val>
                                        </p:tav>
                                      </p:tavLst>
                                    </p:anim>
                                    <p:animEffect transition="in" filter="fade">
                                      <p:cBhvr>
                                        <p:cTn id="18" dur="600"/>
                                        <p:tgtEl>
                                          <p:spTgt spid="5"/>
                                        </p:tgtEl>
                                      </p:cBhvr>
                                    </p:animEffect>
                                  </p:childTnLst>
                                </p:cTn>
                              </p:par>
                              <p:par>
                                <p:cTn id="24" presetID="53" presetClass="entr" presetSubtype="16" fill="hold" grpId="0" nodeType="withEffect">
                                  <p:stCondLst>
                                    <p:cond delay="300"/>
                                  </p:stCondLst>
                                  <p:childTnLst>
                                    <p:set>
                                      <p:cBhvr>
                                        <p:cTn id="20" dur="1" fill="hold">
                                          <p:stCondLst>
                                            <p:cond delay="0"/>
                                          </p:stCondLst>
                                        </p:cTn>
                                        <p:tgtEl>
                                          <p:spTgt spid="6"/>
                                        </p:tgtEl>
                                        <p:attrNameLst>
                                          <p:attrName>style.visibility</p:attrName>
                                        </p:attrNameLst>
                                      </p:cBhvr>
                                      <p:to>
                                        <p:strVal val="visible"/>
                                      </p:to>
                                    </p:set>
                                    <p:anim calcmode="lin" valueType="num">
                                      <p:cBhvr>
                                        <p:cTn id="21" dur="600" fill="hold" decel="100000"/>
                                        <p:tgtEl>
                                          <p:spTgt spid="6"/>
                                        </p:tgtEl>
                                        <p:attrNameLst>
                                          <p:attrName>ppt_w</p:attrName>
                                        </p:attrNameLst>
                                      </p:cBhvr>
                                      <p:tavLst>
                                        <p:tav tm="0">
                                          <p:val>
                                            <p:strVal val="#ppt_w*0.70"/>
                                          </p:val>
                                        </p:tav>
                                        <p:tav tm="100000">
                                          <p:val>
                                            <p:strVal val="#ppt_w"/>
                                          </p:val>
                                        </p:tav>
                                      </p:tavLst>
                                    </p:anim>
                                    <p:anim calcmode="lin" valueType="num">
                                      <p:cBhvr>
                                        <p:cTn id="22" dur="600" fill="hold" decel="100000"/>
                                        <p:tgtEl>
                                          <p:spTgt spid="6"/>
                                        </p:tgtEl>
                                        <p:attrNameLst>
                                          <p:attrName>ppt_h</p:attrName>
                                        </p:attrNameLst>
                                      </p:cBhvr>
                                      <p:tavLst>
                                        <p:tav tm="0">
                                          <p:val>
                                            <p:strVal val="#ppt_h*0.70"/>
                                          </p:val>
                                        </p:tav>
                                        <p:tav tm="100000">
                                          <p:val>
                                            <p:strVal val="#ppt_h"/>
                                          </p:val>
                                        </p:tav>
                                      </p:tavLst>
                                    </p:anim>
                                    <p:animEffect transition="in" filter="fade">
                                      <p:cBhvr>
                                        <p:cTn id="23" dur="600"/>
                                        <p:tgtEl>
                                          <p:spTgt spid="6"/>
                                        </p:tgtEl>
                                      </p:cBhvr>
                                    </p:animEffect>
                                  </p:childTnLst>
                                </p:cTn>
                              </p:par>
                              <p:par>
                                <p:cTn id="29" presetID="42" presetClass="entr" presetSubtype="0" fill="hold" grpId="0" nodeType="withEffect">
                                  <p:stCondLst>
                                    <p:cond delay="4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600"/>
                                        <p:tgtEl>
                                          <p:spTgt spid="7"/>
                                        </p:tgtEl>
                                      </p:cBhvr>
                                    </p:animEffect>
                                    <p:anim calcmode="lin" valueType="num">
                                      <p:cBhvr>
                                        <p:cTn id="27" dur="600" fill="hold" decel="100000"/>
                                        <p:tgtEl>
                                          <p:spTgt spid="7"/>
                                        </p:tgtEl>
                                        <p:attrNameLst>
                                          <p:attrName>ppt_x</p:attrName>
                                        </p:attrNameLst>
                                      </p:cBhvr>
                                      <p:tavLst>
                                        <p:tav tm="0">
                                          <p:val>
                                            <p:strVal val="#ppt_x"/>
                                          </p:val>
                                        </p:tav>
                                        <p:tav tm="100000">
                                          <p:val>
                                            <p:strVal val="#ppt_x"/>
                                          </p:val>
                                        </p:tav>
                                      </p:tavLst>
                                    </p:anim>
                                    <p:anim calcmode="lin" valueType="num">
                                      <p:cBhvr>
                                        <p:cTn id="28" dur="600" fill="hold" decel="100000"/>
                                        <p:tgtEl>
                                          <p:spTgt spid="7"/>
                                        </p:tgtEl>
                                        <p:attrNameLst>
                                          <p:attrName>ppt_y</p:attrName>
                                        </p:attrNameLst>
                                      </p:cBhvr>
                                      <p:tavLst>
                                        <p:tav tm="0">
                                          <p:val>
                                            <p:strVal val="#ppt_y+0.04"/>
                                          </p:val>
                                        </p:tav>
                                        <p:tav tm="100000">
                                          <p:val>
                                            <p:strVal val="#ppt_y"/>
                                          </p:val>
                                        </p:tav>
                                      </p:tavLst>
                                    </p:anim>
                                  </p:childTnLst>
                                </p:cTn>
                              </p:par>
                              <p:par>
                                <p:cTn id="32" presetID="10" presetClass="entr" presetSubtype="0" fill="hold" grpId="0" nodeType="withEffect">
                                  <p:stCondLst>
                                    <p:cond delay="5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childTnLst>
                                </p:cTn>
                              </p:par>
                              <p:par>
                                <p:cTn id="37" presetID="53" presetClass="entr" presetSubtype="16" fill="hold" grpId="0" nodeType="withEffect">
                                  <p:stCondLst>
                                    <p:cond delay="550"/>
                                  </p:stCondLst>
                                  <p:childTnLst>
                                    <p:set>
                                      <p:cBhvr>
                                        <p:cTn id="33" dur="1" fill="hold">
                                          <p:stCondLst>
                                            <p:cond delay="0"/>
                                          </p:stCondLst>
                                        </p:cTn>
                                        <p:tgtEl>
                                          <p:spTgt spid="9"/>
                                        </p:tgtEl>
                                        <p:attrNameLst>
                                          <p:attrName>style.visibility</p:attrName>
                                        </p:attrNameLst>
                                      </p:cBhvr>
                                      <p:to>
                                        <p:strVal val="visible"/>
                                      </p:to>
                                    </p:set>
                                    <p:anim calcmode="lin" valueType="num">
                                      <p:cBhvr>
                                        <p:cTn id="34" dur="600" fill="hold" decel="100000"/>
                                        <p:tgtEl>
                                          <p:spTgt spid="9"/>
                                        </p:tgtEl>
                                        <p:attrNameLst>
                                          <p:attrName>ppt_w</p:attrName>
                                        </p:attrNameLst>
                                      </p:cBhvr>
                                      <p:tavLst>
                                        <p:tav tm="0">
                                          <p:val>
                                            <p:strVal val="#ppt_w*0.70"/>
                                          </p:val>
                                        </p:tav>
                                        <p:tav tm="100000">
                                          <p:val>
                                            <p:strVal val="#ppt_w"/>
                                          </p:val>
                                        </p:tav>
                                      </p:tavLst>
                                    </p:anim>
                                    <p:anim calcmode="lin" valueType="num">
                                      <p:cBhvr>
                                        <p:cTn id="35" dur="600" fill="hold" decel="100000"/>
                                        <p:tgtEl>
                                          <p:spTgt spid="9"/>
                                        </p:tgtEl>
                                        <p:attrNameLst>
                                          <p:attrName>ppt_h</p:attrName>
                                        </p:attrNameLst>
                                      </p:cBhvr>
                                      <p:tavLst>
                                        <p:tav tm="0">
                                          <p:val>
                                            <p:strVal val="#ppt_h*0.70"/>
                                          </p:val>
                                        </p:tav>
                                        <p:tav tm="100000">
                                          <p:val>
                                            <p:strVal val="#ppt_h"/>
                                          </p:val>
                                        </p:tav>
                                      </p:tavLst>
                                    </p:anim>
                                    <p:animEffect transition="in" filter="fade">
                                      <p:cBhvr>
                                        <p:cTn id="36" dur="600"/>
                                        <p:tgtEl>
                                          <p:spTgt spid="9"/>
                                        </p:tgtEl>
                                      </p:cBhvr>
                                    </p:animEffect>
                                  </p:childTnLst>
                                </p:cTn>
                              </p:par>
                              <p:par>
                                <p:cTn id="42" presetID="53" presetClass="entr" presetSubtype="16" fill="hold" grpId="0" nodeType="withEffect">
                                  <p:stCondLst>
                                    <p:cond delay="550"/>
                                  </p:stCondLst>
                                  <p:childTnLst>
                                    <p:set>
                                      <p:cBhvr>
                                        <p:cTn id="38" dur="1" fill="hold">
                                          <p:stCondLst>
                                            <p:cond delay="0"/>
                                          </p:stCondLst>
                                        </p:cTn>
                                        <p:tgtEl>
                                          <p:spTgt spid="10"/>
                                        </p:tgtEl>
                                        <p:attrNameLst>
                                          <p:attrName>style.visibility</p:attrName>
                                        </p:attrNameLst>
                                      </p:cBhvr>
                                      <p:to>
                                        <p:strVal val="visible"/>
                                      </p:to>
                                    </p:set>
                                    <p:anim calcmode="lin" valueType="num">
                                      <p:cBhvr>
                                        <p:cTn id="39" dur="600" fill="hold" decel="100000"/>
                                        <p:tgtEl>
                                          <p:spTgt spid="10"/>
                                        </p:tgtEl>
                                        <p:attrNameLst>
                                          <p:attrName>ppt_w</p:attrName>
                                        </p:attrNameLst>
                                      </p:cBhvr>
                                      <p:tavLst>
                                        <p:tav tm="0">
                                          <p:val>
                                            <p:strVal val="#ppt_w*0.70"/>
                                          </p:val>
                                        </p:tav>
                                        <p:tav tm="100000">
                                          <p:val>
                                            <p:strVal val="#ppt_w"/>
                                          </p:val>
                                        </p:tav>
                                      </p:tavLst>
                                    </p:anim>
                                    <p:anim calcmode="lin" valueType="num">
                                      <p:cBhvr>
                                        <p:cTn id="40" dur="600" fill="hold" decel="100000"/>
                                        <p:tgtEl>
                                          <p:spTgt spid="10"/>
                                        </p:tgtEl>
                                        <p:attrNameLst>
                                          <p:attrName>ppt_h</p:attrName>
                                        </p:attrNameLst>
                                      </p:cBhvr>
                                      <p:tavLst>
                                        <p:tav tm="0">
                                          <p:val>
                                            <p:strVal val="#ppt_h*0.70"/>
                                          </p:val>
                                        </p:tav>
                                        <p:tav tm="100000">
                                          <p:val>
                                            <p:strVal val="#ppt_h"/>
                                          </p:val>
                                        </p:tav>
                                      </p:tavLst>
                                    </p:anim>
                                    <p:animEffect transition="in" filter="fade">
                                      <p:cBhvr>
                                        <p:cTn id="41" dur="600"/>
                                        <p:tgtEl>
                                          <p:spTgt spid="10"/>
                                        </p:tgtEl>
                                      </p:cBhvr>
                                    </p:animEffect>
                                  </p:childTnLst>
                                </p:cTn>
                              </p:par>
                              <p:par>
                                <p:cTn id="47" presetID="53" presetClass="entr" presetSubtype="16" fill="hold" grpId="0" nodeType="withEffect">
                                  <p:stCondLst>
                                    <p:cond delay="550"/>
                                  </p:stCondLst>
                                  <p:childTnLst>
                                    <p:set>
                                      <p:cBhvr>
                                        <p:cTn id="43" dur="1" fill="hold">
                                          <p:stCondLst>
                                            <p:cond delay="0"/>
                                          </p:stCondLst>
                                        </p:cTn>
                                        <p:tgtEl>
                                          <p:spTgt spid="11"/>
                                        </p:tgtEl>
                                        <p:attrNameLst>
                                          <p:attrName>style.visibility</p:attrName>
                                        </p:attrNameLst>
                                      </p:cBhvr>
                                      <p:to>
                                        <p:strVal val="visible"/>
                                      </p:to>
                                    </p:set>
                                    <p:anim calcmode="lin" valueType="num">
                                      <p:cBhvr>
                                        <p:cTn id="44" dur="600" fill="hold" decel="100000"/>
                                        <p:tgtEl>
                                          <p:spTgt spid="11"/>
                                        </p:tgtEl>
                                        <p:attrNameLst>
                                          <p:attrName>ppt_w</p:attrName>
                                        </p:attrNameLst>
                                      </p:cBhvr>
                                      <p:tavLst>
                                        <p:tav tm="0">
                                          <p:val>
                                            <p:strVal val="#ppt_w*0.70"/>
                                          </p:val>
                                        </p:tav>
                                        <p:tav tm="100000">
                                          <p:val>
                                            <p:strVal val="#ppt_w"/>
                                          </p:val>
                                        </p:tav>
                                      </p:tavLst>
                                    </p:anim>
                                    <p:anim calcmode="lin" valueType="num">
                                      <p:cBhvr>
                                        <p:cTn id="45" dur="600" fill="hold" decel="100000"/>
                                        <p:tgtEl>
                                          <p:spTgt spid="11"/>
                                        </p:tgtEl>
                                        <p:attrNameLst>
                                          <p:attrName>ppt_h</p:attrName>
                                        </p:attrNameLst>
                                      </p:cBhvr>
                                      <p:tavLst>
                                        <p:tav tm="0">
                                          <p:val>
                                            <p:strVal val="#ppt_h*0.70"/>
                                          </p:val>
                                        </p:tav>
                                        <p:tav tm="100000">
                                          <p:val>
                                            <p:strVal val="#ppt_h"/>
                                          </p:val>
                                        </p:tav>
                                      </p:tavLst>
                                    </p:anim>
                                    <p:animEffect transition="in" filter="fade">
                                      <p:cBhvr>
                                        <p:cTn id="46" dur="600"/>
                                        <p:tgtEl>
                                          <p:spTgt spid="11"/>
                                        </p:tgtEl>
                                      </p:cBhvr>
                                    </p:animEffect>
                                  </p:childTnLst>
                                </p:cTn>
                              </p:par>
                              <p:par>
                                <p:cTn id="52" presetID="42" presetClass="entr" presetSubtype="0" fill="hold" grpId="0" nodeType="withEffect">
                                  <p:stCondLst>
                                    <p:cond delay="65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fill="hold" decel="100000"/>
                                        <p:tgtEl>
                                          <p:spTgt spid="12"/>
                                        </p:tgtEl>
                                        <p:attrNameLst>
                                          <p:attrName>ppt_x</p:attrName>
                                        </p:attrNameLst>
                                      </p:cBhvr>
                                      <p:tavLst>
                                        <p:tav tm="0">
                                          <p:val>
                                            <p:strVal val="#ppt_x"/>
                                          </p:val>
                                        </p:tav>
                                        <p:tav tm="100000">
                                          <p:val>
                                            <p:strVal val="#ppt_x"/>
                                          </p:val>
                                        </p:tav>
                                      </p:tavLst>
                                    </p:anim>
                                    <p:anim calcmode="lin" valueType="num">
                                      <p:cBhvr>
                                        <p:cTn id="51" dur="600" fill="hold" decel="100000"/>
                                        <p:tgtEl>
                                          <p:spTgt spid="12"/>
                                        </p:tgtEl>
                                        <p:attrNameLst>
                                          <p:attrName>ppt_y</p:attrName>
                                        </p:attrNameLst>
                                      </p:cBhvr>
                                      <p:tavLst>
                                        <p:tav tm="0">
                                          <p:val>
                                            <p:strVal val="#ppt_y+0.04"/>
                                          </p:val>
                                        </p:tav>
                                        <p:tav tm="100000">
                                          <p:val>
                                            <p:strVal val="#ppt_y"/>
                                          </p:val>
                                        </p:tav>
                                      </p:tavLst>
                                    </p:anim>
                                  </p:childTnLst>
                                </p:cTn>
                              </p:par>
                              <p:par>
                                <p:cTn id="55" presetID="10" presetClass="entr" presetSubtype="0" fill="hold" grpId="0" nodeType="withEffect">
                                  <p:stCondLst>
                                    <p:cond delay="75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childTnLst>
                                </p:cTn>
                              </p:par>
                              <p:par>
                                <p:cTn id="60" presetID="53" presetClass="entr" presetSubtype="16" fill="hold" grpId="0" nodeType="withEffect">
                                  <p:stCondLst>
                                    <p:cond delay="800"/>
                                  </p:stCondLst>
                                  <p:childTnLst>
                                    <p:set>
                                      <p:cBhvr>
                                        <p:cTn id="56" dur="1" fill="hold">
                                          <p:stCondLst>
                                            <p:cond delay="0"/>
                                          </p:stCondLst>
                                        </p:cTn>
                                        <p:tgtEl>
                                          <p:spTgt spid="14"/>
                                        </p:tgtEl>
                                        <p:attrNameLst>
                                          <p:attrName>style.visibility</p:attrName>
                                        </p:attrNameLst>
                                      </p:cBhvr>
                                      <p:to>
                                        <p:strVal val="visible"/>
                                      </p:to>
                                    </p:set>
                                    <p:anim calcmode="lin" valueType="num">
                                      <p:cBhvr>
                                        <p:cTn id="57" dur="600" fill="hold" decel="100000"/>
                                        <p:tgtEl>
                                          <p:spTgt spid="14"/>
                                        </p:tgtEl>
                                        <p:attrNameLst>
                                          <p:attrName>ppt_w</p:attrName>
                                        </p:attrNameLst>
                                      </p:cBhvr>
                                      <p:tavLst>
                                        <p:tav tm="0">
                                          <p:val>
                                            <p:strVal val="#ppt_w*0.70"/>
                                          </p:val>
                                        </p:tav>
                                        <p:tav tm="100000">
                                          <p:val>
                                            <p:strVal val="#ppt_w"/>
                                          </p:val>
                                        </p:tav>
                                      </p:tavLst>
                                    </p:anim>
                                    <p:anim calcmode="lin" valueType="num">
                                      <p:cBhvr>
                                        <p:cTn id="58" dur="600" fill="hold" decel="100000"/>
                                        <p:tgtEl>
                                          <p:spTgt spid="14"/>
                                        </p:tgtEl>
                                        <p:attrNameLst>
                                          <p:attrName>ppt_h</p:attrName>
                                        </p:attrNameLst>
                                      </p:cBhvr>
                                      <p:tavLst>
                                        <p:tav tm="0">
                                          <p:val>
                                            <p:strVal val="#ppt_h*0.70"/>
                                          </p:val>
                                        </p:tav>
                                        <p:tav tm="100000">
                                          <p:val>
                                            <p:strVal val="#ppt_h"/>
                                          </p:val>
                                        </p:tav>
                                      </p:tavLst>
                                    </p:anim>
                                    <p:animEffect transition="in" filter="fade">
                                      <p:cBhvr>
                                        <p:cTn id="59" dur="600"/>
                                        <p:tgtEl>
                                          <p:spTgt spid="14"/>
                                        </p:tgtEl>
                                      </p:cBhvr>
                                    </p:animEffect>
                                  </p:childTnLst>
                                </p:cTn>
                              </p:par>
                              <p:par>
                                <p:cTn id="65" presetID="53" presetClass="entr" presetSubtype="16" fill="hold" grpId="0" nodeType="withEffect">
                                  <p:stCondLst>
                                    <p:cond delay="800"/>
                                  </p:stCondLst>
                                  <p:childTnLst>
                                    <p:set>
                                      <p:cBhvr>
                                        <p:cTn id="61" dur="1" fill="hold">
                                          <p:stCondLst>
                                            <p:cond delay="0"/>
                                          </p:stCondLst>
                                        </p:cTn>
                                        <p:tgtEl>
                                          <p:spTgt spid="15"/>
                                        </p:tgtEl>
                                        <p:attrNameLst>
                                          <p:attrName>style.visibility</p:attrName>
                                        </p:attrNameLst>
                                      </p:cBhvr>
                                      <p:to>
                                        <p:strVal val="visible"/>
                                      </p:to>
                                    </p:set>
                                    <p:anim calcmode="lin" valueType="num">
                                      <p:cBhvr>
                                        <p:cTn id="62" dur="600" fill="hold" decel="100000"/>
                                        <p:tgtEl>
                                          <p:spTgt spid="15"/>
                                        </p:tgtEl>
                                        <p:attrNameLst>
                                          <p:attrName>ppt_w</p:attrName>
                                        </p:attrNameLst>
                                      </p:cBhvr>
                                      <p:tavLst>
                                        <p:tav tm="0">
                                          <p:val>
                                            <p:strVal val="#ppt_w*0.70"/>
                                          </p:val>
                                        </p:tav>
                                        <p:tav tm="100000">
                                          <p:val>
                                            <p:strVal val="#ppt_w"/>
                                          </p:val>
                                        </p:tav>
                                      </p:tavLst>
                                    </p:anim>
                                    <p:anim calcmode="lin" valueType="num">
                                      <p:cBhvr>
                                        <p:cTn id="63" dur="600" fill="hold" decel="100000"/>
                                        <p:tgtEl>
                                          <p:spTgt spid="15"/>
                                        </p:tgtEl>
                                        <p:attrNameLst>
                                          <p:attrName>ppt_h</p:attrName>
                                        </p:attrNameLst>
                                      </p:cBhvr>
                                      <p:tavLst>
                                        <p:tav tm="0">
                                          <p:val>
                                            <p:strVal val="#ppt_h*0.70"/>
                                          </p:val>
                                        </p:tav>
                                        <p:tav tm="100000">
                                          <p:val>
                                            <p:strVal val="#ppt_h"/>
                                          </p:val>
                                        </p:tav>
                                      </p:tavLst>
                                    </p:anim>
                                    <p:animEffect transition="in" filter="fade">
                                      <p:cBhvr>
                                        <p:cTn id="64" dur="600"/>
                                        <p:tgtEl>
                                          <p:spTgt spid="15"/>
                                        </p:tgtEl>
                                      </p:cBhvr>
                                    </p:animEffect>
                                  </p:childTnLst>
                                </p:cTn>
                              </p:par>
                              <p:par>
                                <p:cTn id="70" presetID="53" presetClass="entr" presetSubtype="16" fill="hold" grpId="0" nodeType="withEffect">
                                  <p:stCondLst>
                                    <p:cond delay="800"/>
                                  </p:stCondLst>
                                  <p:childTnLst>
                                    <p:set>
                                      <p:cBhvr>
                                        <p:cTn id="66" dur="1" fill="hold">
                                          <p:stCondLst>
                                            <p:cond delay="0"/>
                                          </p:stCondLst>
                                        </p:cTn>
                                        <p:tgtEl>
                                          <p:spTgt spid="16"/>
                                        </p:tgtEl>
                                        <p:attrNameLst>
                                          <p:attrName>style.visibility</p:attrName>
                                        </p:attrNameLst>
                                      </p:cBhvr>
                                      <p:to>
                                        <p:strVal val="visible"/>
                                      </p:to>
                                    </p:set>
                                    <p:anim calcmode="lin" valueType="num">
                                      <p:cBhvr>
                                        <p:cTn id="67" dur="600" fill="hold" decel="100000"/>
                                        <p:tgtEl>
                                          <p:spTgt spid="16"/>
                                        </p:tgtEl>
                                        <p:attrNameLst>
                                          <p:attrName>ppt_w</p:attrName>
                                        </p:attrNameLst>
                                      </p:cBhvr>
                                      <p:tavLst>
                                        <p:tav tm="0">
                                          <p:val>
                                            <p:strVal val="#ppt_w*0.70"/>
                                          </p:val>
                                        </p:tav>
                                        <p:tav tm="100000">
                                          <p:val>
                                            <p:strVal val="#ppt_w"/>
                                          </p:val>
                                        </p:tav>
                                      </p:tavLst>
                                    </p:anim>
                                    <p:anim calcmode="lin" valueType="num">
                                      <p:cBhvr>
                                        <p:cTn id="68" dur="600" fill="hold" decel="100000"/>
                                        <p:tgtEl>
                                          <p:spTgt spid="16"/>
                                        </p:tgtEl>
                                        <p:attrNameLst>
                                          <p:attrName>ppt_h</p:attrName>
                                        </p:attrNameLst>
                                      </p:cBhvr>
                                      <p:tavLst>
                                        <p:tav tm="0">
                                          <p:val>
                                            <p:strVal val="#ppt_h*0.70"/>
                                          </p:val>
                                        </p:tav>
                                        <p:tav tm="100000">
                                          <p:val>
                                            <p:strVal val="#ppt_h"/>
                                          </p:val>
                                        </p:tav>
                                      </p:tavLst>
                                    </p:anim>
                                    <p:animEffect transition="in" filter="fade">
                                      <p:cBhvr>
                                        <p:cTn id="69" dur="600"/>
                                        <p:tgtEl>
                                          <p:spTgt spid="16"/>
                                        </p:tgtEl>
                                      </p:cBhvr>
                                    </p:animEffect>
                                  </p:childTnLst>
                                </p:cTn>
                              </p:par>
                              <p:par>
                                <p:cTn id="75" presetID="42" presetClass="entr" presetSubtype="0" fill="hold" grpId="0" nodeType="withEffect">
                                  <p:stCondLst>
                                    <p:cond delay="90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600"/>
                                        <p:tgtEl>
                                          <p:spTgt spid="17"/>
                                        </p:tgtEl>
                                      </p:cBhvr>
                                    </p:animEffect>
                                    <p:anim calcmode="lin" valueType="num">
                                      <p:cBhvr>
                                        <p:cTn id="73" dur="600" fill="hold" decel="100000"/>
                                        <p:tgtEl>
                                          <p:spTgt spid="17"/>
                                        </p:tgtEl>
                                        <p:attrNameLst>
                                          <p:attrName>ppt_x</p:attrName>
                                        </p:attrNameLst>
                                      </p:cBhvr>
                                      <p:tavLst>
                                        <p:tav tm="0">
                                          <p:val>
                                            <p:strVal val="#ppt_x"/>
                                          </p:val>
                                        </p:tav>
                                        <p:tav tm="100000">
                                          <p:val>
                                            <p:strVal val="#ppt_x"/>
                                          </p:val>
                                        </p:tav>
                                      </p:tavLst>
                                    </p:anim>
                                    <p:anim calcmode="lin" valueType="num">
                                      <p:cBhvr>
                                        <p:cTn id="74" dur="600" fill="hold" decel="100000"/>
                                        <p:tgtEl>
                                          <p:spTgt spid="17"/>
                                        </p:tgtEl>
                                        <p:attrNameLst>
                                          <p:attrName>ppt_y</p:attrName>
                                        </p:attrNameLst>
                                      </p:cBhvr>
                                      <p:tavLst>
                                        <p:tav tm="0">
                                          <p:val>
                                            <p:strVal val="#ppt_y+0.04"/>
                                          </p:val>
                                        </p:tav>
                                        <p:tav tm="100000">
                                          <p:val>
                                            <p:strVal val="#ppt_y"/>
                                          </p:val>
                                        </p:tav>
                                      </p:tavLst>
                                    </p:anim>
                                  </p:childTnLst>
                                </p:cTn>
                              </p:par>
                              <p:par>
                                <p:cTn id="78" presetID="10" presetClass="entr" presetSubtype="0" fill="hold" grpId="0" nodeType="withEffect">
                                  <p:stCondLst>
                                    <p:cond delay="100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600"/>
                                        <p:tgtEl>
                                          <p:spTgt spid="18"/>
                                        </p:tgtEl>
                                      </p:cBhvr>
                                    </p:animEffect>
                                  </p:childTnLst>
                                </p:cTn>
                              </p:par>
                              <p:par>
                                <p:cTn id="83" presetID="53" presetClass="entr" presetSubtype="16" fill="hold" grpId="0" nodeType="withEffect">
                                  <p:stCondLst>
                                    <p:cond delay="1050"/>
                                  </p:stCondLst>
                                  <p:childTnLst>
                                    <p:set>
                                      <p:cBhvr>
                                        <p:cTn id="79" dur="1" fill="hold">
                                          <p:stCondLst>
                                            <p:cond delay="0"/>
                                          </p:stCondLst>
                                        </p:cTn>
                                        <p:tgtEl>
                                          <p:spTgt spid="19"/>
                                        </p:tgtEl>
                                        <p:attrNameLst>
                                          <p:attrName>style.visibility</p:attrName>
                                        </p:attrNameLst>
                                      </p:cBhvr>
                                      <p:to>
                                        <p:strVal val="visible"/>
                                      </p:to>
                                    </p:set>
                                    <p:anim calcmode="lin" valueType="num">
                                      <p:cBhvr>
                                        <p:cTn id="80" dur="600" fill="hold" decel="100000"/>
                                        <p:tgtEl>
                                          <p:spTgt spid="19"/>
                                        </p:tgtEl>
                                        <p:attrNameLst>
                                          <p:attrName>ppt_w</p:attrName>
                                        </p:attrNameLst>
                                      </p:cBhvr>
                                      <p:tavLst>
                                        <p:tav tm="0">
                                          <p:val>
                                            <p:strVal val="#ppt_w*0.70"/>
                                          </p:val>
                                        </p:tav>
                                        <p:tav tm="100000">
                                          <p:val>
                                            <p:strVal val="#ppt_w"/>
                                          </p:val>
                                        </p:tav>
                                      </p:tavLst>
                                    </p:anim>
                                    <p:anim calcmode="lin" valueType="num">
                                      <p:cBhvr>
                                        <p:cTn id="81" dur="600" fill="hold" decel="100000"/>
                                        <p:tgtEl>
                                          <p:spTgt spid="19"/>
                                        </p:tgtEl>
                                        <p:attrNameLst>
                                          <p:attrName>ppt_h</p:attrName>
                                        </p:attrNameLst>
                                      </p:cBhvr>
                                      <p:tavLst>
                                        <p:tav tm="0">
                                          <p:val>
                                            <p:strVal val="#ppt_h*0.70"/>
                                          </p:val>
                                        </p:tav>
                                        <p:tav tm="100000">
                                          <p:val>
                                            <p:strVal val="#ppt_h"/>
                                          </p:val>
                                        </p:tav>
                                      </p:tavLst>
                                    </p:anim>
                                    <p:animEffect transition="in" filter="fade">
                                      <p:cBhvr>
                                        <p:cTn id="82" dur="600"/>
                                        <p:tgtEl>
                                          <p:spTgt spid="19"/>
                                        </p:tgtEl>
                                      </p:cBhvr>
                                    </p:animEffect>
                                  </p:childTnLst>
                                </p:cTn>
                              </p:par>
                              <p:par>
                                <p:cTn id="88" presetID="53" presetClass="entr" presetSubtype="16" fill="hold" grpId="0" nodeType="withEffect">
                                  <p:stCondLst>
                                    <p:cond delay="1050"/>
                                  </p:stCondLst>
                                  <p:childTnLst>
                                    <p:set>
                                      <p:cBhvr>
                                        <p:cTn id="84" dur="1" fill="hold">
                                          <p:stCondLst>
                                            <p:cond delay="0"/>
                                          </p:stCondLst>
                                        </p:cTn>
                                        <p:tgtEl>
                                          <p:spTgt spid="20"/>
                                        </p:tgtEl>
                                        <p:attrNameLst>
                                          <p:attrName>style.visibility</p:attrName>
                                        </p:attrNameLst>
                                      </p:cBhvr>
                                      <p:to>
                                        <p:strVal val="visible"/>
                                      </p:to>
                                    </p:set>
                                    <p:anim calcmode="lin" valueType="num">
                                      <p:cBhvr>
                                        <p:cTn id="85" dur="600" fill="hold" decel="100000"/>
                                        <p:tgtEl>
                                          <p:spTgt spid="20"/>
                                        </p:tgtEl>
                                        <p:attrNameLst>
                                          <p:attrName>ppt_w</p:attrName>
                                        </p:attrNameLst>
                                      </p:cBhvr>
                                      <p:tavLst>
                                        <p:tav tm="0">
                                          <p:val>
                                            <p:strVal val="#ppt_w*0.70"/>
                                          </p:val>
                                        </p:tav>
                                        <p:tav tm="100000">
                                          <p:val>
                                            <p:strVal val="#ppt_w"/>
                                          </p:val>
                                        </p:tav>
                                      </p:tavLst>
                                    </p:anim>
                                    <p:anim calcmode="lin" valueType="num">
                                      <p:cBhvr>
                                        <p:cTn id="86" dur="600" fill="hold" decel="100000"/>
                                        <p:tgtEl>
                                          <p:spTgt spid="20"/>
                                        </p:tgtEl>
                                        <p:attrNameLst>
                                          <p:attrName>ppt_h</p:attrName>
                                        </p:attrNameLst>
                                      </p:cBhvr>
                                      <p:tavLst>
                                        <p:tav tm="0">
                                          <p:val>
                                            <p:strVal val="#ppt_h*0.70"/>
                                          </p:val>
                                        </p:tav>
                                        <p:tav tm="100000">
                                          <p:val>
                                            <p:strVal val="#ppt_h"/>
                                          </p:val>
                                        </p:tav>
                                      </p:tavLst>
                                    </p:anim>
                                    <p:animEffect transition="in" filter="fade">
                                      <p:cBhvr>
                                        <p:cTn id="87" dur="600"/>
                                        <p:tgtEl>
                                          <p:spTgt spid="20"/>
                                        </p:tgtEl>
                                      </p:cBhvr>
                                    </p:animEffect>
                                  </p:childTnLst>
                                </p:cTn>
                              </p:par>
                              <p:par>
                                <p:cTn id="93" presetID="53" presetClass="entr" presetSubtype="16" fill="hold" grpId="0" nodeType="withEffect">
                                  <p:stCondLst>
                                    <p:cond delay="1050"/>
                                  </p:stCondLst>
                                  <p:childTnLst>
                                    <p:set>
                                      <p:cBhvr>
                                        <p:cTn id="89" dur="1" fill="hold">
                                          <p:stCondLst>
                                            <p:cond delay="0"/>
                                          </p:stCondLst>
                                        </p:cTn>
                                        <p:tgtEl>
                                          <p:spTgt spid="21"/>
                                        </p:tgtEl>
                                        <p:attrNameLst>
                                          <p:attrName>style.visibility</p:attrName>
                                        </p:attrNameLst>
                                      </p:cBhvr>
                                      <p:to>
                                        <p:strVal val="visible"/>
                                      </p:to>
                                    </p:set>
                                    <p:anim calcmode="lin" valueType="num">
                                      <p:cBhvr>
                                        <p:cTn id="90" dur="600" fill="hold" decel="100000"/>
                                        <p:tgtEl>
                                          <p:spTgt spid="21"/>
                                        </p:tgtEl>
                                        <p:attrNameLst>
                                          <p:attrName>ppt_w</p:attrName>
                                        </p:attrNameLst>
                                      </p:cBhvr>
                                      <p:tavLst>
                                        <p:tav tm="0">
                                          <p:val>
                                            <p:strVal val="#ppt_w*0.70"/>
                                          </p:val>
                                        </p:tav>
                                        <p:tav tm="100000">
                                          <p:val>
                                            <p:strVal val="#ppt_w"/>
                                          </p:val>
                                        </p:tav>
                                      </p:tavLst>
                                    </p:anim>
                                    <p:anim calcmode="lin" valueType="num">
                                      <p:cBhvr>
                                        <p:cTn id="91" dur="600" fill="hold" decel="100000"/>
                                        <p:tgtEl>
                                          <p:spTgt spid="21"/>
                                        </p:tgtEl>
                                        <p:attrNameLst>
                                          <p:attrName>ppt_h</p:attrName>
                                        </p:attrNameLst>
                                      </p:cBhvr>
                                      <p:tavLst>
                                        <p:tav tm="0">
                                          <p:val>
                                            <p:strVal val="#ppt_h*0.70"/>
                                          </p:val>
                                        </p:tav>
                                        <p:tav tm="100000">
                                          <p:val>
                                            <p:strVal val="#ppt_h"/>
                                          </p:val>
                                        </p:tav>
                                      </p:tavLst>
                                    </p:anim>
                                    <p:animEffect transition="in" filter="fade">
                                      <p:cBhvr>
                                        <p:cTn id="92" dur="600"/>
                                        <p:tgtEl>
                                          <p:spTgt spid="21"/>
                                        </p:tgtEl>
                                      </p:cBhvr>
                                    </p:animEffect>
                                  </p:childTnLst>
                                </p:cTn>
                              </p:par>
                              <p:par>
                                <p:cTn id="98" presetID="42" presetClass="entr" presetSubtype="0" fill="hold" grpId="0" nodeType="withEffect">
                                  <p:stCondLst>
                                    <p:cond delay="1150"/>
                                  </p:stCondLst>
                                  <p:childTnLst>
                                    <p:set>
                                      <p:cBhvr>
                                        <p:cTn id="94" dur="1" fill="hold">
                                          <p:stCondLst>
                                            <p:cond delay="0"/>
                                          </p:stCondLst>
                                        </p:cTn>
                                        <p:tgtEl>
                                          <p:spTgt spid="22"/>
                                        </p:tgtEl>
                                        <p:attrNameLst>
                                          <p:attrName>style.visibility</p:attrName>
                                        </p:attrNameLst>
                                      </p:cBhvr>
                                      <p:to>
                                        <p:strVal val="visible"/>
                                      </p:to>
                                    </p:set>
                                    <p:animEffect transition="in" filter="fade">
                                      <p:cBhvr>
                                        <p:cTn id="95" dur="600"/>
                                        <p:tgtEl>
                                          <p:spTgt spid="22"/>
                                        </p:tgtEl>
                                      </p:cBhvr>
                                    </p:animEffect>
                                    <p:anim calcmode="lin" valueType="num">
                                      <p:cBhvr>
                                        <p:cTn id="96" dur="600" fill="hold" decel="100000"/>
                                        <p:tgtEl>
                                          <p:spTgt spid="22"/>
                                        </p:tgtEl>
                                        <p:attrNameLst>
                                          <p:attrName>ppt_x</p:attrName>
                                        </p:attrNameLst>
                                      </p:cBhvr>
                                      <p:tavLst>
                                        <p:tav tm="0">
                                          <p:val>
                                            <p:strVal val="#ppt_x"/>
                                          </p:val>
                                        </p:tav>
                                        <p:tav tm="100000">
                                          <p:val>
                                            <p:strVal val="#ppt_x"/>
                                          </p:val>
                                        </p:tav>
                                      </p:tavLst>
                                    </p:anim>
                                    <p:anim calcmode="lin" valueType="num">
                                      <p:cBhvr>
                                        <p:cTn id="97" dur="600" fill="hold" decel="100000"/>
                                        <p:tgtEl>
                                          <p:spTgt spid="22"/>
                                        </p:tgtEl>
                                        <p:attrNameLst>
                                          <p:attrName>ppt_y</p:attrName>
                                        </p:attrNameLst>
                                      </p:cBhvr>
                                      <p:tavLst>
                                        <p:tav tm="0">
                                          <p:val>
                                            <p:strVal val="#ppt_y+0.04"/>
                                          </p:val>
                                        </p:tav>
                                        <p:tav tm="100000">
                                          <p:val>
                                            <p:strVal val="#ppt_y"/>
                                          </p:val>
                                        </p:tav>
                                      </p:tavLst>
                                    </p:anim>
                                  </p:childTnLst>
                                </p:cTn>
                              </p:par>
                              <p:par>
                                <p:cTn id="101" presetID="10" presetClass="entr" presetSubtype="0" fill="hold" grpId="0" nodeType="withEffect">
                                  <p:stCondLst>
                                    <p:cond delay="125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600"/>
                                        <p:tgtEl>
                                          <p:spTgt spid="23"/>
                                        </p:tgtEl>
                                      </p:cBhvr>
                                    </p:animEffect>
                                  </p:childTnLst>
                                </p:cTn>
                              </p:par>
                              <p:par>
                                <p:cTn id="104" presetID="10" presetClass="entr" presetSubtype="0" fill="hold" grpId="0" nodeType="withEffect">
                                  <p:stCondLst>
                                    <p:cond delay="150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7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Lst>
  </p:timing>
</p:sld>
</file>

<file path=ppt/slides/slide27.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
          <p:cNvSpPr/>
          <p:nvPr>
            <p:ph idx="103" type="body" hasCustomPrompt="1"/>
          </p:nvPr>
        </p:nvSpPr>
        <p:spPr>
          <a:xfrm>
            <a:off x="548640" y="384048"/>
            <a:ext cx="8961120" cy="329184"/>
          </a:xfrm>
          <a:prstGeom prst="rect">
            <a:avLst/>
          </a:prstGeom>
          <a:noFill/>
          <a:ln/>
        </p:spPr>
        <p:txBody>
          <a:bodyPr wrap="square" lIns="0" tIns="0" rIns="0" bIns="0" rtlCol="0" anchor="t"/>
          <a:lstStyle/>
          <a:p>
            <a:pPr algn="l" indent="0" marL="0">
              <a:buNone/>
            </a:pPr>
            <a:r>
              <a:rPr lang="en-US" sz="1500" b="1" spc="300" kern="0" dirty="0">
                <a:solidFill>
                  <a:schemeClr val="accent1"/>
                </a:solidFill>
              </a:rPr>
              <a:t>05 — REFERENCES</a:t>
            </a:r>
            <a:endParaRPr lang="en-US" sz="1500" dirty="0"/>
          </a:p>
        </p:txBody>
      </p:sp>
      <p:sp>
        <p:nvSpPr>
          <p:cNvPr id="3" name="refs_title"/>
          <p:cNvSpPr/>
          <p:nvPr>
            <p:ph idx="104" type="title" hasCustomPrompt="1"/>
          </p:nvPr>
        </p:nvSpPr>
        <p:spPr>
          <a:xfrm>
            <a:off x="548640" y="731520"/>
            <a:ext cx="9509760" cy="786384"/>
          </a:xfrm>
          <a:prstGeom prst="rect">
            <a:avLst/>
          </a:prstGeom>
          <a:noFill/>
          <a:ln/>
        </p:spPr>
        <p:txBody>
          <a:bodyPr wrap="square" lIns="0" tIns="0" rIns="0" bIns="0" rtlCol="0" anchor="t"/>
          <a:lstStyle/>
          <a:p>
            <a:pPr algn="l" indent="0" marL="0">
              <a:buNone/>
            </a:pPr>
            <a:r>
              <a:rPr lang="en-US" sz="3800" b="1" dirty="0">
                <a:solidFill>
                  <a:schemeClr val="tx1"/>
                </a:solidFill>
              </a:rPr>
              <a:t>Key sources</a:t>
            </a:r>
            <a:endParaRPr lang="en-US" sz="3800" dirty="0"/>
          </a:p>
        </p:txBody>
      </p:sp>
      <p:sp>
        <p:nvSpPr>
          <p:cNvPr id="4" name="refs_t_1"/>
          <p:cNvSpPr txBox="1"/>
          <p:nvPr/>
        </p:nvSpPr>
        <p:spPr>
          <a:xfrm>
            <a:off x="548640" y="1783080"/>
            <a:ext cx="5364328" cy="4069080"/>
          </a:xfrm>
          <a:prstGeom prst="rect">
            <a:avLst/>
          </a:prstGeom>
          <a:noFill/>
          <a:ln/>
        </p:spPr>
        <p:txBody>
          <a:bodyPr wrap="square" lIns="0" tIns="0" rIns="0" bIns="0" rtlCol="0" anchor="t"/>
          <a:lstStyle/>
          <a:p>
            <a:pPr indent="0" marL="0">
              <a:spcAft>
                <a:spcPts val="700"/>
              </a:spcAft>
              <a:buNone/>
            </a:pPr>
            <a:r>
              <a:rPr lang="en-US" sz="1250" dirty="0">
                <a:solidFill>
                  <a:schemeClr val="tx2"/>
                </a:solidFill>
                <a:latin typeface="Arial" pitchFamily="34" charset="0"/>
                <a:ea typeface="Arial" pitchFamily="34" charset="-122"/>
                <a:cs typeface="Arial" pitchFamily="34" charset="-120"/>
              </a:rPr>
              <a:t>Energy Institute. (2025). Statistical review of world energy 2025 (74th ed.).</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JODI. (2026). JODI-Oil world database [Data set].</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OPEC. (2025). Annual statistical bulletin 2025 (60th ed.).</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OPEC. (2026). Annual statistical bulletin 2026 (61st ed.).</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OPEC. (2025). Annual report 2024.</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U.S. EIA. (2023). Country analysis brief: Kuwait.</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U.S. EIA. (2023). Kuwait's oil exports shift from crude oil to petroleum products.</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U.S. EIA. (2026). Europe Brent spot price FOB [Data set].</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Kuwait Oil Company. (n.d.). Brief history of KOC; Oil fires.</a:t>
            </a:r>
            <a:endParaRPr lang="en-US" sz="1250" dirty="0"/>
          </a:p>
        </p:txBody>
      </p:sp>
      <p:sp>
        <p:nvSpPr>
          <p:cNvPr id="5" name="refs_t_2"/>
          <p:cNvSpPr txBox="1"/>
          <p:nvPr/>
        </p:nvSpPr>
        <p:spPr>
          <a:xfrm>
            <a:off x="6278728" y="1783080"/>
            <a:ext cx="5364328" cy="4069080"/>
          </a:xfrm>
          <a:prstGeom prst="rect">
            <a:avLst/>
          </a:prstGeom>
          <a:noFill/>
          <a:ln/>
        </p:spPr>
        <p:txBody>
          <a:bodyPr wrap="square" lIns="0" tIns="0" rIns="0" bIns="0" rtlCol="0" anchor="t"/>
          <a:lstStyle/>
          <a:p>
            <a:pPr indent="0" marL="0">
              <a:spcAft>
                <a:spcPts val="700"/>
              </a:spcAft>
              <a:buNone/>
            </a:pPr>
            <a:r>
              <a:rPr lang="en-US" sz="1250" dirty="0">
                <a:solidFill>
                  <a:schemeClr val="tx2"/>
                </a:solidFill>
                <a:latin typeface="Arial" pitchFamily="34" charset="0"/>
                <a:ea typeface="Arial" pitchFamily="34" charset="-122"/>
                <a:cs typeface="Arial" pitchFamily="34" charset="-120"/>
              </a:rPr>
              <a:t>Kuwait Petroleum Corporation. (n.d.). Oil history.</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KNPC. (n.d.). Refineries; KIPIC. (2024). Al-Zour refinery.</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Naqi, M., Alsalem, O., &amp; Qabazard, S. (2023). Petroleum geology of Kuwait. In The geology of Kuwait. Springer.</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U.S. Department of Defense. (1998, 2000). Environmental exposure report: Oil well fires. GulfLINK.</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Encyclopaedia Britannica. (n.d.). Kuwait: Resources and power.</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S&amp;P Global Commodity Insights. (2018–2024). Kuwait crude and refinery reports.</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OEC. (2026). Crude petroleum in Kuwait trade (2024 data).</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Reuters. (2026). Kuwait declares force majeure, cuts crude output (via CNBC).</a:t>
            </a:r>
            <a:endParaRPr lang="en-US" sz="1250" dirty="0"/>
          </a:p>
          <a:p>
            <a:pPr indent="0" marL="0">
              <a:spcAft>
                <a:spcPts val="700"/>
              </a:spcAft>
              <a:buNone/>
            </a:pPr>
            <a:r>
              <a:rPr lang="en-US" sz="1250" dirty="0">
                <a:solidFill>
                  <a:schemeClr val="tx2"/>
                </a:solidFill>
                <a:latin typeface="Arial" pitchFamily="34" charset="0"/>
                <a:ea typeface="Arial" pitchFamily="34" charset="-122"/>
                <a:cs typeface="Arial" pitchFamily="34" charset="-120"/>
              </a:rPr>
              <a:t>Natural Earth. (n.d.). 1:10m Admin 0 countries [Data set].</a:t>
            </a:r>
            <a:endParaRPr lang="en-US" sz="1250" dirty="0"/>
          </a:p>
        </p:txBody>
      </p:sp>
      <p:sp>
        <p:nvSpPr>
          <p:cNvPr id="6" name="refs_t_3"/>
          <p:cNvSpPr txBox="1"/>
          <p:nvPr/>
        </p:nvSpPr>
        <p:spPr>
          <a:xfrm>
            <a:off x="548640" y="5943600"/>
            <a:ext cx="9692640" cy="274320"/>
          </a:xfrm>
          <a:prstGeom prst="rect">
            <a:avLst/>
          </a:prstGeom>
          <a:noFill/>
          <a:ln/>
        </p:spPr>
        <p:txBody>
          <a:bodyPr wrap="square" lIns="0" tIns="0" rIns="0" bIns="0" rtlCol="0" anchor="ctr"/>
          <a:lstStyle/>
          <a:p>
            <a:pPr indent="0" marL="0">
              <a:buNone/>
            </a:pPr>
            <a:r>
              <a:rPr lang="en-US" sz="1200" dirty="0">
                <a:solidFill>
                  <a:schemeClr val="tx2"/>
                </a:solidFill>
                <a:latin typeface="Arial" pitchFamily="34" charset="0"/>
                <a:ea typeface="Arial" pitchFamily="34" charset="-122"/>
                <a:cs typeface="Arial" pitchFamily="34" charset="-120"/>
              </a:rPr>
              <a:t>The full APA 7th-edition reference list is in the written report.</a:t>
            </a:r>
            <a:endParaRPr lang="en-US" sz="1200" dirty="0"/>
          </a:p>
        </p:txBody>
      </p:sp>
      <p:sp>
        <p:nvSpPr>
          <p:cNvPr id="7" name="refs_home_4">
            <a:hlinkClick r:id="rId1" tooltip="Back to contents" action="ppaction://hlinksldjump"/>
          </p:cNvPr>
          <p:cNvSpPr/>
          <p:nvPr/>
        </p:nvSpPr>
        <p:spPr>
          <a:xfrm>
            <a:off x="10637215" y="6272784"/>
            <a:ext cx="384048" cy="384048"/>
          </a:xfrm>
          <a:prstGeom prst="roundRect">
            <a:avLst>
              <a:gd name="adj" fmla="val 23810"/>
            </a:avLst>
          </a:prstGeom>
          <a:solidFill>
            <a:srgbClr val="2C2C2E"/>
          </a:solidFill>
          <a:ln/>
        </p:spPr>
      </p:sp>
      <p:pic>
        <p:nvPicPr>
          <p:cNvPr id="8" name="refs_i_5" descr="preencoded.png">    </p:cNvPr>
          <p:cNvPicPr>
            <a:picLocks noChangeAspect="1"/>
          </p:cNvPicPr>
          <p:nvPr/>
        </p:nvPicPr>
        <p:blipFill>
          <a:blip r:embed="rId2"/>
          <a:stretch>
            <a:fillRect/>
          </a:stretch>
        </p:blipFill>
        <p:spPr>
          <a:xfrm>
            <a:off x="10719511" y="6355080"/>
            <a:ext cx="219456" cy="219456"/>
          </a:xfrm>
          <a:prstGeom prst="rect">
            <a:avLst/>
          </a:prstGeom>
        </p:spPr>
      </p:pic>
      <p:sp>
        <p:nvSpPr>
          <p:cNvPr id="9" name="refs_s_6">
            <a:hlinkClick r:id="rId3" tooltip="Back to contents" action="ppaction://hlinksldjump"/>
          </p:cNvPr>
          <p:cNvSpPr/>
          <p:nvPr/>
        </p:nvSpPr>
        <p:spPr>
          <a:xfrm>
            <a:off x="10637215" y="6272784"/>
            <a:ext cx="384048" cy="384048"/>
          </a:xfrm>
          <a:prstGeom prst="roundRect">
            <a:avLst>
              <a:gd name="adj" fmla="val 23810"/>
            </a:avLst>
          </a:prstGeom>
          <a:solidFill>
            <a:srgbClr val="000000">
              <a:alpha val="0"/>
            </a:srgbClr>
          </a:solidFill>
          <a:ln/>
        </p:spPr>
      </p:sp>
      <p:sp>
        <p:nvSpPr>
          <p:cNvPr id="25" name="Slide Number Placeholder 0"/>
          <p:cNvSpPr>
            <a:spLocks noGrp="1"/>
          </p:cNvSpPr>
          <p:nvPr>
            <p:ph type="sldNum" sz="quarter" idx="4294967295"/>
          </p:nvPr>
        </p:nvSpPr>
        <p:spPr>
          <a:xfrm>
            <a:off x="11094415" y="6327648"/>
            <a:ext cx="548640" cy="292608"/>
          </a:xfrm>
          <a:prstGeom prst="rect">
            <a:avLst/>
          </a:prstGeom>
          <a:extLst>
            <a:ext uri="{C572A759-6A51-4108-AA02-DFA0A04FC94B}">
              <ma14:wrappingTextBoxFlag xmlns:ma14="http://schemas.microsoft.com/office/mac/drawingml/2011/main" val="0"/>
            </a:ext>
          </a:extLst>
        </p:spPr>
        <p:txBody>
          <a:bodyPr lIns="0" tIns="0" rIns="0" bIns="0" anchor="ctr"/>
          <a:lstStyle>
            <a:lvl1pPr>
              <a:defRPr sz="1200">
                <a:solidFill>
                  <a:schemeClr val="tx2"/>
                </a:solidFill>
              </a:defRPr>
            </a:lvl1pPr>
          </a:lstStyle>
          <a:p>
            <a:pPr algn="r"/>
            <a:fld id="{F7021451-1387-4CA6-816F-3879F97B5CBC}" type="slidenum">
              <a:rPr b="0" lang="en-US"/>
              <a:t>27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800"/>
                                        <p:tgtEl>
                                          <p:spTgt spid="3"/>
                                        </p:tgtEl>
                                      </p:cBhvr>
                                    </p:animEffect>
                                    <p:anim calcmode="lin" valueType="num">
                                      <p:cBhvr>
                                        <p:cTn id="7" dur="800" fill="hold" decel="100000"/>
                                        <p:tgtEl>
                                          <p:spTgt spid="3"/>
                                        </p:tgtEl>
                                        <p:attrNameLst>
                                          <p:attrName>ppt_x</p:attrName>
                                        </p:attrNameLst>
                                      </p:cBhvr>
                                      <p:tavLst>
                                        <p:tav tm="0">
                                          <p:val>
                                            <p:strVal val="#ppt_x"/>
                                          </p:val>
                                        </p:tav>
                                        <p:tav tm="100000">
                                          <p:val>
                                            <p:strVal val="#ppt_x"/>
                                          </p:val>
                                        </p:tav>
                                      </p:tavLst>
                                    </p:anim>
                                    <p:anim calcmode="lin" valueType="num">
                                      <p:cBhvr>
                                        <p:cTn id="8" dur="800" fill="hold" decel="100000"/>
                                        <p:tgtEl>
                                          <p:spTgt spid="3"/>
                                        </p:tgtEl>
                                        <p:attrNameLst>
                                          <p:attrName>ppt_y</p:attrName>
                                        </p:attrNameLst>
                                      </p:cBhvr>
                                      <p:tavLst>
                                        <p:tav tm="0">
                                          <p:val>
                                            <p:strVal val="#ppt_y+0.04"/>
                                          </p:val>
                                        </p:tav>
                                        <p:tav tm="100000">
                                          <p:val>
                                            <p:strVal val="#ppt_y"/>
                                          </p:val>
                                        </p:tav>
                                      </p:tavLst>
                                    </p:anim>
                                  </p:childTnLst>
                                </p:cTn>
                              </p:par>
                              <p:par>
                                <p:cTn id="12" presetID="10" presetClass="entr" presetSubtype="0" fill="hold" grpId="0" nodeType="with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800"/>
                                        <p:tgtEl>
                                          <p:spTgt spid="4"/>
                                        </p:tgtEl>
                                      </p:cBhvr>
                                    </p:animEffect>
                                  </p:childTnLst>
                                </p:cTn>
                              </p:par>
                              <p:par>
                                <p:cTn id="15" presetID="10" presetClass="entr" presetSubtype="0" fill="hold" grpId="0" nodeType="withEffect">
                                  <p:stCondLst>
                                    <p:cond delay="45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8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28.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drop" descr="/home/user/shahad-research/build/assets/drop.png">    </p:cNvPr>
          <p:cNvPicPr>
            <a:picLocks noChangeAspect="1"/>
          </p:cNvPicPr>
          <p:nvPr/>
        </p:nvPicPr>
        <p:blipFill>
          <a:blip r:embed="rId1"/>
          <a:stretch>
            <a:fillRect/>
          </a:stretch>
        </p:blipFill>
        <p:spPr>
          <a:xfrm>
            <a:off x="7269480" y="1097280"/>
            <a:ext cx="3977640" cy="5020056"/>
          </a:xfrm>
          <a:prstGeom prst="rect">
            <a:avLst/>
          </a:prstGeom>
        </p:spPr>
      </p:pic>
      <p:sp>
        <p:nvSpPr>
          <p:cNvPr id="3" name="thanks_t_1"/>
          <p:cNvSpPr txBox="1"/>
          <p:nvPr/>
        </p:nvSpPr>
        <p:spPr>
          <a:xfrm>
            <a:off x="548640" y="1828800"/>
            <a:ext cx="6583680" cy="1280160"/>
          </a:xfrm>
          <a:prstGeom prst="rect">
            <a:avLst/>
          </a:prstGeom>
          <a:noFill/>
          <a:ln/>
        </p:spPr>
        <p:txBody>
          <a:bodyPr wrap="square" lIns="0" tIns="0" rIns="0" bIns="0" rtlCol="0" anchor="t"/>
          <a:lstStyle/>
          <a:p>
            <a:pPr indent="0" marL="0">
              <a:buNone/>
            </a:pPr>
            <a:r>
              <a:rPr lang="en-US" sz="8800" b="1" dirty="0">
                <a:solidFill>
                  <a:schemeClr val="tx1"/>
                </a:solidFill>
                <a:latin typeface="Arial" pitchFamily="34" charset="0"/>
                <a:ea typeface="Arial" pitchFamily="34" charset="-122"/>
                <a:cs typeface="Arial" pitchFamily="34" charset="-120"/>
              </a:rPr>
              <a:t>Thank you</a:t>
            </a:r>
            <a:endParaRPr lang="en-US" sz="8800" dirty="0"/>
          </a:p>
        </p:txBody>
      </p:sp>
      <p:sp>
        <p:nvSpPr>
          <p:cNvPr id="4" name="thanks_t_2"/>
          <p:cNvSpPr txBox="1"/>
          <p:nvPr/>
        </p:nvSpPr>
        <p:spPr>
          <a:xfrm>
            <a:off x="548640" y="3154680"/>
            <a:ext cx="6583680" cy="731520"/>
          </a:xfrm>
          <a:prstGeom prst="rect">
            <a:avLst/>
          </a:prstGeom>
          <a:noFill/>
          <a:ln/>
        </p:spPr>
        <p:txBody>
          <a:bodyPr wrap="square" lIns="0" tIns="0" rIns="0" bIns="0" rtlCol="0" anchor="t"/>
          <a:lstStyle/>
          <a:p>
            <a:pPr indent="0" marL="0">
              <a:buNone/>
            </a:pPr>
            <a:r>
              <a:rPr lang="en-US" sz="4000" dirty="0">
                <a:solidFill>
                  <a:schemeClr val="tx2"/>
                </a:solidFill>
                <a:latin typeface="Arial" pitchFamily="34" charset="0"/>
                <a:ea typeface="Arial" pitchFamily="34" charset="-122"/>
                <a:cs typeface="Arial" pitchFamily="34" charset="-120"/>
              </a:rPr>
              <a:t>Questions?</a:t>
            </a:r>
            <a:endParaRPr lang="en-US" sz="4000" dirty="0"/>
          </a:p>
        </p:txBody>
      </p:sp>
      <p:sp>
        <p:nvSpPr>
          <p:cNvPr id="5" name="thanks_t_3"/>
          <p:cNvSpPr txBox="1"/>
          <p:nvPr/>
        </p:nvSpPr>
        <p:spPr>
          <a:xfrm>
            <a:off x="548640" y="4434840"/>
            <a:ext cx="6583680" cy="1188720"/>
          </a:xfrm>
          <a:prstGeom prst="rect">
            <a:avLst/>
          </a:prstGeom>
          <a:noFill/>
          <a:ln/>
        </p:spPr>
        <p:txBody>
          <a:bodyPr wrap="square" lIns="0" tIns="0" rIns="0" bIns="0" rtlCol="0" anchor="t"/>
          <a:lstStyle/>
          <a:p>
            <a:pPr indent="0" marL="0">
              <a:spcAft>
                <a:spcPts val="400"/>
              </a:spcAft>
              <a:buNone/>
            </a:pPr>
            <a:r>
              <a:rPr lang="en-US" sz="2400" b="1" dirty="0">
                <a:solidFill>
                  <a:schemeClr val="tx1"/>
                </a:solidFill>
                <a:latin typeface="Arial" pitchFamily="34" charset="0"/>
                <a:ea typeface="Arial" pitchFamily="34" charset="-122"/>
                <a:cs typeface="Arial" pitchFamily="34" charset="-120"/>
              </a:rPr>
              <a:t>Shahad Issa Obaid Alghriabi</a:t>
            </a:r>
            <a:endParaRPr lang="en-US" sz="2400" dirty="0"/>
          </a:p>
          <a:p>
            <a:pPr indent="0" marL="0">
              <a:spcAft>
                <a:spcPts val="400"/>
              </a:spcAft>
              <a:buNone/>
            </a:pPr>
            <a:r>
              <a:rPr lang="en-US" sz="1600" dirty="0">
                <a:solidFill>
                  <a:schemeClr val="tx2"/>
                </a:solidFill>
                <a:latin typeface="Arial" pitchFamily="34" charset="0"/>
                <a:ea typeface="Arial" pitchFamily="34" charset="-122"/>
                <a:cs typeface="Arial" pitchFamily="34" charset="-120"/>
              </a:rPr>
              <a:t>EGCH2230 · Petroleum and Petrochemical Processing</a:t>
            </a:r>
            <a:endParaRPr lang="en-US" sz="2400" dirty="0"/>
          </a:p>
          <a:p>
            <a:pPr indent="0" marL="0">
              <a:spcAft>
                <a:spcPts val="400"/>
              </a:spcAft>
              <a:buNone/>
            </a:pPr>
            <a:r>
              <a:rPr lang="en-US" sz="1600" dirty="0">
                <a:solidFill>
                  <a:schemeClr val="tx2"/>
                </a:solidFill>
                <a:latin typeface="Arial" pitchFamily="34" charset="0"/>
                <a:ea typeface="Arial" pitchFamily="34" charset="-122"/>
                <a:cs typeface="Arial" pitchFamily="34" charset="-120"/>
              </a:rPr>
              <a:t>University of Technology and Applied Sciences</a:t>
            </a:r>
            <a:endParaRPr lang="en-US" sz="2400" dirty="0"/>
          </a:p>
        </p:txBody>
      </p:sp>
      <p:sp>
        <p:nvSpPr>
          <p:cNvPr id="6" name="thanks_s_4"/>
          <p:cNvSpPr/>
          <p:nvPr/>
        </p:nvSpPr>
        <p:spPr>
          <a:xfrm>
            <a:off x="548640" y="5852160"/>
            <a:ext cx="2377440" cy="457200"/>
          </a:xfrm>
          <a:prstGeom prst="roundRect">
            <a:avLst>
              <a:gd name="adj" fmla="val 50000"/>
            </a:avLst>
          </a:prstGeom>
          <a:solidFill>
            <a:srgbClr val="2C2C2E"/>
          </a:solidFill>
          <a:ln/>
        </p:spPr>
      </p:sp>
      <p:sp>
        <p:nvSpPr>
          <p:cNvPr id="7" name="thanks_t_5"/>
          <p:cNvSpPr txBox="1"/>
          <p:nvPr/>
        </p:nvSpPr>
        <p:spPr>
          <a:xfrm>
            <a:off x="548640" y="5852160"/>
            <a:ext cx="237744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Arial" pitchFamily="34" charset="0"/>
                <a:ea typeface="Arial" pitchFamily="34" charset="-122"/>
                <a:cs typeface="Arial" pitchFamily="34" charset="-120"/>
              </a:rPr>
              <a:t>Back to contents</a:t>
            </a:r>
            <a:endParaRPr lang="en-US" sz="1500" dirty="0"/>
          </a:p>
        </p:txBody>
      </p:sp>
      <p:sp>
        <p:nvSpPr>
          <p:cNvPr id="8" name="thanks_s_6">
            <a:hlinkClick r:id="rId2" tooltip="Back to contents" action="ppaction://hlinksldjump"/>
          </p:cNvPr>
          <p:cNvSpPr/>
          <p:nvPr/>
        </p:nvSpPr>
        <p:spPr>
          <a:xfrm>
            <a:off x="548640" y="5852160"/>
            <a:ext cx="2377440" cy="457200"/>
          </a:xfrm>
          <a:prstGeom prst="roundRect">
            <a:avLst>
              <a:gd name="adj" fmla="val 50000"/>
            </a:avLst>
          </a:prstGeom>
          <a:solidFill>
            <a:srgbClr val="000000">
              <a:alpha val="0"/>
            </a:srgbClr>
          </a:solidFill>
          <a:ln/>
        </p:spPr>
      </p:sp>
    </p:spTree>
  </p:cSld>
  <p:clrMapOvr>
    <a:masterClrMapping/>
  </p:clrMapOvr>
  <mc:AlternateContent xmlns:mc="http://schemas.openxmlformats.org/markup-compatibility/2006">
    <mc:Choice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30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900"/>
                                        <p:tgtEl>
                                          <p:spTgt spid="3"/>
                                        </p:tgtEl>
                                      </p:cBhvr>
                                    </p:animEffect>
                                    <p:anim calcmode="lin" valueType="num">
                                      <p:cBhvr>
                                        <p:cTn id="7" dur="900" fill="hold" decel="100000"/>
                                        <p:tgtEl>
                                          <p:spTgt spid="3"/>
                                        </p:tgtEl>
                                        <p:attrNameLst>
                                          <p:attrName>ppt_x</p:attrName>
                                        </p:attrNameLst>
                                      </p:cBhvr>
                                      <p:tavLst>
                                        <p:tav tm="0">
                                          <p:val>
                                            <p:strVal val="#ppt_x"/>
                                          </p:val>
                                        </p:tav>
                                        <p:tav tm="100000">
                                          <p:val>
                                            <p:strVal val="#ppt_x"/>
                                          </p:val>
                                        </p:tav>
                                      </p:tavLst>
                                    </p:anim>
                                    <p:anim calcmode="lin" valueType="num">
                                      <p:cBhvr>
                                        <p:cTn id="8" dur="900" fill="hold" decel="100000"/>
                                        <p:tgtEl>
                                          <p:spTgt spid="3"/>
                                        </p:tgtEl>
                                        <p:attrNameLst>
                                          <p:attrName>ppt_y</p:attrName>
                                        </p:attrNameLst>
                                      </p:cBhvr>
                                      <p:tavLst>
                                        <p:tav tm="0">
                                          <p:val>
                                            <p:strVal val="#ppt_y+0.04"/>
                                          </p:val>
                                        </p:tav>
                                        <p:tav tm="100000">
                                          <p:val>
                                            <p:strVal val="#ppt_y"/>
                                          </p:val>
                                        </p:tav>
                                      </p:tavLst>
                                    </p:anim>
                                  </p:childTnLst>
                                </p:cTn>
                              </p:par>
                              <p:par>
                                <p:cTn id="12" presetID="10" presetClass="entr" presetSubtype="0" fill="hold" grpId="0" nodeType="withEffect">
                                  <p:stCondLst>
                                    <p:cond delay="7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800"/>
                                        <p:tgtEl>
                                          <p:spTgt spid="4"/>
                                        </p:tgtEl>
                                      </p:cBhvr>
                                    </p:animEffect>
                                  </p:childTnLst>
                                </p:cTn>
                              </p:par>
                              <p:par>
                                <p:cTn id="17" presetID="42" presetClass="entr" presetSubtype="0" fill="hold" grpId="0" nodeType="withEffect">
                                  <p:stCondLst>
                                    <p:cond delay="10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800"/>
                                        <p:tgtEl>
                                          <p:spTgt spid="5"/>
                                        </p:tgtEl>
                                      </p:cBhvr>
                                    </p:animEffect>
                                    <p:anim calcmode="lin" valueType="num">
                                      <p:cBhvr>
                                        <p:cTn id="15" dur="800" fill="hold" decel="100000"/>
                                        <p:tgtEl>
                                          <p:spTgt spid="5"/>
                                        </p:tgtEl>
                                        <p:attrNameLst>
                                          <p:attrName>ppt_x</p:attrName>
                                        </p:attrNameLst>
                                      </p:cBhvr>
                                      <p:tavLst>
                                        <p:tav tm="0">
                                          <p:val>
                                            <p:strVal val="#ppt_x"/>
                                          </p:val>
                                        </p:tav>
                                        <p:tav tm="100000">
                                          <p:val>
                                            <p:strVal val="#ppt_x"/>
                                          </p:val>
                                        </p:tav>
                                      </p:tavLst>
                                    </p:anim>
                                    <p:anim calcmode="lin" valueType="num">
                                      <p:cBhvr>
                                        <p:cTn id="16" dur="800" fill="hold" decel="100000"/>
                                        <p:tgtEl>
                                          <p:spTgt spid="5"/>
                                        </p:tgtEl>
                                        <p:attrNameLst>
                                          <p:attrName>ppt_y</p:attrName>
                                        </p:attrNameLst>
                                      </p:cBhvr>
                                      <p:tavLst>
                                        <p:tav tm="0">
                                          <p:val>
                                            <p:strVal val="#ppt_y+0.04"/>
                                          </p:val>
                                        </p:tav>
                                        <p:tav tm="100000">
                                          <p:val>
                                            <p:strVal val="#ppt_y"/>
                                          </p:val>
                                        </p:tav>
                                      </p:tavLst>
                                    </p:anim>
                                  </p:childTnLst>
                                </p:cTn>
                              </p:par>
                              <p:par>
                                <p:cTn id="20" presetID="10" presetClass="entr" presetSubtype="0" fill="hold" grpId="0" nodeType="withEffect">
                                  <p:stCondLst>
                                    <p:cond delay="1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childTnLst>
                                </p:cTn>
                              </p:par>
                              <p:par>
                                <p:cTn id="23" presetID="10" presetClass="entr" presetSubtype="0" fill="hold" grpId="0" nodeType="withEffect">
                                  <p:stCondLst>
                                    <p:cond delay="14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Lst>
  </p:timing>
</p:sld>
</file>

<file path=ppt/theme/theme1.xml><?xml version="1.0" encoding="utf-8"?>
<a:theme xmlns:a="http://schemas.openxmlformats.org/drawingml/2006/main" name="Kuwait Crude">
  <a:themeElements>
    <a:clrScheme name="Kuwait Crude">
      <a:dk1>
        <a:srgbClr val="F5F5F7"/>
      </a:dk1>
      <a:lt1>
        <a:srgbClr val="0B0B0F"/>
      </a:lt1>
      <a:dk2>
        <a:srgbClr val="A1A1A6"/>
      </a:dk2>
      <a:lt2>
        <a:srgbClr val="1C1C1E"/>
      </a:lt2>
      <a:accent1>
        <a:srgbClr val="FF9F0A"/>
      </a:accent1>
      <a:accent2>
        <a:srgbClr val="64D2FF"/>
      </a:accent2>
      <a:accent3>
        <a:srgbClr val="FFD60A"/>
      </a:accent3>
      <a:accent4>
        <a:srgbClr val="FF453A"/>
      </a:accent4>
      <a:accent5>
        <a:srgbClr val="30D158"/>
      </a:accent5>
      <a:accent6>
        <a:srgbClr val="636366"/>
      </a:accent6>
      <a:hlink>
        <a:srgbClr val="64D2FF"/>
      </a:hlink>
      <a:folHlink>
        <a:srgbClr val="BF5AF2"/>
      </a:folHlink>
    </a:clrScheme>
    <a:fontScheme name="Kuwait Crud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University of Technology and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Kuwait: A Century of Oil and Gas</dc:title>
  <dc:subject>EGCH2230 Petroleum and Petrochemical Processing</dc:subject>
  <dc:creator>Shahad Issa Obaid Alghriabi</dc:creator>
  <cp:lastModifiedBy>Shahad Issa Obaid Alghriabi</cp:lastModifiedBy>
  <cp:revision>1</cp:revision>
  <dcterms:created xsi:type="dcterms:W3CDTF">2026-10-03T14:38:23Z</dcterms:created>
  <dcterms:modified xsi:type="dcterms:W3CDTF">2026-10-03T14:38:23Z</dcterms:modified>
</cp:coreProperties>
</file>